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487" r:id="rId3"/>
    <p:sldId id="488" r:id="rId4"/>
    <p:sldId id="490" r:id="rId5"/>
    <p:sldId id="489" r:id="rId6"/>
    <p:sldId id="491" r:id="rId7"/>
    <p:sldId id="492" r:id="rId8"/>
    <p:sldId id="493" r:id="rId9"/>
    <p:sldId id="494" r:id="rId10"/>
    <p:sldId id="495" r:id="rId11"/>
    <p:sldId id="496" r:id="rId12"/>
    <p:sldId id="497" r:id="rId13"/>
    <p:sldId id="498" r:id="rId14"/>
    <p:sldId id="499" r:id="rId15"/>
    <p:sldId id="500" r:id="rId16"/>
    <p:sldId id="501" r:id="rId17"/>
    <p:sldId id="502" r:id="rId18"/>
    <p:sldId id="505" r:id="rId19"/>
    <p:sldId id="503" r:id="rId20"/>
    <p:sldId id="506" r:id="rId21"/>
    <p:sldId id="507" r:id="rId22"/>
    <p:sldId id="508" r:id="rId23"/>
    <p:sldId id="509" r:id="rId24"/>
    <p:sldId id="510" r:id="rId25"/>
    <p:sldId id="511" r:id="rId26"/>
    <p:sldId id="512" r:id="rId27"/>
    <p:sldId id="513" r:id="rId28"/>
    <p:sldId id="526" r:id="rId29"/>
    <p:sldId id="525" r:id="rId30"/>
    <p:sldId id="527" r:id="rId31"/>
    <p:sldId id="528" r:id="rId32"/>
    <p:sldId id="529" r:id="rId33"/>
    <p:sldId id="530" r:id="rId34"/>
    <p:sldId id="531" r:id="rId35"/>
    <p:sldId id="532" r:id="rId36"/>
    <p:sldId id="533" r:id="rId37"/>
    <p:sldId id="534" r:id="rId38"/>
    <p:sldId id="535" r:id="rId39"/>
    <p:sldId id="536" r:id="rId40"/>
    <p:sldId id="537" r:id="rId41"/>
    <p:sldId id="538" r:id="rId42"/>
    <p:sldId id="543" r:id="rId43"/>
    <p:sldId id="539" r:id="rId44"/>
    <p:sldId id="540" r:id="rId45"/>
    <p:sldId id="541" r:id="rId46"/>
    <p:sldId id="542" r:id="rId47"/>
    <p:sldId id="514" r:id="rId48"/>
    <p:sldId id="515" r:id="rId49"/>
    <p:sldId id="516" r:id="rId50"/>
    <p:sldId id="517" r:id="rId51"/>
    <p:sldId id="518" r:id="rId52"/>
    <p:sldId id="520" r:id="rId53"/>
    <p:sldId id="521" r:id="rId54"/>
    <p:sldId id="522" r:id="rId55"/>
    <p:sldId id="523" r:id="rId56"/>
    <p:sldId id="524" r:id="rId57"/>
    <p:sldId id="273"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D6C010-294E-4C8C-AB77-46A9F57F4BBD}" v="12" dt="2025-11-05T16:13:08.2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42" autoAdjust="0"/>
    <p:restoredTop sz="84570"/>
  </p:normalViewPr>
  <p:slideViewPr>
    <p:cSldViewPr snapToGrid="0">
      <p:cViewPr varScale="1">
        <p:scale>
          <a:sx n="93" d="100"/>
          <a:sy n="93" d="100"/>
        </p:scale>
        <p:origin x="942" y="96"/>
      </p:cViewPr>
      <p:guideLst/>
    </p:cSldViewPr>
  </p:slideViewPr>
  <p:outlineViewPr>
    <p:cViewPr>
      <p:scale>
        <a:sx n="30" d="100"/>
        <a:sy n="30"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s Pugeault" userId="1fb198ab-7f77-45c5-8863-126c823efc0f" providerId="ADAL" clId="{8B42B996-EAF0-42D3-9BA6-EDDC2F6172A2}"/>
    <pc:docChg chg="undo custSel modSld">
      <pc:chgData name="Nicolas Pugeault" userId="1fb198ab-7f77-45c5-8863-126c823efc0f" providerId="ADAL" clId="{8B42B996-EAF0-42D3-9BA6-EDDC2F6172A2}" dt="2025-11-05T16:14:57.939" v="208" actId="207"/>
      <pc:docMkLst>
        <pc:docMk/>
      </pc:docMkLst>
      <pc:sldChg chg="addSp delSp modSp mod">
        <pc:chgData name="Nicolas Pugeault" userId="1fb198ab-7f77-45c5-8863-126c823efc0f" providerId="ADAL" clId="{8B42B996-EAF0-42D3-9BA6-EDDC2F6172A2}" dt="2025-11-05T16:13:12.831" v="97" actId="26606"/>
        <pc:sldMkLst>
          <pc:docMk/>
          <pc:sldMk cId="3261861803" sldId="489"/>
        </pc:sldMkLst>
        <pc:picChg chg="add del">
          <ac:chgData name="Nicolas Pugeault" userId="1fb198ab-7f77-45c5-8863-126c823efc0f" providerId="ADAL" clId="{8B42B996-EAF0-42D3-9BA6-EDDC2F6172A2}" dt="2025-11-05T16:13:10.460" v="96" actId="478"/>
          <ac:picMkLst>
            <pc:docMk/>
            <pc:sldMk cId="3261861803" sldId="489"/>
            <ac:picMk id="5" creationId="{68D3B9B1-F13B-F751-F3D2-BB752F9F0D58}"/>
          </ac:picMkLst>
        </pc:picChg>
        <pc:picChg chg="add del mod ord">
          <ac:chgData name="Nicolas Pugeault" userId="1fb198ab-7f77-45c5-8863-126c823efc0f" providerId="ADAL" clId="{8B42B996-EAF0-42D3-9BA6-EDDC2F6172A2}" dt="2025-11-05T16:13:12.831" v="97" actId="26606"/>
          <ac:picMkLst>
            <pc:docMk/>
            <pc:sldMk cId="3261861803" sldId="489"/>
            <ac:picMk id="3074" creationId="{FB96BD1C-699F-A25C-3E2E-9B6F8D04F317}"/>
          </ac:picMkLst>
        </pc:picChg>
      </pc:sldChg>
      <pc:sldChg chg="addSp delSp modSp mod">
        <pc:chgData name="Nicolas Pugeault" userId="1fb198ab-7f77-45c5-8863-126c823efc0f" providerId="ADAL" clId="{8B42B996-EAF0-42D3-9BA6-EDDC2F6172A2}" dt="2025-11-05T16:10:53.229" v="89" actId="1076"/>
        <pc:sldMkLst>
          <pc:docMk/>
          <pc:sldMk cId="3141020244" sldId="506"/>
        </pc:sldMkLst>
        <pc:spChg chg="add del mod">
          <ac:chgData name="Nicolas Pugeault" userId="1fb198ab-7f77-45c5-8863-126c823efc0f" providerId="ADAL" clId="{8B42B996-EAF0-42D3-9BA6-EDDC2F6172A2}" dt="2025-11-05T16:09:10.871" v="8" actId="478"/>
          <ac:spMkLst>
            <pc:docMk/>
            <pc:sldMk cId="3141020244" sldId="506"/>
            <ac:spMk id="2" creationId="{B00EB0EA-2585-4474-DE52-2BF09849D0BE}"/>
          </ac:spMkLst>
        </pc:spChg>
        <pc:spChg chg="add mod">
          <ac:chgData name="Nicolas Pugeault" userId="1fb198ab-7f77-45c5-8863-126c823efc0f" providerId="ADAL" clId="{8B42B996-EAF0-42D3-9BA6-EDDC2F6172A2}" dt="2025-11-05T16:10:53.229" v="89" actId="1076"/>
          <ac:spMkLst>
            <pc:docMk/>
            <pc:sldMk cId="3141020244" sldId="506"/>
            <ac:spMk id="3" creationId="{845C9138-231F-FDC9-16D0-979A35D7B5B8}"/>
          </ac:spMkLst>
        </pc:spChg>
        <pc:spChg chg="del">
          <ac:chgData name="Nicolas Pugeault" userId="1fb198ab-7f77-45c5-8863-126c823efc0f" providerId="ADAL" clId="{8B42B996-EAF0-42D3-9BA6-EDDC2F6172A2}" dt="2025-11-05T16:08:58.124" v="2" actId="26606"/>
          <ac:spMkLst>
            <pc:docMk/>
            <pc:sldMk cId="3141020244" sldId="506"/>
            <ac:spMk id="5131" creationId="{F0FDF4C2-9D2A-F3D3-04AB-9E7C109168FB}"/>
          </ac:spMkLst>
        </pc:spChg>
        <pc:spChg chg="add del">
          <ac:chgData name="Nicolas Pugeault" userId="1fb198ab-7f77-45c5-8863-126c823efc0f" providerId="ADAL" clId="{8B42B996-EAF0-42D3-9BA6-EDDC2F6172A2}" dt="2025-11-05T16:10:10.531" v="11" actId="26606"/>
          <ac:spMkLst>
            <pc:docMk/>
            <pc:sldMk cId="3141020244" sldId="506"/>
            <ac:spMk id="5136" creationId="{020D4822-3020-9445-7E17-61357A781419}"/>
          </ac:spMkLst>
        </pc:spChg>
        <pc:spChg chg="add mod">
          <ac:chgData name="Nicolas Pugeault" userId="1fb198ab-7f77-45c5-8863-126c823efc0f" providerId="ADAL" clId="{8B42B996-EAF0-42D3-9BA6-EDDC2F6172A2}" dt="2025-11-05T16:10:28.416" v="40" actId="20577"/>
          <ac:spMkLst>
            <pc:docMk/>
            <pc:sldMk cId="3141020244" sldId="506"/>
            <ac:spMk id="5141" creationId="{452CBB7D-3B38-BD53-EC54-0105E97DCA47}"/>
          </ac:spMkLst>
        </pc:spChg>
        <pc:picChg chg="add del mod">
          <ac:chgData name="Nicolas Pugeault" userId="1fb198ab-7f77-45c5-8863-126c823efc0f" providerId="ADAL" clId="{8B42B996-EAF0-42D3-9BA6-EDDC2F6172A2}" dt="2025-11-05T16:10:06.874" v="9" actId="478"/>
          <ac:picMkLst>
            <pc:docMk/>
            <pc:sldMk cId="3141020244" sldId="506"/>
            <ac:picMk id="1026" creationId="{7FBEC82B-28D7-80CB-F2F7-00A5C4130902}"/>
          </ac:picMkLst>
        </pc:picChg>
        <pc:picChg chg="add mod">
          <ac:chgData name="Nicolas Pugeault" userId="1fb198ab-7f77-45c5-8863-126c823efc0f" providerId="ADAL" clId="{8B42B996-EAF0-42D3-9BA6-EDDC2F6172A2}" dt="2025-11-05T16:10:10.531" v="11" actId="26606"/>
          <ac:picMkLst>
            <pc:docMk/>
            <pc:sldMk cId="3141020244" sldId="506"/>
            <ac:picMk id="1028" creationId="{60C987B7-4C6B-80DE-3E57-58B1634C25C3}"/>
          </ac:picMkLst>
        </pc:picChg>
        <pc:picChg chg="del">
          <ac:chgData name="Nicolas Pugeault" userId="1fb198ab-7f77-45c5-8863-126c823efc0f" providerId="ADAL" clId="{8B42B996-EAF0-42D3-9BA6-EDDC2F6172A2}" dt="2025-11-05T16:08:51.199" v="1" actId="478"/>
          <ac:picMkLst>
            <pc:docMk/>
            <pc:sldMk cId="3141020244" sldId="506"/>
            <ac:picMk id="5126" creationId="{D733D952-D066-6CC0-F9D3-E596B1D0F981}"/>
          </ac:picMkLst>
        </pc:picChg>
      </pc:sldChg>
      <pc:sldChg chg="addSp delSp">
        <pc:chgData name="Nicolas Pugeault" userId="1fb198ab-7f77-45c5-8863-126c823efc0f" providerId="ADAL" clId="{8B42B996-EAF0-42D3-9BA6-EDDC2F6172A2}" dt="2025-11-05T16:12:48.546" v="92" actId="478"/>
        <pc:sldMkLst>
          <pc:docMk/>
          <pc:sldMk cId="886389367" sldId="509"/>
        </pc:sldMkLst>
        <pc:picChg chg="add del">
          <ac:chgData name="Nicolas Pugeault" userId="1fb198ab-7f77-45c5-8863-126c823efc0f" providerId="ADAL" clId="{8B42B996-EAF0-42D3-9BA6-EDDC2F6172A2}" dt="2025-11-05T16:12:48.546" v="92" actId="478"/>
          <ac:picMkLst>
            <pc:docMk/>
            <pc:sldMk cId="886389367" sldId="509"/>
            <ac:picMk id="8" creationId="{90B9A647-1E0B-5B09-F441-57DA88E2AC1D}"/>
          </ac:picMkLst>
        </pc:picChg>
        <pc:picChg chg="add del">
          <ac:chgData name="Nicolas Pugeault" userId="1fb198ab-7f77-45c5-8863-126c823efc0f" providerId="ADAL" clId="{8B42B996-EAF0-42D3-9BA6-EDDC2F6172A2}" dt="2025-11-05T16:12:48.546" v="92" actId="478"/>
          <ac:picMkLst>
            <pc:docMk/>
            <pc:sldMk cId="886389367" sldId="509"/>
            <ac:picMk id="2050" creationId="{A4674AA6-C226-50B5-F083-C210AFE941CE}"/>
          </ac:picMkLst>
        </pc:picChg>
      </pc:sldChg>
      <pc:sldChg chg="modSp mod">
        <pc:chgData name="Nicolas Pugeault" userId="1fb198ab-7f77-45c5-8863-126c823efc0f" providerId="ADAL" clId="{8B42B996-EAF0-42D3-9BA6-EDDC2F6172A2}" dt="2025-11-05T16:14:57.939" v="208" actId="207"/>
        <pc:sldMkLst>
          <pc:docMk/>
          <pc:sldMk cId="1722921605" sldId="542"/>
        </pc:sldMkLst>
        <pc:spChg chg="mod">
          <ac:chgData name="Nicolas Pugeault" userId="1fb198ab-7f77-45c5-8863-126c823efc0f" providerId="ADAL" clId="{8B42B996-EAF0-42D3-9BA6-EDDC2F6172A2}" dt="2025-11-05T16:14:37.787" v="204" actId="20577"/>
          <ac:spMkLst>
            <pc:docMk/>
            <pc:sldMk cId="1722921605" sldId="542"/>
            <ac:spMk id="2" creationId="{C3168BFC-B96B-EF04-DB19-53D15D198D55}"/>
          </ac:spMkLst>
        </pc:spChg>
        <pc:spChg chg="mod">
          <ac:chgData name="Nicolas Pugeault" userId="1fb198ab-7f77-45c5-8863-126c823efc0f" providerId="ADAL" clId="{8B42B996-EAF0-42D3-9BA6-EDDC2F6172A2}" dt="2025-11-05T16:14:57.939" v="208" actId="207"/>
          <ac:spMkLst>
            <pc:docMk/>
            <pc:sldMk cId="1722921605" sldId="542"/>
            <ac:spMk id="3" creationId="{797A3406-22FF-4AC3-B23D-B0891BC6D25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95AE2-43AC-144B-AE88-DCB376799F11}"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4E5BB-E6B0-B84A-ABCD-9A3E9C2D78CB}" type="slidenum">
              <a:rPr lang="en-US" smtClean="0"/>
              <a:t>‹#›</a:t>
            </a:fld>
            <a:endParaRPr lang="en-US"/>
          </a:p>
        </p:txBody>
      </p:sp>
    </p:spTree>
    <p:extLst>
      <p:ext uri="{BB962C8B-B14F-4D97-AF65-F5344CB8AC3E}">
        <p14:creationId xmlns:p14="http://schemas.microsoft.com/office/powerpoint/2010/main" val="2372742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a:t>
            </a:fld>
            <a:endParaRPr lang="en-US"/>
          </a:p>
        </p:txBody>
      </p:sp>
    </p:spTree>
    <p:extLst>
      <p:ext uri="{BB962C8B-B14F-4D97-AF65-F5344CB8AC3E}">
        <p14:creationId xmlns:p14="http://schemas.microsoft.com/office/powerpoint/2010/main" val="17659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By the end of this unit you should know:</a:t>
            </a:r>
          </a:p>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2</a:t>
            </a:fld>
            <a:endParaRPr lang="en-US"/>
          </a:p>
        </p:txBody>
      </p:sp>
    </p:spTree>
    <p:extLst>
      <p:ext uri="{BB962C8B-B14F-4D97-AF65-F5344CB8AC3E}">
        <p14:creationId xmlns:p14="http://schemas.microsoft.com/office/powerpoint/2010/main" val="382651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system-ui"/>
              </a:rPr>
              <a:t>The </a:t>
            </a:r>
            <a:r>
              <a:rPr lang="en-US" b="0" i="1" dirty="0">
                <a:effectLst/>
                <a:latin typeface="system-ui"/>
              </a:rPr>
              <a:t>USS Scorpion</a:t>
            </a:r>
            <a:r>
              <a:rPr lang="en-US" b="0" i="0" dirty="0">
                <a:effectLst/>
                <a:latin typeface="system-ui"/>
              </a:rPr>
              <a:t> was a nuclear armed submarine that disappeared on 30th June 1968 somewhere in the Atlantic. [This was a year in which </a:t>
            </a:r>
            <a:r>
              <a:rPr lang="en-US" b="0" i="1" dirty="0">
                <a:effectLst/>
                <a:latin typeface="system-ui"/>
              </a:rPr>
              <a:t>four</a:t>
            </a:r>
            <a:r>
              <a:rPr lang="en-US" b="0" i="0" dirty="0">
                <a:effectLst/>
                <a:latin typeface="system-ui"/>
              </a:rPr>
              <a:t> submarines were inexplicably lost at sea -- </a:t>
            </a:r>
            <a:r>
              <a:rPr lang="en-US" b="1" i="0" dirty="0">
                <a:effectLst/>
                <a:latin typeface="system-ui"/>
              </a:rPr>
              <a:t>the 1968 submarine mystery</a:t>
            </a:r>
            <a:r>
              <a:rPr lang="en-US" b="0" i="0" dirty="0">
                <a:effectLst/>
                <a:latin typeface="system-ui"/>
              </a:rPr>
              <a:t>.]</a:t>
            </a:r>
          </a:p>
          <a:p>
            <a:endParaRPr lang="en-US" b="0" i="0" dirty="0">
              <a:effectLst/>
              <a:latin typeface="system-ui"/>
            </a:endParaRPr>
          </a:p>
          <a:p>
            <a:r>
              <a:rPr lang="en-US" b="0" i="0" dirty="0">
                <a:effectLst/>
                <a:latin typeface="system-ui"/>
              </a:rPr>
              <a:t>The search for the submarine was one of the first times </a:t>
            </a:r>
            <a:r>
              <a:rPr lang="en-US" b="1" i="0" dirty="0">
                <a:effectLst/>
                <a:latin typeface="system-ui"/>
              </a:rPr>
              <a:t>probabilistic methods</a:t>
            </a:r>
            <a:r>
              <a:rPr lang="en-US" b="0" i="0" dirty="0">
                <a:effectLst/>
                <a:latin typeface="system-ui"/>
              </a:rPr>
              <a:t> were used for searching. The US Navy needed to find the submarine and recover it as fast as possible. Probabilistic methods allow us to reason </a:t>
            </a:r>
            <a:r>
              <a:rPr lang="en-US" b="0" i="1" dirty="0">
                <a:effectLst/>
                <a:latin typeface="system-ui"/>
              </a:rPr>
              <a:t>precisely</a:t>
            </a:r>
            <a:r>
              <a:rPr lang="en-US" b="0" i="0" dirty="0">
                <a:effectLst/>
                <a:latin typeface="system-ui"/>
              </a:rPr>
              <a:t> about things we are uncertain about -- like where the submarine is. Probability gives a concrete, computable representations for an uncertain world.</a:t>
            </a:r>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3</a:t>
            </a:fld>
            <a:endParaRPr lang="en-US"/>
          </a:p>
        </p:txBody>
      </p:sp>
    </p:spTree>
    <p:extLst>
      <p:ext uri="{BB962C8B-B14F-4D97-AF65-F5344CB8AC3E}">
        <p14:creationId xmlns:p14="http://schemas.microsoft.com/office/powerpoint/2010/main" val="827127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4</a:t>
            </a:fld>
            <a:endParaRPr lang="en-US"/>
          </a:p>
        </p:txBody>
      </p:sp>
    </p:spTree>
    <p:extLst>
      <p:ext uri="{BB962C8B-B14F-4D97-AF65-F5344CB8AC3E}">
        <p14:creationId xmlns:p14="http://schemas.microsoft.com/office/powerpoint/2010/main" val="1398878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5</a:t>
            </a:fld>
            <a:endParaRPr lang="en-US"/>
          </a:p>
        </p:txBody>
      </p:sp>
    </p:spTree>
    <p:extLst>
      <p:ext uri="{BB962C8B-B14F-4D97-AF65-F5344CB8AC3E}">
        <p14:creationId xmlns:p14="http://schemas.microsoft.com/office/powerpoint/2010/main" val="86549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6</a:t>
            </a:fld>
            <a:endParaRPr lang="en-US"/>
          </a:p>
        </p:txBody>
      </p:sp>
    </p:spTree>
    <p:extLst>
      <p:ext uri="{BB962C8B-B14F-4D97-AF65-F5344CB8AC3E}">
        <p14:creationId xmlns:p14="http://schemas.microsoft.com/office/powerpoint/2010/main" val="369056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10</a:t>
            </a:fld>
            <a:endParaRPr lang="en-US"/>
          </a:p>
        </p:txBody>
      </p:sp>
    </p:spTree>
    <p:extLst>
      <p:ext uri="{BB962C8B-B14F-4D97-AF65-F5344CB8AC3E}">
        <p14:creationId xmlns:p14="http://schemas.microsoft.com/office/powerpoint/2010/main" val="365114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system-ui"/>
              </a:rPr>
              <a:t>A key idea in probabilistic models is that of a </a:t>
            </a:r>
            <a:r>
              <a:rPr lang="en-US" b="1" i="0" dirty="0">
                <a:effectLst/>
                <a:latin typeface="system-ui"/>
              </a:rPr>
              <a:t>generative process</a:t>
            </a:r>
            <a:r>
              <a:rPr lang="en-US" b="0" i="0" dirty="0">
                <a:effectLst/>
                <a:latin typeface="system-ui"/>
              </a:rPr>
              <a:t>; the idea that there is some unknown process going on, the results of which can be observed. The process itself is governed by unobserved variables that we do not know but which we can </a:t>
            </a:r>
            <a:r>
              <a:rPr lang="en-US" b="1" i="0" dirty="0">
                <a:effectLst/>
                <a:latin typeface="system-ui"/>
              </a:rPr>
              <a:t>infer</a:t>
            </a:r>
            <a:r>
              <a:rPr lang="en-US" b="0" i="0" dirty="0">
                <a:effectLst/>
                <a:latin typeface="system-ui"/>
              </a:rPr>
              <a:t>.</a:t>
            </a:r>
            <a:endParaRPr lang="en-GB" dirty="0"/>
          </a:p>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18</a:t>
            </a:fld>
            <a:endParaRPr lang="en-US"/>
          </a:p>
        </p:txBody>
      </p:sp>
    </p:spTree>
    <p:extLst>
      <p:ext uri="{BB962C8B-B14F-4D97-AF65-F5344CB8AC3E}">
        <p14:creationId xmlns:p14="http://schemas.microsoft.com/office/powerpoint/2010/main" val="2478977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system-ui"/>
              </a:rPr>
              <a:t>There are a huge number of processes that can be framed as urn problems (urns where balls are replaced, problems where there are multiple urns and you don't know which urn the balls came from, problems where balls can move between urns, and so on).</a:t>
            </a:r>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19</a:t>
            </a:fld>
            <a:endParaRPr lang="en-US"/>
          </a:p>
        </p:txBody>
      </p:sp>
    </p:spTree>
    <p:extLst>
      <p:ext uri="{BB962C8B-B14F-4D97-AF65-F5344CB8AC3E}">
        <p14:creationId xmlns:p14="http://schemas.microsoft.com/office/powerpoint/2010/main" val="6410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20</a:t>
            </a:fld>
            <a:endParaRPr lang="en-US"/>
          </a:p>
        </p:txBody>
      </p:sp>
    </p:spTree>
    <p:extLst>
      <p:ext uri="{BB962C8B-B14F-4D97-AF65-F5344CB8AC3E}">
        <p14:creationId xmlns:p14="http://schemas.microsoft.com/office/powerpoint/2010/main" val="2061609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system-ui"/>
              </a:rPr>
              <a:t>We can see an outcome as a random variable taking on a specific value i.e. </a:t>
            </a:r>
            <a:r>
              <a:rPr lang="en-US" dirty="0"/>
              <a:t>P(X=x)</a:t>
            </a:r>
            <a:r>
              <a:rPr lang="en-US" b="0" i="0" dirty="0">
                <a:effectLst/>
                <a:latin typeface="system-ui"/>
              </a:rPr>
              <a:t>. Note that by convention we use </a:t>
            </a:r>
            <a:r>
              <a:rPr lang="en-US" dirty="0"/>
              <a:t>P(A)</a:t>
            </a:r>
            <a:r>
              <a:rPr lang="en-US" b="0" i="0" dirty="0">
                <a:effectLst/>
                <a:latin typeface="system-ui"/>
              </a:rPr>
              <a:t> to mean the probability of </a:t>
            </a:r>
            <a:r>
              <a:rPr lang="en-US" b="1" i="0" dirty="0">
                <a:effectLst/>
                <a:latin typeface="system-ui"/>
              </a:rPr>
              <a:t>event</a:t>
            </a:r>
            <a:r>
              <a:rPr lang="en-US" b="0" i="0" dirty="0">
                <a:effectLst/>
                <a:latin typeface="system-ui"/>
              </a:rPr>
              <a:t> </a:t>
            </a:r>
            <a:r>
              <a:rPr lang="en-US" dirty="0"/>
              <a:t>A</a:t>
            </a:r>
            <a:r>
              <a:rPr lang="en-US" b="0" i="0" dirty="0">
                <a:effectLst/>
                <a:latin typeface="system-ui"/>
              </a:rPr>
              <a:t>, not a random variable </a:t>
            </a:r>
            <a:r>
              <a:rPr lang="en-US" dirty="0"/>
              <a:t>A</a:t>
            </a:r>
            <a:r>
              <a:rPr lang="en-US" b="0" i="0" dirty="0">
                <a:effectLst/>
                <a:latin typeface="system-ui"/>
              </a:rPr>
              <a:t> (an </a:t>
            </a:r>
            <a:r>
              <a:rPr lang="en-US" b="1" i="0" dirty="0">
                <a:effectLst/>
                <a:latin typeface="system-ui"/>
              </a:rPr>
              <a:t>event</a:t>
            </a:r>
            <a:r>
              <a:rPr lang="en-US" b="0" i="0" dirty="0">
                <a:effectLst/>
                <a:latin typeface="system-ui"/>
              </a:rPr>
              <a:t> is a </a:t>
            </a:r>
            <a:r>
              <a:rPr lang="en-US" b="0" i="1" dirty="0">
                <a:effectLst/>
                <a:latin typeface="system-ui"/>
              </a:rPr>
              <a:t>set</a:t>
            </a:r>
            <a:r>
              <a:rPr lang="en-US" b="0" i="0" dirty="0">
                <a:effectLst/>
                <a:latin typeface="system-ui"/>
              </a:rPr>
              <a:t> of </a:t>
            </a:r>
            <a:r>
              <a:rPr lang="en-US" b="1" i="0" dirty="0">
                <a:effectLst/>
                <a:latin typeface="system-ui"/>
              </a:rPr>
              <a:t>outcomes</a:t>
            </a:r>
            <a:r>
              <a:rPr lang="en-US" b="0" i="0" dirty="0">
                <a:effectLst/>
                <a:latin typeface="system-ui"/>
              </a:rPr>
              <a:t>; </a:t>
            </a:r>
            <a:r>
              <a:rPr lang="en-US" b="1" i="0" dirty="0">
                <a:effectLst/>
                <a:latin typeface="system-ui"/>
              </a:rPr>
              <a:t>random variables</a:t>
            </a:r>
            <a:r>
              <a:rPr lang="en-US" b="0" i="0" dirty="0">
                <a:effectLst/>
                <a:latin typeface="system-ui"/>
              </a:rPr>
              <a:t> only assign probabilities to </a:t>
            </a:r>
            <a:r>
              <a:rPr lang="en-US" b="1" i="0" dirty="0">
                <a:effectLst/>
                <a:latin typeface="system-ui"/>
              </a:rPr>
              <a:t>outcomes</a:t>
            </a:r>
            <a:r>
              <a:rPr lang="en-US" b="0" i="0" dirty="0">
                <a:effectLst/>
                <a:latin typeface="system-ui"/>
              </a:rPr>
              <a:t>).</a:t>
            </a:r>
            <a:endParaRPr lang="en-US" dirty="0">
              <a:latin typeface="system-ui"/>
            </a:endParaRPr>
          </a:p>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24</a:t>
            </a:fld>
            <a:endParaRPr lang="en-US"/>
          </a:p>
        </p:txBody>
      </p:sp>
    </p:spTree>
    <p:extLst>
      <p:ext uri="{BB962C8B-B14F-4D97-AF65-F5344CB8AC3E}">
        <p14:creationId xmlns:p14="http://schemas.microsoft.com/office/powerpoint/2010/main" val="3279929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28</a:t>
            </a:fld>
            <a:endParaRPr lang="en-US"/>
          </a:p>
        </p:txBody>
      </p:sp>
    </p:spTree>
    <p:extLst>
      <p:ext uri="{BB962C8B-B14F-4D97-AF65-F5344CB8AC3E}">
        <p14:creationId xmlns:p14="http://schemas.microsoft.com/office/powerpoint/2010/main" val="656463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system-ui"/>
              </a:rPr>
              <a:t>That is, we just take the sum/integral of each outcome, passed through the function </a:t>
            </a:r>
            <a:r>
              <a:rPr lang="en-US" dirty="0"/>
              <a:t>g(x)</a:t>
            </a:r>
            <a:r>
              <a:rPr lang="en-US" b="0" i="0" dirty="0">
                <a:effectLst/>
                <a:latin typeface="system-ui"/>
              </a:rPr>
              <a:t>, weighted by the probability of the outcome </a:t>
            </a:r>
            <a:r>
              <a:rPr lang="en-US" dirty="0"/>
              <a:t>x</a:t>
            </a:r>
            <a:r>
              <a:rPr lang="en-US" b="0" i="0" dirty="0">
                <a:effectLst/>
                <a:latin typeface="system-ui"/>
              </a:rPr>
              <a:t>. </a:t>
            </a:r>
            <a:r>
              <a:rPr lang="en-US" dirty="0"/>
              <a:t>g(x)</a:t>
            </a:r>
            <a:r>
              <a:rPr lang="en-US" b="0" i="0" dirty="0">
                <a:effectLst/>
                <a:latin typeface="system-ui"/>
              </a:rPr>
              <a:t> could be thought of a "scoring" function, which assigns a real number to every outcome of </a:t>
            </a:r>
            <a:r>
              <a:rPr lang="en-US" dirty="0"/>
              <a:t>X</a:t>
            </a:r>
            <a:r>
              <a:rPr lang="en-US" b="0" i="0" dirty="0">
                <a:effectLst/>
                <a:latin typeface="system-ui"/>
              </a:rPr>
              <a:t>. Note that </a:t>
            </a:r>
            <a:r>
              <a:rPr lang="en-US" dirty="0"/>
              <a:t>g(x)</a:t>
            </a:r>
            <a:r>
              <a:rPr lang="en-US" b="0" i="0" dirty="0">
                <a:effectLst/>
                <a:latin typeface="system-ui"/>
              </a:rPr>
              <a:t> has no effect on the probability density/mass function </a:t>
            </a:r>
            <a:r>
              <a:rPr lang="en-US" dirty="0" err="1"/>
              <a:t>fX</a:t>
            </a:r>
            <a:r>
              <a:rPr lang="en-US" dirty="0"/>
              <a:t>(x)</a:t>
            </a:r>
            <a:r>
              <a:rPr lang="en-US" b="0" i="0" dirty="0">
                <a:effectLst/>
                <a:latin typeface="system-ui"/>
              </a:rPr>
              <a:t>. It doesn't affect the probability of the outcomes, just the </a:t>
            </a:r>
            <a:r>
              <a:rPr lang="en-US" b="0" i="1" dirty="0">
                <a:effectLst/>
                <a:latin typeface="system-ui"/>
              </a:rPr>
              <a:t>value assigned to those outcomes</a:t>
            </a:r>
            <a:r>
              <a:rPr lang="en-US" b="0" i="0" dirty="0">
                <a:effectLst/>
                <a:latin typeface="system-ui"/>
              </a:rPr>
              <a:t>. </a:t>
            </a:r>
            <a:endParaRPr lang="en-GB" dirty="0"/>
          </a:p>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33</a:t>
            </a:fld>
            <a:endParaRPr lang="en-US"/>
          </a:p>
        </p:txBody>
      </p:sp>
    </p:spTree>
    <p:extLst>
      <p:ext uri="{BB962C8B-B14F-4D97-AF65-F5344CB8AC3E}">
        <p14:creationId xmlns:p14="http://schemas.microsoft.com/office/powerpoint/2010/main" val="3647142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system-ui"/>
              </a:rPr>
              <a:t>That is, we just take the sum/integral of each outcome, passed through the function </a:t>
            </a:r>
            <a:r>
              <a:rPr lang="en-US" dirty="0"/>
              <a:t>g(x)</a:t>
            </a:r>
            <a:r>
              <a:rPr lang="en-US" b="0" i="0" dirty="0">
                <a:effectLst/>
                <a:latin typeface="system-ui"/>
              </a:rPr>
              <a:t>, weighted by the probability of the outcome </a:t>
            </a:r>
            <a:r>
              <a:rPr lang="en-US" dirty="0"/>
              <a:t>x</a:t>
            </a:r>
            <a:r>
              <a:rPr lang="en-US" b="0" i="0" dirty="0">
                <a:effectLst/>
                <a:latin typeface="system-ui"/>
              </a:rPr>
              <a:t>. </a:t>
            </a:r>
            <a:r>
              <a:rPr lang="en-US" dirty="0"/>
              <a:t>g(x)</a:t>
            </a:r>
            <a:r>
              <a:rPr lang="en-US" b="0" i="0" dirty="0">
                <a:effectLst/>
                <a:latin typeface="system-ui"/>
              </a:rPr>
              <a:t> could be thought of a "scoring" function, which assigns a real number to every outcome of </a:t>
            </a:r>
            <a:r>
              <a:rPr lang="en-US" dirty="0"/>
              <a:t>X</a:t>
            </a:r>
            <a:r>
              <a:rPr lang="en-US" b="0" i="0" dirty="0">
                <a:effectLst/>
                <a:latin typeface="system-ui"/>
              </a:rPr>
              <a:t>. Note that </a:t>
            </a:r>
            <a:r>
              <a:rPr lang="en-US" dirty="0"/>
              <a:t>g(x)</a:t>
            </a:r>
            <a:r>
              <a:rPr lang="en-US" b="0" i="0" dirty="0">
                <a:effectLst/>
                <a:latin typeface="system-ui"/>
              </a:rPr>
              <a:t> has no effect on the probability density/mass function </a:t>
            </a:r>
            <a:r>
              <a:rPr lang="en-US" dirty="0" err="1"/>
              <a:t>fX</a:t>
            </a:r>
            <a:r>
              <a:rPr lang="en-US" dirty="0"/>
              <a:t>(x)</a:t>
            </a:r>
            <a:r>
              <a:rPr lang="en-US" b="0" i="0" dirty="0">
                <a:effectLst/>
                <a:latin typeface="system-ui"/>
              </a:rPr>
              <a:t>. It doesn't affect the probability of the outcomes, just the </a:t>
            </a:r>
            <a:r>
              <a:rPr lang="en-US" b="0" i="1" dirty="0">
                <a:effectLst/>
                <a:latin typeface="system-ui"/>
              </a:rPr>
              <a:t>value assigned to those outcomes</a:t>
            </a:r>
            <a:r>
              <a:rPr lang="en-US" b="0" i="0" dirty="0">
                <a:effectLst/>
                <a:latin typeface="system-ui"/>
              </a:rPr>
              <a:t>. </a:t>
            </a:r>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34</a:t>
            </a:fld>
            <a:endParaRPr lang="en-US"/>
          </a:p>
        </p:txBody>
      </p:sp>
    </p:spTree>
    <p:extLst>
      <p:ext uri="{BB962C8B-B14F-4D97-AF65-F5344CB8AC3E}">
        <p14:creationId xmlns:p14="http://schemas.microsoft.com/office/powerpoint/2010/main" val="17801462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There are algorithms which can generate continuous random numbers which are uniformly distributed in an interval, such as from 0.0 to 1.0. These are actually pseudo-random numbers in practice, since computers are (hopefully) deterministic. They designed to approximate the statistical properties of true random sequences. Inherently, all such generators generate sequences of discrete symbols (bits or integers) which are then mapped to floating point numbers in a specific range; this is quite tricky to get right.</a:t>
            </a:r>
          </a:p>
          <a:p>
            <a:endParaRPr lang="en-US" sz="1200" dirty="0"/>
          </a:p>
          <a:p>
            <a:pPr marL="0" indent="0">
              <a:buNone/>
            </a:pPr>
            <a:r>
              <a:rPr lang="en-US" sz="1200" dirty="0"/>
              <a:t>We must be careful: computers generate pseudo-random floating-point numbers; and not true random real numbers. While this makes little difference much of the time, they are quite different things.</a:t>
            </a:r>
            <a:endParaRPr lang="en-GB" sz="1200" dirty="0"/>
          </a:p>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39</a:t>
            </a:fld>
            <a:endParaRPr lang="en-US"/>
          </a:p>
        </p:txBody>
      </p:sp>
    </p:spTree>
    <p:extLst>
      <p:ext uri="{BB962C8B-B14F-4D97-AF65-F5344CB8AC3E}">
        <p14:creationId xmlns:p14="http://schemas.microsoft.com/office/powerpoint/2010/main" val="39200191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system-ui"/>
              </a:rPr>
              <a:t>This is like sticking posters on a wall with an area proportional to the probability of each outcome, and then throwing darts at the wall.</a:t>
            </a:r>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41</a:t>
            </a:fld>
            <a:endParaRPr lang="en-US"/>
          </a:p>
        </p:txBody>
      </p:sp>
    </p:spTree>
    <p:extLst>
      <p:ext uri="{BB962C8B-B14F-4D97-AF65-F5344CB8AC3E}">
        <p14:creationId xmlns:p14="http://schemas.microsoft.com/office/powerpoint/2010/main" val="2644825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43</a:t>
            </a:fld>
            <a:endParaRPr lang="en-US"/>
          </a:p>
        </p:txBody>
      </p:sp>
    </p:spTree>
    <p:extLst>
      <p:ext uri="{BB962C8B-B14F-4D97-AF65-F5344CB8AC3E}">
        <p14:creationId xmlns:p14="http://schemas.microsoft.com/office/powerpoint/2010/main" val="1498889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system-ui"/>
              </a:rPr>
              <a:t>Probabilities can be used to represent belief. But the raw numbers (e.g. P(X=x)=0.9999) are not always a useful to make judgments, communicate results, or in some cases, even to do computations.</a:t>
            </a:r>
          </a:p>
          <a:p>
            <a:pPr algn="l"/>
            <a:endParaRPr lang="en-US" b="0" i="0" dirty="0">
              <a:effectLst/>
              <a:latin typeface="system-ui"/>
            </a:endParaRPr>
          </a:p>
          <a:p>
            <a:pPr algn="l"/>
            <a:r>
              <a:rPr lang="en-US" b="0" i="0" dirty="0">
                <a:effectLst/>
                <a:latin typeface="system-ui"/>
              </a:rPr>
              <a:t>The graph below shows the probability that a sample of people imagined, given specific verbal cues. The results are very interesting, but notice that the graph has almost no points close 0.0 or 1.0 -- what about 1 in a million events? What about the probability of the sun rising tomorrow?</a:t>
            </a:r>
          </a:p>
          <a:p>
            <a:endParaRPr lang="en-GB" dirty="0"/>
          </a:p>
          <a:p>
            <a:r>
              <a:rPr lang="en-US" b="0" i="0" dirty="0">
                <a:effectLst/>
                <a:latin typeface="system-ui"/>
              </a:rPr>
              <a:t>One of the problems is that even if people had responded accurately, the linear </a:t>
            </a:r>
            <a:r>
              <a:rPr lang="en-US" b="0" i="0" dirty="0" err="1">
                <a:effectLst/>
                <a:latin typeface="system-ui"/>
              </a:rPr>
              <a:t>visualisation</a:t>
            </a:r>
            <a:r>
              <a:rPr lang="en-US" b="0" i="0" dirty="0">
                <a:effectLst/>
                <a:latin typeface="system-ui"/>
              </a:rPr>
              <a:t> from 0% to 100% makes it very hard to see extreme values.</a:t>
            </a:r>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47</a:t>
            </a:fld>
            <a:endParaRPr lang="en-US"/>
          </a:p>
        </p:txBody>
      </p:sp>
    </p:spTree>
    <p:extLst>
      <p:ext uri="{BB962C8B-B14F-4D97-AF65-F5344CB8AC3E}">
        <p14:creationId xmlns:p14="http://schemas.microsoft.com/office/powerpoint/2010/main" val="16148740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48</a:t>
            </a:fld>
            <a:endParaRPr lang="en-US"/>
          </a:p>
        </p:txBody>
      </p:sp>
    </p:spTree>
    <p:extLst>
      <p:ext uri="{BB962C8B-B14F-4D97-AF65-F5344CB8AC3E}">
        <p14:creationId xmlns:p14="http://schemas.microsoft.com/office/powerpoint/2010/main" val="1239323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system-ui"/>
              </a:rPr>
              <a:t>This is simply a numerical convenience which avoids underflow. The </a:t>
            </a:r>
            <a:r>
              <a:rPr lang="en-US" b="1" i="0" dirty="0">
                <a:effectLst/>
                <a:latin typeface="system-ui"/>
              </a:rPr>
              <a:t>log-likelihood</a:t>
            </a:r>
            <a:r>
              <a:rPr lang="en-US" b="0" i="0" dirty="0">
                <a:effectLst/>
                <a:latin typeface="system-ui"/>
              </a:rPr>
              <a:t> is just </a:t>
            </a:r>
            <a:r>
              <a:rPr lang="en-US" dirty="0" err="1"/>
              <a:t>log⁡P</a:t>
            </a:r>
            <a:r>
              <a:rPr lang="en-US" dirty="0"/>
              <a:t>(B|A)</a:t>
            </a:r>
            <a:r>
              <a:rPr lang="en-US" b="0" i="0" dirty="0">
                <a:effectLst/>
                <a:latin typeface="system-ui"/>
              </a:rPr>
              <a:t>, and is often more convenient to work with than the raw likelihood.</a:t>
            </a:r>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52</a:t>
            </a:fld>
            <a:endParaRPr lang="en-US"/>
          </a:p>
        </p:txBody>
      </p:sp>
    </p:spTree>
    <p:extLst>
      <p:ext uri="{BB962C8B-B14F-4D97-AF65-F5344CB8AC3E}">
        <p14:creationId xmlns:p14="http://schemas.microsoft.com/office/powerpoint/2010/main" val="2356408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None/>
            </a:pPr>
            <a:r>
              <a:rPr lang="en-US" b="0" i="0" dirty="0">
                <a:effectLst/>
                <a:latin typeface="system-ui"/>
              </a:rPr>
              <a:t>We could imagine that writing plays and novels is an activity that mysterious entities do by generating random characters according to a PMF. Under this (very simplified!) assumption, we could now take an "unknown" text (in this case </a:t>
            </a:r>
            <a:r>
              <a:rPr lang="en-US" b="0" i="1" dirty="0">
                <a:effectLst/>
                <a:latin typeface="system-ui"/>
              </a:rPr>
              <a:t>Macbeth</a:t>
            </a:r>
            <a:r>
              <a:rPr lang="en-US" b="0" i="0" dirty="0">
                <a:effectLst/>
                <a:latin typeface="system-ui"/>
              </a:rPr>
              <a:t>) and then look at how likely it would have been to have been generated under two models:</a:t>
            </a:r>
          </a:p>
          <a:p>
            <a:pPr algn="l">
              <a:buFont typeface="Arial" panose="020B0604020202020204" pitchFamily="34" charset="0"/>
              <a:buChar char="•"/>
            </a:pPr>
            <a:r>
              <a:rPr lang="en-US" b="0" i="1" dirty="0">
                <a:effectLst/>
                <a:latin typeface="system-ui"/>
              </a:rPr>
              <a:t>A</a:t>
            </a:r>
            <a:r>
              <a:rPr lang="en-US" b="0" i="0" dirty="0">
                <a:effectLst/>
                <a:latin typeface="system-ui"/>
              </a:rPr>
              <a:t> It was generated by a mysterious entity using the PMF for </a:t>
            </a:r>
            <a:r>
              <a:rPr lang="en-US" b="0" i="1" dirty="0">
                <a:effectLst/>
                <a:latin typeface="system-ui"/>
              </a:rPr>
              <a:t>Romeo and Juliet</a:t>
            </a:r>
            <a:endParaRPr lang="en-US" b="0" i="0" dirty="0">
              <a:effectLst/>
              <a:latin typeface="system-ui"/>
            </a:endParaRPr>
          </a:p>
          <a:p>
            <a:pPr algn="l">
              <a:buFont typeface="Arial" panose="020B0604020202020204" pitchFamily="34" charset="0"/>
              <a:buChar char="•"/>
            </a:pPr>
            <a:r>
              <a:rPr lang="en-US" b="0" i="1" dirty="0">
                <a:effectLst/>
                <a:latin typeface="system-ui"/>
              </a:rPr>
              <a:t>B</a:t>
            </a:r>
            <a:r>
              <a:rPr lang="en-US" b="0" i="0" dirty="0">
                <a:effectLst/>
                <a:latin typeface="system-ui"/>
              </a:rPr>
              <a:t> It was generated by a mysterious entity using the PMF for </a:t>
            </a:r>
            <a:r>
              <a:rPr lang="en-US" b="0" i="1" dirty="0">
                <a:effectLst/>
                <a:latin typeface="system-ui"/>
              </a:rPr>
              <a:t>Metamorphosis</a:t>
            </a:r>
            <a:endParaRPr lang="en-US" b="0" i="0" dirty="0">
              <a:effectLst/>
              <a:latin typeface="system-ui"/>
            </a:endParaRPr>
          </a:p>
          <a:p>
            <a:pPr marL="0" indent="0" algn="l">
              <a:buNone/>
            </a:pPr>
            <a:r>
              <a:rPr lang="en-US" b="0" i="0" dirty="0">
                <a:effectLst/>
                <a:latin typeface="system-ui"/>
              </a:rPr>
              <a:t>Neither of these will be exactly true, but we can precisely quantify to what extent </a:t>
            </a:r>
            <a:r>
              <a:rPr lang="en-US" b="0" i="1" dirty="0">
                <a:effectLst/>
                <a:latin typeface="system-ui"/>
              </a:rPr>
              <a:t>Macbeth</a:t>
            </a:r>
            <a:r>
              <a:rPr lang="en-US" b="0" i="0" dirty="0">
                <a:effectLst/>
                <a:latin typeface="system-ui"/>
              </a:rPr>
              <a:t> appears to have been generated by a similar process to these two reference texts.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ystem-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ystem-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system-ui"/>
              </a:rPr>
              <a:t>This is a very rough proxy for whether or not they were generated by the same mysterious entity -- i.e. author. Our model is just the distribution of characters, so is a fairly weak model of different styles. However, it is sufficient to do the comparison here.</a:t>
            </a:r>
          </a:p>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56</a:t>
            </a:fld>
            <a:endParaRPr lang="en-US"/>
          </a:p>
        </p:txBody>
      </p:sp>
    </p:spTree>
    <p:extLst>
      <p:ext uri="{BB962C8B-B14F-4D97-AF65-F5344CB8AC3E}">
        <p14:creationId xmlns:p14="http://schemas.microsoft.com/office/powerpoint/2010/main" val="1854643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57</a:t>
            </a:fld>
            <a:endParaRPr lang="en-US"/>
          </a:p>
        </p:txBody>
      </p:sp>
    </p:spTree>
    <p:extLst>
      <p:ext uri="{BB962C8B-B14F-4D97-AF65-F5344CB8AC3E}">
        <p14:creationId xmlns:p14="http://schemas.microsoft.com/office/powerpoint/2010/main" val="1727494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2559E32-3873-7D45-B9C6-C4F839B303D0}"/>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
        <p:nvSpPr>
          <p:cNvPr id="11" name="Picture Placeholder 2">
            <a:extLst>
              <a:ext uri="{FF2B5EF4-FFF2-40B4-BE49-F238E27FC236}">
                <a16:creationId xmlns:a16="http://schemas.microsoft.com/office/drawing/2014/main" id="{81BC6CA5-FB54-8746-B1B1-0D09602CEAEC}"/>
              </a:ext>
            </a:extLst>
          </p:cNvPr>
          <p:cNvSpPr>
            <a:spLocks noGrp="1"/>
          </p:cNvSpPr>
          <p:nvPr>
            <p:ph type="pic" sz="quarter" idx="13"/>
          </p:nvPr>
        </p:nvSpPr>
        <p:spPr>
          <a:xfrm>
            <a:off x="-1" y="1699336"/>
            <a:ext cx="2452283" cy="4575733"/>
          </a:xfrm>
          <a:prstGeom prst="rect">
            <a:avLst/>
          </a:prstGeom>
        </p:spPr>
        <p:txBody>
          <a:bodyPr/>
          <a:lstStyle>
            <a:lvl1pPr>
              <a:defRPr>
                <a:solidFill>
                  <a:srgbClr val="003560"/>
                </a:solidFill>
                <a:latin typeface="Arial" panose="020B0604020202020204" pitchFamily="34" charset="0"/>
                <a:cs typeface="Arial" panose="020B0604020202020204" pitchFamily="34" charset="0"/>
              </a:defRPr>
            </a:lvl1pPr>
          </a:lstStyle>
          <a:p>
            <a:r>
              <a:rPr lang="en-GB"/>
              <a:t>Click icon to add picture</a:t>
            </a:r>
            <a:endParaRPr lang="en-US" dirty="0"/>
          </a:p>
        </p:txBody>
      </p:sp>
      <p:sp>
        <p:nvSpPr>
          <p:cNvPr id="12" name="Text Placeholder 6">
            <a:extLst>
              <a:ext uri="{FF2B5EF4-FFF2-40B4-BE49-F238E27FC236}">
                <a16:creationId xmlns:a16="http://schemas.microsoft.com/office/drawing/2014/main" id="{1DECEF87-946C-834D-8550-61FE3D91A5E9}"/>
              </a:ext>
            </a:extLst>
          </p:cNvPr>
          <p:cNvSpPr>
            <a:spLocks noGrp="1"/>
          </p:cNvSpPr>
          <p:nvPr>
            <p:ph type="body" sz="quarter" idx="14" hasCustomPrompt="1"/>
          </p:nvPr>
        </p:nvSpPr>
        <p:spPr>
          <a:xfrm>
            <a:off x="2549235" y="1705343"/>
            <a:ext cx="9210963" cy="4526124"/>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dirty="0"/>
              <a:t>Body text Arial 24pt</a:t>
            </a:r>
            <a:endParaRPr lang="en-US" dirty="0"/>
          </a:p>
        </p:txBody>
      </p:sp>
    </p:spTree>
    <p:extLst>
      <p:ext uri="{BB962C8B-B14F-4D97-AF65-F5344CB8AC3E}">
        <p14:creationId xmlns:p14="http://schemas.microsoft.com/office/powerpoint/2010/main" val="281081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3BB4406-02B4-284F-84C5-A21F22E6BA49}"/>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
        <p:nvSpPr>
          <p:cNvPr id="11" name="Content Placeholder 7">
            <a:extLst>
              <a:ext uri="{FF2B5EF4-FFF2-40B4-BE49-F238E27FC236}">
                <a16:creationId xmlns:a16="http://schemas.microsoft.com/office/drawing/2014/main" id="{5FEA054A-F191-E34B-8C26-BA11F3F0C090}"/>
              </a:ext>
            </a:extLst>
          </p:cNvPr>
          <p:cNvSpPr>
            <a:spLocks noGrp="1"/>
          </p:cNvSpPr>
          <p:nvPr>
            <p:ph sz="quarter" idx="13"/>
          </p:nvPr>
        </p:nvSpPr>
        <p:spPr>
          <a:xfrm>
            <a:off x="285750" y="1627188"/>
            <a:ext cx="11474450" cy="4606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689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ual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08667"/>
            <a:ext cx="5181600" cy="456829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608667"/>
            <a:ext cx="5181600" cy="456829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itle 1">
            <a:extLst>
              <a:ext uri="{FF2B5EF4-FFF2-40B4-BE49-F238E27FC236}">
                <a16:creationId xmlns:a16="http://schemas.microsoft.com/office/drawing/2014/main" id="{3EE31514-F8EA-5D4E-B45D-65DD78DBE34E}"/>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Tree>
    <p:extLst>
      <p:ext uri="{BB962C8B-B14F-4D97-AF65-F5344CB8AC3E}">
        <p14:creationId xmlns:p14="http://schemas.microsoft.com/office/powerpoint/2010/main" val="341252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itle 1">
            <a:extLst>
              <a:ext uri="{FF2B5EF4-FFF2-40B4-BE49-F238E27FC236}">
                <a16:creationId xmlns:a16="http://schemas.microsoft.com/office/drawing/2014/main" id="{191D55F9-A3F2-1242-A5F3-5AAACC9DB3AE}"/>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Tree>
    <p:extLst>
      <p:ext uri="{BB962C8B-B14F-4D97-AF65-F5344CB8AC3E}">
        <p14:creationId xmlns:p14="http://schemas.microsoft.com/office/powerpoint/2010/main" val="2249408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0418" y="1657926"/>
            <a:ext cx="6629400" cy="789709"/>
          </a:xfrm>
        </p:spPr>
        <p:txBody>
          <a:bodyPr anchor="t">
            <a:normAutofit/>
          </a:bodyPr>
          <a:lstStyle>
            <a:lvl1pPr algn="l">
              <a:defRPr sz="2800">
                <a:solidFill>
                  <a:schemeClr val="accent1">
                    <a:lumMod val="50000"/>
                  </a:schemeClr>
                </a:solidFill>
                <a:latin typeface="Arial" panose="020B0604020202020204" pitchFamily="34" charset="0"/>
                <a:cs typeface="Arial" panose="020B0604020202020204" pitchFamily="34" charset="0"/>
              </a:defRPr>
            </a:lvl1pPr>
          </a:lstStyle>
          <a:p>
            <a:r>
              <a:rPr lang="en-GB"/>
              <a:t>Click to edit Master title style</a:t>
            </a:r>
            <a:endParaRPr lang="en-GB" dirty="0"/>
          </a:p>
        </p:txBody>
      </p:sp>
      <p:sp>
        <p:nvSpPr>
          <p:cNvPr id="3" name="Subtitle 2"/>
          <p:cNvSpPr>
            <a:spLocks noGrp="1"/>
          </p:cNvSpPr>
          <p:nvPr>
            <p:ph type="subTitle" idx="1"/>
          </p:nvPr>
        </p:nvSpPr>
        <p:spPr>
          <a:xfrm>
            <a:off x="690418" y="3015529"/>
            <a:ext cx="5680364" cy="623598"/>
          </a:xfrm>
        </p:spPr>
        <p:txBody>
          <a:bodyPr>
            <a:normAutofit/>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Tree>
    <p:extLst>
      <p:ext uri="{BB962C8B-B14F-4D97-AF65-F5344CB8AC3E}">
        <p14:creationId xmlns:p14="http://schemas.microsoft.com/office/powerpoint/2010/main" val="1184273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7420DD-2415-454D-AA0F-DBDA719CBDF3}"/>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Tree>
    <p:extLst>
      <p:ext uri="{BB962C8B-B14F-4D97-AF65-F5344CB8AC3E}">
        <p14:creationId xmlns:p14="http://schemas.microsoft.com/office/powerpoint/2010/main" val="1101283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1680" y="2123676"/>
            <a:ext cx="4027169" cy="1600200"/>
          </a:xfrm>
        </p:spPr>
        <p:txBody>
          <a:bodyPr anchor="t">
            <a:normAutofit/>
          </a:bodyPr>
          <a:lstStyle>
            <a:lvl1pPr algn="l">
              <a:defRPr sz="2800"/>
            </a:lvl1pPr>
          </a:lstStyle>
          <a:p>
            <a:r>
              <a:rPr lang="en-GB" dirty="0"/>
              <a:t>Click to edit Master title style</a:t>
            </a:r>
          </a:p>
        </p:txBody>
      </p:sp>
      <p:sp>
        <p:nvSpPr>
          <p:cNvPr id="4" name="Text Placeholder 3"/>
          <p:cNvSpPr>
            <a:spLocks noGrp="1"/>
          </p:cNvSpPr>
          <p:nvPr>
            <p:ph type="body" sz="half" idx="2"/>
          </p:nvPr>
        </p:nvSpPr>
        <p:spPr>
          <a:xfrm>
            <a:off x="741680" y="3934224"/>
            <a:ext cx="4030345" cy="1934763"/>
          </a:xfrm>
        </p:spPr>
        <p:txBody>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2328039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65B24-645B-1746-9651-55C209C5E25D}"/>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810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11800" y="681037"/>
            <a:ext cx="5842000" cy="1009651"/>
          </a:xfrm>
          <a:prstGeom prst="rect">
            <a:avLst/>
          </a:prstGeom>
        </p:spPr>
        <p:txBody>
          <a:bodyPr vert="horz" lIns="91440" tIns="45720" rIns="91440" bIns="45720" rtlCol="0" anchor="t">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24FB1-CB24-4B4C-BFD4-AD276D9A4059}" type="datetimeFigureOut">
              <a:rPr lang="en-GB" smtClean="0"/>
              <a:t>05/11/2025</a:t>
            </a:fld>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19F3F6-C255-4AC5-91C2-3F61B6509B36}" type="slidenum">
              <a:rPr lang="en-GB" smtClean="0"/>
              <a:t>‹#›</a:t>
            </a:fld>
            <a:endParaRPr lang="en-GB"/>
          </a:p>
        </p:txBody>
      </p:sp>
      <p:pic>
        <p:nvPicPr>
          <p:cNvPr id="9" name="Picture 8">
            <a:extLst>
              <a:ext uri="{FF2B5EF4-FFF2-40B4-BE49-F238E27FC236}">
                <a16:creationId xmlns:a16="http://schemas.microsoft.com/office/drawing/2014/main" id="{46262A0F-9E49-6B4D-94F3-647B33A25AE7}"/>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35699181"/>
      </p:ext>
    </p:extLst>
  </p:cSld>
  <p:clrMap bg1="lt1" tx1="dk1" bg2="lt2" tx2="dk2" accent1="accent1" accent2="accent2" accent3="accent3" accent4="accent4" accent5="accent5" accent6="accent6" hlink="hlink" folHlink="folHlink"/>
  <p:sldLayoutIdLst>
    <p:sldLayoutId id="2147483688" r:id="rId1"/>
    <p:sldLayoutId id="2147483683" r:id="rId2"/>
    <p:sldLayoutId id="2147483652" r:id="rId3"/>
    <p:sldLayoutId id="2147483653" r:id="rId4"/>
    <p:sldLayoutId id="2147483649" r:id="rId5"/>
    <p:sldLayoutId id="2147483654" r:id="rId6"/>
    <p:sldLayoutId id="2147483656" r:id="rId7"/>
    <p:sldLayoutId id="2147483684" r:id="rId8"/>
  </p:sldLayoutIdLst>
  <p:txStyles>
    <p:titleStyle>
      <a:lvl1pPr algn="r" defTabSz="914400" rtl="0" eaLnBrk="1" latinLnBrk="0" hangingPunct="1">
        <a:lnSpc>
          <a:spcPct val="90000"/>
        </a:lnSpc>
        <a:spcBef>
          <a:spcPct val="0"/>
        </a:spcBef>
        <a:buNone/>
        <a:defRPr sz="2800" b="1" kern="1200">
          <a:solidFill>
            <a:schemeClr val="accent1">
              <a:lumMod val="50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he Gilbert Scott Building">
            <a:extLst>
              <a:ext uri="{FF2B5EF4-FFF2-40B4-BE49-F238E27FC236}">
                <a16:creationId xmlns:a16="http://schemas.microsoft.com/office/drawing/2014/main" id="{BAB3C4BD-A67A-4D47-6D5C-637F167E7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p:txBody>
          <a:bodyPr>
            <a:normAutofit/>
          </a:bodyPr>
          <a:lstStyle/>
          <a:p>
            <a:r>
              <a:rPr lang="en-GB" b="1" i="0" dirty="0">
                <a:effectLst/>
                <a:latin typeface="-apple-system"/>
              </a:rPr>
              <a:t>Introduction to Data Science and Systems</a:t>
            </a:r>
            <a:endParaRPr lang="en-GB" dirty="0">
              <a:solidFill>
                <a:schemeClr val="tx1"/>
              </a:solidFill>
            </a:endParaRPr>
          </a:p>
        </p:txBody>
      </p:sp>
      <p:sp>
        <p:nvSpPr>
          <p:cNvPr id="3" name="Subtitle 2"/>
          <p:cNvSpPr>
            <a:spLocks noGrp="1"/>
          </p:cNvSpPr>
          <p:nvPr>
            <p:ph type="subTitle" idx="1"/>
          </p:nvPr>
        </p:nvSpPr>
        <p:spPr>
          <a:xfrm>
            <a:off x="690417" y="2576945"/>
            <a:ext cx="6352640" cy="1062182"/>
          </a:xfrm>
        </p:spPr>
        <p:txBody>
          <a:bodyPr/>
          <a:lstStyle/>
          <a:p>
            <a:r>
              <a:rPr lang="en-GB" dirty="0">
                <a:solidFill>
                  <a:schemeClr val="tx1"/>
                </a:solidFill>
              </a:rPr>
              <a:t>Probabilities I – Introduction to probabilities</a:t>
            </a:r>
          </a:p>
          <a:p>
            <a:endParaRPr lang="en-GB" dirty="0">
              <a:solidFill>
                <a:schemeClr val="tx1"/>
              </a:solidFill>
            </a:endParaRPr>
          </a:p>
        </p:txBody>
      </p:sp>
      <p:sp>
        <p:nvSpPr>
          <p:cNvPr id="5" name="TextBox 4">
            <a:extLst>
              <a:ext uri="{FF2B5EF4-FFF2-40B4-BE49-F238E27FC236}">
                <a16:creationId xmlns:a16="http://schemas.microsoft.com/office/drawing/2014/main" id="{8751FC6E-FCE7-8227-A3BF-138CAED1187D}"/>
              </a:ext>
            </a:extLst>
          </p:cNvPr>
          <p:cNvSpPr txBox="1"/>
          <p:nvPr/>
        </p:nvSpPr>
        <p:spPr>
          <a:xfrm>
            <a:off x="690417" y="3269795"/>
            <a:ext cx="6183086" cy="369332"/>
          </a:xfrm>
          <a:prstGeom prst="rect">
            <a:avLst/>
          </a:prstGeom>
          <a:noFill/>
        </p:spPr>
        <p:txBody>
          <a:bodyPr wrap="square">
            <a:spAutoFit/>
          </a:bodyPr>
          <a:lstStyle/>
          <a:p>
            <a:r>
              <a:rPr lang="en-US" altLang="zh-CN" dirty="0">
                <a:solidFill>
                  <a:schemeClr val="tx1"/>
                </a:solidFill>
              </a:rPr>
              <a:t>Dr</a:t>
            </a:r>
            <a:r>
              <a:rPr lang="zh-CN" altLang="en-US" dirty="0">
                <a:solidFill>
                  <a:schemeClr val="tx1"/>
                </a:solidFill>
              </a:rPr>
              <a:t> </a:t>
            </a:r>
            <a:r>
              <a:rPr lang="en-GB" altLang="zh-CN" dirty="0">
                <a:solidFill>
                  <a:schemeClr val="tx1"/>
                </a:solidFill>
              </a:rPr>
              <a:t>Nicolas Pugeault</a:t>
            </a:r>
            <a:endParaRPr lang="en-GB" dirty="0">
              <a:solidFill>
                <a:schemeClr val="tx1"/>
              </a:solidFill>
            </a:endParaRPr>
          </a:p>
        </p:txBody>
      </p:sp>
    </p:spTree>
    <p:extLst>
      <p:ext uri="{BB962C8B-B14F-4D97-AF65-F5344CB8AC3E}">
        <p14:creationId xmlns:p14="http://schemas.microsoft.com/office/powerpoint/2010/main" val="424417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5424-B679-554A-935B-2CF2EFD17240}"/>
              </a:ext>
            </a:extLst>
          </p:cNvPr>
          <p:cNvSpPr>
            <a:spLocks noGrp="1"/>
          </p:cNvSpPr>
          <p:nvPr>
            <p:ph type="title"/>
          </p:nvPr>
        </p:nvSpPr>
        <p:spPr>
          <a:xfrm>
            <a:off x="2549236" y="533614"/>
            <a:ext cx="9210963" cy="888786"/>
          </a:xfrm>
        </p:spPr>
        <p:txBody>
          <a:bodyPr anchor="t">
            <a:normAutofit/>
          </a:bodyPr>
          <a:lstStyle/>
          <a:p>
            <a:r>
              <a:rPr lang="en-US" dirty="0"/>
              <a:t>Today’s learning outcomes</a:t>
            </a:r>
          </a:p>
        </p:txBody>
      </p:sp>
      <p:sp>
        <p:nvSpPr>
          <p:cNvPr id="8" name="Picture Placeholder 2">
            <a:extLst>
              <a:ext uri="{FF2B5EF4-FFF2-40B4-BE49-F238E27FC236}">
                <a16:creationId xmlns:a16="http://schemas.microsoft.com/office/drawing/2014/main" id="{25585006-BCAE-529E-80CC-A539A29D7C53}"/>
              </a:ext>
            </a:extLst>
          </p:cNvPr>
          <p:cNvSpPr>
            <a:spLocks noGrp="1"/>
          </p:cNvSpPr>
          <p:nvPr>
            <p:ph type="pic" sz="quarter" idx="13"/>
          </p:nvPr>
        </p:nvSpPr>
        <p:spPr>
          <a:xfrm>
            <a:off x="-1" y="1699336"/>
            <a:ext cx="2452283" cy="4575733"/>
          </a:xfrm>
        </p:spPr>
        <p:txBody>
          <a:bodyPr/>
          <a:lstStyle/>
          <a:p>
            <a:endParaRPr lang="en-GB"/>
          </a:p>
        </p:txBody>
      </p:sp>
      <p:sp>
        <p:nvSpPr>
          <p:cNvPr id="3" name="Content Placeholder 2">
            <a:extLst>
              <a:ext uri="{FF2B5EF4-FFF2-40B4-BE49-F238E27FC236}">
                <a16:creationId xmlns:a16="http://schemas.microsoft.com/office/drawing/2014/main" id="{32FF7AE7-790E-374F-98D3-31609964D7B4}"/>
              </a:ext>
            </a:extLst>
          </p:cNvPr>
          <p:cNvSpPr>
            <a:spLocks noGrp="1"/>
          </p:cNvSpPr>
          <p:nvPr>
            <p:ph type="body" sz="quarter" idx="14"/>
          </p:nvPr>
        </p:nvSpPr>
        <p:spPr>
          <a:xfrm>
            <a:off x="2549235" y="1705343"/>
            <a:ext cx="9210963" cy="4526124"/>
          </a:xfrm>
        </p:spPr>
        <p:txBody>
          <a:bodyPr>
            <a:normAutofit/>
          </a:bodyPr>
          <a:lstStyle/>
          <a:p>
            <a:pPr>
              <a:buFont typeface="Arial" panose="020B0604020202020204" pitchFamily="34" charset="0"/>
              <a:buChar char="•"/>
            </a:pPr>
            <a:r>
              <a:rPr lang="en-US" b="0" i="0" dirty="0">
                <a:effectLst/>
              </a:rPr>
              <a:t>what probability is, and different philosophical interpretations of it</a:t>
            </a:r>
          </a:p>
          <a:p>
            <a:pPr>
              <a:buFont typeface="Arial" panose="020B0604020202020204" pitchFamily="34" charset="0"/>
              <a:buChar char="•"/>
            </a:pPr>
            <a:r>
              <a:rPr lang="en-US" b="0" i="0" dirty="0">
                <a:effectLst/>
              </a:rPr>
              <a:t>what inverse and forward probability are</a:t>
            </a:r>
          </a:p>
          <a:p>
            <a:pPr>
              <a:buFont typeface="Arial" panose="020B0604020202020204" pitchFamily="34" charset="0"/>
              <a:buChar char="•"/>
            </a:pPr>
            <a:r>
              <a:rPr lang="en-US" b="0" i="0" dirty="0">
                <a:effectLst/>
              </a:rPr>
              <a:t>what a random variable, distribution, probability mass/density function are</a:t>
            </a:r>
          </a:p>
          <a:p>
            <a:pPr>
              <a:buFont typeface="Arial" panose="020B0604020202020204" pitchFamily="34" charset="0"/>
              <a:buChar char="•"/>
            </a:pPr>
            <a:r>
              <a:rPr lang="en-US" b="0" i="0" dirty="0">
                <a:effectLst/>
              </a:rPr>
              <a:t>what the empirical distribution is and how it is computed from data</a:t>
            </a:r>
          </a:p>
          <a:p>
            <a:pPr>
              <a:buFont typeface="Arial" panose="020B0604020202020204" pitchFamily="34" charset="0"/>
              <a:buChar char="•"/>
            </a:pPr>
            <a:r>
              <a:rPr lang="en-US" b="0" i="0" dirty="0">
                <a:effectLst/>
              </a:rPr>
              <a:t>what expectation/expected value is</a:t>
            </a:r>
          </a:p>
          <a:p>
            <a:pPr>
              <a:buFont typeface="Arial" panose="020B0604020202020204" pitchFamily="34" charset="0"/>
              <a:buChar char="•"/>
            </a:pPr>
            <a:r>
              <a:rPr lang="en-US" b="0" i="0" dirty="0">
                <a:effectLst/>
              </a:rPr>
              <a:t>the axioms of probability theory</a:t>
            </a:r>
          </a:p>
          <a:p>
            <a:pPr marL="0" indent="0" rtl="0">
              <a:buNone/>
            </a:pPr>
            <a:endParaRPr lang="en-GB" b="1" dirty="0"/>
          </a:p>
        </p:txBody>
      </p:sp>
    </p:spTree>
    <p:extLst>
      <p:ext uri="{BB962C8B-B14F-4D97-AF65-F5344CB8AC3E}">
        <p14:creationId xmlns:p14="http://schemas.microsoft.com/office/powerpoint/2010/main" val="294217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BA915-1FF3-DEDF-10A5-DD5DB7564797}"/>
              </a:ext>
            </a:extLst>
          </p:cNvPr>
          <p:cNvSpPr>
            <a:spLocks noGrp="1"/>
          </p:cNvSpPr>
          <p:nvPr>
            <p:ph type="title"/>
          </p:nvPr>
        </p:nvSpPr>
        <p:spPr>
          <a:xfrm>
            <a:off x="2549236" y="533614"/>
            <a:ext cx="9210963" cy="888786"/>
          </a:xfrm>
        </p:spPr>
        <p:txBody>
          <a:bodyPr anchor="t">
            <a:normAutofit/>
          </a:bodyPr>
          <a:lstStyle/>
          <a:p>
            <a:r>
              <a:rPr lang="en-GB" dirty="0"/>
              <a:t>Example: the lost submarine</a:t>
            </a:r>
          </a:p>
        </p:txBody>
      </p:sp>
      <p:pic>
        <p:nvPicPr>
          <p:cNvPr id="5" name="Picture 4" descr="A submarine in the water&#10;&#10;Description automatically generated">
            <a:extLst>
              <a:ext uri="{FF2B5EF4-FFF2-40B4-BE49-F238E27FC236}">
                <a16:creationId xmlns:a16="http://schemas.microsoft.com/office/drawing/2014/main" id="{8B09B031-A874-35D3-AB76-33DC69CCFFAF}"/>
              </a:ext>
            </a:extLst>
          </p:cNvPr>
          <p:cNvPicPr>
            <a:picLocks noChangeAspect="1"/>
          </p:cNvPicPr>
          <p:nvPr/>
        </p:nvPicPr>
        <p:blipFill>
          <a:blip r:embed="rId3">
            <a:extLst>
              <a:ext uri="{28A0092B-C50C-407E-A947-70E740481C1C}">
                <a14:useLocalDpi xmlns:a14="http://schemas.microsoft.com/office/drawing/2010/main" val="0"/>
              </a:ext>
            </a:extLst>
          </a:blip>
          <a:srcRect l="23747" r="34181" b="-3"/>
          <a:stretch/>
        </p:blipFill>
        <p:spPr>
          <a:xfrm>
            <a:off x="-1" y="1699336"/>
            <a:ext cx="2452283" cy="4575733"/>
          </a:xfrm>
          <a:prstGeom prst="rect">
            <a:avLst/>
          </a:prstGeom>
          <a:noFill/>
        </p:spPr>
      </p:pic>
      <p:sp>
        <p:nvSpPr>
          <p:cNvPr id="3" name="Content Placeholder 2">
            <a:extLst>
              <a:ext uri="{FF2B5EF4-FFF2-40B4-BE49-F238E27FC236}">
                <a16:creationId xmlns:a16="http://schemas.microsoft.com/office/drawing/2014/main" id="{02E7A751-F45A-DEC8-1B0A-988D3681075F}"/>
              </a:ext>
            </a:extLst>
          </p:cNvPr>
          <p:cNvSpPr>
            <a:spLocks noGrp="1"/>
          </p:cNvSpPr>
          <p:nvPr>
            <p:ph type="body" sz="quarter" idx="14"/>
          </p:nvPr>
        </p:nvSpPr>
        <p:spPr>
          <a:xfrm>
            <a:off x="2549235" y="1705343"/>
            <a:ext cx="9210963" cy="4526124"/>
          </a:xfrm>
        </p:spPr>
        <p:txBody>
          <a:bodyPr>
            <a:normAutofit/>
          </a:bodyPr>
          <a:lstStyle/>
          <a:p>
            <a:pPr marL="0" indent="0">
              <a:buNone/>
            </a:pPr>
            <a:r>
              <a:rPr lang="en-US" b="0" i="0" dirty="0">
                <a:effectLst/>
              </a:rPr>
              <a:t>The </a:t>
            </a:r>
            <a:r>
              <a:rPr lang="en-US" b="0" i="1" dirty="0">
                <a:effectLst/>
              </a:rPr>
              <a:t>USS Scorpion</a:t>
            </a:r>
            <a:r>
              <a:rPr lang="en-US" b="0" i="0" dirty="0">
                <a:effectLst/>
              </a:rPr>
              <a:t> was a nuclear armed submarine that disappeared on 30th June 1968 somewhere in the Atlantic. [This was a year in which </a:t>
            </a:r>
            <a:r>
              <a:rPr lang="en-US" b="0" i="1" dirty="0">
                <a:effectLst/>
              </a:rPr>
              <a:t>four</a:t>
            </a:r>
            <a:r>
              <a:rPr lang="en-US" b="0" i="0" dirty="0">
                <a:effectLst/>
              </a:rPr>
              <a:t> submarines were inexplicably lost at sea -- </a:t>
            </a:r>
            <a:r>
              <a:rPr lang="en-US" b="1" i="0" dirty="0">
                <a:effectLst/>
              </a:rPr>
              <a:t>the 1968 submarine mystery</a:t>
            </a:r>
            <a:r>
              <a:rPr lang="en-US" b="0" i="0" dirty="0">
                <a:effectLst/>
              </a:rPr>
              <a:t>.]</a:t>
            </a:r>
          </a:p>
          <a:p>
            <a:pPr marL="0" indent="0">
              <a:buNone/>
            </a:pPr>
            <a:r>
              <a:rPr lang="en-US" dirty="0"/>
              <a:t>The search for the submarine was one of the first times </a:t>
            </a:r>
            <a:r>
              <a:rPr lang="en-US" b="1" dirty="0"/>
              <a:t>probabilistic methods</a:t>
            </a:r>
            <a:r>
              <a:rPr lang="en-US" dirty="0"/>
              <a:t> were used for searching. The US Navy needed to find the submarine and recover it as fast as possible. Probabilistic methods allow us to reason </a:t>
            </a:r>
            <a:r>
              <a:rPr lang="en-US" i="1" dirty="0"/>
              <a:t>precisely</a:t>
            </a:r>
            <a:r>
              <a:rPr lang="en-US" dirty="0"/>
              <a:t> about things we are uncertain about -- like where the submarine is. Probability gives a concrete, computable representations for an uncertain world.</a:t>
            </a:r>
          </a:p>
          <a:p>
            <a:pPr marL="0" indent="0">
              <a:buNone/>
            </a:pPr>
            <a:endParaRPr lang="en-GB" dirty="0"/>
          </a:p>
        </p:txBody>
      </p:sp>
    </p:spTree>
    <p:extLst>
      <p:ext uri="{BB962C8B-B14F-4D97-AF65-F5344CB8AC3E}">
        <p14:creationId xmlns:p14="http://schemas.microsoft.com/office/powerpoint/2010/main" val="1521771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2D991-75CC-6C83-37F4-A94189A56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84297-188F-002A-8033-D5D347ACECC6}"/>
              </a:ext>
            </a:extLst>
          </p:cNvPr>
          <p:cNvSpPr>
            <a:spLocks noGrp="1"/>
          </p:cNvSpPr>
          <p:nvPr>
            <p:ph type="title"/>
          </p:nvPr>
        </p:nvSpPr>
        <p:spPr>
          <a:xfrm>
            <a:off x="2549236" y="533614"/>
            <a:ext cx="9210963" cy="888786"/>
          </a:xfrm>
        </p:spPr>
        <p:txBody>
          <a:bodyPr anchor="t">
            <a:normAutofit/>
          </a:bodyPr>
          <a:lstStyle/>
          <a:p>
            <a:r>
              <a:rPr lang="en-GB" dirty="0"/>
              <a:t>Example: the lost submarine</a:t>
            </a:r>
          </a:p>
        </p:txBody>
      </p:sp>
      <p:pic>
        <p:nvPicPr>
          <p:cNvPr id="5" name="Picture 4" descr="A submarine in the water&#10;&#10;Description automatically generated">
            <a:extLst>
              <a:ext uri="{FF2B5EF4-FFF2-40B4-BE49-F238E27FC236}">
                <a16:creationId xmlns:a16="http://schemas.microsoft.com/office/drawing/2014/main" id="{9E8D8BC4-6EC4-1685-A35C-8D6347E2E91B}"/>
              </a:ext>
            </a:extLst>
          </p:cNvPr>
          <p:cNvPicPr>
            <a:picLocks noChangeAspect="1"/>
          </p:cNvPicPr>
          <p:nvPr/>
        </p:nvPicPr>
        <p:blipFill>
          <a:blip r:embed="rId3">
            <a:extLst>
              <a:ext uri="{28A0092B-C50C-407E-A947-70E740481C1C}">
                <a14:useLocalDpi xmlns:a14="http://schemas.microsoft.com/office/drawing/2010/main" val="0"/>
              </a:ext>
            </a:extLst>
          </a:blip>
          <a:srcRect l="23747" r="34181" b="-3"/>
          <a:stretch/>
        </p:blipFill>
        <p:spPr>
          <a:xfrm>
            <a:off x="-1" y="1699336"/>
            <a:ext cx="2452283" cy="4575733"/>
          </a:xfrm>
          <a:prstGeom prst="rect">
            <a:avLst/>
          </a:prstGeom>
          <a:noFill/>
        </p:spPr>
      </p:pic>
      <p:sp>
        <p:nvSpPr>
          <p:cNvPr id="3" name="Content Placeholder 2">
            <a:extLst>
              <a:ext uri="{FF2B5EF4-FFF2-40B4-BE49-F238E27FC236}">
                <a16:creationId xmlns:a16="http://schemas.microsoft.com/office/drawing/2014/main" id="{17419254-EE73-5681-A844-02D028DDF9AF}"/>
              </a:ext>
            </a:extLst>
          </p:cNvPr>
          <p:cNvSpPr>
            <a:spLocks noGrp="1"/>
          </p:cNvSpPr>
          <p:nvPr>
            <p:ph type="body" sz="quarter" idx="14"/>
          </p:nvPr>
        </p:nvSpPr>
        <p:spPr>
          <a:xfrm>
            <a:off x="2549235" y="1705343"/>
            <a:ext cx="9210963" cy="4526124"/>
          </a:xfrm>
        </p:spPr>
        <p:txBody>
          <a:bodyPr>
            <a:normAutofit/>
          </a:bodyPr>
          <a:lstStyle/>
          <a:p>
            <a:pPr marL="0" indent="0">
              <a:buNone/>
            </a:pPr>
            <a:r>
              <a:rPr lang="en-US" dirty="0"/>
              <a:t>Imagine dividing the possible search areas into grid squares: </a:t>
            </a:r>
            <a:r>
              <a:rPr lang="en-US" i="1" dirty="0">
                <a:solidFill>
                  <a:schemeClr val="accent1"/>
                </a:solidFill>
              </a:rPr>
              <a:t>what is the probability that the submarine lies within a specific square?</a:t>
            </a:r>
          </a:p>
          <a:p>
            <a:pPr marL="0" indent="0">
              <a:buNone/>
            </a:pPr>
            <a:r>
              <a:rPr lang="en-US" dirty="0"/>
              <a:t>A map like this might be produced, where squares are colored according to their probability:</a:t>
            </a:r>
          </a:p>
          <a:p>
            <a:pPr marL="0" indent="0">
              <a:buNone/>
            </a:pPr>
            <a:endParaRPr lang="en-GB" dirty="0"/>
          </a:p>
        </p:txBody>
      </p:sp>
      <p:pic>
        <p:nvPicPr>
          <p:cNvPr id="6" name="Picture 5" descr="A map of the ocean&#10;&#10;Description automatically generated">
            <a:extLst>
              <a:ext uri="{FF2B5EF4-FFF2-40B4-BE49-F238E27FC236}">
                <a16:creationId xmlns:a16="http://schemas.microsoft.com/office/drawing/2014/main" id="{B03A73F2-0842-56D7-2FCE-83D275019C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2041" y="3110416"/>
            <a:ext cx="5184737" cy="3572283"/>
          </a:xfrm>
          <a:prstGeom prst="rect">
            <a:avLst/>
          </a:prstGeom>
        </p:spPr>
      </p:pic>
    </p:spTree>
    <p:extLst>
      <p:ext uri="{BB962C8B-B14F-4D97-AF65-F5344CB8AC3E}">
        <p14:creationId xmlns:p14="http://schemas.microsoft.com/office/powerpoint/2010/main" val="1700219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ategory:Playing cards - Wikimedia Commons">
            <a:extLst>
              <a:ext uri="{FF2B5EF4-FFF2-40B4-BE49-F238E27FC236}">
                <a16:creationId xmlns:a16="http://schemas.microsoft.com/office/drawing/2014/main" id="{FB96BD1C-699F-A25C-3E2E-9B6F8D04F31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8200" y="2098686"/>
            <a:ext cx="5181600" cy="358825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79181A7-CE43-F987-F7CB-00DDDFB612FE}"/>
              </a:ext>
            </a:extLst>
          </p:cNvPr>
          <p:cNvSpPr>
            <a:spLocks noGrp="1"/>
          </p:cNvSpPr>
          <p:nvPr>
            <p:ph sz="half" idx="2"/>
          </p:nvPr>
        </p:nvSpPr>
        <p:spPr>
          <a:xfrm>
            <a:off x="6172200" y="1608667"/>
            <a:ext cx="5181600" cy="4568296"/>
          </a:xfrm>
        </p:spPr>
        <p:txBody>
          <a:bodyPr>
            <a:normAutofit/>
          </a:bodyPr>
          <a:lstStyle/>
          <a:p>
            <a:r>
              <a:rPr lang="en-US" sz="2000" b="0" i="0">
                <a:effectLst/>
              </a:rPr>
              <a:t>This section of the course is concerned with </a:t>
            </a:r>
            <a:r>
              <a:rPr lang="en-US" sz="2000" b="1" i="0">
                <a:effectLst/>
              </a:rPr>
              <a:t>stochastic elements</a:t>
            </a:r>
            <a:r>
              <a:rPr lang="en-US" sz="2000" b="0" i="0">
                <a:effectLst/>
              </a:rPr>
              <a:t>; the role of uncertainty, randomness and statistics in computation. </a:t>
            </a:r>
          </a:p>
          <a:p>
            <a:r>
              <a:rPr lang="en-US" sz="2000" b="0" i="0">
                <a:effectLst/>
              </a:rPr>
              <a:t>The fundamental mathematical principles are drawn from </a:t>
            </a:r>
            <a:r>
              <a:rPr lang="en-US" sz="2000" b="1" i="0">
                <a:effectLst/>
              </a:rPr>
              <a:t>probability theory</a:t>
            </a:r>
            <a:r>
              <a:rPr lang="en-US" sz="2000" b="0" i="0">
                <a:effectLst/>
              </a:rPr>
              <a:t>, which gives us simple and powerful ways of manipulating uncertain values and let us do useful operations like inferring the most likely hypotheses given some observations. </a:t>
            </a:r>
          </a:p>
          <a:p>
            <a:r>
              <a:rPr lang="en-US" sz="2000" b="0" i="0">
                <a:effectLst/>
              </a:rPr>
              <a:t>Probability theory is a simple, consistent, and effective way to manipulate uncertainty.</a:t>
            </a:r>
            <a:endParaRPr lang="en-GB" sz="2000"/>
          </a:p>
        </p:txBody>
      </p:sp>
      <p:sp>
        <p:nvSpPr>
          <p:cNvPr id="2" name="Title 1">
            <a:extLst>
              <a:ext uri="{FF2B5EF4-FFF2-40B4-BE49-F238E27FC236}">
                <a16:creationId xmlns:a16="http://schemas.microsoft.com/office/drawing/2014/main" id="{21F87522-CBF9-2158-7BB6-FE1754607BC2}"/>
              </a:ext>
            </a:extLst>
          </p:cNvPr>
          <p:cNvSpPr>
            <a:spLocks noGrp="1"/>
          </p:cNvSpPr>
          <p:nvPr>
            <p:ph type="title"/>
          </p:nvPr>
        </p:nvSpPr>
        <p:spPr>
          <a:xfrm>
            <a:off x="2549236" y="533614"/>
            <a:ext cx="9210963" cy="888786"/>
          </a:xfrm>
        </p:spPr>
        <p:txBody>
          <a:bodyPr anchor="t">
            <a:normAutofit/>
          </a:bodyPr>
          <a:lstStyle/>
          <a:p>
            <a:r>
              <a:rPr lang="en-GB" dirty="0"/>
              <a:t>Part 1. Probability </a:t>
            </a:r>
          </a:p>
        </p:txBody>
      </p:sp>
    </p:spTree>
    <p:extLst>
      <p:ext uri="{BB962C8B-B14F-4D97-AF65-F5344CB8AC3E}">
        <p14:creationId xmlns:p14="http://schemas.microsoft.com/office/powerpoint/2010/main" val="3261861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C1A3A8-FFE0-5351-7E7E-B000192E5081}"/>
              </a:ext>
            </a:extLst>
          </p:cNvPr>
          <p:cNvSpPr>
            <a:spLocks noGrp="1"/>
          </p:cNvSpPr>
          <p:nvPr>
            <p:ph type="title"/>
          </p:nvPr>
        </p:nvSpPr>
        <p:spPr>
          <a:xfrm>
            <a:off x="2549236" y="533614"/>
            <a:ext cx="9210963" cy="888786"/>
          </a:xfrm>
        </p:spPr>
        <p:txBody>
          <a:bodyPr anchor="t">
            <a:normAutofit/>
          </a:bodyPr>
          <a:lstStyle/>
          <a:p>
            <a:r>
              <a:rPr lang="en-GB" dirty="0"/>
              <a:t>What is probability? </a:t>
            </a:r>
          </a:p>
        </p:txBody>
      </p:sp>
      <p:sp>
        <p:nvSpPr>
          <p:cNvPr id="2" name="Content Placeholder 1">
            <a:extLst>
              <a:ext uri="{FF2B5EF4-FFF2-40B4-BE49-F238E27FC236}">
                <a16:creationId xmlns:a16="http://schemas.microsoft.com/office/drawing/2014/main" id="{D0DF5F50-B8CE-E808-C508-89421944D1F6}"/>
              </a:ext>
            </a:extLst>
          </p:cNvPr>
          <p:cNvSpPr>
            <a:spLocks noGrp="1"/>
          </p:cNvSpPr>
          <p:nvPr>
            <p:ph sz="quarter" idx="13"/>
          </p:nvPr>
        </p:nvSpPr>
        <p:spPr>
          <a:xfrm>
            <a:off x="285750" y="1627188"/>
            <a:ext cx="11474450" cy="4606925"/>
          </a:xfrm>
        </p:spPr>
        <p:txBody>
          <a:bodyPr>
            <a:normAutofit/>
          </a:bodyPr>
          <a:lstStyle/>
          <a:p>
            <a:pPr>
              <a:buFont typeface="Arial" panose="020B0604020202020204" pitchFamily="34" charset="0"/>
              <a:buChar char="•"/>
            </a:pPr>
            <a:r>
              <a:rPr lang="en-US" sz="1900" b="1" i="0" dirty="0">
                <a:effectLst/>
              </a:rPr>
              <a:t>Experiment</a:t>
            </a:r>
            <a:r>
              <a:rPr lang="en-US" sz="1900" b="0" i="0" dirty="0">
                <a:effectLst/>
              </a:rPr>
              <a:t> (or </a:t>
            </a:r>
            <a:r>
              <a:rPr lang="en-US" sz="1900" b="1" i="0" dirty="0">
                <a:effectLst/>
              </a:rPr>
              <a:t>trial</a:t>
            </a:r>
            <a:r>
              <a:rPr lang="en-US" sz="1900" b="0" i="0" dirty="0">
                <a:effectLst/>
              </a:rPr>
              <a:t>): An occurrence with an uncertain outcome.</a:t>
            </a:r>
          </a:p>
          <a:p>
            <a:pPr marL="742950" lvl="1" indent="-285750">
              <a:buFont typeface="Arial" panose="020B0604020202020204" pitchFamily="34" charset="0"/>
              <a:buChar char="•"/>
            </a:pPr>
            <a:r>
              <a:rPr lang="en-US" sz="1900" b="0" i="1" dirty="0">
                <a:solidFill>
                  <a:schemeClr val="accent1"/>
                </a:solidFill>
                <a:effectLst/>
              </a:rPr>
              <a:t>For example, losing a submarine -- the location of the submarine is now unknown.</a:t>
            </a:r>
          </a:p>
          <a:p>
            <a:pPr>
              <a:buFont typeface="Arial" panose="020B0604020202020204" pitchFamily="34" charset="0"/>
              <a:buChar char="•"/>
            </a:pPr>
            <a:r>
              <a:rPr lang="en-US" sz="1900" b="1" i="0" dirty="0">
                <a:effectLst/>
              </a:rPr>
              <a:t>Outcome:</a:t>
            </a:r>
            <a:r>
              <a:rPr lang="en-US" sz="1900" b="0" i="0" dirty="0">
                <a:effectLst/>
              </a:rPr>
              <a:t> The result of an experiment; one particular state of the world.</a:t>
            </a:r>
          </a:p>
          <a:p>
            <a:pPr marL="742950" lvl="1" indent="-285750">
              <a:buFont typeface="Arial" panose="020B0604020202020204" pitchFamily="34" charset="0"/>
              <a:buChar char="•"/>
            </a:pPr>
            <a:r>
              <a:rPr lang="en-US" sz="1900" b="0" i="1" dirty="0">
                <a:solidFill>
                  <a:schemeClr val="accent1"/>
                </a:solidFill>
                <a:effectLst/>
              </a:rPr>
              <a:t>For example: the submarine is in ocean grid square [2,3].</a:t>
            </a:r>
          </a:p>
          <a:p>
            <a:pPr>
              <a:buFont typeface="Arial" panose="020B0604020202020204" pitchFamily="34" charset="0"/>
              <a:buChar char="•"/>
            </a:pPr>
            <a:r>
              <a:rPr lang="en-US" sz="1900" b="1" i="0" dirty="0">
                <a:effectLst/>
              </a:rPr>
              <a:t>Sample Space:</a:t>
            </a:r>
            <a:r>
              <a:rPr lang="en-US" sz="1900" b="0" i="0" dirty="0">
                <a:effectLst/>
              </a:rPr>
              <a:t> The set of </a:t>
            </a:r>
            <a:r>
              <a:rPr lang="en-US" sz="1900" b="0" i="1" dirty="0">
                <a:effectLst/>
              </a:rPr>
              <a:t>all possible</a:t>
            </a:r>
            <a:r>
              <a:rPr lang="en-US" sz="1900" b="0" i="0" dirty="0">
                <a:effectLst/>
              </a:rPr>
              <a:t> outcomes for an experiment.</a:t>
            </a:r>
          </a:p>
          <a:p>
            <a:pPr marL="742950" lvl="1" indent="-285750">
              <a:buFont typeface="Arial" panose="020B0604020202020204" pitchFamily="34" charset="0"/>
              <a:buChar char="•"/>
            </a:pPr>
            <a:r>
              <a:rPr lang="en-US" sz="1900" b="0" i="1" dirty="0">
                <a:solidFill>
                  <a:schemeClr val="accent1"/>
                </a:solidFill>
                <a:effectLst/>
              </a:rPr>
              <a:t>For example, ocean grid squares {[0,0], [0,1], [0,2], [0,3], ..., [8,7], [8,8], [8,9], [9,9]}.</a:t>
            </a:r>
          </a:p>
          <a:p>
            <a:pPr>
              <a:buFont typeface="Arial" panose="020B0604020202020204" pitchFamily="34" charset="0"/>
              <a:buChar char="•"/>
            </a:pPr>
            <a:r>
              <a:rPr lang="en-US" sz="1900" b="1" i="0" dirty="0">
                <a:effectLst/>
              </a:rPr>
              <a:t>Event:</a:t>
            </a:r>
            <a:r>
              <a:rPr lang="en-US" sz="1900" b="0" i="0" dirty="0">
                <a:effectLst/>
              </a:rPr>
              <a:t> A </a:t>
            </a:r>
            <a:r>
              <a:rPr lang="en-US" sz="1900" b="0" i="1" dirty="0">
                <a:effectLst/>
              </a:rPr>
              <a:t>subset</a:t>
            </a:r>
            <a:r>
              <a:rPr lang="en-US" sz="1900" b="0" i="0" dirty="0">
                <a:effectLst/>
              </a:rPr>
              <a:t> of possible outcomes with some common property.</a:t>
            </a:r>
          </a:p>
          <a:p>
            <a:pPr marL="742950" lvl="1" indent="-285750">
              <a:buFont typeface="Arial" panose="020B0604020202020204" pitchFamily="34" charset="0"/>
              <a:buChar char="•"/>
            </a:pPr>
            <a:r>
              <a:rPr lang="en-US" sz="1900" b="0" i="1" dirty="0">
                <a:solidFill>
                  <a:schemeClr val="accent1"/>
                </a:solidFill>
                <a:effectLst/>
              </a:rPr>
              <a:t>For example, the grid squares which are south of the Equator.</a:t>
            </a:r>
          </a:p>
          <a:p>
            <a:pPr>
              <a:buFont typeface="Arial" panose="020B0604020202020204" pitchFamily="34" charset="0"/>
              <a:buChar char="•"/>
            </a:pPr>
            <a:r>
              <a:rPr lang="en-US" sz="1900" b="1" i="0" dirty="0">
                <a:effectLst/>
              </a:rPr>
              <a:t>Probability:</a:t>
            </a:r>
            <a:r>
              <a:rPr lang="en-US" sz="1900" b="0" i="0" dirty="0">
                <a:effectLst/>
              </a:rPr>
              <a:t> The probability of an event </a:t>
            </a:r>
            <a:r>
              <a:rPr lang="en-US" sz="1900" b="0" i="1" dirty="0">
                <a:solidFill>
                  <a:schemeClr val="accent5"/>
                </a:solidFill>
                <a:effectLst/>
              </a:rPr>
              <a:t>with respect to a sample space</a:t>
            </a:r>
            <a:r>
              <a:rPr lang="en-US" sz="1900" b="0" i="0" dirty="0">
                <a:effectLst/>
              </a:rPr>
              <a:t> is the number of outcomes from the sample space that are in the event, divided by the total number of outcomes in the sample space. Since it is a ratio, probability will always be a real number between 0 (representing an impossible event) and 1 (representing a certain event).</a:t>
            </a:r>
          </a:p>
          <a:p>
            <a:pPr marL="742950" lvl="1" indent="-285750">
              <a:buFont typeface="Arial" panose="020B0604020202020204" pitchFamily="34" charset="0"/>
              <a:buChar char="•"/>
            </a:pPr>
            <a:r>
              <a:rPr lang="en-US" sz="1900" b="0" i="1" dirty="0">
                <a:solidFill>
                  <a:schemeClr val="accent1"/>
                </a:solidFill>
                <a:effectLst/>
              </a:rPr>
              <a:t>For example, the probability of the submarine being below the equator, or the probability of the submarine being in grid square [0,0] (in this case the event is just a single outcome).</a:t>
            </a:r>
          </a:p>
          <a:p>
            <a:endParaRPr lang="en-GB" sz="1900" dirty="0"/>
          </a:p>
        </p:txBody>
      </p:sp>
    </p:spTree>
    <p:extLst>
      <p:ext uri="{BB962C8B-B14F-4D97-AF65-F5344CB8AC3E}">
        <p14:creationId xmlns:p14="http://schemas.microsoft.com/office/powerpoint/2010/main" val="870767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A38E-F76C-7195-0E38-428A8FC31251}"/>
              </a:ext>
            </a:extLst>
          </p:cNvPr>
          <p:cNvSpPr>
            <a:spLocks noGrp="1"/>
          </p:cNvSpPr>
          <p:nvPr>
            <p:ph type="title"/>
          </p:nvPr>
        </p:nvSpPr>
        <p:spPr/>
        <p:txBody>
          <a:bodyPr/>
          <a:lstStyle/>
          <a:p>
            <a:r>
              <a:rPr lang="en-GB" dirty="0"/>
              <a:t>Some definitions (cont’d)</a:t>
            </a:r>
          </a:p>
        </p:txBody>
      </p:sp>
      <p:sp>
        <p:nvSpPr>
          <p:cNvPr id="3" name="Content Placeholder 2">
            <a:extLst>
              <a:ext uri="{FF2B5EF4-FFF2-40B4-BE49-F238E27FC236}">
                <a16:creationId xmlns:a16="http://schemas.microsoft.com/office/drawing/2014/main" id="{1272351D-2E0B-8A26-0585-28EF47F1B1F1}"/>
              </a:ext>
            </a:extLst>
          </p:cNvPr>
          <p:cNvSpPr>
            <a:spLocks noGrp="1"/>
          </p:cNvSpPr>
          <p:nvPr>
            <p:ph sz="quarter" idx="13"/>
          </p:nvPr>
        </p:nvSpPr>
        <p:spPr/>
        <p:txBody>
          <a:bodyPr>
            <a:normAutofit lnSpcReduction="10000"/>
          </a:bodyPr>
          <a:lstStyle/>
          <a:p>
            <a:pPr algn="l">
              <a:buFont typeface="Arial" panose="020B0604020202020204" pitchFamily="34" charset="0"/>
              <a:buChar char="•"/>
            </a:pPr>
            <a:r>
              <a:rPr lang="en-US" b="1" i="0" dirty="0">
                <a:effectLst/>
                <a:latin typeface="system-ui"/>
              </a:rPr>
              <a:t>Probability distribution:</a:t>
            </a:r>
            <a:r>
              <a:rPr lang="en-US" b="0" i="0" dirty="0">
                <a:effectLst/>
                <a:latin typeface="system-ui"/>
              </a:rPr>
              <a:t> A mapping of outcomes to probabilities that sum to 1. This is because an outcome must happen from a trial (with probability 1) so the sum of all possible outcomes together will be 1. A random variable has a probability distribution which maps each outcome to a probability.</a:t>
            </a:r>
          </a:p>
          <a:p>
            <a:pPr marL="742950" lvl="1" indent="-285750" algn="l">
              <a:buFont typeface="Arial" panose="020B0604020202020204" pitchFamily="34" charset="0"/>
              <a:buChar char="•"/>
            </a:pPr>
            <a:r>
              <a:rPr lang="en-US" b="0" i="1" dirty="0">
                <a:solidFill>
                  <a:schemeClr val="accent1"/>
                </a:solidFill>
                <a:effectLst/>
                <a:latin typeface="system-ui"/>
              </a:rPr>
              <a:t>For example P(X=x), the probability that the submarine is in a specific grid square x</a:t>
            </a:r>
            <a:r>
              <a:rPr lang="en-US" b="0" i="0" dirty="0">
                <a:effectLst/>
                <a:latin typeface="system-ui"/>
              </a:rPr>
              <a:t>.</a:t>
            </a:r>
          </a:p>
          <a:p>
            <a:pPr algn="l">
              <a:buFont typeface="Arial" panose="020B0604020202020204" pitchFamily="34" charset="0"/>
              <a:buChar char="•"/>
            </a:pPr>
            <a:r>
              <a:rPr lang="en-US" b="1" i="0" dirty="0">
                <a:effectLst/>
                <a:latin typeface="system-ui"/>
              </a:rPr>
              <a:t>Random variable:</a:t>
            </a:r>
            <a:r>
              <a:rPr lang="en-US" b="0" i="0" dirty="0">
                <a:effectLst/>
                <a:latin typeface="system-ui"/>
              </a:rPr>
              <a:t> A variable representing an unknown value, whose probability distribution we </a:t>
            </a:r>
            <a:r>
              <a:rPr lang="en-US" b="0" i="1" dirty="0">
                <a:effectLst/>
                <a:latin typeface="system-ui"/>
              </a:rPr>
              <a:t>do</a:t>
            </a:r>
            <a:r>
              <a:rPr lang="en-US" b="0" i="0" dirty="0">
                <a:effectLst/>
                <a:latin typeface="system-ui"/>
              </a:rPr>
              <a:t> know. The variable is associated outcomes of a trial</a:t>
            </a:r>
          </a:p>
          <a:p>
            <a:pPr marL="742950" lvl="1" indent="-285750" algn="l">
              <a:buFont typeface="Arial" panose="020B0604020202020204" pitchFamily="34" charset="0"/>
              <a:buChar char="•"/>
            </a:pPr>
            <a:r>
              <a:rPr lang="en-US" b="0" i="1" dirty="0">
                <a:solidFill>
                  <a:schemeClr val="accent1"/>
                </a:solidFill>
                <a:effectLst/>
                <a:latin typeface="system-ui"/>
              </a:rPr>
              <a:t>For example, X is a random variable representing the location of the submarine.</a:t>
            </a:r>
          </a:p>
          <a:p>
            <a:pPr algn="l">
              <a:buFont typeface="Arial" panose="020B0604020202020204" pitchFamily="34" charset="0"/>
              <a:buChar char="•"/>
            </a:pPr>
            <a:r>
              <a:rPr lang="en-US" b="1" i="0" dirty="0">
                <a:effectLst/>
                <a:latin typeface="system-ui"/>
              </a:rPr>
              <a:t>Probability density/mass function:</a:t>
            </a:r>
            <a:r>
              <a:rPr lang="en-US" b="0" i="0" dirty="0">
                <a:effectLst/>
                <a:latin typeface="system-ui"/>
              </a:rPr>
              <a:t> A function that </a:t>
            </a:r>
            <a:r>
              <a:rPr lang="en-US" b="0" i="1" dirty="0">
                <a:effectLst/>
                <a:latin typeface="system-ui"/>
              </a:rPr>
              <a:t>defines</a:t>
            </a:r>
            <a:r>
              <a:rPr lang="en-US" b="0" i="0" dirty="0">
                <a:effectLst/>
                <a:latin typeface="system-ui"/>
              </a:rPr>
              <a:t> a probability distribution by mapping each outcome to a probability </a:t>
            </a:r>
            <a:r>
              <a:rPr lang="en-US" b="0" i="0" dirty="0" err="1">
                <a:effectLst/>
                <a:latin typeface="system-ui"/>
              </a:rPr>
              <a:t>fX</a:t>
            </a:r>
            <a:r>
              <a:rPr lang="en-US" b="0" i="0" dirty="0">
                <a:effectLst/>
                <a:latin typeface="system-ui"/>
              </a:rPr>
              <a:t>(x),</a:t>
            </a:r>
            <a:r>
              <a:rPr lang="en-US" b="0" i="0" dirty="0" err="1">
                <a:effectLst/>
                <a:latin typeface="system-ui"/>
              </a:rPr>
              <a:t>x→R</a:t>
            </a:r>
            <a:r>
              <a:rPr lang="en-US" b="0" i="0" dirty="0">
                <a:effectLst/>
                <a:latin typeface="system-ui"/>
              </a:rPr>
              <a:t>. This could be a continuous function over x (density) or discrete function over x (mass).</a:t>
            </a:r>
          </a:p>
          <a:p>
            <a:pPr marL="742950" lvl="1" indent="-285750" algn="l">
              <a:buFont typeface="Arial" panose="020B0604020202020204" pitchFamily="34" charset="0"/>
              <a:buChar char="•"/>
            </a:pPr>
            <a:r>
              <a:rPr lang="en-US" b="0" i="1" dirty="0">
                <a:solidFill>
                  <a:schemeClr val="accent1"/>
                </a:solidFill>
                <a:effectLst/>
                <a:latin typeface="system-ui"/>
              </a:rPr>
              <a:t>For example </a:t>
            </a:r>
            <a:r>
              <a:rPr lang="en-US" b="0" i="1" dirty="0" err="1">
                <a:solidFill>
                  <a:schemeClr val="accent1"/>
                </a:solidFill>
                <a:effectLst/>
                <a:latin typeface="system-ui"/>
              </a:rPr>
              <a:t>fX</a:t>
            </a:r>
            <a:r>
              <a:rPr lang="en-US" b="0" i="1" dirty="0">
                <a:solidFill>
                  <a:schemeClr val="accent1"/>
                </a:solidFill>
                <a:effectLst/>
                <a:latin typeface="system-ui"/>
              </a:rPr>
              <a:t>(x) would be a probability mass function for the submarine, which maps each grid square to real number representing its probability.</a:t>
            </a:r>
          </a:p>
          <a:p>
            <a:endParaRPr lang="en-GB" dirty="0"/>
          </a:p>
        </p:txBody>
      </p:sp>
    </p:spTree>
    <p:extLst>
      <p:ext uri="{BB962C8B-B14F-4D97-AF65-F5344CB8AC3E}">
        <p14:creationId xmlns:p14="http://schemas.microsoft.com/office/powerpoint/2010/main" val="2680722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7F120-E7BC-DA62-CABE-69DD3B1F5927}"/>
              </a:ext>
            </a:extLst>
          </p:cNvPr>
          <p:cNvSpPr>
            <a:spLocks noGrp="1"/>
          </p:cNvSpPr>
          <p:nvPr>
            <p:ph type="title"/>
          </p:nvPr>
        </p:nvSpPr>
        <p:spPr/>
        <p:txBody>
          <a:bodyPr/>
          <a:lstStyle/>
          <a:p>
            <a:r>
              <a:rPr lang="en-GB" dirty="0"/>
              <a:t>Some definitions (cont’d)</a:t>
            </a:r>
          </a:p>
        </p:txBody>
      </p:sp>
      <p:sp>
        <p:nvSpPr>
          <p:cNvPr id="3" name="Content Placeholder 2">
            <a:extLst>
              <a:ext uri="{FF2B5EF4-FFF2-40B4-BE49-F238E27FC236}">
                <a16:creationId xmlns:a16="http://schemas.microsoft.com/office/drawing/2014/main" id="{BC96EF97-88D6-E2CA-B536-FE33E0041DD4}"/>
              </a:ext>
            </a:extLst>
          </p:cNvPr>
          <p:cNvSpPr>
            <a:spLocks noGrp="1"/>
          </p:cNvSpPr>
          <p:nvPr>
            <p:ph sz="quarter" idx="13"/>
          </p:nvPr>
        </p:nvSpPr>
        <p:spPr/>
        <p:txBody>
          <a:bodyPr/>
          <a:lstStyle/>
          <a:p>
            <a:pPr algn="l">
              <a:buFont typeface="Arial" panose="020B0604020202020204" pitchFamily="34" charset="0"/>
              <a:buChar char="•"/>
            </a:pPr>
            <a:r>
              <a:rPr lang="en-US" b="1" i="0" dirty="0">
                <a:effectLst/>
                <a:latin typeface="system-ui"/>
              </a:rPr>
              <a:t>Observation</a:t>
            </a:r>
            <a:r>
              <a:rPr lang="en-US" b="0" i="0" dirty="0">
                <a:effectLst/>
                <a:latin typeface="system-ui"/>
              </a:rPr>
              <a:t> An outcome that we have directly observed; i.e. data.</a:t>
            </a:r>
          </a:p>
          <a:p>
            <a:pPr marL="742950" lvl="1" indent="-285750" algn="l">
              <a:buFont typeface="Arial" panose="020B0604020202020204" pitchFamily="34" charset="0"/>
              <a:buChar char="•"/>
            </a:pPr>
            <a:r>
              <a:rPr lang="en-US" b="0" i="1" dirty="0">
                <a:solidFill>
                  <a:schemeClr val="accent1"/>
                </a:solidFill>
                <a:effectLst/>
                <a:latin typeface="system-ui"/>
              </a:rPr>
              <a:t>For example, a submarine was found in grid square [0,5]</a:t>
            </a:r>
          </a:p>
          <a:p>
            <a:pPr algn="l">
              <a:buFont typeface="Arial" panose="020B0604020202020204" pitchFamily="34" charset="0"/>
              <a:buChar char="•"/>
            </a:pPr>
            <a:r>
              <a:rPr lang="en-US" b="1" i="0" dirty="0">
                <a:effectLst/>
                <a:latin typeface="system-ui"/>
              </a:rPr>
              <a:t>Sample</a:t>
            </a:r>
            <a:r>
              <a:rPr lang="en-US" b="0" i="0" dirty="0">
                <a:effectLst/>
                <a:latin typeface="system-ui"/>
              </a:rPr>
              <a:t> An outcome that we have simulated according to a probability distribution. We say we have </a:t>
            </a:r>
            <a:r>
              <a:rPr lang="en-US" b="1" i="0" dirty="0">
                <a:effectLst/>
                <a:latin typeface="system-ui"/>
              </a:rPr>
              <a:t>drawn</a:t>
            </a:r>
            <a:r>
              <a:rPr lang="en-US" b="0" i="0" dirty="0">
                <a:effectLst/>
                <a:latin typeface="system-ui"/>
              </a:rPr>
              <a:t> a sample from a distribution.</a:t>
            </a:r>
          </a:p>
          <a:p>
            <a:pPr marL="742950" lvl="1" indent="-285750" algn="l">
              <a:buFont typeface="Arial" panose="020B0604020202020204" pitchFamily="34" charset="0"/>
              <a:buChar char="•"/>
            </a:pPr>
            <a:r>
              <a:rPr lang="en-US" b="0" i="1" dirty="0">
                <a:solidFill>
                  <a:schemeClr val="accent1"/>
                </a:solidFill>
                <a:effectLst/>
                <a:latin typeface="system-ui"/>
              </a:rPr>
              <a:t>For example, if we believe that the submarine was distributed according to some pattern, generate possible concrete grid positions that follow this pattern.</a:t>
            </a:r>
          </a:p>
          <a:p>
            <a:pPr algn="l">
              <a:buFont typeface="Arial" panose="020B0604020202020204" pitchFamily="34" charset="0"/>
              <a:buChar char="•"/>
            </a:pPr>
            <a:r>
              <a:rPr lang="en-US" b="1" i="0" dirty="0">
                <a:effectLst/>
                <a:latin typeface="system-ui"/>
              </a:rPr>
              <a:t>Expectation/expected value</a:t>
            </a:r>
            <a:r>
              <a:rPr lang="en-US" b="0" i="0" dirty="0">
                <a:effectLst/>
                <a:latin typeface="system-ui"/>
              </a:rPr>
              <a:t> The "average" value of a random variable.</a:t>
            </a:r>
          </a:p>
          <a:p>
            <a:pPr marL="742950" lvl="1" indent="-285750" algn="l">
              <a:buFont typeface="Arial" panose="020B0604020202020204" pitchFamily="34" charset="0"/>
              <a:buChar char="•"/>
            </a:pPr>
            <a:r>
              <a:rPr lang="en-US" b="0" i="1" dirty="0">
                <a:solidFill>
                  <a:schemeClr val="accent1"/>
                </a:solidFill>
                <a:effectLst/>
                <a:latin typeface="system-ui"/>
              </a:rPr>
              <a:t>The submarine was on average in grid square [3.46, 2.19]</a:t>
            </a:r>
          </a:p>
          <a:p>
            <a:endParaRPr lang="en-GB" dirty="0"/>
          </a:p>
        </p:txBody>
      </p:sp>
    </p:spTree>
    <p:extLst>
      <p:ext uri="{BB962C8B-B14F-4D97-AF65-F5344CB8AC3E}">
        <p14:creationId xmlns:p14="http://schemas.microsoft.com/office/powerpoint/2010/main" val="457031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A16B9-E7AF-6612-F3C1-F93CA5DF4B9B}"/>
              </a:ext>
            </a:extLst>
          </p:cNvPr>
          <p:cNvSpPr>
            <a:spLocks noGrp="1"/>
          </p:cNvSpPr>
          <p:nvPr>
            <p:ph type="title"/>
          </p:nvPr>
        </p:nvSpPr>
        <p:spPr/>
        <p:txBody>
          <a:bodyPr/>
          <a:lstStyle/>
          <a:p>
            <a:r>
              <a:rPr lang="en-GB" dirty="0"/>
              <a:t>In prose: </a:t>
            </a:r>
          </a:p>
        </p:txBody>
      </p:sp>
      <p:sp>
        <p:nvSpPr>
          <p:cNvPr id="3" name="Content Placeholder 2">
            <a:extLst>
              <a:ext uri="{FF2B5EF4-FFF2-40B4-BE49-F238E27FC236}">
                <a16:creationId xmlns:a16="http://schemas.microsoft.com/office/drawing/2014/main" id="{3BAED0D3-96D7-DD35-E28C-AAD90181BAAA}"/>
              </a:ext>
            </a:extLst>
          </p:cNvPr>
          <p:cNvSpPr>
            <a:spLocks noGrp="1"/>
          </p:cNvSpPr>
          <p:nvPr>
            <p:ph sz="quarter" idx="13"/>
          </p:nvPr>
        </p:nvSpPr>
        <p:spPr/>
        <p:txBody>
          <a:bodyPr/>
          <a:lstStyle/>
          <a:p>
            <a:r>
              <a:rPr lang="en-US" b="0" i="0" dirty="0">
                <a:effectLst/>
                <a:latin typeface="system-ui"/>
              </a:rPr>
              <a:t>A random variable </a:t>
            </a:r>
            <a:r>
              <a:rPr lang="en-US" i="1" dirty="0">
                <a:latin typeface="Times New Roman" panose="02020603050405020304" pitchFamily="18" charset="0"/>
                <a:cs typeface="Times New Roman" panose="02020603050405020304" pitchFamily="18" charset="0"/>
              </a:rPr>
              <a:t>X</a:t>
            </a:r>
            <a:r>
              <a:rPr lang="en-US" b="0" i="0" dirty="0">
                <a:effectLst/>
                <a:latin typeface="system-ui"/>
              </a:rPr>
              <a:t> </a:t>
            </a:r>
            <a:r>
              <a:rPr lang="en-US" b="0" i="1" dirty="0">
                <a:effectLst/>
                <a:latin typeface="system-ui"/>
              </a:rPr>
              <a:t>has</a:t>
            </a:r>
            <a:r>
              <a:rPr lang="en-US" b="0" i="0" dirty="0">
                <a:effectLst/>
                <a:latin typeface="system-ui"/>
              </a:rPr>
              <a:t> a probability distribution </a:t>
            </a:r>
            <a:r>
              <a:rPr lang="en-US" i="1" dirty="0">
                <a:latin typeface="Times New Roman" panose="02020603050405020304" pitchFamily="18" charset="0"/>
                <a:cs typeface="Times New Roman" panose="02020603050405020304" pitchFamily="18" charset="0"/>
              </a:rPr>
              <a:t>P(X)</a:t>
            </a:r>
            <a:r>
              <a:rPr lang="en-US" dirty="0"/>
              <a:t> </a:t>
            </a:r>
            <a:r>
              <a:rPr lang="en-US" b="0" i="0" dirty="0">
                <a:effectLst/>
                <a:latin typeface="system-ui"/>
              </a:rPr>
              <a:t>which </a:t>
            </a:r>
            <a:r>
              <a:rPr lang="en-US" b="0" i="1" dirty="0">
                <a:solidFill>
                  <a:schemeClr val="accent5"/>
                </a:solidFill>
                <a:effectLst/>
                <a:latin typeface="system-ui"/>
              </a:rPr>
              <a:t>assigns</a:t>
            </a:r>
            <a:r>
              <a:rPr lang="en-US" b="0" i="0" dirty="0">
                <a:effectLst/>
                <a:latin typeface="system-ui"/>
              </a:rPr>
              <a:t> probabilities </a:t>
            </a:r>
            <a:br>
              <a:rPr lang="en-US" b="0" i="0" dirty="0">
                <a:effectLst/>
                <a:latin typeface="system-ui"/>
              </a:rPr>
            </a:br>
            <a:r>
              <a:rPr lang="en-US" i="1" dirty="0">
                <a:latin typeface="Times New Roman" panose="02020603050405020304" pitchFamily="18" charset="0"/>
                <a:cs typeface="Times New Roman" panose="02020603050405020304" pitchFamily="18" charset="0"/>
              </a:rPr>
              <a:t>0 ≤ P(X=x) ≤ 1</a:t>
            </a:r>
            <a:r>
              <a:rPr lang="en-US" b="0" i="0" dirty="0">
                <a:effectLst/>
                <a:latin typeface="system-ui"/>
              </a:rPr>
              <a:t> to </a:t>
            </a:r>
            <a:r>
              <a:rPr lang="en-US" b="0" i="1" dirty="0">
                <a:solidFill>
                  <a:schemeClr val="accent5"/>
                </a:solidFill>
                <a:effectLst/>
                <a:latin typeface="system-ui"/>
              </a:rPr>
              <a:t>outcomes</a:t>
            </a:r>
            <a:r>
              <a:rPr lang="en-US" b="0" i="0" dirty="0">
                <a:effectLst/>
                <a:latin typeface="system-ui"/>
              </a:rPr>
              <a:t> </a:t>
            </a:r>
            <a:r>
              <a:rPr lang="en-US" dirty="0"/>
              <a:t>x</a:t>
            </a:r>
            <a:r>
              <a:rPr lang="en-US" b="0" i="0" dirty="0">
                <a:effectLst/>
                <a:latin typeface="system-ui"/>
              </a:rPr>
              <a:t> which </a:t>
            </a:r>
            <a:r>
              <a:rPr lang="en-US" b="0" i="1" dirty="0">
                <a:solidFill>
                  <a:schemeClr val="accent5"/>
                </a:solidFill>
                <a:effectLst/>
                <a:latin typeface="system-ui"/>
              </a:rPr>
              <a:t>belong</a:t>
            </a:r>
            <a:r>
              <a:rPr lang="en-US" b="0" i="0" dirty="0">
                <a:effectLst/>
                <a:latin typeface="system-ui"/>
              </a:rPr>
              <a:t> to a sample space </a:t>
            </a:r>
            <a:r>
              <a:rPr lang="en-US" dirty="0"/>
              <a:t>𝕩</a:t>
            </a:r>
            <a:r>
              <a:rPr lang="en-US" b="0" i="0" dirty="0">
                <a:effectLst/>
                <a:latin typeface="system-ui"/>
              </a:rPr>
              <a:t>.</a:t>
            </a:r>
          </a:p>
          <a:p>
            <a:r>
              <a:rPr lang="en-US" b="0" i="0" dirty="0">
                <a:effectLst/>
                <a:latin typeface="system-ui"/>
              </a:rPr>
              <a:t>That probability distribution is </a:t>
            </a:r>
            <a:r>
              <a:rPr lang="en-US" b="0" i="1" dirty="0">
                <a:solidFill>
                  <a:schemeClr val="accent5"/>
                </a:solidFill>
                <a:effectLst/>
                <a:latin typeface="system-ui"/>
              </a:rPr>
              <a:t>defined</a:t>
            </a:r>
            <a:r>
              <a:rPr lang="en-US" b="0" i="0" dirty="0">
                <a:effectLst/>
                <a:latin typeface="system-ui"/>
              </a:rPr>
              <a:t> by a probability density/mass function </a:t>
            </a:r>
            <a:r>
              <a:rPr lang="en-US" i="1" dirty="0" err="1">
                <a:latin typeface="Times New Roman" panose="02020603050405020304" pitchFamily="18" charset="0"/>
                <a:cs typeface="Times New Roman" panose="02020603050405020304" pitchFamily="18" charset="0"/>
              </a:rPr>
              <a:t>fX</a:t>
            </a:r>
            <a:r>
              <a:rPr lang="en-US" i="1" dirty="0">
                <a:latin typeface="Times New Roman" panose="02020603050405020304" pitchFamily="18" charset="0"/>
                <a:cs typeface="Times New Roman" panose="02020603050405020304" pitchFamily="18" charset="0"/>
              </a:rPr>
              <a:t>(x)</a:t>
            </a:r>
            <a:r>
              <a:rPr lang="en-US" b="0" i="0" dirty="0">
                <a:effectLst/>
                <a:latin typeface="Times New Roman" panose="02020603050405020304" pitchFamily="18" charset="0"/>
                <a:cs typeface="Times New Roman" panose="02020603050405020304" pitchFamily="18" charset="0"/>
              </a:rPr>
              <a:t> </a:t>
            </a:r>
            <a:r>
              <a:rPr lang="en-US" b="0" i="0" dirty="0">
                <a:effectLst/>
                <a:latin typeface="system-ui"/>
              </a:rPr>
              <a:t>which assigns probabilities to outcomes such that the sum of probabilities over all outcomes is 1,  </a:t>
            </a:r>
          </a:p>
          <a:p>
            <a:r>
              <a:rPr lang="en-US" b="0" i="0" dirty="0">
                <a:effectLst/>
                <a:latin typeface="system-ui"/>
              </a:rPr>
              <a:t>We can </a:t>
            </a:r>
            <a:r>
              <a:rPr lang="en-US" b="0" i="1" dirty="0">
                <a:solidFill>
                  <a:schemeClr val="accent5"/>
                </a:solidFill>
                <a:effectLst/>
                <a:latin typeface="system-ui"/>
              </a:rPr>
              <a:t>observe</a:t>
            </a:r>
            <a:r>
              <a:rPr lang="en-US" b="0" i="0" dirty="0">
                <a:effectLst/>
                <a:latin typeface="system-ui"/>
              </a:rPr>
              <a:t> specific outcomes      drawn from a distribution as a result of </a:t>
            </a:r>
            <a:r>
              <a:rPr lang="en-US" b="0" i="1" dirty="0">
                <a:effectLst/>
                <a:latin typeface="system-ui"/>
              </a:rPr>
              <a:t>trials</a:t>
            </a:r>
            <a:r>
              <a:rPr lang="en-US" b="0" i="0" dirty="0">
                <a:effectLst/>
                <a:latin typeface="system-ui"/>
              </a:rPr>
              <a:t>. </a:t>
            </a:r>
          </a:p>
          <a:p>
            <a:r>
              <a:rPr lang="en-US" b="0" i="0" dirty="0">
                <a:effectLst/>
                <a:latin typeface="system-ui"/>
              </a:rPr>
              <a:t>We can </a:t>
            </a:r>
            <a:r>
              <a:rPr lang="en-US" b="0" i="1" dirty="0">
                <a:solidFill>
                  <a:schemeClr val="accent5"/>
                </a:solidFill>
                <a:effectLst/>
                <a:latin typeface="system-ui"/>
              </a:rPr>
              <a:t>sample</a:t>
            </a:r>
            <a:r>
              <a:rPr lang="en-US" b="0" i="0" dirty="0">
                <a:effectLst/>
                <a:latin typeface="system-ui"/>
              </a:rPr>
              <a:t> (simulate) new outcomes </a:t>
            </a:r>
            <a:r>
              <a:rPr lang="en-US" dirty="0" err="1"/>
              <a:t>xj</a:t>
            </a:r>
            <a:r>
              <a:rPr lang="en-US" dirty="0"/>
              <a:t>′</a:t>
            </a:r>
            <a:r>
              <a:rPr lang="en-US" b="0" i="0" dirty="0">
                <a:effectLst/>
                <a:latin typeface="system-ui"/>
              </a:rPr>
              <a:t> given a distribution P(X). </a:t>
            </a:r>
          </a:p>
          <a:p>
            <a:r>
              <a:rPr lang="en-US" b="0" i="0" dirty="0">
                <a:effectLst/>
                <a:latin typeface="system-ui"/>
              </a:rPr>
              <a:t>Assuming outcomes have values we can </a:t>
            </a:r>
            <a:r>
              <a:rPr lang="en-US" b="0" i="1" dirty="0">
                <a:solidFill>
                  <a:schemeClr val="accent5"/>
                </a:solidFill>
                <a:effectLst/>
                <a:latin typeface="system-ui"/>
              </a:rPr>
              <a:t>evaluate</a:t>
            </a:r>
            <a:r>
              <a:rPr lang="en-US" b="0" i="0" dirty="0">
                <a:effectLst/>
                <a:latin typeface="system-ui"/>
              </a:rPr>
              <a:t> the average expected value  </a:t>
            </a:r>
            <a:r>
              <a:rPr lang="en-US" dirty="0"/>
              <a:t>E[X]</a:t>
            </a:r>
            <a:r>
              <a:rPr lang="en-US" b="0" i="0" dirty="0">
                <a:effectLst/>
                <a:latin typeface="system-ui"/>
              </a:rPr>
              <a:t> across infinitely many trials.</a:t>
            </a:r>
            <a:endParaRPr lang="en-GB" dirty="0"/>
          </a:p>
        </p:txBody>
      </p:sp>
      <p:pic>
        <p:nvPicPr>
          <p:cNvPr id="9" name="Picture 8">
            <a:extLst>
              <a:ext uri="{FF2B5EF4-FFF2-40B4-BE49-F238E27FC236}">
                <a16:creationId xmlns:a16="http://schemas.microsoft.com/office/drawing/2014/main" id="{A110A54B-3D79-EF55-FBF7-F9A7B613EFF9}"/>
              </a:ext>
            </a:extLst>
          </p:cNvPr>
          <p:cNvPicPr>
            <a:picLocks noChangeAspect="1"/>
          </p:cNvPicPr>
          <p:nvPr/>
        </p:nvPicPr>
        <p:blipFill>
          <a:blip r:embed="rId2"/>
          <a:stretch>
            <a:fillRect/>
          </a:stretch>
        </p:blipFill>
        <p:spPr>
          <a:xfrm>
            <a:off x="973359" y="3121443"/>
            <a:ext cx="1676634" cy="409632"/>
          </a:xfrm>
          <a:prstGeom prst="rect">
            <a:avLst/>
          </a:prstGeom>
        </p:spPr>
      </p:pic>
      <p:pic>
        <p:nvPicPr>
          <p:cNvPr id="11" name="Picture 10">
            <a:extLst>
              <a:ext uri="{FF2B5EF4-FFF2-40B4-BE49-F238E27FC236}">
                <a16:creationId xmlns:a16="http://schemas.microsoft.com/office/drawing/2014/main" id="{759E98A0-00D8-0693-CD76-B09685A15BBD}"/>
              </a:ext>
            </a:extLst>
          </p:cNvPr>
          <p:cNvPicPr>
            <a:picLocks noChangeAspect="1"/>
          </p:cNvPicPr>
          <p:nvPr/>
        </p:nvPicPr>
        <p:blipFill>
          <a:blip r:embed="rId3"/>
          <a:stretch>
            <a:fillRect/>
          </a:stretch>
        </p:blipFill>
        <p:spPr>
          <a:xfrm>
            <a:off x="4927461" y="3572171"/>
            <a:ext cx="260226" cy="334577"/>
          </a:xfrm>
          <a:prstGeom prst="rect">
            <a:avLst/>
          </a:prstGeom>
        </p:spPr>
      </p:pic>
      <p:pic>
        <p:nvPicPr>
          <p:cNvPr id="13" name="Picture 12">
            <a:extLst>
              <a:ext uri="{FF2B5EF4-FFF2-40B4-BE49-F238E27FC236}">
                <a16:creationId xmlns:a16="http://schemas.microsoft.com/office/drawing/2014/main" id="{CE4E3540-7D5F-7ED6-99A3-62620340DB42}"/>
              </a:ext>
            </a:extLst>
          </p:cNvPr>
          <p:cNvPicPr>
            <a:picLocks noChangeAspect="1"/>
          </p:cNvPicPr>
          <p:nvPr/>
        </p:nvPicPr>
        <p:blipFill>
          <a:blip r:embed="rId4"/>
          <a:stretch>
            <a:fillRect/>
          </a:stretch>
        </p:blipFill>
        <p:spPr>
          <a:xfrm>
            <a:off x="5699518" y="3966955"/>
            <a:ext cx="310863" cy="410340"/>
          </a:xfrm>
          <a:prstGeom prst="rect">
            <a:avLst/>
          </a:prstGeom>
        </p:spPr>
      </p:pic>
      <p:pic>
        <p:nvPicPr>
          <p:cNvPr id="15" name="Picture 14">
            <a:extLst>
              <a:ext uri="{FF2B5EF4-FFF2-40B4-BE49-F238E27FC236}">
                <a16:creationId xmlns:a16="http://schemas.microsoft.com/office/drawing/2014/main" id="{403C4E9B-0CC2-0449-FC32-D8E5D55B514C}"/>
              </a:ext>
            </a:extLst>
          </p:cNvPr>
          <p:cNvPicPr>
            <a:picLocks noChangeAspect="1"/>
          </p:cNvPicPr>
          <p:nvPr/>
        </p:nvPicPr>
        <p:blipFill>
          <a:blip r:embed="rId5"/>
          <a:stretch>
            <a:fillRect/>
          </a:stretch>
        </p:blipFill>
        <p:spPr>
          <a:xfrm>
            <a:off x="10149171" y="4426097"/>
            <a:ext cx="722631" cy="433579"/>
          </a:xfrm>
          <a:prstGeom prst="rect">
            <a:avLst/>
          </a:prstGeom>
        </p:spPr>
      </p:pic>
      <p:pic>
        <p:nvPicPr>
          <p:cNvPr id="17" name="Picture 16">
            <a:extLst>
              <a:ext uri="{FF2B5EF4-FFF2-40B4-BE49-F238E27FC236}">
                <a16:creationId xmlns:a16="http://schemas.microsoft.com/office/drawing/2014/main" id="{6519785A-83AE-9C4E-3AFE-22927761A80A}"/>
              </a:ext>
            </a:extLst>
          </p:cNvPr>
          <p:cNvPicPr>
            <a:picLocks noChangeAspect="1"/>
          </p:cNvPicPr>
          <p:nvPr/>
        </p:nvPicPr>
        <p:blipFill>
          <a:blip r:embed="rId6"/>
          <a:stretch>
            <a:fillRect/>
          </a:stretch>
        </p:blipFill>
        <p:spPr>
          <a:xfrm>
            <a:off x="546056" y="1941892"/>
            <a:ext cx="1914792" cy="381053"/>
          </a:xfrm>
          <a:prstGeom prst="rect">
            <a:avLst/>
          </a:prstGeom>
        </p:spPr>
      </p:pic>
      <p:pic>
        <p:nvPicPr>
          <p:cNvPr id="19" name="Picture 18">
            <a:extLst>
              <a:ext uri="{FF2B5EF4-FFF2-40B4-BE49-F238E27FC236}">
                <a16:creationId xmlns:a16="http://schemas.microsoft.com/office/drawing/2014/main" id="{189BCA9E-B5CD-CF7C-99B5-A7220F643E1F}"/>
              </a:ext>
            </a:extLst>
          </p:cNvPr>
          <p:cNvPicPr>
            <a:picLocks noChangeAspect="1"/>
          </p:cNvPicPr>
          <p:nvPr/>
        </p:nvPicPr>
        <p:blipFill>
          <a:blip r:embed="rId7"/>
          <a:stretch>
            <a:fillRect/>
          </a:stretch>
        </p:blipFill>
        <p:spPr>
          <a:xfrm>
            <a:off x="4098521" y="2044557"/>
            <a:ext cx="198052" cy="247566"/>
          </a:xfrm>
          <a:prstGeom prst="rect">
            <a:avLst/>
          </a:prstGeom>
        </p:spPr>
      </p:pic>
    </p:spTree>
    <p:extLst>
      <p:ext uri="{BB962C8B-B14F-4D97-AF65-F5344CB8AC3E}">
        <p14:creationId xmlns:p14="http://schemas.microsoft.com/office/powerpoint/2010/main" val="3536325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CAA11-990A-8DB8-80C6-D6FA7FBBEC71}"/>
              </a:ext>
            </a:extLst>
          </p:cNvPr>
          <p:cNvSpPr>
            <a:spLocks noGrp="1"/>
          </p:cNvSpPr>
          <p:nvPr>
            <p:ph type="title"/>
          </p:nvPr>
        </p:nvSpPr>
        <p:spPr>
          <a:xfrm>
            <a:off x="741680" y="2123676"/>
            <a:ext cx="4027169" cy="1600200"/>
          </a:xfrm>
        </p:spPr>
        <p:txBody>
          <a:bodyPr anchor="t">
            <a:normAutofit/>
          </a:bodyPr>
          <a:lstStyle/>
          <a:p>
            <a:r>
              <a:rPr lang="en-GB" b="1" i="0">
                <a:effectLst/>
              </a:rPr>
              <a:t>Part 2. Philosophy of probability</a:t>
            </a:r>
            <a:endParaRPr lang="en-GB" dirty="0"/>
          </a:p>
        </p:txBody>
      </p:sp>
      <p:sp>
        <p:nvSpPr>
          <p:cNvPr id="3" name="Content Placeholder 2">
            <a:extLst>
              <a:ext uri="{FF2B5EF4-FFF2-40B4-BE49-F238E27FC236}">
                <a16:creationId xmlns:a16="http://schemas.microsoft.com/office/drawing/2014/main" id="{CFDD34F1-C90E-3909-32DC-AF9894A56E2D}"/>
              </a:ext>
            </a:extLst>
          </p:cNvPr>
          <p:cNvSpPr>
            <a:spLocks noGrp="1"/>
          </p:cNvSpPr>
          <p:nvPr>
            <p:ph type="body" sz="half" idx="2"/>
          </p:nvPr>
        </p:nvSpPr>
        <p:spPr>
          <a:xfrm>
            <a:off x="741680" y="3934224"/>
            <a:ext cx="4030345" cy="1934763"/>
          </a:xfrm>
        </p:spPr>
        <p:txBody>
          <a:bodyPr>
            <a:normAutofit/>
          </a:bodyPr>
          <a:lstStyle/>
          <a:p>
            <a:pPr marL="0" indent="0">
              <a:buNone/>
            </a:pPr>
            <a:r>
              <a:rPr lang="en-US" sz="1500" b="0" i="0">
                <a:effectLst/>
              </a:rPr>
              <a:t>There are two schools of thought regarding probability and its uses. We will be (largely) following the </a:t>
            </a:r>
            <a:r>
              <a:rPr lang="en-US" sz="1500" b="1" i="0">
                <a:effectLst/>
              </a:rPr>
              <a:t>Bayesian interpretation</a:t>
            </a:r>
            <a:r>
              <a:rPr lang="en-US" sz="1500" b="0" i="0">
                <a:effectLst/>
              </a:rPr>
              <a:t>, but its worth understanding what that entails. </a:t>
            </a:r>
          </a:p>
          <a:p>
            <a:pPr marL="0" indent="0">
              <a:buNone/>
            </a:pPr>
            <a:endParaRPr lang="en-US" sz="1500"/>
          </a:p>
          <a:p>
            <a:pPr marL="0" indent="0">
              <a:buNone/>
            </a:pPr>
            <a:r>
              <a:rPr lang="en-US" sz="1500"/>
              <a:t>- </a:t>
            </a:r>
            <a:r>
              <a:rPr lang="en-GB" sz="1500" b="1" i="0">
                <a:effectLst/>
              </a:rPr>
              <a:t>Bayesian/Laplacian view</a:t>
            </a:r>
          </a:p>
          <a:p>
            <a:pPr marL="0" indent="0">
              <a:buNone/>
            </a:pPr>
            <a:r>
              <a:rPr lang="en-US" sz="1500" b="1"/>
              <a:t>- Frequentist view</a:t>
            </a:r>
            <a:endParaRPr lang="en-GB" sz="1500" b="1"/>
          </a:p>
        </p:txBody>
      </p:sp>
      <p:pic>
        <p:nvPicPr>
          <p:cNvPr id="4098" name="Picture 2" descr="Frequentists vs. Bayesians : r/xkcd">
            <a:extLst>
              <a:ext uri="{FF2B5EF4-FFF2-40B4-BE49-F238E27FC236}">
                <a16:creationId xmlns:a16="http://schemas.microsoft.com/office/drawing/2014/main" id="{F010B4E9-2B86-080C-81E6-20D7846526B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660992" y="987425"/>
            <a:ext cx="3216592" cy="4873625"/>
          </a:xfrm>
          <a:prstGeom prst="rect">
            <a:avLst/>
          </a:prstGeom>
          <a:solidFill>
            <a:srgbClr val="FFFFFF"/>
          </a:solidFill>
        </p:spPr>
      </p:pic>
    </p:spTree>
    <p:extLst>
      <p:ext uri="{BB962C8B-B14F-4D97-AF65-F5344CB8AC3E}">
        <p14:creationId xmlns:p14="http://schemas.microsoft.com/office/powerpoint/2010/main" val="3464999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7EFC-25F7-82CA-88C7-EB3CCD6B7C8D}"/>
              </a:ext>
            </a:extLst>
          </p:cNvPr>
          <p:cNvSpPr>
            <a:spLocks noGrp="1"/>
          </p:cNvSpPr>
          <p:nvPr>
            <p:ph type="title"/>
          </p:nvPr>
        </p:nvSpPr>
        <p:spPr>
          <a:xfrm>
            <a:off x="2549236" y="533614"/>
            <a:ext cx="9210963" cy="888786"/>
          </a:xfrm>
        </p:spPr>
        <p:txBody>
          <a:bodyPr anchor="t">
            <a:normAutofit/>
          </a:bodyPr>
          <a:lstStyle/>
          <a:p>
            <a:r>
              <a:rPr lang="en-US" b="1" i="0">
                <a:effectLst/>
              </a:rPr>
              <a:t>Bayesian/Laplacian view on probability</a:t>
            </a:r>
            <a:endParaRPr lang="en-GB" dirty="0"/>
          </a:p>
        </p:txBody>
      </p:sp>
      <p:pic>
        <p:nvPicPr>
          <p:cNvPr id="5" name="Content Placeholder 4" descr="A person in a robe&#10;&#10;Description automatically generated">
            <a:extLst>
              <a:ext uri="{FF2B5EF4-FFF2-40B4-BE49-F238E27FC236}">
                <a16:creationId xmlns:a16="http://schemas.microsoft.com/office/drawing/2014/main" id="{FAF423E3-8289-7E91-4D73-478D6BD2A58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9290" r="23238"/>
          <a:stretch/>
        </p:blipFill>
        <p:spPr>
          <a:xfrm>
            <a:off x="-1" y="1699336"/>
            <a:ext cx="2452283" cy="4575733"/>
          </a:xfrm>
          <a:noFill/>
        </p:spPr>
      </p:pic>
      <p:sp>
        <p:nvSpPr>
          <p:cNvPr id="12" name="Text Placeholder 3">
            <a:extLst>
              <a:ext uri="{FF2B5EF4-FFF2-40B4-BE49-F238E27FC236}">
                <a16:creationId xmlns:a16="http://schemas.microsoft.com/office/drawing/2014/main" id="{F8511073-86EC-9748-25DE-338929EC20E0}"/>
              </a:ext>
            </a:extLst>
          </p:cNvPr>
          <p:cNvSpPr>
            <a:spLocks noGrp="1"/>
          </p:cNvSpPr>
          <p:nvPr>
            <p:ph type="body" sz="quarter" idx="14"/>
          </p:nvPr>
        </p:nvSpPr>
        <p:spPr>
          <a:xfrm>
            <a:off x="2549235" y="1705343"/>
            <a:ext cx="9210963" cy="4526124"/>
          </a:xfrm>
        </p:spPr>
        <p:txBody>
          <a:bodyPr/>
          <a:lstStyle/>
          <a:p>
            <a:pPr marL="0" indent="0">
              <a:buNone/>
            </a:pPr>
            <a:r>
              <a:rPr lang="en-US" b="1" i="0" dirty="0">
                <a:effectLst/>
                <a:latin typeface="system-ui"/>
              </a:rPr>
              <a:t>Bayesians</a:t>
            </a:r>
            <a:r>
              <a:rPr lang="en-US" b="0" i="0" dirty="0">
                <a:effectLst/>
                <a:latin typeface="system-ui"/>
              </a:rPr>
              <a:t> treat probability as a </a:t>
            </a:r>
            <a:r>
              <a:rPr lang="en-US" b="1" i="0" dirty="0">
                <a:effectLst/>
                <a:latin typeface="system-ui"/>
              </a:rPr>
              <a:t>calculus of belief</a:t>
            </a:r>
            <a:r>
              <a:rPr lang="en-US" b="0" i="0" dirty="0">
                <a:effectLst/>
                <a:latin typeface="system-ui"/>
              </a:rPr>
              <a:t>; </a:t>
            </a:r>
          </a:p>
          <a:p>
            <a:pPr>
              <a:buFontTx/>
              <a:buChar char="-"/>
            </a:pPr>
            <a:r>
              <a:rPr lang="en-US" b="0" i="0" dirty="0">
                <a:effectLst/>
                <a:latin typeface="system-ui"/>
              </a:rPr>
              <a:t>probabilities are measures of </a:t>
            </a:r>
            <a:r>
              <a:rPr lang="en-US" b="0" i="1" dirty="0">
                <a:effectLst/>
                <a:latin typeface="system-ui"/>
              </a:rPr>
              <a:t>degrees of belief</a:t>
            </a:r>
            <a:r>
              <a:rPr lang="en-US" b="0" i="0" dirty="0">
                <a:effectLst/>
                <a:latin typeface="system-ui"/>
              </a:rPr>
              <a:t>. </a:t>
            </a:r>
            <a:r>
              <a:rPr lang="en-US" dirty="0"/>
              <a:t>P(A)=0</a:t>
            </a:r>
            <a:r>
              <a:rPr lang="en-US" b="0" i="0" dirty="0">
                <a:effectLst/>
                <a:latin typeface="system-ui"/>
              </a:rPr>
              <a:t> means a belief that event </a:t>
            </a:r>
            <a:r>
              <a:rPr lang="en-US" dirty="0"/>
              <a:t>A</a:t>
            </a:r>
            <a:r>
              <a:rPr lang="en-US" b="0" i="0" dirty="0">
                <a:effectLst/>
                <a:latin typeface="system-ui"/>
              </a:rPr>
              <a:t> cannot be true and </a:t>
            </a:r>
            <a:r>
              <a:rPr lang="en-US" dirty="0"/>
              <a:t>P(A)=1</a:t>
            </a:r>
            <a:r>
              <a:rPr lang="en-US" b="0" i="0" dirty="0">
                <a:effectLst/>
                <a:latin typeface="system-ui"/>
              </a:rPr>
              <a:t> is a belief that event </a:t>
            </a:r>
            <a:r>
              <a:rPr lang="en-US" dirty="0"/>
              <a:t>A</a:t>
            </a:r>
            <a:r>
              <a:rPr lang="en-US" b="0" i="0" dirty="0">
                <a:effectLst/>
                <a:latin typeface="system-ui"/>
              </a:rPr>
              <a:t> is absolutely certain. </a:t>
            </a:r>
          </a:p>
          <a:p>
            <a:pPr>
              <a:buFontTx/>
              <a:buChar char="-"/>
            </a:pPr>
            <a:r>
              <a:rPr lang="en-US" b="0" i="0" dirty="0">
                <a:effectLst/>
                <a:latin typeface="system-ui"/>
              </a:rPr>
              <a:t>In the Bayesian perspective, it makes sense to say "the probability it is raining outside is 0.3" (the probability quantifies our belief about the weather given the information we have). </a:t>
            </a:r>
            <a:r>
              <a:rPr lang="en-US" b="1" i="0" dirty="0">
                <a:effectLst/>
                <a:latin typeface="system-ui"/>
              </a:rPr>
              <a:t>Note that is not a statement that we believe that the weather is 0.3 rainy (whatever that means)</a:t>
            </a:r>
            <a:endParaRPr lang="en-US" dirty="0"/>
          </a:p>
        </p:txBody>
      </p:sp>
    </p:spTree>
    <p:extLst>
      <p:ext uri="{BB962C8B-B14F-4D97-AF65-F5344CB8AC3E}">
        <p14:creationId xmlns:p14="http://schemas.microsoft.com/office/powerpoint/2010/main" val="1268947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85FE3-B736-1ACD-79C6-A178CA85C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472C3-1587-60BF-998F-50AC3BBF0530}"/>
              </a:ext>
            </a:extLst>
          </p:cNvPr>
          <p:cNvSpPr>
            <a:spLocks noGrp="1"/>
          </p:cNvSpPr>
          <p:nvPr>
            <p:ph type="title"/>
          </p:nvPr>
        </p:nvSpPr>
        <p:spPr>
          <a:xfrm>
            <a:off x="2549236" y="533614"/>
            <a:ext cx="9210963" cy="888786"/>
          </a:xfrm>
        </p:spPr>
        <p:txBody>
          <a:bodyPr anchor="t">
            <a:normAutofit/>
          </a:bodyPr>
          <a:lstStyle/>
          <a:p>
            <a:r>
              <a:rPr lang="en-US" b="1" i="0" dirty="0">
                <a:effectLst/>
              </a:rPr>
              <a:t>Bayesian/Laplacian view on probability (cont’d)</a:t>
            </a:r>
            <a:endParaRPr lang="en-GB" dirty="0"/>
          </a:p>
        </p:txBody>
      </p:sp>
      <p:pic>
        <p:nvPicPr>
          <p:cNvPr id="5" name="Content Placeholder 4" descr="A person in a robe&#10;&#10;Description automatically generated">
            <a:extLst>
              <a:ext uri="{FF2B5EF4-FFF2-40B4-BE49-F238E27FC236}">
                <a16:creationId xmlns:a16="http://schemas.microsoft.com/office/drawing/2014/main" id="{C295A245-0A3A-765F-15BB-DC54AAD710B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9290" r="23238"/>
          <a:stretch/>
        </p:blipFill>
        <p:spPr>
          <a:xfrm>
            <a:off x="-1" y="1699336"/>
            <a:ext cx="2452283" cy="4575733"/>
          </a:xfrm>
          <a:noFill/>
        </p:spPr>
      </p:pic>
      <p:sp>
        <p:nvSpPr>
          <p:cNvPr id="12" name="Text Placeholder 3">
            <a:extLst>
              <a:ext uri="{FF2B5EF4-FFF2-40B4-BE49-F238E27FC236}">
                <a16:creationId xmlns:a16="http://schemas.microsoft.com/office/drawing/2014/main" id="{8FFB6301-A45A-7EB0-6A25-F020165625BC}"/>
              </a:ext>
            </a:extLst>
          </p:cNvPr>
          <p:cNvSpPr>
            <a:spLocks noGrp="1"/>
          </p:cNvSpPr>
          <p:nvPr>
            <p:ph type="body" sz="quarter" idx="14"/>
          </p:nvPr>
        </p:nvSpPr>
        <p:spPr>
          <a:xfrm>
            <a:off x="2549235" y="1705343"/>
            <a:ext cx="9210963" cy="4526124"/>
          </a:xfrm>
        </p:spPr>
        <p:txBody>
          <a:bodyPr/>
          <a:lstStyle/>
          <a:p>
            <a:pPr marL="0" indent="0" algn="l">
              <a:buNone/>
            </a:pPr>
            <a:r>
              <a:rPr lang="en-US" b="1" i="0" dirty="0">
                <a:effectLst/>
                <a:latin typeface="system-ui"/>
              </a:rPr>
              <a:t>Bayesians</a:t>
            </a:r>
            <a:r>
              <a:rPr lang="en-US" b="0" i="0" dirty="0">
                <a:effectLst/>
                <a:latin typeface="system-ui"/>
              </a:rPr>
              <a:t> allow for belief in states to be combined and manipulated via the rules of probability. The key process in Bayesian logic is </a:t>
            </a:r>
            <a:r>
              <a:rPr lang="en-US" b="0" i="1" dirty="0">
                <a:effectLst/>
                <a:latin typeface="system-ui"/>
              </a:rPr>
              <a:t>updating of beliefs</a:t>
            </a:r>
            <a:r>
              <a:rPr lang="en-US" b="0" i="0" dirty="0">
                <a:effectLst/>
                <a:latin typeface="system-ui"/>
              </a:rPr>
              <a:t>. </a:t>
            </a:r>
          </a:p>
          <a:p>
            <a:pPr marL="0" indent="0" algn="l">
              <a:buNone/>
            </a:pPr>
            <a:r>
              <a:rPr lang="en-US" b="0" i="0" dirty="0">
                <a:effectLst/>
                <a:latin typeface="system-ui"/>
              </a:rPr>
              <a:t>Given some:</a:t>
            </a:r>
          </a:p>
          <a:p>
            <a:pPr algn="l">
              <a:buFont typeface="Arial" panose="020B0604020202020204" pitchFamily="34" charset="0"/>
              <a:buChar char="•"/>
            </a:pPr>
            <a:r>
              <a:rPr lang="en-US" b="1" i="0" dirty="0">
                <a:effectLst/>
                <a:latin typeface="system-ui"/>
              </a:rPr>
              <a:t>prior</a:t>
            </a:r>
            <a:r>
              <a:rPr lang="en-US" b="0" i="0" dirty="0">
                <a:effectLst/>
                <a:latin typeface="system-ui"/>
              </a:rPr>
              <a:t> belief (it's Glasgow, it's not likely to be sunny) and some</a:t>
            </a:r>
          </a:p>
          <a:p>
            <a:pPr algn="l">
              <a:buFont typeface="Arial" panose="020B0604020202020204" pitchFamily="34" charset="0"/>
              <a:buChar char="•"/>
            </a:pPr>
            <a:r>
              <a:rPr lang="en-US" b="0" i="0" dirty="0">
                <a:effectLst/>
                <a:latin typeface="system-ui"/>
              </a:rPr>
              <a:t>new </a:t>
            </a:r>
            <a:r>
              <a:rPr lang="en-US" b="1" i="0" dirty="0">
                <a:effectLst/>
                <a:latin typeface="system-ui"/>
              </a:rPr>
              <a:t>evidence</a:t>
            </a:r>
            <a:r>
              <a:rPr lang="en-US" b="0" i="0" dirty="0">
                <a:effectLst/>
                <a:latin typeface="system-ui"/>
              </a:rPr>
              <a:t> (there seems to be a bright reflection inside) we can</a:t>
            </a:r>
          </a:p>
          <a:p>
            <a:pPr algn="l">
              <a:buFont typeface="Arial" panose="020B0604020202020204" pitchFamily="34" charset="0"/>
              <a:buChar char="•"/>
            </a:pPr>
            <a:r>
              <a:rPr lang="en-US" b="0" i="0" dirty="0">
                <a:effectLst/>
                <a:latin typeface="system-ui"/>
              </a:rPr>
              <a:t>update our belief to calculate the </a:t>
            </a:r>
            <a:r>
              <a:rPr lang="en-US" b="1" i="0" dirty="0">
                <a:effectLst/>
                <a:latin typeface="system-ui"/>
              </a:rPr>
              <a:t>posterior</a:t>
            </a:r>
            <a:r>
              <a:rPr lang="en-US" b="0" i="0" dirty="0">
                <a:effectLst/>
                <a:latin typeface="system-ui"/>
              </a:rPr>
              <a:t> -- our new probability that it is sunny outside.</a:t>
            </a:r>
          </a:p>
          <a:p>
            <a:pPr marL="0" indent="0" algn="l">
              <a:buNone/>
            </a:pPr>
            <a:r>
              <a:rPr lang="en-US" b="0" i="0" dirty="0">
                <a:effectLst/>
                <a:latin typeface="system-ui"/>
              </a:rPr>
              <a:t>Bayesian inference requires that we accept priors over events, i.e. that we must explicitly quantify our assumptions with probability distributions. It is an extension of logic to uncertain information.</a:t>
            </a:r>
          </a:p>
        </p:txBody>
      </p:sp>
    </p:spTree>
    <p:extLst>
      <p:ext uri="{BB962C8B-B14F-4D97-AF65-F5344CB8AC3E}">
        <p14:creationId xmlns:p14="http://schemas.microsoft.com/office/powerpoint/2010/main" val="516843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87337-C767-A0D5-ACAF-00E8B0A12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EAFD7-F2C2-D50F-11F9-11D035CAB1F8}"/>
              </a:ext>
            </a:extLst>
          </p:cNvPr>
          <p:cNvSpPr>
            <a:spLocks noGrp="1"/>
          </p:cNvSpPr>
          <p:nvPr>
            <p:ph type="title"/>
          </p:nvPr>
        </p:nvSpPr>
        <p:spPr>
          <a:xfrm>
            <a:off x="2549236" y="533614"/>
            <a:ext cx="9210963" cy="888786"/>
          </a:xfrm>
        </p:spPr>
        <p:txBody>
          <a:bodyPr anchor="t">
            <a:normAutofit/>
          </a:bodyPr>
          <a:lstStyle/>
          <a:p>
            <a:r>
              <a:rPr lang="en-US" b="1" i="0" dirty="0">
                <a:effectLst/>
              </a:rPr>
              <a:t>Bayesian/Laplacian view on probability (example)</a:t>
            </a:r>
            <a:endParaRPr lang="en-GB" dirty="0"/>
          </a:p>
        </p:txBody>
      </p:sp>
      <p:pic>
        <p:nvPicPr>
          <p:cNvPr id="5" name="Content Placeholder 4" descr="A person in a robe&#10;&#10;Description automatically generated">
            <a:extLst>
              <a:ext uri="{FF2B5EF4-FFF2-40B4-BE49-F238E27FC236}">
                <a16:creationId xmlns:a16="http://schemas.microsoft.com/office/drawing/2014/main" id="{1A187BAA-40F3-6904-0612-EC0E6A4324D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9290" r="23238"/>
          <a:stretch/>
        </p:blipFill>
        <p:spPr>
          <a:xfrm>
            <a:off x="-1" y="1699336"/>
            <a:ext cx="2452283" cy="4575733"/>
          </a:xfrm>
          <a:noFill/>
        </p:spPr>
      </p:pic>
      <p:sp>
        <p:nvSpPr>
          <p:cNvPr id="12" name="Text Placeholder 3">
            <a:extLst>
              <a:ext uri="{FF2B5EF4-FFF2-40B4-BE49-F238E27FC236}">
                <a16:creationId xmlns:a16="http://schemas.microsoft.com/office/drawing/2014/main" id="{03A75EC3-D408-F3B8-E598-E6EC2A783026}"/>
              </a:ext>
            </a:extLst>
          </p:cNvPr>
          <p:cNvSpPr>
            <a:spLocks noGrp="1"/>
          </p:cNvSpPr>
          <p:nvPr>
            <p:ph type="body" sz="quarter" idx="14"/>
          </p:nvPr>
        </p:nvSpPr>
        <p:spPr>
          <a:xfrm>
            <a:off x="2549235" y="1705343"/>
            <a:ext cx="9210963" cy="4526124"/>
          </a:xfrm>
        </p:spPr>
        <p:txBody>
          <a:bodyPr/>
          <a:lstStyle/>
          <a:p>
            <a:pPr marL="0" indent="0" algn="l">
              <a:buNone/>
            </a:pPr>
            <a:r>
              <a:rPr lang="en-US" b="0" i="0" dirty="0">
                <a:effectLst/>
                <a:latin typeface="system-ui"/>
              </a:rPr>
              <a:t>For example, in the </a:t>
            </a:r>
            <a:r>
              <a:rPr lang="en-US" b="1" i="1" dirty="0">
                <a:effectLst/>
                <a:latin typeface="system-ui"/>
              </a:rPr>
              <a:t>submarine search</a:t>
            </a:r>
            <a:r>
              <a:rPr lang="en-US" b="0" i="0" dirty="0">
                <a:effectLst/>
                <a:latin typeface="system-ui"/>
              </a:rPr>
              <a:t>: </a:t>
            </a:r>
          </a:p>
          <a:p>
            <a:pPr algn="l">
              <a:buFontTx/>
              <a:buChar char="-"/>
            </a:pPr>
            <a:r>
              <a:rPr lang="en-US" b="0" i="0" dirty="0">
                <a:effectLst/>
                <a:latin typeface="system-ui"/>
              </a:rPr>
              <a:t>the </a:t>
            </a:r>
            <a:r>
              <a:rPr lang="en-US" b="1" i="1" dirty="0">
                <a:solidFill>
                  <a:schemeClr val="accent5"/>
                </a:solidFill>
                <a:effectLst/>
                <a:latin typeface="system-ui"/>
              </a:rPr>
              <a:t>prior</a:t>
            </a:r>
            <a:r>
              <a:rPr lang="en-US" b="0" i="0" dirty="0">
                <a:effectLst/>
                <a:latin typeface="system-ui"/>
              </a:rPr>
              <a:t> might be that the submarine is probably in the south Atlantic (given the last radio broadcast received).</a:t>
            </a:r>
          </a:p>
          <a:p>
            <a:pPr algn="l">
              <a:buFontTx/>
              <a:buChar char="-"/>
            </a:pPr>
            <a:r>
              <a:rPr lang="en-US" b="1" i="1" dirty="0">
                <a:solidFill>
                  <a:schemeClr val="accent5"/>
                </a:solidFill>
                <a:effectLst/>
                <a:latin typeface="system-ui"/>
              </a:rPr>
              <a:t>Evidence</a:t>
            </a:r>
            <a:r>
              <a:rPr lang="en-US" b="0" i="0" dirty="0">
                <a:effectLst/>
                <a:latin typeface="system-ui"/>
              </a:rPr>
              <a:t> might be the result of sonar surveys from search ships. </a:t>
            </a:r>
          </a:p>
          <a:p>
            <a:pPr algn="l">
              <a:buFontTx/>
              <a:buChar char="-"/>
            </a:pPr>
            <a:r>
              <a:rPr lang="en-US" b="0" i="0" dirty="0">
                <a:effectLst/>
                <a:latin typeface="system-ui"/>
              </a:rPr>
              <a:t>After each survey, the </a:t>
            </a:r>
            <a:r>
              <a:rPr lang="en-US" b="1" i="1" dirty="0">
                <a:solidFill>
                  <a:schemeClr val="accent5"/>
                </a:solidFill>
                <a:effectLst/>
                <a:latin typeface="system-ui"/>
              </a:rPr>
              <a:t>posterior</a:t>
            </a:r>
            <a:r>
              <a:rPr lang="en-US" b="0" i="0" dirty="0">
                <a:effectLst/>
                <a:latin typeface="system-ui"/>
              </a:rPr>
              <a:t> probability of the submarine being in the survey area could be updated. </a:t>
            </a:r>
            <a:r>
              <a:rPr lang="en-US" b="0" i="1" dirty="0">
                <a:effectLst/>
                <a:latin typeface="system-ui"/>
              </a:rPr>
              <a:t>This represents our belief about where the vessel might be.</a:t>
            </a:r>
          </a:p>
        </p:txBody>
      </p:sp>
    </p:spTree>
    <p:extLst>
      <p:ext uri="{BB962C8B-B14F-4D97-AF65-F5344CB8AC3E}">
        <p14:creationId xmlns:p14="http://schemas.microsoft.com/office/powerpoint/2010/main" val="1829415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A9ED6-826A-3236-790F-FEFC6B21CC4A}"/>
              </a:ext>
            </a:extLst>
          </p:cNvPr>
          <p:cNvSpPr>
            <a:spLocks noGrp="1"/>
          </p:cNvSpPr>
          <p:nvPr>
            <p:ph type="title"/>
          </p:nvPr>
        </p:nvSpPr>
        <p:spPr>
          <a:xfrm>
            <a:off x="2549236" y="533614"/>
            <a:ext cx="9210963" cy="888786"/>
          </a:xfrm>
        </p:spPr>
        <p:txBody>
          <a:bodyPr anchor="t">
            <a:normAutofit/>
          </a:bodyPr>
          <a:lstStyle/>
          <a:p>
            <a:r>
              <a:rPr lang="en-GB" b="1" i="0">
                <a:effectLst/>
              </a:rPr>
              <a:t>Frequentist view of probability</a:t>
            </a:r>
            <a:endParaRPr lang="en-GB" dirty="0"/>
          </a:p>
        </p:txBody>
      </p:sp>
      <p:pic>
        <p:nvPicPr>
          <p:cNvPr id="2050" name="Picture 2">
            <a:extLst>
              <a:ext uri="{FF2B5EF4-FFF2-40B4-BE49-F238E27FC236}">
                <a16:creationId xmlns:a16="http://schemas.microsoft.com/office/drawing/2014/main" id="{96F68792-5FA7-4649-890D-3962B4BE3B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925" r="23422" b="-2"/>
          <a:stretch/>
        </p:blipFill>
        <p:spPr bwMode="auto">
          <a:xfrm>
            <a:off x="-1" y="1699336"/>
            <a:ext cx="2452283" cy="4575733"/>
          </a:xfrm>
          <a:prstGeom prst="rect">
            <a:avLst/>
          </a:prstGeom>
          <a:solidFill>
            <a:srgbClr val="FFFFFF"/>
          </a:solidFill>
        </p:spPr>
      </p:pic>
      <p:sp>
        <p:nvSpPr>
          <p:cNvPr id="3" name="Content Placeholder 2">
            <a:extLst>
              <a:ext uri="{FF2B5EF4-FFF2-40B4-BE49-F238E27FC236}">
                <a16:creationId xmlns:a16="http://schemas.microsoft.com/office/drawing/2014/main" id="{28FC5619-436E-C34C-B2E7-1948731519B3}"/>
              </a:ext>
            </a:extLst>
          </p:cNvPr>
          <p:cNvSpPr>
            <a:spLocks noGrp="1"/>
          </p:cNvSpPr>
          <p:nvPr>
            <p:ph type="body" sz="quarter" idx="14"/>
          </p:nvPr>
        </p:nvSpPr>
        <p:spPr>
          <a:xfrm>
            <a:off x="2549235" y="1705343"/>
            <a:ext cx="9210963" cy="4526124"/>
          </a:xfrm>
        </p:spPr>
        <p:txBody>
          <a:bodyPr>
            <a:normAutofit/>
          </a:bodyPr>
          <a:lstStyle/>
          <a:p>
            <a:pPr marL="0" indent="0">
              <a:buNone/>
            </a:pPr>
            <a:r>
              <a:rPr lang="en-US" sz="2200" b="0" i="0">
                <a:effectLst/>
              </a:rPr>
              <a:t>There is an alternative school of thought that considers probabilities to </a:t>
            </a:r>
            <a:r>
              <a:rPr lang="en-US" sz="2200" b="0" i="1">
                <a:effectLst/>
              </a:rPr>
              <a:t>only</a:t>
            </a:r>
            <a:r>
              <a:rPr lang="en-US" sz="2200" b="0" i="0">
                <a:effectLst/>
              </a:rPr>
              <a:t> be the </a:t>
            </a:r>
            <a:r>
              <a:rPr lang="en-US" sz="2200" b="1" i="1">
                <a:effectLst/>
              </a:rPr>
              <a:t>long-term </a:t>
            </a:r>
            <a:r>
              <a:rPr lang="en-US" sz="2200" b="1" i="1" err="1">
                <a:effectLst/>
              </a:rPr>
              <a:t>behaviour</a:t>
            </a:r>
            <a:r>
              <a:rPr lang="en-US" sz="2200" b="1" i="1">
                <a:effectLst/>
              </a:rPr>
              <a:t> of repeated events.</a:t>
            </a:r>
            <a:endParaRPr lang="en-US" sz="2200" b="0" i="0">
              <a:effectLst/>
            </a:endParaRPr>
          </a:p>
          <a:p>
            <a:r>
              <a:rPr lang="en-US" sz="2200" b="0" i="0">
                <a:effectLst/>
              </a:rPr>
              <a:t>A </a:t>
            </a:r>
            <a:r>
              <a:rPr lang="en-US" sz="2200" b="1" i="0">
                <a:effectLst/>
              </a:rPr>
              <a:t>frequentist</a:t>
            </a:r>
            <a:r>
              <a:rPr lang="en-US" sz="2200" b="0" i="0">
                <a:effectLst/>
              </a:rPr>
              <a:t> does not accept phrases like "</a:t>
            </a:r>
            <a:r>
              <a:rPr lang="en-US" sz="2200" b="0" i="1">
                <a:effectLst/>
              </a:rPr>
              <a:t>what is the probability it is sunny just now?</a:t>
            </a:r>
            <a:r>
              <a:rPr lang="en-US" sz="2200" b="0" i="0">
                <a:effectLst/>
              </a:rPr>
              <a:t>" as there is no long-term </a:t>
            </a:r>
            <a:r>
              <a:rPr lang="en-US" sz="2200" b="0" i="0" err="1">
                <a:effectLst/>
              </a:rPr>
              <a:t>behaviour</a:t>
            </a:r>
            <a:r>
              <a:rPr lang="en-US" sz="2200" b="0" i="0">
                <a:effectLst/>
              </a:rPr>
              <a:t> involved (it is only "now" once). It does not make sense in this world view to talk about the probability of events that can only happen once. </a:t>
            </a:r>
          </a:p>
          <a:p>
            <a:r>
              <a:rPr lang="en-US" sz="2200" b="0" i="0">
                <a:effectLst/>
              </a:rPr>
              <a:t>It </a:t>
            </a:r>
            <a:r>
              <a:rPr lang="en-US" sz="2200" b="0" i="1">
                <a:effectLst/>
              </a:rPr>
              <a:t>does</a:t>
            </a:r>
            <a:r>
              <a:rPr lang="en-US" sz="2200" b="0" i="0">
                <a:effectLst/>
              </a:rPr>
              <a:t> make sense in a frequentist view to ask things like "</a:t>
            </a:r>
            <a:r>
              <a:rPr lang="en-US" sz="2200" b="0" i="1">
                <a:effectLst/>
              </a:rPr>
              <a:t>what is the probability it will be sunny on any given day?</a:t>
            </a:r>
            <a:r>
              <a:rPr lang="en-US" sz="2200" b="0" i="0">
                <a:effectLst/>
              </a:rPr>
              <a:t>" since we can measure this event (sunny or not) for many different days. </a:t>
            </a:r>
          </a:p>
          <a:p>
            <a:r>
              <a:rPr lang="en-US" sz="2200" b="0" i="0">
                <a:effectLst/>
              </a:rPr>
              <a:t>For example, frequentists would not assign a probability to the USS Scorpion being in a specific grid square; this is not an experiment that can be repeated.</a:t>
            </a:r>
          </a:p>
          <a:p>
            <a:endParaRPr lang="en-GB" sz="2200"/>
          </a:p>
        </p:txBody>
      </p:sp>
    </p:spTree>
    <p:extLst>
      <p:ext uri="{BB962C8B-B14F-4D97-AF65-F5344CB8AC3E}">
        <p14:creationId xmlns:p14="http://schemas.microsoft.com/office/powerpoint/2010/main" val="3406582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27DF8-4EF0-1459-A302-6B3ADC5FBFEA}"/>
              </a:ext>
            </a:extLst>
          </p:cNvPr>
          <p:cNvSpPr>
            <a:spLocks noGrp="1"/>
          </p:cNvSpPr>
          <p:nvPr>
            <p:ph type="title"/>
          </p:nvPr>
        </p:nvSpPr>
        <p:spPr>
          <a:xfrm>
            <a:off x="2549236" y="533614"/>
            <a:ext cx="9210963" cy="888786"/>
          </a:xfrm>
        </p:spPr>
        <p:txBody>
          <a:bodyPr anchor="t">
            <a:normAutofit/>
          </a:bodyPr>
          <a:lstStyle/>
          <a:p>
            <a:r>
              <a:rPr lang="en-GB" b="1" i="0">
                <a:effectLst/>
              </a:rPr>
              <a:t>Objectivity and subjectivity</a:t>
            </a:r>
            <a:endParaRPr lang="en-GB" dirty="0"/>
          </a:p>
        </p:txBody>
      </p:sp>
      <p:sp>
        <p:nvSpPr>
          <p:cNvPr id="1031" name="Text Placeholder 3">
            <a:extLst>
              <a:ext uri="{FF2B5EF4-FFF2-40B4-BE49-F238E27FC236}">
                <a16:creationId xmlns:a16="http://schemas.microsoft.com/office/drawing/2014/main" id="{25F5A848-803D-5D53-ADF0-14585E9811B4}"/>
              </a:ext>
            </a:extLst>
          </p:cNvPr>
          <p:cNvSpPr>
            <a:spLocks noGrp="1"/>
          </p:cNvSpPr>
          <p:nvPr>
            <p:ph type="body" sz="quarter" idx="14"/>
          </p:nvPr>
        </p:nvSpPr>
        <p:spPr>
          <a:xfrm>
            <a:off x="2549235" y="1705343"/>
            <a:ext cx="9210963" cy="4526124"/>
          </a:xfrm>
        </p:spPr>
        <p:txBody>
          <a:bodyPr>
            <a:normAutofit lnSpcReduction="10000"/>
          </a:bodyPr>
          <a:lstStyle/>
          <a:p>
            <a:pPr marL="0" indent="0" algn="l">
              <a:buNone/>
            </a:pPr>
            <a:r>
              <a:rPr lang="en-US" b="0" i="0" dirty="0">
                <a:effectLst/>
                <a:latin typeface="system-ui"/>
              </a:rPr>
              <a:t>Frequentist versus Bayesian debates quickly enter philosophical territory. The diversity of viewpoints and depth of arguments cannot be done justice here.</a:t>
            </a:r>
          </a:p>
          <a:p>
            <a:pPr algn="l"/>
            <a:r>
              <a:rPr lang="en-US" b="0" i="0" dirty="0">
                <a:effectLst/>
                <a:latin typeface="system-ui"/>
              </a:rPr>
              <a:t>Very briefly, Bayesian probability theory is sometimes said to be </a:t>
            </a:r>
            <a:r>
              <a:rPr lang="en-US" b="1" i="0" dirty="0">
                <a:effectLst/>
                <a:latin typeface="system-ui"/>
              </a:rPr>
              <a:t>subjective</a:t>
            </a:r>
            <a:r>
              <a:rPr lang="en-US" b="0" i="0" dirty="0">
                <a:effectLst/>
                <a:latin typeface="system-ui"/>
              </a:rPr>
              <a:t> because it requires the specification of prior belief, whereas frequentist models of probability do not admit the concept of priors and thus is </a:t>
            </a:r>
            <a:r>
              <a:rPr lang="en-US" b="1" i="0" dirty="0">
                <a:effectLst/>
                <a:latin typeface="system-ui"/>
              </a:rPr>
              <a:t>objective</a:t>
            </a:r>
            <a:r>
              <a:rPr lang="en-US" b="0" i="0" dirty="0">
                <a:effectLst/>
                <a:latin typeface="system-ui"/>
              </a:rPr>
              <a:t>.</a:t>
            </a:r>
          </a:p>
          <a:p>
            <a:pPr algn="l"/>
            <a:r>
              <a:rPr lang="en-US" b="0" i="0" dirty="0">
                <a:effectLst/>
                <a:latin typeface="system-ui"/>
              </a:rPr>
              <a:t>An alternative view is that the Bayesian model explicitly encodes uncertain knowledge and states universal formal rules for manipulating that knowledge, as formal logic does for definite knowledge. Frequentist methods are objective in the sense that they make statements about universal truths (e.g. asymptotic </a:t>
            </a:r>
            <a:r>
              <a:rPr lang="en-US" b="0" i="0" dirty="0" err="1">
                <a:effectLst/>
                <a:latin typeface="system-ui"/>
              </a:rPr>
              <a:t>behaviour</a:t>
            </a:r>
            <a:r>
              <a:rPr lang="en-US" b="0" i="0" dirty="0">
                <a:effectLst/>
                <a:latin typeface="system-ui"/>
              </a:rPr>
              <a:t>), but they do not form a calculus of belief, and thus can't answer many questions of importance directly.</a:t>
            </a:r>
          </a:p>
          <a:p>
            <a:endParaRPr lang="en-US" dirty="0"/>
          </a:p>
        </p:txBody>
      </p:sp>
    </p:spTree>
    <p:extLst>
      <p:ext uri="{BB962C8B-B14F-4D97-AF65-F5344CB8AC3E}">
        <p14:creationId xmlns:p14="http://schemas.microsoft.com/office/powerpoint/2010/main" val="1113752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3FB05-DCE9-6E42-B5EC-8451D59E5861}"/>
              </a:ext>
            </a:extLst>
          </p:cNvPr>
          <p:cNvSpPr>
            <a:spLocks noGrp="1"/>
          </p:cNvSpPr>
          <p:nvPr>
            <p:ph type="title"/>
          </p:nvPr>
        </p:nvSpPr>
        <p:spPr/>
        <p:txBody>
          <a:bodyPr/>
          <a:lstStyle/>
          <a:p>
            <a:r>
              <a:rPr lang="en-GB" dirty="0"/>
              <a:t>Frequentist vs Bayesian (summary)</a:t>
            </a:r>
          </a:p>
        </p:txBody>
      </p:sp>
      <p:sp>
        <p:nvSpPr>
          <p:cNvPr id="3" name="Content Placeholder 2">
            <a:extLst>
              <a:ext uri="{FF2B5EF4-FFF2-40B4-BE49-F238E27FC236}">
                <a16:creationId xmlns:a16="http://schemas.microsoft.com/office/drawing/2014/main" id="{3A2B2D7C-D4BA-B23E-3FD2-502B9845F643}"/>
              </a:ext>
            </a:extLst>
          </p:cNvPr>
          <p:cNvSpPr>
            <a:spLocks noGrp="1"/>
          </p:cNvSpPr>
          <p:nvPr>
            <p:ph sz="quarter" idx="13"/>
          </p:nvPr>
        </p:nvSpPr>
        <p:spPr/>
        <p:txBody>
          <a:bodyPr/>
          <a:lstStyle/>
          <a:p>
            <a:pPr algn="l"/>
            <a:r>
              <a:rPr lang="en-US" b="1" i="0" dirty="0">
                <a:effectLst/>
                <a:latin typeface="system-ui"/>
              </a:rPr>
              <a:t>Bayesian</a:t>
            </a:r>
          </a:p>
          <a:p>
            <a:pPr lvl="1"/>
            <a:r>
              <a:rPr lang="en-US" b="0" i="0" dirty="0">
                <a:effectLst/>
                <a:latin typeface="system-ui"/>
              </a:rPr>
              <a:t>Includes </a:t>
            </a:r>
            <a:r>
              <a:rPr lang="en-US" b="1" i="0" dirty="0">
                <a:effectLst/>
                <a:latin typeface="system-ui"/>
              </a:rPr>
              <a:t>priors</a:t>
            </a:r>
            <a:endParaRPr lang="en-US" b="0" i="0" dirty="0">
              <a:effectLst/>
              <a:latin typeface="system-ui"/>
            </a:endParaRPr>
          </a:p>
          <a:p>
            <a:pPr lvl="1"/>
            <a:r>
              <a:rPr lang="en-US" b="0" i="0" dirty="0">
                <a:effectLst/>
                <a:latin typeface="system-ui"/>
              </a:rPr>
              <a:t>Probability is a </a:t>
            </a:r>
            <a:r>
              <a:rPr lang="en-US" b="1" i="0" dirty="0">
                <a:effectLst/>
                <a:latin typeface="system-ui"/>
              </a:rPr>
              <a:t>degree of belief</a:t>
            </a:r>
            <a:endParaRPr lang="en-US" b="0" i="0" dirty="0">
              <a:effectLst/>
              <a:latin typeface="system-ui"/>
            </a:endParaRPr>
          </a:p>
          <a:p>
            <a:pPr lvl="1"/>
            <a:r>
              <a:rPr lang="en-US" b="0" i="0" dirty="0">
                <a:effectLst/>
                <a:latin typeface="system-ui"/>
              </a:rPr>
              <a:t>(Parameters of population considered to be random variables, data to be known)</a:t>
            </a:r>
          </a:p>
          <a:p>
            <a:pPr algn="l"/>
            <a:r>
              <a:rPr lang="en-US" b="1" i="0" dirty="0">
                <a:effectLst/>
                <a:latin typeface="system-ui"/>
              </a:rPr>
              <a:t>Frequentist</a:t>
            </a:r>
          </a:p>
          <a:p>
            <a:pPr lvl="1"/>
            <a:r>
              <a:rPr lang="en-US" b="0" i="0" dirty="0">
                <a:effectLst/>
                <a:latin typeface="system-ui"/>
              </a:rPr>
              <a:t>No </a:t>
            </a:r>
            <a:r>
              <a:rPr lang="en-US" b="1" i="0" dirty="0">
                <a:effectLst/>
                <a:latin typeface="system-ui"/>
              </a:rPr>
              <a:t>priors</a:t>
            </a:r>
            <a:endParaRPr lang="en-US" b="0" i="0" dirty="0">
              <a:effectLst/>
              <a:latin typeface="system-ui"/>
            </a:endParaRPr>
          </a:p>
          <a:p>
            <a:pPr lvl="1"/>
            <a:r>
              <a:rPr lang="en-US" b="0" i="0" dirty="0">
                <a:effectLst/>
                <a:latin typeface="system-ui"/>
              </a:rPr>
              <a:t>Probability is the </a:t>
            </a:r>
            <a:r>
              <a:rPr lang="en-US" b="0" i="1" dirty="0">
                <a:effectLst/>
                <a:latin typeface="system-ui"/>
              </a:rPr>
              <a:t>long-term frequency of events</a:t>
            </a:r>
            <a:endParaRPr lang="en-US" b="0" i="0" dirty="0">
              <a:effectLst/>
              <a:latin typeface="system-ui"/>
            </a:endParaRPr>
          </a:p>
          <a:p>
            <a:pPr lvl="1"/>
            <a:r>
              <a:rPr lang="en-US" b="0" i="0" dirty="0">
                <a:effectLst/>
                <a:latin typeface="system-ui"/>
              </a:rPr>
              <a:t>(Parameters of population assumed to be fixed, data to be random)</a:t>
            </a:r>
          </a:p>
          <a:p>
            <a:endParaRPr lang="en-GB" dirty="0"/>
          </a:p>
        </p:txBody>
      </p:sp>
    </p:spTree>
    <p:extLst>
      <p:ext uri="{BB962C8B-B14F-4D97-AF65-F5344CB8AC3E}">
        <p14:creationId xmlns:p14="http://schemas.microsoft.com/office/powerpoint/2010/main" val="1807523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4C5EF-56FF-4BB3-3C64-606E145D0E4A}"/>
              </a:ext>
            </a:extLst>
          </p:cNvPr>
          <p:cNvSpPr>
            <a:spLocks noGrp="1"/>
          </p:cNvSpPr>
          <p:nvPr>
            <p:ph type="title"/>
          </p:nvPr>
        </p:nvSpPr>
        <p:spPr/>
        <p:txBody>
          <a:bodyPr/>
          <a:lstStyle/>
          <a:p>
            <a:r>
              <a:rPr lang="en-GB" b="1" i="0" dirty="0">
                <a:effectLst/>
                <a:latin typeface="system-ui"/>
              </a:rPr>
              <a:t>Superiority of probabilistic models</a:t>
            </a:r>
            <a:br>
              <a:rPr lang="en-GB" b="1" i="0" dirty="0">
                <a:effectLst/>
                <a:latin typeface="system-ui"/>
              </a:rPr>
            </a:br>
            <a:endParaRPr lang="en-GB" dirty="0"/>
          </a:p>
        </p:txBody>
      </p:sp>
      <p:sp>
        <p:nvSpPr>
          <p:cNvPr id="3" name="Content Placeholder 2">
            <a:extLst>
              <a:ext uri="{FF2B5EF4-FFF2-40B4-BE49-F238E27FC236}">
                <a16:creationId xmlns:a16="http://schemas.microsoft.com/office/drawing/2014/main" id="{814F72F5-70AB-33BA-B0BC-EF283F608834}"/>
              </a:ext>
            </a:extLst>
          </p:cNvPr>
          <p:cNvSpPr>
            <a:spLocks noGrp="1"/>
          </p:cNvSpPr>
          <p:nvPr>
            <p:ph sz="quarter" idx="13"/>
          </p:nvPr>
        </p:nvSpPr>
        <p:spPr/>
        <p:txBody>
          <a:bodyPr/>
          <a:lstStyle/>
          <a:p>
            <a:pPr marL="0" indent="0" algn="l">
              <a:buNone/>
            </a:pPr>
            <a:r>
              <a:rPr lang="en-US" b="0" i="0" dirty="0">
                <a:effectLst/>
                <a:latin typeface="system-ui"/>
              </a:rPr>
              <a:t>Regardless of the philosophical model you subscribe to, there is one thing you can be sure of: </a:t>
            </a:r>
            <a:r>
              <a:rPr lang="en-US" b="0" i="1" dirty="0">
                <a:effectLst/>
                <a:latin typeface="system-ui"/>
              </a:rPr>
              <a:t>probability is the best</a:t>
            </a:r>
            <a:r>
              <a:rPr lang="en-US" b="0" i="0" dirty="0">
                <a:effectLst/>
                <a:latin typeface="system-ui"/>
              </a:rPr>
              <a:t>.</a:t>
            </a:r>
          </a:p>
          <a:p>
            <a:pPr marL="0" indent="0" algn="l">
              <a:buNone/>
            </a:pPr>
            <a:r>
              <a:rPr lang="en-US" b="0" i="0" dirty="0">
                <a:effectLst/>
                <a:latin typeface="system-ui"/>
              </a:rPr>
              <a:t>There are other models of uncertainty than probability theory that are sometimes used. However, all other representations of uncertainty are </a:t>
            </a:r>
            <a:r>
              <a:rPr lang="en-US" b="0" i="1" dirty="0">
                <a:effectLst/>
                <a:latin typeface="system-ui"/>
              </a:rPr>
              <a:t>strictly inferior</a:t>
            </a:r>
            <a:r>
              <a:rPr lang="en-US" b="0" i="0" dirty="0">
                <a:effectLst/>
                <a:latin typeface="system-ui"/>
              </a:rPr>
              <a:t> to probabilistic methods </a:t>
            </a:r>
            <a:r>
              <a:rPr lang="en-US" b="0" i="1" dirty="0">
                <a:effectLst/>
                <a:latin typeface="system-ui"/>
              </a:rPr>
              <a:t>in the sense that</a:t>
            </a:r>
            <a:r>
              <a:rPr lang="en-US" b="0" i="0" dirty="0">
                <a:effectLst/>
                <a:latin typeface="system-ui"/>
              </a:rPr>
              <a:t> a person, agent, computer placing "bets" on future events using probabilistic models has the best possible return out of all decision systems when there is uncertainty.</a:t>
            </a:r>
          </a:p>
          <a:p>
            <a:pPr marL="0" indent="0" algn="l">
              <a:buNone/>
            </a:pPr>
            <a:endParaRPr lang="en-US" b="0" i="0" dirty="0">
              <a:effectLst/>
              <a:latin typeface="system-ui"/>
            </a:endParaRPr>
          </a:p>
          <a:p>
            <a:pPr marL="0" indent="0" algn="ctr">
              <a:buNone/>
            </a:pPr>
            <a:r>
              <a:rPr lang="en-US" b="0" i="1" dirty="0">
                <a:solidFill>
                  <a:schemeClr val="accent5"/>
                </a:solidFill>
                <a:effectLst/>
                <a:latin typeface="system-ui"/>
              </a:rPr>
              <a:t>Any theory with as good a gambling outcome as would be achieved using probability theory is equivalent to probability theory.</a:t>
            </a:r>
            <a:endParaRPr lang="en-GB" dirty="0">
              <a:solidFill>
                <a:schemeClr val="accent5"/>
              </a:solidFill>
            </a:endParaRPr>
          </a:p>
        </p:txBody>
      </p:sp>
    </p:spTree>
    <p:extLst>
      <p:ext uri="{BB962C8B-B14F-4D97-AF65-F5344CB8AC3E}">
        <p14:creationId xmlns:p14="http://schemas.microsoft.com/office/powerpoint/2010/main" val="2055518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552EE-CC98-B6B7-D2FB-EB8DBA824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A6952-98A8-9F2D-D4AD-F635B6B5B6A2}"/>
              </a:ext>
            </a:extLst>
          </p:cNvPr>
          <p:cNvSpPr>
            <a:spLocks noGrp="1"/>
          </p:cNvSpPr>
          <p:nvPr>
            <p:ph type="title"/>
          </p:nvPr>
        </p:nvSpPr>
        <p:spPr>
          <a:xfrm>
            <a:off x="741680" y="2123676"/>
            <a:ext cx="4027169" cy="1600200"/>
          </a:xfrm>
        </p:spPr>
        <p:txBody>
          <a:bodyPr vert="horz" lIns="91440" tIns="45720" rIns="91440" bIns="45720" rtlCol="0" anchor="t">
            <a:normAutofit/>
          </a:bodyPr>
          <a:lstStyle/>
          <a:p>
            <a:r>
              <a:rPr lang="en-GB" b="1" kern="1200">
                <a:latin typeface="Arial" panose="020B0604020202020204" pitchFamily="34" charset="0"/>
                <a:ea typeface="+mj-ea"/>
                <a:cs typeface="Arial" panose="020B0604020202020204" pitchFamily="34" charset="0"/>
              </a:rPr>
              <a:t>Generative models</a:t>
            </a:r>
          </a:p>
        </p:txBody>
      </p:sp>
      <p:sp>
        <p:nvSpPr>
          <p:cNvPr id="7" name="TextBox 6">
            <a:extLst>
              <a:ext uri="{FF2B5EF4-FFF2-40B4-BE49-F238E27FC236}">
                <a16:creationId xmlns:a16="http://schemas.microsoft.com/office/drawing/2014/main" id="{52062933-E907-7ED1-73EA-74AF8BE8CBA7}"/>
              </a:ext>
            </a:extLst>
          </p:cNvPr>
          <p:cNvSpPr txBox="1"/>
          <p:nvPr/>
        </p:nvSpPr>
        <p:spPr>
          <a:xfrm>
            <a:off x="741680" y="3934224"/>
            <a:ext cx="4030345" cy="1934763"/>
          </a:xfrm>
          <a:prstGeom prst="rect">
            <a:avLst/>
          </a:prstGeom>
        </p:spPr>
        <p:txBody>
          <a:bodyPr vert="horz" lIns="91440" tIns="45720" rIns="91440" bIns="45720" rtlCol="0">
            <a:normAutofit fontScale="92500" lnSpcReduction="10000"/>
          </a:bodyPr>
          <a:lstStyle/>
          <a:p>
            <a:pPr>
              <a:lnSpc>
                <a:spcPct val="90000"/>
              </a:lnSpc>
              <a:spcBef>
                <a:spcPts val="1000"/>
              </a:spcBef>
            </a:pPr>
            <a:r>
              <a:rPr lang="en-GB" sz="2000" b="0" i="0" kern="1200" dirty="0">
                <a:solidFill>
                  <a:schemeClr val="accent1">
                    <a:lumMod val="50000"/>
                  </a:schemeClr>
                </a:solidFill>
                <a:effectLst/>
                <a:latin typeface="system-ui"/>
                <a:cs typeface="Arial" panose="020B0604020202020204" pitchFamily="34" charset="0"/>
              </a:rPr>
              <a:t>Consider an urn, into which a number of balls have been poured (by some mysterious entity, say). Each ball can be either black or white.</a:t>
            </a:r>
          </a:p>
          <a:p>
            <a:pPr>
              <a:lnSpc>
                <a:spcPct val="90000"/>
              </a:lnSpc>
              <a:spcBef>
                <a:spcPts val="1000"/>
              </a:spcBef>
            </a:pPr>
            <a:r>
              <a:rPr lang="en-US" sz="2000" b="0" i="0" dirty="0">
                <a:effectLst/>
                <a:latin typeface="system-ui"/>
                <a:cs typeface="Arial" panose="020B0604020202020204" pitchFamily="34" charset="0"/>
              </a:rPr>
              <a:t>You pull out four random balls from the urn and observe their </a:t>
            </a:r>
            <a:r>
              <a:rPr lang="en-US" sz="2000" b="0" i="0" dirty="0" err="1">
                <a:effectLst/>
                <a:latin typeface="system-ui"/>
                <a:cs typeface="Arial" panose="020B0604020202020204" pitchFamily="34" charset="0"/>
              </a:rPr>
              <a:t>colour</a:t>
            </a:r>
            <a:r>
              <a:rPr lang="en-US" sz="2000" b="0" i="0" dirty="0">
                <a:effectLst/>
                <a:latin typeface="system-ui"/>
                <a:cs typeface="Arial" panose="020B0604020202020204" pitchFamily="34" charset="0"/>
              </a:rPr>
              <a:t>. You get four white balls.</a:t>
            </a:r>
            <a:endParaRPr lang="en-GB" sz="2000" kern="1200" dirty="0">
              <a:solidFill>
                <a:schemeClr val="accent1">
                  <a:lumMod val="50000"/>
                </a:schemeClr>
              </a:solidFill>
              <a:latin typeface="system-ui"/>
              <a:cs typeface="Arial" panose="020B0604020202020204" pitchFamily="34" charset="0"/>
            </a:endParaRPr>
          </a:p>
        </p:txBody>
      </p:sp>
      <p:pic>
        <p:nvPicPr>
          <p:cNvPr id="5" name="Content Placeholder 4" descr="A screenshot of a video game&#10;&#10;Description automatically generated">
            <a:extLst>
              <a:ext uri="{FF2B5EF4-FFF2-40B4-BE49-F238E27FC236}">
                <a16:creationId xmlns:a16="http://schemas.microsoft.com/office/drawing/2014/main" id="{A67B19C8-C4B3-93E0-AAD3-DE61216B84C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83188" y="1595723"/>
            <a:ext cx="6172200" cy="3657028"/>
          </a:xfrm>
          <a:noFill/>
        </p:spPr>
      </p:pic>
    </p:spTree>
    <p:extLst>
      <p:ext uri="{BB962C8B-B14F-4D97-AF65-F5344CB8AC3E}">
        <p14:creationId xmlns:p14="http://schemas.microsoft.com/office/powerpoint/2010/main" val="868331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2EAF0C1-DA28-9DA8-19DD-D63AF6257C90}"/>
              </a:ext>
            </a:extLst>
          </p:cNvPr>
          <p:cNvSpPr txBox="1"/>
          <p:nvPr/>
        </p:nvSpPr>
        <p:spPr>
          <a:xfrm>
            <a:off x="838200" y="1608667"/>
            <a:ext cx="5181600" cy="4568296"/>
          </a:xfrm>
          <a:prstGeom prst="rect">
            <a:avLst/>
          </a:prstGeom>
        </p:spPr>
        <p:txBody>
          <a:bodyPr vert="horz" lIns="91440" tIns="45720" rIns="91440" bIns="45720" rtlCol="0">
            <a:normAutofit/>
          </a:bodyPr>
          <a:lstStyle/>
          <a:p>
            <a:pPr>
              <a:lnSpc>
                <a:spcPct val="90000"/>
              </a:lnSpc>
              <a:spcBef>
                <a:spcPts val="1000"/>
              </a:spcBef>
            </a:pPr>
            <a:r>
              <a:rPr lang="en-GB" sz="1500" b="0" i="0" dirty="0">
                <a:solidFill>
                  <a:schemeClr val="accent1">
                    <a:lumMod val="50000"/>
                  </a:schemeClr>
                </a:solidFill>
                <a:effectLst/>
                <a:latin typeface="Arial" panose="020B0604020202020204" pitchFamily="34" charset="0"/>
                <a:cs typeface="Arial" panose="020B0604020202020204" pitchFamily="34" charset="0"/>
              </a:rPr>
              <a:t>There are lots of questions you can ask now:</a:t>
            </a:r>
            <a:br>
              <a:rPr lang="en-GB" sz="1500" b="0" i="0" dirty="0">
                <a:solidFill>
                  <a:schemeClr val="accent1">
                    <a:lumMod val="50000"/>
                  </a:schemeClr>
                </a:solidFill>
                <a:effectLst/>
                <a:latin typeface="Arial" panose="020B0604020202020204" pitchFamily="34" charset="0"/>
                <a:cs typeface="Arial" panose="020B0604020202020204" pitchFamily="34" charset="0"/>
              </a:rPr>
            </a:br>
            <a:endParaRPr lang="en-GB" sz="1500" b="0" i="0" dirty="0">
              <a:solidFill>
                <a:schemeClr val="accent1">
                  <a:lumMod val="50000"/>
                </a:schemeClr>
              </a:solidFill>
              <a:effectLst/>
              <a:latin typeface="Arial" panose="020B0604020202020204" pitchFamily="34" charset="0"/>
              <a:cs typeface="Arial" panose="020B0604020202020204" pitchFamily="34" charset="0"/>
            </a:endParaRPr>
          </a:p>
          <a:p>
            <a:pPr>
              <a:lnSpc>
                <a:spcPct val="90000"/>
              </a:lnSpc>
              <a:spcBef>
                <a:spcPts val="1000"/>
              </a:spcBef>
            </a:pPr>
            <a:r>
              <a:rPr lang="en-GB" sz="1500" b="1" i="0" dirty="0">
                <a:solidFill>
                  <a:schemeClr val="accent1">
                    <a:lumMod val="50000"/>
                  </a:schemeClr>
                </a:solidFill>
                <a:effectLst/>
                <a:latin typeface="Arial" panose="020B0604020202020204" pitchFamily="34" charset="0"/>
                <a:cs typeface="Arial" panose="020B0604020202020204" pitchFamily="34" charset="0"/>
              </a:rPr>
              <a:t>What is the probability that the next ball that is drawn will be white?</a:t>
            </a:r>
          </a:p>
          <a:p>
            <a:pPr marL="228600" indent="-228600">
              <a:lnSpc>
                <a:spcPct val="90000"/>
              </a:lnSpc>
              <a:spcBef>
                <a:spcPts val="1000"/>
              </a:spcBef>
              <a:buFont typeface="Arial" panose="020B0604020202020204" pitchFamily="34" charset="0"/>
              <a:buChar char="•"/>
            </a:pPr>
            <a:r>
              <a:rPr lang="en-GB" sz="1500" b="0" i="0" dirty="0">
                <a:solidFill>
                  <a:schemeClr val="accent1">
                    <a:lumMod val="50000"/>
                  </a:schemeClr>
                </a:solidFill>
                <a:effectLst/>
                <a:latin typeface="Arial" panose="020B0604020202020204" pitchFamily="34" charset="0"/>
                <a:cs typeface="Arial" panose="020B0604020202020204" pitchFamily="34" charset="0"/>
              </a:rPr>
              <a:t>This is a </a:t>
            </a:r>
            <a:r>
              <a:rPr lang="en-GB" sz="1500" b="1" i="0" dirty="0">
                <a:solidFill>
                  <a:schemeClr val="accent1">
                    <a:lumMod val="50000"/>
                  </a:schemeClr>
                </a:solidFill>
                <a:effectLst/>
                <a:latin typeface="Arial" panose="020B0604020202020204" pitchFamily="34" charset="0"/>
                <a:cs typeface="Arial" panose="020B0604020202020204" pitchFamily="34" charset="0"/>
              </a:rPr>
              <a:t>forward probability</a:t>
            </a:r>
            <a:r>
              <a:rPr lang="en-GB" sz="1500" b="0" i="0" dirty="0">
                <a:solidFill>
                  <a:schemeClr val="accent1">
                    <a:lumMod val="50000"/>
                  </a:schemeClr>
                </a:solidFill>
                <a:effectLst/>
                <a:latin typeface="Arial" panose="020B0604020202020204" pitchFamily="34" charset="0"/>
                <a:cs typeface="Arial" panose="020B0604020202020204" pitchFamily="34" charset="0"/>
              </a:rPr>
              <a:t> question. It asks questions related to the distribution of the observations.</a:t>
            </a:r>
            <a:br>
              <a:rPr lang="en-GB" sz="1500" b="0" i="0" dirty="0">
                <a:solidFill>
                  <a:schemeClr val="accent1">
                    <a:lumMod val="50000"/>
                  </a:schemeClr>
                </a:solidFill>
                <a:effectLst/>
                <a:latin typeface="Arial" panose="020B0604020202020204" pitchFamily="34" charset="0"/>
                <a:cs typeface="Arial" panose="020B0604020202020204" pitchFamily="34" charset="0"/>
              </a:rPr>
            </a:br>
            <a:endParaRPr lang="en-GB" sz="1500" b="0" i="0" dirty="0">
              <a:solidFill>
                <a:schemeClr val="accent1">
                  <a:lumMod val="50000"/>
                </a:schemeClr>
              </a:solidFill>
              <a:effectLst/>
              <a:latin typeface="Arial" panose="020B0604020202020204" pitchFamily="34" charset="0"/>
              <a:cs typeface="Arial" panose="020B0604020202020204" pitchFamily="34" charset="0"/>
            </a:endParaRPr>
          </a:p>
          <a:p>
            <a:pPr>
              <a:lnSpc>
                <a:spcPct val="90000"/>
              </a:lnSpc>
              <a:spcBef>
                <a:spcPts val="1000"/>
              </a:spcBef>
            </a:pPr>
            <a:r>
              <a:rPr lang="en-GB" sz="1500" b="1" i="0" dirty="0">
                <a:solidFill>
                  <a:schemeClr val="accent1">
                    <a:lumMod val="50000"/>
                  </a:schemeClr>
                </a:solidFill>
                <a:effectLst/>
                <a:latin typeface="Arial" panose="020B0604020202020204" pitchFamily="34" charset="0"/>
                <a:cs typeface="Arial" panose="020B0604020202020204" pitchFamily="34" charset="0"/>
              </a:rPr>
              <a:t>What is the distribution of white and black balls in the urn?</a:t>
            </a:r>
          </a:p>
          <a:p>
            <a:pPr marL="228600" lvl="1" indent="-228600">
              <a:lnSpc>
                <a:spcPct val="90000"/>
              </a:lnSpc>
              <a:spcBef>
                <a:spcPts val="1000"/>
              </a:spcBef>
              <a:buFont typeface="Arial" panose="020B0604020202020204" pitchFamily="34" charset="0"/>
              <a:buChar char="•"/>
            </a:pPr>
            <a:r>
              <a:rPr lang="en-GB" sz="1500" b="0" i="0" dirty="0">
                <a:solidFill>
                  <a:schemeClr val="accent1">
                    <a:lumMod val="50000"/>
                  </a:schemeClr>
                </a:solidFill>
                <a:effectLst/>
                <a:latin typeface="Arial" panose="020B0604020202020204" pitchFamily="34" charset="0"/>
                <a:cs typeface="Arial" panose="020B0604020202020204" pitchFamily="34" charset="0"/>
              </a:rPr>
              <a:t>This is an </a:t>
            </a:r>
            <a:r>
              <a:rPr lang="en-GB" sz="1500" b="1" i="0" dirty="0">
                <a:solidFill>
                  <a:schemeClr val="accent1">
                    <a:lumMod val="50000"/>
                  </a:schemeClr>
                </a:solidFill>
                <a:effectLst/>
                <a:latin typeface="Arial" panose="020B0604020202020204" pitchFamily="34" charset="0"/>
                <a:cs typeface="Arial" panose="020B0604020202020204" pitchFamily="34" charset="0"/>
              </a:rPr>
              <a:t>inverse probability</a:t>
            </a:r>
            <a:r>
              <a:rPr lang="en-GB" sz="1500" b="0" i="0" dirty="0">
                <a:solidFill>
                  <a:schemeClr val="accent1">
                    <a:lumMod val="50000"/>
                  </a:schemeClr>
                </a:solidFill>
                <a:effectLst/>
                <a:latin typeface="Arial" panose="020B0604020202020204" pitchFamily="34" charset="0"/>
                <a:cs typeface="Arial" panose="020B0604020202020204" pitchFamily="34" charset="0"/>
              </a:rPr>
              <a:t> question. It asks questions related to unobserved variables that govern the process that generated the observations.</a:t>
            </a:r>
            <a:br>
              <a:rPr lang="en-GB" sz="1500" b="0" i="0" dirty="0">
                <a:solidFill>
                  <a:schemeClr val="accent1">
                    <a:lumMod val="50000"/>
                  </a:schemeClr>
                </a:solidFill>
                <a:effectLst/>
                <a:latin typeface="Arial" panose="020B0604020202020204" pitchFamily="34" charset="0"/>
                <a:cs typeface="Arial" panose="020B0604020202020204" pitchFamily="34" charset="0"/>
              </a:rPr>
            </a:br>
            <a:endParaRPr lang="en-GB" sz="1500" b="0" i="0" dirty="0">
              <a:solidFill>
                <a:schemeClr val="accent1">
                  <a:lumMod val="50000"/>
                </a:schemeClr>
              </a:solidFill>
              <a:effectLst/>
              <a:latin typeface="Arial" panose="020B0604020202020204" pitchFamily="34" charset="0"/>
              <a:cs typeface="Arial" panose="020B0604020202020204" pitchFamily="34" charset="0"/>
            </a:endParaRPr>
          </a:p>
          <a:p>
            <a:pPr>
              <a:lnSpc>
                <a:spcPct val="90000"/>
              </a:lnSpc>
              <a:spcBef>
                <a:spcPts val="1000"/>
              </a:spcBef>
            </a:pPr>
            <a:r>
              <a:rPr lang="en-GB" sz="1500" b="1" i="0" dirty="0">
                <a:solidFill>
                  <a:schemeClr val="accent1">
                    <a:lumMod val="50000"/>
                  </a:schemeClr>
                </a:solidFill>
                <a:effectLst/>
                <a:latin typeface="Arial" panose="020B0604020202020204" pitchFamily="34" charset="0"/>
                <a:cs typeface="Arial" panose="020B0604020202020204" pitchFamily="34" charset="0"/>
              </a:rPr>
              <a:t>Who is the mysterious entity?</a:t>
            </a:r>
          </a:p>
          <a:p>
            <a:pPr marL="228600" lvl="1" indent="-228600">
              <a:lnSpc>
                <a:spcPct val="90000"/>
              </a:lnSpc>
              <a:spcBef>
                <a:spcPts val="1000"/>
              </a:spcBef>
              <a:buFont typeface="Arial" panose="020B0604020202020204" pitchFamily="34" charset="0"/>
              <a:buChar char="•"/>
            </a:pPr>
            <a:r>
              <a:rPr lang="en-GB" sz="1500" b="0" i="0" dirty="0">
                <a:solidFill>
                  <a:schemeClr val="accent1">
                    <a:lumMod val="50000"/>
                  </a:schemeClr>
                </a:solidFill>
                <a:effectLst/>
                <a:latin typeface="Arial" panose="020B0604020202020204" pitchFamily="34" charset="0"/>
                <a:cs typeface="Arial" panose="020B0604020202020204" pitchFamily="34" charset="0"/>
              </a:rPr>
              <a:t>This is an unknowable question. The observations we make cannot resolve this question.</a:t>
            </a:r>
          </a:p>
        </p:txBody>
      </p:sp>
      <p:pic>
        <p:nvPicPr>
          <p:cNvPr id="5" name="Content Placeholder 4" descr="A screenshot of a video game&#10;&#10;Description automatically generated">
            <a:extLst>
              <a:ext uri="{FF2B5EF4-FFF2-40B4-BE49-F238E27FC236}">
                <a16:creationId xmlns:a16="http://schemas.microsoft.com/office/drawing/2014/main" id="{7F86DA3D-DA3F-CAAD-A2CA-2F3A35A35F57}"/>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172200" y="2357766"/>
            <a:ext cx="5181600" cy="3070097"/>
          </a:xfrm>
          <a:noFill/>
        </p:spPr>
      </p:pic>
      <p:sp>
        <p:nvSpPr>
          <p:cNvPr id="2" name="Title 1">
            <a:extLst>
              <a:ext uri="{FF2B5EF4-FFF2-40B4-BE49-F238E27FC236}">
                <a16:creationId xmlns:a16="http://schemas.microsoft.com/office/drawing/2014/main" id="{2D2EB735-3C75-8654-9538-59591C5D7A63}"/>
              </a:ext>
            </a:extLst>
          </p:cNvPr>
          <p:cNvSpPr>
            <a:spLocks noGrp="1"/>
          </p:cNvSpPr>
          <p:nvPr>
            <p:ph type="title"/>
          </p:nvPr>
        </p:nvSpPr>
        <p:spPr>
          <a:xfrm>
            <a:off x="2549236" y="533614"/>
            <a:ext cx="9210963" cy="888786"/>
          </a:xfrm>
        </p:spPr>
        <p:txBody>
          <a:bodyPr vert="horz" lIns="91440" tIns="45720" rIns="91440" bIns="45720" rtlCol="0" anchor="t">
            <a:normAutofit/>
          </a:bodyPr>
          <a:lstStyle/>
          <a:p>
            <a:r>
              <a:rPr lang="en-GB" b="1" kern="1200">
                <a:latin typeface="Arial" panose="020B0604020202020204" pitchFamily="34" charset="0"/>
                <a:ea typeface="+mj-ea"/>
                <a:cs typeface="Arial" panose="020B0604020202020204" pitchFamily="34" charset="0"/>
              </a:rPr>
              <a:t>Generative models</a:t>
            </a:r>
          </a:p>
        </p:txBody>
      </p:sp>
    </p:spTree>
    <p:extLst>
      <p:ext uri="{BB962C8B-B14F-4D97-AF65-F5344CB8AC3E}">
        <p14:creationId xmlns:p14="http://schemas.microsoft.com/office/powerpoint/2010/main" val="1914874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294D81-B409-A2A8-8F1A-BE1A14E58216}"/>
              </a:ext>
            </a:extLst>
          </p:cNvPr>
          <p:cNvSpPr>
            <a:spLocks noGrp="1"/>
          </p:cNvSpPr>
          <p:nvPr>
            <p:ph type="title"/>
          </p:nvPr>
        </p:nvSpPr>
        <p:spPr>
          <a:xfrm>
            <a:off x="741680" y="2123676"/>
            <a:ext cx="4027169" cy="1600200"/>
          </a:xfrm>
        </p:spPr>
        <p:txBody>
          <a:bodyPr anchor="t">
            <a:normAutofit/>
          </a:bodyPr>
          <a:lstStyle/>
          <a:p>
            <a:r>
              <a:rPr lang="en-GB" dirty="0"/>
              <a:t>Part 4. A formal basis for probability theory</a:t>
            </a:r>
          </a:p>
        </p:txBody>
      </p:sp>
      <p:sp>
        <p:nvSpPr>
          <p:cNvPr id="5141" name="Text Placeholder 2">
            <a:extLst>
              <a:ext uri="{FF2B5EF4-FFF2-40B4-BE49-F238E27FC236}">
                <a16:creationId xmlns:a16="http://schemas.microsoft.com/office/drawing/2014/main" id="{452CBB7D-3B38-BD53-EC54-0105E97DCA47}"/>
              </a:ext>
            </a:extLst>
          </p:cNvPr>
          <p:cNvSpPr>
            <a:spLocks noGrp="1"/>
          </p:cNvSpPr>
          <p:nvPr>
            <p:ph type="body" sz="half" idx="2"/>
          </p:nvPr>
        </p:nvSpPr>
        <p:spPr>
          <a:xfrm>
            <a:off x="741680" y="3934224"/>
            <a:ext cx="4030345" cy="1934763"/>
          </a:xfrm>
        </p:spPr>
        <p:txBody>
          <a:bodyPr/>
          <a:lstStyle/>
          <a:p>
            <a:endParaRPr lang="en-US" dirty="0"/>
          </a:p>
        </p:txBody>
      </p:sp>
      <p:pic>
        <p:nvPicPr>
          <p:cNvPr id="1028" name="Picture 4">
            <a:extLst>
              <a:ext uri="{FF2B5EF4-FFF2-40B4-BE49-F238E27FC236}">
                <a16:creationId xmlns:a16="http://schemas.microsoft.com/office/drawing/2014/main" id="{60C987B7-4C6B-80DE-3E57-58B1634C25C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83188" y="1109663"/>
            <a:ext cx="6172200" cy="4629149"/>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45C9138-231F-FDC9-16D0-979A35D7B5B8}"/>
              </a:ext>
            </a:extLst>
          </p:cNvPr>
          <p:cNvSpPr txBox="1"/>
          <p:nvPr/>
        </p:nvSpPr>
        <p:spPr>
          <a:xfrm>
            <a:off x="10055717" y="6201395"/>
            <a:ext cx="2789205" cy="646331"/>
          </a:xfrm>
          <a:prstGeom prst="rect">
            <a:avLst/>
          </a:prstGeom>
          <a:noFill/>
        </p:spPr>
        <p:txBody>
          <a:bodyPr wrap="square" rtlCol="0">
            <a:spAutoFit/>
          </a:bodyPr>
          <a:lstStyle/>
          <a:p>
            <a:r>
              <a:rPr lang="en-GB" dirty="0"/>
              <a:t>Sidney Harris (1977), </a:t>
            </a:r>
            <a:br>
              <a:rPr lang="en-GB" dirty="0"/>
            </a:br>
            <a:r>
              <a:rPr lang="en-GB" dirty="0"/>
              <a:t>The New Yorker</a:t>
            </a:r>
          </a:p>
        </p:txBody>
      </p:sp>
    </p:spTree>
    <p:extLst>
      <p:ext uri="{BB962C8B-B14F-4D97-AF65-F5344CB8AC3E}">
        <p14:creationId xmlns:p14="http://schemas.microsoft.com/office/powerpoint/2010/main" val="3141020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3DEC8C-DDB0-8FB9-B30E-73550816F20F}"/>
              </a:ext>
            </a:extLst>
          </p:cNvPr>
          <p:cNvSpPr>
            <a:spLocks noGrp="1"/>
          </p:cNvSpPr>
          <p:nvPr>
            <p:ph type="title"/>
          </p:nvPr>
        </p:nvSpPr>
        <p:spPr>
          <a:xfrm>
            <a:off x="2549236" y="533614"/>
            <a:ext cx="9210963" cy="888786"/>
          </a:xfrm>
        </p:spPr>
        <p:txBody>
          <a:bodyPr anchor="t">
            <a:normAutofit/>
          </a:bodyPr>
          <a:lstStyle/>
          <a:p>
            <a:r>
              <a:rPr lang="en-GB" dirty="0"/>
              <a:t>Axioms of probability</a:t>
            </a:r>
          </a:p>
        </p:txBody>
      </p:sp>
      <p:pic>
        <p:nvPicPr>
          <p:cNvPr id="6" name="Picture 5">
            <a:extLst>
              <a:ext uri="{FF2B5EF4-FFF2-40B4-BE49-F238E27FC236}">
                <a16:creationId xmlns:a16="http://schemas.microsoft.com/office/drawing/2014/main" id="{93DF85EC-A6BB-3FB5-CAD3-DCFB30276AB6}"/>
              </a:ext>
            </a:extLst>
          </p:cNvPr>
          <p:cNvPicPr>
            <a:picLocks noChangeAspect="1"/>
          </p:cNvPicPr>
          <p:nvPr/>
        </p:nvPicPr>
        <p:blipFill>
          <a:blip r:embed="rId2"/>
          <a:stretch>
            <a:fillRect/>
          </a:stretch>
        </p:blipFill>
        <p:spPr>
          <a:xfrm>
            <a:off x="0" y="1679018"/>
            <a:ext cx="12192000" cy="1013621"/>
          </a:xfrm>
          <a:prstGeom prst="rect">
            <a:avLst/>
          </a:prstGeom>
        </p:spPr>
      </p:pic>
      <p:pic>
        <p:nvPicPr>
          <p:cNvPr id="8" name="Picture 7">
            <a:extLst>
              <a:ext uri="{FF2B5EF4-FFF2-40B4-BE49-F238E27FC236}">
                <a16:creationId xmlns:a16="http://schemas.microsoft.com/office/drawing/2014/main" id="{9719D2AD-DD5E-F231-FFFC-7C47A6E7096F}"/>
              </a:ext>
            </a:extLst>
          </p:cNvPr>
          <p:cNvPicPr>
            <a:picLocks noChangeAspect="1"/>
          </p:cNvPicPr>
          <p:nvPr/>
        </p:nvPicPr>
        <p:blipFill>
          <a:blip r:embed="rId3"/>
          <a:stretch>
            <a:fillRect/>
          </a:stretch>
        </p:blipFill>
        <p:spPr>
          <a:xfrm>
            <a:off x="0" y="2750810"/>
            <a:ext cx="12192000" cy="1110970"/>
          </a:xfrm>
          <a:prstGeom prst="rect">
            <a:avLst/>
          </a:prstGeom>
        </p:spPr>
      </p:pic>
      <p:pic>
        <p:nvPicPr>
          <p:cNvPr id="10" name="Picture 9">
            <a:extLst>
              <a:ext uri="{FF2B5EF4-FFF2-40B4-BE49-F238E27FC236}">
                <a16:creationId xmlns:a16="http://schemas.microsoft.com/office/drawing/2014/main" id="{2D24785B-8A36-4DBD-8E7A-ED8063F31A6B}"/>
              </a:ext>
            </a:extLst>
          </p:cNvPr>
          <p:cNvPicPr>
            <a:picLocks noChangeAspect="1"/>
          </p:cNvPicPr>
          <p:nvPr/>
        </p:nvPicPr>
        <p:blipFill>
          <a:blip r:embed="rId4"/>
          <a:stretch>
            <a:fillRect/>
          </a:stretch>
        </p:blipFill>
        <p:spPr>
          <a:xfrm>
            <a:off x="0" y="3916576"/>
            <a:ext cx="12192000" cy="1345127"/>
          </a:xfrm>
          <a:prstGeom prst="rect">
            <a:avLst/>
          </a:prstGeom>
        </p:spPr>
      </p:pic>
      <p:pic>
        <p:nvPicPr>
          <p:cNvPr id="14" name="Picture 13">
            <a:extLst>
              <a:ext uri="{FF2B5EF4-FFF2-40B4-BE49-F238E27FC236}">
                <a16:creationId xmlns:a16="http://schemas.microsoft.com/office/drawing/2014/main" id="{D6D727F5-5783-086C-CE84-CA6F019C9AC5}"/>
              </a:ext>
            </a:extLst>
          </p:cNvPr>
          <p:cNvPicPr>
            <a:picLocks noChangeAspect="1"/>
          </p:cNvPicPr>
          <p:nvPr/>
        </p:nvPicPr>
        <p:blipFill>
          <a:blip r:embed="rId5"/>
          <a:stretch>
            <a:fillRect/>
          </a:stretch>
        </p:blipFill>
        <p:spPr>
          <a:xfrm>
            <a:off x="0" y="5308386"/>
            <a:ext cx="12192000" cy="1016000"/>
          </a:xfrm>
          <a:prstGeom prst="rect">
            <a:avLst/>
          </a:prstGeom>
        </p:spPr>
      </p:pic>
    </p:spTree>
    <p:extLst>
      <p:ext uri="{BB962C8B-B14F-4D97-AF65-F5344CB8AC3E}">
        <p14:creationId xmlns:p14="http://schemas.microsoft.com/office/powerpoint/2010/main" val="173361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D4E1B-F6E5-5A05-EB7C-55601B95D1B5}"/>
              </a:ext>
            </a:extLst>
          </p:cNvPr>
          <p:cNvSpPr>
            <a:spLocks noGrp="1"/>
          </p:cNvSpPr>
          <p:nvPr>
            <p:ph type="title"/>
          </p:nvPr>
        </p:nvSpPr>
        <p:spPr>
          <a:xfrm>
            <a:off x="2549236" y="533614"/>
            <a:ext cx="9210963" cy="888786"/>
          </a:xfrm>
        </p:spPr>
        <p:txBody>
          <a:bodyPr anchor="t">
            <a:normAutofit/>
          </a:bodyPr>
          <a:lstStyle/>
          <a:p>
            <a:r>
              <a:rPr lang="en-GB" b="1" i="0">
                <a:effectLst/>
              </a:rPr>
              <a:t>Random variables and distributions</a:t>
            </a:r>
            <a:endParaRPr lang="en-GB" dirty="0"/>
          </a:p>
        </p:txBody>
      </p:sp>
      <p:pic>
        <p:nvPicPr>
          <p:cNvPr id="11" name="Picture 10" descr="Two dice on a white surface&#10;&#10;Description automatically generated">
            <a:extLst>
              <a:ext uri="{FF2B5EF4-FFF2-40B4-BE49-F238E27FC236}">
                <a16:creationId xmlns:a16="http://schemas.microsoft.com/office/drawing/2014/main" id="{26B6E9B7-2F6D-23A9-73B6-84EEC615CC32}"/>
              </a:ext>
            </a:extLst>
          </p:cNvPr>
          <p:cNvPicPr>
            <a:picLocks noChangeAspect="1"/>
          </p:cNvPicPr>
          <p:nvPr/>
        </p:nvPicPr>
        <p:blipFill>
          <a:blip r:embed="rId2" cstate="print">
            <a:extLst>
              <a:ext uri="{28A0092B-C50C-407E-A947-70E740481C1C}">
                <a14:useLocalDpi xmlns:a14="http://schemas.microsoft.com/office/drawing/2010/main" val="0"/>
              </a:ext>
            </a:extLst>
          </a:blip>
          <a:srcRect l="11539" r="3678" b="3"/>
          <a:stretch/>
        </p:blipFill>
        <p:spPr>
          <a:xfrm>
            <a:off x="-1" y="2906192"/>
            <a:ext cx="2452283" cy="2162020"/>
          </a:xfrm>
          <a:prstGeom prst="rect">
            <a:avLst/>
          </a:prstGeom>
          <a:noFill/>
        </p:spPr>
      </p:pic>
      <p:sp>
        <p:nvSpPr>
          <p:cNvPr id="3" name="Content Placeholder 2">
            <a:extLst>
              <a:ext uri="{FF2B5EF4-FFF2-40B4-BE49-F238E27FC236}">
                <a16:creationId xmlns:a16="http://schemas.microsoft.com/office/drawing/2014/main" id="{9009BE11-EC1A-98AE-59C7-6910D6A69E97}"/>
              </a:ext>
            </a:extLst>
          </p:cNvPr>
          <p:cNvSpPr>
            <a:spLocks noGrp="1"/>
          </p:cNvSpPr>
          <p:nvPr>
            <p:ph type="body" sz="quarter" idx="14"/>
          </p:nvPr>
        </p:nvSpPr>
        <p:spPr>
          <a:xfrm>
            <a:off x="2549235" y="1705343"/>
            <a:ext cx="9210963" cy="4526124"/>
          </a:xfrm>
        </p:spPr>
        <p:txBody>
          <a:bodyPr>
            <a:normAutofit/>
          </a:bodyPr>
          <a:lstStyle/>
          <a:p>
            <a:pPr marL="0" indent="0">
              <a:buNone/>
            </a:pPr>
            <a:r>
              <a:rPr lang="en-US" b="0" i="0" dirty="0">
                <a:effectLst/>
              </a:rPr>
              <a:t>A </a:t>
            </a:r>
            <a:r>
              <a:rPr lang="en-US" b="1" i="0" dirty="0">
                <a:solidFill>
                  <a:schemeClr val="accent5"/>
                </a:solidFill>
                <a:effectLst/>
              </a:rPr>
              <a:t>random variable</a:t>
            </a:r>
            <a:r>
              <a:rPr lang="en-US" b="0" i="0" dirty="0">
                <a:effectLst/>
              </a:rPr>
              <a:t> is a variable that can take on different values, but we do not know what value it has; i.e. one that is "unassigned". </a:t>
            </a:r>
          </a:p>
          <a:p>
            <a:pPr marL="0" indent="0">
              <a:buNone/>
            </a:pPr>
            <a:r>
              <a:rPr lang="en-US" b="0" i="0" dirty="0">
                <a:effectLst/>
              </a:rPr>
              <a:t>However, we have </a:t>
            </a:r>
            <a:r>
              <a:rPr lang="en-US" b="0" i="1" dirty="0">
                <a:solidFill>
                  <a:schemeClr val="accent5"/>
                </a:solidFill>
                <a:effectLst/>
              </a:rPr>
              <a:t>some knowledge </a:t>
            </a:r>
            <a:r>
              <a:rPr lang="en-US" b="0" i="0" dirty="0">
                <a:effectLst/>
              </a:rPr>
              <a:t>which captures the possible states the variable could take on, and their corresponding probabilities. </a:t>
            </a:r>
          </a:p>
          <a:p>
            <a:pPr marL="0" indent="0">
              <a:buNone/>
            </a:pPr>
            <a:r>
              <a:rPr lang="en-US" b="0" i="0" dirty="0">
                <a:effectLst/>
              </a:rPr>
              <a:t>Probability theory allows us to manipulate random variables without having to assign them a specific value.</a:t>
            </a:r>
          </a:p>
          <a:p>
            <a:endParaRPr lang="en-GB" dirty="0"/>
          </a:p>
        </p:txBody>
      </p:sp>
    </p:spTree>
    <p:extLst>
      <p:ext uri="{BB962C8B-B14F-4D97-AF65-F5344CB8AC3E}">
        <p14:creationId xmlns:p14="http://schemas.microsoft.com/office/powerpoint/2010/main" val="3629011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2FD8-38AE-6108-5F50-608B251EB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FE41B-2172-B5A5-3B31-7886910B2259}"/>
              </a:ext>
            </a:extLst>
          </p:cNvPr>
          <p:cNvSpPr>
            <a:spLocks noGrp="1"/>
          </p:cNvSpPr>
          <p:nvPr>
            <p:ph type="title"/>
          </p:nvPr>
        </p:nvSpPr>
        <p:spPr>
          <a:xfrm>
            <a:off x="2549236" y="533614"/>
            <a:ext cx="9210963" cy="888786"/>
          </a:xfrm>
        </p:spPr>
        <p:txBody>
          <a:bodyPr anchor="t">
            <a:normAutofit/>
          </a:bodyPr>
          <a:lstStyle/>
          <a:p>
            <a:r>
              <a:rPr lang="en-GB" b="1" i="0">
                <a:effectLst/>
              </a:rPr>
              <a:t>Random variables and distributions</a:t>
            </a:r>
            <a:endParaRPr lang="en-GB" dirty="0"/>
          </a:p>
        </p:txBody>
      </p:sp>
      <p:pic>
        <p:nvPicPr>
          <p:cNvPr id="8" name="Picture 7" descr="Two dice on a white surface&#10;&#10;Description automatically generated">
            <a:extLst>
              <a:ext uri="{FF2B5EF4-FFF2-40B4-BE49-F238E27FC236}">
                <a16:creationId xmlns:a16="http://schemas.microsoft.com/office/drawing/2014/main" id="{90B9A647-1E0B-5B09-F441-57DA88E2AC1D}"/>
              </a:ext>
            </a:extLst>
          </p:cNvPr>
          <p:cNvPicPr>
            <a:picLocks noChangeAspect="1"/>
          </p:cNvPicPr>
          <p:nvPr/>
        </p:nvPicPr>
        <p:blipFill>
          <a:blip r:embed="rId2" cstate="print">
            <a:extLst>
              <a:ext uri="{28A0092B-C50C-407E-A947-70E740481C1C}">
                <a14:useLocalDpi xmlns:a14="http://schemas.microsoft.com/office/drawing/2010/main" val="0"/>
              </a:ext>
            </a:extLst>
          </a:blip>
          <a:srcRect l="11539" r="3678" b="3"/>
          <a:stretch/>
        </p:blipFill>
        <p:spPr>
          <a:xfrm>
            <a:off x="-1" y="2906192"/>
            <a:ext cx="2452283" cy="2162020"/>
          </a:xfrm>
          <a:prstGeom prst="rect">
            <a:avLst/>
          </a:prstGeom>
          <a:noFill/>
        </p:spPr>
      </p:pic>
      <p:sp>
        <p:nvSpPr>
          <p:cNvPr id="7" name="Content Placeholder 3">
            <a:extLst>
              <a:ext uri="{FF2B5EF4-FFF2-40B4-BE49-F238E27FC236}">
                <a16:creationId xmlns:a16="http://schemas.microsoft.com/office/drawing/2014/main" id="{463C1E9E-3419-6B50-7AD6-362D1782F8C9}"/>
              </a:ext>
            </a:extLst>
          </p:cNvPr>
          <p:cNvSpPr>
            <a:spLocks noGrp="1"/>
          </p:cNvSpPr>
          <p:nvPr>
            <p:ph type="body" sz="quarter" idx="14"/>
          </p:nvPr>
        </p:nvSpPr>
        <p:spPr>
          <a:xfrm>
            <a:off x="2549235" y="1705343"/>
            <a:ext cx="9210963" cy="4526124"/>
          </a:xfrm>
        </p:spPr>
        <p:txBody>
          <a:bodyPr>
            <a:normAutofit/>
          </a:bodyPr>
          <a:lstStyle/>
          <a:p>
            <a:pPr marL="0" indent="0">
              <a:buNone/>
            </a:pPr>
            <a:r>
              <a:rPr lang="en-US" b="0" i="0" dirty="0">
                <a:effectLst/>
              </a:rPr>
              <a:t>A random variable is written with a capital letter, like </a:t>
            </a:r>
            <a:r>
              <a:rPr lang="en-US" i="1" dirty="0">
                <a:solidFill>
                  <a:schemeClr val="accent4"/>
                </a:solidFill>
                <a:latin typeface="Century Schoolbook" panose="02040604050505020304" pitchFamily="18" charset="0"/>
              </a:rPr>
              <a:t>X</a:t>
            </a:r>
            <a:r>
              <a:rPr lang="en-US" b="0" i="0" dirty="0">
                <a:effectLst/>
              </a:rPr>
              <a:t>.</a:t>
            </a:r>
          </a:p>
          <a:p>
            <a:pPr marL="0" indent="0">
              <a:buNone/>
            </a:pPr>
            <a:r>
              <a:rPr lang="en-US" b="0" i="0" dirty="0">
                <a:effectLst/>
              </a:rPr>
              <a:t>A random variable might represent:</a:t>
            </a:r>
          </a:p>
          <a:p>
            <a:pPr lvl="1"/>
            <a:r>
              <a:rPr lang="en-US" b="0" i="0" dirty="0">
                <a:effectLst/>
              </a:rPr>
              <a:t>the outcome of dice throw (discrete);</a:t>
            </a:r>
          </a:p>
          <a:p>
            <a:pPr lvl="1"/>
            <a:r>
              <a:rPr lang="en-US" b="0" i="0" dirty="0">
                <a:effectLst/>
              </a:rPr>
              <a:t>whether or not it is raining outside (discrete: binary);</a:t>
            </a:r>
          </a:p>
          <a:p>
            <a:pPr lvl="1"/>
            <a:r>
              <a:rPr lang="en-US" b="0" i="0" dirty="0">
                <a:effectLst/>
              </a:rPr>
              <a:t>the latitude of the USS Scorpion (continuous);</a:t>
            </a:r>
          </a:p>
          <a:p>
            <a:pPr lvl="1"/>
            <a:r>
              <a:rPr lang="en-US" b="0" i="0" dirty="0">
                <a:effectLst/>
              </a:rPr>
              <a:t>the height of person we haven't met yet (continuous).</a:t>
            </a:r>
          </a:p>
          <a:p>
            <a:endParaRPr lang="en-GB" dirty="0"/>
          </a:p>
        </p:txBody>
      </p:sp>
    </p:spTree>
    <p:extLst>
      <p:ext uri="{BB962C8B-B14F-4D97-AF65-F5344CB8AC3E}">
        <p14:creationId xmlns:p14="http://schemas.microsoft.com/office/powerpoint/2010/main" val="886389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E4512C-8375-0B9B-0EC9-55A6B244AC4A}"/>
              </a:ext>
            </a:extLst>
          </p:cNvPr>
          <p:cNvSpPr>
            <a:spLocks noGrp="1"/>
          </p:cNvSpPr>
          <p:nvPr>
            <p:ph type="title"/>
          </p:nvPr>
        </p:nvSpPr>
        <p:spPr>
          <a:xfrm>
            <a:off x="2549236" y="533614"/>
            <a:ext cx="9210963" cy="888786"/>
          </a:xfrm>
        </p:spPr>
        <p:txBody>
          <a:bodyPr anchor="t">
            <a:normAutofit/>
          </a:bodyPr>
          <a:lstStyle/>
          <a:p>
            <a:r>
              <a:rPr lang="en-GB" dirty="0"/>
              <a:t>Distributions</a:t>
            </a:r>
          </a:p>
        </p:txBody>
      </p:sp>
      <p:pic>
        <p:nvPicPr>
          <p:cNvPr id="5" name="Content Placeholder 4" descr="A graph with text and numbers&#10;&#10;Description automatically generated">
            <a:extLst>
              <a:ext uri="{FF2B5EF4-FFF2-40B4-BE49-F238E27FC236}">
                <a16:creationId xmlns:a16="http://schemas.microsoft.com/office/drawing/2014/main" id="{9A9E2EC4-DB51-971B-7D20-1584C8E8CC5A}"/>
              </a:ext>
            </a:extLst>
          </p:cNvPr>
          <p:cNvPicPr>
            <a:picLocks noChangeAspect="1"/>
          </p:cNvPicPr>
          <p:nvPr/>
        </p:nvPicPr>
        <p:blipFill>
          <a:blip r:embed="rId3"/>
          <a:stretch>
            <a:fillRect/>
          </a:stretch>
        </p:blipFill>
        <p:spPr>
          <a:xfrm>
            <a:off x="0" y="1936363"/>
            <a:ext cx="2452283" cy="1348755"/>
          </a:xfrm>
          <a:prstGeom prst="rect">
            <a:avLst/>
          </a:prstGeom>
          <a:noFill/>
        </p:spPr>
      </p:pic>
      <p:sp>
        <p:nvSpPr>
          <p:cNvPr id="2" name="Content Placeholder 1">
            <a:extLst>
              <a:ext uri="{FF2B5EF4-FFF2-40B4-BE49-F238E27FC236}">
                <a16:creationId xmlns:a16="http://schemas.microsoft.com/office/drawing/2014/main" id="{0DC32C11-C333-1E27-8987-B4C1A8F006F4}"/>
              </a:ext>
            </a:extLst>
          </p:cNvPr>
          <p:cNvSpPr>
            <a:spLocks noGrp="1"/>
          </p:cNvSpPr>
          <p:nvPr>
            <p:ph type="body" sz="quarter" idx="14"/>
          </p:nvPr>
        </p:nvSpPr>
        <p:spPr>
          <a:xfrm>
            <a:off x="2549235" y="1705343"/>
            <a:ext cx="9210963" cy="4526124"/>
          </a:xfrm>
        </p:spPr>
        <p:txBody>
          <a:bodyPr>
            <a:normAutofit/>
          </a:bodyPr>
          <a:lstStyle/>
          <a:p>
            <a:pPr marL="0" indent="0">
              <a:buNone/>
            </a:pPr>
            <a:r>
              <a:rPr lang="en-US" b="0" i="0" dirty="0">
                <a:effectLst/>
              </a:rPr>
              <a:t>A </a:t>
            </a:r>
            <a:r>
              <a:rPr lang="en-US" b="1" i="0" dirty="0">
                <a:solidFill>
                  <a:schemeClr val="accent5"/>
                </a:solidFill>
                <a:effectLst/>
              </a:rPr>
              <a:t>probability distribution</a:t>
            </a:r>
            <a:r>
              <a:rPr lang="en-US" b="0" i="0" dirty="0">
                <a:effectLst/>
              </a:rPr>
              <a:t> defines how likely different states of a random variable are.</a:t>
            </a:r>
            <a:endParaRPr lang="en-US" dirty="0"/>
          </a:p>
          <a:p>
            <a:pPr marL="0" indent="0">
              <a:buNone/>
            </a:pPr>
            <a:r>
              <a:rPr lang="en-US" b="0" i="0" dirty="0">
                <a:effectLst/>
              </a:rPr>
              <a:t>We can see </a:t>
            </a:r>
            <a:r>
              <a:rPr lang="en-US" i="1" dirty="0">
                <a:solidFill>
                  <a:schemeClr val="accent4"/>
                </a:solidFill>
              </a:rPr>
              <a:t>X</a:t>
            </a:r>
            <a:r>
              <a:rPr lang="en-US" b="0" i="0" dirty="0">
                <a:effectLst/>
              </a:rPr>
              <a:t> as the </a:t>
            </a:r>
            <a:r>
              <a:rPr lang="en-US" b="0" i="1" dirty="0">
                <a:solidFill>
                  <a:schemeClr val="accent5"/>
                </a:solidFill>
                <a:effectLst/>
              </a:rPr>
              <a:t>experiment</a:t>
            </a:r>
            <a:r>
              <a:rPr lang="en-US" b="0" i="0" dirty="0">
                <a:effectLst/>
              </a:rPr>
              <a:t> and </a:t>
            </a:r>
            <a:r>
              <a:rPr lang="en-US" i="1" dirty="0">
                <a:solidFill>
                  <a:schemeClr val="accent4"/>
                </a:solidFill>
              </a:rPr>
              <a:t>x</a:t>
            </a:r>
            <a:r>
              <a:rPr lang="en-US" b="0" i="0" dirty="0">
                <a:effectLst/>
              </a:rPr>
              <a:t> as the </a:t>
            </a:r>
            <a:r>
              <a:rPr lang="en-US" b="0" i="1" dirty="0">
                <a:solidFill>
                  <a:schemeClr val="accent5"/>
                </a:solidFill>
                <a:effectLst/>
              </a:rPr>
              <a:t>outcome</a:t>
            </a:r>
            <a:r>
              <a:rPr lang="en-US" b="0" i="0" dirty="0">
                <a:effectLst/>
              </a:rPr>
              <a:t>, with a function mapping every possible outcome to a probability. </a:t>
            </a:r>
          </a:p>
          <a:p>
            <a:pPr marL="0" indent="0">
              <a:buNone/>
            </a:pPr>
            <a:r>
              <a:rPr lang="en-US" b="0" i="0" dirty="0">
                <a:effectLst/>
              </a:rPr>
              <a:t>We write </a:t>
            </a:r>
            <a:r>
              <a:rPr lang="en-US" i="1" dirty="0">
                <a:solidFill>
                  <a:schemeClr val="accent4"/>
                </a:solidFill>
              </a:rPr>
              <a:t>P(X=x)</a:t>
            </a:r>
            <a:r>
              <a:rPr lang="en-US" b="0" i="0" dirty="0">
                <a:effectLst/>
              </a:rPr>
              <a:t> (note the case!), and use the shorthand notations:</a:t>
            </a:r>
          </a:p>
          <a:p>
            <a:pPr lvl="1"/>
            <a:r>
              <a:rPr lang="en-US" i="1" dirty="0">
                <a:solidFill>
                  <a:schemeClr val="accent4"/>
                </a:solidFill>
              </a:rPr>
              <a:t>P(X=x)</a:t>
            </a:r>
            <a:r>
              <a:rPr lang="en-US" i="1" dirty="0"/>
              <a:t> </a:t>
            </a:r>
            <a:r>
              <a:rPr lang="en-US" dirty="0"/>
              <a:t>the probability of random variable </a:t>
            </a:r>
            <a:r>
              <a:rPr lang="en-US" i="1" dirty="0">
                <a:solidFill>
                  <a:schemeClr val="accent4"/>
                </a:solidFill>
              </a:rPr>
              <a:t>X</a:t>
            </a:r>
            <a:r>
              <a:rPr lang="en-US" dirty="0"/>
              <a:t> taking on value </a:t>
            </a:r>
            <a:r>
              <a:rPr lang="en-US" i="1" dirty="0">
                <a:solidFill>
                  <a:schemeClr val="accent4"/>
                </a:solidFill>
              </a:rPr>
              <a:t>x</a:t>
            </a:r>
          </a:p>
          <a:p>
            <a:pPr lvl="1"/>
            <a:r>
              <a:rPr lang="en-US" i="1" dirty="0">
                <a:solidFill>
                  <a:schemeClr val="accent4"/>
                </a:solidFill>
              </a:rPr>
              <a:t>P(X)</a:t>
            </a:r>
            <a:r>
              <a:rPr lang="en-US" dirty="0"/>
              <a:t> shorthand for probability of </a:t>
            </a:r>
            <a:r>
              <a:rPr lang="en-US" i="1" dirty="0">
                <a:solidFill>
                  <a:schemeClr val="accent4"/>
                </a:solidFill>
              </a:rPr>
              <a:t>X=x</a:t>
            </a:r>
          </a:p>
          <a:p>
            <a:pPr lvl="1"/>
            <a:r>
              <a:rPr lang="en-US" i="1" dirty="0">
                <a:solidFill>
                  <a:schemeClr val="accent4"/>
                </a:solidFill>
              </a:rPr>
              <a:t>P(x)</a:t>
            </a:r>
            <a:r>
              <a:rPr lang="en-US" dirty="0"/>
              <a:t> shorthand for probability of specific value </a:t>
            </a:r>
            <a:r>
              <a:rPr lang="en-US" i="1" dirty="0">
                <a:solidFill>
                  <a:schemeClr val="accent4"/>
                </a:solidFill>
              </a:rPr>
              <a:t>X=x</a:t>
            </a:r>
          </a:p>
        </p:txBody>
      </p:sp>
      <p:pic>
        <p:nvPicPr>
          <p:cNvPr id="14338" name="Picture 2" descr="Expected value - Wikipedia">
            <a:extLst>
              <a:ext uri="{FF2B5EF4-FFF2-40B4-BE49-F238E27FC236}">
                <a16:creationId xmlns:a16="http://schemas.microsoft.com/office/drawing/2014/main" id="{C09E77C8-590D-E9F7-540F-52E6C7946A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878582"/>
            <a:ext cx="2452283" cy="1226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189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7DDDBA-1574-BF66-B33D-5F090B975F97}"/>
              </a:ext>
            </a:extLst>
          </p:cNvPr>
          <p:cNvSpPr>
            <a:spLocks noGrp="1"/>
          </p:cNvSpPr>
          <p:nvPr>
            <p:ph sz="half" idx="1"/>
          </p:nvPr>
        </p:nvSpPr>
        <p:spPr>
          <a:xfrm>
            <a:off x="838199" y="1608667"/>
            <a:ext cx="10921999" cy="4568296"/>
          </a:xfrm>
        </p:spPr>
        <p:txBody>
          <a:bodyPr>
            <a:normAutofit/>
          </a:bodyPr>
          <a:lstStyle/>
          <a:p>
            <a:pPr marL="0" indent="0" algn="l">
              <a:buNone/>
            </a:pPr>
            <a:r>
              <a:rPr lang="en-US" b="0" i="0" dirty="0">
                <a:effectLst/>
                <a:latin typeface="system-ui"/>
              </a:rPr>
              <a:t>Random variables can be continuous (e.g. the height of a person) or discrete (the value showing on the face of a dice).</a:t>
            </a:r>
          </a:p>
          <a:p>
            <a:pPr algn="l">
              <a:buFont typeface="Arial" panose="020B0604020202020204" pitchFamily="34" charset="0"/>
              <a:buChar char="•"/>
            </a:pPr>
            <a:r>
              <a:rPr lang="en-US" b="1" i="0" dirty="0">
                <a:effectLst/>
                <a:latin typeface="system-ui"/>
              </a:rPr>
              <a:t>Discrete variables:</a:t>
            </a:r>
            <a:r>
              <a:rPr lang="en-US" b="0" i="0" dirty="0">
                <a:effectLst/>
                <a:latin typeface="system-ui"/>
              </a:rPr>
              <a:t> The distribution of a discrete random variable is described with a </a:t>
            </a:r>
            <a:r>
              <a:rPr lang="en-US" b="1" i="0" dirty="0">
                <a:solidFill>
                  <a:schemeClr val="accent5"/>
                </a:solidFill>
                <a:effectLst/>
                <a:latin typeface="system-ui"/>
              </a:rPr>
              <a:t>probability mass function</a:t>
            </a:r>
            <a:r>
              <a:rPr lang="en-US" b="0" i="0" dirty="0">
                <a:solidFill>
                  <a:schemeClr val="accent5"/>
                </a:solidFill>
                <a:effectLst/>
                <a:latin typeface="system-ui"/>
              </a:rPr>
              <a:t> </a:t>
            </a:r>
            <a:r>
              <a:rPr lang="en-US" b="0" i="0" dirty="0">
                <a:effectLst/>
                <a:latin typeface="system-ui"/>
              </a:rPr>
              <a:t>(PMF) which gives each outcome a specific value; imagine a Python dictionary mapping outcomes to probabilities. The PMF is usually written </a:t>
            </a:r>
            <a:r>
              <a:rPr lang="en-US" b="0" i="1" dirty="0" err="1">
                <a:effectLst/>
                <a:latin typeface="Century Schoolbook" panose="02040604050505020304" pitchFamily="18" charset="0"/>
                <a:cs typeface="Times New Roman" panose="02020603050405020304" pitchFamily="18" charset="0"/>
              </a:rPr>
              <a:t>f</a:t>
            </a:r>
            <a:r>
              <a:rPr lang="en-US" b="0" i="1" baseline="-25000" dirty="0" err="1">
                <a:effectLst/>
                <a:latin typeface="Century Schoolbook" panose="02040604050505020304" pitchFamily="18" charset="0"/>
                <a:cs typeface="Times New Roman" panose="02020603050405020304" pitchFamily="18" charset="0"/>
              </a:rPr>
              <a:t>X</a:t>
            </a:r>
            <a:r>
              <a:rPr lang="en-US" b="0" i="1" dirty="0">
                <a:effectLst/>
                <a:latin typeface="Century Schoolbook" panose="02040604050505020304" pitchFamily="18" charset="0"/>
                <a:cs typeface="Times New Roman" panose="02020603050405020304" pitchFamily="18" charset="0"/>
              </a:rPr>
              <a:t>(x)</a:t>
            </a:r>
            <a:r>
              <a:rPr lang="en-US" b="0" dirty="0">
                <a:effectLst/>
                <a:latin typeface="system-ui"/>
              </a:rPr>
              <a:t>, </a:t>
            </a:r>
            <a:r>
              <a:rPr lang="en-US" b="0" i="0" dirty="0">
                <a:effectLst/>
                <a:latin typeface="system-ui"/>
              </a:rPr>
              <a:t>where </a:t>
            </a:r>
            <a:r>
              <a:rPr lang="en-US" b="0" i="1" dirty="0">
                <a:effectLst/>
                <a:latin typeface="Century Schoolbook" panose="02040604050505020304" pitchFamily="18" charset="0"/>
                <a:cs typeface="Times New Roman" panose="02020603050405020304" pitchFamily="18" charset="0"/>
              </a:rPr>
              <a:t>P(X=x)=</a:t>
            </a:r>
            <a:r>
              <a:rPr lang="en-US" b="0" i="1" dirty="0" err="1">
                <a:effectLst/>
                <a:latin typeface="Century Schoolbook" panose="02040604050505020304" pitchFamily="18" charset="0"/>
                <a:cs typeface="Times New Roman" panose="02020603050405020304" pitchFamily="18" charset="0"/>
              </a:rPr>
              <a:t>f</a:t>
            </a:r>
            <a:r>
              <a:rPr lang="en-US" b="0" i="1" baseline="-25000" dirty="0" err="1">
                <a:effectLst/>
                <a:latin typeface="Century Schoolbook" panose="02040604050505020304" pitchFamily="18" charset="0"/>
                <a:cs typeface="Times New Roman" panose="02020603050405020304" pitchFamily="18" charset="0"/>
              </a:rPr>
              <a:t>X</a:t>
            </a:r>
            <a:r>
              <a:rPr lang="en-US" b="0" i="1" dirty="0">
                <a:effectLst/>
                <a:latin typeface="Century Schoolbook" panose="02040604050505020304" pitchFamily="18" charset="0"/>
                <a:cs typeface="Times New Roman" panose="02020603050405020304" pitchFamily="18" charset="0"/>
              </a:rPr>
              <a:t>(x).</a:t>
            </a:r>
          </a:p>
          <a:p>
            <a:pPr algn="l">
              <a:buFont typeface="Arial" panose="020B0604020202020204" pitchFamily="34" charset="0"/>
              <a:buChar char="•"/>
            </a:pPr>
            <a:r>
              <a:rPr lang="en-US" b="1" i="0" dirty="0">
                <a:effectLst/>
                <a:latin typeface="system-ui"/>
              </a:rPr>
              <a:t>Continuous variables:</a:t>
            </a:r>
            <a:r>
              <a:rPr lang="en-US" b="0" i="0" dirty="0">
                <a:effectLst/>
                <a:latin typeface="system-ui"/>
              </a:rPr>
              <a:t> A continuous variable has a </a:t>
            </a:r>
            <a:r>
              <a:rPr lang="en-US" b="1" i="0" dirty="0">
                <a:solidFill>
                  <a:schemeClr val="accent5"/>
                </a:solidFill>
                <a:effectLst/>
                <a:latin typeface="system-ui"/>
              </a:rPr>
              <a:t>probability density function</a:t>
            </a:r>
            <a:r>
              <a:rPr lang="en-US" b="0" i="0" dirty="0">
                <a:solidFill>
                  <a:schemeClr val="accent5"/>
                </a:solidFill>
                <a:effectLst/>
                <a:latin typeface="system-ui"/>
              </a:rPr>
              <a:t> </a:t>
            </a:r>
            <a:r>
              <a:rPr lang="en-US" b="0" i="0" dirty="0">
                <a:effectLst/>
                <a:latin typeface="system-ui"/>
              </a:rPr>
              <a:t>(PDF) which specifies the spread of the probability over outcomes as a </a:t>
            </a:r>
            <a:r>
              <a:rPr lang="en-US" b="0" i="1" dirty="0">
                <a:effectLst/>
                <a:latin typeface="system-ui"/>
              </a:rPr>
              <a:t>continuous function</a:t>
            </a:r>
            <a:r>
              <a:rPr lang="en-US" b="0" i="0" dirty="0">
                <a:effectLst/>
                <a:latin typeface="system-ui"/>
              </a:rPr>
              <a:t> </a:t>
            </a:r>
            <a:r>
              <a:rPr lang="en-US" b="0" i="1" dirty="0" err="1">
                <a:effectLst/>
                <a:latin typeface="Century Schoolbook" panose="02040604050505020304" pitchFamily="18" charset="0"/>
              </a:rPr>
              <a:t>f</a:t>
            </a:r>
            <a:r>
              <a:rPr lang="en-US" b="0" i="1" baseline="-25000" dirty="0" err="1">
                <a:effectLst/>
                <a:latin typeface="Century Schoolbook" panose="02040604050505020304" pitchFamily="18" charset="0"/>
              </a:rPr>
              <a:t>X</a:t>
            </a:r>
            <a:r>
              <a:rPr lang="en-US" b="0" i="1" dirty="0">
                <a:effectLst/>
                <a:latin typeface="Century Schoolbook" panose="02040604050505020304" pitchFamily="18" charset="0"/>
              </a:rPr>
              <a:t>(x)</a:t>
            </a:r>
            <a:r>
              <a:rPr lang="en-US" b="0" i="0" dirty="0">
                <a:effectLst/>
                <a:latin typeface="Century Schoolbook" panose="02040604050505020304" pitchFamily="18" charset="0"/>
              </a:rPr>
              <a:t>. </a:t>
            </a:r>
          </a:p>
          <a:p>
            <a:pPr lvl="1"/>
            <a:r>
              <a:rPr lang="en-US" b="0" i="0" dirty="0">
                <a:effectLst/>
                <a:latin typeface="system-ui"/>
              </a:rPr>
              <a:t>It is </a:t>
            </a:r>
            <a:r>
              <a:rPr lang="en-US" b="1" i="0" dirty="0">
                <a:solidFill>
                  <a:schemeClr val="accent5"/>
                </a:solidFill>
                <a:effectLst/>
                <a:latin typeface="system-ui"/>
              </a:rPr>
              <a:t>not</a:t>
            </a:r>
            <a:r>
              <a:rPr lang="en-US" b="0" i="0" dirty="0">
                <a:effectLst/>
                <a:latin typeface="system-ui"/>
              </a:rPr>
              <a:t> the case that </a:t>
            </a:r>
            <a:r>
              <a:rPr lang="en-US" b="0" i="1" dirty="0">
                <a:effectLst/>
                <a:latin typeface="Century Schoolbook" panose="02040604050505020304" pitchFamily="18" charset="0"/>
                <a:cs typeface="Times New Roman" panose="02020603050405020304" pitchFamily="18" charset="0"/>
              </a:rPr>
              <a:t>P(X=x) = </a:t>
            </a:r>
            <a:r>
              <a:rPr lang="en-US" b="0" i="1" dirty="0" err="1">
                <a:effectLst/>
                <a:latin typeface="Century Schoolbook" panose="02040604050505020304" pitchFamily="18" charset="0"/>
                <a:cs typeface="Times New Roman" panose="02020603050405020304" pitchFamily="18" charset="0"/>
              </a:rPr>
              <a:t>f</a:t>
            </a:r>
            <a:r>
              <a:rPr lang="en-US" b="0" i="1" baseline="-25000" dirty="0" err="1">
                <a:effectLst/>
                <a:latin typeface="Century Schoolbook" panose="02040604050505020304" pitchFamily="18" charset="0"/>
                <a:cs typeface="Times New Roman" panose="02020603050405020304" pitchFamily="18" charset="0"/>
              </a:rPr>
              <a:t>X</a:t>
            </a:r>
            <a:r>
              <a:rPr lang="en-US" b="0" i="1" dirty="0">
                <a:effectLst/>
                <a:latin typeface="Century Schoolbook" panose="02040604050505020304" pitchFamily="18" charset="0"/>
                <a:cs typeface="Times New Roman" panose="02020603050405020304" pitchFamily="18" charset="0"/>
              </a:rPr>
              <a:t>(x) </a:t>
            </a:r>
            <a:r>
              <a:rPr lang="en-US" b="0" i="0" dirty="0">
                <a:effectLst/>
                <a:latin typeface="system-ui"/>
              </a:rPr>
              <a:t>for PDFs.</a:t>
            </a:r>
          </a:p>
          <a:p>
            <a:endParaRPr lang="en-GB" dirty="0"/>
          </a:p>
        </p:txBody>
      </p:sp>
      <p:sp>
        <p:nvSpPr>
          <p:cNvPr id="4" name="Title 3">
            <a:extLst>
              <a:ext uri="{FF2B5EF4-FFF2-40B4-BE49-F238E27FC236}">
                <a16:creationId xmlns:a16="http://schemas.microsoft.com/office/drawing/2014/main" id="{76193FFF-7D3C-AB2A-F23E-B4870DD17987}"/>
              </a:ext>
            </a:extLst>
          </p:cNvPr>
          <p:cNvSpPr>
            <a:spLocks noGrp="1"/>
          </p:cNvSpPr>
          <p:nvPr>
            <p:ph type="title"/>
          </p:nvPr>
        </p:nvSpPr>
        <p:spPr/>
        <p:txBody>
          <a:bodyPr/>
          <a:lstStyle/>
          <a:p>
            <a:r>
              <a:rPr lang="en-GB" dirty="0"/>
              <a:t>Discrete and continuous</a:t>
            </a:r>
          </a:p>
        </p:txBody>
      </p:sp>
    </p:spTree>
    <p:extLst>
      <p:ext uri="{BB962C8B-B14F-4D97-AF65-F5344CB8AC3E}">
        <p14:creationId xmlns:p14="http://schemas.microsoft.com/office/powerpoint/2010/main" val="272914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9053DF-ABEE-0C1B-5294-4B675BEEE7B8}"/>
              </a:ext>
            </a:extLst>
          </p:cNvPr>
          <p:cNvSpPr>
            <a:spLocks noGrp="1"/>
          </p:cNvSpPr>
          <p:nvPr>
            <p:ph type="title"/>
          </p:nvPr>
        </p:nvSpPr>
        <p:spPr>
          <a:xfrm>
            <a:off x="2549236" y="533614"/>
            <a:ext cx="9210963" cy="888786"/>
          </a:xfrm>
        </p:spPr>
        <p:txBody>
          <a:bodyPr anchor="t">
            <a:normAutofit/>
          </a:bodyPr>
          <a:lstStyle/>
          <a:p>
            <a:r>
              <a:rPr lang="en-GB" dirty="0"/>
              <a:t>Integration to unity</a:t>
            </a:r>
          </a:p>
        </p:txBody>
      </p:sp>
      <p:sp>
        <p:nvSpPr>
          <p:cNvPr id="2" name="Content Placeholder 1">
            <a:extLst>
              <a:ext uri="{FF2B5EF4-FFF2-40B4-BE49-F238E27FC236}">
                <a16:creationId xmlns:a16="http://schemas.microsoft.com/office/drawing/2014/main" id="{45AA9765-7B8E-D1F1-FBF2-92DAB7065FEE}"/>
              </a:ext>
            </a:extLst>
          </p:cNvPr>
          <p:cNvSpPr>
            <a:spLocks noGrp="1"/>
          </p:cNvSpPr>
          <p:nvPr>
            <p:ph sz="quarter" idx="13"/>
          </p:nvPr>
        </p:nvSpPr>
        <p:spPr>
          <a:xfrm>
            <a:off x="285750" y="1627188"/>
            <a:ext cx="11474450" cy="4606925"/>
          </a:xfrm>
        </p:spPr>
        <p:txBody>
          <a:bodyPr>
            <a:normAutofit/>
          </a:bodyPr>
          <a:lstStyle/>
          <a:p>
            <a:pPr marL="0" indent="0">
              <a:buNone/>
            </a:pPr>
            <a:r>
              <a:rPr lang="en-US" b="0" i="0" dirty="0">
                <a:effectLst/>
              </a:rPr>
              <a:t>A probability mass function or probability density function </a:t>
            </a:r>
            <a:r>
              <a:rPr lang="en-US" b="0" i="1" dirty="0">
                <a:effectLst/>
              </a:rPr>
              <a:t>must</a:t>
            </a:r>
            <a:r>
              <a:rPr lang="en-US" b="0" i="0" dirty="0">
                <a:effectLst/>
              </a:rPr>
              <a:t> sum/integrate to exactly 1, as the random variable under consideration must take on </a:t>
            </a:r>
            <a:r>
              <a:rPr lang="en-US" b="0" i="1" dirty="0">
                <a:effectLst/>
              </a:rPr>
              <a:t>some</a:t>
            </a:r>
            <a:r>
              <a:rPr lang="en-US" b="0" i="0" dirty="0">
                <a:effectLst/>
              </a:rPr>
              <a:t> value; this is a consequence of unitarity. </a:t>
            </a:r>
          </a:p>
          <a:p>
            <a:pPr marL="0" indent="0">
              <a:buNone/>
            </a:pPr>
            <a:r>
              <a:rPr lang="en-US" b="0" i="1" dirty="0">
                <a:solidFill>
                  <a:schemeClr val="accent5"/>
                </a:solidFill>
                <a:effectLst/>
              </a:rPr>
              <a:t>Every repetition of an experiment has exactly one outcome.</a:t>
            </a:r>
            <a:endParaRPr lang="en-GB" i="1" dirty="0">
              <a:solidFill>
                <a:schemeClr val="accent5"/>
              </a:solidFill>
            </a:endParaRPr>
          </a:p>
        </p:txBody>
      </p:sp>
      <p:pic>
        <p:nvPicPr>
          <p:cNvPr id="6" name="Picture 5">
            <a:extLst>
              <a:ext uri="{FF2B5EF4-FFF2-40B4-BE49-F238E27FC236}">
                <a16:creationId xmlns:a16="http://schemas.microsoft.com/office/drawing/2014/main" id="{5F33230C-5088-6DF8-4671-03F5AE59ABC0}"/>
              </a:ext>
            </a:extLst>
          </p:cNvPr>
          <p:cNvPicPr>
            <a:picLocks noChangeAspect="1"/>
          </p:cNvPicPr>
          <p:nvPr/>
        </p:nvPicPr>
        <p:blipFill>
          <a:blip r:embed="rId2"/>
          <a:stretch>
            <a:fillRect/>
          </a:stretch>
        </p:blipFill>
        <p:spPr>
          <a:xfrm>
            <a:off x="3380605" y="3713914"/>
            <a:ext cx="4896533" cy="1238423"/>
          </a:xfrm>
          <a:prstGeom prst="rect">
            <a:avLst/>
          </a:prstGeom>
        </p:spPr>
      </p:pic>
    </p:spTree>
    <p:extLst>
      <p:ext uri="{BB962C8B-B14F-4D97-AF65-F5344CB8AC3E}">
        <p14:creationId xmlns:p14="http://schemas.microsoft.com/office/powerpoint/2010/main" val="1925306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E3510C-6724-4569-8BF3-F8DC49AB1603}"/>
              </a:ext>
            </a:extLst>
          </p:cNvPr>
          <p:cNvPicPr>
            <a:picLocks noChangeAspect="1"/>
          </p:cNvPicPr>
          <p:nvPr/>
        </p:nvPicPr>
        <p:blipFill>
          <a:blip r:embed="rId2"/>
          <a:stretch>
            <a:fillRect/>
          </a:stretch>
        </p:blipFill>
        <p:spPr>
          <a:xfrm>
            <a:off x="838200" y="2422537"/>
            <a:ext cx="5181600" cy="2940556"/>
          </a:xfrm>
          <a:prstGeom prst="rect">
            <a:avLst/>
          </a:prstGeom>
          <a:noFill/>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896898-B58D-E489-0003-34D81D9850C3}"/>
                  </a:ext>
                </a:extLst>
              </p:cNvPr>
              <p:cNvSpPr>
                <a:spLocks noGrp="1"/>
              </p:cNvSpPr>
              <p:nvPr>
                <p:ph sz="half" idx="2"/>
              </p:nvPr>
            </p:nvSpPr>
            <p:spPr>
              <a:xfrm>
                <a:off x="6172200" y="1608667"/>
                <a:ext cx="5181600" cy="4568296"/>
              </a:xfrm>
            </p:spPr>
            <p:txBody>
              <a:bodyPr>
                <a:normAutofit/>
              </a:bodyPr>
              <a:lstStyle/>
              <a:p>
                <a:pPr marL="0" indent="0">
                  <a:buNone/>
                </a:pPr>
                <a:r>
                  <a:rPr lang="en-US" b="0" i="0">
                    <a:effectLst/>
                  </a:rPr>
                  <a:t>A very simple discrete PMF is the expected value of the sum of two six-faced dice. </a:t>
                </a:r>
              </a:p>
              <a:p>
                <a:pPr marL="0" indent="0">
                  <a:buNone/>
                </a:pPr>
                <a:r>
                  <a:rPr lang="en-US" i="1"/>
                  <a:t>P(X=x)=</a:t>
                </a:r>
                <a:r>
                  <a:rPr lang="en-US" i="1" err="1"/>
                  <a:t>f</a:t>
                </a:r>
                <a:r>
                  <a:rPr lang="en-US" i="1" baseline="-25000" err="1"/>
                  <a:t>X</a:t>
                </a:r>
                <a:r>
                  <a:rPr lang="en-US" i="1"/>
                  <a:t>(x)</a:t>
                </a:r>
                <a:r>
                  <a:rPr lang="en-US" b="0" i="1">
                    <a:effectLst/>
                  </a:rPr>
                  <a:t> </a:t>
                </a:r>
                <a:r>
                  <a:rPr lang="en-US" b="0" i="0">
                    <a:effectLst/>
                  </a:rPr>
                  <a:t>takes on values for each possible outcome x </a:t>
                </a:r>
                <a14:m>
                  <m:oMath xmlns:m="http://schemas.openxmlformats.org/officeDocument/2006/math">
                    <m:r>
                      <a:rPr lang="en-US" b="0" i="1" dirty="0" smtClean="0">
                        <a:effectLst/>
                        <a:latin typeface="Cambria Math" panose="02040503050406030204" pitchFamily="18" charset="0"/>
                      </a:rPr>
                      <m:t>∈</m:t>
                    </m:r>
                  </m:oMath>
                </a14:m>
                <a:r>
                  <a:rPr lang="en-US" b="0" i="0">
                    <a:effectLst/>
                  </a:rPr>
                  <a:t> {2,3,4,5,6,7,8,9,10,11,12}</a:t>
                </a:r>
                <a:endParaRPr lang="en-GB" dirty="0"/>
              </a:p>
            </p:txBody>
          </p:sp>
        </mc:Choice>
        <mc:Fallback xmlns="">
          <p:sp>
            <p:nvSpPr>
              <p:cNvPr id="3" name="Content Placeholder 2">
                <a:extLst>
                  <a:ext uri="{FF2B5EF4-FFF2-40B4-BE49-F238E27FC236}">
                    <a16:creationId xmlns:a16="http://schemas.microsoft.com/office/drawing/2014/main" id="{40896898-B58D-E489-0003-34D81D9850C3}"/>
                  </a:ext>
                </a:extLst>
              </p:cNvPr>
              <p:cNvSpPr>
                <a:spLocks noGrp="1" noRot="1" noChangeAspect="1" noMove="1" noResize="1" noEditPoints="1" noAdjustHandles="1" noChangeArrowheads="1" noChangeShapeType="1" noTextEdit="1"/>
              </p:cNvSpPr>
              <p:nvPr>
                <p:ph sz="half" idx="2"/>
              </p:nvPr>
            </p:nvSpPr>
            <p:spPr>
              <a:xfrm>
                <a:off x="6172200" y="1608667"/>
                <a:ext cx="5181600" cy="4568296"/>
              </a:xfrm>
              <a:blipFill>
                <a:blip r:embed="rId3"/>
                <a:stretch>
                  <a:fillRect l="-1882" t="-1736"/>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D1554C44-717F-209C-6B10-A8D1EA125573}"/>
              </a:ext>
            </a:extLst>
          </p:cNvPr>
          <p:cNvSpPr>
            <a:spLocks noGrp="1"/>
          </p:cNvSpPr>
          <p:nvPr>
            <p:ph type="title"/>
          </p:nvPr>
        </p:nvSpPr>
        <p:spPr>
          <a:xfrm>
            <a:off x="2549236" y="533614"/>
            <a:ext cx="9210963" cy="888786"/>
          </a:xfrm>
        </p:spPr>
        <p:txBody>
          <a:bodyPr anchor="t">
            <a:normAutofit/>
          </a:bodyPr>
          <a:lstStyle/>
          <a:p>
            <a:r>
              <a:rPr lang="en-GB" dirty="0"/>
              <a:t>PMF example: Sum of dice rolls</a:t>
            </a:r>
          </a:p>
        </p:txBody>
      </p:sp>
    </p:spTree>
    <p:extLst>
      <p:ext uri="{BB962C8B-B14F-4D97-AF65-F5344CB8AC3E}">
        <p14:creationId xmlns:p14="http://schemas.microsoft.com/office/powerpoint/2010/main" val="1536712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12955E0-1AC4-451D-1C8E-C3614A53C7EF}"/>
              </a:ext>
            </a:extLst>
          </p:cNvPr>
          <p:cNvSpPr>
            <a:spLocks noGrp="1"/>
          </p:cNvSpPr>
          <p:nvPr>
            <p:ph type="title"/>
          </p:nvPr>
        </p:nvSpPr>
        <p:spPr>
          <a:xfrm>
            <a:off x="2549236" y="533614"/>
            <a:ext cx="9210963" cy="888786"/>
          </a:xfrm>
        </p:spPr>
        <p:txBody>
          <a:bodyPr/>
          <a:lstStyle/>
          <a:p>
            <a:r>
              <a:rPr lang="en-US" dirty="0"/>
              <a:t>5. Expectation</a:t>
            </a:r>
          </a:p>
        </p:txBody>
      </p:sp>
      <p:pic>
        <p:nvPicPr>
          <p:cNvPr id="5" name="Picture 4" descr="Two dice on a white surface&#10;&#10;Description automatically generated">
            <a:extLst>
              <a:ext uri="{FF2B5EF4-FFF2-40B4-BE49-F238E27FC236}">
                <a16:creationId xmlns:a16="http://schemas.microsoft.com/office/drawing/2014/main" id="{02A7BEAC-5A20-2EB1-47F9-D61E5142F0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3070662"/>
            <a:ext cx="2452283" cy="1833081"/>
          </a:xfrm>
          <a:prstGeom prst="rect">
            <a:avLst/>
          </a:prstGeom>
          <a:noFill/>
        </p:spPr>
      </p:pic>
      <p:sp>
        <p:nvSpPr>
          <p:cNvPr id="3" name="Content Placeholder 2">
            <a:extLst>
              <a:ext uri="{FF2B5EF4-FFF2-40B4-BE49-F238E27FC236}">
                <a16:creationId xmlns:a16="http://schemas.microsoft.com/office/drawing/2014/main" id="{2AA7B962-8575-7A9B-310C-C652A592A54D}"/>
              </a:ext>
            </a:extLst>
          </p:cNvPr>
          <p:cNvSpPr>
            <a:spLocks noGrp="1"/>
          </p:cNvSpPr>
          <p:nvPr>
            <p:ph type="body" sz="quarter" idx="14"/>
          </p:nvPr>
        </p:nvSpPr>
        <p:spPr>
          <a:xfrm>
            <a:off x="2549235" y="1705343"/>
            <a:ext cx="9210963" cy="4526124"/>
          </a:xfrm>
        </p:spPr>
        <p:txBody>
          <a:bodyPr>
            <a:normAutofit/>
          </a:bodyPr>
          <a:lstStyle/>
          <a:p>
            <a:r>
              <a:rPr lang="en-US" b="0" i="0" dirty="0">
                <a:effectLst/>
              </a:rPr>
              <a:t>The expectation is the "average" of a random variable. it represents what we'd "expect to happen"; the most likely overall "score". </a:t>
            </a:r>
          </a:p>
          <a:p>
            <a:r>
              <a:rPr lang="en-US" b="0" i="0" dirty="0">
                <a:effectLst/>
              </a:rPr>
              <a:t>It can be thought of as a </a:t>
            </a:r>
            <a:r>
              <a:rPr lang="en-US" b="0" i="1" dirty="0">
                <a:effectLst/>
              </a:rPr>
              <a:t>weighted sum</a:t>
            </a:r>
            <a:r>
              <a:rPr lang="en-US" b="0" i="0" dirty="0">
                <a:effectLst/>
              </a:rPr>
              <a:t> of all the possible outcomes of an experiment, where each outcome is weighted by the probability of that outcome occurring.</a:t>
            </a:r>
          </a:p>
          <a:p>
            <a:r>
              <a:rPr lang="en-US" b="0" i="0" dirty="0">
                <a:effectLst/>
              </a:rPr>
              <a:t>For example, in the "pair of dice" scenario, we can compute the expected value of the number of "dots" showing in total after a roll. We compute the probability of each number of dots showing and multiply by that number of dots, and summing the result. This is the expected number of dots showing, on average, or the expectation.</a:t>
            </a:r>
            <a:endParaRPr lang="en-GB" dirty="0"/>
          </a:p>
        </p:txBody>
      </p:sp>
    </p:spTree>
    <p:extLst>
      <p:ext uri="{BB962C8B-B14F-4D97-AF65-F5344CB8AC3E}">
        <p14:creationId xmlns:p14="http://schemas.microsoft.com/office/powerpoint/2010/main" val="2759087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55F3A0-2901-5FA5-71E3-5CE4C85221FA}"/>
              </a:ext>
            </a:extLst>
          </p:cNvPr>
          <p:cNvSpPr>
            <a:spLocks noGrp="1"/>
          </p:cNvSpPr>
          <p:nvPr>
            <p:ph type="title"/>
          </p:nvPr>
        </p:nvSpPr>
        <p:spPr>
          <a:xfrm>
            <a:off x="2549236" y="533614"/>
            <a:ext cx="9210963" cy="888786"/>
          </a:xfrm>
        </p:spPr>
        <p:txBody>
          <a:bodyPr anchor="t">
            <a:normAutofit/>
          </a:bodyPr>
          <a:lstStyle/>
          <a:p>
            <a:r>
              <a:rPr lang="en-GB" dirty="0"/>
              <a:t>Expectation – definition</a:t>
            </a:r>
          </a:p>
        </p:txBody>
      </p:sp>
      <p:pic>
        <p:nvPicPr>
          <p:cNvPr id="6" name="Picture 5">
            <a:extLst>
              <a:ext uri="{FF2B5EF4-FFF2-40B4-BE49-F238E27FC236}">
                <a16:creationId xmlns:a16="http://schemas.microsoft.com/office/drawing/2014/main" id="{710352F4-29BD-2454-95BB-A73209C9060D}"/>
              </a:ext>
            </a:extLst>
          </p:cNvPr>
          <p:cNvPicPr>
            <a:picLocks noChangeAspect="1"/>
          </p:cNvPicPr>
          <p:nvPr/>
        </p:nvPicPr>
        <p:blipFill>
          <a:blip r:embed="rId2"/>
          <a:stretch>
            <a:fillRect/>
          </a:stretch>
        </p:blipFill>
        <p:spPr>
          <a:xfrm>
            <a:off x="285750" y="2482001"/>
            <a:ext cx="11474450" cy="2897298"/>
          </a:xfrm>
          <a:prstGeom prst="rect">
            <a:avLst/>
          </a:prstGeom>
          <a:noFill/>
        </p:spPr>
      </p:pic>
    </p:spTree>
    <p:extLst>
      <p:ext uri="{BB962C8B-B14F-4D97-AF65-F5344CB8AC3E}">
        <p14:creationId xmlns:p14="http://schemas.microsoft.com/office/powerpoint/2010/main" val="4273348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B4E2B-C3F7-8C49-78F1-ED57260CFB75}"/>
              </a:ext>
            </a:extLst>
          </p:cNvPr>
          <p:cNvSpPr>
            <a:spLocks noGrp="1"/>
          </p:cNvSpPr>
          <p:nvPr>
            <p:ph type="title"/>
          </p:nvPr>
        </p:nvSpPr>
        <p:spPr>
          <a:xfrm>
            <a:off x="2549236" y="533614"/>
            <a:ext cx="9210963" cy="888786"/>
          </a:xfrm>
        </p:spPr>
        <p:txBody>
          <a:bodyPr anchor="t">
            <a:normAutofit/>
          </a:bodyPr>
          <a:lstStyle/>
          <a:p>
            <a:r>
              <a:rPr lang="en-GB" dirty="0"/>
              <a:t>Expectation: Dice example</a:t>
            </a:r>
          </a:p>
        </p:txBody>
      </p:sp>
      <p:pic>
        <p:nvPicPr>
          <p:cNvPr id="5" name="Content Placeholder 4">
            <a:extLst>
              <a:ext uri="{FF2B5EF4-FFF2-40B4-BE49-F238E27FC236}">
                <a16:creationId xmlns:a16="http://schemas.microsoft.com/office/drawing/2014/main" id="{C9420D8E-68D7-2C60-B4AA-EF65DC054DAA}"/>
              </a:ext>
            </a:extLst>
          </p:cNvPr>
          <p:cNvPicPr>
            <a:picLocks noGrp="1" noChangeAspect="1"/>
          </p:cNvPicPr>
          <p:nvPr>
            <p:ph sz="quarter" idx="13"/>
          </p:nvPr>
        </p:nvPicPr>
        <p:blipFill>
          <a:blip r:embed="rId2"/>
          <a:stretch>
            <a:fillRect/>
          </a:stretch>
        </p:blipFill>
        <p:spPr>
          <a:xfrm>
            <a:off x="285750" y="2109081"/>
            <a:ext cx="11474450" cy="3643138"/>
          </a:xfrm>
          <a:noFill/>
        </p:spPr>
      </p:pic>
    </p:spTree>
    <p:extLst>
      <p:ext uri="{BB962C8B-B14F-4D97-AF65-F5344CB8AC3E}">
        <p14:creationId xmlns:p14="http://schemas.microsoft.com/office/powerpoint/2010/main" val="11757339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868A4-CEE4-3E81-EC01-116DBAA10C4C}"/>
              </a:ext>
            </a:extLst>
          </p:cNvPr>
          <p:cNvSpPr>
            <a:spLocks noGrp="1"/>
          </p:cNvSpPr>
          <p:nvPr>
            <p:ph type="title"/>
          </p:nvPr>
        </p:nvSpPr>
        <p:spPr>
          <a:xfrm>
            <a:off x="2549236" y="533614"/>
            <a:ext cx="9210963" cy="888786"/>
          </a:xfrm>
        </p:spPr>
        <p:txBody>
          <a:bodyPr anchor="t">
            <a:normAutofit/>
          </a:bodyPr>
          <a:lstStyle/>
          <a:p>
            <a:r>
              <a:rPr lang="en-GB" dirty="0"/>
              <a:t>Expectation</a:t>
            </a:r>
          </a:p>
        </p:txBody>
      </p:sp>
      <p:pic>
        <p:nvPicPr>
          <p:cNvPr id="7174" name="Picture 6" descr="Dice ✓ History, game variants etc. [Sic ...">
            <a:extLst>
              <a:ext uri="{FF2B5EF4-FFF2-40B4-BE49-F238E27FC236}">
                <a16:creationId xmlns:a16="http://schemas.microsoft.com/office/drawing/2014/main" id="{91E3DD7C-2798-7AC7-DD3A-F8D9270C84C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 y="3198969"/>
            <a:ext cx="2452283" cy="1576467"/>
          </a:xfrm>
          <a:prstGeom prst="rect">
            <a:avLst/>
          </a:prstGeom>
          <a:solidFill>
            <a:srgbClr val="FFFFFF"/>
          </a:solidFill>
        </p:spPr>
      </p:pic>
      <p:sp>
        <p:nvSpPr>
          <p:cNvPr id="6" name="Content Placeholder 5">
            <a:extLst>
              <a:ext uri="{FF2B5EF4-FFF2-40B4-BE49-F238E27FC236}">
                <a16:creationId xmlns:a16="http://schemas.microsoft.com/office/drawing/2014/main" id="{F5A1C1D3-3604-15E1-632D-9A43E55DCAFD}"/>
              </a:ext>
            </a:extLst>
          </p:cNvPr>
          <p:cNvSpPr>
            <a:spLocks noGrp="1"/>
          </p:cNvSpPr>
          <p:nvPr>
            <p:ph type="body" sz="quarter" idx="14"/>
          </p:nvPr>
        </p:nvSpPr>
        <p:spPr>
          <a:xfrm>
            <a:off x="2549235" y="1705343"/>
            <a:ext cx="9210963" cy="4526124"/>
          </a:xfrm>
        </p:spPr>
        <p:txBody>
          <a:bodyPr>
            <a:normAutofit/>
          </a:bodyPr>
          <a:lstStyle/>
          <a:p>
            <a:pPr marL="0" indent="0">
              <a:buNone/>
            </a:pPr>
            <a:r>
              <a:rPr lang="en-US" sz="2200" dirty="0"/>
              <a:t>This is an intuitive property.</a:t>
            </a:r>
          </a:p>
          <a:p>
            <a:endParaRPr lang="en-US" sz="2200" dirty="0"/>
          </a:p>
          <a:p>
            <a:pPr marL="0" indent="0">
              <a:buNone/>
            </a:pPr>
            <a:r>
              <a:rPr lang="en-US" sz="2200" dirty="0"/>
              <a:t>Imagine you meet a street hustler, who asks you to play the two dice game. </a:t>
            </a:r>
          </a:p>
          <a:p>
            <a:pPr marL="0" indent="0">
              <a:buNone/>
            </a:pPr>
            <a:r>
              <a:rPr lang="en-US" sz="2200" i="1" dirty="0">
                <a:solidFill>
                  <a:schemeClr val="accent4"/>
                </a:solidFill>
              </a:rPr>
              <a:t>He offers you a chance to buy in for £8; you win as many pounds as the show on the top faces of the dice after throwing them. </a:t>
            </a:r>
          </a:p>
          <a:p>
            <a:pPr marL="0" indent="0">
              <a:buNone/>
            </a:pPr>
            <a:r>
              <a:rPr lang="en-US" sz="2200" dirty="0"/>
              <a:t>Is this a fair game?</a:t>
            </a:r>
          </a:p>
          <a:p>
            <a:endParaRPr lang="en-US" sz="2200" dirty="0"/>
          </a:p>
          <a:p>
            <a:pPr marL="0" indent="0">
              <a:buNone/>
            </a:pPr>
            <a:r>
              <a:rPr lang="en-US" sz="2200" dirty="0"/>
              <a:t>No. The expected return is only £7, and you have to put in £8 to play, so the expected result is a £1 loss (sometimes stated as "negative expected value" or -</a:t>
            </a:r>
            <a:r>
              <a:rPr lang="en-US" sz="2200" dirty="0" err="1"/>
              <a:t>ve</a:t>
            </a:r>
            <a:r>
              <a:rPr lang="en-US" sz="2200" dirty="0"/>
              <a:t> EV). If it was £7 to buy in, the game would be fair, in the sense that you and the hustler would not transfer money on average.</a:t>
            </a:r>
            <a:endParaRPr lang="en-GB" sz="2200" dirty="0"/>
          </a:p>
        </p:txBody>
      </p:sp>
    </p:spTree>
    <p:extLst>
      <p:ext uri="{BB962C8B-B14F-4D97-AF65-F5344CB8AC3E}">
        <p14:creationId xmlns:p14="http://schemas.microsoft.com/office/powerpoint/2010/main" val="37721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98946-03D1-F815-F745-13477BF253E4}"/>
              </a:ext>
            </a:extLst>
          </p:cNvPr>
          <p:cNvSpPr>
            <a:spLocks noGrp="1"/>
          </p:cNvSpPr>
          <p:nvPr>
            <p:ph type="title"/>
          </p:nvPr>
        </p:nvSpPr>
        <p:spPr/>
        <p:txBody>
          <a:bodyPr/>
          <a:lstStyle/>
          <a:p>
            <a:r>
              <a:rPr lang="en-GB" dirty="0"/>
              <a:t>Expectation and mean</a:t>
            </a:r>
          </a:p>
        </p:txBody>
      </p:sp>
      <p:sp>
        <p:nvSpPr>
          <p:cNvPr id="3" name="Content Placeholder 2">
            <a:extLst>
              <a:ext uri="{FF2B5EF4-FFF2-40B4-BE49-F238E27FC236}">
                <a16:creationId xmlns:a16="http://schemas.microsoft.com/office/drawing/2014/main" id="{580B29B8-4DDD-DA7B-72D2-3E98A25D9071}"/>
              </a:ext>
            </a:extLst>
          </p:cNvPr>
          <p:cNvSpPr>
            <a:spLocks noGrp="1"/>
          </p:cNvSpPr>
          <p:nvPr>
            <p:ph sz="quarter" idx="13"/>
          </p:nvPr>
        </p:nvSpPr>
        <p:spPr/>
        <p:txBody>
          <a:bodyPr/>
          <a:lstStyle/>
          <a:p>
            <a:pPr marL="0" indent="0" algn="l">
              <a:buNone/>
            </a:pPr>
            <a:r>
              <a:rPr lang="en-US" b="0" i="0" dirty="0">
                <a:effectLst/>
                <a:latin typeface="system-ui"/>
              </a:rPr>
              <a:t>Expectation corresponds to the idea of a </a:t>
            </a:r>
            <a:r>
              <a:rPr lang="en-US" b="1" i="0" dirty="0">
                <a:effectLst/>
                <a:latin typeface="system-ui"/>
              </a:rPr>
              <a:t>mean</a:t>
            </a:r>
            <a:r>
              <a:rPr lang="en-US" b="0" i="0" dirty="0">
                <a:effectLst/>
                <a:latin typeface="system-ui"/>
              </a:rPr>
              <a:t> or </a:t>
            </a:r>
            <a:r>
              <a:rPr lang="en-US" b="1" i="0" dirty="0">
                <a:effectLst/>
                <a:latin typeface="system-ui"/>
              </a:rPr>
              <a:t>average</a:t>
            </a:r>
            <a:r>
              <a:rPr lang="en-US" b="0" i="0" dirty="0">
                <a:effectLst/>
                <a:latin typeface="system-ui"/>
              </a:rPr>
              <a:t> result. </a:t>
            </a:r>
          </a:p>
          <a:p>
            <a:pPr marL="0" indent="0" algn="l">
              <a:buNone/>
            </a:pPr>
            <a:r>
              <a:rPr lang="en-US" b="0" i="0" dirty="0">
                <a:effectLst/>
                <a:latin typeface="system-ui"/>
              </a:rPr>
              <a:t>The expected value of a random variable is the </a:t>
            </a:r>
            <a:r>
              <a:rPr lang="en-US" b="1" i="0" dirty="0">
                <a:effectLst/>
                <a:latin typeface="system-ui"/>
              </a:rPr>
              <a:t>true average</a:t>
            </a:r>
            <a:r>
              <a:rPr lang="en-US" b="0" i="0" dirty="0">
                <a:effectLst/>
                <a:latin typeface="system-ui"/>
              </a:rPr>
              <a:t> of the value of all outcomes that would be observed if we ran the experiment an infinite number of times. This is the </a:t>
            </a:r>
            <a:r>
              <a:rPr lang="en-US" b="1" i="0" dirty="0">
                <a:effectLst/>
                <a:latin typeface="system-ui"/>
              </a:rPr>
              <a:t>population mean</a:t>
            </a:r>
            <a:r>
              <a:rPr lang="en-US" b="0" i="0" dirty="0">
                <a:effectLst/>
                <a:latin typeface="system-ui"/>
              </a:rPr>
              <a:t> -- the mean of the whole, possibly infinite, population of a random variable.</a:t>
            </a:r>
          </a:p>
          <a:p>
            <a:pPr marL="0" indent="0" algn="l">
              <a:buNone/>
            </a:pPr>
            <a:r>
              <a:rPr lang="en-US" b="0" i="0" dirty="0">
                <a:effectLst/>
                <a:latin typeface="system-ui"/>
              </a:rPr>
              <a:t>Many important properties of random variables can be defined in terms of expectation.</a:t>
            </a:r>
          </a:p>
          <a:p>
            <a:pPr algn="l">
              <a:buFont typeface="Arial" panose="020B0604020202020204" pitchFamily="34" charset="0"/>
              <a:buChar char="•"/>
            </a:pPr>
            <a:r>
              <a:rPr lang="en-US" b="0" i="0" dirty="0">
                <a:effectLst/>
                <a:latin typeface="system-ui"/>
              </a:rPr>
              <a:t>The mean of a random variable X is just E[X]. It is a measure of </a:t>
            </a:r>
            <a:r>
              <a:rPr lang="en-US" b="1" i="0" dirty="0">
                <a:effectLst/>
                <a:latin typeface="system-ui"/>
              </a:rPr>
              <a:t>central tendency</a:t>
            </a:r>
            <a:r>
              <a:rPr lang="en-US" b="0" i="0" dirty="0">
                <a:effectLst/>
                <a:latin typeface="system-ui"/>
              </a:rPr>
              <a:t>.</a:t>
            </a:r>
          </a:p>
          <a:p>
            <a:pPr algn="l">
              <a:buFont typeface="Arial" panose="020B0604020202020204" pitchFamily="34" charset="0"/>
              <a:buChar char="•"/>
            </a:pPr>
            <a:r>
              <a:rPr lang="en-US" b="0" i="0" dirty="0">
                <a:effectLst/>
                <a:latin typeface="system-ui"/>
              </a:rPr>
              <a:t>The variance of a random variable X is var(X)=E[(X−E[X])2]. It is a measure of </a:t>
            </a:r>
            <a:r>
              <a:rPr lang="en-US" b="1" i="0" dirty="0">
                <a:effectLst/>
                <a:latin typeface="system-ui"/>
              </a:rPr>
              <a:t>spread</a:t>
            </a:r>
            <a:r>
              <a:rPr lang="en-US" b="0" i="0" dirty="0">
                <a:effectLst/>
                <a:latin typeface="system-ui"/>
              </a:rPr>
              <a:t>.</a:t>
            </a:r>
          </a:p>
          <a:p>
            <a:endParaRPr lang="en-GB" dirty="0"/>
          </a:p>
        </p:txBody>
      </p:sp>
    </p:spTree>
    <p:extLst>
      <p:ext uri="{BB962C8B-B14F-4D97-AF65-F5344CB8AC3E}">
        <p14:creationId xmlns:p14="http://schemas.microsoft.com/office/powerpoint/2010/main" val="39460579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A3F34-9A8D-EEFC-2A06-6DDA0A9C527B}"/>
              </a:ext>
            </a:extLst>
          </p:cNvPr>
          <p:cNvSpPr>
            <a:spLocks noGrp="1"/>
          </p:cNvSpPr>
          <p:nvPr>
            <p:ph type="title"/>
          </p:nvPr>
        </p:nvSpPr>
        <p:spPr/>
        <p:txBody>
          <a:bodyPr/>
          <a:lstStyle/>
          <a:p>
            <a:r>
              <a:rPr lang="en-GB" dirty="0"/>
              <a:t>Expectation of functions of X</a:t>
            </a:r>
          </a:p>
        </p:txBody>
      </p:sp>
      <p:sp>
        <p:nvSpPr>
          <p:cNvPr id="3" name="Content Placeholder 2">
            <a:extLst>
              <a:ext uri="{FF2B5EF4-FFF2-40B4-BE49-F238E27FC236}">
                <a16:creationId xmlns:a16="http://schemas.microsoft.com/office/drawing/2014/main" id="{8E77B42A-B2DC-5F63-842C-FE0F5AB05988}"/>
              </a:ext>
            </a:extLst>
          </p:cNvPr>
          <p:cNvSpPr>
            <a:spLocks noGrp="1"/>
          </p:cNvSpPr>
          <p:nvPr>
            <p:ph sz="quarter" idx="13"/>
          </p:nvPr>
        </p:nvSpPr>
        <p:spPr/>
        <p:txBody>
          <a:bodyPr/>
          <a:lstStyle/>
          <a:p>
            <a:pPr marL="0" indent="0">
              <a:buNone/>
            </a:pPr>
            <a:r>
              <a:rPr lang="en-US" b="0" i="0" dirty="0">
                <a:effectLst/>
                <a:latin typeface="system-ui"/>
              </a:rPr>
              <a:t>We can apply functions to random variables, for example, the square of a random variable.</a:t>
            </a:r>
            <a:endParaRPr lang="en-GB" dirty="0"/>
          </a:p>
        </p:txBody>
      </p:sp>
      <p:pic>
        <p:nvPicPr>
          <p:cNvPr id="5" name="Picture 4">
            <a:extLst>
              <a:ext uri="{FF2B5EF4-FFF2-40B4-BE49-F238E27FC236}">
                <a16:creationId xmlns:a16="http://schemas.microsoft.com/office/drawing/2014/main" id="{12C42278-00D8-D234-345B-37E4716F78FB}"/>
              </a:ext>
            </a:extLst>
          </p:cNvPr>
          <p:cNvPicPr>
            <a:picLocks noChangeAspect="1"/>
          </p:cNvPicPr>
          <p:nvPr/>
        </p:nvPicPr>
        <p:blipFill>
          <a:blip r:embed="rId3"/>
          <a:stretch>
            <a:fillRect/>
          </a:stretch>
        </p:blipFill>
        <p:spPr>
          <a:xfrm>
            <a:off x="904608" y="2511378"/>
            <a:ext cx="10382784" cy="1835244"/>
          </a:xfrm>
          <a:prstGeom prst="rect">
            <a:avLst/>
          </a:prstGeom>
        </p:spPr>
      </p:pic>
      <p:pic>
        <p:nvPicPr>
          <p:cNvPr id="7" name="Picture 6">
            <a:extLst>
              <a:ext uri="{FF2B5EF4-FFF2-40B4-BE49-F238E27FC236}">
                <a16:creationId xmlns:a16="http://schemas.microsoft.com/office/drawing/2014/main" id="{C045D059-C2DD-44C4-8C2D-CC85461504B2}"/>
              </a:ext>
            </a:extLst>
          </p:cNvPr>
          <p:cNvPicPr>
            <a:picLocks noChangeAspect="1"/>
          </p:cNvPicPr>
          <p:nvPr/>
        </p:nvPicPr>
        <p:blipFill>
          <a:blip r:embed="rId4"/>
          <a:stretch>
            <a:fillRect/>
          </a:stretch>
        </p:blipFill>
        <p:spPr>
          <a:xfrm>
            <a:off x="904608" y="4604519"/>
            <a:ext cx="10370083" cy="920797"/>
          </a:xfrm>
          <a:prstGeom prst="rect">
            <a:avLst/>
          </a:prstGeom>
        </p:spPr>
      </p:pic>
    </p:spTree>
    <p:extLst>
      <p:ext uri="{BB962C8B-B14F-4D97-AF65-F5344CB8AC3E}">
        <p14:creationId xmlns:p14="http://schemas.microsoft.com/office/powerpoint/2010/main" val="1274168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7F421-15B9-BDE1-F3E6-3749AEEF582A}"/>
              </a:ext>
            </a:extLst>
          </p:cNvPr>
          <p:cNvSpPr>
            <a:spLocks noGrp="1"/>
          </p:cNvSpPr>
          <p:nvPr>
            <p:ph type="title"/>
          </p:nvPr>
        </p:nvSpPr>
        <p:spPr/>
        <p:txBody>
          <a:bodyPr/>
          <a:lstStyle/>
          <a:p>
            <a:r>
              <a:rPr lang="en-GB" dirty="0"/>
              <a:t>Expectation of functions of X</a:t>
            </a:r>
          </a:p>
        </p:txBody>
      </p:sp>
      <p:sp>
        <p:nvSpPr>
          <p:cNvPr id="3" name="Content Placeholder 2">
            <a:extLst>
              <a:ext uri="{FF2B5EF4-FFF2-40B4-BE49-F238E27FC236}">
                <a16:creationId xmlns:a16="http://schemas.microsoft.com/office/drawing/2014/main" id="{FCE79E68-7E10-203A-A5C8-15FDC4AFE2C3}"/>
              </a:ext>
            </a:extLst>
          </p:cNvPr>
          <p:cNvSpPr>
            <a:spLocks noGrp="1"/>
          </p:cNvSpPr>
          <p:nvPr>
            <p:ph sz="quarter" idx="13"/>
          </p:nvPr>
        </p:nvSpPr>
        <p:spPr/>
        <p:txBody>
          <a:bodyPr/>
          <a:lstStyle/>
          <a:p>
            <a:r>
              <a:rPr lang="en-US" b="0" i="0" dirty="0">
                <a:effectLst/>
                <a:latin typeface="system-ui"/>
              </a:rPr>
              <a:t>For example, we can compute simple expectations like these:</a:t>
            </a:r>
            <a:endParaRPr lang="en-GB" dirty="0"/>
          </a:p>
        </p:txBody>
      </p:sp>
      <p:pic>
        <p:nvPicPr>
          <p:cNvPr id="5" name="Picture 4">
            <a:extLst>
              <a:ext uri="{FF2B5EF4-FFF2-40B4-BE49-F238E27FC236}">
                <a16:creationId xmlns:a16="http://schemas.microsoft.com/office/drawing/2014/main" id="{152E770A-A5E2-457D-3499-35B237CFFDB5}"/>
              </a:ext>
            </a:extLst>
          </p:cNvPr>
          <p:cNvPicPr>
            <a:picLocks noChangeAspect="1"/>
          </p:cNvPicPr>
          <p:nvPr/>
        </p:nvPicPr>
        <p:blipFill>
          <a:blip r:embed="rId3"/>
          <a:stretch>
            <a:fillRect/>
          </a:stretch>
        </p:blipFill>
        <p:spPr>
          <a:xfrm>
            <a:off x="3900488" y="2577891"/>
            <a:ext cx="3439376" cy="1951280"/>
          </a:xfrm>
          <a:prstGeom prst="rect">
            <a:avLst/>
          </a:prstGeom>
        </p:spPr>
      </p:pic>
      <p:pic>
        <p:nvPicPr>
          <p:cNvPr id="7" name="Picture 6">
            <a:extLst>
              <a:ext uri="{FF2B5EF4-FFF2-40B4-BE49-F238E27FC236}">
                <a16:creationId xmlns:a16="http://schemas.microsoft.com/office/drawing/2014/main" id="{DCC16EE6-EC21-11BF-5C22-922B30F86518}"/>
              </a:ext>
            </a:extLst>
          </p:cNvPr>
          <p:cNvPicPr>
            <a:picLocks noChangeAspect="1"/>
          </p:cNvPicPr>
          <p:nvPr/>
        </p:nvPicPr>
        <p:blipFill>
          <a:blip r:embed="rId4"/>
          <a:stretch>
            <a:fillRect/>
          </a:stretch>
        </p:blipFill>
        <p:spPr>
          <a:xfrm>
            <a:off x="514067" y="5067103"/>
            <a:ext cx="11017816" cy="825542"/>
          </a:xfrm>
          <a:prstGeom prst="rect">
            <a:avLst/>
          </a:prstGeom>
        </p:spPr>
      </p:pic>
    </p:spTree>
    <p:extLst>
      <p:ext uri="{BB962C8B-B14F-4D97-AF65-F5344CB8AC3E}">
        <p14:creationId xmlns:p14="http://schemas.microsoft.com/office/powerpoint/2010/main" val="3860005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9B212-8399-3D0C-479F-ED3B0A1F111B}"/>
              </a:ext>
            </a:extLst>
          </p:cNvPr>
          <p:cNvSpPr>
            <a:spLocks noGrp="1"/>
          </p:cNvSpPr>
          <p:nvPr>
            <p:ph type="title"/>
          </p:nvPr>
        </p:nvSpPr>
        <p:spPr>
          <a:xfrm>
            <a:off x="2549236" y="533614"/>
            <a:ext cx="9210963" cy="888786"/>
          </a:xfrm>
        </p:spPr>
        <p:txBody>
          <a:bodyPr anchor="t">
            <a:normAutofit/>
          </a:bodyPr>
          <a:lstStyle/>
          <a:p>
            <a:r>
              <a:rPr lang="en-GB" dirty="0"/>
              <a:t>Expected values and decisions</a:t>
            </a:r>
          </a:p>
        </p:txBody>
      </p:sp>
      <p:pic>
        <p:nvPicPr>
          <p:cNvPr id="13314" name="Picture 2" descr="Which Bond does it better? Daniel Craig's 007 wagers and winnings compared  to Sean Connery, Roger Moore, Pierce Brosnan, Timothy Dalton and even  George Lazenby's gambling wins - City AM">
            <a:extLst>
              <a:ext uri="{FF2B5EF4-FFF2-40B4-BE49-F238E27FC236}">
                <a16:creationId xmlns:a16="http://schemas.microsoft.com/office/drawing/2014/main" id="{C2E1CE4C-72CA-D6D9-BEF9-F7202D6C10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9538" r="18038"/>
          <a:stretch/>
        </p:blipFill>
        <p:spPr bwMode="auto">
          <a:xfrm>
            <a:off x="-1" y="1699336"/>
            <a:ext cx="2452283" cy="4575733"/>
          </a:xfrm>
          <a:prstGeom prst="rect">
            <a:avLst/>
          </a:prstGeom>
          <a:solidFill>
            <a:srgbClr val="FFFFFF"/>
          </a:solidFill>
        </p:spPr>
      </p:pic>
      <p:sp>
        <p:nvSpPr>
          <p:cNvPr id="3" name="Content Placeholder 2">
            <a:extLst>
              <a:ext uri="{FF2B5EF4-FFF2-40B4-BE49-F238E27FC236}">
                <a16:creationId xmlns:a16="http://schemas.microsoft.com/office/drawing/2014/main" id="{53899ECE-69AD-E13A-0333-7952F4C77D79}"/>
              </a:ext>
            </a:extLst>
          </p:cNvPr>
          <p:cNvSpPr>
            <a:spLocks noGrp="1"/>
          </p:cNvSpPr>
          <p:nvPr>
            <p:ph type="body" sz="quarter" idx="14"/>
          </p:nvPr>
        </p:nvSpPr>
        <p:spPr>
          <a:xfrm>
            <a:off x="2549235" y="1705343"/>
            <a:ext cx="9210963" cy="4526124"/>
          </a:xfrm>
        </p:spPr>
        <p:txBody>
          <a:bodyPr>
            <a:normAutofit/>
          </a:bodyPr>
          <a:lstStyle/>
          <a:p>
            <a:pPr marL="0" indent="0">
              <a:buNone/>
            </a:pPr>
            <a:r>
              <a:rPr lang="en-US" b="0" i="0" dirty="0">
                <a:effectLst/>
              </a:rPr>
              <a:t>Expected values are essential in making </a:t>
            </a:r>
            <a:r>
              <a:rPr lang="en-US" b="1" i="0" dirty="0">
                <a:solidFill>
                  <a:schemeClr val="accent5"/>
                </a:solidFill>
                <a:effectLst/>
              </a:rPr>
              <a:t>rational decisions</a:t>
            </a:r>
            <a:r>
              <a:rPr lang="en-US" b="0" i="0" dirty="0">
                <a:effectLst/>
              </a:rPr>
              <a:t>, the central problem of </a:t>
            </a:r>
            <a:r>
              <a:rPr lang="en-US" b="1" i="0" dirty="0">
                <a:solidFill>
                  <a:schemeClr val="accent5"/>
                </a:solidFill>
                <a:effectLst/>
              </a:rPr>
              <a:t>decision theory</a:t>
            </a:r>
            <a:r>
              <a:rPr lang="en-US" b="0" i="0" dirty="0">
                <a:effectLst/>
              </a:rPr>
              <a:t>. They combine scores (or </a:t>
            </a:r>
            <a:r>
              <a:rPr lang="en-US" b="1" i="0" dirty="0">
                <a:solidFill>
                  <a:schemeClr val="accent5"/>
                </a:solidFill>
                <a:effectLst/>
              </a:rPr>
              <a:t>utility</a:t>
            </a:r>
            <a:r>
              <a:rPr lang="en-US" b="0" i="0" dirty="0">
                <a:effectLst/>
              </a:rPr>
              <a:t>) with uncertainty (</a:t>
            </a:r>
            <a:r>
              <a:rPr lang="en-US" b="1" i="0" dirty="0">
                <a:solidFill>
                  <a:schemeClr val="accent5"/>
                </a:solidFill>
                <a:effectLst/>
              </a:rPr>
              <a:t>probability</a:t>
            </a:r>
            <a:r>
              <a:rPr lang="en-US" b="0" i="0" dirty="0">
                <a:effectLst/>
              </a:rPr>
              <a:t>).</a:t>
            </a:r>
          </a:p>
          <a:p>
            <a:pPr marL="0" indent="0">
              <a:buNone/>
            </a:pPr>
            <a:r>
              <a:rPr lang="en-US" b="0" i="0" dirty="0">
                <a:effectLst/>
              </a:rPr>
              <a:t>The expected value gives us a way of deciding, for example, how much it would be worth paying to play a dice game. </a:t>
            </a:r>
          </a:p>
          <a:p>
            <a:r>
              <a:rPr lang="en-US" b="0" i="0" dirty="0">
                <a:effectLst/>
              </a:rPr>
              <a:t>If the units were pounds, we'd break even if we paid £2.33 to play the game and make a profit (on average) if we paid £2.00 to play the game. </a:t>
            </a:r>
          </a:p>
          <a:p>
            <a:r>
              <a:rPr lang="en-US" b="0" i="0" dirty="0">
                <a:effectLst/>
              </a:rPr>
              <a:t>The </a:t>
            </a:r>
            <a:r>
              <a:rPr lang="en-US" b="0" i="0" dirty="0">
                <a:solidFill>
                  <a:schemeClr val="accent5"/>
                </a:solidFill>
                <a:effectLst/>
              </a:rPr>
              <a:t>expected average profit</a:t>
            </a:r>
            <a:r>
              <a:rPr lang="en-US" b="0" i="0" dirty="0">
                <a:effectLst/>
              </a:rPr>
              <a:t> is just the stake we pay to play each game minus the expected value of one round of the game: </a:t>
            </a:r>
          </a:p>
          <a:p>
            <a:endParaRPr lang="en-GB" dirty="0"/>
          </a:p>
        </p:txBody>
      </p:sp>
      <p:pic>
        <p:nvPicPr>
          <p:cNvPr id="6" name="Picture 5">
            <a:extLst>
              <a:ext uri="{FF2B5EF4-FFF2-40B4-BE49-F238E27FC236}">
                <a16:creationId xmlns:a16="http://schemas.microsoft.com/office/drawing/2014/main" id="{517C48E8-BAD7-6B3C-A540-0CE473718115}"/>
              </a:ext>
            </a:extLst>
          </p:cNvPr>
          <p:cNvPicPr>
            <a:picLocks noChangeAspect="1"/>
          </p:cNvPicPr>
          <p:nvPr/>
        </p:nvPicPr>
        <p:blipFill>
          <a:blip r:embed="rId3"/>
          <a:stretch>
            <a:fillRect/>
          </a:stretch>
        </p:blipFill>
        <p:spPr>
          <a:xfrm>
            <a:off x="5753399" y="5630070"/>
            <a:ext cx="2802634" cy="446094"/>
          </a:xfrm>
          <a:prstGeom prst="rect">
            <a:avLst/>
          </a:prstGeom>
        </p:spPr>
      </p:pic>
    </p:spTree>
    <p:extLst>
      <p:ext uri="{BB962C8B-B14F-4D97-AF65-F5344CB8AC3E}">
        <p14:creationId xmlns:p14="http://schemas.microsoft.com/office/powerpoint/2010/main" val="332511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54C1-9F14-7426-84DE-EE7378A0EBE7}"/>
              </a:ext>
            </a:extLst>
          </p:cNvPr>
          <p:cNvSpPr>
            <a:spLocks noGrp="1"/>
          </p:cNvSpPr>
          <p:nvPr>
            <p:ph type="title"/>
          </p:nvPr>
        </p:nvSpPr>
        <p:spPr/>
        <p:txBody>
          <a:bodyPr/>
          <a:lstStyle/>
          <a:p>
            <a:r>
              <a:rPr lang="en-GB" dirty="0"/>
              <a:t>6. Samples and sampling</a:t>
            </a:r>
          </a:p>
        </p:txBody>
      </p:sp>
      <p:sp>
        <p:nvSpPr>
          <p:cNvPr id="3" name="Content Placeholder 2">
            <a:extLst>
              <a:ext uri="{FF2B5EF4-FFF2-40B4-BE49-F238E27FC236}">
                <a16:creationId xmlns:a16="http://schemas.microsoft.com/office/drawing/2014/main" id="{F9D1AEEE-D02A-F823-BA00-02478D4BAB2F}"/>
              </a:ext>
            </a:extLst>
          </p:cNvPr>
          <p:cNvSpPr>
            <a:spLocks noGrp="1"/>
          </p:cNvSpPr>
          <p:nvPr>
            <p:ph sz="quarter" idx="13"/>
          </p:nvPr>
        </p:nvSpPr>
        <p:spPr/>
        <p:txBody>
          <a:bodyPr/>
          <a:lstStyle/>
          <a:p>
            <a:pPr marL="0" indent="0" algn="l">
              <a:buNone/>
            </a:pPr>
            <a:r>
              <a:rPr lang="en-US" b="1" i="0" dirty="0">
                <a:solidFill>
                  <a:schemeClr val="accent5"/>
                </a:solidFill>
                <a:effectLst/>
                <a:latin typeface="system-ui"/>
              </a:rPr>
              <a:t>Samples</a:t>
            </a:r>
            <a:r>
              <a:rPr lang="en-US" b="0" i="0" dirty="0">
                <a:effectLst/>
                <a:latin typeface="system-ui"/>
              </a:rPr>
              <a:t> are observed outcomes of an experiment; we will use the term </a:t>
            </a:r>
            <a:r>
              <a:rPr lang="en-US" b="1" i="0" dirty="0">
                <a:solidFill>
                  <a:schemeClr val="accent5"/>
                </a:solidFill>
                <a:effectLst/>
                <a:latin typeface="system-ui"/>
              </a:rPr>
              <a:t>observations</a:t>
            </a:r>
            <a:r>
              <a:rPr lang="en-US" b="0" i="0" dirty="0">
                <a:effectLst/>
                <a:latin typeface="system-ui"/>
              </a:rPr>
              <a:t> synonymously, though samples usually refer to simulations and observations to concrete real data.</a:t>
            </a:r>
          </a:p>
          <a:p>
            <a:pPr algn="l"/>
            <a:r>
              <a:rPr lang="en-US" b="0" i="0" dirty="0">
                <a:effectLst/>
                <a:latin typeface="system-ui"/>
              </a:rPr>
              <a:t>We can </a:t>
            </a:r>
            <a:r>
              <a:rPr lang="en-US" b="1" i="0" dirty="0">
                <a:solidFill>
                  <a:schemeClr val="accent5"/>
                </a:solidFill>
                <a:effectLst/>
                <a:latin typeface="system-ui"/>
              </a:rPr>
              <a:t>sample</a:t>
            </a:r>
            <a:r>
              <a:rPr lang="en-US" b="0" i="0" dirty="0">
                <a:effectLst/>
                <a:latin typeface="system-ui"/>
              </a:rPr>
              <a:t> from a distribution; this means simulating outcomes according to the probability distribution of those variables. </a:t>
            </a:r>
          </a:p>
          <a:p>
            <a:pPr algn="l"/>
            <a:r>
              <a:rPr lang="en-US" b="0" i="0" dirty="0">
                <a:effectLst/>
                <a:latin typeface="system-ui"/>
              </a:rPr>
              <a:t>We can also </a:t>
            </a:r>
            <a:r>
              <a:rPr lang="en-US" b="1" i="0" dirty="0">
                <a:solidFill>
                  <a:schemeClr val="accent5"/>
                </a:solidFill>
                <a:effectLst/>
                <a:latin typeface="system-ui"/>
              </a:rPr>
              <a:t>observe</a:t>
            </a:r>
            <a:r>
              <a:rPr lang="en-US" b="0" i="0" dirty="0">
                <a:effectLst/>
                <a:latin typeface="system-ui"/>
              </a:rPr>
              <a:t> data which comes from an external source that we might believe is generated by some probability distribution. </a:t>
            </a:r>
          </a:p>
          <a:p>
            <a:pPr marL="0" indent="0">
              <a:buNone/>
            </a:pPr>
            <a:r>
              <a:rPr lang="en-US" b="0" i="0" dirty="0">
                <a:effectLst/>
                <a:latin typeface="system-ui"/>
              </a:rPr>
              <a:t>For example, we can sample from the sum of dice PMF by rolling two dice and summing the result. This is a </a:t>
            </a:r>
            <a:r>
              <a:rPr lang="en-US" b="0" i="1" dirty="0">
                <a:solidFill>
                  <a:schemeClr val="accent5"/>
                </a:solidFill>
                <a:effectLst/>
                <a:latin typeface="system-ui"/>
              </a:rPr>
              <a:t>sample</a:t>
            </a:r>
            <a:r>
              <a:rPr lang="en-US" b="0" i="0" dirty="0">
                <a:effectLst/>
                <a:latin typeface="system-ui"/>
              </a:rPr>
              <a:t> or a </a:t>
            </a:r>
            <a:r>
              <a:rPr lang="en-US" b="0" i="1" dirty="0">
                <a:solidFill>
                  <a:schemeClr val="accent5"/>
                </a:solidFill>
                <a:effectLst/>
                <a:latin typeface="system-ui"/>
              </a:rPr>
              <a:t>draw</a:t>
            </a:r>
            <a:r>
              <a:rPr lang="en-US" b="0" i="0" dirty="0">
                <a:effectLst/>
                <a:latin typeface="system-ui"/>
              </a:rPr>
              <a:t> from this distribution. For discrete random variables, this is easy: we simply produce samples by drawing each outcome according to its probability. </a:t>
            </a:r>
          </a:p>
          <a:p>
            <a:endParaRPr lang="en-GB" dirty="0"/>
          </a:p>
        </p:txBody>
      </p:sp>
    </p:spTree>
    <p:extLst>
      <p:ext uri="{BB962C8B-B14F-4D97-AF65-F5344CB8AC3E}">
        <p14:creationId xmlns:p14="http://schemas.microsoft.com/office/powerpoint/2010/main" val="13260287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number of dice&#10;&#10;Description automatically generated">
            <a:extLst>
              <a:ext uri="{FF2B5EF4-FFF2-40B4-BE49-F238E27FC236}">
                <a16:creationId xmlns:a16="http://schemas.microsoft.com/office/drawing/2014/main" id="{6D7F46DE-ED2F-3A79-4D83-E548EC4A6B2C}"/>
              </a:ext>
            </a:extLst>
          </p:cNvPr>
          <p:cNvPicPr>
            <a:picLocks noChangeAspect="1"/>
          </p:cNvPicPr>
          <p:nvPr/>
        </p:nvPicPr>
        <p:blipFill>
          <a:blip r:embed="rId2"/>
          <a:stretch>
            <a:fillRect/>
          </a:stretch>
        </p:blipFill>
        <p:spPr>
          <a:xfrm>
            <a:off x="838200" y="2441967"/>
            <a:ext cx="5181600" cy="2901695"/>
          </a:xfrm>
          <a:prstGeom prst="rect">
            <a:avLst/>
          </a:prstGeom>
          <a:noFill/>
        </p:spPr>
      </p:pic>
      <p:sp>
        <p:nvSpPr>
          <p:cNvPr id="3" name="Content Placeholder 2">
            <a:extLst>
              <a:ext uri="{FF2B5EF4-FFF2-40B4-BE49-F238E27FC236}">
                <a16:creationId xmlns:a16="http://schemas.microsoft.com/office/drawing/2014/main" id="{8A9EA11C-E43D-9994-18D2-5C6E4362EAFF}"/>
              </a:ext>
            </a:extLst>
          </p:cNvPr>
          <p:cNvSpPr>
            <a:spLocks noGrp="1"/>
          </p:cNvSpPr>
          <p:nvPr>
            <p:ph sz="half" idx="2"/>
          </p:nvPr>
        </p:nvSpPr>
        <p:spPr>
          <a:xfrm>
            <a:off x="6172200" y="1608667"/>
            <a:ext cx="5181600" cy="4568296"/>
          </a:xfrm>
        </p:spPr>
        <p:txBody>
          <a:bodyPr>
            <a:normAutofit/>
          </a:bodyPr>
          <a:lstStyle/>
          <a:p>
            <a:pPr marL="0" indent="0">
              <a:buNone/>
            </a:pPr>
            <a:r>
              <a:rPr lang="en-US" b="0" i="0" dirty="0">
                <a:effectLst/>
              </a:rPr>
              <a:t>For discrete data, we can estimate the PMF that might be generating </a:t>
            </a:r>
            <a:r>
              <a:rPr lang="en-US" b="1" i="0" dirty="0">
                <a:effectLst/>
              </a:rPr>
              <a:t>observations</a:t>
            </a:r>
            <a:r>
              <a:rPr lang="en-US" b="0" i="0" dirty="0">
                <a:effectLst/>
              </a:rPr>
              <a:t> by counting each outcome seen divided by the total number of trials. This is called the </a:t>
            </a:r>
            <a:r>
              <a:rPr lang="en-US" b="1" i="0" dirty="0">
                <a:solidFill>
                  <a:schemeClr val="accent5"/>
                </a:solidFill>
                <a:effectLst/>
              </a:rPr>
              <a:t>empirical distribution</a:t>
            </a:r>
            <a:r>
              <a:rPr lang="en-US" b="0" i="0" dirty="0">
                <a:effectLst/>
              </a:rPr>
              <a:t>.</a:t>
            </a:r>
          </a:p>
          <a:p>
            <a:pPr marL="0" indent="0">
              <a:buNone/>
            </a:pPr>
            <a:r>
              <a:rPr lang="en-US" b="0" i="0" dirty="0">
                <a:effectLst/>
              </a:rPr>
              <a:t>This can be thought of as the </a:t>
            </a:r>
            <a:r>
              <a:rPr lang="en-US" b="1" i="0" dirty="0">
                <a:effectLst/>
              </a:rPr>
              <a:t>normalized histogram</a:t>
            </a:r>
            <a:r>
              <a:rPr lang="en-US" b="0" i="0" dirty="0">
                <a:effectLst/>
              </a:rPr>
              <a:t> of counts of occurrences of outcomes.</a:t>
            </a:r>
          </a:p>
          <a:p>
            <a:endParaRPr lang="en-GB" dirty="0"/>
          </a:p>
        </p:txBody>
      </p:sp>
      <p:sp>
        <p:nvSpPr>
          <p:cNvPr id="2" name="Title 1">
            <a:extLst>
              <a:ext uri="{FF2B5EF4-FFF2-40B4-BE49-F238E27FC236}">
                <a16:creationId xmlns:a16="http://schemas.microsoft.com/office/drawing/2014/main" id="{EC67BB22-9806-EF0B-DB33-4C402AE27793}"/>
              </a:ext>
            </a:extLst>
          </p:cNvPr>
          <p:cNvSpPr>
            <a:spLocks noGrp="1"/>
          </p:cNvSpPr>
          <p:nvPr>
            <p:ph type="title"/>
          </p:nvPr>
        </p:nvSpPr>
        <p:spPr>
          <a:xfrm>
            <a:off x="2549236" y="533614"/>
            <a:ext cx="9210963" cy="888786"/>
          </a:xfrm>
        </p:spPr>
        <p:txBody>
          <a:bodyPr anchor="t">
            <a:normAutofit/>
          </a:bodyPr>
          <a:lstStyle/>
          <a:p>
            <a:r>
              <a:rPr lang="en-GB" dirty="0"/>
              <a:t>The empirical distribution</a:t>
            </a:r>
          </a:p>
        </p:txBody>
      </p:sp>
    </p:spTree>
    <p:extLst>
      <p:ext uri="{BB962C8B-B14F-4D97-AF65-F5344CB8AC3E}">
        <p14:creationId xmlns:p14="http://schemas.microsoft.com/office/powerpoint/2010/main" val="1417105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596212-49AA-3CEC-CB81-E7AFA454D6AE}"/>
              </a:ext>
            </a:extLst>
          </p:cNvPr>
          <p:cNvSpPr>
            <a:spLocks noGrp="1"/>
          </p:cNvSpPr>
          <p:nvPr>
            <p:ph type="title"/>
          </p:nvPr>
        </p:nvSpPr>
        <p:spPr/>
        <p:txBody>
          <a:bodyPr/>
          <a:lstStyle/>
          <a:p>
            <a:r>
              <a:rPr lang="en-GB" dirty="0"/>
              <a:t>Computing the empirical distribution</a:t>
            </a:r>
          </a:p>
        </p:txBody>
      </p:sp>
      <p:sp>
        <p:nvSpPr>
          <p:cNvPr id="2" name="Content Placeholder 1">
            <a:extLst>
              <a:ext uri="{FF2B5EF4-FFF2-40B4-BE49-F238E27FC236}">
                <a16:creationId xmlns:a16="http://schemas.microsoft.com/office/drawing/2014/main" id="{B3BA9849-0AF6-F4B2-1379-9E45AA264888}"/>
              </a:ext>
            </a:extLst>
          </p:cNvPr>
          <p:cNvSpPr>
            <a:spLocks noGrp="1"/>
          </p:cNvSpPr>
          <p:nvPr>
            <p:ph sz="quarter" idx="13"/>
          </p:nvPr>
        </p:nvSpPr>
        <p:spPr/>
        <p:txBody>
          <a:bodyPr>
            <a:normAutofit fontScale="85000" lnSpcReduction="20000"/>
          </a:bodyPr>
          <a:lstStyle/>
          <a:p>
            <a:pPr marL="0" indent="0" algn="l">
              <a:buNone/>
            </a:pPr>
            <a:r>
              <a:rPr lang="en-US" b="0" i="0" dirty="0">
                <a:effectLst/>
                <a:latin typeface="system-ui"/>
              </a:rPr>
              <a:t>For </a:t>
            </a:r>
            <a:r>
              <a:rPr lang="en-US" b="0" i="0" dirty="0">
                <a:solidFill>
                  <a:schemeClr val="accent5"/>
                </a:solidFill>
                <a:effectLst/>
                <a:latin typeface="system-ui"/>
              </a:rPr>
              <a:t>discrete random variables</a:t>
            </a:r>
            <a:r>
              <a:rPr lang="en-US" b="0" i="0" dirty="0">
                <a:effectLst/>
                <a:latin typeface="system-ui"/>
              </a:rPr>
              <a:t>, we can always compute the empirical distribution from a series of observations. </a:t>
            </a:r>
          </a:p>
          <a:p>
            <a:pPr marL="0" indent="0" algn="l">
              <a:buNone/>
            </a:pPr>
            <a:r>
              <a:rPr lang="en-US" b="0" i="0" dirty="0">
                <a:effectLst/>
                <a:latin typeface="system-ui"/>
              </a:rPr>
              <a:t>For example, from the counts of a specific word in a </a:t>
            </a:r>
            <a:r>
              <a:rPr lang="en-US" b="0" i="1" dirty="0">
                <a:effectLst/>
                <a:latin typeface="system-ui"/>
              </a:rPr>
              <a:t>corpus</a:t>
            </a:r>
            <a:r>
              <a:rPr lang="en-US" b="0" i="0" dirty="0">
                <a:effectLst/>
                <a:latin typeface="system-ui"/>
              </a:rPr>
              <a:t> of text (e.g. in every newspaper article printed in 1994). We just count the number of times each word is seen and divide by the total number of words.</a:t>
            </a:r>
          </a:p>
          <a:p>
            <a:pPr marL="0" indent="0" algn="l">
              <a:buNone/>
            </a:pPr>
            <a:endParaRPr lang="en-US" b="0" i="0" dirty="0">
              <a:effectLst/>
              <a:latin typeface="system-ui"/>
            </a:endParaRPr>
          </a:p>
          <a:p>
            <a:pPr marL="0" indent="0">
              <a:buNone/>
            </a:pPr>
            <a:endParaRPr lang="en-US" b="0" i="0" dirty="0">
              <a:effectLst/>
              <a:latin typeface="system-ui"/>
            </a:endParaRPr>
          </a:p>
          <a:p>
            <a:pPr marL="0" indent="0">
              <a:buNone/>
            </a:pPr>
            <a:endParaRPr lang="en-US" dirty="0">
              <a:latin typeface="system-ui"/>
            </a:endParaRPr>
          </a:p>
          <a:p>
            <a:pPr marL="0" indent="0">
              <a:buNone/>
            </a:pPr>
            <a:endParaRPr lang="en-US" b="0" i="0" dirty="0">
              <a:effectLst/>
              <a:latin typeface="system-ui"/>
            </a:endParaRPr>
          </a:p>
          <a:p>
            <a:pPr marL="0" indent="0">
              <a:buNone/>
            </a:pPr>
            <a:endParaRPr lang="en-US" dirty="0">
              <a:latin typeface="system-ui"/>
            </a:endParaRPr>
          </a:p>
          <a:p>
            <a:pPr marL="0" indent="0">
              <a:buNone/>
            </a:pPr>
            <a:endParaRPr lang="en-US" b="0" i="0" dirty="0">
              <a:effectLst/>
              <a:latin typeface="system-ui"/>
            </a:endParaRPr>
          </a:p>
          <a:p>
            <a:pPr marL="0" indent="0">
              <a:buNone/>
            </a:pPr>
            <a:r>
              <a:rPr lang="en-US" b="0" i="0" dirty="0">
                <a:effectLst/>
                <a:latin typeface="system-ui"/>
              </a:rPr>
              <a:t>Note that the empirical distribution is a distribution which </a:t>
            </a:r>
            <a:r>
              <a:rPr lang="en-US" b="0" i="1" dirty="0">
                <a:solidFill>
                  <a:schemeClr val="accent5"/>
                </a:solidFill>
                <a:effectLst/>
                <a:latin typeface="system-ui"/>
              </a:rPr>
              <a:t>approximates</a:t>
            </a:r>
            <a:r>
              <a:rPr lang="en-US" b="0" i="0" dirty="0">
                <a:effectLst/>
                <a:latin typeface="system-ui"/>
              </a:rPr>
              <a:t> an unknown true distribution.</a:t>
            </a:r>
            <a:r>
              <a:rPr lang="en-US" dirty="0">
                <a:latin typeface="system-ui"/>
              </a:rPr>
              <a:t> When N is large it approximates the true PMF assuming the samples are drawn in an </a:t>
            </a:r>
            <a:r>
              <a:rPr lang="en-US" dirty="0" err="1">
                <a:latin typeface="system-ui"/>
              </a:rPr>
              <a:t>umbiased</a:t>
            </a:r>
            <a:r>
              <a:rPr lang="en-US" dirty="0">
                <a:latin typeface="system-ui"/>
              </a:rPr>
              <a:t> way. </a:t>
            </a:r>
          </a:p>
          <a:p>
            <a:pPr marL="0" indent="0">
              <a:buNone/>
            </a:pPr>
            <a:r>
              <a:rPr lang="en-US" b="0" i="0" dirty="0">
                <a:effectLst/>
                <a:latin typeface="system-ui"/>
              </a:rPr>
              <a:t>However, this approach does not work usefully for </a:t>
            </a:r>
            <a:r>
              <a:rPr lang="en-US" b="0" i="0" dirty="0">
                <a:solidFill>
                  <a:schemeClr val="accent5"/>
                </a:solidFill>
                <a:effectLst/>
                <a:latin typeface="system-ui"/>
              </a:rPr>
              <a:t>continuous random variables</a:t>
            </a:r>
            <a:r>
              <a:rPr lang="en-US" b="0" i="0" dirty="0">
                <a:effectLst/>
                <a:latin typeface="system-ui"/>
              </a:rPr>
              <a:t>, since we will only ever see each observed value once (think about why!).</a:t>
            </a:r>
            <a:endParaRPr lang="en-GB" dirty="0">
              <a:latin typeface="system-ui"/>
            </a:endParaRPr>
          </a:p>
        </p:txBody>
      </p:sp>
      <p:pic>
        <p:nvPicPr>
          <p:cNvPr id="6" name="Picture 5">
            <a:extLst>
              <a:ext uri="{FF2B5EF4-FFF2-40B4-BE49-F238E27FC236}">
                <a16:creationId xmlns:a16="http://schemas.microsoft.com/office/drawing/2014/main" id="{2FB5B060-C42B-90AB-E96C-F6EF07F7873D}"/>
              </a:ext>
            </a:extLst>
          </p:cNvPr>
          <p:cNvPicPr>
            <a:picLocks noChangeAspect="1"/>
          </p:cNvPicPr>
          <p:nvPr/>
        </p:nvPicPr>
        <p:blipFill>
          <a:blip r:embed="rId2"/>
          <a:stretch>
            <a:fillRect/>
          </a:stretch>
        </p:blipFill>
        <p:spPr>
          <a:xfrm>
            <a:off x="0" y="3095501"/>
            <a:ext cx="12192000" cy="1192240"/>
          </a:xfrm>
          <a:prstGeom prst="rect">
            <a:avLst/>
          </a:prstGeom>
        </p:spPr>
      </p:pic>
    </p:spTree>
    <p:extLst>
      <p:ext uri="{BB962C8B-B14F-4D97-AF65-F5344CB8AC3E}">
        <p14:creationId xmlns:p14="http://schemas.microsoft.com/office/powerpoint/2010/main" val="1185650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49DECF-5BE8-4D56-AC90-8D0B1155BF0F}"/>
              </a:ext>
            </a:extLst>
          </p:cNvPr>
          <p:cNvSpPr>
            <a:spLocks noGrp="1"/>
          </p:cNvSpPr>
          <p:nvPr>
            <p:ph sz="half" idx="1"/>
          </p:nvPr>
        </p:nvSpPr>
        <p:spPr>
          <a:xfrm>
            <a:off x="838200" y="1608667"/>
            <a:ext cx="5181600" cy="4568296"/>
          </a:xfrm>
        </p:spPr>
        <p:txBody>
          <a:bodyPr>
            <a:normAutofit/>
          </a:bodyPr>
          <a:lstStyle/>
          <a:p>
            <a:pPr marL="0" indent="0">
              <a:buNone/>
            </a:pPr>
            <a:r>
              <a:rPr lang="en-US" sz="1700" dirty="0"/>
              <a:t>There are algorithms which can generate </a:t>
            </a:r>
            <a:r>
              <a:rPr lang="en-US" sz="1700" dirty="0">
                <a:solidFill>
                  <a:schemeClr val="accent5"/>
                </a:solidFill>
              </a:rPr>
              <a:t>continuous random numbers which are uniformly distributed in an interval</a:t>
            </a:r>
            <a:r>
              <a:rPr lang="en-US" sz="1700" dirty="0"/>
              <a:t>, such as from 0.0 to 1.0. </a:t>
            </a:r>
          </a:p>
          <a:p>
            <a:pPr marL="0" indent="0">
              <a:buNone/>
            </a:pPr>
            <a:r>
              <a:rPr lang="en-US" sz="1700" dirty="0"/>
              <a:t>These are actually </a:t>
            </a:r>
            <a:r>
              <a:rPr lang="en-US" sz="1700" dirty="0">
                <a:solidFill>
                  <a:schemeClr val="accent5"/>
                </a:solidFill>
              </a:rPr>
              <a:t>pseudo-random</a:t>
            </a:r>
            <a:r>
              <a:rPr lang="en-US" sz="1700" dirty="0"/>
              <a:t> numbers in practice (computers are deterministic!) but approximate the statistical properties of true random sequences. </a:t>
            </a:r>
          </a:p>
          <a:p>
            <a:pPr marL="0" indent="0">
              <a:buNone/>
            </a:pPr>
            <a:r>
              <a:rPr lang="en-US" sz="1700" dirty="0"/>
              <a:t>We must be careful: computers generate </a:t>
            </a:r>
            <a:r>
              <a:rPr lang="en-US" sz="1700" dirty="0">
                <a:solidFill>
                  <a:schemeClr val="accent5"/>
                </a:solidFill>
              </a:rPr>
              <a:t>pseudo-random floating-point numbers</a:t>
            </a:r>
            <a:r>
              <a:rPr lang="en-US" sz="1700" dirty="0"/>
              <a:t>; and not true random real numbers. While this makes little difference much of the time, they are quite different things.</a:t>
            </a:r>
            <a:endParaRPr lang="en-GB" sz="1700" dirty="0"/>
          </a:p>
        </p:txBody>
      </p:sp>
      <p:pic>
        <p:nvPicPr>
          <p:cNvPr id="8195" name="Picture 3" descr="Using the NumPy Random Number Generator – Real Python">
            <a:extLst>
              <a:ext uri="{FF2B5EF4-FFF2-40B4-BE49-F238E27FC236}">
                <a16:creationId xmlns:a16="http://schemas.microsoft.com/office/drawing/2014/main" id="{6704F3F0-1B9E-3704-81EC-974D5083096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20" t="1" r="-1427" b="1"/>
          <a:stretch/>
        </p:blipFill>
        <p:spPr bwMode="auto">
          <a:xfrm>
            <a:off x="6858000" y="1890912"/>
            <a:ext cx="4474060" cy="2461304"/>
          </a:xfrm>
          <a:prstGeom prst="rect">
            <a:avLst/>
          </a:prstGeom>
          <a:solidFill>
            <a:srgbClr val="FFFFFF"/>
          </a:solidFill>
        </p:spPr>
      </p:pic>
      <p:sp>
        <p:nvSpPr>
          <p:cNvPr id="2" name="Title 1">
            <a:extLst>
              <a:ext uri="{FF2B5EF4-FFF2-40B4-BE49-F238E27FC236}">
                <a16:creationId xmlns:a16="http://schemas.microsoft.com/office/drawing/2014/main" id="{19820269-0890-D750-E098-93BBAD8E16CB}"/>
              </a:ext>
            </a:extLst>
          </p:cNvPr>
          <p:cNvSpPr>
            <a:spLocks noGrp="1"/>
          </p:cNvSpPr>
          <p:nvPr>
            <p:ph type="title"/>
          </p:nvPr>
        </p:nvSpPr>
        <p:spPr>
          <a:xfrm>
            <a:off x="2549236" y="533614"/>
            <a:ext cx="9210963" cy="888786"/>
          </a:xfrm>
        </p:spPr>
        <p:txBody>
          <a:bodyPr anchor="t">
            <a:normAutofit/>
          </a:bodyPr>
          <a:lstStyle/>
          <a:p>
            <a:r>
              <a:rPr lang="en-GB" dirty="0"/>
              <a:t>Random numbers</a:t>
            </a:r>
          </a:p>
        </p:txBody>
      </p:sp>
      <p:pic>
        <p:nvPicPr>
          <p:cNvPr id="6" name="Picture 5">
            <a:extLst>
              <a:ext uri="{FF2B5EF4-FFF2-40B4-BE49-F238E27FC236}">
                <a16:creationId xmlns:a16="http://schemas.microsoft.com/office/drawing/2014/main" id="{A6841E26-7742-7A93-79CA-D987A779D4FD}"/>
              </a:ext>
            </a:extLst>
          </p:cNvPr>
          <p:cNvPicPr>
            <a:picLocks noChangeAspect="1"/>
          </p:cNvPicPr>
          <p:nvPr/>
        </p:nvPicPr>
        <p:blipFill>
          <a:blip r:embed="rId4"/>
          <a:stretch>
            <a:fillRect/>
          </a:stretch>
        </p:blipFill>
        <p:spPr>
          <a:xfrm>
            <a:off x="0" y="5130660"/>
            <a:ext cx="12192000" cy="1727340"/>
          </a:xfrm>
          <a:prstGeom prst="rect">
            <a:avLst/>
          </a:prstGeom>
        </p:spPr>
      </p:pic>
      <p:sp>
        <p:nvSpPr>
          <p:cNvPr id="8" name="TextBox 7">
            <a:extLst>
              <a:ext uri="{FF2B5EF4-FFF2-40B4-BE49-F238E27FC236}">
                <a16:creationId xmlns:a16="http://schemas.microsoft.com/office/drawing/2014/main" id="{6AFC06F9-B28B-1437-C482-0611B2147791}"/>
              </a:ext>
            </a:extLst>
          </p:cNvPr>
          <p:cNvSpPr txBox="1"/>
          <p:nvPr/>
        </p:nvSpPr>
        <p:spPr>
          <a:xfrm>
            <a:off x="6855619" y="4352216"/>
            <a:ext cx="6336506" cy="246221"/>
          </a:xfrm>
          <a:prstGeom prst="rect">
            <a:avLst/>
          </a:prstGeom>
          <a:noFill/>
        </p:spPr>
        <p:txBody>
          <a:bodyPr wrap="square">
            <a:spAutoFit/>
          </a:bodyPr>
          <a:lstStyle/>
          <a:p>
            <a:r>
              <a:rPr lang="en-GB" sz="1000" dirty="0"/>
              <a:t>https://realpython.com/numpy-random-number-generator/</a:t>
            </a:r>
          </a:p>
        </p:txBody>
      </p:sp>
    </p:spTree>
    <p:extLst>
      <p:ext uri="{BB962C8B-B14F-4D97-AF65-F5344CB8AC3E}">
        <p14:creationId xmlns:p14="http://schemas.microsoft.com/office/powerpoint/2010/main" val="190325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06608-A007-C5CE-1F56-58B5C4E1AB0B}"/>
              </a:ext>
            </a:extLst>
          </p:cNvPr>
          <p:cNvSpPr>
            <a:spLocks noGrp="1"/>
          </p:cNvSpPr>
          <p:nvPr>
            <p:ph type="title"/>
          </p:nvPr>
        </p:nvSpPr>
        <p:spPr/>
        <p:txBody>
          <a:bodyPr/>
          <a:lstStyle/>
          <a:p>
            <a:r>
              <a:rPr lang="en-GB" dirty="0"/>
              <a:t>Uniform sampling</a:t>
            </a:r>
          </a:p>
        </p:txBody>
      </p:sp>
      <p:sp>
        <p:nvSpPr>
          <p:cNvPr id="3" name="Content Placeholder 2">
            <a:extLst>
              <a:ext uri="{FF2B5EF4-FFF2-40B4-BE49-F238E27FC236}">
                <a16:creationId xmlns:a16="http://schemas.microsoft.com/office/drawing/2014/main" id="{C1A9E80C-E2C3-C6B6-2920-4116EA5BC1FE}"/>
              </a:ext>
            </a:extLst>
          </p:cNvPr>
          <p:cNvSpPr>
            <a:spLocks noGrp="1"/>
          </p:cNvSpPr>
          <p:nvPr>
            <p:ph sz="quarter" idx="13"/>
          </p:nvPr>
        </p:nvSpPr>
        <p:spPr/>
        <p:txBody>
          <a:bodyPr/>
          <a:lstStyle/>
          <a:p>
            <a:pPr marL="0" indent="0">
              <a:buNone/>
            </a:pPr>
            <a:r>
              <a:rPr lang="en-US" b="0" i="0" dirty="0">
                <a:effectLst/>
                <a:latin typeface="system-ui"/>
              </a:rPr>
              <a:t>A </a:t>
            </a:r>
            <a:r>
              <a:rPr lang="en-US" b="1" i="0" dirty="0">
                <a:solidFill>
                  <a:schemeClr val="accent5"/>
                </a:solidFill>
                <a:effectLst/>
                <a:latin typeface="system-ui"/>
              </a:rPr>
              <a:t>uniformly distributed</a:t>
            </a:r>
            <a:r>
              <a:rPr lang="en-US" b="0" i="0" dirty="0">
                <a:effectLst/>
                <a:latin typeface="system-ui"/>
              </a:rPr>
              <a:t> number has equal probability of taking on any value in its interval and zero probability everywhere else. </a:t>
            </a:r>
          </a:p>
          <a:p>
            <a:pPr marL="0" indent="0">
              <a:buNone/>
            </a:pPr>
            <a:r>
              <a:rPr lang="en-US" b="0" i="0" dirty="0">
                <a:effectLst/>
                <a:latin typeface="system-ui"/>
              </a:rPr>
              <a:t>Although this is sampling from a continuous PDF, it is the key building block in sampling from arbitrary PMFs. </a:t>
            </a:r>
          </a:p>
          <a:p>
            <a:pPr marL="0" indent="0">
              <a:buNone/>
            </a:pPr>
            <a:r>
              <a:rPr lang="en-US" b="0" i="0" dirty="0">
                <a:effectLst/>
                <a:latin typeface="system-ui"/>
              </a:rPr>
              <a:t>A uniform distribution is notated </a:t>
            </a:r>
            <a:r>
              <a:rPr lang="en-US" dirty="0">
                <a:solidFill>
                  <a:schemeClr val="accent4"/>
                </a:solidFill>
              </a:rPr>
              <a:t>X∼U(</a:t>
            </a:r>
            <a:r>
              <a:rPr lang="en-US" dirty="0" err="1">
                <a:solidFill>
                  <a:schemeClr val="accent4"/>
                </a:solidFill>
              </a:rPr>
              <a:t>a,b</a:t>
            </a:r>
            <a:r>
              <a:rPr lang="en-US" dirty="0">
                <a:solidFill>
                  <a:schemeClr val="accent4"/>
                </a:solidFill>
              </a:rPr>
              <a:t>)</a:t>
            </a:r>
            <a:r>
              <a:rPr lang="en-US" b="0" i="0" dirty="0">
                <a:effectLst/>
                <a:latin typeface="system-ui"/>
              </a:rPr>
              <a:t>, meaning </a:t>
            </a:r>
            <a:r>
              <a:rPr lang="en-US" dirty="0">
                <a:solidFill>
                  <a:schemeClr val="accent4"/>
                </a:solidFill>
              </a:rPr>
              <a:t>X</a:t>
            </a:r>
            <a:r>
              <a:rPr lang="en-US" b="0" i="0" dirty="0">
                <a:effectLst/>
                <a:latin typeface="system-ui"/>
              </a:rPr>
              <a:t> is random variable which may take on values between </a:t>
            </a:r>
            <a:r>
              <a:rPr lang="en-US" dirty="0">
                <a:solidFill>
                  <a:schemeClr val="accent4"/>
                </a:solidFill>
              </a:rPr>
              <a:t>a</a:t>
            </a:r>
            <a:r>
              <a:rPr lang="en-US" b="0" i="0" dirty="0">
                <a:effectLst/>
                <a:latin typeface="system-ui"/>
              </a:rPr>
              <a:t> and </a:t>
            </a:r>
            <a:r>
              <a:rPr lang="en-US" dirty="0">
                <a:solidFill>
                  <a:schemeClr val="accent4"/>
                </a:solidFill>
              </a:rPr>
              <a:t>b</a:t>
            </a:r>
            <a:r>
              <a:rPr lang="en-US" b="0" i="0" dirty="0">
                <a:effectLst/>
                <a:latin typeface="system-ui"/>
              </a:rPr>
              <a:t>, with equal possibility of any number in that interval. </a:t>
            </a:r>
          </a:p>
          <a:p>
            <a:pPr marL="0" indent="0">
              <a:buNone/>
            </a:pPr>
            <a:r>
              <a:rPr lang="en-US" b="0" i="0" dirty="0">
                <a:effectLst/>
                <a:latin typeface="system-ui"/>
              </a:rPr>
              <a:t>The symbol </a:t>
            </a:r>
            <a:r>
              <a:rPr lang="en-US" dirty="0">
                <a:solidFill>
                  <a:schemeClr val="accent4"/>
                </a:solidFill>
              </a:rPr>
              <a:t>∼</a:t>
            </a:r>
            <a:r>
              <a:rPr lang="en-US" b="0" i="0" dirty="0">
                <a:effectLst/>
                <a:latin typeface="system-ui"/>
              </a:rPr>
              <a:t> is read "</a:t>
            </a:r>
            <a:r>
              <a:rPr lang="en-US" b="0" i="0" dirty="0">
                <a:solidFill>
                  <a:schemeClr val="accent4"/>
                </a:solidFill>
                <a:effectLst/>
                <a:latin typeface="system-ui"/>
              </a:rPr>
              <a:t>distributed as</a:t>
            </a:r>
            <a:r>
              <a:rPr lang="en-US" b="0" i="0" dirty="0">
                <a:effectLst/>
                <a:latin typeface="system-ui"/>
              </a:rPr>
              <a:t>", i.e. "</a:t>
            </a:r>
            <a:r>
              <a:rPr lang="en-US" b="0" i="0" dirty="0">
                <a:solidFill>
                  <a:schemeClr val="accent4"/>
                </a:solidFill>
                <a:effectLst/>
                <a:latin typeface="system-ui"/>
              </a:rPr>
              <a:t>X is distributed as a uniform distribution in the interval [</a:t>
            </a:r>
            <a:r>
              <a:rPr lang="en-US" b="0" i="0" dirty="0" err="1">
                <a:solidFill>
                  <a:schemeClr val="accent4"/>
                </a:solidFill>
                <a:effectLst/>
                <a:latin typeface="system-ui"/>
              </a:rPr>
              <a:t>a,b</a:t>
            </a:r>
            <a:r>
              <a:rPr lang="en-US" b="0" i="0" dirty="0">
                <a:solidFill>
                  <a:schemeClr val="accent4"/>
                </a:solidFill>
                <a:effectLst/>
                <a:latin typeface="system-ui"/>
              </a:rPr>
              <a:t>]</a:t>
            </a:r>
            <a:r>
              <a:rPr lang="en-US" b="0" i="0" dirty="0">
                <a:effectLst/>
                <a:latin typeface="system-ui"/>
              </a:rPr>
              <a:t>".</a:t>
            </a:r>
          </a:p>
          <a:p>
            <a:pPr marL="0" indent="0">
              <a:buNone/>
            </a:pPr>
            <a:endParaRPr lang="en-US" b="0" i="0" dirty="0">
              <a:effectLst/>
              <a:latin typeface="system-ui"/>
            </a:endParaRPr>
          </a:p>
          <a:p>
            <a:pPr marL="457200" lvl="1" indent="0">
              <a:buNone/>
            </a:pPr>
            <a:r>
              <a:rPr lang="en-US" b="0" i="0" dirty="0">
                <a:solidFill>
                  <a:schemeClr val="accent3"/>
                </a:solidFill>
                <a:effectLst/>
                <a:latin typeface="system-ui"/>
              </a:rPr>
              <a:t>Note that in practice these are not uniform across the reals in a given interval if we are using floating point, because we can only ever sample valid floating point values.</a:t>
            </a:r>
            <a:r>
              <a:rPr lang="en-US" b="0" i="0" dirty="0">
                <a:effectLst/>
                <a:latin typeface="system-ui"/>
              </a:rPr>
              <a:t> </a:t>
            </a:r>
            <a:endParaRPr lang="en-GB" dirty="0"/>
          </a:p>
        </p:txBody>
      </p:sp>
    </p:spTree>
    <p:extLst>
      <p:ext uri="{BB962C8B-B14F-4D97-AF65-F5344CB8AC3E}">
        <p14:creationId xmlns:p14="http://schemas.microsoft.com/office/powerpoint/2010/main" val="6129801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1F394-A7DD-7CA5-9E3F-E736955FE23E}"/>
              </a:ext>
            </a:extLst>
          </p:cNvPr>
          <p:cNvSpPr>
            <a:spLocks noGrp="1"/>
          </p:cNvSpPr>
          <p:nvPr>
            <p:ph type="title"/>
          </p:nvPr>
        </p:nvSpPr>
        <p:spPr/>
        <p:txBody>
          <a:bodyPr/>
          <a:lstStyle/>
          <a:p>
            <a:r>
              <a:rPr lang="en-GB" dirty="0"/>
              <a:t>Discrete sampling</a:t>
            </a:r>
          </a:p>
        </p:txBody>
      </p:sp>
      <p:sp>
        <p:nvSpPr>
          <p:cNvPr id="3" name="Content Placeholder 2">
            <a:extLst>
              <a:ext uri="{FF2B5EF4-FFF2-40B4-BE49-F238E27FC236}">
                <a16:creationId xmlns:a16="http://schemas.microsoft.com/office/drawing/2014/main" id="{587D666F-BA17-8ADB-BD1F-5113719CFECF}"/>
              </a:ext>
            </a:extLst>
          </p:cNvPr>
          <p:cNvSpPr>
            <a:spLocks noGrp="1"/>
          </p:cNvSpPr>
          <p:nvPr>
            <p:ph sz="quarter" idx="13"/>
          </p:nvPr>
        </p:nvSpPr>
        <p:spPr/>
        <p:txBody>
          <a:bodyPr>
            <a:normAutofit/>
          </a:bodyPr>
          <a:lstStyle/>
          <a:p>
            <a:pPr marL="0" indent="0" algn="l">
              <a:buNone/>
            </a:pPr>
            <a:r>
              <a:rPr lang="en-US" b="0" i="0" dirty="0">
                <a:effectLst/>
                <a:latin typeface="system-ui"/>
              </a:rPr>
              <a:t>For a </a:t>
            </a:r>
            <a:r>
              <a:rPr lang="en-US" b="0" i="0" dirty="0">
                <a:solidFill>
                  <a:schemeClr val="accent5"/>
                </a:solidFill>
                <a:effectLst/>
                <a:latin typeface="system-ui"/>
              </a:rPr>
              <a:t>discrete</a:t>
            </a:r>
            <a:r>
              <a:rPr lang="en-US" b="0" i="0" dirty="0">
                <a:effectLst/>
                <a:latin typeface="system-ui"/>
              </a:rPr>
              <a:t> probability mass function, we can sample outcomes according to </a:t>
            </a:r>
            <a:r>
              <a:rPr lang="en-US" b="0" i="1" dirty="0">
                <a:solidFill>
                  <a:schemeClr val="accent5"/>
                </a:solidFill>
                <a:effectLst/>
                <a:latin typeface="system-ui"/>
              </a:rPr>
              <a:t>any arbitrary PMF</a:t>
            </a:r>
            <a:r>
              <a:rPr lang="en-US" b="0" i="0" dirty="0">
                <a:solidFill>
                  <a:schemeClr val="accent5"/>
                </a:solidFill>
                <a:effectLst/>
                <a:latin typeface="system-ui"/>
              </a:rPr>
              <a:t> </a:t>
            </a:r>
            <a:r>
              <a:rPr lang="en-US" b="0" i="0" dirty="0">
                <a:effectLst/>
                <a:latin typeface="system-ui"/>
              </a:rPr>
              <a:t>by partitioning the unit interval.</a:t>
            </a:r>
          </a:p>
          <a:p>
            <a:pPr marL="0" indent="0" algn="l">
              <a:buNone/>
            </a:pPr>
            <a:r>
              <a:rPr lang="en-US" b="1" i="0" dirty="0">
                <a:effectLst/>
                <a:latin typeface="system-ui"/>
              </a:rPr>
              <a:t>Algorithm:</a:t>
            </a:r>
          </a:p>
          <a:p>
            <a:pPr marL="457200" indent="-457200" algn="l">
              <a:buFont typeface="+mj-lt"/>
              <a:buAutoNum type="arabicPeriod"/>
            </a:pPr>
            <a:r>
              <a:rPr lang="en-US" b="0" i="0" dirty="0">
                <a:effectLst/>
                <a:latin typeface="system-ui"/>
              </a:rPr>
              <a:t>choose any arbitrary ordering for the outcomes x</a:t>
            </a:r>
            <a:r>
              <a:rPr lang="en-US" b="0" i="0" baseline="-25000" dirty="0">
                <a:effectLst/>
                <a:latin typeface="system-ui"/>
              </a:rPr>
              <a:t>1</a:t>
            </a:r>
            <a:r>
              <a:rPr lang="en-US" b="0" i="0" dirty="0">
                <a:effectLst/>
                <a:latin typeface="system-ui"/>
              </a:rPr>
              <a:t>,x</a:t>
            </a:r>
            <a:r>
              <a:rPr lang="en-US" b="0" i="0" baseline="-25000" dirty="0">
                <a:effectLst/>
                <a:latin typeface="system-ui"/>
              </a:rPr>
              <a:t>2</a:t>
            </a:r>
            <a:r>
              <a:rPr lang="en-US" b="0" i="0" dirty="0">
                <a:effectLst/>
                <a:latin typeface="system-ui"/>
              </a:rPr>
              <a:t>,…</a:t>
            </a:r>
          </a:p>
          <a:p>
            <a:pPr marL="457200" indent="-457200" algn="l">
              <a:buFont typeface="+mj-lt"/>
              <a:buAutoNum type="arabicPeriod"/>
            </a:pPr>
            <a:r>
              <a:rPr lang="en-US" b="0" i="0" dirty="0">
                <a:effectLst/>
                <a:latin typeface="system-ui"/>
              </a:rPr>
              <a:t>assign each outcome a "bin" which is a portion of the interval [0,1] equal to its probability, so that the interval is divided into consecutive non-overlapping regions [P(x</a:t>
            </a:r>
            <a:r>
              <a:rPr lang="en-US" b="0" i="0" baseline="-25000" dirty="0">
                <a:effectLst/>
                <a:latin typeface="system-ui"/>
              </a:rPr>
              <a:t>1</a:t>
            </a:r>
            <a:r>
              <a:rPr lang="en-US" b="0" i="0" dirty="0">
                <a:effectLst/>
                <a:latin typeface="system-ui"/>
              </a:rPr>
              <a:t>)→P(x</a:t>
            </a:r>
            <a:r>
              <a:rPr lang="en-US" b="0" i="0" baseline="-25000" dirty="0">
                <a:effectLst/>
                <a:latin typeface="system-ui"/>
              </a:rPr>
              <a:t>1</a:t>
            </a:r>
            <a:r>
              <a:rPr lang="en-US" b="0" i="0" dirty="0">
                <a:effectLst/>
                <a:latin typeface="system-ui"/>
              </a:rPr>
              <a:t>)+P(x</a:t>
            </a:r>
            <a:r>
              <a:rPr lang="en-US" b="0" i="0" baseline="-25000" dirty="0">
                <a:effectLst/>
                <a:latin typeface="system-ui"/>
              </a:rPr>
              <a:t>2</a:t>
            </a:r>
            <a:r>
              <a:rPr lang="en-US" b="0" i="0" dirty="0">
                <a:effectLst/>
                <a:latin typeface="system-ui"/>
              </a:rPr>
              <a:t>) , P(x</a:t>
            </a:r>
            <a:r>
              <a:rPr lang="en-US" b="0" i="0" baseline="-25000" dirty="0">
                <a:effectLst/>
                <a:latin typeface="system-ui"/>
              </a:rPr>
              <a:t>1</a:t>
            </a:r>
            <a:r>
              <a:rPr lang="en-US" b="0" i="0" dirty="0">
                <a:effectLst/>
                <a:latin typeface="system-ui"/>
              </a:rPr>
              <a:t>)+P(x</a:t>
            </a:r>
            <a:r>
              <a:rPr lang="en-US" b="0" i="0" baseline="-25000" dirty="0">
                <a:effectLst/>
                <a:latin typeface="system-ui"/>
              </a:rPr>
              <a:t>2</a:t>
            </a:r>
            <a:r>
              <a:rPr lang="en-US" b="0" i="0" dirty="0">
                <a:effectLst/>
                <a:latin typeface="system-ui"/>
              </a:rPr>
              <a:t>)→P(x</a:t>
            </a:r>
            <a:r>
              <a:rPr lang="en-US" b="0" i="0" baseline="-25000" dirty="0">
                <a:effectLst/>
                <a:latin typeface="system-ui"/>
              </a:rPr>
              <a:t>1</a:t>
            </a:r>
            <a:r>
              <a:rPr lang="en-US" b="0" i="0" dirty="0">
                <a:effectLst/>
                <a:latin typeface="system-ui"/>
              </a:rPr>
              <a:t>)+P(x</a:t>
            </a:r>
            <a:r>
              <a:rPr lang="en-US" b="0" i="0" baseline="-25000" dirty="0">
                <a:effectLst/>
                <a:latin typeface="system-ui"/>
              </a:rPr>
              <a:t>2</a:t>
            </a:r>
            <a:r>
              <a:rPr lang="en-US" b="0" i="0" dirty="0">
                <a:effectLst/>
                <a:latin typeface="system-ui"/>
              </a:rPr>
              <a:t>)+P(x</a:t>
            </a:r>
            <a:r>
              <a:rPr lang="en-US" b="0" i="0" baseline="-25000" dirty="0">
                <a:effectLst/>
                <a:latin typeface="system-ui"/>
              </a:rPr>
              <a:t>3</a:t>
            </a:r>
            <a:r>
              <a:rPr lang="en-US" b="0" i="0" dirty="0">
                <a:effectLst/>
                <a:latin typeface="system-ui"/>
              </a:rPr>
              <a:t>) , …]</a:t>
            </a:r>
          </a:p>
          <a:p>
            <a:pPr marL="457200" indent="-457200" algn="l">
              <a:buFont typeface="+mj-lt"/>
              <a:buAutoNum type="arabicPeriod"/>
            </a:pPr>
            <a:r>
              <a:rPr lang="en-US" b="0" i="0" dirty="0">
                <a:effectLst/>
                <a:latin typeface="system-ui"/>
              </a:rPr>
              <a:t>draw a uniform sample in the range [0,1]</a:t>
            </a:r>
          </a:p>
          <a:p>
            <a:pPr marL="457200" indent="-457200" algn="l">
              <a:buFont typeface="+mj-lt"/>
              <a:buAutoNum type="arabicPeriod"/>
            </a:pPr>
            <a:r>
              <a:rPr lang="en-US" b="0" i="0" dirty="0">
                <a:effectLst/>
                <a:latin typeface="system-ui"/>
              </a:rPr>
              <a:t>whichever "outcome bin" it lands in is the sample to draw</a:t>
            </a:r>
          </a:p>
          <a:p>
            <a:pPr marL="0" indent="0" algn="l">
              <a:buNone/>
            </a:pPr>
            <a:r>
              <a:rPr lang="en-US" b="0" i="0" dirty="0">
                <a:effectLst/>
                <a:latin typeface="system-ui"/>
              </a:rPr>
              <a:t>By the definition of a PMF, the sum of all the probabilities will be 1.0, so it will fill the interval [0,1] perfectly with no gaps.</a:t>
            </a:r>
          </a:p>
          <a:p>
            <a:endParaRPr lang="en-GB" dirty="0"/>
          </a:p>
        </p:txBody>
      </p:sp>
    </p:spTree>
    <p:extLst>
      <p:ext uri="{BB962C8B-B14F-4D97-AF65-F5344CB8AC3E}">
        <p14:creationId xmlns:p14="http://schemas.microsoft.com/office/powerpoint/2010/main" val="38103910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339E-3AA4-BB1C-E8DA-524B96A1E86B}"/>
              </a:ext>
            </a:extLst>
          </p:cNvPr>
          <p:cNvSpPr>
            <a:spLocks noGrp="1"/>
          </p:cNvSpPr>
          <p:nvPr>
            <p:ph type="title"/>
          </p:nvPr>
        </p:nvSpPr>
        <p:spPr/>
        <p:txBody>
          <a:bodyPr/>
          <a:lstStyle/>
          <a:p>
            <a:r>
              <a:rPr lang="en-GB" dirty="0"/>
              <a:t>Discrete sampling example</a:t>
            </a:r>
          </a:p>
        </p:txBody>
      </p:sp>
      <p:pic>
        <p:nvPicPr>
          <p:cNvPr id="5" name="Content Placeholder 4">
            <a:extLst>
              <a:ext uri="{FF2B5EF4-FFF2-40B4-BE49-F238E27FC236}">
                <a16:creationId xmlns:a16="http://schemas.microsoft.com/office/drawing/2014/main" id="{15129E0B-251E-D7D2-B47D-67C44B15C726}"/>
              </a:ext>
            </a:extLst>
          </p:cNvPr>
          <p:cNvPicPr>
            <a:picLocks noGrp="1" noChangeAspect="1"/>
          </p:cNvPicPr>
          <p:nvPr>
            <p:ph sz="quarter" idx="13"/>
          </p:nvPr>
        </p:nvPicPr>
        <p:blipFill>
          <a:blip r:embed="rId2"/>
          <a:stretch>
            <a:fillRect/>
          </a:stretch>
        </p:blipFill>
        <p:spPr>
          <a:xfrm>
            <a:off x="2648858" y="1504812"/>
            <a:ext cx="6169919" cy="3386730"/>
          </a:xfrm>
        </p:spPr>
      </p:pic>
      <p:sp>
        <p:nvSpPr>
          <p:cNvPr id="6" name="Rectangle 5">
            <a:extLst>
              <a:ext uri="{FF2B5EF4-FFF2-40B4-BE49-F238E27FC236}">
                <a16:creationId xmlns:a16="http://schemas.microsoft.com/office/drawing/2014/main" id="{7EFA242D-2FD0-C50E-BED3-2A95131EA3B8}"/>
              </a:ext>
            </a:extLst>
          </p:cNvPr>
          <p:cNvSpPr/>
          <p:nvPr/>
        </p:nvSpPr>
        <p:spPr>
          <a:xfrm>
            <a:off x="7154717" y="5634955"/>
            <a:ext cx="1873056" cy="68942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GB" dirty="0"/>
              <a:t>sheep</a:t>
            </a:r>
          </a:p>
        </p:txBody>
      </p:sp>
      <p:sp>
        <p:nvSpPr>
          <p:cNvPr id="7" name="Rectangle 6">
            <a:extLst>
              <a:ext uri="{FF2B5EF4-FFF2-40B4-BE49-F238E27FC236}">
                <a16:creationId xmlns:a16="http://schemas.microsoft.com/office/drawing/2014/main" id="{594DA577-EB04-ECA9-A25F-5507B6324B33}"/>
              </a:ext>
            </a:extLst>
          </p:cNvPr>
          <p:cNvSpPr/>
          <p:nvPr/>
        </p:nvSpPr>
        <p:spPr>
          <a:xfrm>
            <a:off x="2477799" y="5634956"/>
            <a:ext cx="1586996" cy="68942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dirty="0"/>
              <a:t>cat</a:t>
            </a:r>
          </a:p>
        </p:txBody>
      </p:sp>
      <p:sp>
        <p:nvSpPr>
          <p:cNvPr id="8" name="Rectangle 7">
            <a:extLst>
              <a:ext uri="{FF2B5EF4-FFF2-40B4-BE49-F238E27FC236}">
                <a16:creationId xmlns:a16="http://schemas.microsoft.com/office/drawing/2014/main" id="{32EDF490-01DB-ED89-2712-6BF6833AA22E}"/>
              </a:ext>
            </a:extLst>
          </p:cNvPr>
          <p:cNvSpPr/>
          <p:nvPr/>
        </p:nvSpPr>
        <p:spPr>
          <a:xfrm>
            <a:off x="4064794" y="5634956"/>
            <a:ext cx="3100387" cy="689429"/>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dirty="0"/>
              <a:t>dog</a:t>
            </a:r>
          </a:p>
        </p:txBody>
      </p:sp>
      <p:sp>
        <p:nvSpPr>
          <p:cNvPr id="9" name="Rectangle 8">
            <a:extLst>
              <a:ext uri="{FF2B5EF4-FFF2-40B4-BE49-F238E27FC236}">
                <a16:creationId xmlns:a16="http://schemas.microsoft.com/office/drawing/2014/main" id="{53F292C7-29ED-D995-8D62-0E12A87C9934}"/>
              </a:ext>
            </a:extLst>
          </p:cNvPr>
          <p:cNvSpPr/>
          <p:nvPr/>
        </p:nvSpPr>
        <p:spPr>
          <a:xfrm>
            <a:off x="9027773" y="5634955"/>
            <a:ext cx="73819" cy="6894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69A456AF-8479-4272-B822-B97809FEFEC8}"/>
              </a:ext>
            </a:extLst>
          </p:cNvPr>
          <p:cNvSpPr txBox="1"/>
          <p:nvPr/>
        </p:nvSpPr>
        <p:spPr>
          <a:xfrm>
            <a:off x="2326956" y="6380048"/>
            <a:ext cx="301686" cy="369332"/>
          </a:xfrm>
          <a:prstGeom prst="rect">
            <a:avLst/>
          </a:prstGeom>
          <a:noFill/>
        </p:spPr>
        <p:txBody>
          <a:bodyPr wrap="none" rtlCol="0">
            <a:spAutoFit/>
          </a:bodyPr>
          <a:lstStyle/>
          <a:p>
            <a:r>
              <a:rPr lang="en-GB" dirty="0"/>
              <a:t>0</a:t>
            </a:r>
          </a:p>
        </p:txBody>
      </p:sp>
      <p:sp>
        <p:nvSpPr>
          <p:cNvPr id="11" name="TextBox 10">
            <a:extLst>
              <a:ext uri="{FF2B5EF4-FFF2-40B4-BE49-F238E27FC236}">
                <a16:creationId xmlns:a16="http://schemas.microsoft.com/office/drawing/2014/main" id="{E5EAB240-2233-09AA-08FE-1DA6A72722B7}"/>
              </a:ext>
            </a:extLst>
          </p:cNvPr>
          <p:cNvSpPr txBox="1"/>
          <p:nvPr/>
        </p:nvSpPr>
        <p:spPr>
          <a:xfrm>
            <a:off x="8950749" y="6328062"/>
            <a:ext cx="301686" cy="369332"/>
          </a:xfrm>
          <a:prstGeom prst="rect">
            <a:avLst/>
          </a:prstGeom>
          <a:noFill/>
        </p:spPr>
        <p:txBody>
          <a:bodyPr wrap="none" rtlCol="0">
            <a:spAutoFit/>
          </a:bodyPr>
          <a:lstStyle/>
          <a:p>
            <a:r>
              <a:rPr lang="en-GB" dirty="0"/>
              <a:t>1</a:t>
            </a:r>
          </a:p>
        </p:txBody>
      </p:sp>
      <p:sp>
        <p:nvSpPr>
          <p:cNvPr id="12" name="TextBox 11">
            <a:extLst>
              <a:ext uri="{FF2B5EF4-FFF2-40B4-BE49-F238E27FC236}">
                <a16:creationId xmlns:a16="http://schemas.microsoft.com/office/drawing/2014/main" id="{EB7FF252-E59A-0465-53B5-74AE4ABEB8F7}"/>
              </a:ext>
            </a:extLst>
          </p:cNvPr>
          <p:cNvSpPr txBox="1"/>
          <p:nvPr/>
        </p:nvSpPr>
        <p:spPr>
          <a:xfrm>
            <a:off x="3787389" y="5265623"/>
            <a:ext cx="593432" cy="369332"/>
          </a:xfrm>
          <a:prstGeom prst="rect">
            <a:avLst/>
          </a:prstGeom>
          <a:noFill/>
        </p:spPr>
        <p:txBody>
          <a:bodyPr wrap="none" rtlCol="0">
            <a:spAutoFit/>
          </a:bodyPr>
          <a:lstStyle/>
          <a:p>
            <a:r>
              <a:rPr lang="en-GB" dirty="0"/>
              <a:t>0.28</a:t>
            </a:r>
          </a:p>
        </p:txBody>
      </p:sp>
      <p:sp>
        <p:nvSpPr>
          <p:cNvPr id="13" name="TextBox 12">
            <a:extLst>
              <a:ext uri="{FF2B5EF4-FFF2-40B4-BE49-F238E27FC236}">
                <a16:creationId xmlns:a16="http://schemas.microsoft.com/office/drawing/2014/main" id="{F71319DC-3A1A-815C-709A-CA86FA8715E2}"/>
              </a:ext>
            </a:extLst>
          </p:cNvPr>
          <p:cNvSpPr txBox="1"/>
          <p:nvPr/>
        </p:nvSpPr>
        <p:spPr>
          <a:xfrm>
            <a:off x="6654419" y="5254409"/>
            <a:ext cx="1000595" cy="369332"/>
          </a:xfrm>
          <a:prstGeom prst="rect">
            <a:avLst/>
          </a:prstGeom>
          <a:noFill/>
        </p:spPr>
        <p:txBody>
          <a:bodyPr wrap="none" rtlCol="0">
            <a:spAutoFit/>
          </a:bodyPr>
          <a:lstStyle/>
          <a:p>
            <a:r>
              <a:rPr lang="en-GB" dirty="0"/>
              <a:t>0.28+0.5</a:t>
            </a:r>
          </a:p>
        </p:txBody>
      </p:sp>
      <p:sp>
        <p:nvSpPr>
          <p:cNvPr id="14" name="TextBox 13">
            <a:extLst>
              <a:ext uri="{FF2B5EF4-FFF2-40B4-BE49-F238E27FC236}">
                <a16:creationId xmlns:a16="http://schemas.microsoft.com/office/drawing/2014/main" id="{6E20E6C5-8308-69C6-A5BD-BBCE5FFEC242}"/>
              </a:ext>
            </a:extLst>
          </p:cNvPr>
          <p:cNvSpPr txBox="1"/>
          <p:nvPr/>
        </p:nvSpPr>
        <p:spPr>
          <a:xfrm>
            <a:off x="8323894" y="4931243"/>
            <a:ext cx="1407758" cy="646331"/>
          </a:xfrm>
          <a:prstGeom prst="rect">
            <a:avLst/>
          </a:prstGeom>
          <a:noFill/>
        </p:spPr>
        <p:txBody>
          <a:bodyPr wrap="none" rtlCol="0">
            <a:spAutoFit/>
          </a:bodyPr>
          <a:lstStyle/>
          <a:p>
            <a:r>
              <a:rPr lang="en-GB" dirty="0"/>
              <a:t>0.28+0.5+0.2</a:t>
            </a:r>
          </a:p>
          <a:p>
            <a:r>
              <a:rPr lang="en-GB" dirty="0"/>
              <a:t>= 1-0.02</a:t>
            </a:r>
          </a:p>
        </p:txBody>
      </p:sp>
      <p:sp>
        <p:nvSpPr>
          <p:cNvPr id="15" name="Rectangle 14">
            <a:extLst>
              <a:ext uri="{FF2B5EF4-FFF2-40B4-BE49-F238E27FC236}">
                <a16:creationId xmlns:a16="http://schemas.microsoft.com/office/drawing/2014/main" id="{A88F72A1-3D8D-2D25-6923-BCD3A393A07D}"/>
              </a:ext>
            </a:extLst>
          </p:cNvPr>
          <p:cNvSpPr/>
          <p:nvPr/>
        </p:nvSpPr>
        <p:spPr>
          <a:xfrm>
            <a:off x="7072313" y="1771650"/>
            <a:ext cx="1664493" cy="5143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917829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Romeo + Juliet (1996) - IMDb">
            <a:extLst>
              <a:ext uri="{FF2B5EF4-FFF2-40B4-BE49-F238E27FC236}">
                <a16:creationId xmlns:a16="http://schemas.microsoft.com/office/drawing/2014/main" id="{0DB39E29-9136-574F-E4F6-094168C6D4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26556" b="-1"/>
          <a:stretch/>
        </p:blipFill>
        <p:spPr bwMode="auto">
          <a:xfrm>
            <a:off x="838200" y="1608667"/>
            <a:ext cx="5181600" cy="4568296"/>
          </a:xfrm>
          <a:prstGeom prst="rect">
            <a:avLst/>
          </a:prstGeom>
          <a:solidFill>
            <a:srgbClr val="FFFFFF"/>
          </a:solidFill>
        </p:spPr>
      </p:pic>
      <p:sp>
        <p:nvSpPr>
          <p:cNvPr id="3" name="Content Placeholder 2">
            <a:extLst>
              <a:ext uri="{FF2B5EF4-FFF2-40B4-BE49-F238E27FC236}">
                <a16:creationId xmlns:a16="http://schemas.microsoft.com/office/drawing/2014/main" id="{82BE2076-D19B-CD85-07CE-89738AAF6B2E}"/>
              </a:ext>
            </a:extLst>
          </p:cNvPr>
          <p:cNvSpPr>
            <a:spLocks noGrp="1"/>
          </p:cNvSpPr>
          <p:nvPr>
            <p:ph sz="half" idx="2"/>
          </p:nvPr>
        </p:nvSpPr>
        <p:spPr>
          <a:xfrm>
            <a:off x="6172200" y="1608667"/>
            <a:ext cx="5181600" cy="4568296"/>
          </a:xfrm>
        </p:spPr>
        <p:txBody>
          <a:bodyPr>
            <a:normAutofit/>
          </a:bodyPr>
          <a:lstStyle/>
          <a:p>
            <a:pPr marL="0" indent="0">
              <a:buNone/>
            </a:pPr>
            <a:r>
              <a:rPr lang="en-US" sz="1700" dirty="0"/>
              <a:t>The code in the lecture notes loads a text file (in this case, Romeo and Juliet), and converts into a vector of numerical codes. It keeps only letters and spaces and converts everything to lowercase.</a:t>
            </a:r>
          </a:p>
          <a:p>
            <a:endParaRPr lang="en-US" sz="1700" dirty="0"/>
          </a:p>
          <a:p>
            <a:pPr marL="457200" lvl="1" indent="0">
              <a:buNone/>
            </a:pPr>
            <a:r>
              <a:rPr lang="en-US" sz="1400" i="1" dirty="0">
                <a:solidFill>
                  <a:schemeClr val="accent1"/>
                </a:solidFill>
              </a:rPr>
              <a:t>Rom. Give me a torch. I am not for this ambling. </a:t>
            </a:r>
          </a:p>
          <a:p>
            <a:pPr marL="457200" lvl="1" indent="0">
              <a:buNone/>
            </a:pPr>
            <a:r>
              <a:rPr lang="en-US" sz="1400" i="1" dirty="0">
                <a:solidFill>
                  <a:schemeClr val="accent1"/>
                </a:solidFill>
              </a:rPr>
              <a:t>Being but heavy, I will bear the light.</a:t>
            </a:r>
          </a:p>
          <a:p>
            <a:pPr marL="457200" lvl="1" indent="0">
              <a:buNone/>
            </a:pPr>
            <a:endParaRPr lang="en-US" sz="1400" i="1" dirty="0">
              <a:solidFill>
                <a:schemeClr val="accent1"/>
              </a:solidFill>
            </a:endParaRPr>
          </a:p>
          <a:p>
            <a:pPr marL="457200" lvl="1" indent="0">
              <a:buNone/>
            </a:pPr>
            <a:r>
              <a:rPr lang="en-US" sz="1400" i="1" dirty="0">
                <a:solidFill>
                  <a:schemeClr val="accent1"/>
                </a:solidFill>
              </a:rPr>
              <a:t>Mer. Nay, gentle Romeo, we must have you dance.</a:t>
            </a:r>
          </a:p>
          <a:p>
            <a:pPr marL="457200" lvl="1" indent="0">
              <a:buNone/>
            </a:pPr>
            <a:endParaRPr lang="en-US" sz="1400" i="1" dirty="0">
              <a:solidFill>
                <a:schemeClr val="accent1"/>
              </a:solidFill>
            </a:endParaRPr>
          </a:p>
          <a:p>
            <a:pPr marL="457200" lvl="1" indent="0">
              <a:buNone/>
            </a:pPr>
            <a:r>
              <a:rPr lang="en-US" sz="1400" i="1" dirty="0">
                <a:solidFill>
                  <a:schemeClr val="accent1"/>
                </a:solidFill>
              </a:rPr>
              <a:t>Rom. Not I, believe me. You have dancing shoes</a:t>
            </a:r>
          </a:p>
          <a:p>
            <a:pPr marL="457200" lvl="1" indent="0">
              <a:buNone/>
            </a:pPr>
            <a:r>
              <a:rPr lang="en-US" sz="1400" i="1" dirty="0">
                <a:solidFill>
                  <a:schemeClr val="accent1"/>
                </a:solidFill>
              </a:rPr>
              <a:t>With nimble soles; I have a soul of lead</a:t>
            </a:r>
          </a:p>
          <a:p>
            <a:pPr marL="457200" lvl="1" indent="0">
              <a:buNone/>
            </a:pPr>
            <a:r>
              <a:rPr lang="en-US" sz="1400" i="1" dirty="0">
                <a:solidFill>
                  <a:schemeClr val="accent1"/>
                </a:solidFill>
              </a:rPr>
              <a:t>So stakes me to the ground I cannot move.</a:t>
            </a:r>
            <a:endParaRPr lang="en-GB" sz="1400" i="1" dirty="0">
              <a:solidFill>
                <a:schemeClr val="accent1"/>
              </a:solidFill>
            </a:endParaRPr>
          </a:p>
        </p:txBody>
      </p:sp>
      <p:sp>
        <p:nvSpPr>
          <p:cNvPr id="10247" name="Title 3">
            <a:extLst>
              <a:ext uri="{FF2B5EF4-FFF2-40B4-BE49-F238E27FC236}">
                <a16:creationId xmlns:a16="http://schemas.microsoft.com/office/drawing/2014/main" id="{B91B9E8F-3764-D5C1-093F-3A3902E3419B}"/>
              </a:ext>
            </a:extLst>
          </p:cNvPr>
          <p:cNvSpPr>
            <a:spLocks noGrp="1"/>
          </p:cNvSpPr>
          <p:nvPr>
            <p:ph type="title"/>
          </p:nvPr>
        </p:nvSpPr>
        <p:spPr>
          <a:xfrm>
            <a:off x="2549236" y="533614"/>
            <a:ext cx="9210963" cy="888786"/>
          </a:xfrm>
        </p:spPr>
        <p:txBody>
          <a:bodyPr/>
          <a:lstStyle/>
          <a:p>
            <a:r>
              <a:rPr lang="en-US" dirty="0"/>
              <a:t>Example: Romeo &amp; Juliet</a:t>
            </a:r>
          </a:p>
        </p:txBody>
      </p:sp>
    </p:spTree>
    <p:extLst>
      <p:ext uri="{BB962C8B-B14F-4D97-AF65-F5344CB8AC3E}">
        <p14:creationId xmlns:p14="http://schemas.microsoft.com/office/powerpoint/2010/main" val="36142717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94AFA-2F7A-D772-53CE-4D5BB7518B2B}"/>
              </a:ext>
            </a:extLst>
          </p:cNvPr>
          <p:cNvSpPr>
            <a:spLocks noGrp="1"/>
          </p:cNvSpPr>
          <p:nvPr>
            <p:ph type="title"/>
          </p:nvPr>
        </p:nvSpPr>
        <p:spPr/>
        <p:txBody>
          <a:bodyPr/>
          <a:lstStyle/>
          <a:p>
            <a:r>
              <a:rPr lang="en-GB" dirty="0"/>
              <a:t>Letters PMF in Romeo &amp; Juliet</a:t>
            </a:r>
          </a:p>
        </p:txBody>
      </p:sp>
      <p:pic>
        <p:nvPicPr>
          <p:cNvPr id="5" name="Content Placeholder 4">
            <a:extLst>
              <a:ext uri="{FF2B5EF4-FFF2-40B4-BE49-F238E27FC236}">
                <a16:creationId xmlns:a16="http://schemas.microsoft.com/office/drawing/2014/main" id="{B40B1DFB-C22A-BF18-6940-108375DBA97D}"/>
              </a:ext>
            </a:extLst>
          </p:cNvPr>
          <p:cNvPicPr>
            <a:picLocks noGrp="1" noChangeAspect="1"/>
          </p:cNvPicPr>
          <p:nvPr>
            <p:ph sz="quarter" idx="13"/>
          </p:nvPr>
        </p:nvPicPr>
        <p:blipFill>
          <a:blip r:embed="rId2"/>
          <a:stretch>
            <a:fillRect/>
          </a:stretch>
        </p:blipFill>
        <p:spPr>
          <a:xfrm>
            <a:off x="1729210" y="1627188"/>
            <a:ext cx="8587530" cy="4606925"/>
          </a:xfrm>
        </p:spPr>
      </p:pic>
      <p:pic>
        <p:nvPicPr>
          <p:cNvPr id="11266" name="Picture 2" descr="Romeo + Juliet (1996) - IMDb">
            <a:extLst>
              <a:ext uri="{FF2B5EF4-FFF2-40B4-BE49-F238E27FC236}">
                <a16:creationId xmlns:a16="http://schemas.microsoft.com/office/drawing/2014/main" id="{B6B13494-B7D5-38BD-F9F0-5ED55AE864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71319" y="117702"/>
            <a:ext cx="2331667" cy="1509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6125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08B13-BA0B-3286-E15F-2F8FA13AF369}"/>
              </a:ext>
            </a:extLst>
          </p:cNvPr>
          <p:cNvSpPr>
            <a:spLocks noGrp="1"/>
          </p:cNvSpPr>
          <p:nvPr>
            <p:ph type="title"/>
          </p:nvPr>
        </p:nvSpPr>
        <p:spPr/>
        <p:txBody>
          <a:bodyPr/>
          <a:lstStyle/>
          <a:p>
            <a:r>
              <a:rPr lang="en-GB" dirty="0"/>
              <a:t>Letters PMF in Metamorphosis</a:t>
            </a:r>
          </a:p>
        </p:txBody>
      </p:sp>
      <p:pic>
        <p:nvPicPr>
          <p:cNvPr id="5" name="Content Placeholder 4">
            <a:extLst>
              <a:ext uri="{FF2B5EF4-FFF2-40B4-BE49-F238E27FC236}">
                <a16:creationId xmlns:a16="http://schemas.microsoft.com/office/drawing/2014/main" id="{AC8C6F00-3774-1757-4469-5C68F75A14BB}"/>
              </a:ext>
            </a:extLst>
          </p:cNvPr>
          <p:cNvPicPr>
            <a:picLocks noGrp="1" noChangeAspect="1"/>
          </p:cNvPicPr>
          <p:nvPr>
            <p:ph sz="quarter" idx="13"/>
          </p:nvPr>
        </p:nvPicPr>
        <p:blipFill>
          <a:blip r:embed="rId2"/>
          <a:stretch>
            <a:fillRect/>
          </a:stretch>
        </p:blipFill>
        <p:spPr>
          <a:xfrm>
            <a:off x="1739830" y="1627188"/>
            <a:ext cx="8566290" cy="4606925"/>
          </a:xfrm>
        </p:spPr>
      </p:pic>
      <p:pic>
        <p:nvPicPr>
          <p:cNvPr id="12290" name="Picture 2" descr="The Metamorphosis">
            <a:extLst>
              <a:ext uri="{FF2B5EF4-FFF2-40B4-BE49-F238E27FC236}">
                <a16:creationId xmlns:a16="http://schemas.microsoft.com/office/drawing/2014/main" id="{E89FC867-AA48-5E43-461F-1092E04571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1239" y="65313"/>
            <a:ext cx="1374086" cy="2075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464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68BFC-B96B-EF04-DB19-53D15D198D55}"/>
              </a:ext>
            </a:extLst>
          </p:cNvPr>
          <p:cNvSpPr>
            <a:spLocks noGrp="1"/>
          </p:cNvSpPr>
          <p:nvPr>
            <p:ph type="title"/>
          </p:nvPr>
        </p:nvSpPr>
        <p:spPr/>
        <p:txBody>
          <a:bodyPr/>
          <a:lstStyle/>
          <a:p>
            <a:r>
              <a:rPr lang="en-GB" dirty="0"/>
              <a:t>Judging a book (without its cover!) </a:t>
            </a:r>
          </a:p>
        </p:txBody>
      </p:sp>
      <p:sp>
        <p:nvSpPr>
          <p:cNvPr id="3" name="Content Placeholder 2">
            <a:extLst>
              <a:ext uri="{FF2B5EF4-FFF2-40B4-BE49-F238E27FC236}">
                <a16:creationId xmlns:a16="http://schemas.microsoft.com/office/drawing/2014/main" id="{797A3406-22FF-4AC3-B23D-B0891BC6D25E}"/>
              </a:ext>
            </a:extLst>
          </p:cNvPr>
          <p:cNvSpPr>
            <a:spLocks noGrp="1"/>
          </p:cNvSpPr>
          <p:nvPr>
            <p:ph sz="quarter" idx="13"/>
          </p:nvPr>
        </p:nvSpPr>
        <p:spPr/>
        <p:txBody>
          <a:bodyPr/>
          <a:lstStyle/>
          <a:p>
            <a:pPr marL="0" indent="0">
              <a:buNone/>
            </a:pPr>
            <a:r>
              <a:rPr lang="en-US" dirty="0"/>
              <a:t>The results are similar (both are English texts), but there are some subtle differences; there slightly more </a:t>
            </a:r>
            <a:r>
              <a:rPr lang="en-US" dirty="0">
                <a:solidFill>
                  <a:schemeClr val="accent3"/>
                </a:solidFill>
              </a:rPr>
              <a:t>q</a:t>
            </a:r>
            <a:r>
              <a:rPr lang="en-US" dirty="0"/>
              <a:t> characters in Kafka compared to Shakespeare; the frequencies of </a:t>
            </a:r>
            <a:r>
              <a:rPr lang="en-US" dirty="0">
                <a:solidFill>
                  <a:schemeClr val="accent3"/>
                </a:solidFill>
              </a:rPr>
              <a:t>h</a:t>
            </a:r>
            <a:r>
              <a:rPr lang="en-US" dirty="0"/>
              <a:t> and </a:t>
            </a:r>
            <a:r>
              <a:rPr lang="en-US" dirty="0" err="1">
                <a:solidFill>
                  <a:schemeClr val="accent3"/>
                </a:solidFill>
              </a:rPr>
              <a:t>i</a:t>
            </a:r>
            <a:r>
              <a:rPr lang="en-US" dirty="0"/>
              <a:t> are reversed.</a:t>
            </a:r>
          </a:p>
          <a:p>
            <a:pPr marL="0" indent="0">
              <a:buNone/>
            </a:pPr>
            <a:r>
              <a:rPr lang="en-US" b="0" i="0" dirty="0">
                <a:effectLst/>
                <a:latin typeface="system-ui"/>
              </a:rPr>
              <a:t>As always, given a PMF, we can draw samples from it with our standard procedure, though the results aren't very exciting:</a:t>
            </a:r>
            <a:endParaRPr lang="en-GB" dirty="0"/>
          </a:p>
        </p:txBody>
      </p:sp>
      <p:pic>
        <p:nvPicPr>
          <p:cNvPr id="5" name="Picture 4">
            <a:extLst>
              <a:ext uri="{FF2B5EF4-FFF2-40B4-BE49-F238E27FC236}">
                <a16:creationId xmlns:a16="http://schemas.microsoft.com/office/drawing/2014/main" id="{3DF0F2A7-226A-A741-243B-39DDA66CA180}"/>
              </a:ext>
            </a:extLst>
          </p:cNvPr>
          <p:cNvPicPr>
            <a:picLocks noChangeAspect="1"/>
          </p:cNvPicPr>
          <p:nvPr/>
        </p:nvPicPr>
        <p:blipFill>
          <a:blip r:embed="rId2"/>
          <a:stretch>
            <a:fillRect/>
          </a:stretch>
        </p:blipFill>
        <p:spPr>
          <a:xfrm>
            <a:off x="0" y="3930650"/>
            <a:ext cx="12192000" cy="935246"/>
          </a:xfrm>
          <a:prstGeom prst="rect">
            <a:avLst/>
          </a:prstGeom>
        </p:spPr>
      </p:pic>
    </p:spTree>
    <p:extLst>
      <p:ext uri="{BB962C8B-B14F-4D97-AF65-F5344CB8AC3E}">
        <p14:creationId xmlns:p14="http://schemas.microsoft.com/office/powerpoint/2010/main" val="17229216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
            <a:extLst>
              <a:ext uri="{FF2B5EF4-FFF2-40B4-BE49-F238E27FC236}">
                <a16:creationId xmlns:a16="http://schemas.microsoft.com/office/drawing/2014/main" id="{B44CDD9D-2D53-F0C8-0DA7-B38AEC218462}"/>
              </a:ext>
            </a:extLst>
          </p:cNvPr>
          <p:cNvSpPr>
            <a:spLocks noGrp="1"/>
          </p:cNvSpPr>
          <p:nvPr>
            <p:ph sz="half" idx="1"/>
          </p:nvPr>
        </p:nvSpPr>
        <p:spPr>
          <a:xfrm>
            <a:off x="838200" y="1608667"/>
            <a:ext cx="5181600" cy="4568296"/>
          </a:xfrm>
        </p:spPr>
        <p:txBody>
          <a:bodyPr>
            <a:normAutofit/>
          </a:bodyPr>
          <a:lstStyle/>
          <a:p>
            <a:pPr algn="l"/>
            <a:r>
              <a:rPr lang="en-US" b="0" i="0" dirty="0">
                <a:effectLst/>
                <a:latin typeface="system-ui"/>
              </a:rPr>
              <a:t>Raw probabilities (e.g. P(X=x)=0.9999) are not always intuitive.</a:t>
            </a:r>
          </a:p>
          <a:p>
            <a:pPr algn="l"/>
            <a:r>
              <a:rPr lang="en-US" b="0" i="0" dirty="0">
                <a:effectLst/>
                <a:latin typeface="system-ui"/>
              </a:rPr>
              <a:t>The graph below shows the probability that a sample of people imagined, given specific verbal cues. </a:t>
            </a:r>
          </a:p>
          <a:p>
            <a:pPr algn="l"/>
            <a:r>
              <a:rPr lang="en-US" b="0" i="0" dirty="0">
                <a:effectLst/>
                <a:latin typeface="system-ui"/>
              </a:rPr>
              <a:t>What about 1 in a million events? What about the probability of the sun rising tomorrow?</a:t>
            </a:r>
          </a:p>
          <a:p>
            <a:pPr algn="l"/>
            <a:r>
              <a:rPr lang="en-US" b="0" i="0" dirty="0">
                <a:effectLst/>
                <a:latin typeface="system-ui"/>
              </a:rPr>
              <a:t>Even if people had responded accurately, the linear </a:t>
            </a:r>
            <a:r>
              <a:rPr lang="en-US" b="0" i="0" dirty="0" err="1">
                <a:effectLst/>
                <a:latin typeface="system-ui"/>
              </a:rPr>
              <a:t>visualisation</a:t>
            </a:r>
            <a:r>
              <a:rPr lang="en-US" b="0" i="0" dirty="0">
                <a:effectLst/>
                <a:latin typeface="system-ui"/>
              </a:rPr>
              <a:t> from 0% to 100% makes it very hard to see extreme values.</a:t>
            </a:r>
          </a:p>
          <a:p>
            <a:endParaRPr lang="en-US" dirty="0"/>
          </a:p>
        </p:txBody>
      </p:sp>
      <p:pic>
        <p:nvPicPr>
          <p:cNvPr id="6" name="Content Placeholder 5" descr="A graph of different colored lines&#10;&#10;Description automatically generated">
            <a:extLst>
              <a:ext uri="{FF2B5EF4-FFF2-40B4-BE49-F238E27FC236}">
                <a16:creationId xmlns:a16="http://schemas.microsoft.com/office/drawing/2014/main" id="{16B60BD6-1AC7-A30F-E3D8-BEE337EAFDE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78852" y="1608667"/>
            <a:ext cx="4568296" cy="4568296"/>
          </a:xfrm>
          <a:noFill/>
        </p:spPr>
      </p:pic>
      <p:sp>
        <p:nvSpPr>
          <p:cNvPr id="4" name="Title 3">
            <a:extLst>
              <a:ext uri="{FF2B5EF4-FFF2-40B4-BE49-F238E27FC236}">
                <a16:creationId xmlns:a16="http://schemas.microsoft.com/office/drawing/2014/main" id="{A441ED22-5317-32A0-BAEB-ABEEA73F8833}"/>
              </a:ext>
            </a:extLst>
          </p:cNvPr>
          <p:cNvSpPr>
            <a:spLocks noGrp="1"/>
          </p:cNvSpPr>
          <p:nvPr>
            <p:ph type="title"/>
          </p:nvPr>
        </p:nvSpPr>
        <p:spPr>
          <a:xfrm>
            <a:off x="2549236" y="533614"/>
            <a:ext cx="9210963" cy="888786"/>
          </a:xfrm>
        </p:spPr>
        <p:txBody>
          <a:bodyPr anchor="t">
            <a:normAutofit/>
          </a:bodyPr>
          <a:lstStyle/>
          <a:p>
            <a:r>
              <a:rPr lang="en-GB" dirty="0"/>
              <a:t>7. Perceptions of probabilities</a:t>
            </a:r>
          </a:p>
        </p:txBody>
      </p:sp>
    </p:spTree>
    <p:extLst>
      <p:ext uri="{BB962C8B-B14F-4D97-AF65-F5344CB8AC3E}">
        <p14:creationId xmlns:p14="http://schemas.microsoft.com/office/powerpoint/2010/main" val="14229584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F197B0-3BEE-DDE1-0C6E-B5AC6414132F}"/>
              </a:ext>
            </a:extLst>
          </p:cNvPr>
          <p:cNvSpPr>
            <a:spLocks noGrp="1"/>
          </p:cNvSpPr>
          <p:nvPr>
            <p:ph type="title"/>
          </p:nvPr>
        </p:nvSpPr>
        <p:spPr>
          <a:xfrm>
            <a:off x="2549236" y="533614"/>
            <a:ext cx="9210963" cy="888786"/>
          </a:xfrm>
        </p:spPr>
        <p:txBody>
          <a:bodyPr anchor="t">
            <a:normAutofit/>
          </a:bodyPr>
          <a:lstStyle/>
          <a:p>
            <a:r>
              <a:rPr lang="en-GB" dirty="0"/>
              <a:t>Odds &amp; log odds</a:t>
            </a:r>
          </a:p>
        </p:txBody>
      </p:sp>
      <p:sp>
        <p:nvSpPr>
          <p:cNvPr id="2" name="Content Placeholder 1">
            <a:extLst>
              <a:ext uri="{FF2B5EF4-FFF2-40B4-BE49-F238E27FC236}">
                <a16:creationId xmlns:a16="http://schemas.microsoft.com/office/drawing/2014/main" id="{2F9A01D0-1426-5D37-A937-67E047CC0E2B}"/>
              </a:ext>
            </a:extLst>
          </p:cNvPr>
          <p:cNvSpPr>
            <a:spLocks noGrp="1"/>
          </p:cNvSpPr>
          <p:nvPr>
            <p:ph sz="quarter" idx="13"/>
          </p:nvPr>
        </p:nvSpPr>
        <p:spPr>
          <a:xfrm>
            <a:off x="285750" y="1627188"/>
            <a:ext cx="11474450" cy="4606925"/>
          </a:xfrm>
        </p:spPr>
        <p:txBody>
          <a:bodyPr>
            <a:normAutofit/>
          </a:bodyPr>
          <a:lstStyle/>
          <a:p>
            <a:r>
              <a:rPr lang="en-US" b="0" i="0" dirty="0">
                <a:effectLst/>
              </a:rPr>
              <a:t>The </a:t>
            </a:r>
            <a:r>
              <a:rPr lang="en-US" b="1" i="0" dirty="0">
                <a:effectLst/>
              </a:rPr>
              <a:t>odds</a:t>
            </a:r>
            <a:r>
              <a:rPr lang="en-US" b="0" i="0" dirty="0">
                <a:effectLst/>
              </a:rPr>
              <a:t> of an event with probability </a:t>
            </a:r>
            <a:r>
              <a:rPr lang="en-US" dirty="0"/>
              <a:t>p</a:t>
            </a:r>
            <a:r>
              <a:rPr lang="en-US" b="0" i="0" dirty="0">
                <a:effectLst/>
              </a:rPr>
              <a:t> is defined by:</a:t>
            </a:r>
            <a:br>
              <a:rPr lang="en-US" b="0" i="0" dirty="0">
                <a:effectLst/>
              </a:rPr>
            </a:br>
            <a:br>
              <a:rPr lang="en-US" b="0" i="0" dirty="0">
                <a:effectLst/>
              </a:rPr>
            </a:br>
            <a:br>
              <a:rPr lang="en-US" b="0" i="0" dirty="0">
                <a:effectLst/>
              </a:rPr>
            </a:br>
            <a:br>
              <a:rPr lang="en-US" b="0" i="0" dirty="0">
                <a:effectLst/>
              </a:rPr>
            </a:br>
            <a:br>
              <a:rPr lang="en-US" b="0" i="0" dirty="0">
                <a:effectLst/>
              </a:rPr>
            </a:br>
            <a:br>
              <a:rPr lang="en-US" b="0" i="0" dirty="0">
                <a:effectLst/>
              </a:rPr>
            </a:br>
            <a:br>
              <a:rPr lang="en-US" b="0" i="0" dirty="0">
                <a:effectLst/>
              </a:rPr>
            </a:br>
            <a:br>
              <a:rPr lang="en-US" b="0" i="0" dirty="0">
                <a:effectLst/>
              </a:rPr>
            </a:br>
            <a:br>
              <a:rPr lang="en-US" b="0" i="0" dirty="0">
                <a:effectLst/>
              </a:rPr>
            </a:br>
            <a:br>
              <a:rPr lang="en-US" b="0" i="0" dirty="0">
                <a:effectLst/>
              </a:rPr>
            </a:br>
            <a:r>
              <a:rPr lang="en-US" b="0" i="0" dirty="0">
                <a:effectLst/>
                <a:latin typeface="system-ui"/>
              </a:rPr>
              <a:t>The odds are a more useful unit for discussing unlikely scenarios (odds of 1:999, or </a:t>
            </a:r>
            <a:r>
              <a:rPr lang="en-US" b="0" i="1" dirty="0">
                <a:effectLst/>
                <a:latin typeface="system-ui"/>
              </a:rPr>
              <a:t>999:1 against</a:t>
            </a:r>
            <a:r>
              <a:rPr lang="en-US" b="0" i="0" dirty="0">
                <a:effectLst/>
                <a:latin typeface="system-ui"/>
              </a:rPr>
              <a:t>, is easier to understand than </a:t>
            </a:r>
            <a:r>
              <a:rPr lang="en-US" dirty="0"/>
              <a:t>p=0.001</a:t>
            </a:r>
            <a:r>
              <a:rPr lang="en-US" b="0" i="0" dirty="0">
                <a:effectLst/>
                <a:latin typeface="system-ui"/>
              </a:rPr>
              <a:t>).</a:t>
            </a:r>
            <a:endParaRPr lang="en-GB" dirty="0"/>
          </a:p>
        </p:txBody>
      </p:sp>
      <p:pic>
        <p:nvPicPr>
          <p:cNvPr id="7" name="Picture 6">
            <a:extLst>
              <a:ext uri="{FF2B5EF4-FFF2-40B4-BE49-F238E27FC236}">
                <a16:creationId xmlns:a16="http://schemas.microsoft.com/office/drawing/2014/main" id="{B98D29FE-311D-C4C7-4F2F-C4249C115FC9}"/>
              </a:ext>
            </a:extLst>
          </p:cNvPr>
          <p:cNvPicPr>
            <a:picLocks noChangeAspect="1"/>
          </p:cNvPicPr>
          <p:nvPr/>
        </p:nvPicPr>
        <p:blipFill>
          <a:blip r:embed="rId3"/>
          <a:stretch>
            <a:fillRect/>
          </a:stretch>
        </p:blipFill>
        <p:spPr>
          <a:xfrm>
            <a:off x="4444962" y="2835489"/>
            <a:ext cx="3302076" cy="1187021"/>
          </a:xfrm>
          <a:prstGeom prst="rect">
            <a:avLst/>
          </a:prstGeom>
        </p:spPr>
      </p:pic>
    </p:spTree>
    <p:extLst>
      <p:ext uri="{BB962C8B-B14F-4D97-AF65-F5344CB8AC3E}">
        <p14:creationId xmlns:p14="http://schemas.microsoft.com/office/powerpoint/2010/main" val="37646196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9123E-7F03-1055-6341-9B8D7BBA160B}"/>
              </a:ext>
            </a:extLst>
          </p:cNvPr>
          <p:cNvSpPr>
            <a:spLocks noGrp="1"/>
          </p:cNvSpPr>
          <p:nvPr>
            <p:ph type="title"/>
          </p:nvPr>
        </p:nvSpPr>
        <p:spPr>
          <a:xfrm>
            <a:off x="2549236" y="533614"/>
            <a:ext cx="9210963" cy="888786"/>
          </a:xfrm>
        </p:spPr>
        <p:txBody>
          <a:bodyPr anchor="t">
            <a:normAutofit/>
          </a:bodyPr>
          <a:lstStyle/>
          <a:p>
            <a:r>
              <a:rPr lang="en-GB" dirty="0"/>
              <a:t>Odds: example</a:t>
            </a:r>
          </a:p>
        </p:txBody>
      </p:sp>
      <p:pic>
        <p:nvPicPr>
          <p:cNvPr id="5" name="Content Placeholder 4">
            <a:extLst>
              <a:ext uri="{FF2B5EF4-FFF2-40B4-BE49-F238E27FC236}">
                <a16:creationId xmlns:a16="http://schemas.microsoft.com/office/drawing/2014/main" id="{C6F4EAC3-B125-E1CE-9D7C-233377A9021B}"/>
              </a:ext>
            </a:extLst>
          </p:cNvPr>
          <p:cNvPicPr>
            <a:picLocks noGrp="1" noChangeAspect="1"/>
          </p:cNvPicPr>
          <p:nvPr>
            <p:ph sz="quarter" idx="13"/>
          </p:nvPr>
        </p:nvPicPr>
        <p:blipFill>
          <a:blip r:embed="rId2"/>
          <a:stretch>
            <a:fillRect/>
          </a:stretch>
        </p:blipFill>
        <p:spPr>
          <a:xfrm>
            <a:off x="285750" y="2467657"/>
            <a:ext cx="11474450" cy="2925987"/>
          </a:xfrm>
          <a:noFill/>
        </p:spPr>
      </p:pic>
    </p:spTree>
    <p:extLst>
      <p:ext uri="{BB962C8B-B14F-4D97-AF65-F5344CB8AC3E}">
        <p14:creationId xmlns:p14="http://schemas.microsoft.com/office/powerpoint/2010/main" val="25407139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F468C-5159-C963-8F29-7A2BE2FC8D88}"/>
              </a:ext>
            </a:extLst>
          </p:cNvPr>
          <p:cNvSpPr>
            <a:spLocks noGrp="1"/>
          </p:cNvSpPr>
          <p:nvPr>
            <p:ph type="title"/>
          </p:nvPr>
        </p:nvSpPr>
        <p:spPr/>
        <p:txBody>
          <a:bodyPr/>
          <a:lstStyle/>
          <a:p>
            <a:r>
              <a:rPr lang="en-GB" dirty="0"/>
              <a:t>Log odds</a:t>
            </a:r>
          </a:p>
        </p:txBody>
      </p:sp>
      <p:sp>
        <p:nvSpPr>
          <p:cNvPr id="3" name="Content Placeholder 2">
            <a:extLst>
              <a:ext uri="{FF2B5EF4-FFF2-40B4-BE49-F238E27FC236}">
                <a16:creationId xmlns:a16="http://schemas.microsoft.com/office/drawing/2014/main" id="{47BB13C7-C459-25E9-79F1-BCAFE1372393}"/>
              </a:ext>
            </a:extLst>
          </p:cNvPr>
          <p:cNvSpPr>
            <a:spLocks noGrp="1"/>
          </p:cNvSpPr>
          <p:nvPr>
            <p:ph sz="quarter" idx="13"/>
          </p:nvPr>
        </p:nvSpPr>
        <p:spPr/>
        <p:txBody>
          <a:bodyPr/>
          <a:lstStyle/>
          <a:p>
            <a:pPr marL="0" indent="0">
              <a:buNone/>
            </a:pPr>
            <a:r>
              <a:rPr lang="en-US" b="1" i="0" dirty="0">
                <a:effectLst/>
                <a:latin typeface="system-ui"/>
              </a:rPr>
              <a:t>Log-odds</a:t>
            </a:r>
            <a:r>
              <a:rPr lang="en-US" b="0" i="0" dirty="0">
                <a:effectLst/>
                <a:latin typeface="system-ui"/>
              </a:rPr>
              <a:t> or </a:t>
            </a:r>
            <a:r>
              <a:rPr lang="en-US" b="1" i="0" dirty="0">
                <a:effectLst/>
                <a:latin typeface="system-ui"/>
              </a:rPr>
              <a:t>logit</a:t>
            </a:r>
            <a:r>
              <a:rPr lang="en-US" b="0" i="0" dirty="0">
                <a:effectLst/>
                <a:latin typeface="system-ui"/>
              </a:rPr>
              <a:t> are particularly useful for very unlikely scenarios:</a:t>
            </a:r>
          </a:p>
          <a:p>
            <a:pPr marL="0" indent="0">
              <a:buNone/>
            </a:pPr>
            <a:endParaRPr lang="en-US" dirty="0">
              <a:latin typeface="system-ui"/>
            </a:endParaRPr>
          </a:p>
          <a:p>
            <a:pPr marL="0" indent="0">
              <a:buNone/>
            </a:pPr>
            <a:endParaRPr lang="en-US" dirty="0">
              <a:latin typeface="system-ui"/>
            </a:endParaRPr>
          </a:p>
          <a:p>
            <a:pPr marL="0" indent="0">
              <a:buNone/>
            </a:pPr>
            <a:endParaRPr lang="en-US" dirty="0">
              <a:latin typeface="system-ui"/>
            </a:endParaRPr>
          </a:p>
          <a:p>
            <a:pPr marL="0" indent="0">
              <a:buNone/>
            </a:pPr>
            <a:endParaRPr lang="en-US" dirty="0">
              <a:latin typeface="system-ui"/>
            </a:endParaRPr>
          </a:p>
          <a:p>
            <a:pPr marL="0" indent="0">
              <a:buNone/>
            </a:pPr>
            <a:endParaRPr lang="en-US" dirty="0">
              <a:latin typeface="system-ui"/>
            </a:endParaRPr>
          </a:p>
          <a:p>
            <a:pPr marL="0" indent="0">
              <a:buNone/>
            </a:pPr>
            <a:r>
              <a:rPr lang="en-US" b="0" i="0" dirty="0">
                <a:effectLst/>
                <a:latin typeface="system-ui"/>
              </a:rPr>
              <a:t>The logit scales proportionally to the number of zeros in the numerator of the odds.</a:t>
            </a:r>
            <a:endParaRPr lang="en-GB" dirty="0"/>
          </a:p>
        </p:txBody>
      </p:sp>
      <p:pic>
        <p:nvPicPr>
          <p:cNvPr id="5" name="Picture 4">
            <a:extLst>
              <a:ext uri="{FF2B5EF4-FFF2-40B4-BE49-F238E27FC236}">
                <a16:creationId xmlns:a16="http://schemas.microsoft.com/office/drawing/2014/main" id="{508756C8-53DF-5B52-D2A2-DED5081470C7}"/>
              </a:ext>
            </a:extLst>
          </p:cNvPr>
          <p:cNvPicPr>
            <a:picLocks noChangeAspect="1"/>
          </p:cNvPicPr>
          <p:nvPr/>
        </p:nvPicPr>
        <p:blipFill>
          <a:blip r:embed="rId2"/>
          <a:stretch>
            <a:fillRect/>
          </a:stretch>
        </p:blipFill>
        <p:spPr>
          <a:xfrm>
            <a:off x="3577064" y="2484120"/>
            <a:ext cx="4131526" cy="1284925"/>
          </a:xfrm>
          <a:prstGeom prst="rect">
            <a:avLst/>
          </a:prstGeom>
        </p:spPr>
      </p:pic>
    </p:spTree>
    <p:extLst>
      <p:ext uri="{BB962C8B-B14F-4D97-AF65-F5344CB8AC3E}">
        <p14:creationId xmlns:p14="http://schemas.microsoft.com/office/powerpoint/2010/main" val="22808165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48C1E-079C-6872-73B5-2821731CFF01}"/>
              </a:ext>
            </a:extLst>
          </p:cNvPr>
          <p:cNvSpPr>
            <a:spLocks noGrp="1"/>
          </p:cNvSpPr>
          <p:nvPr>
            <p:ph type="title"/>
          </p:nvPr>
        </p:nvSpPr>
        <p:spPr>
          <a:xfrm>
            <a:off x="2549236" y="533614"/>
            <a:ext cx="9210963" cy="888786"/>
          </a:xfrm>
        </p:spPr>
        <p:txBody>
          <a:bodyPr anchor="t">
            <a:normAutofit/>
          </a:bodyPr>
          <a:lstStyle/>
          <a:p>
            <a:r>
              <a:rPr lang="en-GB" dirty="0"/>
              <a:t>Log odds example</a:t>
            </a:r>
          </a:p>
        </p:txBody>
      </p:sp>
      <p:pic>
        <p:nvPicPr>
          <p:cNvPr id="5" name="Content Placeholder 4">
            <a:extLst>
              <a:ext uri="{FF2B5EF4-FFF2-40B4-BE49-F238E27FC236}">
                <a16:creationId xmlns:a16="http://schemas.microsoft.com/office/drawing/2014/main" id="{0042EB30-4242-8402-36D7-902177D6E9D4}"/>
              </a:ext>
            </a:extLst>
          </p:cNvPr>
          <p:cNvPicPr>
            <a:picLocks noGrp="1" noChangeAspect="1"/>
          </p:cNvPicPr>
          <p:nvPr>
            <p:ph sz="quarter" idx="13"/>
          </p:nvPr>
        </p:nvPicPr>
        <p:blipFill>
          <a:blip r:embed="rId2"/>
          <a:stretch>
            <a:fillRect/>
          </a:stretch>
        </p:blipFill>
        <p:spPr>
          <a:xfrm>
            <a:off x="285749" y="1497479"/>
            <a:ext cx="11474450" cy="4216862"/>
          </a:xfrm>
          <a:noFill/>
        </p:spPr>
      </p:pic>
      <p:sp>
        <p:nvSpPr>
          <p:cNvPr id="10" name="TextBox 9">
            <a:extLst>
              <a:ext uri="{FF2B5EF4-FFF2-40B4-BE49-F238E27FC236}">
                <a16:creationId xmlns:a16="http://schemas.microsoft.com/office/drawing/2014/main" id="{BC81505D-977F-3C43-7C18-4A245712CE3D}"/>
              </a:ext>
            </a:extLst>
          </p:cNvPr>
          <p:cNvSpPr txBox="1"/>
          <p:nvPr/>
        </p:nvSpPr>
        <p:spPr>
          <a:xfrm>
            <a:off x="488392" y="5884241"/>
            <a:ext cx="11558828" cy="646331"/>
          </a:xfrm>
          <a:prstGeom prst="rect">
            <a:avLst/>
          </a:prstGeom>
          <a:noFill/>
        </p:spPr>
        <p:txBody>
          <a:bodyPr wrap="square">
            <a:spAutoFit/>
          </a:bodyPr>
          <a:lstStyle/>
          <a:p>
            <a:r>
              <a:rPr lang="en-US" b="0" i="0" dirty="0">
                <a:effectLst/>
                <a:latin typeface="system-ui"/>
              </a:rPr>
              <a:t>Both of these are typically used to </a:t>
            </a:r>
            <a:r>
              <a:rPr lang="en-US" b="0" i="1" dirty="0">
                <a:effectLst/>
                <a:latin typeface="system-ui"/>
              </a:rPr>
              <a:t>display</a:t>
            </a:r>
            <a:r>
              <a:rPr lang="en-US" b="0" i="0" dirty="0">
                <a:effectLst/>
                <a:latin typeface="system-ui"/>
              </a:rPr>
              <a:t> results, rather than to do computations. But </a:t>
            </a:r>
            <a:r>
              <a:rPr lang="en-US" b="1" i="0" dirty="0">
                <a:effectLst/>
                <a:latin typeface="system-ui"/>
              </a:rPr>
              <a:t>log-probabilities</a:t>
            </a:r>
            <a:r>
              <a:rPr lang="en-US" b="0" i="0" dirty="0">
                <a:effectLst/>
                <a:latin typeface="system-ui"/>
              </a:rPr>
              <a:t> are widely used for computation as well as display. They help solve </a:t>
            </a:r>
            <a:r>
              <a:rPr lang="en-US" b="0" i="1" dirty="0">
                <a:effectLst/>
                <a:latin typeface="system-ui"/>
              </a:rPr>
              <a:t>numerical problems</a:t>
            </a:r>
            <a:r>
              <a:rPr lang="en-US" b="0" i="0" dirty="0">
                <a:effectLst/>
                <a:latin typeface="system-ui"/>
              </a:rPr>
              <a:t> in probability calculations.</a:t>
            </a:r>
            <a:endParaRPr lang="en-GB" dirty="0"/>
          </a:p>
        </p:txBody>
      </p:sp>
    </p:spTree>
    <p:extLst>
      <p:ext uri="{BB962C8B-B14F-4D97-AF65-F5344CB8AC3E}">
        <p14:creationId xmlns:p14="http://schemas.microsoft.com/office/powerpoint/2010/main" val="26404341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1EF85-F102-5BD9-1BEF-0FA4F8C55DBE}"/>
              </a:ext>
            </a:extLst>
          </p:cNvPr>
          <p:cNvSpPr>
            <a:spLocks noGrp="1"/>
          </p:cNvSpPr>
          <p:nvPr>
            <p:ph type="title"/>
          </p:nvPr>
        </p:nvSpPr>
        <p:spPr/>
        <p:txBody>
          <a:bodyPr/>
          <a:lstStyle/>
          <a:p>
            <a:r>
              <a:rPr lang="en-GB" dirty="0"/>
              <a:t>Log-probabilities</a:t>
            </a:r>
          </a:p>
        </p:txBody>
      </p:sp>
      <p:sp>
        <p:nvSpPr>
          <p:cNvPr id="3" name="Content Placeholder 2">
            <a:extLst>
              <a:ext uri="{FF2B5EF4-FFF2-40B4-BE49-F238E27FC236}">
                <a16:creationId xmlns:a16="http://schemas.microsoft.com/office/drawing/2014/main" id="{CF85E5F6-0212-03EF-68E6-6381D812BDCA}"/>
              </a:ext>
            </a:extLst>
          </p:cNvPr>
          <p:cNvSpPr>
            <a:spLocks noGrp="1"/>
          </p:cNvSpPr>
          <p:nvPr>
            <p:ph sz="quarter" idx="13"/>
          </p:nvPr>
        </p:nvSpPr>
        <p:spPr/>
        <p:txBody>
          <a:bodyPr>
            <a:normAutofit fontScale="92500" lnSpcReduction="10000"/>
          </a:bodyPr>
          <a:lstStyle/>
          <a:p>
            <a:pPr marL="0" indent="0">
              <a:buNone/>
            </a:pPr>
            <a:r>
              <a:rPr lang="en-US" b="0" i="0" dirty="0">
                <a:effectLst/>
                <a:latin typeface="system-ui"/>
              </a:rPr>
              <a:t>The probability of multiple </a:t>
            </a:r>
            <a:r>
              <a:rPr lang="en-US" b="0" i="1" dirty="0">
                <a:solidFill>
                  <a:schemeClr val="accent3"/>
                </a:solidFill>
                <a:effectLst/>
                <a:latin typeface="system-ui"/>
              </a:rPr>
              <a:t>independent</a:t>
            </a:r>
            <a:r>
              <a:rPr lang="en-US" b="0" i="0" dirty="0">
                <a:effectLst/>
                <a:latin typeface="system-ui"/>
              </a:rPr>
              <a:t> random variables taking on a set of values can be computed from the product: </a:t>
            </a:r>
            <a:r>
              <a:rPr lang="en-US" dirty="0">
                <a:solidFill>
                  <a:schemeClr val="accent4"/>
                </a:solidFill>
                <a:latin typeface="Century Schoolbook" panose="02040604050505020304" pitchFamily="18" charset="0"/>
              </a:rPr>
              <a:t>P(X,Y,Z)=P(X)P(Y)P(Z)</a:t>
            </a:r>
            <a:r>
              <a:rPr lang="en-US" b="0" dirty="0">
                <a:solidFill>
                  <a:schemeClr val="accent4"/>
                </a:solidFill>
                <a:effectLst/>
                <a:latin typeface="system-ui"/>
              </a:rPr>
              <a:t> </a:t>
            </a:r>
            <a:r>
              <a:rPr lang="en-US" b="0" i="0" dirty="0">
                <a:effectLst/>
                <a:latin typeface="system-ui"/>
              </a:rPr>
              <a:t>and in general:</a:t>
            </a:r>
          </a:p>
          <a:p>
            <a:pPr marL="0" indent="0">
              <a:buNone/>
            </a:pPr>
            <a:endParaRPr lang="en-US" dirty="0">
              <a:latin typeface="system-ui"/>
            </a:endParaRPr>
          </a:p>
          <a:p>
            <a:pPr marL="0" indent="0">
              <a:buNone/>
            </a:pPr>
            <a:endParaRPr lang="en-US" dirty="0">
              <a:latin typeface="system-ui"/>
            </a:endParaRPr>
          </a:p>
          <a:p>
            <a:pPr marL="0" indent="0">
              <a:buNone/>
            </a:pPr>
            <a:endParaRPr lang="en-US" dirty="0">
              <a:latin typeface="system-ui"/>
            </a:endParaRPr>
          </a:p>
          <a:p>
            <a:pPr marL="0" indent="0">
              <a:buNone/>
            </a:pPr>
            <a:r>
              <a:rPr lang="en-US" b="1" i="0" dirty="0">
                <a:effectLst/>
                <a:latin typeface="system-ui"/>
              </a:rPr>
              <a:t>Underflow:</a:t>
            </a:r>
            <a:r>
              <a:rPr lang="en-US" b="0" i="0" dirty="0">
                <a:effectLst/>
                <a:latin typeface="system-ui"/>
              </a:rPr>
              <a:t> multiplying values </a:t>
            </a:r>
            <a:r>
              <a:rPr lang="en-US" dirty="0"/>
              <a:t>&lt;1</a:t>
            </a:r>
            <a:r>
              <a:rPr lang="en-US" b="0" i="0" dirty="0">
                <a:effectLst/>
                <a:latin typeface="system-ui"/>
              </a:rPr>
              <a:t> leads to numerical issues: we will get floating point underflow. Instead, it is numerically more reliable to manipulate </a:t>
            </a:r>
            <a:r>
              <a:rPr lang="en-US" b="1" i="0" dirty="0">
                <a:solidFill>
                  <a:schemeClr val="accent3"/>
                </a:solidFill>
                <a:effectLst/>
                <a:latin typeface="system-ui"/>
              </a:rPr>
              <a:t>log probabilities</a:t>
            </a:r>
            <a:r>
              <a:rPr lang="en-US" b="0" i="0" dirty="0">
                <a:effectLst/>
                <a:latin typeface="system-ui"/>
              </a:rPr>
              <a:t>, which can be summed instead of multiplied:</a:t>
            </a:r>
          </a:p>
          <a:p>
            <a:pPr marL="0" indent="0">
              <a:buNone/>
            </a:pPr>
            <a:endParaRPr lang="en-US" dirty="0">
              <a:latin typeface="system-ui"/>
            </a:endParaRPr>
          </a:p>
          <a:p>
            <a:pPr marL="0" indent="0">
              <a:buNone/>
            </a:pPr>
            <a:endParaRPr lang="en-US" dirty="0">
              <a:latin typeface="system-ui"/>
            </a:endParaRPr>
          </a:p>
          <a:p>
            <a:pPr marL="0" indent="0">
              <a:buNone/>
            </a:pPr>
            <a:endParaRPr lang="en-US" dirty="0">
              <a:latin typeface="system-ui"/>
            </a:endParaRPr>
          </a:p>
          <a:p>
            <a:pPr marL="0" indent="0">
              <a:buNone/>
            </a:pPr>
            <a:r>
              <a:rPr lang="en-US" b="0" i="0" dirty="0">
                <a:effectLst/>
                <a:latin typeface="system-ui"/>
              </a:rPr>
              <a:t>The </a:t>
            </a:r>
            <a:r>
              <a:rPr lang="en-US" b="1" i="0" dirty="0">
                <a:effectLst/>
                <a:latin typeface="system-ui"/>
              </a:rPr>
              <a:t>log-likelihood</a:t>
            </a:r>
            <a:r>
              <a:rPr lang="en-US" b="0" i="0" dirty="0">
                <a:effectLst/>
                <a:latin typeface="system-ui"/>
              </a:rPr>
              <a:t> is just</a:t>
            </a:r>
            <a:r>
              <a:rPr lang="en-US" b="0" i="0" dirty="0">
                <a:effectLst/>
                <a:latin typeface="Century Schoolbook" panose="02040604050505020304" pitchFamily="18" charset="0"/>
              </a:rPr>
              <a:t> </a:t>
            </a:r>
            <a:r>
              <a:rPr lang="en-US" dirty="0">
                <a:solidFill>
                  <a:schemeClr val="accent4"/>
                </a:solidFill>
                <a:latin typeface="Century Schoolbook" panose="02040604050505020304" pitchFamily="18" charset="0"/>
              </a:rPr>
              <a:t>log⁡ P(B|A)</a:t>
            </a:r>
            <a:r>
              <a:rPr lang="en-US" b="0" i="0" dirty="0">
                <a:effectLst/>
                <a:latin typeface="system-ui"/>
              </a:rPr>
              <a:t>, which is often more convenient than the raw likelihood.</a:t>
            </a:r>
            <a:endParaRPr lang="en-GB" dirty="0"/>
          </a:p>
        </p:txBody>
      </p:sp>
      <p:pic>
        <p:nvPicPr>
          <p:cNvPr id="5" name="Picture 4">
            <a:extLst>
              <a:ext uri="{FF2B5EF4-FFF2-40B4-BE49-F238E27FC236}">
                <a16:creationId xmlns:a16="http://schemas.microsoft.com/office/drawing/2014/main" id="{3BD21FB2-0F83-F5E1-47F7-727427882006}"/>
              </a:ext>
            </a:extLst>
          </p:cNvPr>
          <p:cNvPicPr>
            <a:picLocks noChangeAspect="1"/>
          </p:cNvPicPr>
          <p:nvPr/>
        </p:nvPicPr>
        <p:blipFill>
          <a:blip r:embed="rId3"/>
          <a:stretch>
            <a:fillRect/>
          </a:stretch>
        </p:blipFill>
        <p:spPr>
          <a:xfrm>
            <a:off x="2923884" y="2472688"/>
            <a:ext cx="5278103" cy="956312"/>
          </a:xfrm>
          <a:prstGeom prst="rect">
            <a:avLst/>
          </a:prstGeom>
        </p:spPr>
      </p:pic>
      <p:pic>
        <p:nvPicPr>
          <p:cNvPr id="7" name="Picture 6">
            <a:extLst>
              <a:ext uri="{FF2B5EF4-FFF2-40B4-BE49-F238E27FC236}">
                <a16:creationId xmlns:a16="http://schemas.microsoft.com/office/drawing/2014/main" id="{D22FEEB4-494E-DE72-401F-89E79B5CE406}"/>
              </a:ext>
            </a:extLst>
          </p:cNvPr>
          <p:cNvPicPr>
            <a:picLocks noChangeAspect="1"/>
          </p:cNvPicPr>
          <p:nvPr/>
        </p:nvPicPr>
        <p:blipFill>
          <a:blip r:embed="rId4"/>
          <a:stretch>
            <a:fillRect/>
          </a:stretch>
        </p:blipFill>
        <p:spPr>
          <a:xfrm>
            <a:off x="3346589" y="4461295"/>
            <a:ext cx="4188646" cy="956311"/>
          </a:xfrm>
          <a:prstGeom prst="rect">
            <a:avLst/>
          </a:prstGeom>
        </p:spPr>
      </p:pic>
    </p:spTree>
    <p:extLst>
      <p:ext uri="{BB962C8B-B14F-4D97-AF65-F5344CB8AC3E}">
        <p14:creationId xmlns:p14="http://schemas.microsoft.com/office/powerpoint/2010/main" val="24001556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E49BA-6B7D-F896-E77F-4B0D36FA6F8C}"/>
              </a:ext>
            </a:extLst>
          </p:cNvPr>
          <p:cNvSpPr>
            <a:spLocks noGrp="1"/>
          </p:cNvSpPr>
          <p:nvPr>
            <p:ph type="title"/>
          </p:nvPr>
        </p:nvSpPr>
        <p:spPr/>
        <p:txBody>
          <a:bodyPr/>
          <a:lstStyle/>
          <a:p>
            <a:r>
              <a:rPr lang="en-US" dirty="0"/>
              <a:t>Likelihood function</a:t>
            </a:r>
            <a:endParaRPr lang="en-GB" dirty="0"/>
          </a:p>
        </p:txBody>
      </p:sp>
      <p:sp>
        <p:nvSpPr>
          <p:cNvPr id="3" name="Content Placeholder 2">
            <a:extLst>
              <a:ext uri="{FF2B5EF4-FFF2-40B4-BE49-F238E27FC236}">
                <a16:creationId xmlns:a16="http://schemas.microsoft.com/office/drawing/2014/main" id="{DDC92AC5-806E-906C-7BCE-024E709DD62A}"/>
              </a:ext>
            </a:extLst>
          </p:cNvPr>
          <p:cNvSpPr>
            <a:spLocks noGrp="1"/>
          </p:cNvSpPr>
          <p:nvPr>
            <p:ph sz="quarter" idx="13"/>
          </p:nvPr>
        </p:nvSpPr>
        <p:spPr>
          <a:xfrm>
            <a:off x="285749" y="1604328"/>
            <a:ext cx="11474450" cy="4606925"/>
          </a:xfrm>
        </p:spPr>
        <p:txBody>
          <a:bodyPr/>
          <a:lstStyle/>
          <a:p>
            <a:pPr algn="l"/>
            <a:r>
              <a:rPr lang="en-US" b="0" i="0" dirty="0">
                <a:effectLst/>
                <a:latin typeface="system-ui"/>
              </a:rPr>
              <a:t>When talking about </a:t>
            </a:r>
            <a:r>
              <a:rPr lang="en-US" b="1" i="0" dirty="0">
                <a:effectLst/>
                <a:latin typeface="system-ui"/>
              </a:rPr>
              <a:t>likelihood</a:t>
            </a:r>
            <a:r>
              <a:rPr lang="en-US" b="0" i="0" dirty="0">
                <a:effectLst/>
                <a:latin typeface="system-ui"/>
              </a:rPr>
              <a:t>, we often write </a:t>
            </a:r>
            <a:r>
              <a:rPr lang="en-US" b="0" i="0" dirty="0">
                <a:solidFill>
                  <a:schemeClr val="accent4"/>
                </a:solidFill>
                <a:effectLst/>
                <a:latin typeface="Century Schoolbook" panose="02040604050505020304" pitchFamily="18" charset="0"/>
              </a:rPr>
              <a:t>L(x</a:t>
            </a:r>
            <a:r>
              <a:rPr lang="en-US" b="0" i="0" baseline="-25000" dirty="0">
                <a:solidFill>
                  <a:schemeClr val="accent4"/>
                </a:solidFill>
                <a:effectLst/>
                <a:latin typeface="Century Schoolbook" panose="02040604050505020304" pitchFamily="18" charset="0"/>
              </a:rPr>
              <a:t>i</a:t>
            </a:r>
            <a:r>
              <a:rPr lang="en-US" b="0" i="0" dirty="0">
                <a:solidFill>
                  <a:schemeClr val="accent4"/>
                </a:solidFill>
                <a:effectLst/>
                <a:latin typeface="Century Schoolbook" panose="02040604050505020304" pitchFamily="18" charset="0"/>
              </a:rPr>
              <a:t>)</a:t>
            </a:r>
            <a:r>
              <a:rPr lang="en-US" b="0" i="0" dirty="0">
                <a:effectLst/>
                <a:latin typeface="system-ui"/>
              </a:rPr>
              <a:t> to mean the likelihood of xi. The likelihood is not a probability. It is a function of data, and </a:t>
            </a:r>
            <a:r>
              <a:rPr lang="en-US" b="0" i="0" dirty="0">
                <a:solidFill>
                  <a:schemeClr val="accent4"/>
                </a:solidFill>
                <a:effectLst/>
                <a:latin typeface="Century Schoolbook" panose="02040604050505020304" pitchFamily="18" charset="0"/>
              </a:rPr>
              <a:t>L(x</a:t>
            </a:r>
            <a:r>
              <a:rPr lang="en-US" b="0" i="0" baseline="-25000" dirty="0">
                <a:solidFill>
                  <a:schemeClr val="accent4"/>
                </a:solidFill>
                <a:effectLst/>
                <a:latin typeface="Century Schoolbook" panose="02040604050505020304" pitchFamily="18" charset="0"/>
              </a:rPr>
              <a:t>i</a:t>
            </a:r>
            <a:r>
              <a:rPr lang="en-US" b="0" i="0" dirty="0">
                <a:solidFill>
                  <a:schemeClr val="accent4"/>
                </a:solidFill>
                <a:effectLst/>
                <a:latin typeface="Century Schoolbook" panose="02040604050505020304" pitchFamily="18" charset="0"/>
              </a:rPr>
              <a:t>)=</a:t>
            </a:r>
            <a:r>
              <a:rPr lang="en-US" b="0" i="0" dirty="0" err="1">
                <a:solidFill>
                  <a:schemeClr val="accent4"/>
                </a:solidFill>
                <a:effectLst/>
                <a:latin typeface="Century Schoolbook" panose="02040604050505020304" pitchFamily="18" charset="0"/>
              </a:rPr>
              <a:t>f</a:t>
            </a:r>
            <a:r>
              <a:rPr lang="en-US" b="0" i="0" baseline="-25000" dirty="0" err="1">
                <a:solidFill>
                  <a:schemeClr val="accent4"/>
                </a:solidFill>
                <a:effectLst/>
                <a:latin typeface="Century Schoolbook" panose="02040604050505020304" pitchFamily="18" charset="0"/>
              </a:rPr>
              <a:t>X</a:t>
            </a:r>
            <a:r>
              <a:rPr lang="en-US" b="0" i="0" dirty="0">
                <a:solidFill>
                  <a:schemeClr val="accent4"/>
                </a:solidFill>
                <a:effectLst/>
                <a:latin typeface="Century Schoolbook" panose="02040604050505020304" pitchFamily="18" charset="0"/>
              </a:rPr>
              <a:t>(x</a:t>
            </a:r>
            <a:r>
              <a:rPr lang="en-US" b="0" i="0" baseline="-25000" dirty="0">
                <a:solidFill>
                  <a:schemeClr val="accent4"/>
                </a:solidFill>
                <a:effectLst/>
                <a:latin typeface="Century Schoolbook" panose="02040604050505020304" pitchFamily="18" charset="0"/>
              </a:rPr>
              <a:t>i</a:t>
            </a:r>
            <a:r>
              <a:rPr lang="en-US" b="0" i="0" dirty="0">
                <a:solidFill>
                  <a:schemeClr val="accent4"/>
                </a:solidFill>
                <a:effectLst/>
                <a:latin typeface="Century Schoolbook" panose="02040604050505020304" pitchFamily="18" charset="0"/>
              </a:rPr>
              <a:t>)</a:t>
            </a:r>
          </a:p>
          <a:p>
            <a:pPr algn="l"/>
            <a:r>
              <a:rPr lang="en-US" b="0" i="0" dirty="0">
                <a:effectLst/>
                <a:latin typeface="system-ui"/>
              </a:rPr>
              <a:t>For example, consider the empirical PMF of Romeo and Juliet. This gives the probability of seeing any given character. The likelihood of seeing all of the characters, given our per-character probability model, is:</a:t>
            </a:r>
            <a:br>
              <a:rPr lang="en-US" dirty="0"/>
            </a:br>
            <a:endParaRPr lang="en-GB" dirty="0"/>
          </a:p>
        </p:txBody>
      </p:sp>
      <p:pic>
        <p:nvPicPr>
          <p:cNvPr id="5" name="Picture 4">
            <a:extLst>
              <a:ext uri="{FF2B5EF4-FFF2-40B4-BE49-F238E27FC236}">
                <a16:creationId xmlns:a16="http://schemas.microsoft.com/office/drawing/2014/main" id="{20E073A0-3BFC-A5BE-FBAF-C184700A889B}"/>
              </a:ext>
            </a:extLst>
          </p:cNvPr>
          <p:cNvPicPr>
            <a:picLocks noChangeAspect="1"/>
          </p:cNvPicPr>
          <p:nvPr/>
        </p:nvPicPr>
        <p:blipFill>
          <a:blip r:embed="rId2"/>
          <a:stretch>
            <a:fillRect/>
          </a:stretch>
        </p:blipFill>
        <p:spPr>
          <a:xfrm>
            <a:off x="3988125" y="3764757"/>
            <a:ext cx="2741293" cy="733586"/>
          </a:xfrm>
          <a:prstGeom prst="rect">
            <a:avLst/>
          </a:prstGeom>
        </p:spPr>
      </p:pic>
    </p:spTree>
    <p:extLst>
      <p:ext uri="{BB962C8B-B14F-4D97-AF65-F5344CB8AC3E}">
        <p14:creationId xmlns:p14="http://schemas.microsoft.com/office/powerpoint/2010/main" val="38391852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FD086AE-B054-F4CE-8747-4B0F048C421D}"/>
              </a:ext>
            </a:extLst>
          </p:cNvPr>
          <p:cNvSpPr>
            <a:spLocks noGrp="1"/>
          </p:cNvSpPr>
          <p:nvPr>
            <p:ph type="title"/>
          </p:nvPr>
        </p:nvSpPr>
        <p:spPr>
          <a:xfrm>
            <a:off x="2549236" y="533614"/>
            <a:ext cx="9210963" cy="888786"/>
          </a:xfrm>
        </p:spPr>
        <p:txBody>
          <a:bodyPr/>
          <a:lstStyle/>
          <a:p>
            <a:r>
              <a:rPr lang="en-US" dirty="0"/>
              <a:t>Example: Romeo &amp; Juliet</a:t>
            </a:r>
          </a:p>
        </p:txBody>
      </p:sp>
      <p:pic>
        <p:nvPicPr>
          <p:cNvPr id="5" name="Content Placeholder 4">
            <a:extLst>
              <a:ext uri="{FF2B5EF4-FFF2-40B4-BE49-F238E27FC236}">
                <a16:creationId xmlns:a16="http://schemas.microsoft.com/office/drawing/2014/main" id="{D1B7F7BF-58A4-4535-842A-8D778108AF04}"/>
              </a:ext>
            </a:extLst>
          </p:cNvPr>
          <p:cNvPicPr>
            <a:picLocks noGrp="1" noChangeAspect="1"/>
          </p:cNvPicPr>
          <p:nvPr>
            <p:ph sz="quarter" idx="13"/>
          </p:nvPr>
        </p:nvPicPr>
        <p:blipFill>
          <a:blip r:embed="rId2"/>
          <a:stretch>
            <a:fillRect/>
          </a:stretch>
        </p:blipFill>
        <p:spPr>
          <a:xfrm>
            <a:off x="285750" y="2525032"/>
            <a:ext cx="11474450" cy="2811237"/>
          </a:xfrm>
          <a:noFill/>
        </p:spPr>
      </p:pic>
    </p:spTree>
    <p:extLst>
      <p:ext uri="{BB962C8B-B14F-4D97-AF65-F5344CB8AC3E}">
        <p14:creationId xmlns:p14="http://schemas.microsoft.com/office/powerpoint/2010/main" val="22058093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DA58970-313F-4EF3-EA81-FC17268DE5CA}"/>
              </a:ext>
            </a:extLst>
          </p:cNvPr>
          <p:cNvSpPr>
            <a:spLocks noGrp="1"/>
          </p:cNvSpPr>
          <p:nvPr>
            <p:ph type="title"/>
          </p:nvPr>
        </p:nvSpPr>
        <p:spPr>
          <a:xfrm>
            <a:off x="2549236" y="533614"/>
            <a:ext cx="9210963" cy="888786"/>
          </a:xfrm>
        </p:spPr>
        <p:txBody>
          <a:bodyPr/>
          <a:lstStyle/>
          <a:p>
            <a:r>
              <a:rPr lang="en-US" dirty="0"/>
              <a:t>Example: Romeo &amp; Juliet</a:t>
            </a:r>
          </a:p>
        </p:txBody>
      </p:sp>
      <p:pic>
        <p:nvPicPr>
          <p:cNvPr id="5" name="Content Placeholder 4">
            <a:extLst>
              <a:ext uri="{FF2B5EF4-FFF2-40B4-BE49-F238E27FC236}">
                <a16:creationId xmlns:a16="http://schemas.microsoft.com/office/drawing/2014/main" id="{A917132E-25AE-8ADA-45A5-DADE91B388F4}"/>
              </a:ext>
            </a:extLst>
          </p:cNvPr>
          <p:cNvPicPr>
            <a:picLocks noGrp="1" noChangeAspect="1"/>
          </p:cNvPicPr>
          <p:nvPr>
            <p:ph sz="quarter" idx="13"/>
          </p:nvPr>
        </p:nvPicPr>
        <p:blipFill>
          <a:blip r:embed="rId2"/>
          <a:stretch>
            <a:fillRect/>
          </a:stretch>
        </p:blipFill>
        <p:spPr>
          <a:xfrm>
            <a:off x="285750" y="2367258"/>
            <a:ext cx="11474450" cy="3126785"/>
          </a:xfrm>
          <a:noFill/>
        </p:spPr>
      </p:pic>
    </p:spTree>
    <p:extLst>
      <p:ext uri="{BB962C8B-B14F-4D97-AF65-F5344CB8AC3E}">
        <p14:creationId xmlns:p14="http://schemas.microsoft.com/office/powerpoint/2010/main" val="35086854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91856-106E-3556-8E1F-753A9142BA5C}"/>
              </a:ext>
            </a:extLst>
          </p:cNvPr>
          <p:cNvSpPr>
            <a:spLocks noGrp="1"/>
          </p:cNvSpPr>
          <p:nvPr>
            <p:ph type="title"/>
          </p:nvPr>
        </p:nvSpPr>
        <p:spPr>
          <a:xfrm>
            <a:off x="2549236" y="533614"/>
            <a:ext cx="9210963" cy="888786"/>
          </a:xfrm>
        </p:spPr>
        <p:txBody>
          <a:bodyPr anchor="t">
            <a:normAutofit/>
          </a:bodyPr>
          <a:lstStyle/>
          <a:p>
            <a:r>
              <a:rPr lang="en-GB" dirty="0"/>
              <a:t>Comparing Log-Likelihoods</a:t>
            </a:r>
          </a:p>
        </p:txBody>
      </p:sp>
      <p:pic>
        <p:nvPicPr>
          <p:cNvPr id="5" name="Picture 4">
            <a:extLst>
              <a:ext uri="{FF2B5EF4-FFF2-40B4-BE49-F238E27FC236}">
                <a16:creationId xmlns:a16="http://schemas.microsoft.com/office/drawing/2014/main" id="{AB370CD4-ADEF-28F7-0F89-5602544F87ED}"/>
              </a:ext>
            </a:extLst>
          </p:cNvPr>
          <p:cNvPicPr>
            <a:picLocks noChangeAspect="1"/>
          </p:cNvPicPr>
          <p:nvPr/>
        </p:nvPicPr>
        <p:blipFill>
          <a:blip r:embed="rId3"/>
          <a:stretch>
            <a:fillRect/>
          </a:stretch>
        </p:blipFill>
        <p:spPr>
          <a:xfrm>
            <a:off x="285750" y="2266855"/>
            <a:ext cx="11474450" cy="3327590"/>
          </a:xfrm>
          <a:prstGeom prst="rect">
            <a:avLst/>
          </a:prstGeom>
          <a:noFill/>
        </p:spPr>
      </p:pic>
    </p:spTree>
    <p:extLst>
      <p:ext uri="{BB962C8B-B14F-4D97-AF65-F5344CB8AC3E}">
        <p14:creationId xmlns:p14="http://schemas.microsoft.com/office/powerpoint/2010/main" val="1804264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University at sunset">
            <a:extLst>
              <a:ext uri="{FF2B5EF4-FFF2-40B4-BE49-F238E27FC236}">
                <a16:creationId xmlns:a16="http://schemas.microsoft.com/office/drawing/2014/main" id="{11FDCD37-95D4-D94F-8143-5384ADC6A6C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175F20C-468E-F742-9149-B8A5FEBC2911}"/>
              </a:ext>
            </a:extLst>
          </p:cNvPr>
          <p:cNvSpPr>
            <a:spLocks noGrp="1"/>
          </p:cNvSpPr>
          <p:nvPr>
            <p:ph type="title" idx="4294967295"/>
          </p:nvPr>
        </p:nvSpPr>
        <p:spPr>
          <a:xfrm>
            <a:off x="645886" y="1889351"/>
            <a:ext cx="6546024" cy="1931535"/>
          </a:xfrm>
        </p:spPr>
        <p:txBody>
          <a:bodyPr>
            <a:noAutofit/>
          </a:bodyPr>
          <a:lstStyle/>
          <a:p>
            <a:pPr algn="l"/>
            <a:r>
              <a:rPr lang="en-US" altLang="zh-CN" dirty="0">
                <a:solidFill>
                  <a:schemeClr val="bg1"/>
                </a:solidFill>
              </a:rPr>
              <a:t>Thank</a:t>
            </a:r>
            <a:r>
              <a:rPr lang="zh-CN" altLang="en-US" dirty="0">
                <a:solidFill>
                  <a:schemeClr val="bg1"/>
                </a:solidFill>
              </a:rPr>
              <a:t> </a:t>
            </a:r>
            <a:r>
              <a:rPr lang="en-US" altLang="zh-CN" dirty="0">
                <a:solidFill>
                  <a:schemeClr val="bg1"/>
                </a:solidFill>
              </a:rPr>
              <a:t>you</a:t>
            </a:r>
            <a:br>
              <a:rPr lang="en-US" altLang="zh-CN" dirty="0">
                <a:solidFill>
                  <a:schemeClr val="bg1"/>
                </a:solidFill>
              </a:rPr>
            </a:br>
            <a:br>
              <a:rPr lang="en-US" altLang="zh-CN" dirty="0">
                <a:solidFill>
                  <a:schemeClr val="bg1"/>
                </a:solidFill>
              </a:rPr>
            </a:br>
            <a:r>
              <a:rPr lang="en-US" altLang="zh-CN" dirty="0">
                <a:solidFill>
                  <a:schemeClr val="bg1"/>
                </a:solidFill>
              </a:rPr>
              <a:t>Contact:</a:t>
            </a:r>
            <a:r>
              <a:rPr lang="zh-CN" altLang="en-US" dirty="0">
                <a:solidFill>
                  <a:schemeClr val="bg1"/>
                </a:solidFill>
              </a:rPr>
              <a:t> </a:t>
            </a:r>
            <a:r>
              <a:rPr lang="en-US" altLang="zh-CN" dirty="0">
                <a:solidFill>
                  <a:schemeClr val="bg1"/>
                </a:solidFill>
              </a:rPr>
              <a:t>Nicolas.Pugeault@Glasgow.ac.uk</a:t>
            </a:r>
            <a:endParaRPr lang="en-US" dirty="0">
              <a:solidFill>
                <a:schemeClr val="bg1"/>
              </a:solidFill>
            </a:endParaRPr>
          </a:p>
        </p:txBody>
      </p:sp>
    </p:spTree>
    <p:extLst>
      <p:ext uri="{BB962C8B-B14F-4D97-AF65-F5344CB8AC3E}">
        <p14:creationId xmlns:p14="http://schemas.microsoft.com/office/powerpoint/2010/main" val="3006378702"/>
      </p:ext>
    </p:extLst>
  </p:cSld>
  <p:clrMapOvr>
    <a:masterClrMapping/>
  </p:clrMapOvr>
</p:sld>
</file>

<file path=ppt/theme/theme1.xml><?xml version="1.0" encoding="utf-8"?>
<a:theme xmlns:a="http://schemas.openxmlformats.org/drawingml/2006/main" name="Office Theme">
  <a:themeElements>
    <a:clrScheme name="UofG colours">
      <a:dk1>
        <a:srgbClr val="003865"/>
      </a:dk1>
      <a:lt1>
        <a:srgbClr val="FFFFFE"/>
      </a:lt1>
      <a:dk2>
        <a:srgbClr val="000000"/>
      </a:dk2>
      <a:lt2>
        <a:srgbClr val="7D2238"/>
      </a:lt2>
      <a:accent1>
        <a:srgbClr val="0075B0"/>
      </a:accent1>
      <a:accent2>
        <a:srgbClr val="5B4D93"/>
      </a:accent2>
      <a:accent3>
        <a:srgbClr val="CF1C20"/>
      </a:accent3>
      <a:accent4>
        <a:srgbClr val="00833C"/>
      </a:accent4>
      <a:accent5>
        <a:srgbClr val="BE4D00"/>
      </a:accent5>
      <a:accent6>
        <a:srgbClr val="951271"/>
      </a:accent6>
      <a:hlink>
        <a:srgbClr val="584B3D"/>
      </a:hlink>
      <a:folHlink>
        <a:srgbClr val="0068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61AF5F2-503D-2641-86A1-09AD8919EA9C}" vid="{A816E7D6-9491-074F-A4D5-6596497DAC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4367</TotalTime>
  <Words>5325</Words>
  <Application>Microsoft Office PowerPoint</Application>
  <PresentationFormat>Widescreen</PresentationFormat>
  <Paragraphs>315</Paragraphs>
  <Slides>57</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-apple-system</vt:lpstr>
      <vt:lpstr>Arial</vt:lpstr>
      <vt:lpstr>Calibri</vt:lpstr>
      <vt:lpstr>Cambria Math</vt:lpstr>
      <vt:lpstr>Century Schoolbook</vt:lpstr>
      <vt:lpstr>system-ui</vt:lpstr>
      <vt:lpstr>Times New Roman</vt:lpstr>
      <vt:lpstr>Office Theme</vt:lpstr>
      <vt:lpstr>Introduction to Data Science and Systems</vt:lpstr>
      <vt:lpstr>Today’s learning outcomes</vt:lpstr>
      <vt:lpstr>Example: the lost submarine</vt:lpstr>
      <vt:lpstr>Example: the lost submarine</vt:lpstr>
      <vt:lpstr>Part 1. Probability </vt:lpstr>
      <vt:lpstr>What is probability? </vt:lpstr>
      <vt:lpstr>Some definitions (cont’d)</vt:lpstr>
      <vt:lpstr>Some definitions (cont’d)</vt:lpstr>
      <vt:lpstr>In prose: </vt:lpstr>
      <vt:lpstr>Part 2. Philosophy of probability</vt:lpstr>
      <vt:lpstr>Bayesian/Laplacian view on probability</vt:lpstr>
      <vt:lpstr>Bayesian/Laplacian view on probability (cont’d)</vt:lpstr>
      <vt:lpstr>Bayesian/Laplacian view on probability (example)</vt:lpstr>
      <vt:lpstr>Frequentist view of probability</vt:lpstr>
      <vt:lpstr>Objectivity and subjectivity</vt:lpstr>
      <vt:lpstr>Frequentist vs Bayesian (summary)</vt:lpstr>
      <vt:lpstr>Superiority of probabilistic models </vt:lpstr>
      <vt:lpstr>Generative models</vt:lpstr>
      <vt:lpstr>Generative models</vt:lpstr>
      <vt:lpstr>Part 4. A formal basis for probability theory</vt:lpstr>
      <vt:lpstr>Axioms of probability</vt:lpstr>
      <vt:lpstr>Random variables and distributions</vt:lpstr>
      <vt:lpstr>Random variables and distributions</vt:lpstr>
      <vt:lpstr>Distributions</vt:lpstr>
      <vt:lpstr>Discrete and continuous</vt:lpstr>
      <vt:lpstr>Integration to unity</vt:lpstr>
      <vt:lpstr>PMF example: Sum of dice rolls</vt:lpstr>
      <vt:lpstr>5. Expectation</vt:lpstr>
      <vt:lpstr>Expectation – definition</vt:lpstr>
      <vt:lpstr>Expectation: Dice example</vt:lpstr>
      <vt:lpstr>Expectation</vt:lpstr>
      <vt:lpstr>Expectation and mean</vt:lpstr>
      <vt:lpstr>Expectation of functions of X</vt:lpstr>
      <vt:lpstr>Expectation of functions of X</vt:lpstr>
      <vt:lpstr>Expected values and decisions</vt:lpstr>
      <vt:lpstr>6. Samples and sampling</vt:lpstr>
      <vt:lpstr>The empirical distribution</vt:lpstr>
      <vt:lpstr>Computing the empirical distribution</vt:lpstr>
      <vt:lpstr>Random numbers</vt:lpstr>
      <vt:lpstr>Uniform sampling</vt:lpstr>
      <vt:lpstr>Discrete sampling</vt:lpstr>
      <vt:lpstr>Discrete sampling example</vt:lpstr>
      <vt:lpstr>Example: Romeo &amp; Juliet</vt:lpstr>
      <vt:lpstr>Letters PMF in Romeo &amp; Juliet</vt:lpstr>
      <vt:lpstr>Letters PMF in Metamorphosis</vt:lpstr>
      <vt:lpstr>Judging a book (without its cover!) </vt:lpstr>
      <vt:lpstr>7. Perceptions of probabilities</vt:lpstr>
      <vt:lpstr>Odds &amp; log odds</vt:lpstr>
      <vt:lpstr>Odds: example</vt:lpstr>
      <vt:lpstr>Log odds</vt:lpstr>
      <vt:lpstr>Log odds example</vt:lpstr>
      <vt:lpstr>Log-probabilities</vt:lpstr>
      <vt:lpstr>Likelihood function</vt:lpstr>
      <vt:lpstr>Example: Romeo &amp; Juliet</vt:lpstr>
      <vt:lpstr>Example: Romeo &amp; Juliet</vt:lpstr>
      <vt:lpstr>Comparing Log-Likelihoods</vt:lpstr>
      <vt:lpstr>Thank you  Contact: Nicolas.Pugeault@Glasgow.ac.uk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
  <cp:lastModifiedBy>Nicolas Pugeault</cp:lastModifiedBy>
  <cp:revision>1212</cp:revision>
  <dcterms:created xsi:type="dcterms:W3CDTF">2021-01-06T14:22:07Z</dcterms:created>
  <dcterms:modified xsi:type="dcterms:W3CDTF">2025-11-05T16:15:00Z</dcterms:modified>
  <cp:category/>
</cp:coreProperties>
</file>