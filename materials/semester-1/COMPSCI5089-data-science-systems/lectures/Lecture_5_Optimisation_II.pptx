
<file path=[Content_Types].xml><?xml version="1.0" encoding="utf-8"?>
<Types xmlns="http://schemas.openxmlformats.org/package/2006/content-types">
  <Default Extension="gif" ContentType="image/gif"/>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0"/>
  </p:notesMasterIdLst>
  <p:sldIdLst>
    <p:sldId id="487" r:id="rId2"/>
    <p:sldId id="646" r:id="rId3"/>
    <p:sldId id="648" r:id="rId4"/>
    <p:sldId id="683" r:id="rId5"/>
    <p:sldId id="660" r:id="rId6"/>
    <p:sldId id="679" r:id="rId7"/>
    <p:sldId id="647" r:id="rId8"/>
    <p:sldId id="663" r:id="rId9"/>
    <p:sldId id="684" r:id="rId10"/>
    <p:sldId id="666" r:id="rId11"/>
    <p:sldId id="665" r:id="rId12"/>
    <p:sldId id="685" r:id="rId13"/>
    <p:sldId id="664" r:id="rId14"/>
    <p:sldId id="667" r:id="rId15"/>
    <p:sldId id="668" r:id="rId16"/>
    <p:sldId id="669" r:id="rId17"/>
    <p:sldId id="670" r:id="rId18"/>
    <p:sldId id="671" r:id="rId19"/>
    <p:sldId id="672" r:id="rId20"/>
    <p:sldId id="673" r:id="rId21"/>
    <p:sldId id="719" r:id="rId22"/>
    <p:sldId id="720" r:id="rId23"/>
    <p:sldId id="721" r:id="rId24"/>
    <p:sldId id="676" r:id="rId25"/>
    <p:sldId id="661" r:id="rId26"/>
    <p:sldId id="662" r:id="rId27"/>
    <p:sldId id="680" r:id="rId28"/>
    <p:sldId id="681" r:id="rId29"/>
    <p:sldId id="714" r:id="rId30"/>
    <p:sldId id="682" r:id="rId31"/>
    <p:sldId id="722" r:id="rId32"/>
    <p:sldId id="728" r:id="rId33"/>
    <p:sldId id="686" r:id="rId34"/>
    <p:sldId id="688" r:id="rId35"/>
    <p:sldId id="689" r:id="rId36"/>
    <p:sldId id="690" r:id="rId37"/>
    <p:sldId id="691" r:id="rId38"/>
    <p:sldId id="692" r:id="rId39"/>
    <p:sldId id="718" r:id="rId40"/>
    <p:sldId id="716" r:id="rId41"/>
    <p:sldId id="717" r:id="rId42"/>
    <p:sldId id="715" r:id="rId43"/>
    <p:sldId id="696" r:id="rId44"/>
    <p:sldId id="700" r:id="rId45"/>
    <p:sldId id="693" r:id="rId46"/>
    <p:sldId id="708" r:id="rId47"/>
    <p:sldId id="709" r:id="rId48"/>
    <p:sldId id="710" r:id="rId49"/>
    <p:sldId id="697" r:id="rId50"/>
    <p:sldId id="712" r:id="rId51"/>
    <p:sldId id="713" r:id="rId52"/>
    <p:sldId id="639" r:id="rId53"/>
    <p:sldId id="577" r:id="rId54"/>
    <p:sldId id="727" r:id="rId55"/>
    <p:sldId id="723" r:id="rId56"/>
    <p:sldId id="724" r:id="rId57"/>
    <p:sldId id="725" r:id="rId58"/>
    <p:sldId id="726" r:id="rId5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0AB481C1-B529-4728-AF7C-F7AC9FD4D0F6}">
          <p14:sldIdLst>
            <p14:sldId id="487"/>
            <p14:sldId id="646"/>
            <p14:sldId id="648"/>
            <p14:sldId id="683"/>
            <p14:sldId id="660"/>
            <p14:sldId id="679"/>
            <p14:sldId id="647"/>
          </p14:sldIdLst>
        </p14:section>
        <p14:section name="Jacobians, Gradients &amp; Hessian" id="{5822C7F5-DC6B-4EB4-9F7C-DE9FAFAFFAA6}">
          <p14:sldIdLst>
            <p14:sldId id="663"/>
            <p14:sldId id="684"/>
            <p14:sldId id="666"/>
            <p14:sldId id="665"/>
            <p14:sldId id="685"/>
            <p14:sldId id="664"/>
            <p14:sldId id="667"/>
            <p14:sldId id="668"/>
            <p14:sldId id="669"/>
            <p14:sldId id="670"/>
            <p14:sldId id="671"/>
            <p14:sldId id="672"/>
            <p14:sldId id="673"/>
            <p14:sldId id="719"/>
            <p14:sldId id="720"/>
            <p14:sldId id="721"/>
            <p14:sldId id="676"/>
          </p14:sldIdLst>
        </p14:section>
        <p14:section name="Gradient Descent" id="{F74FD926-F79C-4D8F-A353-042A51D04E8A}">
          <p14:sldIdLst>
            <p14:sldId id="661"/>
            <p14:sldId id="662"/>
            <p14:sldId id="680"/>
            <p14:sldId id="681"/>
            <p14:sldId id="714"/>
            <p14:sldId id="682"/>
            <p14:sldId id="722"/>
            <p14:sldId id="728"/>
            <p14:sldId id="686"/>
            <p14:sldId id="688"/>
            <p14:sldId id="689"/>
            <p14:sldId id="690"/>
            <p14:sldId id="691"/>
            <p14:sldId id="692"/>
            <p14:sldId id="718"/>
            <p14:sldId id="716"/>
            <p14:sldId id="717"/>
            <p14:sldId id="715"/>
            <p14:sldId id="696"/>
            <p14:sldId id="700"/>
          </p14:sldIdLst>
        </p14:section>
        <p14:section name="Second Order" id="{9FB6B153-4685-4BBD-9ADA-DEE6DB9A1B4D}">
          <p14:sldIdLst>
            <p14:sldId id="693"/>
            <p14:sldId id="708"/>
            <p14:sldId id="709"/>
            <p14:sldId id="710"/>
            <p14:sldId id="697"/>
            <p14:sldId id="712"/>
            <p14:sldId id="713"/>
            <p14:sldId id="639"/>
            <p14:sldId id="577"/>
            <p14:sldId id="727"/>
            <p14:sldId id="723"/>
            <p14:sldId id="724"/>
            <p14:sldId id="725"/>
            <p14:sldId id="72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BBC3F44-B606-4669-8B4A-AF0A7147DB59}" v="2" dt="2025-10-30T14:23:41.64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5266" autoAdjust="0"/>
    <p:restoredTop sz="87532"/>
  </p:normalViewPr>
  <p:slideViewPr>
    <p:cSldViewPr snapToGrid="0">
      <p:cViewPr varScale="1">
        <p:scale>
          <a:sx n="141" d="100"/>
          <a:sy n="141" d="100"/>
        </p:scale>
        <p:origin x="1800" y="76"/>
      </p:cViewPr>
      <p:guideLst/>
    </p:cSldViewPr>
  </p:slideViewPr>
  <p:outlineViewPr>
    <p:cViewPr>
      <p:scale>
        <a:sx n="30" d="100"/>
        <a:sy n="30" d="100"/>
      </p:scale>
      <p:origin x="0" y="0"/>
    </p:cViewPr>
  </p:outlineViewPr>
  <p:notesTextViewPr>
    <p:cViewPr>
      <p:scale>
        <a:sx n="1" d="1"/>
        <a:sy n="1" d="1"/>
      </p:scale>
      <p:origin x="0" y="0"/>
    </p:cViewPr>
  </p:notesTextViewPr>
  <p:sorterViewPr>
    <p:cViewPr>
      <p:scale>
        <a:sx n="80" d="100"/>
        <a:sy n="8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microsoft.com/office/2015/10/relationships/revisionInfo" Target="revisionInfo.xml"/><Relationship Id="rId5" Type="http://schemas.openxmlformats.org/officeDocument/2006/relationships/slide" Target="slides/slide4.xml"/><Relationship Id="rId61" Type="http://schemas.openxmlformats.org/officeDocument/2006/relationships/presProps" Target="pres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notesMaster" Target="notesMasters/notesMaster1.xml"/><Relationship Id="rId65"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icolas Pugeault" userId="1fb198ab-7f77-45c5-8863-126c823efc0f" providerId="ADAL" clId="{B9431C29-5306-416B-8A97-11F556A012F7}"/>
    <pc:docChg chg="custSel addSld modSld">
      <pc:chgData name="Nicolas Pugeault" userId="1fb198ab-7f77-45c5-8863-126c823efc0f" providerId="ADAL" clId="{B9431C29-5306-416B-8A97-11F556A012F7}" dt="2025-10-30T14:23:53.716" v="4" actId="478"/>
      <pc:docMkLst>
        <pc:docMk/>
      </pc:docMkLst>
      <pc:sldChg chg="addSp delSp modSp mod">
        <pc:chgData name="Nicolas Pugeault" userId="1fb198ab-7f77-45c5-8863-126c823efc0f" providerId="ADAL" clId="{B9431C29-5306-416B-8A97-11F556A012F7}" dt="2025-10-30T14:23:53.716" v="4" actId="478"/>
        <pc:sldMkLst>
          <pc:docMk/>
          <pc:sldMk cId="2847218390" sldId="722"/>
        </pc:sldMkLst>
        <pc:spChg chg="mod">
          <ac:chgData name="Nicolas Pugeault" userId="1fb198ab-7f77-45c5-8863-126c823efc0f" providerId="ADAL" clId="{B9431C29-5306-416B-8A97-11F556A012F7}" dt="2025-10-30T14:23:51.290" v="3" actId="27636"/>
          <ac:spMkLst>
            <pc:docMk/>
            <pc:sldMk cId="2847218390" sldId="722"/>
            <ac:spMk id="2" creationId="{2378C339-868D-790A-5173-2EBFCB05300B}"/>
          </ac:spMkLst>
        </pc:spChg>
        <pc:spChg chg="add del mod">
          <ac:chgData name="Nicolas Pugeault" userId="1fb198ab-7f77-45c5-8863-126c823efc0f" providerId="ADAL" clId="{B9431C29-5306-416B-8A97-11F556A012F7}" dt="2025-10-30T14:23:53.716" v="4" actId="478"/>
          <ac:spMkLst>
            <pc:docMk/>
            <pc:sldMk cId="2847218390" sldId="722"/>
            <ac:spMk id="3" creationId="{8131F3D8-F2F1-793E-032A-98D48866BB48}"/>
          </ac:spMkLst>
        </pc:spChg>
        <pc:picChg chg="del">
          <ac:chgData name="Nicolas Pugeault" userId="1fb198ab-7f77-45c5-8863-126c823efc0f" providerId="ADAL" clId="{B9431C29-5306-416B-8A97-11F556A012F7}" dt="2025-10-30T14:23:41.642" v="1" actId="478"/>
          <ac:picMkLst>
            <pc:docMk/>
            <pc:sldMk cId="2847218390" sldId="722"/>
            <ac:picMk id="1026" creationId="{D3CACBCF-A63A-F45F-931A-6B477E6D9D50}"/>
          </ac:picMkLst>
        </pc:picChg>
      </pc:sldChg>
      <pc:sldChg chg="add">
        <pc:chgData name="Nicolas Pugeault" userId="1fb198ab-7f77-45c5-8863-126c823efc0f" providerId="ADAL" clId="{B9431C29-5306-416B-8A97-11F556A012F7}" dt="2025-10-30T14:23:38.040" v="0"/>
        <pc:sldMkLst>
          <pc:docMk/>
          <pc:sldMk cId="2402687457" sldId="728"/>
        </pc:sldMkLst>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8E3EE14-1AEF-462B-BA51-435A7134FEDF}" type="doc">
      <dgm:prSet loTypeId="urn:microsoft.com/office/officeart/2008/layout/LinedList" loCatId="list" qsTypeId="urn:microsoft.com/office/officeart/2005/8/quickstyle/simple1" qsCatId="simple" csTypeId="urn:microsoft.com/office/officeart/2005/8/colors/accent1_2" csCatId="accent1" phldr="1"/>
      <dgm:spPr/>
      <dgm:t>
        <a:bodyPr/>
        <a:lstStyle/>
        <a:p>
          <a:endParaRPr lang="en-US"/>
        </a:p>
      </dgm:t>
    </dgm:pt>
    <dgm:pt modelId="{E62EEC6C-2912-42DB-AFA3-D7D4B25BFFF8}">
      <dgm:prSet/>
      <dgm:spPr/>
      <dgm:t>
        <a:bodyPr/>
        <a:lstStyle/>
        <a:p>
          <a:r>
            <a:rPr lang="en-GB" b="0" i="0"/>
            <a:t>The gradient of the loss function L′(</a:t>
          </a:r>
          <a:r>
            <a:rPr lang="el-GR" b="0" i="0"/>
            <a:t>θ)=∇</a:t>
          </a:r>
          <a:r>
            <a:rPr lang="en-GB" b="0" i="0"/>
            <a:t>L(</a:t>
          </a:r>
          <a:r>
            <a:rPr lang="el-GR" b="0" i="0"/>
            <a:t>θ)</a:t>
          </a:r>
          <a:r>
            <a:rPr lang="en-GB" b="0" i="0"/>
            <a:t> </a:t>
          </a:r>
          <a:r>
            <a:rPr lang="el-GR" b="0" i="0"/>
            <a:t> </a:t>
          </a:r>
          <a:r>
            <a:rPr lang="en-GB" b="0" i="0"/>
            <a:t>must be computable at any point </a:t>
          </a:r>
          <a:r>
            <a:rPr lang="el-GR" b="0" i="0"/>
            <a:t>θ. </a:t>
          </a:r>
          <a:r>
            <a:rPr lang="en-GB" b="1" i="0"/>
            <a:t>Automatic differentiation</a:t>
          </a:r>
          <a:r>
            <a:rPr lang="en-GB" b="0" i="0"/>
            <a:t> helps with this.</a:t>
          </a:r>
          <a:endParaRPr lang="en-US"/>
        </a:p>
      </dgm:t>
    </dgm:pt>
    <dgm:pt modelId="{AEB2D18C-0631-4FD9-9C2D-4EB83810C6A6}" type="parTrans" cxnId="{458DCD37-CB1A-45B8-A01F-EA8F1F428858}">
      <dgm:prSet/>
      <dgm:spPr/>
      <dgm:t>
        <a:bodyPr/>
        <a:lstStyle/>
        <a:p>
          <a:endParaRPr lang="en-US"/>
        </a:p>
      </dgm:t>
    </dgm:pt>
    <dgm:pt modelId="{459B5520-CF6E-497D-993B-D9BB46435C99}" type="sibTrans" cxnId="{458DCD37-CB1A-45B8-A01F-EA8F1F428858}">
      <dgm:prSet/>
      <dgm:spPr/>
      <dgm:t>
        <a:bodyPr/>
        <a:lstStyle/>
        <a:p>
          <a:endParaRPr lang="en-US"/>
        </a:p>
      </dgm:t>
    </dgm:pt>
    <dgm:pt modelId="{65E1168A-E0F6-4D31-9C0E-B6FEBC3AA637}">
      <dgm:prSet/>
      <dgm:spPr/>
      <dgm:t>
        <a:bodyPr/>
        <a:lstStyle/>
        <a:p>
          <a:r>
            <a:rPr lang="en-GB" b="0" i="0" dirty="0"/>
            <a:t>Gradient descent can get stuck in local minima. This is an inherent aspect of gradient descent methods, which will not find </a:t>
          </a:r>
          <a:r>
            <a:rPr lang="en-GB" b="1" i="0" dirty="0"/>
            <a:t>global minima </a:t>
          </a:r>
          <a:r>
            <a:rPr lang="en-GB" b="0" i="0" dirty="0"/>
            <a:t>except when the </a:t>
          </a:r>
          <a:r>
            <a:rPr lang="en-GB" b="0" i="0" dirty="0" err="1"/>
            <a:t>the</a:t>
          </a:r>
          <a:r>
            <a:rPr lang="en-GB" b="0" i="0" dirty="0"/>
            <a:t> function is convex </a:t>
          </a:r>
          <a:r>
            <a:rPr lang="en-GB" b="0" i="1" dirty="0"/>
            <a:t>and</a:t>
          </a:r>
          <a:r>
            <a:rPr lang="en-GB" b="0" i="0" dirty="0"/>
            <a:t> the step size is optimal. </a:t>
          </a:r>
          <a:r>
            <a:rPr lang="en-GB" b="1" i="0" dirty="0"/>
            <a:t>Random restart </a:t>
          </a:r>
          <a:r>
            <a:rPr lang="en-GB" b="0" i="0" dirty="0"/>
            <a:t>and </a:t>
          </a:r>
          <a:r>
            <a:rPr lang="en-GB" b="1" i="0" dirty="0"/>
            <a:t>momentum</a:t>
          </a:r>
          <a:r>
            <a:rPr lang="en-GB" b="0" i="0" dirty="0"/>
            <a:t> are approach</a:t>
          </a:r>
          <a:r>
            <a:rPr lang="en-US" dirty="0"/>
            <a:t>e</a:t>
          </a:r>
          <a:r>
            <a:rPr lang="en-GB" b="0" i="0" dirty="0"/>
            <a:t>s to reduce sensitivity to local minima.</a:t>
          </a:r>
          <a:endParaRPr lang="en-US" dirty="0"/>
        </a:p>
      </dgm:t>
    </dgm:pt>
    <dgm:pt modelId="{AD714C6E-3F13-4687-A326-636AFA66A8B7}" type="parTrans" cxnId="{F39AA416-A06A-47F2-923B-D821094F1155}">
      <dgm:prSet/>
      <dgm:spPr/>
      <dgm:t>
        <a:bodyPr/>
        <a:lstStyle/>
        <a:p>
          <a:endParaRPr lang="en-US"/>
        </a:p>
      </dgm:t>
    </dgm:pt>
    <dgm:pt modelId="{83086EC9-616C-4BB6-A407-A40DEFC94F95}" type="sibTrans" cxnId="{F39AA416-A06A-47F2-923B-D821094F1155}">
      <dgm:prSet/>
      <dgm:spPr/>
      <dgm:t>
        <a:bodyPr/>
        <a:lstStyle/>
        <a:p>
          <a:endParaRPr lang="en-US"/>
        </a:p>
      </dgm:t>
    </dgm:pt>
    <dgm:pt modelId="{DA99C012-9F23-4EFD-BFA0-F5B1DDC3DE14}">
      <dgm:prSet/>
      <dgm:spPr/>
      <dgm:t>
        <a:bodyPr/>
        <a:lstStyle/>
        <a:p>
          <a:r>
            <a:rPr lang="en-GB" b="0" i="0" dirty="0"/>
            <a:t>Gradient descent only works on </a:t>
          </a:r>
          <a:r>
            <a:rPr lang="en-GB" b="1" i="0" dirty="0"/>
            <a:t>smooth</a:t>
          </a:r>
          <a:r>
            <a:rPr lang="en-GB" b="0" i="0" dirty="0"/>
            <a:t>, </a:t>
          </a:r>
          <a:r>
            <a:rPr lang="en-US" b="0" i="0" dirty="0"/>
            <a:t>‘</a:t>
          </a:r>
          <a:r>
            <a:rPr lang="en-GB" b="1" i="0" dirty="0"/>
            <a:t>differentiable</a:t>
          </a:r>
          <a:r>
            <a:rPr lang="en-US" b="1" i="0" dirty="0"/>
            <a:t>’</a:t>
          </a:r>
          <a:r>
            <a:rPr lang="en-GB" b="0" i="0" dirty="0"/>
            <a:t> objective functions. </a:t>
          </a:r>
          <a:r>
            <a:rPr lang="en-GB" b="1" i="0" dirty="0"/>
            <a:t>Stochastic relaxation</a:t>
          </a:r>
          <a:r>
            <a:rPr lang="en-GB" b="0" i="0" dirty="0"/>
            <a:t> introduces randomness to allow very steep functions to be optimised.</a:t>
          </a:r>
          <a:endParaRPr lang="en-US" dirty="0"/>
        </a:p>
      </dgm:t>
    </dgm:pt>
    <dgm:pt modelId="{B3DA2959-0C34-4AAD-AB97-CC8EE4A971AA}" type="parTrans" cxnId="{B4A51D84-D259-4B12-B8D8-FEBF60EA54BD}">
      <dgm:prSet/>
      <dgm:spPr/>
      <dgm:t>
        <a:bodyPr/>
        <a:lstStyle/>
        <a:p>
          <a:endParaRPr lang="en-US"/>
        </a:p>
      </dgm:t>
    </dgm:pt>
    <dgm:pt modelId="{EBAA3D1E-AF2C-40DF-A357-6F7D803B7743}" type="sibTrans" cxnId="{B4A51D84-D259-4B12-B8D8-FEBF60EA54BD}">
      <dgm:prSet/>
      <dgm:spPr/>
      <dgm:t>
        <a:bodyPr/>
        <a:lstStyle/>
        <a:p>
          <a:endParaRPr lang="en-US"/>
        </a:p>
      </dgm:t>
    </dgm:pt>
    <dgm:pt modelId="{477F6CCE-FCF7-4C6B-ABD0-32E09B9D15AF}">
      <dgm:prSet/>
      <dgm:spPr/>
      <dgm:t>
        <a:bodyPr/>
        <a:lstStyle/>
        <a:p>
          <a:r>
            <a:rPr lang="en-GB" b="0" i="0" dirty="0"/>
            <a:t>Gradient descent can be very slow if the objective function (and/or the gradient) is slow to evaluate. </a:t>
          </a:r>
          <a:r>
            <a:rPr lang="en-GB" b="1" i="0" dirty="0"/>
            <a:t>Stochastic gradient descent</a:t>
          </a:r>
          <a:r>
            <a:rPr lang="en-GB" b="0" i="0" dirty="0"/>
            <a:t> can massively accelerate optimisation if the objective function can be written as a simple sum of many subproblems.</a:t>
          </a:r>
          <a:endParaRPr lang="en-US" dirty="0"/>
        </a:p>
      </dgm:t>
    </dgm:pt>
    <dgm:pt modelId="{A6D210E9-F4CD-4633-876C-17F4C376EEAA}" type="parTrans" cxnId="{CE42AAFA-B15B-4D93-8B20-0406A688D227}">
      <dgm:prSet/>
      <dgm:spPr/>
      <dgm:t>
        <a:bodyPr/>
        <a:lstStyle/>
        <a:p>
          <a:endParaRPr lang="en-US"/>
        </a:p>
      </dgm:t>
    </dgm:pt>
    <dgm:pt modelId="{4DB10AE0-1101-4359-BCC4-60B72E7FC564}" type="sibTrans" cxnId="{CE42AAFA-B15B-4D93-8B20-0406A688D227}">
      <dgm:prSet/>
      <dgm:spPr/>
      <dgm:t>
        <a:bodyPr/>
        <a:lstStyle/>
        <a:p>
          <a:endParaRPr lang="en-US"/>
        </a:p>
      </dgm:t>
    </dgm:pt>
    <dgm:pt modelId="{15AA6B07-88B3-406C-A3A9-5B8B2039548F}" type="pres">
      <dgm:prSet presAssocID="{D8E3EE14-1AEF-462B-BA51-435A7134FEDF}" presName="vert0" presStyleCnt="0">
        <dgm:presLayoutVars>
          <dgm:dir/>
          <dgm:animOne val="branch"/>
          <dgm:animLvl val="lvl"/>
        </dgm:presLayoutVars>
      </dgm:prSet>
      <dgm:spPr/>
    </dgm:pt>
    <dgm:pt modelId="{A11C04CA-30E0-4DA0-9B58-E1DA4DA86C73}" type="pres">
      <dgm:prSet presAssocID="{E62EEC6C-2912-42DB-AFA3-D7D4B25BFFF8}" presName="thickLine" presStyleLbl="alignNode1" presStyleIdx="0" presStyleCnt="4"/>
      <dgm:spPr/>
    </dgm:pt>
    <dgm:pt modelId="{01662037-AC78-475D-A1C7-8EA38F55625B}" type="pres">
      <dgm:prSet presAssocID="{E62EEC6C-2912-42DB-AFA3-D7D4B25BFFF8}" presName="horz1" presStyleCnt="0"/>
      <dgm:spPr/>
    </dgm:pt>
    <dgm:pt modelId="{392482C4-0EF3-47D6-BD73-75FBE276D39B}" type="pres">
      <dgm:prSet presAssocID="{E62EEC6C-2912-42DB-AFA3-D7D4B25BFFF8}" presName="tx1" presStyleLbl="revTx" presStyleIdx="0" presStyleCnt="4"/>
      <dgm:spPr/>
    </dgm:pt>
    <dgm:pt modelId="{3625FEF5-A055-47CB-BE5D-004CDB21F784}" type="pres">
      <dgm:prSet presAssocID="{E62EEC6C-2912-42DB-AFA3-D7D4B25BFFF8}" presName="vert1" presStyleCnt="0"/>
      <dgm:spPr/>
    </dgm:pt>
    <dgm:pt modelId="{DC6B6201-1BB5-4579-BC6C-A6C14CD3E6CA}" type="pres">
      <dgm:prSet presAssocID="{65E1168A-E0F6-4D31-9C0E-B6FEBC3AA637}" presName="thickLine" presStyleLbl="alignNode1" presStyleIdx="1" presStyleCnt="4"/>
      <dgm:spPr/>
    </dgm:pt>
    <dgm:pt modelId="{DBB9350D-6684-43BC-937E-AB1182CC06C2}" type="pres">
      <dgm:prSet presAssocID="{65E1168A-E0F6-4D31-9C0E-B6FEBC3AA637}" presName="horz1" presStyleCnt="0"/>
      <dgm:spPr/>
    </dgm:pt>
    <dgm:pt modelId="{7A359525-0B51-4463-A56D-35271A71BC34}" type="pres">
      <dgm:prSet presAssocID="{65E1168A-E0F6-4D31-9C0E-B6FEBC3AA637}" presName="tx1" presStyleLbl="revTx" presStyleIdx="1" presStyleCnt="4"/>
      <dgm:spPr/>
    </dgm:pt>
    <dgm:pt modelId="{EE89E094-E836-4732-821E-4DFC07B821C4}" type="pres">
      <dgm:prSet presAssocID="{65E1168A-E0F6-4D31-9C0E-B6FEBC3AA637}" presName="vert1" presStyleCnt="0"/>
      <dgm:spPr/>
    </dgm:pt>
    <dgm:pt modelId="{B5C0C0B3-E9E6-4526-A3E3-63AE438DE652}" type="pres">
      <dgm:prSet presAssocID="{DA99C012-9F23-4EFD-BFA0-F5B1DDC3DE14}" presName="thickLine" presStyleLbl="alignNode1" presStyleIdx="2" presStyleCnt="4"/>
      <dgm:spPr/>
    </dgm:pt>
    <dgm:pt modelId="{A6A553BF-C8F3-470C-871A-1637FA5DC7E0}" type="pres">
      <dgm:prSet presAssocID="{DA99C012-9F23-4EFD-BFA0-F5B1DDC3DE14}" presName="horz1" presStyleCnt="0"/>
      <dgm:spPr/>
    </dgm:pt>
    <dgm:pt modelId="{07EE1652-3542-44FA-8F1D-322E8B171784}" type="pres">
      <dgm:prSet presAssocID="{DA99C012-9F23-4EFD-BFA0-F5B1DDC3DE14}" presName="tx1" presStyleLbl="revTx" presStyleIdx="2" presStyleCnt="4"/>
      <dgm:spPr/>
    </dgm:pt>
    <dgm:pt modelId="{66D9E680-97E5-44A7-BE62-A527DB9E68D1}" type="pres">
      <dgm:prSet presAssocID="{DA99C012-9F23-4EFD-BFA0-F5B1DDC3DE14}" presName="vert1" presStyleCnt="0"/>
      <dgm:spPr/>
    </dgm:pt>
    <dgm:pt modelId="{72C6787B-B658-4694-9561-5A0B8E07C141}" type="pres">
      <dgm:prSet presAssocID="{477F6CCE-FCF7-4C6B-ABD0-32E09B9D15AF}" presName="thickLine" presStyleLbl="alignNode1" presStyleIdx="3" presStyleCnt="4"/>
      <dgm:spPr/>
    </dgm:pt>
    <dgm:pt modelId="{45481E2C-31E5-4F01-8CC5-3911FA8D2874}" type="pres">
      <dgm:prSet presAssocID="{477F6CCE-FCF7-4C6B-ABD0-32E09B9D15AF}" presName="horz1" presStyleCnt="0"/>
      <dgm:spPr/>
    </dgm:pt>
    <dgm:pt modelId="{595A251F-E900-47FC-BF4A-E72BE3C0000D}" type="pres">
      <dgm:prSet presAssocID="{477F6CCE-FCF7-4C6B-ABD0-32E09B9D15AF}" presName="tx1" presStyleLbl="revTx" presStyleIdx="3" presStyleCnt="4"/>
      <dgm:spPr/>
    </dgm:pt>
    <dgm:pt modelId="{A1965440-E733-417C-B48D-CE02ED59EB55}" type="pres">
      <dgm:prSet presAssocID="{477F6CCE-FCF7-4C6B-ABD0-32E09B9D15AF}" presName="vert1" presStyleCnt="0"/>
      <dgm:spPr/>
    </dgm:pt>
  </dgm:ptLst>
  <dgm:cxnLst>
    <dgm:cxn modelId="{F39AA416-A06A-47F2-923B-D821094F1155}" srcId="{D8E3EE14-1AEF-462B-BA51-435A7134FEDF}" destId="{65E1168A-E0F6-4D31-9C0E-B6FEBC3AA637}" srcOrd="1" destOrd="0" parTransId="{AD714C6E-3F13-4687-A326-636AFA66A8B7}" sibTransId="{83086EC9-616C-4BB6-A407-A40DEFC94F95}"/>
    <dgm:cxn modelId="{64FC0225-1B2C-461D-89D0-5C5EBA0C68C2}" type="presOf" srcId="{477F6CCE-FCF7-4C6B-ABD0-32E09B9D15AF}" destId="{595A251F-E900-47FC-BF4A-E72BE3C0000D}" srcOrd="0" destOrd="0" presId="urn:microsoft.com/office/officeart/2008/layout/LinedList"/>
    <dgm:cxn modelId="{4435AB36-77F3-4A39-B145-92BEFA301E98}" type="presOf" srcId="{DA99C012-9F23-4EFD-BFA0-F5B1DDC3DE14}" destId="{07EE1652-3542-44FA-8F1D-322E8B171784}" srcOrd="0" destOrd="0" presId="urn:microsoft.com/office/officeart/2008/layout/LinedList"/>
    <dgm:cxn modelId="{458DCD37-CB1A-45B8-A01F-EA8F1F428858}" srcId="{D8E3EE14-1AEF-462B-BA51-435A7134FEDF}" destId="{E62EEC6C-2912-42DB-AFA3-D7D4B25BFFF8}" srcOrd="0" destOrd="0" parTransId="{AEB2D18C-0631-4FD9-9C2D-4EB83810C6A6}" sibTransId="{459B5520-CF6E-497D-993B-D9BB46435C99}"/>
    <dgm:cxn modelId="{8A235D6D-E3AB-427E-8526-360F36F88017}" type="presOf" srcId="{65E1168A-E0F6-4D31-9C0E-B6FEBC3AA637}" destId="{7A359525-0B51-4463-A56D-35271A71BC34}" srcOrd="0" destOrd="0" presId="urn:microsoft.com/office/officeart/2008/layout/LinedList"/>
    <dgm:cxn modelId="{26894073-DCC0-49FF-BC98-C75EFD39F18F}" type="presOf" srcId="{D8E3EE14-1AEF-462B-BA51-435A7134FEDF}" destId="{15AA6B07-88B3-406C-A3A9-5B8B2039548F}" srcOrd="0" destOrd="0" presId="urn:microsoft.com/office/officeart/2008/layout/LinedList"/>
    <dgm:cxn modelId="{B4A51D84-D259-4B12-B8D8-FEBF60EA54BD}" srcId="{D8E3EE14-1AEF-462B-BA51-435A7134FEDF}" destId="{DA99C012-9F23-4EFD-BFA0-F5B1DDC3DE14}" srcOrd="2" destOrd="0" parTransId="{B3DA2959-0C34-4AAD-AB97-CC8EE4A971AA}" sibTransId="{EBAA3D1E-AF2C-40DF-A357-6F7D803B7743}"/>
    <dgm:cxn modelId="{BA76F6C6-4CFC-46EB-9F55-F2DA6C6DAEBE}" type="presOf" srcId="{E62EEC6C-2912-42DB-AFA3-D7D4B25BFFF8}" destId="{392482C4-0EF3-47D6-BD73-75FBE276D39B}" srcOrd="0" destOrd="0" presId="urn:microsoft.com/office/officeart/2008/layout/LinedList"/>
    <dgm:cxn modelId="{CE42AAFA-B15B-4D93-8B20-0406A688D227}" srcId="{D8E3EE14-1AEF-462B-BA51-435A7134FEDF}" destId="{477F6CCE-FCF7-4C6B-ABD0-32E09B9D15AF}" srcOrd="3" destOrd="0" parTransId="{A6D210E9-F4CD-4633-876C-17F4C376EEAA}" sibTransId="{4DB10AE0-1101-4359-BCC4-60B72E7FC564}"/>
    <dgm:cxn modelId="{0CCEF368-CB20-436F-AECB-59A996DC281B}" type="presParOf" srcId="{15AA6B07-88B3-406C-A3A9-5B8B2039548F}" destId="{A11C04CA-30E0-4DA0-9B58-E1DA4DA86C73}" srcOrd="0" destOrd="0" presId="urn:microsoft.com/office/officeart/2008/layout/LinedList"/>
    <dgm:cxn modelId="{C56E7234-8D4D-496A-A2D7-D291BD01C849}" type="presParOf" srcId="{15AA6B07-88B3-406C-A3A9-5B8B2039548F}" destId="{01662037-AC78-475D-A1C7-8EA38F55625B}" srcOrd="1" destOrd="0" presId="urn:microsoft.com/office/officeart/2008/layout/LinedList"/>
    <dgm:cxn modelId="{BDCB797D-0327-452D-8B1F-5B26E2BA17BC}" type="presParOf" srcId="{01662037-AC78-475D-A1C7-8EA38F55625B}" destId="{392482C4-0EF3-47D6-BD73-75FBE276D39B}" srcOrd="0" destOrd="0" presId="urn:microsoft.com/office/officeart/2008/layout/LinedList"/>
    <dgm:cxn modelId="{03694C3B-9E95-48E3-B7E1-89C614DD0B10}" type="presParOf" srcId="{01662037-AC78-475D-A1C7-8EA38F55625B}" destId="{3625FEF5-A055-47CB-BE5D-004CDB21F784}" srcOrd="1" destOrd="0" presId="urn:microsoft.com/office/officeart/2008/layout/LinedList"/>
    <dgm:cxn modelId="{7A98746B-4DA3-484C-8A4F-FFD48D87CB3C}" type="presParOf" srcId="{15AA6B07-88B3-406C-A3A9-5B8B2039548F}" destId="{DC6B6201-1BB5-4579-BC6C-A6C14CD3E6CA}" srcOrd="2" destOrd="0" presId="urn:microsoft.com/office/officeart/2008/layout/LinedList"/>
    <dgm:cxn modelId="{F4613BAC-F77E-46A8-A810-69FBC6427ABB}" type="presParOf" srcId="{15AA6B07-88B3-406C-A3A9-5B8B2039548F}" destId="{DBB9350D-6684-43BC-937E-AB1182CC06C2}" srcOrd="3" destOrd="0" presId="urn:microsoft.com/office/officeart/2008/layout/LinedList"/>
    <dgm:cxn modelId="{515A4E91-107C-408B-95AD-1FBA25D8FD1A}" type="presParOf" srcId="{DBB9350D-6684-43BC-937E-AB1182CC06C2}" destId="{7A359525-0B51-4463-A56D-35271A71BC34}" srcOrd="0" destOrd="0" presId="urn:microsoft.com/office/officeart/2008/layout/LinedList"/>
    <dgm:cxn modelId="{F980F79C-B6EB-4D6E-A84E-504C532A1ACD}" type="presParOf" srcId="{DBB9350D-6684-43BC-937E-AB1182CC06C2}" destId="{EE89E094-E836-4732-821E-4DFC07B821C4}" srcOrd="1" destOrd="0" presId="urn:microsoft.com/office/officeart/2008/layout/LinedList"/>
    <dgm:cxn modelId="{2CCBFBE4-6CD8-40DB-9F1F-0747368CCEF5}" type="presParOf" srcId="{15AA6B07-88B3-406C-A3A9-5B8B2039548F}" destId="{B5C0C0B3-E9E6-4526-A3E3-63AE438DE652}" srcOrd="4" destOrd="0" presId="urn:microsoft.com/office/officeart/2008/layout/LinedList"/>
    <dgm:cxn modelId="{661DFA8E-2120-4ACC-89E0-2F5EA88757FB}" type="presParOf" srcId="{15AA6B07-88B3-406C-A3A9-5B8B2039548F}" destId="{A6A553BF-C8F3-470C-871A-1637FA5DC7E0}" srcOrd="5" destOrd="0" presId="urn:microsoft.com/office/officeart/2008/layout/LinedList"/>
    <dgm:cxn modelId="{B1ACAE85-7985-4497-A31C-30F4C3B8212E}" type="presParOf" srcId="{A6A553BF-C8F3-470C-871A-1637FA5DC7E0}" destId="{07EE1652-3542-44FA-8F1D-322E8B171784}" srcOrd="0" destOrd="0" presId="urn:microsoft.com/office/officeart/2008/layout/LinedList"/>
    <dgm:cxn modelId="{73BB382C-E5F4-45B0-A6E3-F48ECE5D5CA2}" type="presParOf" srcId="{A6A553BF-C8F3-470C-871A-1637FA5DC7E0}" destId="{66D9E680-97E5-44A7-BE62-A527DB9E68D1}" srcOrd="1" destOrd="0" presId="urn:microsoft.com/office/officeart/2008/layout/LinedList"/>
    <dgm:cxn modelId="{99C1033F-D82B-4E02-BE8F-D90CE7161D1E}" type="presParOf" srcId="{15AA6B07-88B3-406C-A3A9-5B8B2039548F}" destId="{72C6787B-B658-4694-9561-5A0B8E07C141}" srcOrd="6" destOrd="0" presId="urn:microsoft.com/office/officeart/2008/layout/LinedList"/>
    <dgm:cxn modelId="{C3854746-7F5B-41E2-AAF9-A37DB475C36B}" type="presParOf" srcId="{15AA6B07-88B3-406C-A3A9-5B8B2039548F}" destId="{45481E2C-31E5-4F01-8CC5-3911FA8D2874}" srcOrd="7" destOrd="0" presId="urn:microsoft.com/office/officeart/2008/layout/LinedList"/>
    <dgm:cxn modelId="{A3298D61-E362-406C-9F8C-6C814A0145D4}" type="presParOf" srcId="{45481E2C-31E5-4F01-8CC5-3911FA8D2874}" destId="{595A251F-E900-47FC-BF4A-E72BE3C0000D}" srcOrd="0" destOrd="0" presId="urn:microsoft.com/office/officeart/2008/layout/LinedList"/>
    <dgm:cxn modelId="{6AFABF4F-21E8-42CD-A658-AD0F28B9A6EF}" type="presParOf" srcId="{45481E2C-31E5-4F01-8CC5-3911FA8D2874}" destId="{A1965440-E733-417C-B48D-CE02ED59EB55}"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11C04CA-30E0-4DA0-9B58-E1DA4DA86C73}">
      <dsp:nvSpPr>
        <dsp:cNvPr id="0" name=""/>
        <dsp:cNvSpPr/>
      </dsp:nvSpPr>
      <dsp:spPr>
        <a:xfrm>
          <a:off x="0" y="0"/>
          <a:ext cx="6172199"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92482C4-0EF3-47D6-BD73-75FBE276D39B}">
      <dsp:nvSpPr>
        <dsp:cNvPr id="0" name=""/>
        <dsp:cNvSpPr/>
      </dsp:nvSpPr>
      <dsp:spPr>
        <a:xfrm>
          <a:off x="0" y="0"/>
          <a:ext cx="6172199" cy="121840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en-GB" sz="1500" b="0" i="0" kern="1200"/>
            <a:t>The gradient of the loss function L′(</a:t>
          </a:r>
          <a:r>
            <a:rPr lang="el-GR" sz="1500" b="0" i="0" kern="1200"/>
            <a:t>θ)=∇</a:t>
          </a:r>
          <a:r>
            <a:rPr lang="en-GB" sz="1500" b="0" i="0" kern="1200"/>
            <a:t>L(</a:t>
          </a:r>
          <a:r>
            <a:rPr lang="el-GR" sz="1500" b="0" i="0" kern="1200"/>
            <a:t>θ)</a:t>
          </a:r>
          <a:r>
            <a:rPr lang="en-GB" sz="1500" b="0" i="0" kern="1200"/>
            <a:t> </a:t>
          </a:r>
          <a:r>
            <a:rPr lang="el-GR" sz="1500" b="0" i="0" kern="1200"/>
            <a:t> </a:t>
          </a:r>
          <a:r>
            <a:rPr lang="en-GB" sz="1500" b="0" i="0" kern="1200"/>
            <a:t>must be computable at any point </a:t>
          </a:r>
          <a:r>
            <a:rPr lang="el-GR" sz="1500" b="0" i="0" kern="1200"/>
            <a:t>θ. </a:t>
          </a:r>
          <a:r>
            <a:rPr lang="en-GB" sz="1500" b="1" i="0" kern="1200"/>
            <a:t>Automatic differentiation</a:t>
          </a:r>
          <a:r>
            <a:rPr lang="en-GB" sz="1500" b="0" i="0" kern="1200"/>
            <a:t> helps with this.</a:t>
          </a:r>
          <a:endParaRPr lang="en-US" sz="1500" kern="1200"/>
        </a:p>
      </dsp:txBody>
      <dsp:txXfrm>
        <a:off x="0" y="0"/>
        <a:ext cx="6172199" cy="1218406"/>
      </dsp:txXfrm>
    </dsp:sp>
    <dsp:sp modelId="{DC6B6201-1BB5-4579-BC6C-A6C14CD3E6CA}">
      <dsp:nvSpPr>
        <dsp:cNvPr id="0" name=""/>
        <dsp:cNvSpPr/>
      </dsp:nvSpPr>
      <dsp:spPr>
        <a:xfrm>
          <a:off x="0" y="1218406"/>
          <a:ext cx="6172199"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A359525-0B51-4463-A56D-35271A71BC34}">
      <dsp:nvSpPr>
        <dsp:cNvPr id="0" name=""/>
        <dsp:cNvSpPr/>
      </dsp:nvSpPr>
      <dsp:spPr>
        <a:xfrm>
          <a:off x="0" y="1218406"/>
          <a:ext cx="6172199" cy="121840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en-GB" sz="1500" b="0" i="0" kern="1200" dirty="0"/>
            <a:t>Gradient descent can get stuck in local minima. This is an inherent aspect of gradient descent methods, which will not find </a:t>
          </a:r>
          <a:r>
            <a:rPr lang="en-GB" sz="1500" b="1" i="0" kern="1200" dirty="0"/>
            <a:t>global minima </a:t>
          </a:r>
          <a:r>
            <a:rPr lang="en-GB" sz="1500" b="0" i="0" kern="1200" dirty="0"/>
            <a:t>except when the </a:t>
          </a:r>
          <a:r>
            <a:rPr lang="en-GB" sz="1500" b="0" i="0" kern="1200" dirty="0" err="1"/>
            <a:t>the</a:t>
          </a:r>
          <a:r>
            <a:rPr lang="en-GB" sz="1500" b="0" i="0" kern="1200" dirty="0"/>
            <a:t> function is convex </a:t>
          </a:r>
          <a:r>
            <a:rPr lang="en-GB" sz="1500" b="0" i="1" kern="1200" dirty="0"/>
            <a:t>and</a:t>
          </a:r>
          <a:r>
            <a:rPr lang="en-GB" sz="1500" b="0" i="0" kern="1200" dirty="0"/>
            <a:t> the step size is optimal. </a:t>
          </a:r>
          <a:r>
            <a:rPr lang="en-GB" sz="1500" b="1" i="0" kern="1200" dirty="0"/>
            <a:t>Random restart </a:t>
          </a:r>
          <a:r>
            <a:rPr lang="en-GB" sz="1500" b="0" i="0" kern="1200" dirty="0"/>
            <a:t>and </a:t>
          </a:r>
          <a:r>
            <a:rPr lang="en-GB" sz="1500" b="1" i="0" kern="1200" dirty="0"/>
            <a:t>momentum</a:t>
          </a:r>
          <a:r>
            <a:rPr lang="en-GB" sz="1500" b="0" i="0" kern="1200" dirty="0"/>
            <a:t> are approach</a:t>
          </a:r>
          <a:r>
            <a:rPr lang="en-US" sz="1500" kern="1200" dirty="0"/>
            <a:t>e</a:t>
          </a:r>
          <a:r>
            <a:rPr lang="en-GB" sz="1500" b="0" i="0" kern="1200" dirty="0"/>
            <a:t>s to reduce sensitivity to local minima.</a:t>
          </a:r>
          <a:endParaRPr lang="en-US" sz="1500" kern="1200" dirty="0"/>
        </a:p>
      </dsp:txBody>
      <dsp:txXfrm>
        <a:off x="0" y="1218406"/>
        <a:ext cx="6172199" cy="1218406"/>
      </dsp:txXfrm>
    </dsp:sp>
    <dsp:sp modelId="{B5C0C0B3-E9E6-4526-A3E3-63AE438DE652}">
      <dsp:nvSpPr>
        <dsp:cNvPr id="0" name=""/>
        <dsp:cNvSpPr/>
      </dsp:nvSpPr>
      <dsp:spPr>
        <a:xfrm>
          <a:off x="0" y="2436812"/>
          <a:ext cx="6172199"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7EE1652-3542-44FA-8F1D-322E8B171784}">
      <dsp:nvSpPr>
        <dsp:cNvPr id="0" name=""/>
        <dsp:cNvSpPr/>
      </dsp:nvSpPr>
      <dsp:spPr>
        <a:xfrm>
          <a:off x="0" y="2436812"/>
          <a:ext cx="6172199" cy="121840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en-GB" sz="1500" b="0" i="0" kern="1200" dirty="0"/>
            <a:t>Gradient descent only works on </a:t>
          </a:r>
          <a:r>
            <a:rPr lang="en-GB" sz="1500" b="1" i="0" kern="1200" dirty="0"/>
            <a:t>smooth</a:t>
          </a:r>
          <a:r>
            <a:rPr lang="en-GB" sz="1500" b="0" i="0" kern="1200" dirty="0"/>
            <a:t>, </a:t>
          </a:r>
          <a:r>
            <a:rPr lang="en-US" sz="1500" b="0" i="0" kern="1200" dirty="0"/>
            <a:t>‘</a:t>
          </a:r>
          <a:r>
            <a:rPr lang="en-GB" sz="1500" b="1" i="0" kern="1200" dirty="0"/>
            <a:t>differentiable</a:t>
          </a:r>
          <a:r>
            <a:rPr lang="en-US" sz="1500" b="1" i="0" kern="1200" dirty="0"/>
            <a:t>’</a:t>
          </a:r>
          <a:r>
            <a:rPr lang="en-GB" sz="1500" b="0" i="0" kern="1200" dirty="0"/>
            <a:t> objective functions. </a:t>
          </a:r>
          <a:r>
            <a:rPr lang="en-GB" sz="1500" b="1" i="0" kern="1200" dirty="0"/>
            <a:t>Stochastic relaxation</a:t>
          </a:r>
          <a:r>
            <a:rPr lang="en-GB" sz="1500" b="0" i="0" kern="1200" dirty="0"/>
            <a:t> introduces randomness to allow very steep functions to be optimised.</a:t>
          </a:r>
          <a:endParaRPr lang="en-US" sz="1500" kern="1200" dirty="0"/>
        </a:p>
      </dsp:txBody>
      <dsp:txXfrm>
        <a:off x="0" y="2436812"/>
        <a:ext cx="6172199" cy="1218406"/>
      </dsp:txXfrm>
    </dsp:sp>
    <dsp:sp modelId="{72C6787B-B658-4694-9561-5A0B8E07C141}">
      <dsp:nvSpPr>
        <dsp:cNvPr id="0" name=""/>
        <dsp:cNvSpPr/>
      </dsp:nvSpPr>
      <dsp:spPr>
        <a:xfrm>
          <a:off x="0" y="3655218"/>
          <a:ext cx="6172199"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95A251F-E900-47FC-BF4A-E72BE3C0000D}">
      <dsp:nvSpPr>
        <dsp:cNvPr id="0" name=""/>
        <dsp:cNvSpPr/>
      </dsp:nvSpPr>
      <dsp:spPr>
        <a:xfrm>
          <a:off x="0" y="3655218"/>
          <a:ext cx="6172199" cy="121840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en-GB" sz="1500" b="0" i="0" kern="1200" dirty="0"/>
            <a:t>Gradient descent can be very slow if the objective function (and/or the gradient) is slow to evaluate. </a:t>
          </a:r>
          <a:r>
            <a:rPr lang="en-GB" sz="1500" b="1" i="0" kern="1200" dirty="0"/>
            <a:t>Stochastic gradient descent</a:t>
          </a:r>
          <a:r>
            <a:rPr lang="en-GB" sz="1500" b="0" i="0" kern="1200" dirty="0"/>
            <a:t> can massively accelerate optimisation if the objective function can be written as a simple sum of many subproblems.</a:t>
          </a:r>
          <a:endParaRPr lang="en-US" sz="1500" kern="1200" dirty="0"/>
        </a:p>
      </dsp:txBody>
      <dsp:txXfrm>
        <a:off x="0" y="3655218"/>
        <a:ext cx="6172199" cy="1218406"/>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1295AE2-43AC-144B-AE88-DCB376799F11}" type="datetimeFigureOut">
              <a:rPr lang="en-US" smtClean="0"/>
              <a:t>10/30/2025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F24E5BB-E6B0-B84A-ABCD-9A3E9C2D78CB}" type="slidenum">
              <a:rPr lang="en-US" smtClean="0"/>
              <a:t>‹#›</a:t>
            </a:fld>
            <a:endParaRPr lang="en-US"/>
          </a:p>
        </p:txBody>
      </p:sp>
    </p:spTree>
    <p:extLst>
      <p:ext uri="{BB962C8B-B14F-4D97-AF65-F5344CB8AC3E}">
        <p14:creationId xmlns:p14="http://schemas.microsoft.com/office/powerpoint/2010/main" val="23727427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F24E5BB-E6B0-B84A-ABCD-9A3E9C2D78CB}" type="slidenum">
              <a:rPr lang="en-US" smtClean="0"/>
              <a:t>1</a:t>
            </a:fld>
            <a:endParaRPr lang="en-US"/>
          </a:p>
        </p:txBody>
      </p:sp>
    </p:spTree>
    <p:extLst>
      <p:ext uri="{BB962C8B-B14F-4D97-AF65-F5344CB8AC3E}">
        <p14:creationId xmlns:p14="http://schemas.microsoft.com/office/powerpoint/2010/main" val="1765956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F24E5BB-E6B0-B84A-ABCD-9A3E9C2D78CB}" type="slidenum">
              <a:rPr lang="en-US" smtClean="0"/>
              <a:t>5</a:t>
            </a:fld>
            <a:endParaRPr lang="en-US"/>
          </a:p>
        </p:txBody>
      </p:sp>
    </p:spTree>
    <p:extLst>
      <p:ext uri="{BB962C8B-B14F-4D97-AF65-F5344CB8AC3E}">
        <p14:creationId xmlns:p14="http://schemas.microsoft.com/office/powerpoint/2010/main" val="52700698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F24E5BB-E6B0-B84A-ABCD-9A3E9C2D78CB}" type="slidenum">
              <a:rPr lang="en-US" smtClean="0"/>
              <a:t>6</a:t>
            </a:fld>
            <a:endParaRPr lang="en-US"/>
          </a:p>
        </p:txBody>
      </p:sp>
    </p:spTree>
    <p:extLst>
      <p:ext uri="{BB962C8B-B14F-4D97-AF65-F5344CB8AC3E}">
        <p14:creationId xmlns:p14="http://schemas.microsoft.com/office/powerpoint/2010/main" val="381582796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F24E5BB-E6B0-B84A-ABCD-9A3E9C2D78CB}" type="slidenum">
              <a:rPr lang="en-US" smtClean="0"/>
              <a:t>16</a:t>
            </a:fld>
            <a:endParaRPr lang="en-US"/>
          </a:p>
        </p:txBody>
      </p:sp>
    </p:spTree>
    <p:extLst>
      <p:ext uri="{BB962C8B-B14F-4D97-AF65-F5344CB8AC3E}">
        <p14:creationId xmlns:p14="http://schemas.microsoft.com/office/powerpoint/2010/main" val="34762378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F24E5BB-E6B0-B84A-ABCD-9A3E9C2D78CB}" type="slidenum">
              <a:rPr lang="en-US" smtClean="0"/>
              <a:t>19</a:t>
            </a:fld>
            <a:endParaRPr lang="en-US"/>
          </a:p>
        </p:txBody>
      </p:sp>
    </p:spTree>
    <p:extLst>
      <p:ext uri="{BB962C8B-B14F-4D97-AF65-F5344CB8AC3E}">
        <p14:creationId xmlns:p14="http://schemas.microsoft.com/office/powerpoint/2010/main" val="291176706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F24E5BB-E6B0-B84A-ABCD-9A3E9C2D78CB}" type="slidenum">
              <a:rPr lang="en-US" smtClean="0"/>
              <a:t>26</a:t>
            </a:fld>
            <a:endParaRPr lang="en-US"/>
          </a:p>
        </p:txBody>
      </p:sp>
    </p:spTree>
    <p:extLst>
      <p:ext uri="{BB962C8B-B14F-4D97-AF65-F5344CB8AC3E}">
        <p14:creationId xmlns:p14="http://schemas.microsoft.com/office/powerpoint/2010/main" val="307562997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Char char="•"/>
            </a:pPr>
            <a:r>
              <a:rPr lang="en-GB" b="1" i="0" dirty="0">
                <a:solidFill>
                  <a:srgbClr val="242424"/>
                </a:solidFill>
                <a:effectLst/>
                <a:latin typeface="source-serif-pro"/>
              </a:rPr>
              <a:t>Pros:</a:t>
            </a:r>
            <a:r>
              <a:rPr lang="en-GB" b="0" i="0" dirty="0">
                <a:solidFill>
                  <a:srgbClr val="242424"/>
                </a:solidFill>
                <a:effectLst/>
                <a:latin typeface="source-serif-pro"/>
              </a:rPr>
              <a:t> Faster convergence and can help escape local minima.</a:t>
            </a:r>
          </a:p>
          <a:p>
            <a:pPr algn="l">
              <a:buFont typeface="Arial" panose="020B0604020202020204" pitchFamily="34" charset="0"/>
              <a:buChar char="•"/>
            </a:pPr>
            <a:r>
              <a:rPr lang="en-GB" b="1" i="0" dirty="0">
                <a:solidFill>
                  <a:srgbClr val="242424"/>
                </a:solidFill>
                <a:effectLst/>
                <a:latin typeface="source-serif-pro"/>
              </a:rPr>
              <a:t>Cons:</a:t>
            </a:r>
            <a:r>
              <a:rPr lang="en-GB" b="0" i="0" dirty="0">
                <a:solidFill>
                  <a:srgbClr val="242424"/>
                </a:solidFill>
                <a:effectLst/>
                <a:latin typeface="source-serif-pro"/>
              </a:rPr>
              <a:t> Requires careful tuning of the momentum factor </a:t>
            </a:r>
            <a:r>
              <a:rPr lang="el-GR" b="0" i="0" dirty="0">
                <a:solidFill>
                  <a:srgbClr val="242424"/>
                </a:solidFill>
                <a:effectLst/>
                <a:latin typeface="source-serif-pro"/>
              </a:rPr>
              <a:t>γ\</a:t>
            </a:r>
            <a:r>
              <a:rPr lang="en-GB" b="0" i="0" dirty="0">
                <a:solidFill>
                  <a:srgbClr val="242424"/>
                </a:solidFill>
                <a:effectLst/>
                <a:latin typeface="source-serif-pro"/>
              </a:rPr>
              <a:t>gamma</a:t>
            </a:r>
            <a:r>
              <a:rPr lang="el-GR" b="0" i="0" dirty="0">
                <a:solidFill>
                  <a:srgbClr val="242424"/>
                </a:solidFill>
                <a:effectLst/>
                <a:latin typeface="source-serif-pro"/>
              </a:rPr>
              <a:t>γ.</a:t>
            </a:r>
          </a:p>
          <a:p>
            <a:br>
              <a:rPr lang="el-GR" dirty="0"/>
            </a:br>
            <a:endParaRPr lang="en-US" dirty="0"/>
          </a:p>
        </p:txBody>
      </p:sp>
      <p:sp>
        <p:nvSpPr>
          <p:cNvPr id="4" name="Slide Number Placeholder 3"/>
          <p:cNvSpPr>
            <a:spLocks noGrp="1"/>
          </p:cNvSpPr>
          <p:nvPr>
            <p:ph type="sldNum" sz="quarter" idx="5"/>
          </p:nvPr>
        </p:nvSpPr>
        <p:spPr/>
        <p:txBody>
          <a:bodyPr/>
          <a:lstStyle/>
          <a:p>
            <a:fld id="{0F24E5BB-E6B0-B84A-ABCD-9A3E9C2D78CB}" type="slidenum">
              <a:rPr lang="en-US" smtClean="0"/>
              <a:t>44</a:t>
            </a:fld>
            <a:endParaRPr lang="en-US"/>
          </a:p>
        </p:txBody>
      </p:sp>
    </p:spTree>
    <p:extLst>
      <p:ext uri="{BB962C8B-B14F-4D97-AF65-F5344CB8AC3E}">
        <p14:creationId xmlns:p14="http://schemas.microsoft.com/office/powerpoint/2010/main" val="375544986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F24E5BB-E6B0-B84A-ABCD-9A3E9C2D78CB}" type="slidenum">
              <a:rPr lang="en-US" smtClean="0"/>
              <a:t>53</a:t>
            </a:fld>
            <a:endParaRPr lang="en-US"/>
          </a:p>
        </p:txBody>
      </p:sp>
    </p:spTree>
    <p:extLst>
      <p:ext uri="{BB962C8B-B14F-4D97-AF65-F5344CB8AC3E}">
        <p14:creationId xmlns:p14="http://schemas.microsoft.com/office/powerpoint/2010/main" val="172749468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Standard">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52559E32-3873-7D45-B9C6-C4F839B303D0}"/>
              </a:ext>
            </a:extLst>
          </p:cNvPr>
          <p:cNvSpPr>
            <a:spLocks noGrp="1"/>
          </p:cNvSpPr>
          <p:nvPr>
            <p:ph type="title"/>
          </p:nvPr>
        </p:nvSpPr>
        <p:spPr>
          <a:xfrm>
            <a:off x="2549236" y="533614"/>
            <a:ext cx="9210963" cy="888786"/>
          </a:xfrm>
        </p:spPr>
        <p:txBody>
          <a:bodyPr>
            <a:normAutofit/>
          </a:bodyPr>
          <a:lstStyle>
            <a:lvl1pPr algn="l">
              <a:defRPr sz="2800"/>
            </a:lvl1pPr>
          </a:lstStyle>
          <a:p>
            <a:r>
              <a:rPr lang="en-GB"/>
              <a:t>Click to edit Master title style</a:t>
            </a:r>
            <a:endParaRPr lang="en-GB" dirty="0"/>
          </a:p>
        </p:txBody>
      </p:sp>
      <p:sp>
        <p:nvSpPr>
          <p:cNvPr id="11" name="Picture Placeholder 2">
            <a:extLst>
              <a:ext uri="{FF2B5EF4-FFF2-40B4-BE49-F238E27FC236}">
                <a16:creationId xmlns:a16="http://schemas.microsoft.com/office/drawing/2014/main" id="{81BC6CA5-FB54-8746-B1B1-0D09602CEAEC}"/>
              </a:ext>
            </a:extLst>
          </p:cNvPr>
          <p:cNvSpPr>
            <a:spLocks noGrp="1"/>
          </p:cNvSpPr>
          <p:nvPr>
            <p:ph type="pic" sz="quarter" idx="13"/>
          </p:nvPr>
        </p:nvSpPr>
        <p:spPr>
          <a:xfrm>
            <a:off x="-1" y="1699336"/>
            <a:ext cx="2452283" cy="4575733"/>
          </a:xfrm>
          <a:prstGeom prst="rect">
            <a:avLst/>
          </a:prstGeom>
        </p:spPr>
        <p:txBody>
          <a:bodyPr/>
          <a:lstStyle>
            <a:lvl1pPr>
              <a:defRPr>
                <a:solidFill>
                  <a:srgbClr val="003560"/>
                </a:solidFill>
                <a:latin typeface="Arial" panose="020B0604020202020204" pitchFamily="34" charset="0"/>
                <a:cs typeface="Arial" panose="020B0604020202020204" pitchFamily="34" charset="0"/>
              </a:defRPr>
            </a:lvl1pPr>
          </a:lstStyle>
          <a:p>
            <a:r>
              <a:rPr lang="en-GB"/>
              <a:t>Click icon to add picture</a:t>
            </a:r>
            <a:endParaRPr lang="en-US" dirty="0"/>
          </a:p>
        </p:txBody>
      </p:sp>
      <p:sp>
        <p:nvSpPr>
          <p:cNvPr id="12" name="Text Placeholder 6">
            <a:extLst>
              <a:ext uri="{FF2B5EF4-FFF2-40B4-BE49-F238E27FC236}">
                <a16:creationId xmlns:a16="http://schemas.microsoft.com/office/drawing/2014/main" id="{1DECEF87-946C-834D-8550-61FE3D91A5E9}"/>
              </a:ext>
            </a:extLst>
          </p:cNvPr>
          <p:cNvSpPr>
            <a:spLocks noGrp="1"/>
          </p:cNvSpPr>
          <p:nvPr>
            <p:ph type="body" sz="quarter" idx="14" hasCustomPrompt="1"/>
          </p:nvPr>
        </p:nvSpPr>
        <p:spPr>
          <a:xfrm>
            <a:off x="2549235" y="1705343"/>
            <a:ext cx="9210963" cy="4526124"/>
          </a:xfrm>
          <a:prstGeom prst="rect">
            <a:avLst/>
          </a:prstGeom>
        </p:spPr>
        <p:txBody>
          <a:bodyPr/>
          <a:lstStyle>
            <a:lvl1pPr>
              <a:defRPr sz="2400">
                <a:solidFill>
                  <a:srgbClr val="003560"/>
                </a:solidFill>
                <a:latin typeface="Arial" panose="020B0604020202020204" pitchFamily="34" charset="0"/>
                <a:cs typeface="Arial" panose="020B0604020202020204" pitchFamily="34" charset="0"/>
              </a:defRPr>
            </a:lvl1pPr>
            <a:lvl2pPr>
              <a:defRPr sz="2400">
                <a:solidFill>
                  <a:srgbClr val="003560"/>
                </a:solidFill>
                <a:latin typeface="Arial" panose="020B0604020202020204" pitchFamily="34" charset="0"/>
                <a:cs typeface="Arial" panose="020B0604020202020204" pitchFamily="34" charset="0"/>
              </a:defRPr>
            </a:lvl2pPr>
            <a:lvl3pPr>
              <a:defRPr sz="2400" b="0">
                <a:solidFill>
                  <a:srgbClr val="003560"/>
                </a:solidFill>
                <a:latin typeface="Arial" panose="020B0604020202020204" pitchFamily="34" charset="0"/>
                <a:cs typeface="Arial" panose="020B0604020202020204" pitchFamily="34" charset="0"/>
              </a:defRPr>
            </a:lvl3pPr>
            <a:lvl4pPr>
              <a:defRPr sz="2400">
                <a:solidFill>
                  <a:srgbClr val="003560"/>
                </a:solidFill>
                <a:latin typeface="Arial" panose="020B0604020202020204" pitchFamily="34" charset="0"/>
                <a:cs typeface="Arial" panose="020B0604020202020204" pitchFamily="34" charset="0"/>
              </a:defRPr>
            </a:lvl4pPr>
            <a:lvl5pPr>
              <a:defRPr sz="2400">
                <a:solidFill>
                  <a:srgbClr val="003560"/>
                </a:solidFill>
                <a:latin typeface="Arial" panose="020B0604020202020204" pitchFamily="34" charset="0"/>
                <a:cs typeface="Arial" panose="020B0604020202020204" pitchFamily="34" charset="0"/>
              </a:defRPr>
            </a:lvl5pPr>
          </a:lstStyle>
          <a:p>
            <a:pPr lvl="0"/>
            <a:r>
              <a:rPr lang="en-GB" dirty="0"/>
              <a:t>Body text Arial 24pt</a:t>
            </a:r>
            <a:endParaRPr lang="en-US" dirty="0"/>
          </a:p>
        </p:txBody>
      </p:sp>
    </p:spTree>
    <p:extLst>
      <p:ext uri="{BB962C8B-B14F-4D97-AF65-F5344CB8AC3E}">
        <p14:creationId xmlns:p14="http://schemas.microsoft.com/office/powerpoint/2010/main" val="28108165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ull image">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83BB4406-02B4-284F-84C5-A21F22E6BA49}"/>
              </a:ext>
            </a:extLst>
          </p:cNvPr>
          <p:cNvSpPr>
            <a:spLocks noGrp="1"/>
          </p:cNvSpPr>
          <p:nvPr>
            <p:ph type="title"/>
          </p:nvPr>
        </p:nvSpPr>
        <p:spPr>
          <a:xfrm>
            <a:off x="2549236" y="533614"/>
            <a:ext cx="9210963" cy="888786"/>
          </a:xfrm>
        </p:spPr>
        <p:txBody>
          <a:bodyPr>
            <a:normAutofit/>
          </a:bodyPr>
          <a:lstStyle>
            <a:lvl1pPr algn="l">
              <a:defRPr sz="2800"/>
            </a:lvl1pPr>
          </a:lstStyle>
          <a:p>
            <a:r>
              <a:rPr lang="en-GB"/>
              <a:t>Click to edit Master title style</a:t>
            </a:r>
            <a:endParaRPr lang="en-GB" dirty="0"/>
          </a:p>
        </p:txBody>
      </p:sp>
      <p:sp>
        <p:nvSpPr>
          <p:cNvPr id="11" name="Content Placeholder 7">
            <a:extLst>
              <a:ext uri="{FF2B5EF4-FFF2-40B4-BE49-F238E27FC236}">
                <a16:creationId xmlns:a16="http://schemas.microsoft.com/office/drawing/2014/main" id="{5FEA054A-F191-E34B-8C26-BA11F3F0C090}"/>
              </a:ext>
            </a:extLst>
          </p:cNvPr>
          <p:cNvSpPr>
            <a:spLocks noGrp="1"/>
          </p:cNvSpPr>
          <p:nvPr>
            <p:ph sz="quarter" idx="13"/>
          </p:nvPr>
        </p:nvSpPr>
        <p:spPr>
          <a:xfrm>
            <a:off x="285750" y="1627188"/>
            <a:ext cx="11474450" cy="4606925"/>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Tree>
    <p:extLst>
      <p:ext uri="{BB962C8B-B14F-4D97-AF65-F5344CB8AC3E}">
        <p14:creationId xmlns:p14="http://schemas.microsoft.com/office/powerpoint/2010/main" val="1768928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ual content">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838200" y="1608667"/>
            <a:ext cx="5181600" cy="4568296"/>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Content Placeholder 3"/>
          <p:cNvSpPr>
            <a:spLocks noGrp="1"/>
          </p:cNvSpPr>
          <p:nvPr>
            <p:ph sz="half" idx="2"/>
          </p:nvPr>
        </p:nvSpPr>
        <p:spPr>
          <a:xfrm>
            <a:off x="6172200" y="1608667"/>
            <a:ext cx="5181600" cy="4568296"/>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5" name="Title 1">
            <a:extLst>
              <a:ext uri="{FF2B5EF4-FFF2-40B4-BE49-F238E27FC236}">
                <a16:creationId xmlns:a16="http://schemas.microsoft.com/office/drawing/2014/main" id="{3EE31514-F8EA-5D4E-B45D-65DD78DBE34E}"/>
              </a:ext>
            </a:extLst>
          </p:cNvPr>
          <p:cNvSpPr>
            <a:spLocks noGrp="1"/>
          </p:cNvSpPr>
          <p:nvPr>
            <p:ph type="title"/>
          </p:nvPr>
        </p:nvSpPr>
        <p:spPr>
          <a:xfrm>
            <a:off x="2549236" y="533614"/>
            <a:ext cx="9210963" cy="888786"/>
          </a:xfrm>
        </p:spPr>
        <p:txBody>
          <a:bodyPr>
            <a:normAutofit/>
          </a:bodyPr>
          <a:lstStyle>
            <a:lvl1pPr algn="l">
              <a:defRPr sz="2800"/>
            </a:lvl1pPr>
          </a:lstStyle>
          <a:p>
            <a:r>
              <a:rPr lang="en-GB"/>
              <a:t>Click to edit Master title style</a:t>
            </a:r>
            <a:endParaRPr lang="en-GB" dirty="0"/>
          </a:p>
        </p:txBody>
      </p:sp>
    </p:spTree>
    <p:extLst>
      <p:ext uri="{BB962C8B-B14F-4D97-AF65-F5344CB8AC3E}">
        <p14:creationId xmlns:p14="http://schemas.microsoft.com/office/powerpoint/2010/main" val="34125246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7" name="Title 1">
            <a:extLst>
              <a:ext uri="{FF2B5EF4-FFF2-40B4-BE49-F238E27FC236}">
                <a16:creationId xmlns:a16="http://schemas.microsoft.com/office/drawing/2014/main" id="{191D55F9-A3F2-1242-A5F3-5AAACC9DB3AE}"/>
              </a:ext>
            </a:extLst>
          </p:cNvPr>
          <p:cNvSpPr>
            <a:spLocks noGrp="1"/>
          </p:cNvSpPr>
          <p:nvPr>
            <p:ph type="title"/>
          </p:nvPr>
        </p:nvSpPr>
        <p:spPr>
          <a:xfrm>
            <a:off x="2549236" y="533614"/>
            <a:ext cx="9210963" cy="888786"/>
          </a:xfrm>
        </p:spPr>
        <p:txBody>
          <a:bodyPr>
            <a:normAutofit/>
          </a:bodyPr>
          <a:lstStyle>
            <a:lvl1pPr algn="l">
              <a:defRPr sz="2800"/>
            </a:lvl1pPr>
          </a:lstStyle>
          <a:p>
            <a:r>
              <a:rPr lang="en-GB"/>
              <a:t>Click to edit Master title style</a:t>
            </a:r>
            <a:endParaRPr lang="en-GB" dirty="0"/>
          </a:p>
        </p:txBody>
      </p:sp>
    </p:spTree>
    <p:extLst>
      <p:ext uri="{BB962C8B-B14F-4D97-AF65-F5344CB8AC3E}">
        <p14:creationId xmlns:p14="http://schemas.microsoft.com/office/powerpoint/2010/main" val="224940817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90418" y="1657926"/>
            <a:ext cx="6629400" cy="789709"/>
          </a:xfrm>
        </p:spPr>
        <p:txBody>
          <a:bodyPr anchor="t">
            <a:normAutofit/>
          </a:bodyPr>
          <a:lstStyle>
            <a:lvl1pPr algn="l">
              <a:defRPr sz="2800">
                <a:solidFill>
                  <a:schemeClr val="accent1">
                    <a:lumMod val="50000"/>
                  </a:schemeClr>
                </a:solidFill>
                <a:latin typeface="Arial" panose="020B0604020202020204" pitchFamily="34" charset="0"/>
                <a:cs typeface="Arial" panose="020B0604020202020204" pitchFamily="34" charset="0"/>
              </a:defRPr>
            </a:lvl1pPr>
          </a:lstStyle>
          <a:p>
            <a:r>
              <a:rPr lang="en-GB"/>
              <a:t>Click to edit Master title style</a:t>
            </a:r>
            <a:endParaRPr lang="en-GB" dirty="0"/>
          </a:p>
        </p:txBody>
      </p:sp>
      <p:sp>
        <p:nvSpPr>
          <p:cNvPr id="3" name="Subtitle 2"/>
          <p:cNvSpPr>
            <a:spLocks noGrp="1"/>
          </p:cNvSpPr>
          <p:nvPr>
            <p:ph type="subTitle" idx="1"/>
          </p:nvPr>
        </p:nvSpPr>
        <p:spPr>
          <a:xfrm>
            <a:off x="690418" y="3015529"/>
            <a:ext cx="5680364" cy="623598"/>
          </a:xfrm>
        </p:spPr>
        <p:txBody>
          <a:bodyPr>
            <a:normAutofit/>
          </a:bodyPr>
          <a:lstStyle>
            <a:lvl1pPr marL="0" indent="0" algn="l">
              <a:buNone/>
              <a:defRPr sz="2400">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Tree>
    <p:extLst>
      <p:ext uri="{BB962C8B-B14F-4D97-AF65-F5344CB8AC3E}">
        <p14:creationId xmlns:p14="http://schemas.microsoft.com/office/powerpoint/2010/main" val="11842734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Header only">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F97420DD-2415-454D-AA0F-DBDA719CBDF3}"/>
              </a:ext>
            </a:extLst>
          </p:cNvPr>
          <p:cNvSpPr>
            <a:spLocks noGrp="1"/>
          </p:cNvSpPr>
          <p:nvPr>
            <p:ph type="title"/>
          </p:nvPr>
        </p:nvSpPr>
        <p:spPr>
          <a:xfrm>
            <a:off x="2549236" y="533614"/>
            <a:ext cx="9210963" cy="888786"/>
          </a:xfrm>
        </p:spPr>
        <p:txBody>
          <a:bodyPr>
            <a:normAutofit/>
          </a:bodyPr>
          <a:lstStyle>
            <a:lvl1pPr algn="l">
              <a:defRPr sz="2800"/>
            </a:lvl1pPr>
          </a:lstStyle>
          <a:p>
            <a:r>
              <a:rPr lang="en-GB"/>
              <a:t>Click to edit Master title style</a:t>
            </a:r>
            <a:endParaRPr lang="en-GB" dirty="0"/>
          </a:p>
        </p:txBody>
      </p:sp>
    </p:spTree>
    <p:extLst>
      <p:ext uri="{BB962C8B-B14F-4D97-AF65-F5344CB8AC3E}">
        <p14:creationId xmlns:p14="http://schemas.microsoft.com/office/powerpoint/2010/main" val="11012830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41680" y="2123676"/>
            <a:ext cx="4027169" cy="1600200"/>
          </a:xfrm>
        </p:spPr>
        <p:txBody>
          <a:bodyPr anchor="t">
            <a:normAutofit/>
          </a:bodyPr>
          <a:lstStyle>
            <a:lvl1pPr algn="l">
              <a:defRPr sz="2800"/>
            </a:lvl1pPr>
          </a:lstStyle>
          <a:p>
            <a:r>
              <a:rPr lang="en-GB" dirty="0"/>
              <a:t>Click to edit Master title style</a:t>
            </a:r>
          </a:p>
        </p:txBody>
      </p:sp>
      <p:sp>
        <p:nvSpPr>
          <p:cNvPr id="4" name="Text Placeholder 3"/>
          <p:cNvSpPr>
            <a:spLocks noGrp="1"/>
          </p:cNvSpPr>
          <p:nvPr>
            <p:ph type="body" sz="half" idx="2"/>
          </p:nvPr>
        </p:nvSpPr>
        <p:spPr>
          <a:xfrm>
            <a:off x="741680" y="3934224"/>
            <a:ext cx="4030345" cy="1934763"/>
          </a:xfrm>
        </p:spPr>
        <p:txBody>
          <a:bodyPr/>
          <a:lstStyle>
            <a:lvl1pPr marL="0" indent="0">
              <a:buNone/>
              <a:defRPr sz="2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3" name="Content Placeholder 2"/>
          <p:cNvSpPr>
            <a:spLocks noGrp="1"/>
          </p:cNvSpPr>
          <p:nvPr>
            <p:ph idx="1"/>
          </p:nvPr>
        </p:nvSpPr>
        <p:spPr>
          <a:xfrm>
            <a:off x="5183188" y="987425"/>
            <a:ext cx="6172200" cy="4873625"/>
          </a:xfrm>
        </p:spPr>
        <p:txBody>
          <a:bodyPr/>
          <a:lstStyle>
            <a:lvl1pPr>
              <a:defRPr sz="2400"/>
            </a:lvl1pPr>
            <a:lvl2pPr>
              <a:defRPr sz="2400"/>
            </a:lvl2pPr>
            <a:lvl3pPr>
              <a:defRPr sz="2400"/>
            </a:lvl3pPr>
            <a:lvl4pPr>
              <a:defRPr sz="2400"/>
            </a:lvl4pPr>
            <a:lvl5pPr>
              <a:defRPr sz="24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Tree>
    <p:extLst>
      <p:ext uri="{BB962C8B-B14F-4D97-AF65-F5344CB8AC3E}">
        <p14:creationId xmlns:p14="http://schemas.microsoft.com/office/powerpoint/2010/main" val="2328039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6A65B24-645B-1746-9651-55C209C5E25D}"/>
              </a:ext>
            </a:extLst>
          </p:cNvPr>
          <p:cNvSpPr/>
          <p:nvPr userDrawn="1"/>
        </p:nvSpPr>
        <p:spPr>
          <a:xfrm>
            <a:off x="0" y="0"/>
            <a:ext cx="12192000" cy="6858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6381032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511800" y="681037"/>
            <a:ext cx="5842000" cy="1009651"/>
          </a:xfrm>
          <a:prstGeom prst="rect">
            <a:avLst/>
          </a:prstGeom>
        </p:spPr>
        <p:txBody>
          <a:bodyPr vert="horz" lIns="91440" tIns="45720" rIns="91440" bIns="45720" rtlCol="0" anchor="t">
            <a:normAutofit/>
          </a:bodyPr>
          <a:lstStyle/>
          <a:p>
            <a:r>
              <a:rPr lang="en-GB"/>
              <a:t>Click to edit Master title style</a:t>
            </a:r>
            <a:endParaRPr lang="en-GB"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F624FB1-CB24-4B4C-BFD4-AD276D9A4059}" type="datetimeFigureOut">
              <a:rPr lang="en-GB" smtClean="0"/>
              <a:t>30/10/2025</a:t>
            </a:fld>
            <a:endParaRPr lang="en-GB"/>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A19F3F6-C255-4AC5-91C2-3F61B6509B36}" type="slidenum">
              <a:rPr lang="en-GB" smtClean="0"/>
              <a:t>‹#›</a:t>
            </a:fld>
            <a:endParaRPr lang="en-GB"/>
          </a:p>
        </p:txBody>
      </p:sp>
      <p:pic>
        <p:nvPicPr>
          <p:cNvPr id="9" name="Picture 8">
            <a:extLst>
              <a:ext uri="{FF2B5EF4-FFF2-40B4-BE49-F238E27FC236}">
                <a16:creationId xmlns:a16="http://schemas.microsoft.com/office/drawing/2014/main" id="{46262A0F-9E49-6B4D-94F3-647B33A25AE7}"/>
              </a:ext>
              <a:ext uri="{C183D7F6-B498-43B3-948B-1728B52AA6E4}">
                <adec:decorative xmlns:adec="http://schemas.microsoft.com/office/drawing/2017/decorative" val="1"/>
              </a:ext>
            </a:extLst>
          </p:cNvPr>
          <p:cNvPicPr>
            <a:picLocks noChangeAspect="1"/>
          </p:cNvPicPr>
          <p:nvPr userDrawn="1"/>
        </p:nvPicPr>
        <p:blipFill>
          <a:blip r:embed="rId10">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3635699181"/>
      </p:ext>
    </p:extLst>
  </p:cSld>
  <p:clrMap bg1="lt1" tx1="dk1" bg2="lt2" tx2="dk2" accent1="accent1" accent2="accent2" accent3="accent3" accent4="accent4" accent5="accent5" accent6="accent6" hlink="hlink" folHlink="folHlink"/>
  <p:sldLayoutIdLst>
    <p:sldLayoutId id="2147483688" r:id="rId1"/>
    <p:sldLayoutId id="2147483683" r:id="rId2"/>
    <p:sldLayoutId id="2147483652" r:id="rId3"/>
    <p:sldLayoutId id="2147483653" r:id="rId4"/>
    <p:sldLayoutId id="2147483649" r:id="rId5"/>
    <p:sldLayoutId id="2147483654" r:id="rId6"/>
    <p:sldLayoutId id="2147483656" r:id="rId7"/>
    <p:sldLayoutId id="2147483684" r:id="rId8"/>
  </p:sldLayoutIdLst>
  <p:txStyles>
    <p:titleStyle>
      <a:lvl1pPr algn="r" defTabSz="914400" rtl="0" eaLnBrk="1" latinLnBrk="0" hangingPunct="1">
        <a:lnSpc>
          <a:spcPct val="90000"/>
        </a:lnSpc>
        <a:spcBef>
          <a:spcPct val="0"/>
        </a:spcBef>
        <a:buNone/>
        <a:defRPr sz="2800" b="1" kern="1200">
          <a:solidFill>
            <a:schemeClr val="accent1">
              <a:lumMod val="50000"/>
            </a:schemeClr>
          </a:solidFill>
          <a:latin typeface="Arial" panose="020B0604020202020204" pitchFamily="34" charset="0"/>
          <a:ea typeface="+mj-ea"/>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accent1">
              <a:lumMod val="50000"/>
            </a:schemeClr>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accent1">
              <a:lumMod val="50000"/>
            </a:schemeClr>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400" kern="1200">
          <a:solidFill>
            <a:schemeClr val="accent1">
              <a:lumMod val="50000"/>
            </a:schemeClr>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2400" kern="1200">
          <a:solidFill>
            <a:schemeClr val="accent1">
              <a:lumMod val="50000"/>
            </a:schemeClr>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2400" kern="1200">
          <a:solidFill>
            <a:schemeClr val="accent1">
              <a:lumMod val="50000"/>
            </a:schemeClr>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8.gif"/><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1.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3.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5.pn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7.png"/><Relationship Id="rId1" Type="http://schemas.openxmlformats.org/officeDocument/2006/relationships/slideLayout" Target="../slideLayouts/slideLayout3.xml"/><Relationship Id="rId4" Type="http://schemas.openxmlformats.org/officeDocument/2006/relationships/image" Target="../media/image18.png"/></Relationships>
</file>

<file path=ppt/slides/_rels/slide1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22.png"/></Relationships>
</file>

<file path=ppt/slides/_rels/slide2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2.mp4"/><Relationship Id="rId1" Type="http://schemas.microsoft.com/office/2007/relationships/media" Target="../media/media2.mp4"/><Relationship Id="rId4" Type="http://schemas.openxmlformats.org/officeDocument/2006/relationships/image" Target="../media/image23.png"/></Relationships>
</file>

<file path=ppt/slides/_rels/slide2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3.xml"/><Relationship Id="rId4" Type="http://schemas.openxmlformats.org/officeDocument/2006/relationships/image" Target="../media/image25.png"/></Relationships>
</file>

<file path=ppt/slides/_rels/slide25.xml.rels><?xml version="1.0" encoding="UTF-8" standalone="yes"?>
<Relationships xmlns="http://schemas.openxmlformats.org/package/2006/relationships"><Relationship Id="rId2" Type="http://schemas.openxmlformats.org/officeDocument/2006/relationships/image" Target="../media/image8.gif"/><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27.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32.png"/><Relationship Id="rId1" Type="http://schemas.openxmlformats.org/officeDocument/2006/relationships/slideLayout" Target="../slideLayouts/slideLayout2.xml"/><Relationship Id="rId5" Type="http://schemas.openxmlformats.org/officeDocument/2006/relationships/image" Target="../media/image27.png"/><Relationship Id="rId4" Type="http://schemas.openxmlformats.org/officeDocument/2006/relationships/image" Target="../media/image33.png"/></Relationships>
</file>

<file path=ppt/slides/_rels/slide29.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3.xml"/><Relationship Id="rId5" Type="http://schemas.openxmlformats.org/officeDocument/2006/relationships/image" Target="../media/image40.png"/><Relationship Id="rId4" Type="http://schemas.openxmlformats.org/officeDocument/2006/relationships/image" Target="../media/image37.png"/></Relationships>
</file>

<file path=ppt/slides/_rels/slide31.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00.png"/><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7.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hyperlink" Target="https://github.com/HIPS/autograd" TargetMode="External"/><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37.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2.xml"/><Relationship Id="rId4" Type="http://schemas.openxmlformats.org/officeDocument/2006/relationships/image" Target="../media/image49.png"/></Relationships>
</file>

<file path=ppt/slides/_rels/slide39.xml.rels><?xml version="1.0" encoding="UTF-8" standalone="yes"?>
<Relationships xmlns="http://schemas.openxmlformats.org/package/2006/relationships"><Relationship Id="rId2" Type="http://schemas.openxmlformats.org/officeDocument/2006/relationships/image" Target="../media/image50.jpg"/><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2" Type="http://schemas.openxmlformats.org/officeDocument/2006/relationships/image" Target="../media/image511.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510.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8.gif"/><Relationship Id="rId2" Type="http://schemas.openxmlformats.org/officeDocument/2006/relationships/notesSlide" Target="../notesSlides/notesSlide7.xml"/><Relationship Id="rId1" Type="http://schemas.openxmlformats.org/officeDocument/2006/relationships/slideLayout" Target="../slideLayouts/slideLayout3.xml"/><Relationship Id="rId4" Type="http://schemas.openxmlformats.org/officeDocument/2006/relationships/image" Target="../media/image53.png"/></Relationships>
</file>

<file path=ppt/slides/_rels/slide4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280.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hyperlink" Target="https://colab.research.google.com/drive/1JaamUH0D9XPS6tm0IWCFc_wB8U2ridAN?usp=sharing" TargetMode="External"/><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58.jpg"/><Relationship Id="rId2" Type="http://schemas.openxmlformats.org/officeDocument/2006/relationships/notesSlide" Target="../notesSlides/notesSlide8.xml"/><Relationship Id="rId1" Type="http://schemas.openxmlformats.org/officeDocument/2006/relationships/slideLayout" Target="../slideLayouts/slideLayout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5.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8.xml"/></Relationships>
</file>

<file path=ppt/slides/_rels/slide56.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60.png"/><Relationship Id="rId1" Type="http://schemas.openxmlformats.org/officeDocument/2006/relationships/slideLayout" Target="../slideLayouts/slideLayout8.xml"/></Relationships>
</file>

<file path=ppt/slides/_rels/slide57.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61.png"/><Relationship Id="rId1" Type="http://schemas.openxmlformats.org/officeDocument/2006/relationships/slideLayout" Target="../slideLayouts/slideLayout8.xml"/></Relationships>
</file>

<file path=ppt/slides/_rels/slide58.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59.png"/><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The Gilbert Scott Building">
            <a:extLst>
              <a:ext uri="{FF2B5EF4-FFF2-40B4-BE49-F238E27FC236}">
                <a16:creationId xmlns:a16="http://schemas.microsoft.com/office/drawing/2014/main" id="{BAB3C4BD-A67A-4D47-6D5C-637F167E7C5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ctrTitle"/>
          </p:nvPr>
        </p:nvSpPr>
        <p:spPr/>
        <p:txBody>
          <a:bodyPr>
            <a:normAutofit fontScale="90000"/>
          </a:bodyPr>
          <a:lstStyle/>
          <a:p>
            <a:r>
              <a:rPr lang="en-GB" b="1" i="0" dirty="0">
                <a:effectLst/>
              </a:rPr>
              <a:t>Introduction to Data Science and Systems</a:t>
            </a:r>
            <a:endParaRPr lang="en-GB" dirty="0">
              <a:solidFill>
                <a:schemeClr val="tx1"/>
              </a:solidFill>
            </a:endParaRPr>
          </a:p>
        </p:txBody>
      </p:sp>
      <p:sp>
        <p:nvSpPr>
          <p:cNvPr id="3" name="Subtitle 2"/>
          <p:cNvSpPr>
            <a:spLocks noGrp="1"/>
          </p:cNvSpPr>
          <p:nvPr>
            <p:ph type="subTitle" idx="1"/>
          </p:nvPr>
        </p:nvSpPr>
        <p:spPr>
          <a:xfrm>
            <a:off x="690417" y="2447635"/>
            <a:ext cx="8315038" cy="1062182"/>
          </a:xfrm>
        </p:spPr>
        <p:txBody>
          <a:bodyPr>
            <a:normAutofit/>
          </a:bodyPr>
          <a:lstStyle/>
          <a:p>
            <a:r>
              <a:rPr lang="en-GB" sz="2000" dirty="0">
                <a:solidFill>
                  <a:schemeClr val="tx1"/>
                </a:solidFill>
              </a:rPr>
              <a:t>Lecture </a:t>
            </a:r>
            <a:r>
              <a:rPr lang="en-US" sz="2000" dirty="0">
                <a:solidFill>
                  <a:schemeClr val="tx1"/>
                </a:solidFill>
              </a:rPr>
              <a:t>5</a:t>
            </a:r>
            <a:r>
              <a:rPr lang="en-GB" sz="2000" dirty="0">
                <a:solidFill>
                  <a:schemeClr val="tx1"/>
                </a:solidFill>
              </a:rPr>
              <a:t>: </a:t>
            </a:r>
            <a:r>
              <a:rPr lang="en-GB" sz="2000" b="1" i="0" dirty="0">
                <a:effectLst/>
                <a:latin typeface="-apple-system"/>
              </a:rPr>
              <a:t>Optimisation II</a:t>
            </a:r>
          </a:p>
        </p:txBody>
      </p:sp>
      <p:sp>
        <p:nvSpPr>
          <p:cNvPr id="5" name="TextBox 4">
            <a:extLst>
              <a:ext uri="{FF2B5EF4-FFF2-40B4-BE49-F238E27FC236}">
                <a16:creationId xmlns:a16="http://schemas.microsoft.com/office/drawing/2014/main" id="{8751FC6E-FCE7-8227-A3BF-138CAED1187D}"/>
              </a:ext>
            </a:extLst>
          </p:cNvPr>
          <p:cNvSpPr txBox="1"/>
          <p:nvPr/>
        </p:nvSpPr>
        <p:spPr>
          <a:xfrm>
            <a:off x="690417" y="3269795"/>
            <a:ext cx="6183086" cy="369332"/>
          </a:xfrm>
          <a:prstGeom prst="rect">
            <a:avLst/>
          </a:prstGeom>
          <a:noFill/>
        </p:spPr>
        <p:txBody>
          <a:bodyPr wrap="square">
            <a:spAutoFit/>
          </a:bodyPr>
          <a:lstStyle/>
          <a:p>
            <a:r>
              <a:rPr lang="en-US" altLang="zh-CN" dirty="0">
                <a:solidFill>
                  <a:schemeClr val="tx1"/>
                </a:solidFill>
                <a:latin typeface="Arial" panose="020B0604020202020204" pitchFamily="34" charset="0"/>
                <a:cs typeface="Arial" panose="020B0604020202020204" pitchFamily="34" charset="0"/>
              </a:rPr>
              <a:t>Dr</a:t>
            </a:r>
            <a:r>
              <a:rPr lang="zh-CN" altLang="en-US" dirty="0">
                <a:solidFill>
                  <a:schemeClr val="tx1"/>
                </a:solidFill>
                <a:latin typeface="Arial" panose="020B0604020202020204" pitchFamily="34" charset="0"/>
                <a:cs typeface="Arial" panose="020B0604020202020204" pitchFamily="34" charset="0"/>
              </a:rPr>
              <a:t> </a:t>
            </a:r>
            <a:r>
              <a:rPr lang="en-GB" altLang="zh-CN" dirty="0">
                <a:solidFill>
                  <a:schemeClr val="tx1"/>
                </a:solidFill>
                <a:latin typeface="Arial" panose="020B0604020202020204" pitchFamily="34" charset="0"/>
                <a:cs typeface="Arial" panose="020B0604020202020204" pitchFamily="34" charset="0"/>
              </a:rPr>
              <a:t>Nicolas Pugeault</a:t>
            </a:r>
            <a:endParaRPr lang="en-GB"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197290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EBB68F0-E468-308F-1B73-678D40DDC199}"/>
              </a:ext>
            </a:extLst>
          </p:cNvPr>
          <p:cNvSpPr>
            <a:spLocks noGrp="1"/>
          </p:cNvSpPr>
          <p:nvPr>
            <p:ph type="title"/>
          </p:nvPr>
        </p:nvSpPr>
        <p:spPr>
          <a:xfrm>
            <a:off x="2549236" y="533614"/>
            <a:ext cx="9210963" cy="888786"/>
          </a:xfrm>
        </p:spPr>
        <p:txBody>
          <a:bodyPr anchor="t">
            <a:normAutofit/>
          </a:bodyPr>
          <a:lstStyle/>
          <a:p>
            <a:r>
              <a:rPr lang="en-US" altLang="zh-CN"/>
              <a:t>D</a:t>
            </a:r>
            <a:r>
              <a:rPr lang="en-GB" b="1" i="0" err="1">
                <a:effectLst/>
              </a:rPr>
              <a:t>eep</a:t>
            </a:r>
            <a:r>
              <a:rPr lang="en-GB" b="1" i="0">
                <a:effectLst/>
              </a:rPr>
              <a:t> neural networks</a:t>
            </a:r>
          </a:p>
        </p:txBody>
      </p:sp>
      <p:pic>
        <p:nvPicPr>
          <p:cNvPr id="3" name="Picture 2">
            <a:extLst>
              <a:ext uri="{FF2B5EF4-FFF2-40B4-BE49-F238E27FC236}">
                <a16:creationId xmlns:a16="http://schemas.microsoft.com/office/drawing/2014/main" id="{9B42639C-CC1C-B55B-DD4E-81F543FAA7F1}"/>
              </a:ext>
            </a:extLst>
          </p:cNvPr>
          <p:cNvPicPr>
            <a:picLocks noChangeAspect="1"/>
          </p:cNvPicPr>
          <p:nvPr/>
        </p:nvPicPr>
        <p:blipFill>
          <a:blip r:embed="rId2">
            <a:extLst>
              <a:ext uri="{28A0092B-C50C-407E-A947-70E740481C1C}">
                <a14:useLocalDpi xmlns:a14="http://schemas.microsoft.com/office/drawing/2010/main" val="0"/>
              </a:ext>
            </a:extLst>
          </a:blip>
          <a:srcRect t="13725" b="5976"/>
          <a:stretch>
            <a:fillRect/>
          </a:stretch>
        </p:blipFill>
        <p:spPr>
          <a:xfrm>
            <a:off x="285750" y="1627188"/>
            <a:ext cx="11474450" cy="4606925"/>
          </a:xfrm>
          <a:prstGeom prst="rect">
            <a:avLst/>
          </a:prstGeom>
          <a:noFill/>
        </p:spPr>
      </p:pic>
    </p:spTree>
    <p:extLst>
      <p:ext uri="{BB962C8B-B14F-4D97-AF65-F5344CB8AC3E}">
        <p14:creationId xmlns:p14="http://schemas.microsoft.com/office/powerpoint/2010/main" val="403087460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F1AC74-5A24-667A-4639-FBD9676DA1F2}"/>
              </a:ext>
            </a:extLst>
          </p:cNvPr>
          <p:cNvSpPr>
            <a:spLocks noGrp="1"/>
          </p:cNvSpPr>
          <p:nvPr>
            <p:ph type="title"/>
          </p:nvPr>
        </p:nvSpPr>
        <p:spPr/>
        <p:txBody>
          <a:bodyPr/>
          <a:lstStyle/>
          <a:p>
            <a:r>
              <a:rPr lang="en-US" altLang="zh-CN" dirty="0"/>
              <a:t>D</a:t>
            </a:r>
            <a:r>
              <a:rPr lang="en-US" dirty="0"/>
              <a:t>eep neural networks</a:t>
            </a:r>
          </a:p>
        </p:txBody>
      </p:sp>
      <p:sp>
        <p:nvSpPr>
          <p:cNvPr id="3" name="Content Placeholder 2">
            <a:extLst>
              <a:ext uri="{FF2B5EF4-FFF2-40B4-BE49-F238E27FC236}">
                <a16:creationId xmlns:a16="http://schemas.microsoft.com/office/drawing/2014/main" id="{E6B4E0A1-95C4-9865-3E9D-9831C1E81540}"/>
              </a:ext>
            </a:extLst>
          </p:cNvPr>
          <p:cNvSpPr>
            <a:spLocks noGrp="1"/>
          </p:cNvSpPr>
          <p:nvPr>
            <p:ph sz="quarter" idx="13"/>
          </p:nvPr>
        </p:nvSpPr>
        <p:spPr/>
        <p:txBody>
          <a:bodyPr/>
          <a:lstStyle/>
          <a:p>
            <a:r>
              <a:rPr lang="en-GB" b="1" i="0" dirty="0">
                <a:effectLst/>
                <a:latin typeface="-apple-system"/>
              </a:rPr>
              <a:t>Deep learning</a:t>
            </a:r>
            <a:r>
              <a:rPr lang="en-GB" b="0" i="0" dirty="0">
                <a:effectLst/>
                <a:latin typeface="-apple-system"/>
              </a:rPr>
              <a:t> or </a:t>
            </a:r>
            <a:r>
              <a:rPr lang="en-GB" b="1" i="0" dirty="0">
                <a:effectLst/>
                <a:latin typeface="-apple-system"/>
              </a:rPr>
              <a:t>deep neural networks</a:t>
            </a:r>
            <a:r>
              <a:rPr lang="en-GB" b="0" i="0" dirty="0">
                <a:effectLst/>
                <a:latin typeface="-apple-system"/>
              </a:rPr>
              <a:t> have become a major part of modern machine learning research. </a:t>
            </a:r>
            <a:endParaRPr lang="en-GB" dirty="0">
              <a:latin typeface="-apple-system"/>
            </a:endParaRPr>
          </a:p>
          <a:p>
            <a:r>
              <a:rPr lang="en-GB" b="0" i="0" dirty="0">
                <a:effectLst/>
                <a:latin typeface="-apple-system"/>
              </a:rPr>
              <a:t>They have had astonishing success in fields like speech recognition, machine translation, image classification and image synthesis. </a:t>
            </a:r>
          </a:p>
          <a:p>
            <a:r>
              <a:rPr lang="en-GB" b="0" i="0" dirty="0">
                <a:effectLst/>
                <a:latin typeface="-apple-system"/>
              </a:rPr>
              <a:t>The basic problem of deep learning is one of finding an approximating function. </a:t>
            </a:r>
            <a:endParaRPr lang="en-US" dirty="0"/>
          </a:p>
        </p:txBody>
      </p:sp>
      <p:pic>
        <p:nvPicPr>
          <p:cNvPr id="4" name="Picture 3">
            <a:extLst>
              <a:ext uri="{FF2B5EF4-FFF2-40B4-BE49-F238E27FC236}">
                <a16:creationId xmlns:a16="http://schemas.microsoft.com/office/drawing/2014/main" id="{13E1E9D7-350E-1897-261F-2F157F4DF5A7}"/>
              </a:ext>
            </a:extLst>
          </p:cNvPr>
          <p:cNvPicPr>
            <a:picLocks noChangeAspect="1"/>
          </p:cNvPicPr>
          <p:nvPr/>
        </p:nvPicPr>
        <p:blipFill>
          <a:blip r:embed="rId2"/>
          <a:stretch>
            <a:fillRect/>
          </a:stretch>
        </p:blipFill>
        <p:spPr>
          <a:xfrm>
            <a:off x="2627894" y="3930650"/>
            <a:ext cx="5145617" cy="1485900"/>
          </a:xfrm>
          <a:prstGeom prst="rect">
            <a:avLst/>
          </a:prstGeom>
        </p:spPr>
      </p:pic>
    </p:spTree>
    <p:extLst>
      <p:ext uri="{BB962C8B-B14F-4D97-AF65-F5344CB8AC3E}">
        <p14:creationId xmlns:p14="http://schemas.microsoft.com/office/powerpoint/2010/main" val="24498343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C96264FA-4B6A-BAF1-9840-B08578614AEF}"/>
                  </a:ext>
                </a:extLst>
              </p:cNvPr>
              <p:cNvSpPr txBox="1"/>
              <p:nvPr/>
            </p:nvSpPr>
            <p:spPr>
              <a:xfrm>
                <a:off x="838200" y="1608667"/>
                <a:ext cx="5181600" cy="4568296"/>
              </a:xfrm>
              <a:prstGeom prst="rect">
                <a:avLst/>
              </a:prstGeom>
            </p:spPr>
            <p:txBody>
              <a:bodyPr vert="horz" lIns="91440" tIns="45720" rIns="91440" bIns="45720" rtlCol="0">
                <a:normAutofit/>
              </a:bodyPr>
              <a:lstStyle/>
              <a:p>
                <a:pPr marL="228600" indent="-228600">
                  <a:lnSpc>
                    <a:spcPct val="90000"/>
                  </a:lnSpc>
                  <a:spcBef>
                    <a:spcPts val="1000"/>
                  </a:spcBef>
                  <a:buFont typeface="Arial" panose="020B0604020202020204" pitchFamily="34" charset="0"/>
                  <a:buChar char="•"/>
                </a:pPr>
                <a:r>
                  <a:rPr lang="en-GB" sz="2400" dirty="0">
                    <a:solidFill>
                      <a:schemeClr val="accent1">
                        <a:lumMod val="50000"/>
                      </a:schemeClr>
                    </a:solidFill>
                    <a:latin typeface="Cambria Math" panose="02040503050406030204" pitchFamily="18" charset="0"/>
                  </a:rPr>
                  <a:t>A linear map (matrix multiplication), that rotates, translates the input (“paper”)</a:t>
                </a:r>
              </a:p>
              <a:p>
                <a:pPr marL="228600" indent="-228600">
                  <a:lnSpc>
                    <a:spcPct val="90000"/>
                  </a:lnSpc>
                  <a:spcBef>
                    <a:spcPts val="1000"/>
                  </a:spcBef>
                  <a:buFont typeface="Arial" panose="020B0604020202020204" pitchFamily="34" charset="0"/>
                  <a:buChar char="•"/>
                </a:pPr>
                <a:r>
                  <a:rPr lang="en-GB" sz="2400" b="0" dirty="0">
                    <a:solidFill>
                      <a:schemeClr val="accent1">
                        <a:lumMod val="50000"/>
                      </a:schemeClr>
                    </a:solidFill>
                    <a:latin typeface="Cambria Math" panose="02040503050406030204" pitchFamily="18" charset="0"/>
                  </a:rPr>
                  <a:t>A nonlinear function that squashes the input (“folds”)</a:t>
                </a:r>
              </a:p>
              <a:p>
                <a:pPr marL="228600" indent="-228600">
                  <a:lnSpc>
                    <a:spcPct val="90000"/>
                  </a:lnSpc>
                  <a:spcBef>
                    <a:spcPts val="1000"/>
                  </a:spcBef>
                  <a:buFont typeface="Arial" panose="020B0604020202020204" pitchFamily="34" charset="0"/>
                  <a:buChar char="•"/>
                </a:pPr>
                <a:r>
                  <a:rPr lang="en-GB" sz="2400" dirty="0">
                    <a:solidFill>
                      <a:schemeClr val="accent1">
                        <a:lumMod val="50000"/>
                      </a:schemeClr>
                    </a:solidFill>
                    <a:latin typeface="Cambria Math" panose="02040503050406030204" pitchFamily="18" charset="0"/>
                  </a:rPr>
                  <a:t>Formally: </a:t>
                </a:r>
                <a:endParaRPr lang="en-GB" sz="2400" b="0" dirty="0">
                  <a:solidFill>
                    <a:schemeClr val="accent1">
                      <a:lumMod val="50000"/>
                    </a:schemeClr>
                  </a:solidFill>
                  <a:latin typeface="Cambria Math" panose="02040503050406030204" pitchFamily="18" charset="0"/>
                </a:endParaRPr>
              </a:p>
              <a:p>
                <a:pPr>
                  <a:lnSpc>
                    <a:spcPct val="90000"/>
                  </a:lnSpc>
                  <a:spcBef>
                    <a:spcPts val="1000"/>
                  </a:spcBef>
                </a:pPr>
                <a14:m>
                  <m:oMathPara xmlns:m="http://schemas.openxmlformats.org/officeDocument/2006/math">
                    <m:oMathParaPr>
                      <m:jc m:val="centerGroup"/>
                    </m:oMathParaPr>
                    <m:oMath xmlns:m="http://schemas.openxmlformats.org/officeDocument/2006/math">
                      <m:sSub>
                        <m:sSubPr>
                          <m:ctrlPr>
                            <a:rPr lang="en-GB" sz="2400" b="0" i="1">
                              <a:solidFill>
                                <a:schemeClr val="accent1">
                                  <a:lumMod val="50000"/>
                                </a:schemeClr>
                              </a:solidFill>
                              <a:latin typeface="Cambria Math" panose="02040503050406030204" pitchFamily="18" charset="0"/>
                            </a:rPr>
                          </m:ctrlPr>
                        </m:sSubPr>
                        <m:e>
                          <m:r>
                            <a:rPr lang="en-GB" sz="2400" b="0" i="1">
                              <a:solidFill>
                                <a:schemeClr val="accent1">
                                  <a:lumMod val="50000"/>
                                </a:schemeClr>
                              </a:solidFill>
                              <a:latin typeface="Cambria Math" panose="02040503050406030204" pitchFamily="18" charset="0"/>
                            </a:rPr>
                            <m:t>𝑦</m:t>
                          </m:r>
                        </m:e>
                        <m:sub>
                          <m:r>
                            <a:rPr lang="en-GB" sz="2400" b="0" i="1">
                              <a:solidFill>
                                <a:schemeClr val="accent1">
                                  <a:lumMod val="50000"/>
                                </a:schemeClr>
                              </a:solidFill>
                              <a:latin typeface="Cambria Math" panose="02040503050406030204" pitchFamily="18" charset="0"/>
                            </a:rPr>
                            <m:t>𝑖</m:t>
                          </m:r>
                        </m:sub>
                      </m:sSub>
                      <m:r>
                        <a:rPr lang="en-GB" sz="2400" b="0" i="1">
                          <a:solidFill>
                            <a:schemeClr val="accent1">
                              <a:lumMod val="50000"/>
                            </a:schemeClr>
                          </a:solidFill>
                          <a:latin typeface="Cambria Math" panose="02040503050406030204" pitchFamily="18" charset="0"/>
                        </a:rPr>
                        <m:t>=</m:t>
                      </m:r>
                      <m:r>
                        <a:rPr lang="en-GB" sz="2400" b="0" i="1">
                          <a:solidFill>
                            <a:schemeClr val="accent1">
                              <a:lumMod val="50000"/>
                            </a:schemeClr>
                          </a:solidFill>
                          <a:latin typeface="Cambria Math" panose="02040503050406030204" pitchFamily="18" charset="0"/>
                        </a:rPr>
                        <m:t>𝐺</m:t>
                      </m:r>
                      <m:r>
                        <a:rPr lang="en-GB" sz="2400" b="0" i="1">
                          <a:solidFill>
                            <a:schemeClr val="accent1">
                              <a:lumMod val="50000"/>
                            </a:schemeClr>
                          </a:solidFill>
                          <a:latin typeface="Cambria Math" panose="02040503050406030204" pitchFamily="18" charset="0"/>
                        </a:rPr>
                        <m:t>(</m:t>
                      </m:r>
                      <m:sSub>
                        <m:sSubPr>
                          <m:ctrlPr>
                            <a:rPr lang="en-GB" sz="2400" b="0" i="1">
                              <a:solidFill>
                                <a:schemeClr val="accent1">
                                  <a:lumMod val="50000"/>
                                </a:schemeClr>
                              </a:solidFill>
                              <a:latin typeface="Cambria Math" panose="02040503050406030204" pitchFamily="18" charset="0"/>
                            </a:rPr>
                          </m:ctrlPr>
                        </m:sSubPr>
                        <m:e>
                          <m:r>
                            <a:rPr lang="en-GB" sz="2400" b="0" i="1">
                              <a:solidFill>
                                <a:schemeClr val="accent1">
                                  <a:lumMod val="50000"/>
                                </a:schemeClr>
                              </a:solidFill>
                              <a:latin typeface="Cambria Math" panose="02040503050406030204" pitchFamily="18" charset="0"/>
                            </a:rPr>
                            <m:t>𝑊</m:t>
                          </m:r>
                        </m:e>
                        <m:sub>
                          <m:r>
                            <a:rPr lang="en-GB" sz="2400" b="0" i="1">
                              <a:solidFill>
                                <a:schemeClr val="accent1">
                                  <a:lumMod val="50000"/>
                                </a:schemeClr>
                              </a:solidFill>
                              <a:latin typeface="Cambria Math" panose="02040503050406030204" pitchFamily="18" charset="0"/>
                            </a:rPr>
                            <m:t>𝑖</m:t>
                          </m:r>
                        </m:sub>
                      </m:sSub>
                      <m:sSub>
                        <m:sSubPr>
                          <m:ctrlPr>
                            <a:rPr lang="en-GB" sz="2400" b="0" i="1">
                              <a:solidFill>
                                <a:schemeClr val="accent1">
                                  <a:lumMod val="50000"/>
                                </a:schemeClr>
                              </a:solidFill>
                              <a:latin typeface="Cambria Math" panose="02040503050406030204" pitchFamily="18" charset="0"/>
                            </a:rPr>
                          </m:ctrlPr>
                        </m:sSubPr>
                        <m:e>
                          <m:r>
                            <a:rPr lang="en-GB" sz="2400" b="0" i="1">
                              <a:solidFill>
                                <a:schemeClr val="accent1">
                                  <a:lumMod val="50000"/>
                                </a:schemeClr>
                              </a:solidFill>
                              <a:latin typeface="Cambria Math" panose="02040503050406030204" pitchFamily="18" charset="0"/>
                            </a:rPr>
                            <m:t>𝑥</m:t>
                          </m:r>
                        </m:e>
                        <m:sub>
                          <m:r>
                            <a:rPr lang="en-GB" sz="2400" b="0" i="1">
                              <a:solidFill>
                                <a:schemeClr val="accent1">
                                  <a:lumMod val="50000"/>
                                </a:schemeClr>
                              </a:solidFill>
                              <a:latin typeface="Cambria Math" panose="02040503050406030204" pitchFamily="18" charset="0"/>
                            </a:rPr>
                            <m:t>𝑖</m:t>
                          </m:r>
                        </m:sub>
                      </m:sSub>
                      <m:r>
                        <a:rPr lang="en-GB" sz="2400" b="0" i="1">
                          <a:solidFill>
                            <a:schemeClr val="accent1">
                              <a:lumMod val="50000"/>
                            </a:schemeClr>
                          </a:solidFill>
                          <a:latin typeface="Cambria Math" panose="02040503050406030204" pitchFamily="18" charset="0"/>
                        </a:rPr>
                        <m:t>+</m:t>
                      </m:r>
                      <m:sSub>
                        <m:sSubPr>
                          <m:ctrlPr>
                            <a:rPr lang="en-GB" sz="2400" b="0" i="1">
                              <a:solidFill>
                                <a:schemeClr val="accent1">
                                  <a:lumMod val="50000"/>
                                </a:schemeClr>
                              </a:solidFill>
                              <a:latin typeface="Cambria Math" panose="02040503050406030204" pitchFamily="18" charset="0"/>
                            </a:rPr>
                          </m:ctrlPr>
                        </m:sSubPr>
                        <m:e>
                          <m:r>
                            <a:rPr lang="en-GB" sz="2400" b="0" i="1">
                              <a:solidFill>
                                <a:schemeClr val="accent1">
                                  <a:lumMod val="50000"/>
                                </a:schemeClr>
                              </a:solidFill>
                              <a:latin typeface="Cambria Math" panose="02040503050406030204" pitchFamily="18" charset="0"/>
                            </a:rPr>
                            <m:t>𝑏</m:t>
                          </m:r>
                        </m:e>
                        <m:sub>
                          <m:r>
                            <a:rPr lang="en-GB" sz="2400" b="0" i="1">
                              <a:solidFill>
                                <a:schemeClr val="accent1">
                                  <a:lumMod val="50000"/>
                                </a:schemeClr>
                              </a:solidFill>
                              <a:latin typeface="Cambria Math" panose="02040503050406030204" pitchFamily="18" charset="0"/>
                            </a:rPr>
                            <m:t>𝑖</m:t>
                          </m:r>
                        </m:sub>
                      </m:sSub>
                      <m:r>
                        <a:rPr lang="en-GB" sz="2400" b="0" i="1">
                          <a:solidFill>
                            <a:schemeClr val="accent1">
                              <a:lumMod val="50000"/>
                            </a:schemeClr>
                          </a:solidFill>
                          <a:latin typeface="Cambria Math" panose="02040503050406030204" pitchFamily="18" charset="0"/>
                        </a:rPr>
                        <m:t>)</m:t>
                      </m:r>
                    </m:oMath>
                  </m:oMathPara>
                </a14:m>
                <a:endParaRPr lang="en-GB" sz="2400" dirty="0">
                  <a:solidFill>
                    <a:schemeClr val="accent1">
                      <a:lumMod val="50000"/>
                    </a:schemeClr>
                  </a:solidFill>
                  <a:latin typeface="Arial" panose="020B0604020202020204" pitchFamily="34" charset="0"/>
                  <a:cs typeface="Arial" panose="020B0604020202020204" pitchFamily="34" charset="0"/>
                </a:endParaRPr>
              </a:p>
            </p:txBody>
          </p:sp>
        </mc:Choice>
        <mc:Fallback xmlns="">
          <p:sp>
            <p:nvSpPr>
              <p:cNvPr id="6" name="TextBox 5">
                <a:extLst>
                  <a:ext uri="{FF2B5EF4-FFF2-40B4-BE49-F238E27FC236}">
                    <a16:creationId xmlns:a16="http://schemas.microsoft.com/office/drawing/2014/main" id="{C96264FA-4B6A-BAF1-9840-B08578614AEF}"/>
                  </a:ext>
                </a:extLst>
              </p:cNvPr>
              <p:cNvSpPr txBox="1">
                <a:spLocks noRot="1" noChangeAspect="1" noMove="1" noResize="1" noEditPoints="1" noAdjustHandles="1" noChangeArrowheads="1" noChangeShapeType="1" noTextEdit="1"/>
              </p:cNvSpPr>
              <p:nvPr/>
            </p:nvSpPr>
            <p:spPr>
              <a:xfrm>
                <a:off x="838200" y="1608667"/>
                <a:ext cx="5181600" cy="4568296"/>
              </a:xfrm>
              <a:prstGeom prst="rect">
                <a:avLst/>
              </a:prstGeom>
              <a:blipFill>
                <a:blip r:embed="rId2"/>
                <a:stretch>
                  <a:fillRect l="-1647" t="-1869"/>
                </a:stretch>
              </a:blipFill>
            </p:spPr>
            <p:txBody>
              <a:bodyPr/>
              <a:lstStyle/>
              <a:p>
                <a:r>
                  <a:rPr lang="en-GB">
                    <a:noFill/>
                  </a:rPr>
                  <a:t> </a:t>
                </a:r>
              </a:p>
            </p:txBody>
          </p:sp>
        </mc:Fallback>
      </mc:AlternateContent>
      <p:pic>
        <p:nvPicPr>
          <p:cNvPr id="5" name="Content Placeholder 4" descr="A green and red paper hummingbird&#10;&#10;AI-generated content may be incorrect.">
            <a:extLst>
              <a:ext uri="{FF2B5EF4-FFF2-40B4-BE49-F238E27FC236}">
                <a16:creationId xmlns:a16="http://schemas.microsoft.com/office/drawing/2014/main" id="{7E421476-AA50-C556-DC5C-D0253AE6AC1C}"/>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6259824" y="1608667"/>
            <a:ext cx="5006351" cy="4568296"/>
          </a:xfrm>
          <a:noFill/>
        </p:spPr>
      </p:pic>
      <p:sp>
        <p:nvSpPr>
          <p:cNvPr id="2" name="Title 1">
            <a:extLst>
              <a:ext uri="{FF2B5EF4-FFF2-40B4-BE49-F238E27FC236}">
                <a16:creationId xmlns:a16="http://schemas.microsoft.com/office/drawing/2014/main" id="{C8417BF0-A12C-860B-5E43-A8AC71A80C58}"/>
              </a:ext>
            </a:extLst>
          </p:cNvPr>
          <p:cNvSpPr>
            <a:spLocks noGrp="1"/>
          </p:cNvSpPr>
          <p:nvPr>
            <p:ph type="title"/>
          </p:nvPr>
        </p:nvSpPr>
        <p:spPr>
          <a:xfrm>
            <a:off x="2549236" y="533614"/>
            <a:ext cx="9210963" cy="888786"/>
          </a:xfrm>
        </p:spPr>
        <p:txBody>
          <a:bodyPr vert="horz" lIns="91440" tIns="45720" rIns="91440" bIns="45720" rtlCol="0" anchor="t">
            <a:normAutofit/>
          </a:bodyPr>
          <a:lstStyle/>
          <a:p>
            <a:r>
              <a:rPr lang="en-GB" b="1" kern="1200">
                <a:latin typeface="Arial" panose="020B0604020202020204" pitchFamily="34" charset="0"/>
                <a:ea typeface="+mj-ea"/>
                <a:cs typeface="Arial" panose="020B0604020202020204" pitchFamily="34" charset="0"/>
              </a:rPr>
              <a:t>Deep Neural Networks as Origami</a:t>
            </a:r>
          </a:p>
        </p:txBody>
      </p:sp>
    </p:spTree>
    <p:extLst>
      <p:ext uri="{BB962C8B-B14F-4D97-AF65-F5344CB8AC3E}">
        <p14:creationId xmlns:p14="http://schemas.microsoft.com/office/powerpoint/2010/main" val="33019417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473168-309F-78DF-6F90-1541991C1538}"/>
              </a:ext>
            </a:extLst>
          </p:cNvPr>
          <p:cNvSpPr>
            <a:spLocks noGrp="1"/>
          </p:cNvSpPr>
          <p:nvPr>
            <p:ph type="title"/>
          </p:nvPr>
        </p:nvSpPr>
        <p:spPr/>
        <p:txBody>
          <a:bodyPr>
            <a:normAutofit fontScale="90000"/>
          </a:bodyPr>
          <a:lstStyle/>
          <a:p>
            <a:r>
              <a:rPr lang="en-GB" b="1" dirty="0"/>
              <a:t>Activation</a:t>
            </a:r>
            <a:r>
              <a:rPr lang="zh-CN" altLang="en-US" b="1" dirty="0"/>
              <a:t> </a:t>
            </a:r>
            <a:br>
              <a:rPr lang="en-GB" altLang="zh-CN" b="1" dirty="0"/>
            </a:br>
            <a:r>
              <a:rPr lang="en-US" altLang="zh-CN" dirty="0"/>
              <a:t>function</a:t>
            </a:r>
            <a:br>
              <a:rPr lang="en-GB" b="1" i="0" dirty="0">
                <a:effectLst/>
                <a:latin typeface="-apple-system"/>
              </a:rPr>
            </a:br>
            <a:endParaRPr lang="en-US" dirty="0"/>
          </a:p>
        </p:txBody>
      </p:sp>
      <p:sp>
        <p:nvSpPr>
          <p:cNvPr id="3" name="Content Placeholder 2">
            <a:extLst>
              <a:ext uri="{FF2B5EF4-FFF2-40B4-BE49-F238E27FC236}">
                <a16:creationId xmlns:a16="http://schemas.microsoft.com/office/drawing/2014/main" id="{65D88135-2330-A090-A0E4-F00FBA04B887}"/>
              </a:ext>
            </a:extLst>
          </p:cNvPr>
          <p:cNvSpPr>
            <a:spLocks noGrp="1"/>
          </p:cNvSpPr>
          <p:nvPr>
            <p:ph sz="quarter" idx="13"/>
          </p:nvPr>
        </p:nvSpPr>
        <p:spPr>
          <a:xfrm>
            <a:off x="285750" y="1627188"/>
            <a:ext cx="4559627" cy="4606925"/>
          </a:xfrm>
        </p:spPr>
        <p:txBody>
          <a:bodyPr>
            <a:normAutofit lnSpcReduction="10000"/>
          </a:bodyPr>
          <a:lstStyle/>
          <a:p>
            <a:r>
              <a:rPr lang="en-GB" b="1" i="0" dirty="0">
                <a:effectLst/>
                <a:latin typeface="-apple-system"/>
              </a:rPr>
              <a:t>nonlinear </a:t>
            </a:r>
            <a:r>
              <a:rPr lang="en-US" altLang="zh-CN" b="1" i="0" dirty="0">
                <a:effectLst/>
                <a:latin typeface="-apple-system"/>
              </a:rPr>
              <a:t>(</a:t>
            </a:r>
            <a:r>
              <a:rPr lang="en-GB" b="1" dirty="0"/>
              <a:t>activation</a:t>
            </a:r>
            <a:r>
              <a:rPr lang="en-US" altLang="zh-CN" b="1" i="0" dirty="0">
                <a:effectLst/>
                <a:latin typeface="-apple-system"/>
              </a:rPr>
              <a:t>)</a:t>
            </a:r>
            <a:r>
              <a:rPr lang="zh-CN" altLang="en-US" b="1" i="0" dirty="0">
                <a:effectLst/>
                <a:latin typeface="-apple-system"/>
              </a:rPr>
              <a:t> </a:t>
            </a:r>
            <a:r>
              <a:rPr lang="en-GB" b="1" i="0" dirty="0">
                <a:effectLst/>
                <a:latin typeface="-apple-system"/>
              </a:rPr>
              <a:t>function </a:t>
            </a:r>
            <a:r>
              <a:rPr lang="en-GB" b="0" i="0" dirty="0">
                <a:effectLst/>
                <a:latin typeface="MJXc-TeX-math-I"/>
              </a:rPr>
              <a:t>G</a:t>
            </a:r>
            <a:r>
              <a:rPr lang="en-GB" b="0" i="0" dirty="0">
                <a:effectLst/>
                <a:latin typeface="MJXc-TeX-main-R"/>
              </a:rPr>
              <a:t>(</a:t>
            </a:r>
            <a:r>
              <a:rPr lang="en-GB" b="0" i="0" dirty="0">
                <a:effectLst/>
                <a:latin typeface="MJXc-TeX-main-B"/>
              </a:rPr>
              <a:t>x</a:t>
            </a:r>
            <a:r>
              <a:rPr lang="en-GB" b="0" i="0" dirty="0">
                <a:effectLst/>
                <a:latin typeface="MJXc-TeX-main-R"/>
              </a:rPr>
              <a:t>)</a:t>
            </a:r>
            <a:endParaRPr lang="en-US" b="0" i="0" dirty="0">
              <a:effectLst/>
              <a:latin typeface="MJXc-TeX-main-R"/>
            </a:endParaRPr>
          </a:p>
          <a:p>
            <a:r>
              <a:rPr lang="en-GB" b="1" dirty="0"/>
              <a:t>nonlinear functions</a:t>
            </a:r>
            <a:r>
              <a:rPr lang="en-GB" dirty="0"/>
              <a:t> are essential in neural networks because they allow the network to model complex, real-world data by introducing </a:t>
            </a:r>
            <a:r>
              <a:rPr lang="en-GB" b="1" dirty="0"/>
              <a:t>nonlinearity</a:t>
            </a:r>
            <a:r>
              <a:rPr lang="en-GB" dirty="0"/>
              <a:t>. </a:t>
            </a:r>
          </a:p>
          <a:p>
            <a:r>
              <a:rPr lang="en-GB" dirty="0"/>
              <a:t>Without them, a neural network would be limited to solving simple </a:t>
            </a:r>
            <a:r>
              <a:rPr lang="en-GB" b="1" dirty="0"/>
              <a:t>linear problems</a:t>
            </a:r>
            <a:r>
              <a:rPr lang="en-GB" dirty="0"/>
              <a:t>, no matter how deep or wide the network is.</a:t>
            </a:r>
            <a:endParaRPr lang="en-GB" b="0" i="0" dirty="0">
              <a:effectLst/>
              <a:latin typeface="MJXc-TeX-main-R"/>
            </a:endParaRPr>
          </a:p>
        </p:txBody>
      </p:sp>
      <p:pic>
        <p:nvPicPr>
          <p:cNvPr id="4098" name="Picture 2" descr="Neural Networks Activation Functions">
            <a:extLst>
              <a:ext uri="{FF2B5EF4-FFF2-40B4-BE49-F238E27FC236}">
                <a16:creationId xmlns:a16="http://schemas.microsoft.com/office/drawing/2014/main" id="{2868A135-B1A1-89F2-8041-EE139CE20AE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31067" y="623887"/>
            <a:ext cx="6604215" cy="613684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49061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FEB2EA-AD1D-7657-CC6B-08D8452B31B6}"/>
              </a:ext>
            </a:extLst>
          </p:cNvPr>
          <p:cNvSpPr>
            <a:spLocks noGrp="1"/>
          </p:cNvSpPr>
          <p:nvPr>
            <p:ph type="title"/>
          </p:nvPr>
        </p:nvSpPr>
        <p:spPr/>
        <p:txBody>
          <a:bodyPr/>
          <a:lstStyle/>
          <a:p>
            <a:r>
              <a:rPr lang="en-US" altLang="zh-CN" dirty="0"/>
              <a:t>A</a:t>
            </a:r>
            <a:r>
              <a:rPr lang="zh-CN" altLang="en-US" dirty="0"/>
              <a:t> </a:t>
            </a:r>
            <a:r>
              <a:rPr lang="en-US" altLang="zh-CN" dirty="0"/>
              <a:t>3-layer</a:t>
            </a:r>
            <a:r>
              <a:rPr lang="zh-CN" altLang="en-US" dirty="0"/>
              <a:t> </a:t>
            </a:r>
            <a:r>
              <a:rPr lang="en-US" altLang="zh-CN" dirty="0"/>
              <a:t>deep</a:t>
            </a:r>
            <a:r>
              <a:rPr lang="zh-CN" altLang="en-US" dirty="0"/>
              <a:t> </a:t>
            </a:r>
            <a:r>
              <a:rPr lang="en-US" altLang="zh-CN" dirty="0"/>
              <a:t>neural</a:t>
            </a:r>
            <a:r>
              <a:rPr lang="zh-CN" altLang="en-US" dirty="0"/>
              <a:t> </a:t>
            </a:r>
            <a:r>
              <a:rPr lang="en-US" altLang="zh-CN" dirty="0"/>
              <a:t>network</a:t>
            </a:r>
            <a:r>
              <a:rPr lang="zh-CN" altLang="en-US" dirty="0"/>
              <a:t> </a:t>
            </a:r>
            <a:r>
              <a:rPr lang="en-US" altLang="zh-CN" dirty="0"/>
              <a:t>(DNN)</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493B946-AE4E-FF6A-5F5C-58B0A1BC7B7F}"/>
                  </a:ext>
                </a:extLst>
              </p:cNvPr>
              <p:cNvSpPr>
                <a:spLocks noGrp="1"/>
              </p:cNvSpPr>
              <p:nvPr>
                <p:ph sz="quarter" idx="13"/>
              </p:nvPr>
            </p:nvSpPr>
            <p:spPr/>
            <p:txBody>
              <a:bodyPr/>
              <a:lstStyle/>
              <a:p>
                <a:r>
                  <a:rPr lang="en-US" altLang="zh-CN" dirty="0"/>
                  <a:t>DNN</a:t>
                </a:r>
                <a:r>
                  <a:rPr lang="en-GB" altLang="zh-CN" dirty="0"/>
                  <a:t>: </a:t>
                </a:r>
                <a14:m>
                  <m:oMath xmlns:m="http://schemas.openxmlformats.org/officeDocument/2006/math">
                    <m:r>
                      <a:rPr lang="en-GB" altLang="zh-CN" b="0" i="1" smtClean="0">
                        <a:latin typeface="Cambria Math" panose="02040503050406030204" pitchFamily="18" charset="0"/>
                      </a:rPr>
                      <m:t>𝑓</m:t>
                    </m:r>
                    <m:d>
                      <m:dPr>
                        <m:ctrlPr>
                          <a:rPr lang="en-GB" altLang="zh-CN" b="0" i="1" smtClean="0">
                            <a:latin typeface="Cambria Math" panose="02040503050406030204" pitchFamily="18" charset="0"/>
                          </a:rPr>
                        </m:ctrlPr>
                      </m:dPr>
                      <m:e>
                        <m:r>
                          <a:rPr lang="en-GB" altLang="zh-CN" b="0" i="1" smtClean="0">
                            <a:latin typeface="Cambria Math" panose="02040503050406030204" pitchFamily="18" charset="0"/>
                          </a:rPr>
                          <m:t>𝑔</m:t>
                        </m:r>
                        <m:d>
                          <m:dPr>
                            <m:ctrlPr>
                              <a:rPr lang="en-GB" altLang="zh-CN" b="0" i="1" smtClean="0">
                                <a:latin typeface="Cambria Math" panose="02040503050406030204" pitchFamily="18" charset="0"/>
                              </a:rPr>
                            </m:ctrlPr>
                          </m:dPr>
                          <m:e>
                            <m:r>
                              <a:rPr lang="en-GB" altLang="zh-CN" b="0" i="1" smtClean="0">
                                <a:latin typeface="Cambria Math" panose="02040503050406030204" pitchFamily="18" charset="0"/>
                              </a:rPr>
                              <m:t>h</m:t>
                            </m:r>
                            <m:d>
                              <m:dPr>
                                <m:ctrlPr>
                                  <a:rPr lang="en-GB" altLang="zh-CN" b="0" i="1" smtClean="0">
                                    <a:latin typeface="Cambria Math" panose="02040503050406030204" pitchFamily="18" charset="0"/>
                                  </a:rPr>
                                </m:ctrlPr>
                              </m:dPr>
                              <m:e>
                                <m:r>
                                  <a:rPr lang="en-GB" altLang="zh-CN" b="0" i="1" smtClean="0">
                                    <a:latin typeface="Cambria Math" panose="02040503050406030204" pitchFamily="18" charset="0"/>
                                  </a:rPr>
                                  <m:t>𝑥</m:t>
                                </m:r>
                              </m:e>
                            </m:d>
                          </m:e>
                        </m:d>
                      </m:e>
                    </m:d>
                  </m:oMath>
                </a14:m>
                <a:endParaRPr lang="en-US" dirty="0"/>
              </a:p>
            </p:txBody>
          </p:sp>
        </mc:Choice>
        <mc:Fallback xmlns="">
          <p:sp>
            <p:nvSpPr>
              <p:cNvPr id="3" name="Content Placeholder 2">
                <a:extLst>
                  <a:ext uri="{FF2B5EF4-FFF2-40B4-BE49-F238E27FC236}">
                    <a16:creationId xmlns:a16="http://schemas.microsoft.com/office/drawing/2014/main" id="{C493B946-AE4E-FF6A-5F5C-58B0A1BC7B7F}"/>
                  </a:ext>
                </a:extLst>
              </p:cNvPr>
              <p:cNvSpPr>
                <a:spLocks noGrp="1" noRot="1" noChangeAspect="1" noMove="1" noResize="1" noEditPoints="1" noAdjustHandles="1" noChangeArrowheads="1" noChangeShapeType="1" noTextEdit="1"/>
              </p:cNvSpPr>
              <p:nvPr>
                <p:ph sz="quarter" idx="13"/>
              </p:nvPr>
            </p:nvSpPr>
            <p:spPr>
              <a:blipFill>
                <a:blip r:embed="rId3"/>
                <a:stretch>
                  <a:fillRect l="-744"/>
                </a:stretch>
              </a:blipFill>
            </p:spPr>
            <p:txBody>
              <a:bodyPr/>
              <a:lstStyle/>
              <a:p>
                <a:r>
                  <a:rPr lang="en-GB">
                    <a:noFill/>
                  </a:rPr>
                  <a:t> </a:t>
                </a:r>
              </a:p>
            </p:txBody>
          </p:sp>
        </mc:Fallback>
      </mc:AlternateContent>
      <p:pic>
        <p:nvPicPr>
          <p:cNvPr id="10242" name="Picture 2" descr="Deep Learning: How do deep neural networks work? » Lamarr-Blog">
            <a:extLst>
              <a:ext uri="{FF2B5EF4-FFF2-40B4-BE49-F238E27FC236}">
                <a16:creationId xmlns:a16="http://schemas.microsoft.com/office/drawing/2014/main" id="{52772BEF-7386-9A94-589E-E804CFA251F3}"/>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535769" y="2150860"/>
            <a:ext cx="8350752" cy="4174289"/>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85C4A6DF-AAA7-3765-CF30-AC0A4BB2DFD5}"/>
              </a:ext>
            </a:extLst>
          </p:cNvPr>
          <p:cNvSpPr txBox="1"/>
          <p:nvPr/>
        </p:nvSpPr>
        <p:spPr>
          <a:xfrm>
            <a:off x="2736049" y="6193556"/>
            <a:ext cx="901886" cy="369332"/>
          </a:xfrm>
          <a:prstGeom prst="rect">
            <a:avLst/>
          </a:prstGeom>
          <a:noFill/>
        </p:spPr>
        <p:txBody>
          <a:bodyPr wrap="square">
            <a:spAutoFit/>
          </a:bodyPr>
          <a:lstStyle/>
          <a:p>
            <a:r>
              <a:rPr lang="en-US" altLang="zh-CN" dirty="0"/>
              <a:t>h(x1,x2)</a:t>
            </a:r>
            <a:endParaRPr lang="en-US" dirty="0"/>
          </a:p>
        </p:txBody>
      </p:sp>
      <p:sp>
        <p:nvSpPr>
          <p:cNvPr id="6" name="TextBox 5">
            <a:extLst>
              <a:ext uri="{FF2B5EF4-FFF2-40B4-BE49-F238E27FC236}">
                <a16:creationId xmlns:a16="http://schemas.microsoft.com/office/drawing/2014/main" id="{E6238A4D-8CAF-EEB7-D1A1-CE25214B753D}"/>
              </a:ext>
            </a:extLst>
          </p:cNvPr>
          <p:cNvSpPr txBox="1"/>
          <p:nvPr/>
        </p:nvSpPr>
        <p:spPr>
          <a:xfrm>
            <a:off x="5006277" y="6224742"/>
            <a:ext cx="1551840" cy="369332"/>
          </a:xfrm>
          <a:prstGeom prst="rect">
            <a:avLst/>
          </a:prstGeom>
          <a:noFill/>
        </p:spPr>
        <p:txBody>
          <a:bodyPr wrap="square">
            <a:spAutoFit/>
          </a:bodyPr>
          <a:lstStyle/>
          <a:p>
            <a:r>
              <a:rPr lang="en-US" altLang="zh-CN" dirty="0"/>
              <a:t>g(h1,h2,h3,h4)</a:t>
            </a:r>
            <a:endParaRPr lang="en-US" dirty="0"/>
          </a:p>
        </p:txBody>
      </p:sp>
      <p:sp>
        <p:nvSpPr>
          <p:cNvPr id="7" name="TextBox 6">
            <a:extLst>
              <a:ext uri="{FF2B5EF4-FFF2-40B4-BE49-F238E27FC236}">
                <a16:creationId xmlns:a16="http://schemas.microsoft.com/office/drawing/2014/main" id="{FEED57F8-3D50-0DBD-E1AA-B73E9623E77F}"/>
              </a:ext>
            </a:extLst>
          </p:cNvPr>
          <p:cNvSpPr txBox="1"/>
          <p:nvPr/>
        </p:nvSpPr>
        <p:spPr>
          <a:xfrm>
            <a:off x="7542387" y="6185065"/>
            <a:ext cx="1808090" cy="369332"/>
          </a:xfrm>
          <a:prstGeom prst="rect">
            <a:avLst/>
          </a:prstGeom>
          <a:noFill/>
        </p:spPr>
        <p:txBody>
          <a:bodyPr wrap="square">
            <a:spAutoFit/>
          </a:bodyPr>
          <a:lstStyle/>
          <a:p>
            <a:r>
              <a:rPr lang="en-US" altLang="zh-CN" dirty="0"/>
              <a:t>f(g1,g2,g3,g4,g5)</a:t>
            </a:r>
            <a:endParaRPr lang="en-US" dirty="0"/>
          </a:p>
        </p:txBody>
      </p:sp>
      <p:sp>
        <p:nvSpPr>
          <p:cNvPr id="8" name="TextBox 7">
            <a:extLst>
              <a:ext uri="{FF2B5EF4-FFF2-40B4-BE49-F238E27FC236}">
                <a16:creationId xmlns:a16="http://schemas.microsoft.com/office/drawing/2014/main" id="{E6FB3213-A34D-2DCC-841B-95E3D51DC180}"/>
              </a:ext>
            </a:extLst>
          </p:cNvPr>
          <p:cNvSpPr txBox="1"/>
          <p:nvPr/>
        </p:nvSpPr>
        <p:spPr>
          <a:xfrm>
            <a:off x="9984904" y="3930650"/>
            <a:ext cx="1808090" cy="369332"/>
          </a:xfrm>
          <a:prstGeom prst="rect">
            <a:avLst/>
          </a:prstGeom>
          <a:noFill/>
        </p:spPr>
        <p:txBody>
          <a:bodyPr wrap="square">
            <a:spAutoFit/>
          </a:bodyPr>
          <a:lstStyle/>
          <a:p>
            <a:r>
              <a:rPr lang="en-US" altLang="zh-CN" dirty="0"/>
              <a:t>[o1,o2,o3]</a:t>
            </a:r>
            <a:endParaRPr lang="en-US" dirty="0"/>
          </a:p>
        </p:txBody>
      </p:sp>
      <p:sp>
        <p:nvSpPr>
          <p:cNvPr id="10" name="TextBox 9">
            <a:extLst>
              <a:ext uri="{FF2B5EF4-FFF2-40B4-BE49-F238E27FC236}">
                <a16:creationId xmlns:a16="http://schemas.microsoft.com/office/drawing/2014/main" id="{AF954680-693B-1C5A-35BF-5DC9F366AF7C}"/>
              </a:ext>
            </a:extLst>
          </p:cNvPr>
          <p:cNvSpPr txBox="1"/>
          <p:nvPr/>
        </p:nvSpPr>
        <p:spPr>
          <a:xfrm>
            <a:off x="791713" y="3924194"/>
            <a:ext cx="869939" cy="369332"/>
          </a:xfrm>
          <a:prstGeom prst="rect">
            <a:avLst/>
          </a:prstGeom>
          <a:noFill/>
        </p:spPr>
        <p:txBody>
          <a:bodyPr wrap="square">
            <a:spAutoFit/>
          </a:bodyPr>
          <a:lstStyle/>
          <a:p>
            <a:r>
              <a:rPr lang="en-US" altLang="zh-CN" dirty="0"/>
              <a:t>[x1,x2]</a:t>
            </a:r>
            <a:endParaRPr lang="en-US" dirty="0"/>
          </a:p>
        </p:txBody>
      </p:sp>
    </p:spTree>
    <p:extLst>
      <p:ext uri="{BB962C8B-B14F-4D97-AF65-F5344CB8AC3E}">
        <p14:creationId xmlns:p14="http://schemas.microsoft.com/office/powerpoint/2010/main" val="271728008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FEF34A-AB26-598A-0CFF-1144FEB3F0FF}"/>
              </a:ext>
            </a:extLst>
          </p:cNvPr>
          <p:cNvSpPr>
            <a:spLocks noGrp="1"/>
          </p:cNvSpPr>
          <p:nvPr>
            <p:ph type="title"/>
          </p:nvPr>
        </p:nvSpPr>
        <p:spPr/>
        <p:txBody>
          <a:bodyPr>
            <a:normAutofit/>
          </a:bodyPr>
          <a:lstStyle/>
          <a:p>
            <a:r>
              <a:rPr lang="en-GB" b="1" i="0" dirty="0">
                <a:effectLst/>
                <a:latin typeface="-apple-system"/>
              </a:rPr>
              <a:t>Why not use heuristic search?</a:t>
            </a:r>
            <a:endParaRPr lang="en-US" dirty="0"/>
          </a:p>
        </p:txBody>
      </p:sp>
      <p:sp>
        <p:nvSpPr>
          <p:cNvPr id="5" name="Content Placeholder 4">
            <a:extLst>
              <a:ext uri="{FF2B5EF4-FFF2-40B4-BE49-F238E27FC236}">
                <a16:creationId xmlns:a16="http://schemas.microsoft.com/office/drawing/2014/main" id="{8AA7FCB4-1666-5496-27AA-D59E3DF736B6}"/>
              </a:ext>
            </a:extLst>
          </p:cNvPr>
          <p:cNvSpPr>
            <a:spLocks noGrp="1"/>
          </p:cNvSpPr>
          <p:nvPr>
            <p:ph sz="quarter" idx="13"/>
          </p:nvPr>
        </p:nvSpPr>
        <p:spPr/>
        <p:txBody>
          <a:bodyPr/>
          <a:lstStyle/>
          <a:p>
            <a:pPr algn="l"/>
            <a:r>
              <a:rPr lang="en-GB" b="0" i="0" dirty="0">
                <a:effectLst/>
                <a:latin typeface="-apple-system"/>
              </a:rPr>
              <a:t>Heuristic search methods like random search, simulated annealing and genetic algorithms are easy to understand, easy to implement and have few restrictions on the problems they can be applied to. </a:t>
            </a:r>
            <a:r>
              <a:rPr lang="en-US" altLang="zh-CN" b="1" i="0" dirty="0">
                <a:effectLst/>
                <a:latin typeface="-apple-system"/>
              </a:rPr>
              <a:t>However</a:t>
            </a:r>
            <a:r>
              <a:rPr lang="zh-CN" altLang="en-US" b="0" i="0" dirty="0">
                <a:effectLst/>
                <a:latin typeface="-apple-system"/>
              </a:rPr>
              <a:t> </a:t>
            </a:r>
            <a:r>
              <a:rPr lang="en-US" altLang="zh-CN" b="0" i="0" dirty="0">
                <a:effectLst/>
                <a:latin typeface="-apple-system"/>
              </a:rPr>
              <a:t>…</a:t>
            </a:r>
            <a:endParaRPr lang="en-GB" b="0" i="0" dirty="0">
              <a:effectLst/>
              <a:latin typeface="-apple-system"/>
            </a:endParaRPr>
          </a:p>
          <a:p>
            <a:pPr lvl="1"/>
            <a:r>
              <a:rPr lang="en-GB" b="0" i="0" dirty="0">
                <a:effectLst/>
                <a:latin typeface="-apple-system"/>
              </a:rPr>
              <a:t>They can be very slow; it may take many iterations to approach a minimum and require significant computation to compute each iteration.</a:t>
            </a:r>
          </a:p>
          <a:p>
            <a:pPr lvl="1"/>
            <a:r>
              <a:rPr lang="en-GB" b="0" i="0" dirty="0">
                <a:effectLst/>
                <a:latin typeface="-apple-system"/>
              </a:rPr>
              <a:t>There is no guarantee of convergence, or even of progress. The search can get stuck, or drift slowly over plateaus.</a:t>
            </a:r>
          </a:p>
          <a:p>
            <a:pPr lvl="1"/>
            <a:r>
              <a:rPr lang="en-GB" b="0" i="0" dirty="0">
                <a:effectLst/>
                <a:latin typeface="-apple-system"/>
              </a:rPr>
              <a:t>There are a huge number of </a:t>
            </a:r>
            <a:r>
              <a:rPr lang="en-GB" b="1" i="0" dirty="0">
                <a:effectLst/>
                <a:latin typeface="-apple-system"/>
              </a:rPr>
              <a:t>hyperparameters</a:t>
            </a:r>
            <a:r>
              <a:rPr lang="en-GB" b="0" i="0" dirty="0">
                <a:effectLst/>
                <a:latin typeface="-apple-system"/>
              </a:rPr>
              <a:t> that can be tweaked (temperature schedules, size of population, memory structure, etc.). How should these be chosen? Optimal choice of these parameters becomes an optimisation problem in itself.</a:t>
            </a:r>
          </a:p>
        </p:txBody>
      </p:sp>
    </p:spTree>
    <p:extLst>
      <p:ext uri="{BB962C8B-B14F-4D97-AF65-F5344CB8AC3E}">
        <p14:creationId xmlns:p14="http://schemas.microsoft.com/office/powerpoint/2010/main" val="202480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FEF34A-AB26-598A-0CFF-1144FEB3F0FF}"/>
              </a:ext>
            </a:extLst>
          </p:cNvPr>
          <p:cNvSpPr>
            <a:spLocks noGrp="1"/>
          </p:cNvSpPr>
          <p:nvPr>
            <p:ph type="title"/>
          </p:nvPr>
        </p:nvSpPr>
        <p:spPr/>
        <p:txBody>
          <a:bodyPr>
            <a:normAutofit/>
          </a:bodyPr>
          <a:lstStyle/>
          <a:p>
            <a:r>
              <a:rPr lang="en-GB" b="1" i="0" dirty="0">
                <a:effectLst/>
                <a:latin typeface="-apple-system"/>
              </a:rPr>
              <a:t>Why not use heuristic search?</a:t>
            </a:r>
            <a:endParaRPr lang="en-US" dirty="0"/>
          </a:p>
        </p:txBody>
      </p:sp>
      <p:sp>
        <p:nvSpPr>
          <p:cNvPr id="5" name="Content Placeholder 4">
            <a:extLst>
              <a:ext uri="{FF2B5EF4-FFF2-40B4-BE49-F238E27FC236}">
                <a16:creationId xmlns:a16="http://schemas.microsoft.com/office/drawing/2014/main" id="{8AA7FCB4-1666-5496-27AA-D59E3DF736B6}"/>
              </a:ext>
            </a:extLst>
          </p:cNvPr>
          <p:cNvSpPr>
            <a:spLocks noGrp="1"/>
          </p:cNvSpPr>
          <p:nvPr>
            <p:ph sz="quarter" idx="13"/>
          </p:nvPr>
        </p:nvSpPr>
        <p:spPr>
          <a:xfrm>
            <a:off x="285750" y="1627188"/>
            <a:ext cx="6355682" cy="4606925"/>
          </a:xfrm>
        </p:spPr>
        <p:txBody>
          <a:bodyPr/>
          <a:lstStyle/>
          <a:p>
            <a:pPr algn="l"/>
            <a:r>
              <a:rPr lang="en-GB" b="0" i="0" dirty="0">
                <a:effectLst/>
                <a:latin typeface="-apple-system"/>
              </a:rPr>
              <a:t>For optimisation problems like </a:t>
            </a:r>
            <a:r>
              <a:rPr lang="en-GB" b="1" i="0" dirty="0">
                <a:effectLst/>
                <a:latin typeface="-apple-system"/>
              </a:rPr>
              <a:t>deep neural networks</a:t>
            </a:r>
            <a:r>
              <a:rPr lang="en-GB" b="0" i="0" dirty="0">
                <a:effectLst/>
                <a:latin typeface="-apple-system"/>
              </a:rPr>
              <a:t>, heuristic search is hopelessly inadequate. </a:t>
            </a:r>
            <a:r>
              <a:rPr lang="zh-CN" altLang="en-US" b="0" i="0" dirty="0">
                <a:effectLst/>
                <a:latin typeface="-apple-system"/>
              </a:rPr>
              <a:t> </a:t>
            </a:r>
            <a:r>
              <a:rPr lang="en-US" altLang="zh-CN" b="0" i="0" dirty="0">
                <a:effectLst/>
                <a:latin typeface="-apple-system"/>
              </a:rPr>
              <a:t>--</a:t>
            </a:r>
            <a:r>
              <a:rPr lang="zh-CN" altLang="en-US" b="0" i="0" dirty="0">
                <a:effectLst/>
                <a:latin typeface="-apple-system"/>
              </a:rPr>
              <a:t> </a:t>
            </a:r>
            <a:r>
              <a:rPr lang="en-US" altLang="zh-CN" b="0" i="0" dirty="0">
                <a:effectLst/>
                <a:latin typeface="-apple-system"/>
              </a:rPr>
              <a:t>1000b</a:t>
            </a:r>
            <a:r>
              <a:rPr lang="zh-CN" altLang="en-US" b="0" i="0" dirty="0">
                <a:effectLst/>
                <a:latin typeface="-apple-system"/>
              </a:rPr>
              <a:t> </a:t>
            </a:r>
            <a:r>
              <a:rPr lang="en-US" altLang="zh-CN" b="0" i="0" dirty="0">
                <a:effectLst/>
                <a:latin typeface="-apple-system"/>
              </a:rPr>
              <a:t>parameters</a:t>
            </a:r>
          </a:p>
          <a:p>
            <a:pPr algn="l"/>
            <a:r>
              <a:rPr lang="en-GB" b="0" i="0" dirty="0">
                <a:effectLst/>
                <a:latin typeface="-apple-system"/>
              </a:rPr>
              <a:t>Instead, </a:t>
            </a:r>
            <a:r>
              <a:rPr lang="en-GB" b="1" i="0" dirty="0">
                <a:effectLst/>
                <a:latin typeface="-apple-system"/>
              </a:rPr>
              <a:t>first-order</a:t>
            </a:r>
            <a:r>
              <a:rPr lang="en-GB" b="0" i="0" dirty="0">
                <a:effectLst/>
                <a:latin typeface="-apple-system"/>
              </a:rPr>
              <a:t> optimisation is applied. </a:t>
            </a:r>
          </a:p>
          <a:p>
            <a:pPr algn="l"/>
            <a:r>
              <a:rPr lang="en-GB" b="1" i="0" dirty="0">
                <a:effectLst/>
                <a:latin typeface="-apple-system"/>
              </a:rPr>
              <a:t>First-order algorithms</a:t>
            </a:r>
            <a:r>
              <a:rPr lang="en-GB" b="0" i="0" dirty="0">
                <a:effectLst/>
                <a:latin typeface="-apple-system"/>
              </a:rPr>
              <a:t>, that we will discuss today, can be </a:t>
            </a:r>
            <a:r>
              <a:rPr lang="en-GB" b="0" i="1" dirty="0">
                <a:effectLst/>
                <a:latin typeface="-apple-system"/>
              </a:rPr>
              <a:t>orders of magnitude</a:t>
            </a:r>
            <a:r>
              <a:rPr lang="en-GB" b="0" i="0" dirty="0">
                <a:effectLst/>
                <a:latin typeface="-apple-system"/>
              </a:rPr>
              <a:t> faster than heuristic search.</a:t>
            </a:r>
          </a:p>
        </p:txBody>
      </p:sp>
      <p:pic>
        <p:nvPicPr>
          <p:cNvPr id="1026" name="Picture 2">
            <a:extLst>
              <a:ext uri="{FF2B5EF4-FFF2-40B4-BE49-F238E27FC236}">
                <a16:creationId xmlns:a16="http://schemas.microsoft.com/office/drawing/2014/main" id="{6657E13A-BECC-9EA1-E26C-59A8D0A7D66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59933" y="1828657"/>
            <a:ext cx="5360634" cy="3011476"/>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D5B8AF1C-B2C4-A371-F437-2D1908829FA1}"/>
              </a:ext>
            </a:extLst>
          </p:cNvPr>
          <p:cNvSpPr txBox="1"/>
          <p:nvPr/>
        </p:nvSpPr>
        <p:spPr>
          <a:xfrm>
            <a:off x="6867211" y="4860687"/>
            <a:ext cx="5146078" cy="2308324"/>
          </a:xfrm>
          <a:prstGeom prst="rect">
            <a:avLst/>
          </a:prstGeom>
          <a:noFill/>
        </p:spPr>
        <p:txBody>
          <a:bodyPr wrap="square">
            <a:spAutoFit/>
          </a:bodyPr>
          <a:lstStyle/>
          <a:p>
            <a:pPr algn="l"/>
            <a:r>
              <a:rPr lang="en-GB" b="0" i="0" dirty="0">
                <a:effectLst/>
                <a:latin typeface="-apple-system"/>
              </a:rPr>
              <a:t>Gravity applies a force perpendicular to the plane of the surface. The surface applies a force to the ball along the direction of the </a:t>
            </a:r>
            <a:r>
              <a:rPr lang="en-GB" b="0" i="1" dirty="0">
                <a:effectLst/>
                <a:latin typeface="-apple-system"/>
              </a:rPr>
              <a:t>surface normal</a:t>
            </a:r>
            <a:r>
              <a:rPr lang="en-GB" b="0" i="0" dirty="0">
                <a:effectLst/>
                <a:latin typeface="-apple-system"/>
              </a:rPr>
              <a:t>, the vector that points "straight out" from the surface. This results in a force component in </a:t>
            </a:r>
            <a:r>
              <a:rPr lang="en-GB" b="0" i="1" dirty="0">
                <a:effectLst/>
                <a:latin typeface="-apple-system"/>
              </a:rPr>
              <a:t>the direction of the steepest slope</a:t>
            </a:r>
            <a:r>
              <a:rPr lang="en-GB" b="0" i="0" dirty="0">
                <a:effectLst/>
                <a:latin typeface="-apple-system"/>
              </a:rPr>
              <a:t> of the surface, accelerating the ball in that direction</a:t>
            </a:r>
            <a:br>
              <a:rPr lang="en-GB" dirty="0"/>
            </a:br>
            <a:endParaRPr lang="en-US" dirty="0"/>
          </a:p>
        </p:txBody>
      </p:sp>
    </p:spTree>
    <p:extLst>
      <p:ext uri="{BB962C8B-B14F-4D97-AF65-F5344CB8AC3E}">
        <p14:creationId xmlns:p14="http://schemas.microsoft.com/office/powerpoint/2010/main" val="39208267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7CF387-58BD-39D8-A3DA-FA35EF9A043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EAD7290-6089-B8FD-9B5A-7C858E3E137B}"/>
                  </a:ext>
                </a:extLst>
              </p:cNvPr>
              <p:cNvSpPr>
                <a:spLocks noGrp="1"/>
              </p:cNvSpPr>
              <p:nvPr>
                <p:ph sz="half" idx="1"/>
              </p:nvPr>
            </p:nvSpPr>
            <p:spPr>
              <a:xfrm>
                <a:off x="838200" y="1608667"/>
                <a:ext cx="5181600" cy="4568296"/>
              </a:xfrm>
            </p:spPr>
            <p:txBody>
              <a:bodyPr>
                <a:normAutofit/>
              </a:bodyPr>
              <a:lstStyle/>
              <a:p>
                <a:r>
                  <a:rPr lang="en-US" altLang="zh-CN" dirty="0"/>
                  <a:t>How</a:t>
                </a:r>
                <a:r>
                  <a:rPr lang="zh-CN" altLang="en-US" dirty="0"/>
                  <a:t> </a:t>
                </a:r>
                <a:r>
                  <a:rPr lang="en-US" altLang="zh-CN" dirty="0"/>
                  <a:t>do</a:t>
                </a:r>
                <a:r>
                  <a:rPr lang="zh-CN" altLang="en-US" dirty="0"/>
                  <a:t> </a:t>
                </a:r>
                <a:r>
                  <a:rPr lang="en-US" altLang="zh-CN" dirty="0"/>
                  <a:t>we</a:t>
                </a:r>
                <a:r>
                  <a:rPr lang="zh-CN" altLang="en-US" dirty="0"/>
                  <a:t> </a:t>
                </a:r>
                <a:r>
                  <a:rPr lang="en-US" altLang="zh-CN" dirty="0"/>
                  <a:t>find</a:t>
                </a:r>
                <a:r>
                  <a:rPr lang="zh-CN" altLang="en-US" dirty="0"/>
                  <a:t> </a:t>
                </a:r>
                <a:r>
                  <a:rPr lang="en-US" altLang="zh-CN" dirty="0"/>
                  <a:t>minimum</a:t>
                </a:r>
                <a:r>
                  <a:rPr lang="zh-CN" altLang="en-US" dirty="0"/>
                  <a:t> </a:t>
                </a:r>
                <a:r>
                  <a:rPr lang="en-US" altLang="zh-CN" dirty="0"/>
                  <a:t>of</a:t>
                </a:r>
                <a:r>
                  <a:rPr lang="zh-CN" altLang="en-US" dirty="0"/>
                  <a:t> </a:t>
                </a:r>
                <a:r>
                  <a:rPr lang="en-US" altLang="zh-CN" dirty="0"/>
                  <a:t>a</a:t>
                </a:r>
                <a:r>
                  <a:rPr lang="zh-CN" altLang="en-US" dirty="0"/>
                  <a:t> </a:t>
                </a:r>
                <a:r>
                  <a:rPr lang="en-US" altLang="zh-CN" dirty="0"/>
                  <a:t>scalar</a:t>
                </a:r>
                <a:r>
                  <a:rPr lang="zh-CN" altLang="en-US" dirty="0"/>
                  <a:t> </a:t>
                </a:r>
                <a:r>
                  <a:rPr lang="en-US" altLang="zh-CN" dirty="0"/>
                  <a:t>function?</a:t>
                </a:r>
              </a:p>
              <a:p>
                <a:pPr marL="0" indent="0">
                  <a:buNone/>
                </a:pPr>
                <a14:m>
                  <m:oMathPara xmlns:m="http://schemas.openxmlformats.org/officeDocument/2006/math">
                    <m:oMathParaPr>
                      <m:jc m:val="centerGroup"/>
                    </m:oMathParaPr>
                    <m:oMath xmlns:m="http://schemas.openxmlformats.org/officeDocument/2006/math">
                      <m:r>
                        <a:rPr lang="en-GB" i="1">
                          <a:latin typeface="Cambria Math" panose="02040503050406030204" pitchFamily="18" charset="0"/>
                        </a:rPr>
                        <m:t>𝑓</m:t>
                      </m:r>
                      <m:d>
                        <m:dPr>
                          <m:ctrlPr>
                            <a:rPr lang="en-GB" i="1">
                              <a:latin typeface="Cambria Math" panose="02040503050406030204" pitchFamily="18" charset="0"/>
                            </a:rPr>
                          </m:ctrlPr>
                        </m:dPr>
                        <m:e>
                          <m:r>
                            <a:rPr lang="en-GB" i="1">
                              <a:latin typeface="Cambria Math" panose="02040503050406030204" pitchFamily="18" charset="0"/>
                            </a:rPr>
                            <m:t>𝑥</m:t>
                          </m:r>
                        </m:e>
                      </m:d>
                      <m:r>
                        <a:rPr lang="en-GB" i="1">
                          <a:latin typeface="Cambria Math" panose="02040503050406030204" pitchFamily="18" charset="0"/>
                        </a:rPr>
                        <m:t>=2</m:t>
                      </m:r>
                      <m:sSup>
                        <m:sSupPr>
                          <m:ctrlPr>
                            <a:rPr lang="en-GB" i="1">
                              <a:latin typeface="Cambria Math" panose="02040503050406030204" pitchFamily="18" charset="0"/>
                            </a:rPr>
                          </m:ctrlPr>
                        </m:sSupPr>
                        <m:e>
                          <m:r>
                            <a:rPr lang="en-GB" i="1">
                              <a:latin typeface="Cambria Math" panose="02040503050406030204" pitchFamily="18" charset="0"/>
                            </a:rPr>
                            <m:t>𝑥</m:t>
                          </m:r>
                        </m:e>
                        <m:sup>
                          <m:r>
                            <a:rPr lang="en-GB" i="1">
                              <a:latin typeface="Cambria Math" panose="02040503050406030204" pitchFamily="18" charset="0"/>
                            </a:rPr>
                            <m:t>2</m:t>
                          </m:r>
                        </m:sup>
                      </m:sSup>
                      <m:r>
                        <a:rPr lang="en-GB" i="1">
                          <a:latin typeface="Cambria Math" panose="02040503050406030204" pitchFamily="18" charset="0"/>
                        </a:rPr>
                        <m:t>+3</m:t>
                      </m:r>
                      <m:r>
                        <a:rPr lang="en-GB" i="1">
                          <a:latin typeface="Cambria Math" panose="02040503050406030204" pitchFamily="18" charset="0"/>
                        </a:rPr>
                        <m:t>𝑥</m:t>
                      </m:r>
                      <m:r>
                        <a:rPr lang="en-GB" i="1">
                          <a:latin typeface="Cambria Math" panose="02040503050406030204" pitchFamily="18" charset="0"/>
                        </a:rPr>
                        <m:t>+1</m:t>
                      </m:r>
                    </m:oMath>
                  </m:oMathPara>
                </a14:m>
                <a:endParaRPr lang="en-US" altLang="zh-CN" dirty="0"/>
              </a:p>
              <a:p>
                <a:r>
                  <a:rPr lang="en-US" dirty="0">
                    <a:effectLst/>
                  </a:rPr>
                  <a:t>We find where the derivative is zero</a:t>
                </a:r>
                <a:r>
                  <a:rPr lang="en-GB" dirty="0"/>
                  <a:t>: </a:t>
                </a:r>
              </a:p>
              <a:p>
                <a:pPr marL="0" indent="0">
                  <a:buNone/>
                </a:pPr>
                <a14:m>
                  <m:oMathPara xmlns:m="http://schemas.openxmlformats.org/officeDocument/2006/math">
                    <m:oMathParaPr>
                      <m:jc m:val="centerGroup"/>
                    </m:oMathParaPr>
                    <m:oMath xmlns:m="http://schemas.openxmlformats.org/officeDocument/2006/math">
                      <m:f>
                        <m:fPr>
                          <m:ctrlPr>
                            <a:rPr lang="en-GB" i="1">
                              <a:latin typeface="Cambria Math" panose="02040503050406030204" pitchFamily="18" charset="0"/>
                            </a:rPr>
                          </m:ctrlPr>
                        </m:fPr>
                        <m:num>
                          <m:r>
                            <a:rPr lang="en-US">
                              <a:latin typeface="Cambria Math" panose="02040503050406030204" pitchFamily="18" charset="0"/>
                            </a:rPr>
                            <m:t>𝜕</m:t>
                          </m:r>
                          <m:r>
                            <a:rPr lang="en-US" i="1">
                              <a:latin typeface="Cambria Math" panose="02040503050406030204" pitchFamily="18" charset="0"/>
                            </a:rPr>
                            <m:t>𝑓</m:t>
                          </m:r>
                          <m:r>
                            <a:rPr lang="en-US">
                              <a:latin typeface="Cambria Math" panose="02040503050406030204" pitchFamily="18" charset="0"/>
                            </a:rPr>
                            <m:t>(</m:t>
                          </m:r>
                          <m:r>
                            <a:rPr lang="en-US" b="1" i="1">
                              <a:latin typeface="Cambria Math" panose="02040503050406030204" pitchFamily="18" charset="0"/>
                            </a:rPr>
                            <m:t>𝐱</m:t>
                          </m:r>
                          <m:r>
                            <a:rPr lang="en-US">
                              <a:latin typeface="Cambria Math" panose="02040503050406030204" pitchFamily="18" charset="0"/>
                            </a:rPr>
                            <m:t>)</m:t>
                          </m:r>
                        </m:num>
                        <m:den>
                          <m:r>
                            <a:rPr lang="en-US">
                              <a:latin typeface="Cambria Math" panose="02040503050406030204" pitchFamily="18" charset="0"/>
                            </a:rPr>
                            <m:t>𝜕</m:t>
                          </m:r>
                          <m:r>
                            <a:rPr lang="en-US" b="1" i="1">
                              <a:latin typeface="Cambria Math" panose="02040503050406030204" pitchFamily="18" charset="0"/>
                            </a:rPr>
                            <m:t>𝐱</m:t>
                          </m:r>
                        </m:den>
                      </m:f>
                      <m:r>
                        <a:rPr lang="en-GB" b="1" i="1">
                          <a:latin typeface="Cambria Math" panose="02040503050406030204" pitchFamily="18" charset="0"/>
                        </a:rPr>
                        <m:t>=</m:t>
                      </m:r>
                      <m:r>
                        <a:rPr lang="en-GB" b="1" i="1">
                          <a:latin typeface="Cambria Math" panose="02040503050406030204" pitchFamily="18" charset="0"/>
                        </a:rPr>
                        <m:t>𝟎</m:t>
                      </m:r>
                    </m:oMath>
                  </m:oMathPara>
                </a14:m>
                <a:endParaRPr lang="en-GB" dirty="0"/>
              </a:p>
              <a:p>
                <a:r>
                  <a:rPr lang="en-GB" dirty="0"/>
                  <a:t>Derivative:</a:t>
                </a:r>
              </a:p>
              <a:p>
                <a:pPr marL="0" indent="0">
                  <a:buNone/>
                </a:pPr>
                <a14:m>
                  <m:oMathPara xmlns:m="http://schemas.openxmlformats.org/officeDocument/2006/math">
                    <m:oMathParaPr>
                      <m:jc m:val="centerGroup"/>
                    </m:oMathParaPr>
                    <m:oMath xmlns:m="http://schemas.openxmlformats.org/officeDocument/2006/math">
                      <m:sSup>
                        <m:sSupPr>
                          <m:ctrlPr>
                            <a:rPr lang="en-GB" b="0" i="1" smtClean="0">
                              <a:latin typeface="Cambria Math" panose="02040503050406030204" pitchFamily="18" charset="0"/>
                            </a:rPr>
                          </m:ctrlPr>
                        </m:sSupPr>
                        <m:e>
                          <m:r>
                            <a:rPr lang="en-GB" i="1">
                              <a:latin typeface="Cambria Math" panose="02040503050406030204" pitchFamily="18" charset="0"/>
                            </a:rPr>
                            <m:t>𝑓</m:t>
                          </m:r>
                        </m:e>
                        <m:sup>
                          <m:r>
                            <a:rPr lang="en-GB" b="0" i="1" smtClean="0">
                              <a:latin typeface="Cambria Math" panose="02040503050406030204" pitchFamily="18" charset="0"/>
                            </a:rPr>
                            <m:t>′</m:t>
                          </m:r>
                          <m:d>
                            <m:dPr>
                              <m:ctrlPr>
                                <a:rPr lang="en-GB" i="1">
                                  <a:latin typeface="Cambria Math" panose="02040503050406030204" pitchFamily="18" charset="0"/>
                                </a:rPr>
                              </m:ctrlPr>
                            </m:dPr>
                            <m:e>
                              <m:r>
                                <a:rPr lang="en-GB" i="1">
                                  <a:latin typeface="Cambria Math" panose="02040503050406030204" pitchFamily="18" charset="0"/>
                                </a:rPr>
                                <m:t>𝑥</m:t>
                              </m:r>
                            </m:e>
                          </m:d>
                        </m:sup>
                      </m:sSup>
                      <m:r>
                        <a:rPr lang="en-GB" i="1">
                          <a:latin typeface="Cambria Math" panose="02040503050406030204" pitchFamily="18" charset="0"/>
                        </a:rPr>
                        <m:t>=</m:t>
                      </m:r>
                      <m:r>
                        <a:rPr lang="en-GB" b="0" i="1" smtClean="0">
                          <a:latin typeface="Cambria Math" panose="02040503050406030204" pitchFamily="18" charset="0"/>
                        </a:rPr>
                        <m:t>4</m:t>
                      </m:r>
                      <m:r>
                        <a:rPr lang="en-GB" b="0" i="1" smtClean="0">
                          <a:latin typeface="Cambria Math" panose="02040503050406030204" pitchFamily="18" charset="0"/>
                        </a:rPr>
                        <m:t>𝑥</m:t>
                      </m:r>
                      <m:r>
                        <a:rPr lang="en-GB" i="1">
                          <a:latin typeface="Cambria Math" panose="02040503050406030204" pitchFamily="18" charset="0"/>
                        </a:rPr>
                        <m:t>+</m:t>
                      </m:r>
                      <m:r>
                        <a:rPr lang="en-GB" b="0" i="1" smtClean="0">
                          <a:latin typeface="Cambria Math" panose="02040503050406030204" pitchFamily="18" charset="0"/>
                        </a:rPr>
                        <m:t>3=0</m:t>
                      </m:r>
                    </m:oMath>
                  </m:oMathPara>
                </a14:m>
                <a:endParaRPr lang="en-GB" dirty="0"/>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𝑥</m:t>
                      </m:r>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3</m:t>
                          </m:r>
                        </m:num>
                        <m:den>
                          <m:r>
                            <a:rPr lang="en-GB" b="0" i="1" smtClean="0">
                              <a:latin typeface="Cambria Math" panose="02040503050406030204" pitchFamily="18" charset="0"/>
                            </a:rPr>
                            <m:t>4</m:t>
                          </m:r>
                        </m:den>
                      </m:f>
                    </m:oMath>
                  </m:oMathPara>
                </a14:m>
                <a:endParaRPr lang="en-US" altLang="zh-CN" dirty="0"/>
              </a:p>
            </p:txBody>
          </p:sp>
        </mc:Choice>
        <mc:Fallback xmlns="">
          <p:sp>
            <p:nvSpPr>
              <p:cNvPr id="3" name="Content Placeholder 2">
                <a:extLst>
                  <a:ext uri="{FF2B5EF4-FFF2-40B4-BE49-F238E27FC236}">
                    <a16:creationId xmlns:a16="http://schemas.microsoft.com/office/drawing/2014/main" id="{9EAD7290-6089-B8FD-9B5A-7C858E3E137B}"/>
                  </a:ext>
                </a:extLst>
              </p:cNvPr>
              <p:cNvSpPr>
                <a:spLocks noGrp="1" noRot="1" noChangeAspect="1" noMove="1" noResize="1" noEditPoints="1" noAdjustHandles="1" noChangeArrowheads="1" noChangeShapeType="1" noTextEdit="1"/>
              </p:cNvSpPr>
              <p:nvPr>
                <p:ph sz="half" idx="1"/>
              </p:nvPr>
            </p:nvSpPr>
            <p:spPr>
              <a:xfrm>
                <a:off x="838200" y="1608667"/>
                <a:ext cx="5181600" cy="4568296"/>
              </a:xfrm>
              <a:blipFill>
                <a:blip r:embed="rId2"/>
                <a:stretch>
                  <a:fillRect l="-1647" t="-1736"/>
                </a:stretch>
              </a:blipFill>
            </p:spPr>
            <p:txBody>
              <a:bodyPr/>
              <a:lstStyle/>
              <a:p>
                <a:r>
                  <a:rPr lang="en-GB">
                    <a:noFill/>
                  </a:rPr>
                  <a:t> </a:t>
                </a:r>
              </a:p>
            </p:txBody>
          </p:sp>
        </mc:Fallback>
      </mc:AlternateContent>
      <p:pic>
        <p:nvPicPr>
          <p:cNvPr id="2050" name="Picture 2" descr="Output image">
            <a:extLst>
              <a:ext uri="{FF2B5EF4-FFF2-40B4-BE49-F238E27FC236}">
                <a16:creationId xmlns:a16="http://schemas.microsoft.com/office/drawing/2014/main" id="{5758CFCF-5BCF-7707-CCF6-48578A6D3C1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tretch>
            <a:fillRect/>
          </a:stretch>
        </p:blipFill>
        <p:spPr bwMode="auto">
          <a:xfrm>
            <a:off x="6172200" y="1820175"/>
            <a:ext cx="5181600" cy="4145279"/>
          </a:xfrm>
          <a:prstGeom prst="rect">
            <a:avLst/>
          </a:prstGeom>
          <a:solidFill>
            <a:srgbClr val="FFFFFF"/>
          </a:solidFill>
        </p:spPr>
      </p:pic>
      <p:sp>
        <p:nvSpPr>
          <p:cNvPr id="2" name="Title 1">
            <a:extLst>
              <a:ext uri="{FF2B5EF4-FFF2-40B4-BE49-F238E27FC236}">
                <a16:creationId xmlns:a16="http://schemas.microsoft.com/office/drawing/2014/main" id="{F94F49A4-7BF7-DE01-EECD-23C708463150}"/>
              </a:ext>
            </a:extLst>
          </p:cNvPr>
          <p:cNvSpPr>
            <a:spLocks noGrp="1"/>
          </p:cNvSpPr>
          <p:nvPr>
            <p:ph type="title"/>
          </p:nvPr>
        </p:nvSpPr>
        <p:spPr>
          <a:xfrm>
            <a:off x="2549236" y="533614"/>
            <a:ext cx="9210963" cy="888786"/>
          </a:xfrm>
        </p:spPr>
        <p:txBody>
          <a:bodyPr anchor="t">
            <a:normAutofit/>
          </a:bodyPr>
          <a:lstStyle/>
          <a:p>
            <a:r>
              <a:rPr lang="en-US" dirty="0"/>
              <a:t>The derivative of a </a:t>
            </a:r>
            <a:r>
              <a:rPr lang="en-US" altLang="zh-CN" dirty="0"/>
              <a:t>scalar</a:t>
            </a:r>
            <a:r>
              <a:rPr lang="zh-CN" altLang="en-US" dirty="0"/>
              <a:t> </a:t>
            </a:r>
            <a:r>
              <a:rPr lang="en-US" dirty="0"/>
              <a:t>function</a:t>
            </a:r>
          </a:p>
        </p:txBody>
      </p:sp>
    </p:spTree>
    <p:extLst>
      <p:ext uri="{BB962C8B-B14F-4D97-AF65-F5344CB8AC3E}">
        <p14:creationId xmlns:p14="http://schemas.microsoft.com/office/powerpoint/2010/main" val="26781641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4E935F18-BE24-4335-EBAB-8702EFA73912}"/>
                  </a:ext>
                </a:extLst>
              </p:cNvPr>
              <p:cNvSpPr>
                <a:spLocks noGrp="1"/>
              </p:cNvSpPr>
              <p:nvPr>
                <p:ph sz="half" idx="1"/>
              </p:nvPr>
            </p:nvSpPr>
            <p:spPr>
              <a:xfrm>
                <a:off x="151254" y="1608667"/>
                <a:ext cx="5868546" cy="4568296"/>
              </a:xfrm>
            </p:spPr>
            <p:txBody>
              <a:bodyPr>
                <a:normAutofit fontScale="92500"/>
              </a:bodyPr>
              <a:lstStyle/>
              <a:p>
                <a:pPr marL="0" indent="0">
                  <a:buNone/>
                </a:pPr>
                <a:r>
                  <a:rPr lang="en-US" altLang="zh-CN" dirty="0"/>
                  <a:t>And</a:t>
                </a:r>
                <a:r>
                  <a:rPr lang="zh-CN" altLang="en-US" dirty="0"/>
                  <a:t> </a:t>
                </a:r>
                <a:r>
                  <a:rPr lang="en-US" altLang="zh-CN" dirty="0"/>
                  <a:t>for</a:t>
                </a:r>
                <a:r>
                  <a:rPr lang="zh-CN" altLang="en-US" dirty="0"/>
                  <a:t> </a:t>
                </a:r>
                <a:r>
                  <a:rPr lang="en-US" altLang="zh-CN" dirty="0"/>
                  <a:t>a</a:t>
                </a:r>
                <a:r>
                  <a:rPr lang="zh-CN" altLang="en-US" dirty="0"/>
                  <a:t> </a:t>
                </a:r>
                <a:r>
                  <a:rPr lang="en-US" altLang="zh-CN" dirty="0"/>
                  <a:t>function</a:t>
                </a:r>
                <a:r>
                  <a:rPr lang="zh-CN" altLang="en-US" dirty="0"/>
                  <a:t> </a:t>
                </a:r>
                <a:r>
                  <a:rPr lang="en-US" altLang="zh-CN" dirty="0"/>
                  <a:t>of</a:t>
                </a:r>
                <a:r>
                  <a:rPr lang="zh-CN" altLang="en-US" dirty="0"/>
                  <a:t> </a:t>
                </a:r>
                <a:r>
                  <a:rPr lang="en-US" altLang="zh-CN" dirty="0"/>
                  <a:t>two</a:t>
                </a:r>
                <a:r>
                  <a:rPr lang="zh-CN" altLang="en-US" dirty="0"/>
                  <a:t> </a:t>
                </a:r>
                <a:r>
                  <a:rPr lang="en-US" altLang="zh-CN" dirty="0"/>
                  <a:t>variables?</a:t>
                </a:r>
              </a:p>
              <a:p>
                <a:pPr marL="0" indent="0">
                  <a:buNone/>
                </a:pPr>
                <a:endParaRPr lang="en-GB" altLang="zh-CN"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en-GB" altLang="zh-CN" b="0" i="1" smtClean="0">
                          <a:latin typeface="Cambria Math" panose="02040503050406030204" pitchFamily="18" charset="0"/>
                        </a:rPr>
                        <m:t>𝑓</m:t>
                      </m:r>
                      <m:d>
                        <m:dPr>
                          <m:ctrlPr>
                            <a:rPr lang="en-GB" altLang="zh-CN" b="0" i="1" smtClean="0">
                              <a:latin typeface="Cambria Math" panose="02040503050406030204" pitchFamily="18" charset="0"/>
                            </a:rPr>
                          </m:ctrlPr>
                        </m:dPr>
                        <m:e>
                          <m:r>
                            <a:rPr lang="en-GB" altLang="zh-CN" b="0" i="1" smtClean="0">
                              <a:latin typeface="Cambria Math" panose="02040503050406030204" pitchFamily="18" charset="0"/>
                            </a:rPr>
                            <m:t>𝑥</m:t>
                          </m:r>
                          <m:r>
                            <a:rPr lang="en-GB" altLang="zh-CN" b="0" i="1" smtClean="0">
                              <a:latin typeface="Cambria Math" panose="02040503050406030204" pitchFamily="18" charset="0"/>
                            </a:rPr>
                            <m:t>,</m:t>
                          </m:r>
                          <m:r>
                            <a:rPr lang="en-GB" altLang="zh-CN" b="0" i="1" smtClean="0">
                              <a:latin typeface="Cambria Math" panose="02040503050406030204" pitchFamily="18" charset="0"/>
                            </a:rPr>
                            <m:t>𝑦</m:t>
                          </m:r>
                        </m:e>
                      </m:d>
                      <m:r>
                        <a:rPr lang="en-GB" altLang="zh-CN" b="0" i="1" smtClean="0">
                          <a:latin typeface="Cambria Math" panose="02040503050406030204" pitchFamily="18" charset="0"/>
                        </a:rPr>
                        <m:t>=2</m:t>
                      </m:r>
                      <m:sSup>
                        <m:sSupPr>
                          <m:ctrlPr>
                            <a:rPr lang="en-GB" altLang="zh-CN" b="0" i="1" smtClean="0">
                              <a:latin typeface="Cambria Math" panose="02040503050406030204" pitchFamily="18" charset="0"/>
                            </a:rPr>
                          </m:ctrlPr>
                        </m:sSupPr>
                        <m:e>
                          <m:r>
                            <a:rPr lang="en-GB" altLang="zh-CN" b="0" i="1" smtClean="0">
                              <a:latin typeface="Cambria Math" panose="02040503050406030204" pitchFamily="18" charset="0"/>
                            </a:rPr>
                            <m:t>𝑥</m:t>
                          </m:r>
                        </m:e>
                        <m:sup>
                          <m:r>
                            <a:rPr lang="en-GB" altLang="zh-CN" b="0" i="1" smtClean="0">
                              <a:latin typeface="Cambria Math" panose="02040503050406030204" pitchFamily="18" charset="0"/>
                            </a:rPr>
                            <m:t>2</m:t>
                          </m:r>
                        </m:sup>
                      </m:sSup>
                      <m:r>
                        <a:rPr lang="en-GB" altLang="zh-CN" b="0" i="1" smtClean="0">
                          <a:latin typeface="Cambria Math" panose="02040503050406030204" pitchFamily="18" charset="0"/>
                        </a:rPr>
                        <m:t>+3</m:t>
                      </m:r>
                      <m:sSup>
                        <m:sSupPr>
                          <m:ctrlPr>
                            <a:rPr lang="en-GB" altLang="zh-CN" b="0" i="1" smtClean="0">
                              <a:latin typeface="Cambria Math" panose="02040503050406030204" pitchFamily="18" charset="0"/>
                            </a:rPr>
                          </m:ctrlPr>
                        </m:sSupPr>
                        <m:e>
                          <m:r>
                            <a:rPr lang="en-GB" altLang="zh-CN" b="0" i="1" smtClean="0">
                              <a:latin typeface="Cambria Math" panose="02040503050406030204" pitchFamily="18" charset="0"/>
                            </a:rPr>
                            <m:t>𝑦</m:t>
                          </m:r>
                        </m:e>
                        <m:sup>
                          <m:r>
                            <a:rPr lang="en-GB" altLang="zh-CN" b="0" i="1" smtClean="0">
                              <a:latin typeface="Cambria Math" panose="02040503050406030204" pitchFamily="18" charset="0"/>
                            </a:rPr>
                            <m:t>2</m:t>
                          </m:r>
                        </m:sup>
                      </m:sSup>
                      <m:r>
                        <a:rPr lang="en-GB" altLang="zh-CN" b="0" i="1" smtClean="0">
                          <a:latin typeface="Cambria Math" panose="02040503050406030204" pitchFamily="18" charset="0"/>
                        </a:rPr>
                        <m:t>+4</m:t>
                      </m:r>
                      <m:r>
                        <a:rPr lang="en-GB" altLang="zh-CN" b="0" i="1" smtClean="0">
                          <a:latin typeface="Cambria Math" panose="02040503050406030204" pitchFamily="18" charset="0"/>
                        </a:rPr>
                        <m:t>𝑥𝑦</m:t>
                      </m:r>
                      <m:r>
                        <a:rPr lang="en-GB" altLang="zh-CN" b="0" i="1" smtClean="0">
                          <a:latin typeface="Cambria Math" panose="02040503050406030204" pitchFamily="18" charset="0"/>
                        </a:rPr>
                        <m:t>+2</m:t>
                      </m:r>
                      <m:r>
                        <a:rPr lang="en-GB" altLang="zh-CN" b="0" i="1" smtClean="0">
                          <a:latin typeface="Cambria Math" panose="02040503050406030204" pitchFamily="18" charset="0"/>
                        </a:rPr>
                        <m:t>𝑥</m:t>
                      </m:r>
                      <m:r>
                        <a:rPr lang="en-GB" altLang="zh-CN" b="0" i="1" smtClean="0">
                          <a:latin typeface="Cambria Math" panose="02040503050406030204" pitchFamily="18" charset="0"/>
                        </a:rPr>
                        <m:t>+3</m:t>
                      </m:r>
                      <m:r>
                        <a:rPr lang="en-GB" altLang="zh-CN" b="0" i="1" smtClean="0">
                          <a:latin typeface="Cambria Math" panose="02040503050406030204" pitchFamily="18" charset="0"/>
                        </a:rPr>
                        <m:t>𝑦</m:t>
                      </m:r>
                      <m:r>
                        <a:rPr lang="en-GB" altLang="zh-CN" b="0" i="1" smtClean="0">
                          <a:latin typeface="Cambria Math" panose="02040503050406030204" pitchFamily="18" charset="0"/>
                        </a:rPr>
                        <m:t>+1</m:t>
                      </m:r>
                    </m:oMath>
                  </m:oMathPara>
                </a14:m>
                <a:endParaRPr lang="en-US" altLang="zh-CN" dirty="0"/>
              </a:p>
              <a:p>
                <a:pPr marL="0" indent="0">
                  <a:buNone/>
                </a:pPr>
                <a:endParaRPr lang="en-US" altLang="zh-CN" dirty="0"/>
              </a:p>
              <a:p>
                <a:pPr marL="0" indent="0">
                  <a:buNone/>
                </a:pPr>
                <a:r>
                  <a:rPr lang="en-US" altLang="zh-CN" dirty="0"/>
                  <a:t>We need to set the derivative of the function to zero </a:t>
                </a:r>
                <a:r>
                  <a:rPr lang="en-US" altLang="zh-CN" i="1" dirty="0"/>
                  <a:t>with respect to each variable: </a:t>
                </a:r>
              </a:p>
              <a:p>
                <a:endParaRPr lang="en-US" altLang="zh-CN" i="1" dirty="0"/>
              </a:p>
              <a:p>
                <a:pPr marL="0" indent="0">
                  <a:buNone/>
                </a:pPr>
                <a14:m>
                  <m:oMathPara xmlns:m="http://schemas.openxmlformats.org/officeDocument/2006/math">
                    <m:oMathParaPr>
                      <m:jc m:val="centerGroup"/>
                    </m:oMathParaPr>
                    <m:oMath xmlns:m="http://schemas.openxmlformats.org/officeDocument/2006/math">
                      <m:f>
                        <m:fPr>
                          <m:ctrlPr>
                            <a:rPr lang="en-GB" i="1" smtClean="0">
                              <a:effectLst/>
                              <a:latin typeface="Cambria Math" panose="02040503050406030204" pitchFamily="18" charset="0"/>
                            </a:rPr>
                          </m:ctrlPr>
                        </m:fPr>
                        <m:num>
                          <m:r>
                            <a:rPr lang="en-US">
                              <a:effectLst/>
                              <a:latin typeface="Cambria Math" panose="02040503050406030204" pitchFamily="18" charset="0"/>
                            </a:rPr>
                            <m:t>𝜕</m:t>
                          </m:r>
                          <m:r>
                            <a:rPr lang="en-US" i="1">
                              <a:effectLst/>
                              <a:latin typeface="Cambria Math" panose="02040503050406030204" pitchFamily="18" charset="0"/>
                            </a:rPr>
                            <m:t>𝑓</m:t>
                          </m:r>
                          <m:r>
                            <a:rPr lang="en-US">
                              <a:effectLst/>
                              <a:latin typeface="Cambria Math" panose="02040503050406030204" pitchFamily="18" charset="0"/>
                            </a:rPr>
                            <m:t>(</m:t>
                          </m:r>
                          <m:r>
                            <a:rPr lang="en-GB" b="0" i="1" smtClean="0">
                              <a:effectLst/>
                              <a:latin typeface="Cambria Math" panose="02040503050406030204" pitchFamily="18" charset="0"/>
                            </a:rPr>
                            <m:t>𝑥</m:t>
                          </m:r>
                          <m:r>
                            <a:rPr lang="en-US">
                              <a:effectLst/>
                              <a:latin typeface="Cambria Math" panose="02040503050406030204" pitchFamily="18" charset="0"/>
                            </a:rPr>
                            <m:t>)</m:t>
                          </m:r>
                        </m:num>
                        <m:den>
                          <m:r>
                            <a:rPr lang="en-US">
                              <a:effectLst/>
                              <a:latin typeface="Cambria Math" panose="02040503050406030204" pitchFamily="18" charset="0"/>
                            </a:rPr>
                            <m:t>𝜕</m:t>
                          </m:r>
                          <m:r>
                            <a:rPr lang="en-US" altLang="zh-CN" b="0" i="1" smtClean="0">
                              <a:effectLst/>
                              <a:latin typeface="Cambria Math" panose="02040503050406030204" pitchFamily="18" charset="0"/>
                            </a:rPr>
                            <m:t>𝑥</m:t>
                          </m:r>
                        </m:den>
                      </m:f>
                      <m:r>
                        <a:rPr lang="en-US" altLang="zh-CN" b="1" i="1" smtClean="0">
                          <a:effectLst/>
                          <a:latin typeface="Cambria Math" panose="02040503050406030204" pitchFamily="18" charset="0"/>
                        </a:rPr>
                        <m:t>=</m:t>
                      </m:r>
                      <m:r>
                        <a:rPr lang="en-GB" altLang="zh-CN" b="0" i="1" smtClean="0">
                          <a:effectLst/>
                          <a:latin typeface="Cambria Math" panose="02040503050406030204" pitchFamily="18" charset="0"/>
                        </a:rPr>
                        <m:t>4</m:t>
                      </m:r>
                      <m:r>
                        <a:rPr lang="en-GB" altLang="zh-CN" b="0" i="1" smtClean="0">
                          <a:effectLst/>
                          <a:latin typeface="Cambria Math" panose="02040503050406030204" pitchFamily="18" charset="0"/>
                        </a:rPr>
                        <m:t>𝑥</m:t>
                      </m:r>
                      <m:r>
                        <a:rPr lang="en-GB" altLang="zh-CN" b="0" i="1" smtClean="0">
                          <a:effectLst/>
                          <a:latin typeface="Cambria Math" panose="02040503050406030204" pitchFamily="18" charset="0"/>
                        </a:rPr>
                        <m:t>+4</m:t>
                      </m:r>
                      <m:r>
                        <a:rPr lang="en-GB" altLang="zh-CN" b="0" i="1" smtClean="0">
                          <a:effectLst/>
                          <a:latin typeface="Cambria Math" panose="02040503050406030204" pitchFamily="18" charset="0"/>
                        </a:rPr>
                        <m:t>𝑦</m:t>
                      </m:r>
                      <m:r>
                        <a:rPr lang="en-GB" altLang="zh-CN" b="0" i="1" smtClean="0">
                          <a:effectLst/>
                          <a:latin typeface="Cambria Math" panose="02040503050406030204" pitchFamily="18" charset="0"/>
                        </a:rPr>
                        <m:t>+2=0</m:t>
                      </m:r>
                    </m:oMath>
                  </m:oMathPara>
                </a14:m>
                <a:endParaRPr lang="en-GB" dirty="0"/>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f>
                        <m:fPr>
                          <m:ctrlPr>
                            <a:rPr lang="en-GB" i="1">
                              <a:latin typeface="Cambria Math" panose="02040503050406030204" pitchFamily="18" charset="0"/>
                            </a:rPr>
                          </m:ctrlPr>
                        </m:fPr>
                        <m:num>
                          <m:r>
                            <a:rPr lang="en-US">
                              <a:latin typeface="Cambria Math" panose="02040503050406030204" pitchFamily="18" charset="0"/>
                            </a:rPr>
                            <m:t>𝜕</m:t>
                          </m:r>
                          <m:r>
                            <a:rPr lang="en-US" i="1">
                              <a:latin typeface="Cambria Math" panose="02040503050406030204" pitchFamily="18" charset="0"/>
                            </a:rPr>
                            <m:t>𝑓</m:t>
                          </m:r>
                          <m:r>
                            <a:rPr lang="en-US">
                              <a:latin typeface="Cambria Math" panose="02040503050406030204" pitchFamily="18" charset="0"/>
                            </a:rPr>
                            <m:t>(</m:t>
                          </m:r>
                          <m:r>
                            <a:rPr lang="en-US" altLang="zh-CN" i="1" smtClean="0">
                              <a:latin typeface="Cambria Math" panose="02040503050406030204" pitchFamily="18" charset="0"/>
                            </a:rPr>
                            <m:t>𝑦</m:t>
                          </m:r>
                          <m:r>
                            <a:rPr lang="en-US">
                              <a:latin typeface="Cambria Math" panose="02040503050406030204" pitchFamily="18" charset="0"/>
                            </a:rPr>
                            <m:t>)</m:t>
                          </m:r>
                        </m:num>
                        <m:den>
                          <m:r>
                            <a:rPr lang="en-US">
                              <a:latin typeface="Cambria Math" panose="02040503050406030204" pitchFamily="18" charset="0"/>
                            </a:rPr>
                            <m:t>𝜕</m:t>
                          </m:r>
                          <m:r>
                            <a:rPr lang="en-US" altLang="zh-CN" b="0" i="1" smtClean="0">
                              <a:latin typeface="Cambria Math" panose="02040503050406030204" pitchFamily="18" charset="0"/>
                            </a:rPr>
                            <m:t>𝑦</m:t>
                          </m:r>
                        </m:den>
                      </m:f>
                      <m:r>
                        <a:rPr lang="en-US" altLang="zh-CN" b="1" i="1">
                          <a:latin typeface="Cambria Math" panose="02040503050406030204" pitchFamily="18" charset="0"/>
                        </a:rPr>
                        <m:t>=</m:t>
                      </m:r>
                      <m:r>
                        <a:rPr lang="en-GB" altLang="zh-CN" b="0" i="1" smtClean="0">
                          <a:latin typeface="Cambria Math" panose="02040503050406030204" pitchFamily="18" charset="0"/>
                        </a:rPr>
                        <m:t>6</m:t>
                      </m:r>
                      <m:r>
                        <a:rPr lang="en-GB" altLang="zh-CN" b="0" i="1" smtClean="0">
                          <a:latin typeface="Cambria Math" panose="02040503050406030204" pitchFamily="18" charset="0"/>
                        </a:rPr>
                        <m:t>𝑦</m:t>
                      </m:r>
                      <m:r>
                        <a:rPr lang="en-GB" altLang="zh-CN" b="0" i="1" smtClean="0">
                          <a:latin typeface="Cambria Math" panose="02040503050406030204" pitchFamily="18" charset="0"/>
                        </a:rPr>
                        <m:t>+4</m:t>
                      </m:r>
                      <m:r>
                        <a:rPr lang="en-GB" altLang="zh-CN" b="0" i="1" smtClean="0">
                          <a:latin typeface="Cambria Math" panose="02040503050406030204" pitchFamily="18" charset="0"/>
                        </a:rPr>
                        <m:t>𝑥</m:t>
                      </m:r>
                      <m:r>
                        <a:rPr lang="en-GB" altLang="zh-CN" b="0" i="1" smtClean="0">
                          <a:latin typeface="Cambria Math" panose="02040503050406030204" pitchFamily="18" charset="0"/>
                        </a:rPr>
                        <m:t>+3=0</m:t>
                      </m:r>
                    </m:oMath>
                  </m:oMathPara>
                </a14:m>
                <a:endParaRPr lang="en-US" dirty="0"/>
              </a:p>
            </p:txBody>
          </p:sp>
        </mc:Choice>
        <mc:Fallback xmlns="">
          <p:sp>
            <p:nvSpPr>
              <p:cNvPr id="5" name="Content Placeholder 4">
                <a:extLst>
                  <a:ext uri="{FF2B5EF4-FFF2-40B4-BE49-F238E27FC236}">
                    <a16:creationId xmlns:a16="http://schemas.microsoft.com/office/drawing/2014/main" id="{4E935F18-BE24-4335-EBAB-8702EFA73912}"/>
                  </a:ext>
                </a:extLst>
              </p:cNvPr>
              <p:cNvSpPr>
                <a:spLocks noGrp="1" noRot="1" noChangeAspect="1" noMove="1" noResize="1" noEditPoints="1" noAdjustHandles="1" noChangeArrowheads="1" noChangeShapeType="1" noTextEdit="1"/>
              </p:cNvSpPr>
              <p:nvPr>
                <p:ph sz="half" idx="1"/>
              </p:nvPr>
            </p:nvSpPr>
            <p:spPr>
              <a:xfrm>
                <a:off x="151254" y="1608667"/>
                <a:ext cx="5868546" cy="4568296"/>
              </a:xfrm>
              <a:blipFill>
                <a:blip r:embed="rId2"/>
                <a:stretch>
                  <a:fillRect l="-1350" t="-1602"/>
                </a:stretch>
              </a:blipFill>
            </p:spPr>
            <p:txBody>
              <a:bodyPr/>
              <a:lstStyle/>
              <a:p>
                <a:r>
                  <a:rPr lang="en-GB">
                    <a:noFill/>
                  </a:rPr>
                  <a:t> </a:t>
                </a:r>
              </a:p>
            </p:txBody>
          </p:sp>
        </mc:Fallback>
      </mc:AlternateContent>
      <p:pic>
        <p:nvPicPr>
          <p:cNvPr id="2052" name="Picture 4" descr="Output image">
            <a:extLst>
              <a:ext uri="{FF2B5EF4-FFF2-40B4-BE49-F238E27FC236}">
                <a16:creationId xmlns:a16="http://schemas.microsoft.com/office/drawing/2014/main" id="{0F5B6D74-BDD6-DBB4-9AB5-9D7517E71222}"/>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t="7682"/>
          <a:stretch>
            <a:fillRect/>
          </a:stretch>
        </p:blipFill>
        <p:spPr bwMode="auto">
          <a:xfrm>
            <a:off x="6172200" y="1608667"/>
            <a:ext cx="5181600" cy="4568296"/>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722EC220-9D38-2DF1-2D4D-5048A556F09D}"/>
              </a:ext>
            </a:extLst>
          </p:cNvPr>
          <p:cNvSpPr>
            <a:spLocks noGrp="1"/>
          </p:cNvSpPr>
          <p:nvPr>
            <p:ph type="title"/>
          </p:nvPr>
        </p:nvSpPr>
        <p:spPr>
          <a:xfrm>
            <a:off x="2549236" y="533614"/>
            <a:ext cx="9210963" cy="888786"/>
          </a:xfrm>
        </p:spPr>
        <p:txBody>
          <a:bodyPr anchor="t">
            <a:normAutofit/>
          </a:bodyPr>
          <a:lstStyle/>
          <a:p>
            <a:r>
              <a:rPr lang="en-US" dirty="0"/>
              <a:t>The derivative of a </a:t>
            </a:r>
            <a:r>
              <a:rPr lang="en-US" altLang="zh-CN" dirty="0"/>
              <a:t>scalar</a:t>
            </a:r>
            <a:r>
              <a:rPr lang="zh-CN" altLang="en-US" dirty="0"/>
              <a:t> </a:t>
            </a:r>
            <a:r>
              <a:rPr lang="en-US" dirty="0"/>
              <a:t>function</a:t>
            </a:r>
          </a:p>
        </p:txBody>
      </p:sp>
    </p:spTree>
    <p:extLst>
      <p:ext uri="{BB962C8B-B14F-4D97-AF65-F5344CB8AC3E}">
        <p14:creationId xmlns:p14="http://schemas.microsoft.com/office/powerpoint/2010/main" val="227545566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ADCC41D-297E-8637-0AA8-AC762C49FA44}"/>
                  </a:ext>
                </a:extLst>
              </p:cNvPr>
              <p:cNvSpPr>
                <a:spLocks noGrp="1"/>
              </p:cNvSpPr>
              <p:nvPr>
                <p:ph sz="half" idx="1"/>
              </p:nvPr>
            </p:nvSpPr>
            <p:spPr>
              <a:xfrm>
                <a:off x="838200" y="1608667"/>
                <a:ext cx="5181600" cy="4568296"/>
              </a:xfrm>
            </p:spPr>
            <p:txBody>
              <a:bodyPr>
                <a:normAutofit/>
              </a:bodyPr>
              <a:lstStyle/>
              <a:p>
                <a:pPr marL="0" indent="0">
                  <a:buNone/>
                </a:pPr>
                <a:r>
                  <a:rPr lang="en-GB" b="0" i="0" dirty="0">
                    <a:effectLst/>
                  </a:rPr>
                  <a:t>The derivative of a</a:t>
                </a:r>
                <a:r>
                  <a:rPr lang="zh-CN" altLang="en-US" b="0" i="0" dirty="0">
                    <a:effectLst/>
                  </a:rPr>
                  <a:t> </a:t>
                </a:r>
                <a:r>
                  <a:rPr lang="en-US" altLang="zh-CN" b="1" i="0" dirty="0">
                    <a:effectLst/>
                  </a:rPr>
                  <a:t>scalar</a:t>
                </a:r>
                <a:r>
                  <a:rPr lang="en-GB" b="0" i="0" dirty="0">
                    <a:effectLst/>
                  </a:rPr>
                  <a:t> function </a:t>
                </a:r>
                <a14:m>
                  <m:oMath xmlns:m="http://schemas.openxmlformats.org/officeDocument/2006/math">
                    <m:r>
                      <a:rPr lang="en-US" i="1" smtClean="0">
                        <a:effectLst/>
                        <a:latin typeface="Cambria Math" panose="02040503050406030204" pitchFamily="18" charset="0"/>
                      </a:rPr>
                      <m:t>𝑓</m:t>
                    </m:r>
                    <m:r>
                      <a:rPr lang="en-US" altLang="zh-CN" b="0" i="1" smtClean="0">
                        <a:effectLst/>
                        <a:latin typeface="Cambria Math" panose="02040503050406030204" pitchFamily="18" charset="0"/>
                      </a:rPr>
                      <m:t>(</m:t>
                    </m:r>
                    <m:r>
                      <a:rPr lang="en-US" altLang="zh-CN" b="1" i="0" smtClean="0">
                        <a:effectLst/>
                        <a:latin typeface="Cambria Math" panose="02040503050406030204" pitchFamily="18" charset="0"/>
                      </a:rPr>
                      <m:t>𝐱</m:t>
                    </m:r>
                    <m:r>
                      <a:rPr lang="en-US" altLang="zh-CN" b="0" i="1" smtClean="0">
                        <a:effectLst/>
                        <a:latin typeface="Cambria Math" panose="02040503050406030204" pitchFamily="18" charset="0"/>
                      </a:rPr>
                      <m:t>)</m:t>
                    </m:r>
                    <m:r>
                      <a:rPr lang="en-US">
                        <a:effectLst/>
                        <a:latin typeface="Cambria Math" panose="02040503050406030204" pitchFamily="18" charset="0"/>
                      </a:rPr>
                      <m:t>:</m:t>
                    </m:r>
                    <m:sSup>
                      <m:sSupPr>
                        <m:ctrlPr>
                          <a:rPr lang="en-GB" i="1">
                            <a:effectLst/>
                            <a:latin typeface="Cambria Math" panose="02040503050406030204" pitchFamily="18" charset="0"/>
                          </a:rPr>
                        </m:ctrlPr>
                      </m:sSupPr>
                      <m:e>
                        <m:r>
                          <a:rPr lang="en-US" i="1">
                            <a:effectLst/>
                            <a:latin typeface="Cambria Math" panose="02040503050406030204" pitchFamily="18" charset="0"/>
                          </a:rPr>
                          <m:t>ℝ</m:t>
                        </m:r>
                      </m:e>
                      <m:sup>
                        <m:r>
                          <a:rPr lang="en-US" i="1">
                            <a:effectLst/>
                            <a:latin typeface="Cambria Math" panose="02040503050406030204" pitchFamily="18" charset="0"/>
                          </a:rPr>
                          <m:t>𝑁</m:t>
                        </m:r>
                      </m:sup>
                    </m:sSup>
                    <m:r>
                      <a:rPr lang="en-US">
                        <a:effectLst/>
                        <a:latin typeface="Cambria Math" panose="02040503050406030204" pitchFamily="18" charset="0"/>
                      </a:rPr>
                      <m:t>→</m:t>
                    </m:r>
                    <m:r>
                      <a:rPr lang="en-US" i="1">
                        <a:effectLst/>
                        <a:latin typeface="Cambria Math" panose="02040503050406030204" pitchFamily="18" charset="0"/>
                      </a:rPr>
                      <m:t>ℝ</m:t>
                    </m:r>
                  </m:oMath>
                </a14:m>
                <a:r>
                  <a:rPr lang="en-US" dirty="0">
                    <a:effectLst/>
                  </a:rPr>
                  <a:t> with respect to vector </a:t>
                </a:r>
                <a14:m>
                  <m:oMath xmlns:m="http://schemas.openxmlformats.org/officeDocument/2006/math">
                    <m:r>
                      <a:rPr lang="en-US" b="1" i="1">
                        <a:effectLst/>
                        <a:latin typeface="Cambria Math" panose="02040503050406030204" pitchFamily="18" charset="0"/>
                      </a:rPr>
                      <m:t>𝐱</m:t>
                    </m:r>
                    <m:r>
                      <a:rPr lang="en-US">
                        <a:effectLst/>
                        <a:latin typeface="Cambria Math" panose="02040503050406030204" pitchFamily="18" charset="0"/>
                      </a:rPr>
                      <m:t>∈</m:t>
                    </m:r>
                    <m:sSup>
                      <m:sSupPr>
                        <m:ctrlPr>
                          <a:rPr lang="en-GB" i="1">
                            <a:effectLst/>
                            <a:latin typeface="Cambria Math" panose="02040503050406030204" pitchFamily="18" charset="0"/>
                          </a:rPr>
                        </m:ctrlPr>
                      </m:sSupPr>
                      <m:e>
                        <m:r>
                          <a:rPr lang="en-US" i="1">
                            <a:effectLst/>
                            <a:latin typeface="Cambria Math" panose="02040503050406030204" pitchFamily="18" charset="0"/>
                          </a:rPr>
                          <m:t>ℝ</m:t>
                        </m:r>
                      </m:e>
                      <m:sup>
                        <m:r>
                          <a:rPr lang="en-US" i="1">
                            <a:effectLst/>
                            <a:latin typeface="Cambria Math" panose="02040503050406030204" pitchFamily="18" charset="0"/>
                          </a:rPr>
                          <m:t>𝑁</m:t>
                        </m:r>
                      </m:sup>
                    </m:sSup>
                  </m:oMath>
                </a14:m>
                <a:endParaRPr lang="en-GB" dirty="0">
                  <a:effectLst/>
                </a:endParaRPr>
              </a:p>
              <a:p>
                <a:pPr marL="0" indent="0">
                  <a:buNone/>
                </a:pPr>
                <a:endParaRPr lang="en-GB" i="1" dirty="0">
                  <a:effectLst/>
                </a:endParaRPr>
              </a:p>
              <a:p>
                <a:pPr marL="0" indent="0">
                  <a:buNone/>
                </a:pPr>
                <a14:m>
                  <m:oMathPara xmlns:m="http://schemas.openxmlformats.org/officeDocument/2006/math">
                    <m:oMathParaPr>
                      <m:jc m:val="center"/>
                    </m:oMathParaPr>
                    <m:oMath xmlns:m="http://schemas.openxmlformats.org/officeDocument/2006/math">
                      <m:f>
                        <m:fPr>
                          <m:ctrlPr>
                            <a:rPr lang="en-GB" i="1" smtClean="0">
                              <a:effectLst/>
                              <a:latin typeface="Cambria Math" panose="02040503050406030204" pitchFamily="18" charset="0"/>
                            </a:rPr>
                          </m:ctrlPr>
                        </m:fPr>
                        <m:num>
                          <m:r>
                            <a:rPr lang="en-US">
                              <a:effectLst/>
                              <a:latin typeface="Cambria Math" panose="02040503050406030204" pitchFamily="18" charset="0"/>
                            </a:rPr>
                            <m:t>𝜕</m:t>
                          </m:r>
                          <m:r>
                            <a:rPr lang="en-US" i="1">
                              <a:effectLst/>
                              <a:latin typeface="Cambria Math" panose="02040503050406030204" pitchFamily="18" charset="0"/>
                            </a:rPr>
                            <m:t>𝑓</m:t>
                          </m:r>
                          <m:r>
                            <a:rPr lang="en-US">
                              <a:effectLst/>
                              <a:latin typeface="Cambria Math" panose="02040503050406030204" pitchFamily="18" charset="0"/>
                            </a:rPr>
                            <m:t>(</m:t>
                          </m:r>
                          <m:r>
                            <a:rPr lang="en-US" b="1" i="1">
                              <a:effectLst/>
                              <a:latin typeface="Cambria Math" panose="02040503050406030204" pitchFamily="18" charset="0"/>
                            </a:rPr>
                            <m:t>𝐱</m:t>
                          </m:r>
                          <m:r>
                            <a:rPr lang="en-US">
                              <a:effectLst/>
                              <a:latin typeface="Cambria Math" panose="02040503050406030204" pitchFamily="18" charset="0"/>
                            </a:rPr>
                            <m:t>)</m:t>
                          </m:r>
                        </m:num>
                        <m:den>
                          <m:r>
                            <a:rPr lang="en-US">
                              <a:effectLst/>
                              <a:latin typeface="Cambria Math" panose="02040503050406030204" pitchFamily="18" charset="0"/>
                            </a:rPr>
                            <m:t>𝜕</m:t>
                          </m:r>
                          <m:r>
                            <a:rPr lang="en-US" b="1" i="1">
                              <a:effectLst/>
                              <a:latin typeface="Cambria Math" panose="02040503050406030204" pitchFamily="18" charset="0"/>
                            </a:rPr>
                            <m:t>𝐱</m:t>
                          </m:r>
                        </m:den>
                      </m:f>
                      <m:r>
                        <a:rPr lang="en-US">
                          <a:effectLst/>
                          <a:latin typeface="Cambria Math" panose="02040503050406030204" pitchFamily="18" charset="0"/>
                        </a:rPr>
                        <m:t>≜</m:t>
                      </m:r>
                      <m:d>
                        <m:dPr>
                          <m:begChr m:val="["/>
                          <m:endChr m:val="]"/>
                          <m:ctrlPr>
                            <a:rPr lang="en-GB" i="1">
                              <a:effectLst/>
                              <a:latin typeface="Cambria Math" panose="02040503050406030204" pitchFamily="18" charset="0"/>
                            </a:rPr>
                          </m:ctrlPr>
                        </m:dPr>
                        <m:e>
                          <m:m>
                            <m:mPr>
                              <m:plcHide m:val="on"/>
                              <m:mcs>
                                <m:mc>
                                  <m:mcPr>
                                    <m:count m:val="1"/>
                                    <m:mcJc m:val="center"/>
                                  </m:mcPr>
                                </m:mc>
                              </m:mcs>
                              <m:ctrlPr>
                                <a:rPr lang="en-GB" i="1">
                                  <a:effectLst/>
                                  <a:latin typeface="Cambria Math" panose="02040503050406030204" pitchFamily="18" charset="0"/>
                                </a:rPr>
                              </m:ctrlPr>
                            </m:mPr>
                            <m:mr>
                              <m:e>
                                <m:f>
                                  <m:fPr>
                                    <m:ctrlPr>
                                      <a:rPr lang="en-GB" i="1">
                                        <a:effectLst/>
                                        <a:latin typeface="Cambria Math" panose="02040503050406030204" pitchFamily="18" charset="0"/>
                                      </a:rPr>
                                    </m:ctrlPr>
                                  </m:fPr>
                                  <m:num>
                                    <m:r>
                                      <a:rPr lang="en-US">
                                        <a:effectLst/>
                                        <a:latin typeface="Cambria Math" panose="02040503050406030204" pitchFamily="18" charset="0"/>
                                      </a:rPr>
                                      <m:t>𝜕</m:t>
                                    </m:r>
                                    <m:r>
                                      <a:rPr lang="en-US" i="1">
                                        <a:effectLst/>
                                        <a:latin typeface="Cambria Math" panose="02040503050406030204" pitchFamily="18" charset="0"/>
                                      </a:rPr>
                                      <m:t>𝑓</m:t>
                                    </m:r>
                                    <m:r>
                                      <a:rPr lang="en-US">
                                        <a:effectLst/>
                                        <a:latin typeface="Cambria Math" panose="02040503050406030204" pitchFamily="18" charset="0"/>
                                      </a:rPr>
                                      <m:t>(</m:t>
                                    </m:r>
                                    <m:r>
                                      <a:rPr lang="en-US" b="1" i="0" smtClean="0">
                                        <a:effectLst/>
                                        <a:latin typeface="Cambria Math" panose="02040503050406030204" pitchFamily="18" charset="0"/>
                                      </a:rPr>
                                      <m:t>𝐱</m:t>
                                    </m:r>
                                    <m:r>
                                      <a:rPr lang="en-US">
                                        <a:effectLst/>
                                        <a:latin typeface="Cambria Math" panose="02040503050406030204" pitchFamily="18" charset="0"/>
                                      </a:rPr>
                                      <m:t>)</m:t>
                                    </m:r>
                                  </m:num>
                                  <m:den>
                                    <m:r>
                                      <a:rPr lang="en-US">
                                        <a:effectLst/>
                                        <a:latin typeface="Cambria Math" panose="02040503050406030204" pitchFamily="18" charset="0"/>
                                      </a:rPr>
                                      <m:t>𝜕</m:t>
                                    </m:r>
                                    <m:sSub>
                                      <m:sSubPr>
                                        <m:ctrlPr>
                                          <a:rPr lang="en-GB" i="1">
                                            <a:effectLst/>
                                            <a:latin typeface="Cambria Math" panose="02040503050406030204" pitchFamily="18" charset="0"/>
                                          </a:rPr>
                                        </m:ctrlPr>
                                      </m:sSubPr>
                                      <m:e>
                                        <m:r>
                                          <a:rPr lang="en-US" i="1">
                                            <a:effectLst/>
                                            <a:latin typeface="Cambria Math" panose="02040503050406030204" pitchFamily="18" charset="0"/>
                                          </a:rPr>
                                          <m:t>𝑥</m:t>
                                        </m:r>
                                      </m:e>
                                      <m:sub>
                                        <m:r>
                                          <a:rPr lang="en-US">
                                            <a:effectLst/>
                                            <a:latin typeface="Cambria Math" panose="02040503050406030204" pitchFamily="18" charset="0"/>
                                          </a:rPr>
                                          <m:t>1</m:t>
                                        </m:r>
                                      </m:sub>
                                    </m:sSub>
                                  </m:den>
                                </m:f>
                              </m:e>
                            </m:mr>
                            <m:mr>
                              <m:e>
                                <m:f>
                                  <m:fPr>
                                    <m:ctrlPr>
                                      <a:rPr lang="en-GB" i="1">
                                        <a:effectLst/>
                                        <a:latin typeface="Cambria Math" panose="02040503050406030204" pitchFamily="18" charset="0"/>
                                      </a:rPr>
                                    </m:ctrlPr>
                                  </m:fPr>
                                  <m:num>
                                    <m:r>
                                      <a:rPr lang="en-US">
                                        <a:effectLst/>
                                        <a:latin typeface="Cambria Math" panose="02040503050406030204" pitchFamily="18" charset="0"/>
                                      </a:rPr>
                                      <m:t>𝜕</m:t>
                                    </m:r>
                                    <m:r>
                                      <a:rPr lang="en-US" i="1">
                                        <a:effectLst/>
                                        <a:latin typeface="Cambria Math" panose="02040503050406030204" pitchFamily="18" charset="0"/>
                                      </a:rPr>
                                      <m:t>𝑓</m:t>
                                    </m:r>
                                    <m:r>
                                      <a:rPr lang="en-US">
                                        <a:effectLst/>
                                        <a:latin typeface="Cambria Math" panose="02040503050406030204" pitchFamily="18" charset="0"/>
                                      </a:rPr>
                                      <m:t>(</m:t>
                                    </m:r>
                                    <m:r>
                                      <a:rPr lang="en-US" b="1" i="1">
                                        <a:effectLst/>
                                        <a:latin typeface="Cambria Math" panose="02040503050406030204" pitchFamily="18" charset="0"/>
                                      </a:rPr>
                                      <m:t>𝐱</m:t>
                                    </m:r>
                                    <m:r>
                                      <a:rPr lang="en-US">
                                        <a:effectLst/>
                                        <a:latin typeface="Cambria Math" panose="02040503050406030204" pitchFamily="18" charset="0"/>
                                      </a:rPr>
                                      <m:t>)</m:t>
                                    </m:r>
                                  </m:num>
                                  <m:den>
                                    <m:r>
                                      <a:rPr lang="en-US">
                                        <a:effectLst/>
                                        <a:latin typeface="Cambria Math" panose="02040503050406030204" pitchFamily="18" charset="0"/>
                                      </a:rPr>
                                      <m:t>𝜕</m:t>
                                    </m:r>
                                    <m:sSub>
                                      <m:sSubPr>
                                        <m:ctrlPr>
                                          <a:rPr lang="en-GB" i="1">
                                            <a:effectLst/>
                                            <a:latin typeface="Cambria Math" panose="02040503050406030204" pitchFamily="18" charset="0"/>
                                          </a:rPr>
                                        </m:ctrlPr>
                                      </m:sSubPr>
                                      <m:e>
                                        <m:r>
                                          <a:rPr lang="en-US" i="1">
                                            <a:effectLst/>
                                            <a:latin typeface="Cambria Math" panose="02040503050406030204" pitchFamily="18" charset="0"/>
                                          </a:rPr>
                                          <m:t>𝑥</m:t>
                                        </m:r>
                                      </m:e>
                                      <m:sub>
                                        <m:r>
                                          <a:rPr lang="en-US">
                                            <a:effectLst/>
                                            <a:latin typeface="Cambria Math" panose="02040503050406030204" pitchFamily="18" charset="0"/>
                                          </a:rPr>
                                          <m:t>2</m:t>
                                        </m:r>
                                      </m:sub>
                                    </m:sSub>
                                  </m:den>
                                </m:f>
                              </m:e>
                            </m:mr>
                            <m:mr>
                              <m:e>
                                <m:r>
                                  <a:rPr lang="en-US">
                                    <a:effectLst/>
                                    <a:latin typeface="Cambria Math" panose="02040503050406030204" pitchFamily="18" charset="0"/>
                                  </a:rPr>
                                  <m:t>⋮</m:t>
                                </m:r>
                              </m:e>
                            </m:mr>
                            <m:mr>
                              <m:e>
                                <m:f>
                                  <m:fPr>
                                    <m:ctrlPr>
                                      <a:rPr lang="en-GB" i="1">
                                        <a:effectLst/>
                                        <a:latin typeface="Cambria Math" panose="02040503050406030204" pitchFamily="18" charset="0"/>
                                      </a:rPr>
                                    </m:ctrlPr>
                                  </m:fPr>
                                  <m:num>
                                    <m:r>
                                      <a:rPr lang="en-US">
                                        <a:effectLst/>
                                        <a:latin typeface="Cambria Math" panose="02040503050406030204" pitchFamily="18" charset="0"/>
                                      </a:rPr>
                                      <m:t>𝜕</m:t>
                                    </m:r>
                                    <m:r>
                                      <a:rPr lang="en-US" i="1">
                                        <a:effectLst/>
                                        <a:latin typeface="Cambria Math" panose="02040503050406030204" pitchFamily="18" charset="0"/>
                                      </a:rPr>
                                      <m:t>𝑓</m:t>
                                    </m:r>
                                    <m:r>
                                      <a:rPr lang="en-US">
                                        <a:effectLst/>
                                        <a:latin typeface="Cambria Math" panose="02040503050406030204" pitchFamily="18" charset="0"/>
                                      </a:rPr>
                                      <m:t>(</m:t>
                                    </m:r>
                                    <m:r>
                                      <a:rPr lang="en-US" b="1" i="1">
                                        <a:effectLst/>
                                        <a:latin typeface="Cambria Math" panose="02040503050406030204" pitchFamily="18" charset="0"/>
                                      </a:rPr>
                                      <m:t>𝐱</m:t>
                                    </m:r>
                                    <m:r>
                                      <a:rPr lang="en-US">
                                        <a:effectLst/>
                                        <a:latin typeface="Cambria Math" panose="02040503050406030204" pitchFamily="18" charset="0"/>
                                      </a:rPr>
                                      <m:t>)</m:t>
                                    </m:r>
                                  </m:num>
                                  <m:den>
                                    <m:r>
                                      <a:rPr lang="en-US">
                                        <a:effectLst/>
                                        <a:latin typeface="Cambria Math" panose="02040503050406030204" pitchFamily="18" charset="0"/>
                                      </a:rPr>
                                      <m:t>𝜕</m:t>
                                    </m:r>
                                    <m:sSub>
                                      <m:sSubPr>
                                        <m:ctrlPr>
                                          <a:rPr lang="en-GB" i="1">
                                            <a:effectLst/>
                                            <a:latin typeface="Cambria Math" panose="02040503050406030204" pitchFamily="18" charset="0"/>
                                          </a:rPr>
                                        </m:ctrlPr>
                                      </m:sSubPr>
                                      <m:e>
                                        <m:r>
                                          <a:rPr lang="en-US" i="1">
                                            <a:effectLst/>
                                            <a:latin typeface="Cambria Math" panose="02040503050406030204" pitchFamily="18" charset="0"/>
                                          </a:rPr>
                                          <m:t>𝑥</m:t>
                                        </m:r>
                                      </m:e>
                                      <m:sub>
                                        <m:r>
                                          <a:rPr lang="en-US" i="1">
                                            <a:effectLst/>
                                            <a:latin typeface="Cambria Math" panose="02040503050406030204" pitchFamily="18" charset="0"/>
                                          </a:rPr>
                                          <m:t>𝑁</m:t>
                                        </m:r>
                                      </m:sub>
                                    </m:sSub>
                                  </m:den>
                                </m:f>
                              </m:e>
                            </m:mr>
                          </m:m>
                        </m:e>
                      </m:d>
                    </m:oMath>
                  </m:oMathPara>
                </a14:m>
                <a:endParaRPr lang="en-GB" dirty="0">
                  <a:effectLst/>
                </a:endParaRPr>
              </a:p>
              <a:p>
                <a:endParaRPr lang="en-US" dirty="0"/>
              </a:p>
            </p:txBody>
          </p:sp>
        </mc:Choice>
        <mc:Fallback xmlns="">
          <p:sp>
            <p:nvSpPr>
              <p:cNvPr id="3" name="Content Placeholder 2">
                <a:extLst>
                  <a:ext uri="{FF2B5EF4-FFF2-40B4-BE49-F238E27FC236}">
                    <a16:creationId xmlns:a16="http://schemas.microsoft.com/office/drawing/2014/main" id="{AADCC41D-297E-8637-0AA8-AC762C49FA44}"/>
                  </a:ext>
                </a:extLst>
              </p:cNvPr>
              <p:cNvSpPr>
                <a:spLocks noGrp="1" noRot="1" noChangeAspect="1" noMove="1" noResize="1" noEditPoints="1" noAdjustHandles="1" noChangeArrowheads="1" noChangeShapeType="1" noTextEdit="1"/>
              </p:cNvSpPr>
              <p:nvPr>
                <p:ph sz="half" idx="1"/>
              </p:nvPr>
            </p:nvSpPr>
            <p:spPr>
              <a:xfrm>
                <a:off x="838200" y="1608667"/>
                <a:ext cx="5181600" cy="4568296"/>
              </a:xfrm>
              <a:blipFill>
                <a:blip r:embed="rId2"/>
                <a:stretch>
                  <a:fillRect l="-1882" t="-1736"/>
                </a:stretch>
              </a:blipFill>
            </p:spPr>
            <p:txBody>
              <a:bodyPr/>
              <a:lstStyle/>
              <a:p>
                <a:r>
                  <a:rPr lang="en-GB">
                    <a:noFill/>
                  </a:rPr>
                  <a:t> </a:t>
                </a:r>
              </a:p>
            </p:txBody>
          </p:sp>
        </mc:Fallback>
      </mc:AlternateContent>
      <p:pic>
        <p:nvPicPr>
          <p:cNvPr id="9" name="Picture 8" descr="A close-up of a blue and green object&#10;&#10;AI-generated content may be incorrect.">
            <a:extLst>
              <a:ext uri="{FF2B5EF4-FFF2-40B4-BE49-F238E27FC236}">
                <a16:creationId xmlns:a16="http://schemas.microsoft.com/office/drawing/2014/main" id="{75C9D47D-FF1B-0135-50DE-519D1522E4EB}"/>
              </a:ext>
            </a:extLst>
          </p:cNvPr>
          <p:cNvPicPr>
            <a:picLocks noChangeAspect="1"/>
          </p:cNvPicPr>
          <p:nvPr/>
        </p:nvPicPr>
        <p:blipFill>
          <a:blip r:embed="rId3">
            <a:extLst>
              <a:ext uri="{28A0092B-C50C-407E-A947-70E740481C1C}">
                <a14:useLocalDpi xmlns:a14="http://schemas.microsoft.com/office/drawing/2010/main" val="0"/>
              </a:ext>
            </a:extLst>
          </a:blip>
          <a:srcRect l="11155" r="51131"/>
          <a:stretch>
            <a:fillRect/>
          </a:stretch>
        </p:blipFill>
        <p:spPr>
          <a:xfrm>
            <a:off x="6172200" y="1608667"/>
            <a:ext cx="5181600" cy="4568296"/>
          </a:xfrm>
          <a:prstGeom prst="rect">
            <a:avLst/>
          </a:prstGeom>
          <a:noFill/>
        </p:spPr>
      </p:pic>
      <p:sp>
        <p:nvSpPr>
          <p:cNvPr id="2" name="Title 1">
            <a:extLst>
              <a:ext uri="{FF2B5EF4-FFF2-40B4-BE49-F238E27FC236}">
                <a16:creationId xmlns:a16="http://schemas.microsoft.com/office/drawing/2014/main" id="{722EC220-9D38-2DF1-2D4D-5048A556F09D}"/>
              </a:ext>
            </a:extLst>
          </p:cNvPr>
          <p:cNvSpPr>
            <a:spLocks noGrp="1"/>
          </p:cNvSpPr>
          <p:nvPr>
            <p:ph type="title"/>
          </p:nvPr>
        </p:nvSpPr>
        <p:spPr>
          <a:xfrm>
            <a:off x="2549236" y="533614"/>
            <a:ext cx="9210963" cy="888786"/>
          </a:xfrm>
        </p:spPr>
        <p:txBody>
          <a:bodyPr anchor="t">
            <a:normAutofit/>
          </a:bodyPr>
          <a:lstStyle/>
          <a:p>
            <a:r>
              <a:rPr lang="en-US" dirty="0"/>
              <a:t>The derivative of a </a:t>
            </a:r>
            <a:r>
              <a:rPr lang="en-US" altLang="zh-CN" dirty="0"/>
              <a:t>scalar</a:t>
            </a:r>
            <a:r>
              <a:rPr lang="zh-CN" altLang="en-US" dirty="0"/>
              <a:t> </a:t>
            </a:r>
            <a:r>
              <a:rPr lang="en-US" dirty="0"/>
              <a:t>function</a:t>
            </a:r>
          </a:p>
        </p:txBody>
      </p:sp>
    </p:spTree>
    <p:extLst>
      <p:ext uri="{BB962C8B-B14F-4D97-AF65-F5344CB8AC3E}">
        <p14:creationId xmlns:p14="http://schemas.microsoft.com/office/powerpoint/2010/main" val="7087595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8C4BBC-1095-9D92-79E2-4A9038A2D24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3FA24CC9-605B-16EF-A7B0-1172E15AA561}"/>
                  </a:ext>
                </a:extLst>
              </p:cNvPr>
              <p:cNvSpPr>
                <a:spLocks noGrp="1"/>
              </p:cNvSpPr>
              <p:nvPr>
                <p:ph sz="half" idx="1"/>
              </p:nvPr>
            </p:nvSpPr>
            <p:spPr>
              <a:xfrm>
                <a:off x="838200" y="1608667"/>
                <a:ext cx="5181600" cy="4568296"/>
              </a:xfrm>
            </p:spPr>
            <p:txBody>
              <a:bodyPr>
                <a:normAutofit/>
              </a:bodyPr>
              <a:lstStyle/>
              <a:p>
                <a:r>
                  <a:rPr lang="en-US">
                    <a:effectLst/>
                  </a:rPr>
                  <a:t>Derivative of a </a:t>
                </a:r>
                <a:r>
                  <a:rPr lang="en-US" b="1">
                    <a:effectLst/>
                  </a:rPr>
                  <a:t>vector</a:t>
                </a:r>
                <a:r>
                  <a:rPr lang="en-US">
                    <a:effectLst/>
                  </a:rPr>
                  <a:t> function </a:t>
                </a:r>
                <a14:m>
                  <m:oMath xmlns:m="http://schemas.openxmlformats.org/officeDocument/2006/math">
                    <m:r>
                      <a:rPr lang="en-US" b="1" i="1">
                        <a:effectLst/>
                        <a:latin typeface="Cambria Math" panose="02040503050406030204" pitchFamily="18" charset="0"/>
                      </a:rPr>
                      <m:t>𝒇</m:t>
                    </m:r>
                    <m:d>
                      <m:dPr>
                        <m:ctrlPr>
                          <a:rPr lang="en-US" altLang="zh-CN" b="0" i="1" smtClean="0">
                            <a:effectLst/>
                            <a:latin typeface="Cambria Math" panose="02040503050406030204" pitchFamily="18" charset="0"/>
                          </a:rPr>
                        </m:ctrlPr>
                      </m:dPr>
                      <m:e>
                        <m:r>
                          <a:rPr lang="en-US" altLang="zh-CN" b="1" i="1" smtClean="0">
                            <a:effectLst/>
                            <a:latin typeface="Cambria Math" panose="02040503050406030204" pitchFamily="18" charset="0"/>
                          </a:rPr>
                          <m:t>𝒙</m:t>
                        </m:r>
                      </m:e>
                    </m:d>
                    <m:r>
                      <a:rPr lang="en-US">
                        <a:effectLst/>
                        <a:latin typeface="Cambria Math" panose="02040503050406030204" pitchFamily="18" charset="0"/>
                      </a:rPr>
                      <m:t>:</m:t>
                    </m:r>
                    <m:sSup>
                      <m:sSupPr>
                        <m:ctrlPr>
                          <a:rPr lang="en-GB" i="1">
                            <a:effectLst/>
                            <a:latin typeface="Cambria Math" panose="02040503050406030204" pitchFamily="18" charset="0"/>
                          </a:rPr>
                        </m:ctrlPr>
                      </m:sSupPr>
                      <m:e>
                        <m:r>
                          <a:rPr lang="en-US" i="1">
                            <a:effectLst/>
                            <a:latin typeface="Cambria Math" panose="02040503050406030204" pitchFamily="18" charset="0"/>
                          </a:rPr>
                          <m:t>ℝ</m:t>
                        </m:r>
                      </m:e>
                      <m:sup>
                        <m:r>
                          <a:rPr lang="en-US" i="1">
                            <a:effectLst/>
                            <a:latin typeface="Cambria Math" panose="02040503050406030204" pitchFamily="18" charset="0"/>
                          </a:rPr>
                          <m:t>𝑁</m:t>
                        </m:r>
                      </m:sup>
                    </m:sSup>
                    <m:r>
                      <a:rPr lang="en-US">
                        <a:effectLst/>
                        <a:latin typeface="Cambria Math" panose="02040503050406030204" pitchFamily="18" charset="0"/>
                      </a:rPr>
                      <m:t>→</m:t>
                    </m:r>
                    <m:sSup>
                      <m:sSupPr>
                        <m:ctrlPr>
                          <a:rPr lang="en-GB" i="1">
                            <a:effectLst/>
                            <a:latin typeface="Cambria Math" panose="02040503050406030204" pitchFamily="18" charset="0"/>
                          </a:rPr>
                        </m:ctrlPr>
                      </m:sSupPr>
                      <m:e>
                        <m:r>
                          <a:rPr lang="en-US" i="1">
                            <a:effectLst/>
                            <a:latin typeface="Cambria Math" panose="02040503050406030204" pitchFamily="18" charset="0"/>
                          </a:rPr>
                          <m:t>ℝ</m:t>
                        </m:r>
                      </m:e>
                      <m:sup>
                        <m:r>
                          <a:rPr lang="en-US" i="1">
                            <a:effectLst/>
                            <a:latin typeface="Cambria Math" panose="02040503050406030204" pitchFamily="18" charset="0"/>
                          </a:rPr>
                          <m:t>𝑀</m:t>
                        </m:r>
                      </m:sup>
                    </m:sSup>
                  </m:oMath>
                </a14:m>
                <a:r>
                  <a:rPr lang="en-US">
                    <a:effectLst/>
                  </a:rPr>
                  <a:t> with respect to vector </a:t>
                </a:r>
                <a14:m>
                  <m:oMath xmlns:m="http://schemas.openxmlformats.org/officeDocument/2006/math">
                    <m:r>
                      <a:rPr lang="en-US" b="1" i="1">
                        <a:effectLst/>
                        <a:latin typeface="Cambria Math" panose="02040503050406030204" pitchFamily="18" charset="0"/>
                      </a:rPr>
                      <m:t>𝐱</m:t>
                    </m:r>
                    <m:r>
                      <a:rPr lang="en-US">
                        <a:effectLst/>
                        <a:latin typeface="Cambria Math" panose="02040503050406030204" pitchFamily="18" charset="0"/>
                      </a:rPr>
                      <m:t>∈</m:t>
                    </m:r>
                    <m:sSup>
                      <m:sSupPr>
                        <m:ctrlPr>
                          <a:rPr lang="en-GB" i="1">
                            <a:effectLst/>
                            <a:latin typeface="Cambria Math" panose="02040503050406030204" pitchFamily="18" charset="0"/>
                          </a:rPr>
                        </m:ctrlPr>
                      </m:sSupPr>
                      <m:e>
                        <m:r>
                          <a:rPr lang="en-US" i="1">
                            <a:effectLst/>
                            <a:latin typeface="Cambria Math" panose="02040503050406030204" pitchFamily="18" charset="0"/>
                          </a:rPr>
                          <m:t>ℝ</m:t>
                        </m:r>
                      </m:e>
                      <m:sup>
                        <m:r>
                          <a:rPr lang="en-US" i="1">
                            <a:effectLst/>
                            <a:latin typeface="Cambria Math" panose="02040503050406030204" pitchFamily="18" charset="0"/>
                          </a:rPr>
                          <m:t>𝑁</m:t>
                        </m:r>
                      </m:sup>
                    </m:sSup>
                  </m:oMath>
                </a14:m>
                <a:r>
                  <a:rPr lang="en-US">
                    <a:effectLst/>
                  </a:rPr>
                  <a:t>.</a:t>
                </a:r>
                <a:endParaRPr lang="en-GB">
                  <a:effectLst/>
                </a:endParaRPr>
              </a:p>
              <a:p>
                <a:endParaRPr lang="en-US"/>
              </a:p>
            </p:txBody>
          </p:sp>
        </mc:Choice>
        <mc:Fallback xmlns="">
          <p:sp>
            <p:nvSpPr>
              <p:cNvPr id="4" name="Content Placeholder 3">
                <a:extLst>
                  <a:ext uri="{FF2B5EF4-FFF2-40B4-BE49-F238E27FC236}">
                    <a16:creationId xmlns:a16="http://schemas.microsoft.com/office/drawing/2014/main" id="{3FA24CC9-605B-16EF-A7B0-1172E15AA561}"/>
                  </a:ext>
                </a:extLst>
              </p:cNvPr>
              <p:cNvSpPr>
                <a:spLocks noGrp="1" noRot="1" noChangeAspect="1" noMove="1" noResize="1" noEditPoints="1" noAdjustHandles="1" noChangeArrowheads="1" noChangeShapeType="1" noTextEdit="1"/>
              </p:cNvSpPr>
              <p:nvPr>
                <p:ph sz="half" idx="1"/>
              </p:nvPr>
            </p:nvSpPr>
            <p:spPr>
              <a:xfrm>
                <a:off x="838200" y="1608667"/>
                <a:ext cx="5181600" cy="4568296"/>
              </a:xfrm>
              <a:blipFill>
                <a:blip r:embed="rId2"/>
                <a:stretch>
                  <a:fillRect l="-1647" t="-1736"/>
                </a:stretch>
              </a:blipFill>
            </p:spPr>
            <p:txBody>
              <a:bodyPr/>
              <a:lstStyle/>
              <a:p>
                <a:r>
                  <a:rPr lang="en-GB">
                    <a:noFill/>
                  </a:rPr>
                  <a:t> </a:t>
                </a:r>
              </a:p>
            </p:txBody>
          </p:sp>
        </mc:Fallback>
      </mc:AlternateContent>
      <p:pic>
        <p:nvPicPr>
          <p:cNvPr id="8" name="Picture 7" descr="A close-up of a blue and green object&#10;&#10;AI-generated content may be incorrect.">
            <a:extLst>
              <a:ext uri="{FF2B5EF4-FFF2-40B4-BE49-F238E27FC236}">
                <a16:creationId xmlns:a16="http://schemas.microsoft.com/office/drawing/2014/main" id="{3B64B2E9-A64E-8A9B-F608-9C86B2E8A046}"/>
              </a:ext>
            </a:extLst>
          </p:cNvPr>
          <p:cNvPicPr>
            <a:picLocks noChangeAspect="1"/>
          </p:cNvPicPr>
          <p:nvPr/>
        </p:nvPicPr>
        <p:blipFill>
          <a:blip r:embed="rId3">
            <a:extLst>
              <a:ext uri="{28A0092B-C50C-407E-A947-70E740481C1C}">
                <a14:useLocalDpi xmlns:a14="http://schemas.microsoft.com/office/drawing/2010/main" val="0"/>
              </a:ext>
            </a:extLst>
          </a:blip>
          <a:srcRect l="54843" t="15234" r="11626" b="15244"/>
          <a:stretch>
            <a:fillRect/>
          </a:stretch>
        </p:blipFill>
        <p:spPr>
          <a:xfrm>
            <a:off x="6172200" y="2106733"/>
            <a:ext cx="5181600" cy="3572164"/>
          </a:xfrm>
          <a:prstGeom prst="rect">
            <a:avLst/>
          </a:prstGeom>
          <a:noFill/>
        </p:spPr>
      </p:pic>
      <p:sp>
        <p:nvSpPr>
          <p:cNvPr id="2" name="Title 1">
            <a:extLst>
              <a:ext uri="{FF2B5EF4-FFF2-40B4-BE49-F238E27FC236}">
                <a16:creationId xmlns:a16="http://schemas.microsoft.com/office/drawing/2014/main" id="{2EAB687E-A1B3-320E-09AC-86DA63358BDE}"/>
              </a:ext>
            </a:extLst>
          </p:cNvPr>
          <p:cNvSpPr>
            <a:spLocks noGrp="1"/>
          </p:cNvSpPr>
          <p:nvPr>
            <p:ph type="title"/>
          </p:nvPr>
        </p:nvSpPr>
        <p:spPr>
          <a:xfrm>
            <a:off x="2549236" y="533614"/>
            <a:ext cx="9210963" cy="888786"/>
          </a:xfrm>
        </p:spPr>
        <p:txBody>
          <a:bodyPr anchor="t">
            <a:normAutofit/>
          </a:bodyPr>
          <a:lstStyle/>
          <a:p>
            <a:r>
              <a:rPr lang="en-US" dirty="0"/>
              <a:t>The derivative of a </a:t>
            </a:r>
            <a:r>
              <a:rPr lang="en-US" altLang="zh-CN" dirty="0"/>
              <a:t>scalar</a:t>
            </a:r>
            <a:r>
              <a:rPr lang="zh-CN" altLang="en-US" dirty="0"/>
              <a:t> </a:t>
            </a:r>
            <a:r>
              <a:rPr lang="en-US" dirty="0"/>
              <a:t>function</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709C61CF-D949-3A4E-D9B4-E030C06C57DF}"/>
                  </a:ext>
                </a:extLst>
              </p:cNvPr>
              <p:cNvSpPr txBox="1"/>
              <p:nvPr/>
            </p:nvSpPr>
            <p:spPr>
              <a:xfrm>
                <a:off x="-78490" y="3273544"/>
                <a:ext cx="6098290" cy="214315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en-US" i="1" smtClean="0">
                              <a:solidFill>
                                <a:srgbClr val="836967"/>
                              </a:solidFill>
                              <a:latin typeface="Cambria Math" panose="02040503050406030204" pitchFamily="18" charset="0"/>
                            </a:rPr>
                          </m:ctrlPr>
                        </m:fPr>
                        <m:num>
                          <m:r>
                            <a:rPr lang="en-US">
                              <a:latin typeface="Cambria Math" panose="02040503050406030204" pitchFamily="18" charset="0"/>
                            </a:rPr>
                            <m:t>𝜕</m:t>
                          </m:r>
                          <m:r>
                            <a:rPr lang="en-US" b="1" i="1">
                              <a:latin typeface="Cambria Math" panose="02040503050406030204" pitchFamily="18" charset="0"/>
                            </a:rPr>
                            <m:t>𝒇</m:t>
                          </m:r>
                          <m:d>
                            <m:dPr>
                              <m:ctrlPr>
                                <a:rPr lang="en-US" b="1" i="1">
                                  <a:latin typeface="Cambria Math" panose="02040503050406030204" pitchFamily="18" charset="0"/>
                                </a:rPr>
                              </m:ctrlPr>
                            </m:dPr>
                            <m:e>
                              <m:r>
                                <a:rPr lang="en-US" b="1" i="0">
                                  <a:latin typeface="Cambria Math" panose="02040503050406030204" pitchFamily="18" charset="0"/>
                                </a:rPr>
                                <m:t>𝐱</m:t>
                              </m:r>
                            </m:e>
                          </m:d>
                        </m:num>
                        <m:den>
                          <m:r>
                            <a:rPr lang="en-US" b="0" i="0">
                              <a:latin typeface="Cambria Math" panose="02040503050406030204" pitchFamily="18" charset="0"/>
                            </a:rPr>
                            <m:t>𝜕</m:t>
                          </m:r>
                          <m:r>
                            <a:rPr lang="en-US" b="1" i="0">
                              <a:latin typeface="Cambria Math" panose="02040503050406030204" pitchFamily="18" charset="0"/>
                            </a:rPr>
                            <m:t>𝐱</m:t>
                          </m:r>
                        </m:den>
                      </m:f>
                      <m:r>
                        <a:rPr lang="en-US" b="0" i="0">
                          <a:latin typeface="Cambria Math" panose="02040503050406030204" pitchFamily="18" charset="0"/>
                        </a:rPr>
                        <m:t>≜</m:t>
                      </m:r>
                      <m:d>
                        <m:dPr>
                          <m:begChr m:val="["/>
                          <m:endChr m:val="]"/>
                          <m:ctrlPr>
                            <a:rPr lang="en-US" b="0" i="1">
                              <a:solidFill>
                                <a:srgbClr val="836967"/>
                              </a:solidFill>
                              <a:latin typeface="Cambria Math" panose="02040503050406030204" pitchFamily="18" charset="0"/>
                            </a:rPr>
                          </m:ctrlPr>
                        </m:dPr>
                        <m:e>
                          <m:m>
                            <m:mPr>
                              <m:plcHide m:val="on"/>
                              <m:mcs>
                                <m:mc>
                                  <m:mcPr>
                                    <m:count m:val="1"/>
                                    <m:mcJc m:val="center"/>
                                  </m:mcPr>
                                </m:mc>
                              </m:mcs>
                              <m:ctrlPr>
                                <a:rPr lang="en-US" b="0" i="1">
                                  <a:solidFill>
                                    <a:srgbClr val="836967"/>
                                  </a:solidFill>
                                  <a:latin typeface="Cambria Math" panose="02040503050406030204" pitchFamily="18" charset="0"/>
                                </a:rPr>
                              </m:ctrlPr>
                            </m:mPr>
                            <m:mr>
                              <m:e>
                                <m:f>
                                  <m:fPr>
                                    <m:ctrlPr>
                                      <a:rPr lang="en-US" b="0" i="1">
                                        <a:solidFill>
                                          <a:srgbClr val="836967"/>
                                        </a:solidFill>
                                        <a:latin typeface="Cambria Math" panose="02040503050406030204" pitchFamily="18" charset="0"/>
                                      </a:rPr>
                                    </m:ctrlPr>
                                  </m:fPr>
                                  <m:num>
                                    <m:r>
                                      <a:rPr lang="en-US" b="0" i="0">
                                        <a:latin typeface="Cambria Math" panose="02040503050406030204" pitchFamily="18" charset="0"/>
                                      </a:rPr>
                                      <m:t>𝜕</m:t>
                                    </m:r>
                                    <m:r>
                                      <a:rPr lang="en-US" b="1" i="1">
                                        <a:latin typeface="Cambria Math" panose="02040503050406030204" pitchFamily="18" charset="0"/>
                                      </a:rPr>
                                      <m:t>𝒇</m:t>
                                    </m:r>
                                    <m:d>
                                      <m:dPr>
                                        <m:ctrlPr>
                                          <a:rPr lang="en-US" b="1" i="1">
                                            <a:latin typeface="Cambria Math" panose="02040503050406030204" pitchFamily="18" charset="0"/>
                                          </a:rPr>
                                        </m:ctrlPr>
                                      </m:dPr>
                                      <m:e>
                                        <m:r>
                                          <a:rPr lang="en-US" b="1" i="0">
                                            <a:latin typeface="Cambria Math" panose="02040503050406030204" pitchFamily="18" charset="0"/>
                                          </a:rPr>
                                          <m:t>𝐱</m:t>
                                        </m:r>
                                      </m:e>
                                    </m:d>
                                  </m:num>
                                  <m:den>
                                    <m:r>
                                      <a:rPr lang="en-US" b="0" i="0">
                                        <a:latin typeface="Cambria Math" panose="02040503050406030204" pitchFamily="18" charset="0"/>
                                      </a:rPr>
                                      <m:t>𝜕</m:t>
                                    </m:r>
                                    <m:sSub>
                                      <m:sSubPr>
                                        <m:ctrlPr>
                                          <a:rPr lang="en-US" b="0" i="1">
                                            <a:solidFill>
                                              <a:srgbClr val="836967"/>
                                            </a:solidFill>
                                            <a:latin typeface="Cambria Math" panose="02040503050406030204" pitchFamily="18" charset="0"/>
                                          </a:rPr>
                                        </m:ctrlPr>
                                      </m:sSubPr>
                                      <m:e>
                                        <m:r>
                                          <a:rPr lang="en-US" b="0" i="1">
                                            <a:latin typeface="Cambria Math" panose="02040503050406030204" pitchFamily="18" charset="0"/>
                                          </a:rPr>
                                          <m:t>𝑥</m:t>
                                        </m:r>
                                      </m:e>
                                      <m:sub>
                                        <m:r>
                                          <a:rPr lang="en-US" b="0" i="0">
                                            <a:latin typeface="Cambria Math" panose="02040503050406030204" pitchFamily="18" charset="0"/>
                                          </a:rPr>
                                          <m:t>1</m:t>
                                        </m:r>
                                      </m:sub>
                                    </m:sSub>
                                  </m:den>
                                </m:f>
                              </m:e>
                            </m:mr>
                            <m:mr>
                              <m:e>
                                <m:f>
                                  <m:fPr>
                                    <m:ctrlPr>
                                      <a:rPr lang="en-US" b="0" i="1">
                                        <a:solidFill>
                                          <a:srgbClr val="836967"/>
                                        </a:solidFill>
                                        <a:latin typeface="Cambria Math" panose="02040503050406030204" pitchFamily="18" charset="0"/>
                                      </a:rPr>
                                    </m:ctrlPr>
                                  </m:fPr>
                                  <m:num>
                                    <m:r>
                                      <a:rPr lang="en-US" b="0" i="0">
                                        <a:latin typeface="Cambria Math" panose="02040503050406030204" pitchFamily="18" charset="0"/>
                                      </a:rPr>
                                      <m:t>𝜕</m:t>
                                    </m:r>
                                    <m:r>
                                      <a:rPr lang="en-US" b="1" i="1">
                                        <a:latin typeface="Cambria Math" panose="02040503050406030204" pitchFamily="18" charset="0"/>
                                      </a:rPr>
                                      <m:t>𝒇</m:t>
                                    </m:r>
                                    <m:d>
                                      <m:dPr>
                                        <m:ctrlPr>
                                          <a:rPr lang="en-US" b="1" i="1">
                                            <a:latin typeface="Cambria Math" panose="02040503050406030204" pitchFamily="18" charset="0"/>
                                          </a:rPr>
                                        </m:ctrlPr>
                                      </m:dPr>
                                      <m:e>
                                        <m:r>
                                          <a:rPr lang="en-US" b="1" i="0">
                                            <a:latin typeface="Cambria Math" panose="02040503050406030204" pitchFamily="18" charset="0"/>
                                          </a:rPr>
                                          <m:t>𝐱</m:t>
                                        </m:r>
                                      </m:e>
                                    </m:d>
                                  </m:num>
                                  <m:den>
                                    <m:r>
                                      <a:rPr lang="en-US" b="0" i="0">
                                        <a:latin typeface="Cambria Math" panose="02040503050406030204" pitchFamily="18" charset="0"/>
                                      </a:rPr>
                                      <m:t>𝜕</m:t>
                                    </m:r>
                                    <m:sSub>
                                      <m:sSubPr>
                                        <m:ctrlPr>
                                          <a:rPr lang="en-US" b="0" i="1">
                                            <a:solidFill>
                                              <a:srgbClr val="836967"/>
                                            </a:solidFill>
                                            <a:latin typeface="Cambria Math" panose="02040503050406030204" pitchFamily="18" charset="0"/>
                                          </a:rPr>
                                        </m:ctrlPr>
                                      </m:sSubPr>
                                      <m:e>
                                        <m:r>
                                          <a:rPr lang="en-US" b="0" i="1">
                                            <a:latin typeface="Cambria Math" panose="02040503050406030204" pitchFamily="18" charset="0"/>
                                          </a:rPr>
                                          <m:t>𝑥</m:t>
                                        </m:r>
                                      </m:e>
                                      <m:sub>
                                        <m:r>
                                          <a:rPr lang="en-US" b="0" i="0">
                                            <a:latin typeface="Cambria Math" panose="02040503050406030204" pitchFamily="18" charset="0"/>
                                          </a:rPr>
                                          <m:t>2</m:t>
                                        </m:r>
                                      </m:sub>
                                    </m:sSub>
                                  </m:den>
                                </m:f>
                              </m:e>
                            </m:mr>
                            <m:mr>
                              <m:e>
                                <m:r>
                                  <a:rPr lang="en-US" b="0" i="0">
                                    <a:latin typeface="Cambria Math" panose="02040503050406030204" pitchFamily="18" charset="0"/>
                                  </a:rPr>
                                  <m:t>⋮</m:t>
                                </m:r>
                              </m:e>
                            </m:mr>
                            <m:mr>
                              <m:e>
                                <m:f>
                                  <m:fPr>
                                    <m:ctrlPr>
                                      <a:rPr lang="en-US" b="0" i="1">
                                        <a:solidFill>
                                          <a:srgbClr val="836967"/>
                                        </a:solidFill>
                                        <a:latin typeface="Cambria Math" panose="02040503050406030204" pitchFamily="18" charset="0"/>
                                      </a:rPr>
                                    </m:ctrlPr>
                                  </m:fPr>
                                  <m:num>
                                    <m:r>
                                      <a:rPr lang="en-US" b="0" i="0">
                                        <a:latin typeface="Cambria Math" panose="02040503050406030204" pitchFamily="18" charset="0"/>
                                      </a:rPr>
                                      <m:t>𝜕</m:t>
                                    </m:r>
                                    <m:r>
                                      <a:rPr lang="en-US" b="1" i="1">
                                        <a:latin typeface="Cambria Math" panose="02040503050406030204" pitchFamily="18" charset="0"/>
                                      </a:rPr>
                                      <m:t>𝒇</m:t>
                                    </m:r>
                                    <m:d>
                                      <m:dPr>
                                        <m:ctrlPr>
                                          <a:rPr lang="en-US" b="1" i="1">
                                            <a:latin typeface="Cambria Math" panose="02040503050406030204" pitchFamily="18" charset="0"/>
                                          </a:rPr>
                                        </m:ctrlPr>
                                      </m:dPr>
                                      <m:e>
                                        <m:r>
                                          <a:rPr lang="en-US" b="1" i="0">
                                            <a:latin typeface="Cambria Math" panose="02040503050406030204" pitchFamily="18" charset="0"/>
                                          </a:rPr>
                                          <m:t>𝐱</m:t>
                                        </m:r>
                                      </m:e>
                                    </m:d>
                                  </m:num>
                                  <m:den>
                                    <m:r>
                                      <a:rPr lang="en-US" b="0" i="0">
                                        <a:latin typeface="Cambria Math" panose="02040503050406030204" pitchFamily="18" charset="0"/>
                                      </a:rPr>
                                      <m:t>𝜕</m:t>
                                    </m:r>
                                    <m:sSub>
                                      <m:sSubPr>
                                        <m:ctrlPr>
                                          <a:rPr lang="en-US" b="0" i="1">
                                            <a:solidFill>
                                              <a:srgbClr val="836967"/>
                                            </a:solidFill>
                                            <a:latin typeface="Cambria Math" panose="02040503050406030204" pitchFamily="18" charset="0"/>
                                          </a:rPr>
                                        </m:ctrlPr>
                                      </m:sSubPr>
                                      <m:e>
                                        <m:r>
                                          <a:rPr lang="en-US" b="0" i="1">
                                            <a:latin typeface="Cambria Math" panose="02040503050406030204" pitchFamily="18" charset="0"/>
                                          </a:rPr>
                                          <m:t>𝑥</m:t>
                                        </m:r>
                                      </m:e>
                                      <m:sub>
                                        <m:r>
                                          <a:rPr lang="en-US" b="0" i="1">
                                            <a:latin typeface="Cambria Math" panose="02040503050406030204" pitchFamily="18" charset="0"/>
                                          </a:rPr>
                                          <m:t>𝑁</m:t>
                                        </m:r>
                                      </m:sub>
                                    </m:sSub>
                                  </m:den>
                                </m:f>
                              </m:e>
                            </m:mr>
                          </m:m>
                        </m:e>
                      </m:d>
                      <m:r>
                        <a:rPr lang="en-US" b="0" i="0">
                          <a:latin typeface="Cambria Math" panose="02040503050406030204" pitchFamily="18" charset="0"/>
                        </a:rPr>
                        <m:t>=</m:t>
                      </m:r>
                      <m:d>
                        <m:dPr>
                          <m:begChr m:val="["/>
                          <m:endChr m:val="]"/>
                          <m:ctrlPr>
                            <a:rPr lang="en-US" b="0" i="1">
                              <a:solidFill>
                                <a:srgbClr val="836967"/>
                              </a:solidFill>
                              <a:latin typeface="Cambria Math" panose="02040503050406030204" pitchFamily="18" charset="0"/>
                            </a:rPr>
                          </m:ctrlPr>
                        </m:dPr>
                        <m:e>
                          <m:m>
                            <m:mPr>
                              <m:plcHide m:val="on"/>
                              <m:mcs>
                                <m:mc>
                                  <m:mcPr>
                                    <m:count m:val="4"/>
                                    <m:mcJc m:val="center"/>
                                  </m:mcPr>
                                </m:mc>
                              </m:mcs>
                              <m:ctrlPr>
                                <a:rPr lang="en-US" b="0" i="1">
                                  <a:solidFill>
                                    <a:srgbClr val="836967"/>
                                  </a:solidFill>
                                  <a:latin typeface="Cambria Math" panose="02040503050406030204" pitchFamily="18" charset="0"/>
                                </a:rPr>
                              </m:ctrlPr>
                            </m:mPr>
                            <m:mr>
                              <m:e>
                                <m:f>
                                  <m:fPr>
                                    <m:ctrlPr>
                                      <a:rPr lang="en-US" b="0" i="1">
                                        <a:solidFill>
                                          <a:srgbClr val="836967"/>
                                        </a:solidFill>
                                        <a:latin typeface="Cambria Math" panose="02040503050406030204" pitchFamily="18" charset="0"/>
                                      </a:rPr>
                                    </m:ctrlPr>
                                  </m:fPr>
                                  <m:num>
                                    <m:r>
                                      <a:rPr lang="en-US" b="0" i="0">
                                        <a:latin typeface="Cambria Math" panose="02040503050406030204" pitchFamily="18" charset="0"/>
                                      </a:rPr>
                                      <m:t>𝜕</m:t>
                                    </m:r>
                                    <m:sSub>
                                      <m:sSubPr>
                                        <m:ctrlPr>
                                          <a:rPr lang="en-US" b="0" i="1">
                                            <a:solidFill>
                                              <a:srgbClr val="836967"/>
                                            </a:solidFill>
                                            <a:latin typeface="Cambria Math" panose="02040503050406030204" pitchFamily="18" charset="0"/>
                                          </a:rPr>
                                        </m:ctrlPr>
                                      </m:sSubPr>
                                      <m:e>
                                        <m:r>
                                          <a:rPr lang="en-US" b="0" i="1">
                                            <a:latin typeface="Cambria Math" panose="02040503050406030204" pitchFamily="18" charset="0"/>
                                          </a:rPr>
                                          <m:t>𝑓</m:t>
                                        </m:r>
                                      </m:e>
                                      <m:sub>
                                        <m:r>
                                          <a:rPr lang="en-US" b="0" i="0">
                                            <a:latin typeface="Cambria Math" panose="02040503050406030204" pitchFamily="18" charset="0"/>
                                          </a:rPr>
                                          <m:t>1</m:t>
                                        </m:r>
                                      </m:sub>
                                    </m:sSub>
                                    <m:d>
                                      <m:dPr>
                                        <m:ctrlPr>
                                          <a:rPr lang="en-US" b="0" i="1">
                                            <a:latin typeface="Cambria Math" panose="02040503050406030204" pitchFamily="18" charset="0"/>
                                          </a:rPr>
                                        </m:ctrlPr>
                                      </m:dPr>
                                      <m:e>
                                        <m:r>
                                          <a:rPr lang="en-US" b="1" i="0">
                                            <a:latin typeface="Cambria Math" panose="02040503050406030204" pitchFamily="18" charset="0"/>
                                          </a:rPr>
                                          <m:t>𝐱</m:t>
                                        </m:r>
                                      </m:e>
                                    </m:d>
                                  </m:num>
                                  <m:den>
                                    <m:r>
                                      <a:rPr lang="en-US" b="0" i="0">
                                        <a:latin typeface="Cambria Math" panose="02040503050406030204" pitchFamily="18" charset="0"/>
                                      </a:rPr>
                                      <m:t>𝜕</m:t>
                                    </m:r>
                                    <m:sSub>
                                      <m:sSubPr>
                                        <m:ctrlPr>
                                          <a:rPr lang="en-US" b="0" i="1">
                                            <a:solidFill>
                                              <a:srgbClr val="836967"/>
                                            </a:solidFill>
                                            <a:latin typeface="Cambria Math" panose="02040503050406030204" pitchFamily="18" charset="0"/>
                                          </a:rPr>
                                        </m:ctrlPr>
                                      </m:sSubPr>
                                      <m:e>
                                        <m:r>
                                          <a:rPr lang="en-US" b="0" i="1">
                                            <a:latin typeface="Cambria Math" panose="02040503050406030204" pitchFamily="18" charset="0"/>
                                          </a:rPr>
                                          <m:t>𝑥</m:t>
                                        </m:r>
                                      </m:e>
                                      <m:sub>
                                        <m:r>
                                          <a:rPr lang="en-US" b="0" i="0">
                                            <a:latin typeface="Cambria Math" panose="02040503050406030204" pitchFamily="18" charset="0"/>
                                          </a:rPr>
                                          <m:t>1</m:t>
                                        </m:r>
                                      </m:sub>
                                    </m:sSub>
                                  </m:den>
                                </m:f>
                              </m:e>
                              <m:e>
                                <m:f>
                                  <m:fPr>
                                    <m:ctrlPr>
                                      <a:rPr lang="en-US" b="0" i="1">
                                        <a:solidFill>
                                          <a:srgbClr val="836967"/>
                                        </a:solidFill>
                                        <a:latin typeface="Cambria Math" panose="02040503050406030204" pitchFamily="18" charset="0"/>
                                      </a:rPr>
                                    </m:ctrlPr>
                                  </m:fPr>
                                  <m:num>
                                    <m:r>
                                      <a:rPr lang="en-US" b="0" i="0">
                                        <a:latin typeface="Cambria Math" panose="02040503050406030204" pitchFamily="18" charset="0"/>
                                      </a:rPr>
                                      <m:t>𝜕</m:t>
                                    </m:r>
                                    <m:sSub>
                                      <m:sSubPr>
                                        <m:ctrlPr>
                                          <a:rPr lang="en-US" b="0" i="1">
                                            <a:solidFill>
                                              <a:srgbClr val="836967"/>
                                            </a:solidFill>
                                            <a:latin typeface="Cambria Math" panose="02040503050406030204" pitchFamily="18" charset="0"/>
                                          </a:rPr>
                                        </m:ctrlPr>
                                      </m:sSubPr>
                                      <m:e>
                                        <m:r>
                                          <a:rPr lang="en-US" b="0" i="1">
                                            <a:latin typeface="Cambria Math" panose="02040503050406030204" pitchFamily="18" charset="0"/>
                                          </a:rPr>
                                          <m:t>𝑓</m:t>
                                        </m:r>
                                      </m:e>
                                      <m:sub>
                                        <m:r>
                                          <a:rPr lang="en-US" b="0" i="0">
                                            <a:latin typeface="Cambria Math" panose="02040503050406030204" pitchFamily="18" charset="0"/>
                                          </a:rPr>
                                          <m:t>2</m:t>
                                        </m:r>
                                      </m:sub>
                                    </m:sSub>
                                    <m:d>
                                      <m:dPr>
                                        <m:ctrlPr>
                                          <a:rPr lang="en-US" b="0" i="1">
                                            <a:latin typeface="Cambria Math" panose="02040503050406030204" pitchFamily="18" charset="0"/>
                                          </a:rPr>
                                        </m:ctrlPr>
                                      </m:dPr>
                                      <m:e>
                                        <m:r>
                                          <a:rPr lang="en-US" b="1" i="0">
                                            <a:latin typeface="Cambria Math" panose="02040503050406030204" pitchFamily="18" charset="0"/>
                                          </a:rPr>
                                          <m:t>𝐱</m:t>
                                        </m:r>
                                      </m:e>
                                    </m:d>
                                  </m:num>
                                  <m:den>
                                    <m:r>
                                      <a:rPr lang="en-US" b="0" i="0">
                                        <a:latin typeface="Cambria Math" panose="02040503050406030204" pitchFamily="18" charset="0"/>
                                      </a:rPr>
                                      <m:t>𝜕</m:t>
                                    </m:r>
                                    <m:sSub>
                                      <m:sSubPr>
                                        <m:ctrlPr>
                                          <a:rPr lang="en-US" b="0" i="1">
                                            <a:solidFill>
                                              <a:srgbClr val="836967"/>
                                            </a:solidFill>
                                            <a:latin typeface="Cambria Math" panose="02040503050406030204" pitchFamily="18" charset="0"/>
                                          </a:rPr>
                                        </m:ctrlPr>
                                      </m:sSubPr>
                                      <m:e>
                                        <m:r>
                                          <a:rPr lang="en-US" b="0" i="1">
                                            <a:latin typeface="Cambria Math" panose="02040503050406030204" pitchFamily="18" charset="0"/>
                                          </a:rPr>
                                          <m:t>𝑥</m:t>
                                        </m:r>
                                      </m:e>
                                      <m:sub>
                                        <m:r>
                                          <a:rPr lang="en-US" b="0" i="0">
                                            <a:latin typeface="Cambria Math" panose="02040503050406030204" pitchFamily="18" charset="0"/>
                                          </a:rPr>
                                          <m:t>1</m:t>
                                        </m:r>
                                      </m:sub>
                                    </m:sSub>
                                  </m:den>
                                </m:f>
                              </m:e>
                              <m:e>
                                <m:r>
                                  <a:rPr lang="en-US" b="0" i="0">
                                    <a:latin typeface="Cambria Math" panose="02040503050406030204" pitchFamily="18" charset="0"/>
                                  </a:rPr>
                                  <m:t>…</m:t>
                                </m:r>
                              </m:e>
                              <m:e>
                                <m:f>
                                  <m:fPr>
                                    <m:ctrlPr>
                                      <a:rPr lang="en-US" b="0" i="1">
                                        <a:solidFill>
                                          <a:srgbClr val="836967"/>
                                        </a:solidFill>
                                        <a:latin typeface="Cambria Math" panose="02040503050406030204" pitchFamily="18" charset="0"/>
                                      </a:rPr>
                                    </m:ctrlPr>
                                  </m:fPr>
                                  <m:num>
                                    <m:r>
                                      <a:rPr lang="en-US" b="0" i="0">
                                        <a:latin typeface="Cambria Math" panose="02040503050406030204" pitchFamily="18" charset="0"/>
                                      </a:rPr>
                                      <m:t>𝜕</m:t>
                                    </m:r>
                                    <m:sSub>
                                      <m:sSubPr>
                                        <m:ctrlPr>
                                          <a:rPr lang="en-US" b="0" i="1">
                                            <a:solidFill>
                                              <a:srgbClr val="836967"/>
                                            </a:solidFill>
                                            <a:latin typeface="Cambria Math" panose="02040503050406030204" pitchFamily="18" charset="0"/>
                                          </a:rPr>
                                        </m:ctrlPr>
                                      </m:sSubPr>
                                      <m:e>
                                        <m:r>
                                          <a:rPr lang="en-US" b="0" i="1">
                                            <a:latin typeface="Cambria Math" panose="02040503050406030204" pitchFamily="18" charset="0"/>
                                          </a:rPr>
                                          <m:t>𝑓</m:t>
                                        </m:r>
                                      </m:e>
                                      <m:sub>
                                        <m:r>
                                          <a:rPr lang="en-US" b="0" i="1">
                                            <a:latin typeface="Cambria Math" panose="02040503050406030204" pitchFamily="18" charset="0"/>
                                          </a:rPr>
                                          <m:t>𝑀</m:t>
                                        </m:r>
                                      </m:sub>
                                    </m:sSub>
                                    <m:d>
                                      <m:dPr>
                                        <m:ctrlPr>
                                          <a:rPr lang="en-US" b="0" i="1">
                                            <a:latin typeface="Cambria Math" panose="02040503050406030204" pitchFamily="18" charset="0"/>
                                          </a:rPr>
                                        </m:ctrlPr>
                                      </m:dPr>
                                      <m:e>
                                        <m:r>
                                          <a:rPr lang="en-US" b="1" i="0">
                                            <a:latin typeface="Cambria Math" panose="02040503050406030204" pitchFamily="18" charset="0"/>
                                          </a:rPr>
                                          <m:t>𝐱</m:t>
                                        </m:r>
                                      </m:e>
                                    </m:d>
                                  </m:num>
                                  <m:den>
                                    <m:r>
                                      <a:rPr lang="en-US" b="0" i="0">
                                        <a:latin typeface="Cambria Math" panose="02040503050406030204" pitchFamily="18" charset="0"/>
                                      </a:rPr>
                                      <m:t>𝜕</m:t>
                                    </m:r>
                                    <m:sSub>
                                      <m:sSubPr>
                                        <m:ctrlPr>
                                          <a:rPr lang="en-US" b="0" i="1">
                                            <a:solidFill>
                                              <a:srgbClr val="836967"/>
                                            </a:solidFill>
                                            <a:latin typeface="Cambria Math" panose="02040503050406030204" pitchFamily="18" charset="0"/>
                                          </a:rPr>
                                        </m:ctrlPr>
                                      </m:sSubPr>
                                      <m:e>
                                        <m:r>
                                          <a:rPr lang="en-US" b="0" i="1">
                                            <a:latin typeface="Cambria Math" panose="02040503050406030204" pitchFamily="18" charset="0"/>
                                          </a:rPr>
                                          <m:t>𝑥</m:t>
                                        </m:r>
                                      </m:e>
                                      <m:sub>
                                        <m:r>
                                          <a:rPr lang="en-US" b="0" i="0">
                                            <a:latin typeface="Cambria Math" panose="02040503050406030204" pitchFamily="18" charset="0"/>
                                          </a:rPr>
                                          <m:t>1</m:t>
                                        </m:r>
                                      </m:sub>
                                    </m:sSub>
                                  </m:den>
                                </m:f>
                              </m:e>
                            </m:mr>
                            <m:mr>
                              <m:e>
                                <m:f>
                                  <m:fPr>
                                    <m:ctrlPr>
                                      <a:rPr lang="en-US" b="0" i="1">
                                        <a:solidFill>
                                          <a:srgbClr val="836967"/>
                                        </a:solidFill>
                                        <a:latin typeface="Cambria Math" panose="02040503050406030204" pitchFamily="18" charset="0"/>
                                      </a:rPr>
                                    </m:ctrlPr>
                                  </m:fPr>
                                  <m:num>
                                    <m:r>
                                      <a:rPr lang="en-US" b="0" i="0">
                                        <a:latin typeface="Cambria Math" panose="02040503050406030204" pitchFamily="18" charset="0"/>
                                      </a:rPr>
                                      <m:t>𝜕</m:t>
                                    </m:r>
                                    <m:sSub>
                                      <m:sSubPr>
                                        <m:ctrlPr>
                                          <a:rPr lang="en-US" b="0" i="1">
                                            <a:solidFill>
                                              <a:srgbClr val="836967"/>
                                            </a:solidFill>
                                            <a:latin typeface="Cambria Math" panose="02040503050406030204" pitchFamily="18" charset="0"/>
                                          </a:rPr>
                                        </m:ctrlPr>
                                      </m:sSubPr>
                                      <m:e>
                                        <m:r>
                                          <a:rPr lang="en-US" b="0" i="1">
                                            <a:latin typeface="Cambria Math" panose="02040503050406030204" pitchFamily="18" charset="0"/>
                                          </a:rPr>
                                          <m:t>𝑓</m:t>
                                        </m:r>
                                      </m:e>
                                      <m:sub>
                                        <m:r>
                                          <a:rPr lang="en-US" b="0" i="0">
                                            <a:latin typeface="Cambria Math" panose="02040503050406030204" pitchFamily="18" charset="0"/>
                                          </a:rPr>
                                          <m:t>1</m:t>
                                        </m:r>
                                      </m:sub>
                                    </m:sSub>
                                    <m:d>
                                      <m:dPr>
                                        <m:ctrlPr>
                                          <a:rPr lang="en-US" b="0" i="1">
                                            <a:latin typeface="Cambria Math" panose="02040503050406030204" pitchFamily="18" charset="0"/>
                                          </a:rPr>
                                        </m:ctrlPr>
                                      </m:dPr>
                                      <m:e>
                                        <m:r>
                                          <a:rPr lang="en-US" b="1" i="0">
                                            <a:latin typeface="Cambria Math" panose="02040503050406030204" pitchFamily="18" charset="0"/>
                                          </a:rPr>
                                          <m:t>𝐱</m:t>
                                        </m:r>
                                      </m:e>
                                    </m:d>
                                  </m:num>
                                  <m:den>
                                    <m:r>
                                      <a:rPr lang="en-US" b="0" i="0">
                                        <a:latin typeface="Cambria Math" panose="02040503050406030204" pitchFamily="18" charset="0"/>
                                      </a:rPr>
                                      <m:t>𝜕</m:t>
                                    </m:r>
                                    <m:sSub>
                                      <m:sSubPr>
                                        <m:ctrlPr>
                                          <a:rPr lang="en-US" b="0" i="1">
                                            <a:solidFill>
                                              <a:srgbClr val="836967"/>
                                            </a:solidFill>
                                            <a:latin typeface="Cambria Math" panose="02040503050406030204" pitchFamily="18" charset="0"/>
                                          </a:rPr>
                                        </m:ctrlPr>
                                      </m:sSubPr>
                                      <m:e>
                                        <m:r>
                                          <a:rPr lang="en-US" b="0" i="1">
                                            <a:latin typeface="Cambria Math" panose="02040503050406030204" pitchFamily="18" charset="0"/>
                                          </a:rPr>
                                          <m:t>𝑥</m:t>
                                        </m:r>
                                      </m:e>
                                      <m:sub>
                                        <m:r>
                                          <a:rPr lang="en-US" b="0" i="0">
                                            <a:latin typeface="Cambria Math" panose="02040503050406030204" pitchFamily="18" charset="0"/>
                                          </a:rPr>
                                          <m:t>2</m:t>
                                        </m:r>
                                      </m:sub>
                                    </m:sSub>
                                  </m:den>
                                </m:f>
                              </m:e>
                              <m:e>
                                <m:f>
                                  <m:fPr>
                                    <m:ctrlPr>
                                      <a:rPr lang="en-US" b="0" i="1">
                                        <a:solidFill>
                                          <a:srgbClr val="836967"/>
                                        </a:solidFill>
                                        <a:latin typeface="Cambria Math" panose="02040503050406030204" pitchFamily="18" charset="0"/>
                                      </a:rPr>
                                    </m:ctrlPr>
                                  </m:fPr>
                                  <m:num>
                                    <m:r>
                                      <a:rPr lang="en-US" b="0" i="0">
                                        <a:latin typeface="Cambria Math" panose="02040503050406030204" pitchFamily="18" charset="0"/>
                                      </a:rPr>
                                      <m:t>𝜕</m:t>
                                    </m:r>
                                    <m:sSub>
                                      <m:sSubPr>
                                        <m:ctrlPr>
                                          <a:rPr lang="en-US" b="0" i="1">
                                            <a:solidFill>
                                              <a:srgbClr val="836967"/>
                                            </a:solidFill>
                                            <a:latin typeface="Cambria Math" panose="02040503050406030204" pitchFamily="18" charset="0"/>
                                          </a:rPr>
                                        </m:ctrlPr>
                                      </m:sSubPr>
                                      <m:e>
                                        <m:r>
                                          <a:rPr lang="en-US" b="0" i="1">
                                            <a:latin typeface="Cambria Math" panose="02040503050406030204" pitchFamily="18" charset="0"/>
                                          </a:rPr>
                                          <m:t>𝑓</m:t>
                                        </m:r>
                                      </m:e>
                                      <m:sub>
                                        <m:r>
                                          <a:rPr lang="en-US" b="0" i="0">
                                            <a:latin typeface="Cambria Math" panose="02040503050406030204" pitchFamily="18" charset="0"/>
                                          </a:rPr>
                                          <m:t>2</m:t>
                                        </m:r>
                                      </m:sub>
                                    </m:sSub>
                                    <m:d>
                                      <m:dPr>
                                        <m:ctrlPr>
                                          <a:rPr lang="en-US" b="0" i="1">
                                            <a:latin typeface="Cambria Math" panose="02040503050406030204" pitchFamily="18" charset="0"/>
                                          </a:rPr>
                                        </m:ctrlPr>
                                      </m:dPr>
                                      <m:e>
                                        <m:r>
                                          <a:rPr lang="en-US" b="1" i="0">
                                            <a:latin typeface="Cambria Math" panose="02040503050406030204" pitchFamily="18" charset="0"/>
                                          </a:rPr>
                                          <m:t>𝐱</m:t>
                                        </m:r>
                                      </m:e>
                                    </m:d>
                                  </m:num>
                                  <m:den>
                                    <m:r>
                                      <a:rPr lang="en-US" b="0" i="0">
                                        <a:latin typeface="Cambria Math" panose="02040503050406030204" pitchFamily="18" charset="0"/>
                                      </a:rPr>
                                      <m:t>𝜕</m:t>
                                    </m:r>
                                    <m:sSub>
                                      <m:sSubPr>
                                        <m:ctrlPr>
                                          <a:rPr lang="en-US" b="0" i="1">
                                            <a:solidFill>
                                              <a:srgbClr val="836967"/>
                                            </a:solidFill>
                                            <a:latin typeface="Cambria Math" panose="02040503050406030204" pitchFamily="18" charset="0"/>
                                          </a:rPr>
                                        </m:ctrlPr>
                                      </m:sSubPr>
                                      <m:e>
                                        <m:r>
                                          <a:rPr lang="en-US" b="0" i="1">
                                            <a:latin typeface="Cambria Math" panose="02040503050406030204" pitchFamily="18" charset="0"/>
                                          </a:rPr>
                                          <m:t>𝑥</m:t>
                                        </m:r>
                                      </m:e>
                                      <m:sub>
                                        <m:r>
                                          <a:rPr lang="en-US" b="0" i="0">
                                            <a:latin typeface="Cambria Math" panose="02040503050406030204" pitchFamily="18" charset="0"/>
                                          </a:rPr>
                                          <m:t>2</m:t>
                                        </m:r>
                                      </m:sub>
                                    </m:sSub>
                                  </m:den>
                                </m:f>
                              </m:e>
                              <m:e>
                                <m:r>
                                  <a:rPr lang="en-US" b="0" i="0">
                                    <a:latin typeface="Cambria Math" panose="02040503050406030204" pitchFamily="18" charset="0"/>
                                  </a:rPr>
                                  <m:t>…</m:t>
                                </m:r>
                              </m:e>
                              <m:e>
                                <m:f>
                                  <m:fPr>
                                    <m:ctrlPr>
                                      <a:rPr lang="en-US" b="0" i="1">
                                        <a:solidFill>
                                          <a:srgbClr val="836967"/>
                                        </a:solidFill>
                                        <a:latin typeface="Cambria Math" panose="02040503050406030204" pitchFamily="18" charset="0"/>
                                      </a:rPr>
                                    </m:ctrlPr>
                                  </m:fPr>
                                  <m:num>
                                    <m:r>
                                      <a:rPr lang="en-US" b="0" i="0">
                                        <a:latin typeface="Cambria Math" panose="02040503050406030204" pitchFamily="18" charset="0"/>
                                      </a:rPr>
                                      <m:t>𝜕</m:t>
                                    </m:r>
                                    <m:sSub>
                                      <m:sSubPr>
                                        <m:ctrlPr>
                                          <a:rPr lang="en-US" b="0" i="1">
                                            <a:solidFill>
                                              <a:srgbClr val="836967"/>
                                            </a:solidFill>
                                            <a:latin typeface="Cambria Math" panose="02040503050406030204" pitchFamily="18" charset="0"/>
                                          </a:rPr>
                                        </m:ctrlPr>
                                      </m:sSubPr>
                                      <m:e>
                                        <m:r>
                                          <a:rPr lang="en-US" b="0" i="1">
                                            <a:latin typeface="Cambria Math" panose="02040503050406030204" pitchFamily="18" charset="0"/>
                                          </a:rPr>
                                          <m:t>𝑓</m:t>
                                        </m:r>
                                      </m:e>
                                      <m:sub>
                                        <m:r>
                                          <a:rPr lang="en-US" b="0" i="1">
                                            <a:latin typeface="Cambria Math" panose="02040503050406030204" pitchFamily="18" charset="0"/>
                                          </a:rPr>
                                          <m:t>𝑀</m:t>
                                        </m:r>
                                      </m:sub>
                                    </m:sSub>
                                    <m:d>
                                      <m:dPr>
                                        <m:ctrlPr>
                                          <a:rPr lang="en-US" b="0" i="1">
                                            <a:latin typeface="Cambria Math" panose="02040503050406030204" pitchFamily="18" charset="0"/>
                                          </a:rPr>
                                        </m:ctrlPr>
                                      </m:dPr>
                                      <m:e>
                                        <m:r>
                                          <a:rPr lang="en-US" b="1" i="0">
                                            <a:latin typeface="Cambria Math" panose="02040503050406030204" pitchFamily="18" charset="0"/>
                                          </a:rPr>
                                          <m:t>𝐱</m:t>
                                        </m:r>
                                      </m:e>
                                    </m:d>
                                  </m:num>
                                  <m:den>
                                    <m:r>
                                      <a:rPr lang="en-US" b="0" i="0">
                                        <a:latin typeface="Cambria Math" panose="02040503050406030204" pitchFamily="18" charset="0"/>
                                      </a:rPr>
                                      <m:t>𝜕</m:t>
                                    </m:r>
                                    <m:sSub>
                                      <m:sSubPr>
                                        <m:ctrlPr>
                                          <a:rPr lang="en-US" b="0" i="1">
                                            <a:solidFill>
                                              <a:srgbClr val="836967"/>
                                            </a:solidFill>
                                            <a:latin typeface="Cambria Math" panose="02040503050406030204" pitchFamily="18" charset="0"/>
                                          </a:rPr>
                                        </m:ctrlPr>
                                      </m:sSubPr>
                                      <m:e>
                                        <m:r>
                                          <a:rPr lang="en-US" b="0" i="1">
                                            <a:latin typeface="Cambria Math" panose="02040503050406030204" pitchFamily="18" charset="0"/>
                                          </a:rPr>
                                          <m:t>𝑥</m:t>
                                        </m:r>
                                      </m:e>
                                      <m:sub>
                                        <m:r>
                                          <a:rPr lang="en-US" b="0" i="0">
                                            <a:latin typeface="Cambria Math" panose="02040503050406030204" pitchFamily="18" charset="0"/>
                                          </a:rPr>
                                          <m:t>2</m:t>
                                        </m:r>
                                      </m:sub>
                                    </m:sSub>
                                  </m:den>
                                </m:f>
                              </m:e>
                            </m:mr>
                            <m:mr>
                              <m:e>
                                <m:r>
                                  <a:rPr lang="en-US" b="0" i="0">
                                    <a:latin typeface="Cambria Math" panose="02040503050406030204" pitchFamily="18" charset="0"/>
                                  </a:rPr>
                                  <m:t>⋮</m:t>
                                </m:r>
                              </m:e>
                              <m:e>
                                <m:r>
                                  <a:rPr lang="en-US" b="0" i="0">
                                    <a:latin typeface="Cambria Math" panose="02040503050406030204" pitchFamily="18" charset="0"/>
                                  </a:rPr>
                                  <m:t>⋮</m:t>
                                </m:r>
                              </m:e>
                              <m:e>
                                <m:r>
                                  <a:rPr lang="en-US" b="0" i="0">
                                    <a:latin typeface="Cambria Math" panose="02040503050406030204" pitchFamily="18" charset="0"/>
                                  </a:rPr>
                                  <m:t>⋮</m:t>
                                </m:r>
                              </m:e>
                              <m:e>
                                <m:r>
                                  <a:rPr lang="en-US" b="0" i="0">
                                    <a:latin typeface="Cambria Math" panose="02040503050406030204" pitchFamily="18" charset="0"/>
                                  </a:rPr>
                                  <m:t>⋮</m:t>
                                </m:r>
                              </m:e>
                            </m:mr>
                            <m:mr>
                              <m:e>
                                <m:f>
                                  <m:fPr>
                                    <m:ctrlPr>
                                      <a:rPr lang="en-US" b="0" i="1">
                                        <a:solidFill>
                                          <a:srgbClr val="836967"/>
                                        </a:solidFill>
                                        <a:latin typeface="Cambria Math" panose="02040503050406030204" pitchFamily="18" charset="0"/>
                                      </a:rPr>
                                    </m:ctrlPr>
                                  </m:fPr>
                                  <m:num>
                                    <m:r>
                                      <a:rPr lang="en-US" b="0" i="0">
                                        <a:latin typeface="Cambria Math" panose="02040503050406030204" pitchFamily="18" charset="0"/>
                                      </a:rPr>
                                      <m:t>𝜕</m:t>
                                    </m:r>
                                    <m:sSub>
                                      <m:sSubPr>
                                        <m:ctrlPr>
                                          <a:rPr lang="en-US" b="0" i="1">
                                            <a:solidFill>
                                              <a:srgbClr val="836967"/>
                                            </a:solidFill>
                                            <a:latin typeface="Cambria Math" panose="02040503050406030204" pitchFamily="18" charset="0"/>
                                          </a:rPr>
                                        </m:ctrlPr>
                                      </m:sSubPr>
                                      <m:e>
                                        <m:r>
                                          <a:rPr lang="en-US" b="0" i="1">
                                            <a:latin typeface="Cambria Math" panose="02040503050406030204" pitchFamily="18" charset="0"/>
                                          </a:rPr>
                                          <m:t>𝑓</m:t>
                                        </m:r>
                                      </m:e>
                                      <m:sub>
                                        <m:r>
                                          <a:rPr lang="en-US" b="0" i="0">
                                            <a:latin typeface="Cambria Math" panose="02040503050406030204" pitchFamily="18" charset="0"/>
                                          </a:rPr>
                                          <m:t>1</m:t>
                                        </m:r>
                                      </m:sub>
                                    </m:sSub>
                                    <m:d>
                                      <m:dPr>
                                        <m:ctrlPr>
                                          <a:rPr lang="en-US" b="0" i="1">
                                            <a:latin typeface="Cambria Math" panose="02040503050406030204" pitchFamily="18" charset="0"/>
                                          </a:rPr>
                                        </m:ctrlPr>
                                      </m:dPr>
                                      <m:e>
                                        <m:r>
                                          <a:rPr lang="en-US" b="1" i="0">
                                            <a:latin typeface="Cambria Math" panose="02040503050406030204" pitchFamily="18" charset="0"/>
                                          </a:rPr>
                                          <m:t>𝐱</m:t>
                                        </m:r>
                                      </m:e>
                                    </m:d>
                                  </m:num>
                                  <m:den>
                                    <m:r>
                                      <a:rPr lang="en-US" b="0" i="0">
                                        <a:latin typeface="Cambria Math" panose="02040503050406030204" pitchFamily="18" charset="0"/>
                                      </a:rPr>
                                      <m:t>𝜕</m:t>
                                    </m:r>
                                    <m:sSub>
                                      <m:sSubPr>
                                        <m:ctrlPr>
                                          <a:rPr lang="en-US" b="0" i="1">
                                            <a:solidFill>
                                              <a:srgbClr val="836967"/>
                                            </a:solidFill>
                                            <a:latin typeface="Cambria Math" panose="02040503050406030204" pitchFamily="18" charset="0"/>
                                          </a:rPr>
                                        </m:ctrlPr>
                                      </m:sSubPr>
                                      <m:e>
                                        <m:r>
                                          <a:rPr lang="en-US" b="0" i="1">
                                            <a:latin typeface="Cambria Math" panose="02040503050406030204" pitchFamily="18" charset="0"/>
                                          </a:rPr>
                                          <m:t>𝑥</m:t>
                                        </m:r>
                                      </m:e>
                                      <m:sub>
                                        <m:r>
                                          <a:rPr lang="en-US" b="0" i="1">
                                            <a:latin typeface="Cambria Math" panose="02040503050406030204" pitchFamily="18" charset="0"/>
                                          </a:rPr>
                                          <m:t>𝑁</m:t>
                                        </m:r>
                                      </m:sub>
                                    </m:sSub>
                                  </m:den>
                                </m:f>
                              </m:e>
                              <m:e>
                                <m:f>
                                  <m:fPr>
                                    <m:ctrlPr>
                                      <a:rPr lang="en-US" b="0" i="1">
                                        <a:solidFill>
                                          <a:srgbClr val="836967"/>
                                        </a:solidFill>
                                        <a:latin typeface="Cambria Math" panose="02040503050406030204" pitchFamily="18" charset="0"/>
                                      </a:rPr>
                                    </m:ctrlPr>
                                  </m:fPr>
                                  <m:num>
                                    <m:r>
                                      <a:rPr lang="en-US" b="0" i="0">
                                        <a:latin typeface="Cambria Math" panose="02040503050406030204" pitchFamily="18" charset="0"/>
                                      </a:rPr>
                                      <m:t>𝜕</m:t>
                                    </m:r>
                                    <m:sSub>
                                      <m:sSubPr>
                                        <m:ctrlPr>
                                          <a:rPr lang="en-US" b="0" i="1">
                                            <a:solidFill>
                                              <a:srgbClr val="836967"/>
                                            </a:solidFill>
                                            <a:latin typeface="Cambria Math" panose="02040503050406030204" pitchFamily="18" charset="0"/>
                                          </a:rPr>
                                        </m:ctrlPr>
                                      </m:sSubPr>
                                      <m:e>
                                        <m:r>
                                          <a:rPr lang="en-US" b="0" i="1">
                                            <a:latin typeface="Cambria Math" panose="02040503050406030204" pitchFamily="18" charset="0"/>
                                          </a:rPr>
                                          <m:t>𝑓</m:t>
                                        </m:r>
                                      </m:e>
                                      <m:sub>
                                        <m:r>
                                          <a:rPr lang="en-US" b="0" i="0">
                                            <a:latin typeface="Cambria Math" panose="02040503050406030204" pitchFamily="18" charset="0"/>
                                          </a:rPr>
                                          <m:t>2</m:t>
                                        </m:r>
                                      </m:sub>
                                    </m:sSub>
                                    <m:d>
                                      <m:dPr>
                                        <m:ctrlPr>
                                          <a:rPr lang="en-US" b="0" i="1">
                                            <a:latin typeface="Cambria Math" panose="02040503050406030204" pitchFamily="18" charset="0"/>
                                          </a:rPr>
                                        </m:ctrlPr>
                                      </m:dPr>
                                      <m:e>
                                        <m:r>
                                          <a:rPr lang="en-US" b="1" i="0">
                                            <a:latin typeface="Cambria Math" panose="02040503050406030204" pitchFamily="18" charset="0"/>
                                          </a:rPr>
                                          <m:t>𝐱</m:t>
                                        </m:r>
                                      </m:e>
                                    </m:d>
                                  </m:num>
                                  <m:den>
                                    <m:r>
                                      <a:rPr lang="en-US" b="0" i="0">
                                        <a:latin typeface="Cambria Math" panose="02040503050406030204" pitchFamily="18" charset="0"/>
                                      </a:rPr>
                                      <m:t>𝜕</m:t>
                                    </m:r>
                                    <m:sSub>
                                      <m:sSubPr>
                                        <m:ctrlPr>
                                          <a:rPr lang="en-US" b="0" i="1">
                                            <a:solidFill>
                                              <a:srgbClr val="836967"/>
                                            </a:solidFill>
                                            <a:latin typeface="Cambria Math" panose="02040503050406030204" pitchFamily="18" charset="0"/>
                                          </a:rPr>
                                        </m:ctrlPr>
                                      </m:sSubPr>
                                      <m:e>
                                        <m:r>
                                          <a:rPr lang="en-US" b="0" i="1">
                                            <a:latin typeface="Cambria Math" panose="02040503050406030204" pitchFamily="18" charset="0"/>
                                          </a:rPr>
                                          <m:t>𝑥</m:t>
                                        </m:r>
                                      </m:e>
                                      <m:sub>
                                        <m:r>
                                          <a:rPr lang="en-US" b="0" i="1">
                                            <a:latin typeface="Cambria Math" panose="02040503050406030204" pitchFamily="18" charset="0"/>
                                          </a:rPr>
                                          <m:t>𝑁</m:t>
                                        </m:r>
                                      </m:sub>
                                    </m:sSub>
                                  </m:den>
                                </m:f>
                              </m:e>
                              <m:e>
                                <m:r>
                                  <a:rPr lang="en-US" b="0" i="0">
                                    <a:latin typeface="Cambria Math" panose="02040503050406030204" pitchFamily="18" charset="0"/>
                                  </a:rPr>
                                  <m:t>…</m:t>
                                </m:r>
                              </m:e>
                              <m:e>
                                <m:f>
                                  <m:fPr>
                                    <m:ctrlPr>
                                      <a:rPr lang="en-US" b="0" i="1">
                                        <a:solidFill>
                                          <a:srgbClr val="836967"/>
                                        </a:solidFill>
                                        <a:latin typeface="Cambria Math" panose="02040503050406030204" pitchFamily="18" charset="0"/>
                                      </a:rPr>
                                    </m:ctrlPr>
                                  </m:fPr>
                                  <m:num>
                                    <m:r>
                                      <a:rPr lang="en-US" b="0" i="0">
                                        <a:latin typeface="Cambria Math" panose="02040503050406030204" pitchFamily="18" charset="0"/>
                                      </a:rPr>
                                      <m:t>𝜕</m:t>
                                    </m:r>
                                    <m:sSub>
                                      <m:sSubPr>
                                        <m:ctrlPr>
                                          <a:rPr lang="en-US" b="0" i="1">
                                            <a:solidFill>
                                              <a:srgbClr val="836967"/>
                                            </a:solidFill>
                                            <a:latin typeface="Cambria Math" panose="02040503050406030204" pitchFamily="18" charset="0"/>
                                          </a:rPr>
                                        </m:ctrlPr>
                                      </m:sSubPr>
                                      <m:e>
                                        <m:r>
                                          <a:rPr lang="en-US" b="0" i="1">
                                            <a:latin typeface="Cambria Math" panose="02040503050406030204" pitchFamily="18" charset="0"/>
                                          </a:rPr>
                                          <m:t>𝑓</m:t>
                                        </m:r>
                                      </m:e>
                                      <m:sub>
                                        <m:r>
                                          <a:rPr lang="en-US" b="0" i="1">
                                            <a:latin typeface="Cambria Math" panose="02040503050406030204" pitchFamily="18" charset="0"/>
                                          </a:rPr>
                                          <m:t>𝑀</m:t>
                                        </m:r>
                                      </m:sub>
                                    </m:sSub>
                                    <m:d>
                                      <m:dPr>
                                        <m:ctrlPr>
                                          <a:rPr lang="en-US" b="0" i="1">
                                            <a:latin typeface="Cambria Math" panose="02040503050406030204" pitchFamily="18" charset="0"/>
                                          </a:rPr>
                                        </m:ctrlPr>
                                      </m:dPr>
                                      <m:e>
                                        <m:r>
                                          <a:rPr lang="en-US" b="1" i="0">
                                            <a:latin typeface="Cambria Math" panose="02040503050406030204" pitchFamily="18" charset="0"/>
                                          </a:rPr>
                                          <m:t>𝐱</m:t>
                                        </m:r>
                                      </m:e>
                                    </m:d>
                                  </m:num>
                                  <m:den>
                                    <m:r>
                                      <a:rPr lang="en-US" b="0" i="0">
                                        <a:latin typeface="Cambria Math" panose="02040503050406030204" pitchFamily="18" charset="0"/>
                                      </a:rPr>
                                      <m:t>𝜕</m:t>
                                    </m:r>
                                    <m:sSub>
                                      <m:sSubPr>
                                        <m:ctrlPr>
                                          <a:rPr lang="en-US" b="0" i="1">
                                            <a:solidFill>
                                              <a:srgbClr val="836967"/>
                                            </a:solidFill>
                                            <a:latin typeface="Cambria Math" panose="02040503050406030204" pitchFamily="18" charset="0"/>
                                          </a:rPr>
                                        </m:ctrlPr>
                                      </m:sSubPr>
                                      <m:e>
                                        <m:r>
                                          <a:rPr lang="en-US" b="0" i="1">
                                            <a:latin typeface="Cambria Math" panose="02040503050406030204" pitchFamily="18" charset="0"/>
                                          </a:rPr>
                                          <m:t>𝑥</m:t>
                                        </m:r>
                                      </m:e>
                                      <m:sub>
                                        <m:r>
                                          <a:rPr lang="en-US" b="0" i="1">
                                            <a:latin typeface="Cambria Math" panose="02040503050406030204" pitchFamily="18" charset="0"/>
                                          </a:rPr>
                                          <m:t>𝑁</m:t>
                                        </m:r>
                                      </m:sub>
                                    </m:sSub>
                                  </m:den>
                                </m:f>
                              </m:e>
                            </m:mr>
                          </m:m>
                        </m:e>
                      </m:d>
                    </m:oMath>
                  </m:oMathPara>
                </a14:m>
                <a:endParaRPr lang="en-US" dirty="0"/>
              </a:p>
            </p:txBody>
          </p:sp>
        </mc:Choice>
        <mc:Fallback xmlns="">
          <p:sp>
            <p:nvSpPr>
              <p:cNvPr id="9" name="TextBox 8">
                <a:extLst>
                  <a:ext uri="{FF2B5EF4-FFF2-40B4-BE49-F238E27FC236}">
                    <a16:creationId xmlns:a16="http://schemas.microsoft.com/office/drawing/2014/main" id="{709C61CF-D949-3A4E-D9B4-E030C06C57DF}"/>
                  </a:ext>
                </a:extLst>
              </p:cNvPr>
              <p:cNvSpPr txBox="1">
                <a:spLocks noRot="1" noChangeAspect="1" noMove="1" noResize="1" noEditPoints="1" noAdjustHandles="1" noChangeArrowheads="1" noChangeShapeType="1" noTextEdit="1"/>
              </p:cNvSpPr>
              <p:nvPr/>
            </p:nvSpPr>
            <p:spPr>
              <a:xfrm>
                <a:off x="-78490" y="3273544"/>
                <a:ext cx="6098290" cy="2143151"/>
              </a:xfrm>
              <a:prstGeom prst="rect">
                <a:avLst/>
              </a:prstGeom>
              <a:blipFill>
                <a:blip r:embed="rId4"/>
                <a:stretch>
                  <a:fillRect/>
                </a:stretch>
              </a:blipFill>
            </p:spPr>
            <p:txBody>
              <a:bodyPr/>
              <a:lstStyle/>
              <a:p>
                <a:r>
                  <a:rPr lang="en-GB">
                    <a:noFill/>
                  </a:rPr>
                  <a:t> </a:t>
                </a:r>
              </a:p>
            </p:txBody>
          </p:sp>
        </mc:Fallback>
      </mc:AlternateContent>
    </p:spTree>
    <p:extLst>
      <p:ext uri="{BB962C8B-B14F-4D97-AF65-F5344CB8AC3E}">
        <p14:creationId xmlns:p14="http://schemas.microsoft.com/office/powerpoint/2010/main" val="21183619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FBE760-2322-4A2A-065F-12C9072EE7F9}"/>
              </a:ext>
            </a:extLst>
          </p:cNvPr>
          <p:cNvSpPr>
            <a:spLocks noGrp="1"/>
          </p:cNvSpPr>
          <p:nvPr>
            <p:ph type="title"/>
          </p:nvPr>
        </p:nvSpPr>
        <p:spPr/>
        <p:txBody>
          <a:bodyPr>
            <a:normAutofit/>
          </a:bodyPr>
          <a:lstStyle/>
          <a:p>
            <a:r>
              <a:rPr lang="en-US" dirty="0"/>
              <a:t>Jacobian: matrix of derivatives</a:t>
            </a:r>
            <a:br>
              <a:rPr lang="en-US" dirty="0"/>
            </a:br>
            <a:endParaRPr lang="en-US" dirty="0"/>
          </a:p>
        </p:txBody>
      </p:sp>
      <p:sp>
        <p:nvSpPr>
          <p:cNvPr id="3" name="Content Placeholder 2">
            <a:extLst>
              <a:ext uri="{FF2B5EF4-FFF2-40B4-BE49-F238E27FC236}">
                <a16:creationId xmlns:a16="http://schemas.microsoft.com/office/drawing/2014/main" id="{CDA6943E-83D8-92AF-047A-AB81A731438A}"/>
              </a:ext>
            </a:extLst>
          </p:cNvPr>
          <p:cNvSpPr>
            <a:spLocks noGrp="1"/>
          </p:cNvSpPr>
          <p:nvPr>
            <p:ph sz="quarter" idx="13"/>
          </p:nvPr>
        </p:nvSpPr>
        <p:spPr/>
        <p:txBody>
          <a:bodyPr/>
          <a:lstStyle/>
          <a:p>
            <a:r>
              <a:rPr lang="en-GB" b="0" i="0" dirty="0">
                <a:effectLst/>
                <a:latin typeface="-apple-system"/>
              </a:rPr>
              <a:t>We can collect this derivative information into a matrix called the </a:t>
            </a:r>
            <a:r>
              <a:rPr lang="en-GB" b="1" i="0" dirty="0">
                <a:effectLst/>
                <a:latin typeface="-apple-system"/>
              </a:rPr>
              <a:t>Jacobian matrix</a:t>
            </a:r>
            <a:r>
              <a:rPr lang="en-GB" b="0" i="0" dirty="0">
                <a:effectLst/>
                <a:latin typeface="-apple-system"/>
              </a:rPr>
              <a:t>, which characterises the slope </a:t>
            </a:r>
            <a:r>
              <a:rPr lang="en-GB" b="0" i="1" dirty="0">
                <a:effectLst/>
                <a:latin typeface="-apple-system"/>
              </a:rPr>
              <a:t>at a specific point </a:t>
            </a:r>
            <a:r>
              <a:rPr lang="en-GB" b="0" i="0" dirty="0">
                <a:effectLst/>
                <a:latin typeface="MJXc-TeX-main-B"/>
              </a:rPr>
              <a:t>x</a:t>
            </a:r>
            <a:r>
              <a:rPr lang="en-GB" b="0" i="0" dirty="0">
                <a:effectLst/>
                <a:latin typeface="-apple-system"/>
              </a:rPr>
              <a:t>.</a:t>
            </a:r>
          </a:p>
          <a:p>
            <a:endParaRPr lang="en-GB" dirty="0">
              <a:latin typeface="-apple-system"/>
            </a:endParaRPr>
          </a:p>
          <a:p>
            <a:endParaRPr lang="en-GB" dirty="0">
              <a:latin typeface="-apple-system"/>
            </a:endParaRPr>
          </a:p>
          <a:p>
            <a:endParaRPr lang="en-GB" dirty="0">
              <a:latin typeface="-apple-system"/>
            </a:endParaRPr>
          </a:p>
          <a:p>
            <a:endParaRPr lang="en-GB" dirty="0">
              <a:latin typeface="-apple-system"/>
            </a:endParaRPr>
          </a:p>
          <a:p>
            <a:r>
              <a:rPr lang="en-GB" b="0" i="0" dirty="0">
                <a:effectLst/>
                <a:latin typeface="-apple-system"/>
              </a:rPr>
              <a:t>This simply tells us how much each </a:t>
            </a:r>
            <a:r>
              <a:rPr lang="en-GB" b="1" i="0" dirty="0">
                <a:effectLst/>
                <a:latin typeface="-apple-system"/>
              </a:rPr>
              <a:t>component</a:t>
            </a:r>
            <a:r>
              <a:rPr lang="en-GB" b="0" i="0" dirty="0">
                <a:effectLst/>
                <a:latin typeface="-apple-system"/>
              </a:rPr>
              <a:t> of the output changes as we change any component of the input -- the generalised "slope" of a vector-valued function. </a:t>
            </a:r>
            <a:endParaRPr lang="en-US" dirty="0"/>
          </a:p>
        </p:txBody>
      </p:sp>
      <p:pic>
        <p:nvPicPr>
          <p:cNvPr id="4" name="Picture 3">
            <a:extLst>
              <a:ext uri="{FF2B5EF4-FFF2-40B4-BE49-F238E27FC236}">
                <a16:creationId xmlns:a16="http://schemas.microsoft.com/office/drawing/2014/main" id="{2AFED4C8-78D0-DA92-3009-5A1A08B71724}"/>
              </a:ext>
            </a:extLst>
          </p:cNvPr>
          <p:cNvPicPr>
            <a:picLocks noChangeAspect="1"/>
          </p:cNvPicPr>
          <p:nvPr/>
        </p:nvPicPr>
        <p:blipFill>
          <a:blip r:embed="rId2"/>
          <a:stretch>
            <a:fillRect/>
          </a:stretch>
        </p:blipFill>
        <p:spPr>
          <a:xfrm>
            <a:off x="3464809" y="2389414"/>
            <a:ext cx="4909171" cy="1923290"/>
          </a:xfrm>
          <a:prstGeom prst="rect">
            <a:avLst/>
          </a:prstGeom>
        </p:spPr>
      </p:pic>
    </p:spTree>
    <p:extLst>
      <p:ext uri="{BB962C8B-B14F-4D97-AF65-F5344CB8AC3E}">
        <p14:creationId xmlns:p14="http://schemas.microsoft.com/office/powerpoint/2010/main" val="320923903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792CF2-6422-0C9E-34FD-532A451E13E1}"/>
              </a:ext>
            </a:extLst>
          </p:cNvPr>
          <p:cNvSpPr>
            <a:spLocks noGrp="1"/>
          </p:cNvSpPr>
          <p:nvPr>
            <p:ph type="title"/>
          </p:nvPr>
        </p:nvSpPr>
        <p:spPr/>
        <p:txBody>
          <a:bodyPr>
            <a:normAutofit fontScale="90000"/>
          </a:bodyPr>
          <a:lstStyle/>
          <a:p>
            <a:r>
              <a:rPr lang="en-US" dirty="0"/>
              <a:t>Gradient vector: one row of the Jacobian</a:t>
            </a:r>
            <a:br>
              <a:rPr lang="en-US" dirty="0"/>
            </a:br>
            <a:br>
              <a:rPr lang="en-US" dirty="0"/>
            </a:br>
            <a:br>
              <a:rPr lang="en-US" dirty="0"/>
            </a:br>
            <a:endParaRPr lang="en-US" dirty="0"/>
          </a:p>
        </p:txBody>
      </p:sp>
      <p:sp>
        <p:nvSpPr>
          <p:cNvPr id="3" name="Content Placeholder 2">
            <a:extLst>
              <a:ext uri="{FF2B5EF4-FFF2-40B4-BE49-F238E27FC236}">
                <a16:creationId xmlns:a16="http://schemas.microsoft.com/office/drawing/2014/main" id="{6EDF6B94-9A2D-3EC9-DA77-3EEF81A83A78}"/>
              </a:ext>
            </a:extLst>
          </p:cNvPr>
          <p:cNvSpPr>
            <a:spLocks noGrp="1"/>
          </p:cNvSpPr>
          <p:nvPr>
            <p:ph sz="quarter" idx="13"/>
          </p:nvPr>
        </p:nvSpPr>
        <p:spPr/>
        <p:txBody>
          <a:bodyPr/>
          <a:lstStyle/>
          <a:p>
            <a:r>
              <a:rPr lang="en-GB" b="0" i="0" dirty="0">
                <a:effectLst/>
                <a:latin typeface="MJXc-TeX-main-R"/>
              </a:rPr>
              <a:t>∇</a:t>
            </a:r>
            <a:r>
              <a:rPr lang="en-GB" b="0" i="0" dirty="0">
                <a:effectLst/>
                <a:latin typeface="MJXc-TeX-math-I"/>
              </a:rPr>
              <a:t>f</a:t>
            </a:r>
            <a:r>
              <a:rPr lang="en-GB" b="0" i="0" dirty="0">
                <a:effectLst/>
                <a:latin typeface="MJXc-TeX-main-R"/>
              </a:rPr>
              <a:t>(</a:t>
            </a:r>
            <a:r>
              <a:rPr lang="en-GB" b="0" i="0" dirty="0">
                <a:effectLst/>
                <a:latin typeface="MJXc-TeX-main-B"/>
              </a:rPr>
              <a:t>x</a:t>
            </a:r>
            <a:r>
              <a:rPr lang="en-GB" b="0" i="0" dirty="0">
                <a:effectLst/>
                <a:latin typeface="MJXc-TeX-main-R"/>
              </a:rPr>
              <a:t>)</a:t>
            </a:r>
            <a:r>
              <a:rPr lang="en-GB" b="0" i="0" dirty="0">
                <a:effectLst/>
                <a:latin typeface="-apple-system"/>
              </a:rPr>
              <a:t> is the </a:t>
            </a:r>
            <a:r>
              <a:rPr lang="en-GB" b="0" i="1" dirty="0">
                <a:effectLst/>
                <a:latin typeface="-apple-system"/>
              </a:rPr>
              <a:t>gradient vector</a:t>
            </a:r>
            <a:r>
              <a:rPr lang="en-GB" b="0" i="0" dirty="0">
                <a:effectLst/>
                <a:latin typeface="-apple-system"/>
              </a:rPr>
              <a:t> of </a:t>
            </a:r>
            <a:r>
              <a:rPr lang="en-GB" b="1" i="0" dirty="0">
                <a:effectLst/>
                <a:latin typeface="-apple-system"/>
              </a:rPr>
              <a:t>a (scalar) function </a:t>
            </a:r>
            <a:r>
              <a:rPr lang="en-GB" b="0" i="0" dirty="0">
                <a:effectLst/>
                <a:latin typeface="-apple-system"/>
              </a:rPr>
              <a:t>of a vector, the equivalent of the first derivative for vector functions. </a:t>
            </a:r>
          </a:p>
          <a:p>
            <a:r>
              <a:rPr lang="en-GB" b="0" i="0" dirty="0">
                <a:effectLst/>
                <a:latin typeface="-apple-system"/>
              </a:rPr>
              <a:t>This tells us how much </a:t>
            </a:r>
            <a:r>
              <a:rPr lang="en-GB" b="0" i="0" dirty="0">
                <a:effectLst/>
                <a:latin typeface="MJXc-TeX-math-I"/>
              </a:rPr>
              <a:t>f</a:t>
            </a:r>
            <a:r>
              <a:rPr lang="en-GB" b="0" i="0" dirty="0">
                <a:effectLst/>
                <a:latin typeface="MJXc-TeX-main-R"/>
              </a:rPr>
              <a:t>(</a:t>
            </a:r>
            <a:r>
              <a:rPr lang="en-GB" b="0" i="0" dirty="0">
                <a:effectLst/>
                <a:latin typeface="MJXc-TeX-main-B"/>
              </a:rPr>
              <a:t>x</a:t>
            </a:r>
            <a:r>
              <a:rPr lang="en-GB" b="0" i="0" dirty="0">
                <a:effectLst/>
                <a:latin typeface="MJXc-TeX-main-R"/>
              </a:rPr>
              <a:t>)</a:t>
            </a:r>
            <a:r>
              <a:rPr lang="en-GB" b="0" i="0" dirty="0">
                <a:effectLst/>
                <a:latin typeface="-apple-system"/>
              </a:rPr>
              <a:t> would vary if we made tiny changes to each dimension </a:t>
            </a:r>
            <a:r>
              <a:rPr lang="en-GB" b="0" i="1" dirty="0">
                <a:effectLst/>
                <a:latin typeface="-apple-system"/>
              </a:rPr>
              <a:t>independently</a:t>
            </a:r>
            <a:r>
              <a:rPr lang="en-GB" b="0" i="0" dirty="0">
                <a:effectLst/>
                <a:latin typeface="-apple-system"/>
              </a:rPr>
              <a:t>. </a:t>
            </a:r>
            <a:endParaRPr lang="en-GB" dirty="0">
              <a:latin typeface="-apple-system"/>
            </a:endParaRPr>
          </a:p>
          <a:p>
            <a:r>
              <a:rPr lang="en-GB" b="0" i="0" dirty="0">
                <a:effectLst/>
                <a:latin typeface="-apple-system"/>
              </a:rPr>
              <a:t>We will work with </a:t>
            </a:r>
            <a:r>
              <a:rPr lang="en-GB" b="1" i="0" dirty="0">
                <a:effectLst/>
                <a:latin typeface="-apple-system"/>
              </a:rPr>
              <a:t>scalar</a:t>
            </a:r>
            <a:r>
              <a:rPr lang="en-GB" b="0" i="0" dirty="0">
                <a:effectLst/>
                <a:latin typeface="-apple-system"/>
              </a:rPr>
              <a:t> objective functions </a:t>
            </a:r>
            <a:r>
              <a:rPr lang="en-GB" b="0" i="0" dirty="0">
                <a:effectLst/>
                <a:latin typeface="MJXc-TeX-math-I"/>
              </a:rPr>
              <a:t>L</a:t>
            </a:r>
            <a:r>
              <a:rPr lang="en-GB" b="0" i="0" dirty="0">
                <a:effectLst/>
                <a:latin typeface="MJXc-TeX-main-R"/>
              </a:rPr>
              <a:t>(</a:t>
            </a:r>
            <a:r>
              <a:rPr lang="el-GR" b="0" i="0" dirty="0">
                <a:effectLst/>
                <a:latin typeface="MJXc-TeX-math-I"/>
              </a:rPr>
              <a:t>θ</a:t>
            </a:r>
            <a:r>
              <a:rPr lang="el-GR" b="0" i="0" dirty="0">
                <a:effectLst/>
                <a:latin typeface="MJXc-TeX-main-R"/>
              </a:rPr>
              <a:t>)</a:t>
            </a:r>
            <a:r>
              <a:rPr lang="zh-CN" altLang="en-US" dirty="0">
                <a:latin typeface="-apple-system"/>
              </a:rPr>
              <a:t> </a:t>
            </a:r>
            <a:r>
              <a:rPr lang="en-GB" b="0" i="0" dirty="0">
                <a:effectLst/>
                <a:latin typeface="-apple-system"/>
              </a:rPr>
              <a:t>of parameter vectors </a:t>
            </a:r>
            <a:r>
              <a:rPr lang="el-GR" b="0" i="0" dirty="0">
                <a:effectLst/>
                <a:latin typeface="-apple-system"/>
              </a:rPr>
              <a:t>θ.</a:t>
            </a:r>
            <a:endParaRPr lang="en-GB" b="0" i="0" dirty="0">
              <a:effectLst/>
              <a:latin typeface="-apple-system"/>
            </a:endParaRPr>
          </a:p>
          <a:p>
            <a:endParaRPr lang="en-GB" dirty="0">
              <a:latin typeface="-apple-system"/>
            </a:endParaRPr>
          </a:p>
          <a:p>
            <a:endParaRPr lang="en-GB" dirty="0">
              <a:latin typeface="-apple-system"/>
            </a:endParaRPr>
          </a:p>
          <a:p>
            <a:endParaRPr lang="en-GB" dirty="0">
              <a:latin typeface="-apple-system"/>
            </a:endParaRPr>
          </a:p>
          <a:p>
            <a:r>
              <a:rPr lang="el-GR" b="0" i="0" dirty="0">
                <a:effectLst/>
                <a:latin typeface="-apple-system"/>
              </a:rPr>
              <a:t>∇</a:t>
            </a:r>
            <a:r>
              <a:rPr lang="en-GB" b="0" i="0" dirty="0">
                <a:effectLst/>
                <a:latin typeface="-apple-system"/>
              </a:rPr>
              <a:t>L(</a:t>
            </a:r>
            <a:r>
              <a:rPr lang="el-GR" b="0" i="0" dirty="0">
                <a:effectLst/>
                <a:latin typeface="-apple-system"/>
              </a:rPr>
              <a:t>θ) </a:t>
            </a:r>
            <a:r>
              <a:rPr lang="en-GB" b="0" i="0" dirty="0">
                <a:effectLst/>
                <a:latin typeface="-apple-system"/>
              </a:rPr>
              <a:t>is a vector </a:t>
            </a:r>
            <a:r>
              <a:rPr lang="en-GB" b="0" i="1" dirty="0">
                <a:effectLst/>
                <a:latin typeface="-apple-system"/>
              </a:rPr>
              <a:t>which points in the direction of the steepest change in </a:t>
            </a:r>
            <a:r>
              <a:rPr lang="en-GB" b="0" i="0" dirty="0">
                <a:effectLst/>
                <a:latin typeface="-apple-system"/>
              </a:rPr>
              <a:t>L(</a:t>
            </a:r>
            <a:r>
              <a:rPr lang="el-GR" b="0" i="0" dirty="0">
                <a:effectLst/>
                <a:latin typeface="-apple-system"/>
              </a:rPr>
              <a:t>θ).</a:t>
            </a:r>
            <a:endParaRPr lang="en-US" dirty="0"/>
          </a:p>
        </p:txBody>
      </p:sp>
      <p:pic>
        <p:nvPicPr>
          <p:cNvPr id="4" name="Picture 3">
            <a:extLst>
              <a:ext uri="{FF2B5EF4-FFF2-40B4-BE49-F238E27FC236}">
                <a16:creationId xmlns:a16="http://schemas.microsoft.com/office/drawing/2014/main" id="{98D967AB-5F72-F44B-2170-AC33C2BC7D02}"/>
              </a:ext>
            </a:extLst>
          </p:cNvPr>
          <p:cNvPicPr>
            <a:picLocks noChangeAspect="1"/>
          </p:cNvPicPr>
          <p:nvPr/>
        </p:nvPicPr>
        <p:blipFill>
          <a:blip r:embed="rId2"/>
          <a:stretch>
            <a:fillRect/>
          </a:stretch>
        </p:blipFill>
        <p:spPr>
          <a:xfrm>
            <a:off x="2019443" y="3799355"/>
            <a:ext cx="6217032" cy="1061947"/>
          </a:xfrm>
          <a:prstGeom prst="rect">
            <a:avLst/>
          </a:prstGeom>
        </p:spPr>
      </p:pic>
    </p:spTree>
    <p:extLst>
      <p:ext uri="{BB962C8B-B14F-4D97-AF65-F5344CB8AC3E}">
        <p14:creationId xmlns:p14="http://schemas.microsoft.com/office/powerpoint/2010/main" val="268788233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EF2C31-E849-66B2-302E-4164C77626F6}"/>
              </a:ext>
            </a:extLst>
          </p:cNvPr>
          <p:cNvSpPr>
            <a:spLocks noGrp="1"/>
          </p:cNvSpPr>
          <p:nvPr>
            <p:ph type="title"/>
          </p:nvPr>
        </p:nvSpPr>
        <p:spPr/>
        <p:txBody>
          <a:bodyPr>
            <a:normAutofit fontScale="90000"/>
          </a:bodyPr>
          <a:lstStyle/>
          <a:p>
            <a:r>
              <a:rPr lang="en-US" dirty="0"/>
              <a:t>Hessian: Jacobian of the gradient vector</a:t>
            </a:r>
            <a:br>
              <a:rPr lang="en-US" dirty="0"/>
            </a:br>
            <a:br>
              <a:rPr lang="en-US" dirty="0"/>
            </a:br>
            <a:br>
              <a:rPr lang="en-US" dirty="0"/>
            </a:b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6A7083D-24BB-587A-546C-A1DC94DEB1AF}"/>
                  </a:ext>
                </a:extLst>
              </p:cNvPr>
              <p:cNvSpPr>
                <a:spLocks noGrp="1"/>
              </p:cNvSpPr>
              <p:nvPr>
                <p:ph sz="quarter" idx="13"/>
              </p:nvPr>
            </p:nvSpPr>
            <p:spPr/>
            <p:txBody>
              <a:bodyPr>
                <a:normAutofit/>
              </a:bodyPr>
              <a:lstStyle/>
              <a:p>
                <a14:m>
                  <m:oMath xmlns:m="http://schemas.openxmlformats.org/officeDocument/2006/math">
                    <m:sSup>
                      <m:sSupPr>
                        <m:ctrlPr>
                          <a:rPr lang="en-GB" sz="2200" i="1" smtClean="0">
                            <a:effectLst/>
                            <a:latin typeface="Cambria Math" panose="02040503050406030204" pitchFamily="18" charset="0"/>
                            <a:ea typeface="Aptos" panose="020B0004020202020204" pitchFamily="34" charset="0"/>
                            <a:cs typeface="Times New Roman" panose="02020603050405020304" pitchFamily="18" charset="0"/>
                          </a:rPr>
                        </m:ctrlPr>
                      </m:sSupPr>
                      <m:e>
                        <m:r>
                          <m:rPr>
                            <m:sty m:val="p"/>
                          </m:rPr>
                          <a:rPr lang="en-US" sz="2200">
                            <a:effectLst/>
                            <a:latin typeface="Cambria Math" panose="02040503050406030204" pitchFamily="18" charset="0"/>
                            <a:ea typeface="Aptos" panose="020B0004020202020204" pitchFamily="34" charset="0"/>
                            <a:cs typeface="Times New Roman" panose="02020603050405020304" pitchFamily="18" charset="0"/>
                          </a:rPr>
                          <m:t>∇</m:t>
                        </m:r>
                      </m:e>
                      <m:sup>
                        <m:r>
                          <a:rPr lang="en-US" sz="2200">
                            <a:effectLst/>
                            <a:latin typeface="Cambria Math" panose="02040503050406030204" pitchFamily="18" charset="0"/>
                            <a:ea typeface="Aptos" panose="020B0004020202020204" pitchFamily="34" charset="0"/>
                            <a:cs typeface="Times New Roman" panose="02020603050405020304" pitchFamily="18" charset="0"/>
                          </a:rPr>
                          <m:t>2</m:t>
                        </m:r>
                      </m:sup>
                    </m:sSup>
                    <m:r>
                      <a:rPr lang="en-US" sz="2200" i="1">
                        <a:effectLst/>
                        <a:latin typeface="Cambria Math" panose="02040503050406030204" pitchFamily="18" charset="0"/>
                        <a:ea typeface="Aptos" panose="020B0004020202020204" pitchFamily="34" charset="0"/>
                        <a:cs typeface="Times New Roman" panose="02020603050405020304" pitchFamily="18" charset="0"/>
                      </a:rPr>
                      <m:t>𝐿</m:t>
                    </m:r>
                    <m:r>
                      <a:rPr lang="en-US" sz="2200">
                        <a:effectLst/>
                        <a:latin typeface="Cambria Math" panose="02040503050406030204" pitchFamily="18" charset="0"/>
                        <a:ea typeface="Aptos" panose="020B0004020202020204" pitchFamily="34" charset="0"/>
                        <a:cs typeface="Times New Roman" panose="02020603050405020304" pitchFamily="18" charset="0"/>
                      </a:rPr>
                      <m:t>(</m:t>
                    </m:r>
                    <m:r>
                      <a:rPr lang="en-US" sz="2200" i="1">
                        <a:effectLst/>
                        <a:latin typeface="Cambria Math" panose="02040503050406030204" pitchFamily="18" charset="0"/>
                        <a:ea typeface="Aptos" panose="020B0004020202020204" pitchFamily="34" charset="0"/>
                        <a:cs typeface="Times New Roman" panose="02020603050405020304" pitchFamily="18" charset="0"/>
                      </a:rPr>
                      <m:t>𝜃</m:t>
                    </m:r>
                    <m:r>
                      <a:rPr lang="en-US" sz="2200">
                        <a:effectLst/>
                        <a:latin typeface="Cambria Math" panose="02040503050406030204" pitchFamily="18" charset="0"/>
                        <a:ea typeface="Aptos" panose="020B0004020202020204" pitchFamily="34" charset="0"/>
                        <a:cs typeface="Times New Roman" panose="02020603050405020304" pitchFamily="18" charset="0"/>
                      </a:rPr>
                      <m:t>)</m:t>
                    </m:r>
                  </m:oMath>
                </a14:m>
                <a:r>
                  <a:rPr lang="en-US" sz="2200" dirty="0">
                    <a:effectLst/>
                    <a:ea typeface="Aptos" panose="020B0004020202020204" pitchFamily="34" charset="0"/>
                  </a:rPr>
                  <a:t> </a:t>
                </a:r>
                <a:r>
                  <a:rPr lang="en-GB" sz="2200" b="0" i="0" dirty="0">
                    <a:effectLst/>
                    <a:latin typeface="-apple-system"/>
                  </a:rPr>
                  <a:t>is the </a:t>
                </a:r>
                <a:r>
                  <a:rPr lang="en-GB" sz="2200" b="1" i="1" dirty="0">
                    <a:effectLst/>
                    <a:latin typeface="-apple-system"/>
                  </a:rPr>
                  <a:t>Hessian</a:t>
                </a:r>
                <a:r>
                  <a:rPr lang="en-GB" sz="2200" b="0" i="1" dirty="0">
                    <a:effectLst/>
                    <a:latin typeface="-apple-system"/>
                  </a:rPr>
                  <a:t> matrix</a:t>
                </a:r>
                <a:r>
                  <a:rPr lang="en-GB" sz="2200" b="0" i="0" dirty="0">
                    <a:effectLst/>
                    <a:latin typeface="-apple-system"/>
                  </a:rPr>
                  <a:t> of a (scalar) function of a vector, the equivalent of the </a:t>
                </a:r>
                <a:r>
                  <a:rPr lang="en-GB" sz="2200" b="1" i="0" dirty="0">
                    <a:effectLst/>
                    <a:latin typeface="-apple-system"/>
                  </a:rPr>
                  <a:t>second</a:t>
                </a:r>
                <a:r>
                  <a:rPr lang="en-GB" sz="2200" b="0" i="0" dirty="0">
                    <a:effectLst/>
                    <a:latin typeface="-apple-system"/>
                  </a:rPr>
                  <a:t> derivative for vector functions.</a:t>
                </a:r>
              </a:p>
              <a:p>
                <a:pPr algn="l"/>
                <a:r>
                  <a:rPr lang="en-GB" sz="2200" b="0" dirty="0">
                    <a:effectLst/>
                  </a:rPr>
                  <a:t>Following our rule above, it's just the Jacobian of a </a:t>
                </a:r>
                <a:r>
                  <a:rPr lang="en-GB" sz="2200" b="1" dirty="0">
                    <a:effectLst/>
                  </a:rPr>
                  <a:t>vector</a:t>
                </a:r>
                <a:r>
                  <a:rPr lang="en-GB" sz="2200" b="0" dirty="0">
                    <a:effectLst/>
                  </a:rPr>
                  <a:t> valued function, so we know:</a:t>
                </a:r>
              </a:p>
              <a:p>
                <a:pPr marL="0" indent="0" algn="ctr">
                  <a:buNone/>
                </a:pPr>
                <a14:m>
                  <m:oMath xmlns:m="http://schemas.openxmlformats.org/officeDocument/2006/math">
                    <m:sSup>
                      <m:sSupPr>
                        <m:ctrlPr>
                          <a:rPr lang="en-GB" sz="2200" i="1" smtClean="0">
                            <a:effectLst/>
                            <a:latin typeface="Cambria Math" panose="02040503050406030204" pitchFamily="18" charset="0"/>
                            <a:ea typeface="Aptos" panose="020B0004020202020204" pitchFamily="34" charset="0"/>
                            <a:cs typeface="Times New Roman" panose="02020603050405020304" pitchFamily="18" charset="0"/>
                          </a:rPr>
                        </m:ctrlPr>
                      </m:sSupPr>
                      <m:e>
                        <m:r>
                          <m:rPr>
                            <m:sty m:val="p"/>
                          </m:rPr>
                          <a:rPr lang="en-US" sz="2200">
                            <a:effectLst/>
                            <a:latin typeface="Cambria Math" panose="02040503050406030204" pitchFamily="18" charset="0"/>
                            <a:ea typeface="Aptos" panose="020B0004020202020204" pitchFamily="34" charset="0"/>
                            <a:cs typeface="Times New Roman" panose="02020603050405020304" pitchFamily="18" charset="0"/>
                          </a:rPr>
                          <m:t>∇</m:t>
                        </m:r>
                      </m:e>
                      <m:sup>
                        <m:r>
                          <a:rPr lang="en-US" sz="2200">
                            <a:effectLst/>
                            <a:latin typeface="Cambria Math" panose="02040503050406030204" pitchFamily="18" charset="0"/>
                            <a:ea typeface="Aptos" panose="020B0004020202020204" pitchFamily="34" charset="0"/>
                            <a:cs typeface="Times New Roman" panose="02020603050405020304" pitchFamily="18" charset="0"/>
                          </a:rPr>
                          <m:t>2</m:t>
                        </m:r>
                      </m:sup>
                    </m:sSup>
                    <m:r>
                      <a:rPr lang="en-US" sz="2200" i="1">
                        <a:effectLst/>
                        <a:latin typeface="Cambria Math" panose="02040503050406030204" pitchFamily="18" charset="0"/>
                        <a:ea typeface="Aptos" panose="020B0004020202020204" pitchFamily="34" charset="0"/>
                        <a:cs typeface="Times New Roman" panose="02020603050405020304" pitchFamily="18" charset="0"/>
                      </a:rPr>
                      <m:t>𝐿</m:t>
                    </m:r>
                    <m:r>
                      <a:rPr lang="en-US" sz="2200">
                        <a:effectLst/>
                        <a:latin typeface="Cambria Math" panose="02040503050406030204" pitchFamily="18" charset="0"/>
                        <a:ea typeface="Aptos" panose="020B0004020202020204" pitchFamily="34" charset="0"/>
                        <a:cs typeface="Times New Roman" panose="02020603050405020304" pitchFamily="18" charset="0"/>
                      </a:rPr>
                      <m:t>(</m:t>
                    </m:r>
                    <m:r>
                      <a:rPr lang="en-US" sz="2200" i="1">
                        <a:effectLst/>
                        <a:latin typeface="Cambria Math" panose="02040503050406030204" pitchFamily="18" charset="0"/>
                        <a:ea typeface="Aptos" panose="020B0004020202020204" pitchFamily="34" charset="0"/>
                        <a:cs typeface="Times New Roman" panose="02020603050405020304" pitchFamily="18" charset="0"/>
                      </a:rPr>
                      <m:t>𝜃</m:t>
                    </m:r>
                    <m:r>
                      <a:rPr lang="en-US" sz="2200">
                        <a:effectLst/>
                        <a:latin typeface="Cambria Math" panose="02040503050406030204" pitchFamily="18" charset="0"/>
                        <a:ea typeface="Aptos" panose="020B0004020202020204" pitchFamily="34" charset="0"/>
                        <a:cs typeface="Times New Roman" panose="02020603050405020304" pitchFamily="18" charset="0"/>
                      </a:rPr>
                      <m:t>)</m:t>
                    </m:r>
                  </m:oMath>
                </a14:m>
                <a:r>
                  <a:rPr lang="en-US" sz="2200" dirty="0">
                    <a:effectLst/>
                    <a:ea typeface="Aptos" panose="020B0004020202020204" pitchFamily="34" charset="0"/>
                  </a:rPr>
                  <a:t> is matrix valued map </a:t>
                </a:r>
                <a14:m>
                  <m:oMath xmlns:m="http://schemas.openxmlformats.org/officeDocument/2006/math">
                    <m:sSup>
                      <m:sSupPr>
                        <m:ctrlPr>
                          <a:rPr lang="en-GB" sz="2200" i="1">
                            <a:effectLst/>
                            <a:latin typeface="Cambria Math" panose="02040503050406030204" pitchFamily="18" charset="0"/>
                            <a:ea typeface="Aptos" panose="020B0004020202020204" pitchFamily="34" charset="0"/>
                            <a:cs typeface="Times New Roman" panose="02020603050405020304" pitchFamily="18" charset="0"/>
                          </a:rPr>
                        </m:ctrlPr>
                      </m:sSupPr>
                      <m:e>
                        <m:r>
                          <a:rPr lang="en-US" sz="2200" i="1">
                            <a:effectLst/>
                            <a:latin typeface="Cambria Math" panose="02040503050406030204" pitchFamily="18" charset="0"/>
                            <a:ea typeface="Aptos" panose="020B0004020202020204" pitchFamily="34" charset="0"/>
                            <a:cs typeface="Times New Roman" panose="02020603050405020304" pitchFamily="18" charset="0"/>
                          </a:rPr>
                          <m:t>ℝ</m:t>
                        </m:r>
                      </m:e>
                      <m:sup>
                        <m:r>
                          <a:rPr lang="en-US" sz="2200" i="1">
                            <a:effectLst/>
                            <a:latin typeface="Cambria Math" panose="02040503050406030204" pitchFamily="18" charset="0"/>
                            <a:ea typeface="Aptos" panose="020B0004020202020204" pitchFamily="34" charset="0"/>
                            <a:cs typeface="Times New Roman" panose="02020603050405020304" pitchFamily="18" charset="0"/>
                          </a:rPr>
                          <m:t>𝑛</m:t>
                        </m:r>
                      </m:sup>
                    </m:sSup>
                    <m:r>
                      <a:rPr lang="en-US" sz="220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en-GB" sz="2200" i="1">
                            <a:effectLst/>
                            <a:latin typeface="Cambria Math" panose="02040503050406030204" pitchFamily="18" charset="0"/>
                            <a:ea typeface="Aptos" panose="020B0004020202020204" pitchFamily="34" charset="0"/>
                            <a:cs typeface="Times New Roman" panose="02020603050405020304" pitchFamily="18" charset="0"/>
                          </a:rPr>
                        </m:ctrlPr>
                      </m:sSupPr>
                      <m:e>
                        <m:r>
                          <a:rPr lang="en-US" sz="2200" i="1">
                            <a:effectLst/>
                            <a:latin typeface="Cambria Math" panose="02040503050406030204" pitchFamily="18" charset="0"/>
                            <a:ea typeface="Aptos" panose="020B0004020202020204" pitchFamily="34" charset="0"/>
                            <a:cs typeface="Times New Roman" panose="02020603050405020304" pitchFamily="18" charset="0"/>
                          </a:rPr>
                          <m:t>ℝ</m:t>
                        </m:r>
                      </m:e>
                      <m:sup>
                        <m:r>
                          <a:rPr lang="en-US" sz="2200" i="1">
                            <a:effectLst/>
                            <a:latin typeface="Cambria Math" panose="02040503050406030204" pitchFamily="18" charset="0"/>
                            <a:ea typeface="Aptos" panose="020B0004020202020204" pitchFamily="34" charset="0"/>
                            <a:cs typeface="Times New Roman" panose="02020603050405020304" pitchFamily="18" charset="0"/>
                          </a:rPr>
                          <m:t>𝑛</m:t>
                        </m:r>
                        <m:r>
                          <a:rPr lang="en-US" sz="2200">
                            <a:effectLst/>
                            <a:latin typeface="Cambria Math" panose="02040503050406030204" pitchFamily="18" charset="0"/>
                            <a:ea typeface="Aptos" panose="020B0004020202020204" pitchFamily="34" charset="0"/>
                            <a:cs typeface="Times New Roman" panose="02020603050405020304" pitchFamily="18" charset="0"/>
                          </a:rPr>
                          <m:t>×</m:t>
                        </m:r>
                        <m:r>
                          <a:rPr lang="en-US" sz="2200" i="1">
                            <a:effectLst/>
                            <a:latin typeface="Cambria Math" panose="02040503050406030204" pitchFamily="18" charset="0"/>
                            <a:ea typeface="Aptos" panose="020B0004020202020204" pitchFamily="34" charset="0"/>
                            <a:cs typeface="Times New Roman" panose="02020603050405020304" pitchFamily="18" charset="0"/>
                          </a:rPr>
                          <m:t>𝑛</m:t>
                        </m:r>
                      </m:sup>
                    </m:sSup>
                  </m:oMath>
                </a14:m>
                <a:endParaRPr lang="en-GB" sz="2200" dirty="0">
                  <a:effectLst/>
                  <a:ea typeface="Aptos" panose="020B0004020202020204" pitchFamily="34" charset="0"/>
                </a:endParaRPr>
              </a:p>
              <a:p>
                <a:pPr algn="l"/>
                <a:endParaRPr lang="en-GB" sz="2200" b="0" dirty="0">
                  <a:effectLst/>
                </a:endParaRPr>
              </a:p>
              <a:p>
                <a:pPr marL="0" indent="0">
                  <a:buNone/>
                </a:pPr>
                <a:br>
                  <a:rPr lang="en-GB" sz="2200" b="0" i="0" dirty="0">
                    <a:effectLst/>
                    <a:latin typeface="-apple-system"/>
                  </a:rPr>
                </a:br>
                <a:endParaRPr lang="en-GB" sz="2200" b="0" dirty="0">
                  <a:effectLst/>
                </a:endParaRPr>
              </a:p>
              <a:p>
                <a:endParaRPr lang="en-US" sz="2200" dirty="0"/>
              </a:p>
            </p:txBody>
          </p:sp>
        </mc:Choice>
        <mc:Fallback xmlns="">
          <p:sp>
            <p:nvSpPr>
              <p:cNvPr id="3" name="Content Placeholder 2">
                <a:extLst>
                  <a:ext uri="{FF2B5EF4-FFF2-40B4-BE49-F238E27FC236}">
                    <a16:creationId xmlns:a16="http://schemas.microsoft.com/office/drawing/2014/main" id="{66A7083D-24BB-587A-546C-A1DC94DEB1AF}"/>
                  </a:ext>
                </a:extLst>
              </p:cNvPr>
              <p:cNvSpPr>
                <a:spLocks noGrp="1" noRot="1" noChangeAspect="1" noMove="1" noResize="1" noEditPoints="1" noAdjustHandles="1" noChangeArrowheads="1" noChangeShapeType="1" noTextEdit="1"/>
              </p:cNvSpPr>
              <p:nvPr>
                <p:ph sz="quarter" idx="13"/>
              </p:nvPr>
            </p:nvSpPr>
            <p:spPr>
              <a:blipFill>
                <a:blip r:embed="rId2"/>
                <a:stretch>
                  <a:fillRect l="-664" t="-1923"/>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id="{4154A651-9305-BC56-A577-8954F4182545}"/>
              </a:ext>
            </a:extLst>
          </p:cNvPr>
          <p:cNvPicPr>
            <a:picLocks noChangeAspect="1"/>
          </p:cNvPicPr>
          <p:nvPr/>
        </p:nvPicPr>
        <p:blipFill>
          <a:blip r:embed="rId3"/>
          <a:stretch>
            <a:fillRect/>
          </a:stretch>
        </p:blipFill>
        <p:spPr>
          <a:xfrm>
            <a:off x="1955466" y="3644041"/>
            <a:ext cx="7607300" cy="2540000"/>
          </a:xfrm>
          <a:prstGeom prst="rect">
            <a:avLst/>
          </a:prstGeom>
        </p:spPr>
      </p:pic>
    </p:spTree>
    <p:extLst>
      <p:ext uri="{BB962C8B-B14F-4D97-AF65-F5344CB8AC3E}">
        <p14:creationId xmlns:p14="http://schemas.microsoft.com/office/powerpoint/2010/main" val="261907397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8A5012-4B32-08DD-7111-627D552672AC}"/>
              </a:ext>
            </a:extLst>
          </p:cNvPr>
          <p:cNvSpPr>
            <a:spLocks noGrp="1"/>
          </p:cNvSpPr>
          <p:nvPr>
            <p:ph type="title"/>
          </p:nvPr>
        </p:nvSpPr>
        <p:spPr/>
        <p:txBody>
          <a:bodyPr>
            <a:normAutofit fontScale="90000"/>
          </a:bodyPr>
          <a:lstStyle/>
          <a:p>
            <a:r>
              <a:rPr lang="en-US" dirty="0"/>
              <a:t>Differentiable objective functions</a:t>
            </a:r>
            <a:br>
              <a:rPr lang="en-US" dirty="0"/>
            </a:br>
            <a:br>
              <a:rPr lang="en-US" dirty="0"/>
            </a:b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86EC741-EB15-0610-E772-8A893B7A6DB5}"/>
                  </a:ext>
                </a:extLst>
              </p:cNvPr>
              <p:cNvSpPr>
                <a:spLocks noGrp="1"/>
              </p:cNvSpPr>
              <p:nvPr>
                <p:ph sz="quarter" idx="13"/>
              </p:nvPr>
            </p:nvSpPr>
            <p:spPr/>
            <p:txBody>
              <a:bodyPr>
                <a:normAutofit fontScale="92500" lnSpcReduction="20000"/>
              </a:bodyPr>
              <a:lstStyle/>
              <a:p>
                <a:pPr>
                  <a:lnSpc>
                    <a:spcPct val="100000"/>
                  </a:lnSpc>
                  <a:spcAft>
                    <a:spcPts val="1200"/>
                  </a:spcAft>
                </a:pPr>
                <a:r>
                  <a:rPr lang="en-US" sz="2200" dirty="0">
                    <a:effectLst/>
                    <a:ea typeface="Aptos" panose="020B0004020202020204" pitchFamily="34" charset="0"/>
                  </a:rPr>
                  <a:t>For some objective functions, we can compute the (</a:t>
                </a:r>
                <a:r>
                  <a:rPr lang="en-US" sz="2200" b="1" dirty="0">
                    <a:effectLst/>
                    <a:ea typeface="Aptos" panose="020B0004020202020204" pitchFamily="34" charset="0"/>
                  </a:rPr>
                  <a:t>exact</a:t>
                </a:r>
                <a:r>
                  <a:rPr lang="en-US" sz="2200" dirty="0">
                    <a:effectLst/>
                    <a:ea typeface="Aptos" panose="020B0004020202020204" pitchFamily="34" charset="0"/>
                  </a:rPr>
                  <a:t>) derivatives of the objective function with respect to the parameters </a:t>
                </a:r>
                <a14:m>
                  <m:oMath xmlns:m="http://schemas.openxmlformats.org/officeDocument/2006/math">
                    <m:r>
                      <a:rPr lang="en-US" sz="2200" i="1">
                        <a:effectLst/>
                        <a:latin typeface="Cambria Math" panose="02040503050406030204" pitchFamily="18" charset="0"/>
                        <a:ea typeface="Aptos" panose="020B0004020202020204" pitchFamily="34" charset="0"/>
                        <a:cs typeface="Times New Roman" panose="02020603050405020304" pitchFamily="18" charset="0"/>
                      </a:rPr>
                      <m:t>𝜃</m:t>
                    </m:r>
                  </m:oMath>
                </a14:m>
                <a:r>
                  <a:rPr lang="en-US" sz="2200" dirty="0">
                    <a:effectLst/>
                    <a:ea typeface="Aptos" panose="020B0004020202020204" pitchFamily="34" charset="0"/>
                  </a:rPr>
                  <a:t>. </a:t>
                </a:r>
              </a:p>
              <a:p>
                <a:pPr lvl="1">
                  <a:lnSpc>
                    <a:spcPct val="100000"/>
                  </a:lnSpc>
                  <a:spcAft>
                    <a:spcPts val="1200"/>
                  </a:spcAft>
                </a:pPr>
                <a:r>
                  <a:rPr lang="en-US" sz="2200" dirty="0">
                    <a:effectLst/>
                    <a:ea typeface="Aptos" panose="020B0004020202020204" pitchFamily="34" charset="0"/>
                  </a:rPr>
                  <a:t>For example, if the objective function has a single scalar parameter </a:t>
                </a:r>
                <a14:m>
                  <m:oMath xmlns:m="http://schemas.openxmlformats.org/officeDocument/2006/math">
                    <m:r>
                      <a:rPr lang="en-US" sz="2200" i="1">
                        <a:effectLst/>
                        <a:latin typeface="Cambria Math" panose="02040503050406030204" pitchFamily="18" charset="0"/>
                        <a:ea typeface="Aptos" panose="020B0004020202020204" pitchFamily="34" charset="0"/>
                        <a:cs typeface="Times New Roman" panose="02020603050405020304" pitchFamily="18" charset="0"/>
                      </a:rPr>
                      <m:t>𝜃</m:t>
                    </m:r>
                    <m:r>
                      <a:rPr lang="en-US" sz="2200">
                        <a:effectLst/>
                        <a:latin typeface="Cambria Math" panose="02040503050406030204" pitchFamily="18" charset="0"/>
                        <a:ea typeface="Aptos" panose="020B0004020202020204" pitchFamily="34" charset="0"/>
                        <a:cs typeface="Times New Roman" panose="02020603050405020304" pitchFamily="18" charset="0"/>
                      </a:rPr>
                      <m:t>∈</m:t>
                    </m:r>
                    <m:r>
                      <a:rPr lang="en-US" sz="2200" i="1">
                        <a:effectLst/>
                        <a:latin typeface="Cambria Math" panose="02040503050406030204" pitchFamily="18" charset="0"/>
                        <a:ea typeface="Aptos" panose="020B0004020202020204" pitchFamily="34" charset="0"/>
                        <a:cs typeface="Times New Roman" panose="02020603050405020304" pitchFamily="18" charset="0"/>
                      </a:rPr>
                      <m:t>ℝ</m:t>
                    </m:r>
                  </m:oMath>
                </a14:m>
                <a:r>
                  <a:rPr lang="en-US" sz="2200" dirty="0">
                    <a:effectLst/>
                    <a:ea typeface="Aptos" panose="020B0004020202020204" pitchFamily="34" charset="0"/>
                  </a:rPr>
                  <a:t> and the function is:</a:t>
                </a:r>
                <a:endParaRPr lang="en-GB" sz="2200" dirty="0">
                  <a:effectLst/>
                  <a:ea typeface="Aptos" panose="020B0004020202020204" pitchFamily="34" charset="0"/>
                </a:endParaRPr>
              </a:p>
              <a:p>
                <a:pPr marL="0" indent="0">
                  <a:lnSpc>
                    <a:spcPct val="100000"/>
                  </a:lnSpc>
                  <a:spcAft>
                    <a:spcPts val="1200"/>
                  </a:spcAft>
                  <a:buNone/>
                </a:pPr>
                <a14:m>
                  <m:oMathPara xmlns:m="http://schemas.openxmlformats.org/officeDocument/2006/math">
                    <m:oMathParaPr>
                      <m:jc m:val="centerGroup"/>
                    </m:oMathParaPr>
                    <m:oMath xmlns:m="http://schemas.openxmlformats.org/officeDocument/2006/math">
                      <m:r>
                        <a:rPr lang="en-US" sz="2200" i="1">
                          <a:effectLst/>
                          <a:latin typeface="Cambria Math" panose="02040503050406030204" pitchFamily="18" charset="0"/>
                          <a:ea typeface="Aptos" panose="020B0004020202020204" pitchFamily="34" charset="0"/>
                          <a:cs typeface="Times New Roman" panose="02020603050405020304" pitchFamily="18" charset="0"/>
                        </a:rPr>
                        <m:t>𝐿</m:t>
                      </m:r>
                      <m:r>
                        <a:rPr lang="en-US" sz="2200">
                          <a:effectLst/>
                          <a:latin typeface="Cambria Math" panose="02040503050406030204" pitchFamily="18" charset="0"/>
                          <a:ea typeface="Aptos" panose="020B0004020202020204" pitchFamily="34" charset="0"/>
                          <a:cs typeface="Times New Roman" panose="02020603050405020304" pitchFamily="18" charset="0"/>
                        </a:rPr>
                        <m:t>(</m:t>
                      </m:r>
                      <m:r>
                        <a:rPr lang="en-US" sz="2200" i="1">
                          <a:effectLst/>
                          <a:latin typeface="Cambria Math" panose="02040503050406030204" pitchFamily="18" charset="0"/>
                          <a:ea typeface="Aptos" panose="020B0004020202020204" pitchFamily="34" charset="0"/>
                          <a:cs typeface="Times New Roman" panose="02020603050405020304" pitchFamily="18" charset="0"/>
                        </a:rPr>
                        <m:t>𝜃</m:t>
                      </m:r>
                      <m:r>
                        <a:rPr lang="en-US" sz="220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en-GB" sz="2200" i="1">
                              <a:effectLst/>
                              <a:latin typeface="Cambria Math" panose="02040503050406030204" pitchFamily="18" charset="0"/>
                              <a:ea typeface="Aptos" panose="020B0004020202020204" pitchFamily="34" charset="0"/>
                              <a:cs typeface="Times New Roman" panose="02020603050405020304" pitchFamily="18" charset="0"/>
                            </a:rPr>
                          </m:ctrlPr>
                        </m:sSupPr>
                        <m:e>
                          <m:r>
                            <a:rPr lang="en-US" sz="2200" i="1">
                              <a:effectLst/>
                              <a:latin typeface="Cambria Math" panose="02040503050406030204" pitchFamily="18" charset="0"/>
                              <a:ea typeface="Aptos" panose="020B0004020202020204" pitchFamily="34" charset="0"/>
                              <a:cs typeface="Times New Roman" panose="02020603050405020304" pitchFamily="18" charset="0"/>
                            </a:rPr>
                            <m:t>𝜃</m:t>
                          </m:r>
                        </m:e>
                        <m:sup>
                          <m:r>
                            <a:rPr lang="en-US" sz="2200">
                              <a:effectLst/>
                              <a:latin typeface="Cambria Math" panose="02040503050406030204" pitchFamily="18" charset="0"/>
                              <a:ea typeface="Aptos" panose="020B0004020202020204" pitchFamily="34" charset="0"/>
                              <a:cs typeface="Times New Roman" panose="02020603050405020304" pitchFamily="18" charset="0"/>
                            </a:rPr>
                            <m:t>2</m:t>
                          </m:r>
                        </m:sup>
                      </m:sSup>
                    </m:oMath>
                  </m:oMathPara>
                </a14:m>
                <a:endParaRPr lang="en-GB" sz="2200" dirty="0">
                  <a:effectLst/>
                  <a:ea typeface="Aptos" panose="020B0004020202020204" pitchFamily="34" charset="0"/>
                </a:endParaRPr>
              </a:p>
              <a:p>
                <a:pPr marL="0" indent="0">
                  <a:lnSpc>
                    <a:spcPct val="100000"/>
                  </a:lnSpc>
                  <a:spcAft>
                    <a:spcPts val="1200"/>
                  </a:spcAft>
                  <a:buNone/>
                </a:pPr>
                <a:r>
                  <a:rPr lang="en-US" sz="2200" dirty="0">
                    <a:effectLst/>
                    <a:ea typeface="Aptos" panose="020B0004020202020204" pitchFamily="34" charset="0"/>
                  </a:rPr>
                  <a:t>	then, from basic calculus, the derivative with respect to </a:t>
                </a:r>
                <a14:m>
                  <m:oMath xmlns:m="http://schemas.openxmlformats.org/officeDocument/2006/math">
                    <m:r>
                      <a:rPr lang="en-US" sz="2200" i="1">
                        <a:effectLst/>
                        <a:latin typeface="Cambria Math" panose="02040503050406030204" pitchFamily="18" charset="0"/>
                        <a:ea typeface="Aptos" panose="020B0004020202020204" pitchFamily="34" charset="0"/>
                        <a:cs typeface="Times New Roman" panose="02020603050405020304" pitchFamily="18" charset="0"/>
                      </a:rPr>
                      <m:t>𝜃</m:t>
                    </m:r>
                  </m:oMath>
                </a14:m>
                <a:r>
                  <a:rPr lang="en-US" sz="2200" dirty="0">
                    <a:effectLst/>
                    <a:ea typeface="Aptos" panose="020B0004020202020204" pitchFamily="34" charset="0"/>
                  </a:rPr>
                  <a:t> is just:</a:t>
                </a:r>
                <a:endParaRPr lang="en-GB" sz="2200" dirty="0">
                  <a:effectLst/>
                  <a:ea typeface="Aptos" panose="020B0004020202020204" pitchFamily="34" charset="0"/>
                </a:endParaRPr>
              </a:p>
              <a:p>
                <a:pPr marL="0" indent="0">
                  <a:lnSpc>
                    <a:spcPct val="100000"/>
                  </a:lnSpc>
                  <a:spcAft>
                    <a:spcPts val="1200"/>
                  </a:spcAft>
                  <a:buNone/>
                </a:pPr>
                <a14:m>
                  <m:oMathPara xmlns:m="http://schemas.openxmlformats.org/officeDocument/2006/math">
                    <m:oMathParaPr>
                      <m:jc m:val="centerGroup"/>
                    </m:oMathParaPr>
                    <m:oMath xmlns:m="http://schemas.openxmlformats.org/officeDocument/2006/math">
                      <m:sSup>
                        <m:sSupPr>
                          <m:ctrlPr>
                            <a:rPr lang="en-GB" sz="2200" i="1">
                              <a:effectLst/>
                              <a:latin typeface="Cambria Math" panose="02040503050406030204" pitchFamily="18" charset="0"/>
                              <a:ea typeface="Aptos" panose="020B0004020202020204" pitchFamily="34" charset="0"/>
                              <a:cs typeface="Times New Roman" panose="02020603050405020304" pitchFamily="18" charset="0"/>
                            </a:rPr>
                          </m:ctrlPr>
                        </m:sSupPr>
                        <m:e>
                          <m:r>
                            <a:rPr lang="en-US" sz="2200" i="1">
                              <a:effectLst/>
                              <a:latin typeface="Cambria Math" panose="02040503050406030204" pitchFamily="18" charset="0"/>
                              <a:ea typeface="Aptos" panose="020B0004020202020204" pitchFamily="34" charset="0"/>
                              <a:cs typeface="Times New Roman" panose="02020603050405020304" pitchFamily="18" charset="0"/>
                            </a:rPr>
                            <m:t>𝐿</m:t>
                          </m:r>
                        </m:e>
                        <m:sup>
                          <m:r>
                            <a:rPr lang="en-US" sz="2200" i="1">
                              <a:effectLst/>
                              <a:latin typeface="Cambria Math" panose="02040503050406030204" pitchFamily="18" charset="0"/>
                              <a:ea typeface="Aptos" panose="020B0004020202020204" pitchFamily="34" charset="0"/>
                              <a:cs typeface="Times New Roman" panose="02020603050405020304" pitchFamily="18" charset="0"/>
                            </a:rPr>
                            <m:t>′</m:t>
                          </m:r>
                        </m:sup>
                      </m:sSup>
                      <m:r>
                        <a:rPr lang="en-US" sz="2200">
                          <a:effectLst/>
                          <a:latin typeface="Cambria Math" panose="02040503050406030204" pitchFamily="18" charset="0"/>
                          <a:ea typeface="Aptos" panose="020B0004020202020204" pitchFamily="34" charset="0"/>
                          <a:cs typeface="Times New Roman" panose="02020603050405020304" pitchFamily="18" charset="0"/>
                        </a:rPr>
                        <m:t>(</m:t>
                      </m:r>
                      <m:r>
                        <a:rPr lang="en-US" sz="2200" i="1">
                          <a:effectLst/>
                          <a:latin typeface="Cambria Math" panose="02040503050406030204" pitchFamily="18" charset="0"/>
                          <a:ea typeface="Aptos" panose="020B0004020202020204" pitchFamily="34" charset="0"/>
                          <a:cs typeface="Times New Roman" panose="02020603050405020304" pitchFamily="18" charset="0"/>
                        </a:rPr>
                        <m:t>𝜃</m:t>
                      </m:r>
                      <m:r>
                        <a:rPr lang="en-US" sz="2200">
                          <a:effectLst/>
                          <a:latin typeface="Cambria Math" panose="02040503050406030204" pitchFamily="18" charset="0"/>
                          <a:ea typeface="Aptos" panose="020B0004020202020204" pitchFamily="34" charset="0"/>
                          <a:cs typeface="Times New Roman" panose="02020603050405020304" pitchFamily="18" charset="0"/>
                        </a:rPr>
                        <m:t>)=2</m:t>
                      </m:r>
                      <m:r>
                        <a:rPr lang="en-US" sz="2200" i="1">
                          <a:effectLst/>
                          <a:latin typeface="Cambria Math" panose="02040503050406030204" pitchFamily="18" charset="0"/>
                          <a:ea typeface="Aptos" panose="020B0004020202020204" pitchFamily="34" charset="0"/>
                          <a:cs typeface="Times New Roman" panose="02020603050405020304" pitchFamily="18" charset="0"/>
                        </a:rPr>
                        <m:t>𝜃</m:t>
                      </m:r>
                      <m:r>
                        <m:rPr>
                          <m:nor/>
                        </m:rPr>
                        <a:rPr lang="en-US" sz="2200">
                          <a:effectLst/>
                          <a:ea typeface="Aptos" panose="020B0004020202020204" pitchFamily="34" charset="0"/>
                        </a:rPr>
                        <m:t>.</m:t>
                      </m:r>
                      <m:r>
                        <m:rPr>
                          <m:nor/>
                        </m:rPr>
                        <a:rPr lang="en-US" sz="2200" i="1">
                          <a:effectLst/>
                          <a:ea typeface="Aptos" panose="020B0004020202020204" pitchFamily="34" charset="0"/>
                        </a:rPr>
                        <m:t> </m:t>
                      </m:r>
                    </m:oMath>
                  </m:oMathPara>
                </a14:m>
                <a:endParaRPr lang="en-GB" sz="2200" dirty="0">
                  <a:effectLst/>
                  <a:ea typeface="Aptos" panose="020B0004020202020204" pitchFamily="34" charset="0"/>
                </a:endParaRPr>
              </a:p>
              <a:p>
                <a:pPr>
                  <a:lnSpc>
                    <a:spcPct val="100000"/>
                  </a:lnSpc>
                  <a:spcAft>
                    <a:spcPts val="1200"/>
                  </a:spcAft>
                </a:pPr>
                <a:r>
                  <a:rPr lang="en-US" sz="2200" dirty="0">
                    <a:effectLst/>
                    <a:ea typeface="Aptos" panose="020B0004020202020204" pitchFamily="34" charset="0"/>
                  </a:rPr>
                  <a:t>If we know the derivative, we can use this to move in "good directions" -- down the slope of the objective function towards a minimum.</a:t>
                </a:r>
                <a:endParaRPr lang="en-GB" sz="2200" dirty="0">
                  <a:effectLst/>
                  <a:ea typeface="Aptos" panose="020B0004020202020204" pitchFamily="34" charset="0"/>
                </a:endParaRPr>
              </a:p>
              <a:p>
                <a:pPr>
                  <a:lnSpc>
                    <a:spcPct val="100000"/>
                  </a:lnSpc>
                  <a:spcAft>
                    <a:spcPts val="1200"/>
                  </a:spcAft>
                </a:pPr>
                <a:r>
                  <a:rPr lang="en-US" sz="2200" dirty="0">
                    <a:effectLst/>
                    <a:ea typeface="Aptos" panose="020B0004020202020204" pitchFamily="34" charset="0"/>
                  </a:rPr>
                  <a:t>This becomes slightly more involved for multidimensional </a:t>
                </a:r>
                <a:r>
                  <a:rPr lang="en-US" sz="2200" b="1" dirty="0">
                    <a:effectLst/>
                    <a:ea typeface="Aptos" panose="020B0004020202020204" pitchFamily="34" charset="0"/>
                  </a:rPr>
                  <a:t>objective functions</a:t>
                </a:r>
                <a:r>
                  <a:rPr lang="en-US" sz="2200" dirty="0">
                    <a:effectLst/>
                    <a:ea typeface="Aptos" panose="020B0004020202020204" pitchFamily="34" charset="0"/>
                  </a:rPr>
                  <a:t> (where </a:t>
                </a:r>
                <a14:m>
                  <m:oMath xmlns:m="http://schemas.openxmlformats.org/officeDocument/2006/math">
                    <m:r>
                      <a:rPr lang="en-US" sz="2200" i="1">
                        <a:effectLst/>
                        <a:latin typeface="Cambria Math" panose="02040503050406030204" pitchFamily="18" charset="0"/>
                        <a:ea typeface="Aptos" panose="020B0004020202020204" pitchFamily="34" charset="0"/>
                        <a:cs typeface="Times New Roman" panose="02020603050405020304" pitchFamily="18" charset="0"/>
                      </a:rPr>
                      <m:t>𝜃</m:t>
                    </m:r>
                  </m:oMath>
                </a14:m>
                <a:r>
                  <a:rPr lang="en-US" sz="2200" dirty="0">
                    <a:effectLst/>
                    <a:ea typeface="Aptos" panose="020B0004020202020204" pitchFamily="34" charset="0"/>
                  </a:rPr>
                  <a:t> has more than one component) where we have a gradient vector instead of a simple scalar derivative (written </a:t>
                </a:r>
                <a14:m>
                  <m:oMath xmlns:m="http://schemas.openxmlformats.org/officeDocument/2006/math">
                    <m:r>
                      <m:rPr>
                        <m:sty m:val="p"/>
                      </m:rPr>
                      <a:rPr lang="en-US" sz="2200">
                        <a:effectLst/>
                        <a:latin typeface="Cambria Math" panose="02040503050406030204" pitchFamily="18" charset="0"/>
                        <a:ea typeface="Aptos" panose="020B0004020202020204" pitchFamily="34" charset="0"/>
                        <a:cs typeface="Times New Roman" panose="02020603050405020304" pitchFamily="18" charset="0"/>
                      </a:rPr>
                      <m:t>∇</m:t>
                    </m:r>
                    <m:r>
                      <a:rPr lang="en-US" sz="2200" i="1">
                        <a:effectLst/>
                        <a:latin typeface="Cambria Math" panose="02040503050406030204" pitchFamily="18" charset="0"/>
                        <a:ea typeface="Aptos" panose="020B0004020202020204" pitchFamily="34" charset="0"/>
                        <a:cs typeface="Times New Roman" panose="02020603050405020304" pitchFamily="18" charset="0"/>
                      </a:rPr>
                      <m:t>𝐿</m:t>
                    </m:r>
                    <m:r>
                      <a:rPr lang="en-US" sz="2200">
                        <a:effectLst/>
                        <a:latin typeface="Cambria Math" panose="02040503050406030204" pitchFamily="18" charset="0"/>
                        <a:ea typeface="Aptos" panose="020B0004020202020204" pitchFamily="34" charset="0"/>
                        <a:cs typeface="Times New Roman" panose="02020603050405020304" pitchFamily="18" charset="0"/>
                      </a:rPr>
                      <m:t>(</m:t>
                    </m:r>
                    <m:r>
                      <a:rPr lang="en-US" sz="2200" i="1">
                        <a:effectLst/>
                        <a:latin typeface="Cambria Math" panose="02040503050406030204" pitchFamily="18" charset="0"/>
                        <a:ea typeface="Aptos" panose="020B0004020202020204" pitchFamily="34" charset="0"/>
                        <a:cs typeface="Times New Roman" panose="02020603050405020304" pitchFamily="18" charset="0"/>
                      </a:rPr>
                      <m:t>𝜃</m:t>
                    </m:r>
                    <m:r>
                      <a:rPr lang="en-US" sz="2200">
                        <a:effectLst/>
                        <a:latin typeface="Cambria Math" panose="02040503050406030204" pitchFamily="18" charset="0"/>
                        <a:ea typeface="Aptos" panose="020B0004020202020204" pitchFamily="34" charset="0"/>
                        <a:cs typeface="Times New Roman" panose="02020603050405020304" pitchFamily="18" charset="0"/>
                      </a:rPr>
                      <m:t>)</m:t>
                    </m:r>
                  </m:oMath>
                </a14:m>
                <a:r>
                  <a:rPr lang="en-US" sz="2200" dirty="0">
                    <a:effectLst/>
                    <a:ea typeface="Aptos" panose="020B0004020202020204" pitchFamily="34" charset="0"/>
                  </a:rPr>
                  <a:t> ). </a:t>
                </a:r>
                <a:endParaRPr lang="en-GB" sz="2200" dirty="0">
                  <a:effectLst/>
                  <a:ea typeface="Aptos" panose="020B0004020202020204" pitchFamily="34" charset="0"/>
                </a:endParaRPr>
              </a:p>
              <a:p>
                <a:pPr>
                  <a:lnSpc>
                    <a:spcPct val="100000"/>
                  </a:lnSpc>
                </a:pPr>
                <a:endParaRPr lang="en-US" sz="2200" dirty="0"/>
              </a:p>
            </p:txBody>
          </p:sp>
        </mc:Choice>
        <mc:Fallback xmlns="">
          <p:sp>
            <p:nvSpPr>
              <p:cNvPr id="3" name="Content Placeholder 2">
                <a:extLst>
                  <a:ext uri="{FF2B5EF4-FFF2-40B4-BE49-F238E27FC236}">
                    <a16:creationId xmlns:a16="http://schemas.microsoft.com/office/drawing/2014/main" id="{186EC741-EB15-0610-E772-8A893B7A6DB5}"/>
                  </a:ext>
                </a:extLst>
              </p:cNvPr>
              <p:cNvSpPr>
                <a:spLocks noGrp="1" noRot="1" noChangeAspect="1" noMove="1" noResize="1" noEditPoints="1" noAdjustHandles="1" noChangeArrowheads="1" noChangeShapeType="1" noTextEdit="1"/>
              </p:cNvSpPr>
              <p:nvPr>
                <p:ph sz="quarter" idx="13"/>
              </p:nvPr>
            </p:nvSpPr>
            <p:spPr>
              <a:blipFill>
                <a:blip r:embed="rId3"/>
                <a:stretch>
                  <a:fillRect l="-442" t="-1923" r="-553"/>
                </a:stretch>
              </a:blipFill>
            </p:spPr>
            <p:txBody>
              <a:bodyPr/>
              <a:lstStyle/>
              <a:p>
                <a:r>
                  <a:rPr lang="en-US">
                    <a:noFill/>
                  </a:rPr>
                  <a:t> </a:t>
                </a:r>
              </a:p>
            </p:txBody>
          </p:sp>
        </mc:Fallback>
      </mc:AlternateContent>
    </p:spTree>
    <p:extLst>
      <p:ext uri="{BB962C8B-B14F-4D97-AF65-F5344CB8AC3E}">
        <p14:creationId xmlns:p14="http://schemas.microsoft.com/office/powerpoint/2010/main" val="404312271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87D2CD-164E-0679-46C3-6C0CEF42133E}"/>
              </a:ext>
            </a:extLst>
          </p:cNvPr>
          <p:cNvSpPr>
            <a:spLocks noGrp="1"/>
          </p:cNvSpPr>
          <p:nvPr>
            <p:ph type="title"/>
          </p:nvPr>
        </p:nvSpPr>
        <p:spPr/>
        <p:txBody>
          <a:bodyPr>
            <a:normAutofit/>
          </a:bodyPr>
          <a:lstStyle/>
          <a:p>
            <a:r>
              <a:rPr lang="en-US" dirty="0"/>
              <a:t>Orders: zeroth, first, second</a:t>
            </a:r>
            <a:br>
              <a:rPr lang="en-US" dirty="0"/>
            </a:b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6477F39-0343-AC56-4EFF-262FA149DC61}"/>
                  </a:ext>
                </a:extLst>
              </p:cNvPr>
              <p:cNvSpPr>
                <a:spLocks noGrp="1"/>
              </p:cNvSpPr>
              <p:nvPr>
                <p:ph sz="quarter" idx="13"/>
              </p:nvPr>
            </p:nvSpPr>
            <p:spPr/>
            <p:txBody>
              <a:bodyPr>
                <a:normAutofit/>
              </a:bodyPr>
              <a:lstStyle/>
              <a:p>
                <a:pPr marL="0" indent="0">
                  <a:lnSpc>
                    <a:spcPct val="100000"/>
                  </a:lnSpc>
                  <a:spcAft>
                    <a:spcPts val="1200"/>
                  </a:spcAft>
                  <a:buNone/>
                </a:pPr>
                <a:r>
                  <a:rPr lang="en-US" sz="2200" dirty="0">
                    <a:effectLst/>
                    <a:ea typeface="Aptos" panose="020B0004020202020204" pitchFamily="34" charset="0"/>
                  </a:rPr>
                  <a:t>Iterative algorithms can be classified according to the order of derivative they require:</a:t>
                </a:r>
                <a:endParaRPr lang="en-GB" sz="2200" dirty="0">
                  <a:effectLst/>
                  <a:ea typeface="Aptos" panose="020B0004020202020204" pitchFamily="34" charset="0"/>
                </a:endParaRPr>
              </a:p>
              <a:p>
                <a:pPr marL="342900" lvl="0" indent="-342900">
                  <a:lnSpc>
                    <a:spcPct val="100000"/>
                  </a:lnSpc>
                  <a:spcAft>
                    <a:spcPts val="600"/>
                  </a:spcAft>
                  <a:buFont typeface="Symbol" pitchFamily="2" charset="2"/>
                  <a:buChar char=""/>
                  <a:tabLst>
                    <a:tab pos="457200" algn="l"/>
                  </a:tabLst>
                </a:pPr>
                <a:r>
                  <a:rPr lang="en-US" sz="2200" dirty="0">
                    <a:effectLst/>
                    <a:ea typeface="Aptos" panose="020B0004020202020204" pitchFamily="34" charset="0"/>
                  </a:rPr>
                  <a:t>a </a:t>
                </a:r>
                <a:r>
                  <a:rPr lang="en-US" sz="2200" b="1" dirty="0">
                    <a:effectLst/>
                    <a:ea typeface="Aptos" panose="020B0004020202020204" pitchFamily="34" charset="0"/>
                  </a:rPr>
                  <a:t>zeroth order</a:t>
                </a:r>
                <a:r>
                  <a:rPr lang="en-US" sz="2200" dirty="0">
                    <a:effectLst/>
                    <a:ea typeface="Aptos" panose="020B0004020202020204" pitchFamily="34" charset="0"/>
                  </a:rPr>
                  <a:t> </a:t>
                </a:r>
                <a:r>
                  <a:rPr lang="en-US" sz="2200" b="1" dirty="0" err="1">
                    <a:effectLst/>
                    <a:ea typeface="Aptos" panose="020B0004020202020204" pitchFamily="34" charset="0"/>
                  </a:rPr>
                  <a:t>optimisation</a:t>
                </a:r>
                <a:r>
                  <a:rPr lang="en-US" sz="2200" dirty="0">
                    <a:effectLst/>
                    <a:ea typeface="Aptos" panose="020B0004020202020204" pitchFamily="34" charset="0"/>
                  </a:rPr>
                  <a:t> algorithm only requires evaluation of the objective function </a:t>
                </a:r>
                <a14:m>
                  <m:oMath xmlns:m="http://schemas.openxmlformats.org/officeDocument/2006/math">
                    <m:r>
                      <a:rPr lang="en-US" sz="2200" i="1">
                        <a:effectLst/>
                        <a:latin typeface="Cambria Math" panose="02040503050406030204" pitchFamily="18" charset="0"/>
                        <a:ea typeface="Aptos" panose="020B0004020202020204" pitchFamily="34" charset="0"/>
                        <a:cs typeface="Times New Roman" panose="02020603050405020304" pitchFamily="18" charset="0"/>
                      </a:rPr>
                      <m:t>𝐿</m:t>
                    </m:r>
                    <m:r>
                      <a:rPr lang="en-US" sz="2200">
                        <a:effectLst/>
                        <a:latin typeface="Cambria Math" panose="02040503050406030204" pitchFamily="18" charset="0"/>
                        <a:ea typeface="Aptos" panose="020B0004020202020204" pitchFamily="34" charset="0"/>
                        <a:cs typeface="Times New Roman" panose="02020603050405020304" pitchFamily="18" charset="0"/>
                      </a:rPr>
                      <m:t>(</m:t>
                    </m:r>
                    <m:r>
                      <a:rPr lang="en-US" sz="2200" i="1">
                        <a:effectLst/>
                        <a:latin typeface="Cambria Math" panose="02040503050406030204" pitchFamily="18" charset="0"/>
                        <a:ea typeface="Aptos" panose="020B0004020202020204" pitchFamily="34" charset="0"/>
                        <a:cs typeface="Times New Roman" panose="02020603050405020304" pitchFamily="18" charset="0"/>
                      </a:rPr>
                      <m:t>𝜃</m:t>
                    </m:r>
                    <m:r>
                      <a:rPr lang="en-US" sz="2200">
                        <a:effectLst/>
                        <a:latin typeface="Cambria Math" panose="02040503050406030204" pitchFamily="18" charset="0"/>
                        <a:ea typeface="Aptos" panose="020B0004020202020204" pitchFamily="34" charset="0"/>
                        <a:cs typeface="Times New Roman" panose="02020603050405020304" pitchFamily="18" charset="0"/>
                      </a:rPr>
                      <m:t>)</m:t>
                    </m:r>
                  </m:oMath>
                </a14:m>
                <a:r>
                  <a:rPr lang="en-US" sz="2200" dirty="0">
                    <a:effectLst/>
                    <a:ea typeface="Aptos" panose="020B0004020202020204" pitchFamily="34" charset="0"/>
                  </a:rPr>
                  <a:t>. Examples include random search and simulated annealing.</a:t>
                </a:r>
                <a:endParaRPr lang="en-GB" sz="2200" dirty="0">
                  <a:effectLst/>
                  <a:ea typeface="Aptos" panose="020B0004020202020204" pitchFamily="34" charset="0"/>
                </a:endParaRPr>
              </a:p>
              <a:p>
                <a:pPr marL="342900" lvl="0" indent="-342900">
                  <a:lnSpc>
                    <a:spcPct val="100000"/>
                  </a:lnSpc>
                  <a:spcAft>
                    <a:spcPts val="600"/>
                  </a:spcAft>
                  <a:buFont typeface="Symbol" pitchFamily="2" charset="2"/>
                  <a:buChar char=""/>
                  <a:tabLst>
                    <a:tab pos="457200" algn="l"/>
                  </a:tabLst>
                </a:pPr>
                <a:r>
                  <a:rPr lang="en-US" sz="2200" dirty="0">
                    <a:effectLst/>
                    <a:ea typeface="Aptos" panose="020B0004020202020204" pitchFamily="34" charset="0"/>
                  </a:rPr>
                  <a:t>a </a:t>
                </a:r>
                <a:r>
                  <a:rPr lang="en-US" sz="2200" b="1" dirty="0">
                    <a:effectLst/>
                    <a:ea typeface="Aptos" panose="020B0004020202020204" pitchFamily="34" charset="0"/>
                  </a:rPr>
                  <a:t>first order </a:t>
                </a:r>
                <a:r>
                  <a:rPr lang="en-US" sz="2200" b="1" dirty="0" err="1">
                    <a:effectLst/>
                    <a:ea typeface="Aptos" panose="020B0004020202020204" pitchFamily="34" charset="0"/>
                  </a:rPr>
                  <a:t>optimisation</a:t>
                </a:r>
                <a:r>
                  <a:rPr lang="en-US" sz="2200" dirty="0">
                    <a:effectLst/>
                    <a:ea typeface="Aptos" panose="020B0004020202020204" pitchFamily="34" charset="0"/>
                  </a:rPr>
                  <a:t> algorithm requires evaluation of </a:t>
                </a:r>
                <a14:m>
                  <m:oMath xmlns:m="http://schemas.openxmlformats.org/officeDocument/2006/math">
                    <m:r>
                      <a:rPr lang="en-US" sz="2200" i="1">
                        <a:effectLst/>
                        <a:latin typeface="Cambria Math" panose="02040503050406030204" pitchFamily="18" charset="0"/>
                        <a:ea typeface="Aptos" panose="020B0004020202020204" pitchFamily="34" charset="0"/>
                        <a:cs typeface="Times New Roman" panose="02020603050405020304" pitchFamily="18" charset="0"/>
                      </a:rPr>
                      <m:t>𝐿</m:t>
                    </m:r>
                    <m:r>
                      <a:rPr lang="en-US" sz="2200">
                        <a:effectLst/>
                        <a:latin typeface="Cambria Math" panose="02040503050406030204" pitchFamily="18" charset="0"/>
                        <a:ea typeface="Aptos" panose="020B0004020202020204" pitchFamily="34" charset="0"/>
                        <a:cs typeface="Times New Roman" panose="02020603050405020304" pitchFamily="18" charset="0"/>
                      </a:rPr>
                      <m:t>(</m:t>
                    </m:r>
                    <m:r>
                      <a:rPr lang="en-US" sz="2200" i="1">
                        <a:effectLst/>
                        <a:latin typeface="Cambria Math" panose="02040503050406030204" pitchFamily="18" charset="0"/>
                        <a:ea typeface="Aptos" panose="020B0004020202020204" pitchFamily="34" charset="0"/>
                        <a:cs typeface="Times New Roman" panose="02020603050405020304" pitchFamily="18" charset="0"/>
                      </a:rPr>
                      <m:t>𝜃</m:t>
                    </m:r>
                    <m:r>
                      <a:rPr lang="en-US" sz="2200">
                        <a:effectLst/>
                        <a:latin typeface="Cambria Math" panose="02040503050406030204" pitchFamily="18" charset="0"/>
                        <a:ea typeface="Aptos" panose="020B0004020202020204" pitchFamily="34" charset="0"/>
                        <a:cs typeface="Times New Roman" panose="02020603050405020304" pitchFamily="18" charset="0"/>
                      </a:rPr>
                      <m:t>)</m:t>
                    </m:r>
                  </m:oMath>
                </a14:m>
                <a:r>
                  <a:rPr lang="en-US" sz="2200" dirty="0">
                    <a:effectLst/>
                    <a:ea typeface="Aptos" panose="020B0004020202020204" pitchFamily="34" charset="0"/>
                  </a:rPr>
                  <a:t> and its derivative </a:t>
                </a:r>
                <a14:m>
                  <m:oMath xmlns:m="http://schemas.openxmlformats.org/officeDocument/2006/math">
                    <m:r>
                      <m:rPr>
                        <m:sty m:val="p"/>
                      </m:rPr>
                      <a:rPr lang="en-US" sz="2200">
                        <a:effectLst/>
                        <a:latin typeface="Cambria Math" panose="02040503050406030204" pitchFamily="18" charset="0"/>
                        <a:ea typeface="Aptos" panose="020B0004020202020204" pitchFamily="34" charset="0"/>
                        <a:cs typeface="Times New Roman" panose="02020603050405020304" pitchFamily="18" charset="0"/>
                      </a:rPr>
                      <m:t>∇</m:t>
                    </m:r>
                    <m:r>
                      <a:rPr lang="en-US" sz="2200" i="1">
                        <a:effectLst/>
                        <a:latin typeface="Cambria Math" panose="02040503050406030204" pitchFamily="18" charset="0"/>
                        <a:ea typeface="Aptos" panose="020B0004020202020204" pitchFamily="34" charset="0"/>
                        <a:cs typeface="Times New Roman" panose="02020603050405020304" pitchFamily="18" charset="0"/>
                      </a:rPr>
                      <m:t>𝐿</m:t>
                    </m:r>
                    <m:r>
                      <a:rPr lang="en-US" sz="2200">
                        <a:effectLst/>
                        <a:latin typeface="Cambria Math" panose="02040503050406030204" pitchFamily="18" charset="0"/>
                        <a:ea typeface="Aptos" panose="020B0004020202020204" pitchFamily="34" charset="0"/>
                        <a:cs typeface="Times New Roman" panose="02020603050405020304" pitchFamily="18" charset="0"/>
                      </a:rPr>
                      <m:t>(</m:t>
                    </m:r>
                    <m:r>
                      <a:rPr lang="en-US" sz="2200" i="1">
                        <a:effectLst/>
                        <a:latin typeface="Cambria Math" panose="02040503050406030204" pitchFamily="18" charset="0"/>
                        <a:ea typeface="Aptos" panose="020B0004020202020204" pitchFamily="34" charset="0"/>
                        <a:cs typeface="Times New Roman" panose="02020603050405020304" pitchFamily="18" charset="0"/>
                      </a:rPr>
                      <m:t>𝜃</m:t>
                    </m:r>
                    <m:r>
                      <a:rPr lang="en-US" sz="2200">
                        <a:effectLst/>
                        <a:latin typeface="Cambria Math" panose="02040503050406030204" pitchFamily="18" charset="0"/>
                        <a:ea typeface="Aptos" panose="020B0004020202020204" pitchFamily="34" charset="0"/>
                        <a:cs typeface="Times New Roman" panose="02020603050405020304" pitchFamily="18" charset="0"/>
                      </a:rPr>
                      <m:t>)</m:t>
                    </m:r>
                  </m:oMath>
                </a14:m>
                <a:r>
                  <a:rPr lang="en-US" sz="2200" dirty="0">
                    <a:effectLst/>
                    <a:ea typeface="Aptos" panose="020B0004020202020204" pitchFamily="34" charset="0"/>
                  </a:rPr>
                  <a:t>. This class includes the family of gradient descent methods.</a:t>
                </a:r>
                <a:endParaRPr lang="en-GB" sz="2200" dirty="0">
                  <a:effectLst/>
                  <a:ea typeface="Aptos" panose="020B0004020202020204" pitchFamily="34" charset="0"/>
                </a:endParaRPr>
              </a:p>
              <a:p>
                <a:pPr marL="342900" lvl="0" indent="-342900">
                  <a:lnSpc>
                    <a:spcPct val="100000"/>
                  </a:lnSpc>
                  <a:spcAft>
                    <a:spcPts val="600"/>
                  </a:spcAft>
                  <a:buFont typeface="Symbol" pitchFamily="2" charset="2"/>
                  <a:buChar char=""/>
                  <a:tabLst>
                    <a:tab pos="457200" algn="l"/>
                  </a:tabLst>
                </a:pPr>
                <a:r>
                  <a:rPr lang="en-US" sz="2200" dirty="0">
                    <a:effectLst/>
                    <a:ea typeface="Aptos" panose="020B0004020202020204" pitchFamily="34" charset="0"/>
                  </a:rPr>
                  <a:t>a </a:t>
                </a:r>
                <a:r>
                  <a:rPr lang="en-US" sz="2200" b="1" dirty="0">
                    <a:effectLst/>
                    <a:ea typeface="Aptos" panose="020B0004020202020204" pitchFamily="34" charset="0"/>
                  </a:rPr>
                  <a:t>second order </a:t>
                </a:r>
                <a:r>
                  <a:rPr lang="en-US" sz="2200" b="1" dirty="0" err="1">
                    <a:effectLst/>
                    <a:ea typeface="Aptos" panose="020B0004020202020204" pitchFamily="34" charset="0"/>
                  </a:rPr>
                  <a:t>optimisation</a:t>
                </a:r>
                <a:r>
                  <a:rPr lang="en-US" sz="2200" b="1" dirty="0">
                    <a:effectLst/>
                    <a:ea typeface="Aptos" panose="020B0004020202020204" pitchFamily="34" charset="0"/>
                  </a:rPr>
                  <a:t> </a:t>
                </a:r>
                <a:r>
                  <a:rPr lang="en-US" sz="2200" dirty="0">
                    <a:effectLst/>
                    <a:ea typeface="Aptos" panose="020B0004020202020204" pitchFamily="34" charset="0"/>
                  </a:rPr>
                  <a:t>algorithm requires evaluation </a:t>
                </a:r>
                <a14:m>
                  <m:oMath xmlns:m="http://schemas.openxmlformats.org/officeDocument/2006/math">
                    <m:r>
                      <a:rPr lang="en-US" sz="2200" i="1">
                        <a:effectLst/>
                        <a:latin typeface="Cambria Math" panose="02040503050406030204" pitchFamily="18" charset="0"/>
                        <a:ea typeface="Aptos" panose="020B0004020202020204" pitchFamily="34" charset="0"/>
                        <a:cs typeface="Times New Roman" panose="02020603050405020304" pitchFamily="18" charset="0"/>
                      </a:rPr>
                      <m:t>𝐿</m:t>
                    </m:r>
                    <m:r>
                      <a:rPr lang="en-US" sz="2200">
                        <a:effectLst/>
                        <a:latin typeface="Cambria Math" panose="02040503050406030204" pitchFamily="18" charset="0"/>
                        <a:ea typeface="Aptos" panose="020B0004020202020204" pitchFamily="34" charset="0"/>
                        <a:cs typeface="Times New Roman" panose="02020603050405020304" pitchFamily="18" charset="0"/>
                      </a:rPr>
                      <m:t>(</m:t>
                    </m:r>
                    <m:r>
                      <a:rPr lang="en-US" sz="2200" i="1">
                        <a:effectLst/>
                        <a:latin typeface="Cambria Math" panose="02040503050406030204" pitchFamily="18" charset="0"/>
                        <a:ea typeface="Aptos" panose="020B0004020202020204" pitchFamily="34" charset="0"/>
                        <a:cs typeface="Times New Roman" panose="02020603050405020304" pitchFamily="18" charset="0"/>
                      </a:rPr>
                      <m:t>𝜃</m:t>
                    </m:r>
                    <m:r>
                      <a:rPr lang="en-US" sz="2200">
                        <a:effectLst/>
                        <a:latin typeface="Cambria Math" panose="02040503050406030204" pitchFamily="18" charset="0"/>
                        <a:ea typeface="Aptos" panose="020B0004020202020204" pitchFamily="34" charset="0"/>
                        <a:cs typeface="Times New Roman" panose="02020603050405020304" pitchFamily="18" charset="0"/>
                      </a:rPr>
                      <m:t>),</m:t>
                    </m:r>
                    <m:r>
                      <m:rPr>
                        <m:sty m:val="p"/>
                      </m:rPr>
                      <a:rPr lang="en-US" sz="2200">
                        <a:effectLst/>
                        <a:latin typeface="Cambria Math" panose="02040503050406030204" pitchFamily="18" charset="0"/>
                        <a:ea typeface="Aptos" panose="020B0004020202020204" pitchFamily="34" charset="0"/>
                        <a:cs typeface="Times New Roman" panose="02020603050405020304" pitchFamily="18" charset="0"/>
                      </a:rPr>
                      <m:t>∇</m:t>
                    </m:r>
                    <m:r>
                      <a:rPr lang="en-US" sz="2200" i="1">
                        <a:effectLst/>
                        <a:latin typeface="Cambria Math" panose="02040503050406030204" pitchFamily="18" charset="0"/>
                        <a:ea typeface="Aptos" panose="020B0004020202020204" pitchFamily="34" charset="0"/>
                        <a:cs typeface="Times New Roman" panose="02020603050405020304" pitchFamily="18" charset="0"/>
                      </a:rPr>
                      <m:t>𝐿</m:t>
                    </m:r>
                    <m:r>
                      <a:rPr lang="en-US" sz="2200">
                        <a:effectLst/>
                        <a:latin typeface="Cambria Math" panose="02040503050406030204" pitchFamily="18" charset="0"/>
                        <a:ea typeface="Aptos" panose="020B0004020202020204" pitchFamily="34" charset="0"/>
                        <a:cs typeface="Times New Roman" panose="02020603050405020304" pitchFamily="18" charset="0"/>
                      </a:rPr>
                      <m:t>(</m:t>
                    </m:r>
                    <m:r>
                      <a:rPr lang="en-US" sz="2200" i="1">
                        <a:effectLst/>
                        <a:latin typeface="Cambria Math" panose="02040503050406030204" pitchFamily="18" charset="0"/>
                        <a:ea typeface="Aptos" panose="020B0004020202020204" pitchFamily="34" charset="0"/>
                        <a:cs typeface="Times New Roman" panose="02020603050405020304" pitchFamily="18" charset="0"/>
                      </a:rPr>
                      <m:t>𝜃</m:t>
                    </m:r>
                    <m:r>
                      <a:rPr lang="en-US" sz="2200">
                        <a:effectLst/>
                        <a:latin typeface="Cambria Math" panose="02040503050406030204" pitchFamily="18" charset="0"/>
                        <a:ea typeface="Aptos" panose="020B0004020202020204" pitchFamily="34" charset="0"/>
                        <a:cs typeface="Times New Roman" panose="02020603050405020304" pitchFamily="18" charset="0"/>
                      </a:rPr>
                      <m:t>)</m:t>
                    </m:r>
                  </m:oMath>
                </a14:m>
                <a:r>
                  <a:rPr lang="en-US" sz="2200" dirty="0">
                    <a:effectLst/>
                    <a:ea typeface="Aptos" panose="020B0004020202020204" pitchFamily="34" charset="0"/>
                  </a:rPr>
                  <a:t> and </a:t>
                </a:r>
                <a14:m>
                  <m:oMath xmlns:m="http://schemas.openxmlformats.org/officeDocument/2006/math">
                    <m:r>
                      <m:rPr>
                        <m:sty m:val="p"/>
                      </m:rPr>
                      <a:rPr lang="en-US" sz="2200">
                        <a:effectLst/>
                        <a:latin typeface="Cambria Math" panose="02040503050406030204" pitchFamily="18" charset="0"/>
                        <a:ea typeface="Aptos" panose="020B0004020202020204" pitchFamily="34" charset="0"/>
                        <a:cs typeface="Times New Roman" panose="02020603050405020304" pitchFamily="18" charset="0"/>
                      </a:rPr>
                      <m:t>∇∇</m:t>
                    </m:r>
                    <m:r>
                      <a:rPr lang="en-US" sz="2200" i="1">
                        <a:effectLst/>
                        <a:latin typeface="Cambria Math" panose="02040503050406030204" pitchFamily="18" charset="0"/>
                        <a:ea typeface="Aptos" panose="020B0004020202020204" pitchFamily="34" charset="0"/>
                        <a:cs typeface="Times New Roman" panose="02020603050405020304" pitchFamily="18" charset="0"/>
                      </a:rPr>
                      <m:t>𝐿</m:t>
                    </m:r>
                    <m:r>
                      <a:rPr lang="en-US" sz="2200">
                        <a:effectLst/>
                        <a:latin typeface="Cambria Math" panose="02040503050406030204" pitchFamily="18" charset="0"/>
                        <a:ea typeface="Aptos" panose="020B0004020202020204" pitchFamily="34" charset="0"/>
                        <a:cs typeface="Times New Roman" panose="02020603050405020304" pitchFamily="18" charset="0"/>
                      </a:rPr>
                      <m:t>(</m:t>
                    </m:r>
                    <m:r>
                      <a:rPr lang="en-US" sz="2200" i="1">
                        <a:effectLst/>
                        <a:latin typeface="Cambria Math" panose="02040503050406030204" pitchFamily="18" charset="0"/>
                        <a:ea typeface="Aptos" panose="020B0004020202020204" pitchFamily="34" charset="0"/>
                        <a:cs typeface="Times New Roman" panose="02020603050405020304" pitchFamily="18" charset="0"/>
                      </a:rPr>
                      <m:t>𝜃</m:t>
                    </m:r>
                    <m:r>
                      <a:rPr lang="en-US" sz="2200">
                        <a:effectLst/>
                        <a:latin typeface="Cambria Math" panose="02040503050406030204" pitchFamily="18" charset="0"/>
                        <a:ea typeface="Aptos" panose="020B0004020202020204" pitchFamily="34" charset="0"/>
                        <a:cs typeface="Times New Roman" panose="02020603050405020304" pitchFamily="18" charset="0"/>
                      </a:rPr>
                      <m:t>)</m:t>
                    </m:r>
                  </m:oMath>
                </a14:m>
                <a:r>
                  <a:rPr lang="en-US" sz="2200" dirty="0">
                    <a:effectLst/>
                    <a:ea typeface="Aptos" panose="020B0004020202020204" pitchFamily="34" charset="0"/>
                  </a:rPr>
                  <a:t> . These methods include quasi-Newtonian </a:t>
                </a:r>
                <a:r>
                  <a:rPr lang="en-US" sz="2200" dirty="0" err="1">
                    <a:effectLst/>
                    <a:ea typeface="Aptos" panose="020B0004020202020204" pitchFamily="34" charset="0"/>
                  </a:rPr>
                  <a:t>optimisation</a:t>
                </a:r>
                <a:r>
                  <a:rPr lang="en-US" sz="2200" dirty="0">
                    <a:effectLst/>
                    <a:ea typeface="Aptos" panose="020B0004020202020204" pitchFamily="34" charset="0"/>
                  </a:rPr>
                  <a:t>.</a:t>
                </a:r>
                <a:endParaRPr lang="en-GB" sz="2200" dirty="0">
                  <a:effectLst/>
                  <a:ea typeface="Aptos" panose="020B0004020202020204" pitchFamily="34" charset="0"/>
                </a:endParaRPr>
              </a:p>
              <a:p>
                <a:pPr>
                  <a:lnSpc>
                    <a:spcPct val="100000"/>
                  </a:lnSpc>
                </a:pPr>
                <a:endParaRPr lang="en-US" sz="2200" dirty="0"/>
              </a:p>
            </p:txBody>
          </p:sp>
        </mc:Choice>
        <mc:Fallback xmlns="">
          <p:sp>
            <p:nvSpPr>
              <p:cNvPr id="3" name="Content Placeholder 2">
                <a:extLst>
                  <a:ext uri="{FF2B5EF4-FFF2-40B4-BE49-F238E27FC236}">
                    <a16:creationId xmlns:a16="http://schemas.microsoft.com/office/drawing/2014/main" id="{A6477F39-0343-AC56-4EFF-262FA149DC61}"/>
                  </a:ext>
                </a:extLst>
              </p:cNvPr>
              <p:cNvSpPr>
                <a:spLocks noGrp="1" noRot="1" noChangeAspect="1" noMove="1" noResize="1" noEditPoints="1" noAdjustHandles="1" noChangeArrowheads="1" noChangeShapeType="1" noTextEdit="1"/>
              </p:cNvSpPr>
              <p:nvPr>
                <p:ph sz="quarter" idx="13"/>
              </p:nvPr>
            </p:nvSpPr>
            <p:spPr>
              <a:blipFill>
                <a:blip r:embed="rId2"/>
                <a:stretch>
                  <a:fillRect l="-774" t="-1099" r="-885"/>
                </a:stretch>
              </a:blipFill>
            </p:spPr>
            <p:txBody>
              <a:bodyPr/>
              <a:lstStyle/>
              <a:p>
                <a:r>
                  <a:rPr lang="en-US">
                    <a:noFill/>
                  </a:rPr>
                  <a:t> </a:t>
                </a:r>
              </a:p>
            </p:txBody>
          </p:sp>
        </mc:Fallback>
      </mc:AlternateContent>
    </p:spTree>
    <p:extLst>
      <p:ext uri="{BB962C8B-B14F-4D97-AF65-F5344CB8AC3E}">
        <p14:creationId xmlns:p14="http://schemas.microsoft.com/office/powerpoint/2010/main" val="367113270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2E091F-67ED-02A7-AB5E-F14A2DA44254}"/>
              </a:ext>
            </a:extLst>
          </p:cNvPr>
          <p:cNvSpPr>
            <a:spLocks noGrp="1"/>
          </p:cNvSpPr>
          <p:nvPr>
            <p:ph type="title"/>
          </p:nvPr>
        </p:nvSpPr>
        <p:spPr/>
        <p:txBody>
          <a:bodyPr>
            <a:normAutofit fontScale="90000"/>
          </a:bodyPr>
          <a:lstStyle/>
          <a:p>
            <a:r>
              <a:rPr lang="en-US" dirty="0" err="1"/>
              <a:t>Optimisation</a:t>
            </a:r>
            <a:r>
              <a:rPr lang="en-US" dirty="0"/>
              <a:t> with derivatives</a:t>
            </a:r>
            <a:br>
              <a:rPr lang="en-US" dirty="0"/>
            </a:br>
            <a:br>
              <a:rPr lang="en-US" dirty="0"/>
            </a:br>
            <a:endParaRPr lang="en-US" dirty="0"/>
          </a:p>
        </p:txBody>
      </p:sp>
      <p:sp>
        <p:nvSpPr>
          <p:cNvPr id="3" name="Content Placeholder 2">
            <a:extLst>
              <a:ext uri="{FF2B5EF4-FFF2-40B4-BE49-F238E27FC236}">
                <a16:creationId xmlns:a16="http://schemas.microsoft.com/office/drawing/2014/main" id="{0492F99C-10F9-65D3-0858-33E93B18D2EC}"/>
              </a:ext>
            </a:extLst>
          </p:cNvPr>
          <p:cNvSpPr>
            <a:spLocks noGrp="1"/>
          </p:cNvSpPr>
          <p:nvPr>
            <p:ph sz="quarter" idx="13"/>
          </p:nvPr>
        </p:nvSpPr>
        <p:spPr>
          <a:xfrm>
            <a:off x="285750" y="1627188"/>
            <a:ext cx="7290707" cy="4606925"/>
          </a:xfrm>
        </p:spPr>
        <p:txBody>
          <a:bodyPr/>
          <a:lstStyle/>
          <a:p>
            <a:pPr marL="0" indent="0" algn="l">
              <a:buNone/>
            </a:pPr>
            <a:r>
              <a:rPr lang="en-GB" b="0" i="0" dirty="0">
                <a:effectLst/>
                <a:latin typeface="-apple-system"/>
              </a:rPr>
              <a:t>If we know (or can compute) the </a:t>
            </a:r>
            <a:r>
              <a:rPr lang="en-GB" b="1" i="0" dirty="0">
                <a:effectLst/>
                <a:latin typeface="-apple-system"/>
              </a:rPr>
              <a:t>gradient</a:t>
            </a:r>
            <a:r>
              <a:rPr lang="en-GB" b="0" i="0" dirty="0">
                <a:effectLst/>
                <a:latin typeface="-apple-system"/>
              </a:rPr>
              <a:t> an objective function, we know the </a:t>
            </a:r>
            <a:r>
              <a:rPr lang="en-GB" b="1" i="0" dirty="0">
                <a:effectLst/>
                <a:latin typeface="-apple-system"/>
              </a:rPr>
              <a:t>slope</a:t>
            </a:r>
            <a:r>
              <a:rPr lang="en-GB" b="0" i="0" dirty="0">
                <a:effectLst/>
                <a:latin typeface="-apple-system"/>
              </a:rPr>
              <a:t> of the function at any given point. This gives us both:</a:t>
            </a:r>
          </a:p>
          <a:p>
            <a:pPr algn="l">
              <a:buFont typeface="Arial" panose="020B0604020202020204" pitchFamily="34" charset="0"/>
              <a:buChar char="•"/>
            </a:pPr>
            <a:r>
              <a:rPr lang="en-GB" b="0" i="0" dirty="0">
                <a:effectLst/>
                <a:latin typeface="-apple-system"/>
              </a:rPr>
              <a:t>the direction of fastest increase and</a:t>
            </a:r>
          </a:p>
          <a:p>
            <a:pPr algn="l">
              <a:buFont typeface="Arial" panose="020B0604020202020204" pitchFamily="34" charset="0"/>
              <a:buChar char="•"/>
            </a:pPr>
            <a:r>
              <a:rPr lang="en-GB" b="0" i="0" dirty="0">
                <a:effectLst/>
                <a:latin typeface="-apple-system"/>
              </a:rPr>
              <a:t>the steepness of that slope.</a:t>
            </a:r>
          </a:p>
          <a:p>
            <a:pPr marL="0" indent="0" algn="l">
              <a:buNone/>
            </a:pPr>
            <a:r>
              <a:rPr lang="en-GB" b="0" i="0" dirty="0">
                <a:effectLst/>
                <a:latin typeface="-apple-system"/>
              </a:rPr>
              <a:t>This is </a:t>
            </a:r>
            <a:r>
              <a:rPr lang="en-GB" b="0" i="1" dirty="0">
                <a:effectLst/>
                <a:latin typeface="-apple-system"/>
              </a:rPr>
              <a:t>the</a:t>
            </a:r>
            <a:r>
              <a:rPr lang="en-GB" b="0" i="0" dirty="0">
                <a:effectLst/>
                <a:latin typeface="-apple-system"/>
              </a:rPr>
              <a:t> major application of calculus.</a:t>
            </a:r>
          </a:p>
          <a:p>
            <a:pPr marL="0" indent="0" algn="l">
              <a:buNone/>
            </a:pPr>
            <a:r>
              <a:rPr lang="en-GB" b="0" i="0" dirty="0">
                <a:effectLst/>
                <a:latin typeface="-apple-system"/>
              </a:rPr>
              <a:t>Knowing the </a:t>
            </a:r>
            <a:r>
              <a:rPr lang="en-GB" b="1" i="0" dirty="0">
                <a:effectLst/>
                <a:latin typeface="-apple-system"/>
              </a:rPr>
              <a:t>derivative</a:t>
            </a:r>
            <a:r>
              <a:rPr lang="en-GB" b="0" i="0" dirty="0">
                <a:effectLst/>
                <a:latin typeface="-apple-system"/>
              </a:rPr>
              <a:t> of the objective function is sufficient to dramatically improve the efficiency of optimisation.</a:t>
            </a:r>
          </a:p>
          <a:p>
            <a:endParaRPr lang="en-US" dirty="0"/>
          </a:p>
        </p:txBody>
      </p:sp>
      <p:pic>
        <p:nvPicPr>
          <p:cNvPr id="3074" name="Picture 2">
            <a:extLst>
              <a:ext uri="{FF2B5EF4-FFF2-40B4-BE49-F238E27FC236}">
                <a16:creationId xmlns:a16="http://schemas.microsoft.com/office/drawing/2014/main" id="{E992B353-A687-0062-B550-F8B65FD3E12C}"/>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070017" y="2487613"/>
            <a:ext cx="4836233" cy="314883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F38EFEDC-79CC-86AB-F083-6F4EB1554ACE}"/>
              </a:ext>
            </a:extLst>
          </p:cNvPr>
          <p:cNvSpPr txBox="1"/>
          <p:nvPr/>
        </p:nvSpPr>
        <p:spPr>
          <a:xfrm>
            <a:off x="7463949" y="5792570"/>
            <a:ext cx="4554810" cy="646331"/>
          </a:xfrm>
          <a:prstGeom prst="rect">
            <a:avLst/>
          </a:prstGeom>
          <a:noFill/>
        </p:spPr>
        <p:txBody>
          <a:bodyPr wrap="square">
            <a:spAutoFit/>
          </a:bodyPr>
          <a:lstStyle/>
          <a:p>
            <a:r>
              <a:rPr lang="en-GB" b="0" i="0" dirty="0">
                <a:effectLst/>
                <a:latin typeface="-apple-system"/>
              </a:rPr>
              <a:t>This </a:t>
            </a:r>
            <a:r>
              <a:rPr lang="en-GB" b="0" i="1" dirty="0">
                <a:effectLst/>
                <a:latin typeface="-apple-system"/>
              </a:rPr>
              <a:t>gradient vector always points in the direction of the steepest slope</a:t>
            </a:r>
            <a:r>
              <a:rPr lang="en-GB" b="0" i="0" dirty="0">
                <a:effectLst/>
                <a:latin typeface="-apple-system"/>
              </a:rPr>
              <a:t>.</a:t>
            </a:r>
            <a:endParaRPr lang="en-US" dirty="0"/>
          </a:p>
        </p:txBody>
      </p:sp>
    </p:spTree>
    <p:extLst>
      <p:ext uri="{BB962C8B-B14F-4D97-AF65-F5344CB8AC3E}">
        <p14:creationId xmlns:p14="http://schemas.microsoft.com/office/powerpoint/2010/main" val="301419123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714926-32F5-05D7-4D24-C007F635C80E}"/>
              </a:ext>
            </a:extLst>
          </p:cNvPr>
          <p:cNvSpPr>
            <a:spLocks noGrp="1"/>
          </p:cNvSpPr>
          <p:nvPr>
            <p:ph type="title"/>
          </p:nvPr>
        </p:nvSpPr>
        <p:spPr/>
        <p:txBody>
          <a:bodyPr/>
          <a:lstStyle/>
          <a:p>
            <a:r>
              <a:rPr lang="en-US" dirty="0"/>
              <a:t>Differentiability</a:t>
            </a:r>
          </a:p>
        </p:txBody>
      </p:sp>
      <p:sp>
        <p:nvSpPr>
          <p:cNvPr id="3" name="Content Placeholder 2">
            <a:extLst>
              <a:ext uri="{FF2B5EF4-FFF2-40B4-BE49-F238E27FC236}">
                <a16:creationId xmlns:a16="http://schemas.microsoft.com/office/drawing/2014/main" id="{DC4174C7-7F04-5CBD-C278-7615D99704EE}"/>
              </a:ext>
            </a:extLst>
          </p:cNvPr>
          <p:cNvSpPr>
            <a:spLocks noGrp="1"/>
          </p:cNvSpPr>
          <p:nvPr>
            <p:ph sz="quarter" idx="13"/>
          </p:nvPr>
        </p:nvSpPr>
        <p:spPr/>
        <p:txBody>
          <a:bodyPr>
            <a:normAutofit/>
          </a:bodyPr>
          <a:lstStyle/>
          <a:p>
            <a:r>
              <a:rPr lang="en-GB" sz="2200" b="0" i="0" dirty="0">
                <a:effectLst/>
                <a:latin typeface="-apple-system"/>
              </a:rPr>
              <a:t>A </a:t>
            </a:r>
            <a:r>
              <a:rPr lang="en-GB" sz="2200" b="1" i="0" dirty="0">
                <a:effectLst/>
                <a:latin typeface="-apple-system"/>
              </a:rPr>
              <a:t>smooth function</a:t>
            </a:r>
            <a:r>
              <a:rPr lang="en-GB" sz="2200" b="0" i="0" dirty="0">
                <a:effectLst/>
                <a:latin typeface="-apple-system"/>
              </a:rPr>
              <a:t> has continuous derivatives up to some order. </a:t>
            </a:r>
            <a:r>
              <a:rPr lang="en-GB" sz="2200" b="1" i="0" dirty="0">
                <a:effectLst/>
                <a:latin typeface="-apple-system"/>
              </a:rPr>
              <a:t>Smoother</a:t>
            </a:r>
            <a:r>
              <a:rPr lang="en-GB" sz="2200" b="0" i="0" dirty="0">
                <a:effectLst/>
                <a:latin typeface="-apple-system"/>
              </a:rPr>
              <a:t> functions are typically </a:t>
            </a:r>
            <a:r>
              <a:rPr lang="en-GB" sz="2200" b="1" i="0" dirty="0">
                <a:effectLst/>
                <a:latin typeface="-apple-system"/>
              </a:rPr>
              <a:t>easier</a:t>
            </a:r>
            <a:r>
              <a:rPr lang="en-GB" sz="2200" b="0" i="0" dirty="0">
                <a:effectLst/>
                <a:latin typeface="-apple-system"/>
              </a:rPr>
              <a:t> to do iterative optimisation on, because </a:t>
            </a:r>
            <a:r>
              <a:rPr lang="en-GB" sz="2200" b="1" i="0" dirty="0">
                <a:effectLst/>
                <a:latin typeface="-apple-system"/>
              </a:rPr>
              <a:t>small</a:t>
            </a:r>
            <a:r>
              <a:rPr lang="en-GB" sz="2200" b="0" i="0" dirty="0">
                <a:effectLst/>
                <a:latin typeface="-apple-system"/>
              </a:rPr>
              <a:t> changes in the current approximation are likely to lead to </a:t>
            </a:r>
            <a:r>
              <a:rPr lang="en-GB" sz="2200" b="1" i="0" dirty="0">
                <a:effectLst/>
                <a:latin typeface="-apple-system"/>
              </a:rPr>
              <a:t>small</a:t>
            </a:r>
            <a:r>
              <a:rPr lang="en-GB" sz="2200" b="0" i="0" dirty="0">
                <a:effectLst/>
                <a:latin typeface="-apple-system"/>
              </a:rPr>
              <a:t> changes in the objective function. </a:t>
            </a:r>
          </a:p>
          <a:p>
            <a:r>
              <a:rPr lang="en-GB" sz="2200" b="0" i="0" dirty="0">
                <a:effectLst/>
                <a:latin typeface="-apple-system"/>
              </a:rPr>
              <a:t>We say a function is C</a:t>
            </a:r>
            <a:r>
              <a:rPr lang="en-GB" sz="2200" b="0" i="0" baseline="30000" dirty="0">
                <a:effectLst/>
                <a:latin typeface="-apple-system"/>
              </a:rPr>
              <a:t>n</a:t>
            </a:r>
            <a:r>
              <a:rPr lang="en-GB" sz="2200" b="1" i="0" dirty="0">
                <a:effectLst/>
                <a:latin typeface="-apple-system"/>
              </a:rPr>
              <a:t> continuous</a:t>
            </a:r>
            <a:r>
              <a:rPr lang="en-GB" sz="2200" b="0" i="0" dirty="0">
                <a:effectLst/>
                <a:latin typeface="-apple-system"/>
              </a:rPr>
              <a:t> if the </a:t>
            </a:r>
            <a:r>
              <a:rPr lang="en-GB" sz="2200" b="1" i="1" dirty="0">
                <a:effectLst/>
                <a:latin typeface="MJXc-TeX-math-I"/>
              </a:rPr>
              <a:t>n</a:t>
            </a:r>
            <a:r>
              <a:rPr lang="en-GB" sz="2200" b="0" i="0" dirty="0">
                <a:effectLst/>
                <a:latin typeface="-apple-system"/>
              </a:rPr>
              <a:t>th derivative is continuous</a:t>
            </a:r>
            <a:r>
              <a:rPr lang="zh-CN" altLang="en-US" sz="2200" b="0" i="0" dirty="0">
                <a:effectLst/>
                <a:latin typeface="-apple-system"/>
              </a:rPr>
              <a:t> </a:t>
            </a:r>
            <a:r>
              <a:rPr lang="en-US" altLang="zh-CN" sz="2200" b="0" i="0" dirty="0">
                <a:effectLst/>
                <a:latin typeface="-apple-system"/>
              </a:rPr>
              <a:t>(</a:t>
            </a:r>
            <a:r>
              <a:rPr lang="en-GB" sz="2200" b="1" dirty="0"/>
              <a:t>smoothness class</a:t>
            </a:r>
            <a:r>
              <a:rPr lang="en-US" altLang="zh-CN" sz="2200" b="0" i="0" dirty="0">
                <a:effectLst/>
                <a:latin typeface="-apple-system"/>
              </a:rPr>
              <a:t>)</a:t>
            </a:r>
            <a:r>
              <a:rPr lang="en-GB" sz="2200" b="0" i="0" dirty="0">
                <a:effectLst/>
                <a:latin typeface="-apple-system"/>
              </a:rPr>
              <a:t>.</a:t>
            </a:r>
            <a:endParaRPr lang="en-US" sz="2200" dirty="0"/>
          </a:p>
        </p:txBody>
      </p:sp>
      <p:pic>
        <p:nvPicPr>
          <p:cNvPr id="4098" name="Picture 2">
            <a:extLst>
              <a:ext uri="{FF2B5EF4-FFF2-40B4-BE49-F238E27FC236}">
                <a16:creationId xmlns:a16="http://schemas.microsoft.com/office/drawing/2014/main" id="{565ABA79-DC21-579E-E228-2A0E0219656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92735" y="3238022"/>
            <a:ext cx="6180794" cy="288437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DE9B53CE-C36B-E111-992D-4C611454A427}"/>
              </a:ext>
            </a:extLst>
          </p:cNvPr>
          <p:cNvSpPr txBox="1"/>
          <p:nvPr/>
        </p:nvSpPr>
        <p:spPr>
          <a:xfrm>
            <a:off x="2549236" y="6115735"/>
            <a:ext cx="6098290" cy="646331"/>
          </a:xfrm>
          <a:prstGeom prst="rect">
            <a:avLst/>
          </a:prstGeom>
          <a:noFill/>
        </p:spPr>
        <p:txBody>
          <a:bodyPr wrap="square">
            <a:spAutoFit/>
          </a:bodyPr>
          <a:lstStyle/>
          <a:p>
            <a:r>
              <a:rPr lang="en-GB" b="0" i="1" dirty="0">
                <a:effectLst/>
                <a:latin typeface="-apple-system"/>
              </a:rPr>
              <a:t>Image: left-to-right, top-to-bottom discontinuous, </a:t>
            </a:r>
            <a:r>
              <a:rPr lang="en-GB" b="0" i="0" dirty="0">
                <a:effectLst/>
                <a:latin typeface="-apple-system"/>
              </a:rPr>
              <a:t>C0</a:t>
            </a:r>
            <a:r>
              <a:rPr lang="en-GB" b="0" i="1" dirty="0">
                <a:effectLst/>
                <a:latin typeface="-apple-system"/>
              </a:rPr>
              <a:t>, </a:t>
            </a:r>
            <a:r>
              <a:rPr lang="en-GB" b="0" i="0" dirty="0">
                <a:effectLst/>
                <a:latin typeface="-apple-system"/>
              </a:rPr>
              <a:t>C1</a:t>
            </a:r>
            <a:r>
              <a:rPr lang="en-GB" b="0" i="1" dirty="0">
                <a:effectLst/>
                <a:latin typeface="-apple-system"/>
              </a:rPr>
              <a:t>, </a:t>
            </a:r>
            <a:r>
              <a:rPr lang="en-GB" b="0" i="0" dirty="0">
                <a:effectLst/>
                <a:latin typeface="-apple-system"/>
              </a:rPr>
              <a:t>C2</a:t>
            </a:r>
            <a:r>
              <a:rPr lang="en-GB" b="0" i="1" dirty="0">
                <a:effectLst/>
                <a:latin typeface="-apple-system"/>
              </a:rPr>
              <a:t> continuous functions</a:t>
            </a:r>
            <a:endParaRPr lang="en-US" dirty="0"/>
          </a:p>
        </p:txBody>
      </p:sp>
    </p:spTree>
    <p:extLst>
      <p:ext uri="{BB962C8B-B14F-4D97-AF65-F5344CB8AC3E}">
        <p14:creationId xmlns:p14="http://schemas.microsoft.com/office/powerpoint/2010/main" val="75732888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648FF2-C602-AEE9-804A-DBC6A3DE8204}"/>
              </a:ext>
            </a:extLst>
          </p:cNvPr>
          <p:cNvSpPr>
            <a:spLocks noGrp="1"/>
          </p:cNvSpPr>
          <p:nvPr>
            <p:ph type="title"/>
          </p:nvPr>
        </p:nvSpPr>
        <p:spPr/>
        <p:txBody>
          <a:bodyPr/>
          <a:lstStyle/>
          <a:p>
            <a:r>
              <a:rPr lang="en-US" dirty="0"/>
              <a:t>continuous derivatives vs differentiable</a:t>
            </a:r>
          </a:p>
        </p:txBody>
      </p:sp>
      <p:sp>
        <p:nvSpPr>
          <p:cNvPr id="3" name="Content Placeholder 2">
            <a:extLst>
              <a:ext uri="{FF2B5EF4-FFF2-40B4-BE49-F238E27FC236}">
                <a16:creationId xmlns:a16="http://schemas.microsoft.com/office/drawing/2014/main" id="{AE36B54B-F0CD-0DD6-8A50-2BA464450964}"/>
              </a:ext>
            </a:extLst>
          </p:cNvPr>
          <p:cNvSpPr>
            <a:spLocks noGrp="1"/>
          </p:cNvSpPr>
          <p:nvPr>
            <p:ph sz="quarter" idx="13"/>
          </p:nvPr>
        </p:nvSpPr>
        <p:spPr/>
        <p:txBody>
          <a:bodyPr>
            <a:normAutofit fontScale="92500"/>
          </a:bodyPr>
          <a:lstStyle/>
          <a:p>
            <a:pPr algn="l"/>
            <a:r>
              <a:rPr lang="en-GB" b="0" i="0" dirty="0">
                <a:effectLst/>
              </a:rPr>
              <a:t>There is a difference between </a:t>
            </a:r>
            <a:r>
              <a:rPr lang="en-GB" b="1" i="1" dirty="0">
                <a:effectLst/>
              </a:rPr>
              <a:t>having continuous derivatives</a:t>
            </a:r>
            <a:r>
              <a:rPr lang="en-GB" b="0" i="0" dirty="0">
                <a:effectLst/>
              </a:rPr>
              <a:t> and </a:t>
            </a:r>
            <a:r>
              <a:rPr lang="en-GB" b="1" i="1" dirty="0">
                <a:effectLst/>
              </a:rPr>
              <a:t>knowing what those derivatives are</a:t>
            </a:r>
            <a:r>
              <a:rPr lang="en-GB" b="0" i="0" dirty="0">
                <a:effectLst/>
              </a:rPr>
              <a:t>.</a:t>
            </a:r>
          </a:p>
          <a:p>
            <a:r>
              <a:rPr lang="en-GB" dirty="0"/>
              <a:t>First order optimisation uses the (first) derivatives of the objective function with respect to the parameters. These techniques can only be applied if the objective function is:</a:t>
            </a:r>
          </a:p>
          <a:p>
            <a:pPr lvl="1"/>
            <a:r>
              <a:rPr lang="en-GB" dirty="0"/>
              <a:t>At least </a:t>
            </a:r>
            <a:r>
              <a:rPr lang="en-GB" b="1" dirty="0"/>
              <a:t>continuous</a:t>
            </a:r>
            <a:r>
              <a:rPr lang="en-GB" dirty="0"/>
              <a:t> i.e. no step changes anywhere in the function or its derivative</a:t>
            </a:r>
          </a:p>
          <a:p>
            <a:pPr lvl="1"/>
            <a:r>
              <a:rPr lang="en-GB" b="1" dirty="0"/>
              <a:t>differentiable</a:t>
            </a:r>
            <a:r>
              <a:rPr lang="en-GB" dirty="0"/>
              <a:t> </a:t>
            </a:r>
            <a:r>
              <a:rPr lang="en-US" altLang="zh-CN" dirty="0"/>
              <a:t>(</a:t>
            </a:r>
            <a:r>
              <a:rPr lang="en-US" sz="2400" b="1" dirty="0">
                <a:effectLst/>
                <a:ea typeface="Aptos" panose="020B0004020202020204" pitchFamily="34" charset="0"/>
              </a:rPr>
              <a:t>Analytically we can derive the derivative</a:t>
            </a:r>
            <a:r>
              <a:rPr lang="en-US" altLang="zh-CN" dirty="0"/>
              <a:t>)</a:t>
            </a:r>
            <a:r>
              <a:rPr lang="zh-CN" altLang="en-US" dirty="0"/>
              <a:t> </a:t>
            </a:r>
            <a:r>
              <a:rPr lang="en-GB" dirty="0"/>
              <a:t>i.e. gradient is defined everywhere</a:t>
            </a:r>
          </a:p>
          <a:p>
            <a:pPr marL="0" indent="0">
              <a:buNone/>
            </a:pPr>
            <a:r>
              <a:rPr lang="en-GB" dirty="0"/>
              <a:t>(though we will see that these constraints can be relaxed a bit in practice).</a:t>
            </a:r>
          </a:p>
          <a:p>
            <a:r>
              <a:rPr lang="en-GB" dirty="0"/>
              <a:t>Many objective functions satisfy these conditions, and first-order methods can be vastly more efficient than zeroth-order methods. For particular classes of functions (e.g. convex) there are known bounds on number of steps required to converge for specific first-order optimizers.</a:t>
            </a:r>
            <a:br>
              <a:rPr lang="en-GB" dirty="0"/>
            </a:br>
            <a:endParaRPr lang="en-US" dirty="0"/>
          </a:p>
        </p:txBody>
      </p:sp>
    </p:spTree>
    <p:extLst>
      <p:ext uri="{BB962C8B-B14F-4D97-AF65-F5344CB8AC3E}">
        <p14:creationId xmlns:p14="http://schemas.microsoft.com/office/powerpoint/2010/main" val="282200203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05C72F-73B5-7117-AA6B-0FEAAE97AED1}"/>
              </a:ext>
            </a:extLst>
          </p:cNvPr>
          <p:cNvSpPr>
            <a:spLocks noGrp="1"/>
          </p:cNvSpPr>
          <p:nvPr>
            <p:ph type="title"/>
          </p:nvPr>
        </p:nvSpPr>
        <p:spPr/>
        <p:txBody>
          <a:bodyPr/>
          <a:lstStyle/>
          <a:p>
            <a:r>
              <a:rPr lang="en-GB" dirty="0"/>
              <a:t>Lipschitz Continuity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554C711-3C62-F463-CDCE-826A0DEDA35B}"/>
                  </a:ext>
                </a:extLst>
              </p:cNvPr>
              <p:cNvSpPr>
                <a:spLocks noGrp="1"/>
              </p:cNvSpPr>
              <p:nvPr>
                <p:ph sz="quarter" idx="13"/>
              </p:nvPr>
            </p:nvSpPr>
            <p:spPr/>
            <p:txBody>
              <a:bodyPr/>
              <a:lstStyle/>
              <a:p>
                <a:pPr marL="0" indent="0">
                  <a:buNone/>
                </a:pPr>
                <a:r>
                  <a:rPr lang="en-US" dirty="0"/>
                  <a:t>First (and higher) order optimization require a loss function </a:t>
                </a:r>
                <a14:m>
                  <m:oMath xmlns:m="http://schemas.openxmlformats.org/officeDocument/2006/math">
                    <m:r>
                      <a:rPr lang="en-GB" b="0" i="1" smtClean="0">
                        <a:latin typeface="Cambria Math" panose="02040503050406030204" pitchFamily="18" charset="0"/>
                        <a:ea typeface="Cambria Math" panose="02040503050406030204" pitchFamily="18" charset="0"/>
                      </a:rPr>
                      <m:t>𝐿</m:t>
                    </m:r>
                    <m:d>
                      <m:dPr>
                        <m:ctrlPr>
                          <a:rPr lang="en-GB" b="0" i="1" smtClean="0">
                            <a:latin typeface="Cambria Math" panose="02040503050406030204" pitchFamily="18" charset="0"/>
                            <a:ea typeface="Cambria Math" panose="02040503050406030204" pitchFamily="18" charset="0"/>
                          </a:rPr>
                        </m:ctrlPr>
                      </m:dPr>
                      <m:e>
                        <m:r>
                          <a:rPr lang="en-GB" b="0" i="1" smtClean="0">
                            <a:latin typeface="Cambria Math" panose="02040503050406030204" pitchFamily="18" charset="0"/>
                            <a:ea typeface="Cambria Math" panose="02040503050406030204" pitchFamily="18" charset="0"/>
                          </a:rPr>
                          <m:t>𝜃</m:t>
                        </m:r>
                      </m:e>
                    </m:d>
                    <m:r>
                      <a:rPr lang="en-GB" b="0" i="1" smtClean="0">
                        <a:latin typeface="Cambria Math" panose="02040503050406030204" pitchFamily="18" charset="0"/>
                        <a:ea typeface="Cambria Math" panose="02040503050406030204" pitchFamily="18" charset="0"/>
                      </a:rPr>
                      <m:t>: </m:t>
                    </m:r>
                    <m:sSup>
                      <m:sSupPr>
                        <m:ctrlPr>
                          <a:rPr lang="en-GB" b="0" i="1" smtClean="0">
                            <a:latin typeface="Cambria Math" panose="02040503050406030204" pitchFamily="18" charset="0"/>
                            <a:ea typeface="Cambria Math" panose="02040503050406030204" pitchFamily="18" charset="0"/>
                          </a:rPr>
                        </m:ctrlPr>
                      </m:sSupPr>
                      <m:e>
                        <m:r>
                          <a:rPr lang="en-US" i="1" smtClean="0">
                            <a:latin typeface="Cambria Math" panose="02040503050406030204" pitchFamily="18" charset="0"/>
                            <a:ea typeface="Cambria Math" panose="02040503050406030204" pitchFamily="18" charset="0"/>
                          </a:rPr>
                          <m:t>ℝ</m:t>
                        </m:r>
                      </m:e>
                      <m:sup>
                        <m:r>
                          <a:rPr lang="en-GB" b="0" i="1" smtClean="0">
                            <a:latin typeface="Cambria Math" panose="02040503050406030204" pitchFamily="18" charset="0"/>
                            <a:ea typeface="Cambria Math" panose="02040503050406030204" pitchFamily="18" charset="0"/>
                          </a:rPr>
                          <m:t>𝑛</m:t>
                        </m:r>
                      </m:sup>
                    </m:sSup>
                    <m:r>
                      <a:rPr lang="en-GB" b="0" i="1" smtClean="0">
                        <a:latin typeface="Cambria Math" panose="02040503050406030204" pitchFamily="18" charset="0"/>
                        <a:ea typeface="Cambria Math" panose="02040503050406030204" pitchFamily="18" charset="0"/>
                      </a:rPr>
                      <m:t>→</m:t>
                    </m:r>
                    <m:r>
                      <a:rPr lang="en-GB" b="0" i="1" smtClean="0">
                        <a:latin typeface="Cambria Math" panose="02040503050406030204" pitchFamily="18" charset="0"/>
                        <a:ea typeface="Cambria Math" panose="02040503050406030204" pitchFamily="18" charset="0"/>
                      </a:rPr>
                      <m:t>ℝ</m:t>
                    </m:r>
                  </m:oMath>
                </a14:m>
                <a:r>
                  <a:rPr lang="en-US" dirty="0"/>
                  <a:t> to be </a:t>
                </a:r>
                <a:r>
                  <a:rPr lang="en-US" b="1" dirty="0"/>
                  <a:t>Lipschitz continuous</a:t>
                </a:r>
                <a:r>
                  <a:rPr lang="en-US" dirty="0"/>
                  <a:t>: </a:t>
                </a:r>
              </a:p>
              <a:p>
                <a:pPr lvl="1"/>
                <a:r>
                  <a:rPr lang="en-US" dirty="0"/>
                  <a:t>its </a:t>
                </a:r>
                <a:r>
                  <a:rPr lang="en-US" b="1" dirty="0"/>
                  <a:t>gradient is bounded</a:t>
                </a:r>
                <a:r>
                  <a:rPr lang="en-US" dirty="0"/>
                  <a:t> and the function cannot change more quickly than some constant. </a:t>
                </a:r>
              </a:p>
              <a:p>
                <a:pPr marL="457200" lvl="1" indent="0">
                  <a:buNone/>
                </a:pPr>
                <a:r>
                  <a:rPr lang="en-US" dirty="0"/>
                  <a:t>In other words, there is a maximum steepness:  </a:t>
                </a:r>
              </a:p>
              <a:p>
                <a:pPr marL="0" indent="0" algn="ctr">
                  <a:buNone/>
                </a:pPr>
                <a14:m>
                  <m:oMath xmlns:m="http://schemas.openxmlformats.org/officeDocument/2006/math">
                    <m:f>
                      <m:fPr>
                        <m:ctrlPr>
                          <a:rPr lang="en-US" i="1" smtClean="0">
                            <a:latin typeface="Cambria Math" panose="02040503050406030204" pitchFamily="18" charset="0"/>
                          </a:rPr>
                        </m:ctrlPr>
                      </m:fPr>
                      <m:num>
                        <m:r>
                          <a:rPr lang="en-US" i="1" smtClean="0">
                            <a:latin typeface="Cambria Math" panose="02040503050406030204" pitchFamily="18" charset="0"/>
                            <a:ea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𝐿</m:t>
                        </m:r>
                        <m:r>
                          <a:rPr lang="en-GB" b="0" i="1" smtClean="0">
                            <a:latin typeface="Cambria Math" panose="02040503050406030204" pitchFamily="18" charset="0"/>
                            <a:ea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𝜃</m:t>
                        </m:r>
                        <m:r>
                          <a:rPr lang="en-GB" b="0" i="1" smtClean="0">
                            <a:latin typeface="Cambria Math" panose="02040503050406030204" pitchFamily="18" charset="0"/>
                            <a:ea typeface="Cambria Math" panose="02040503050406030204" pitchFamily="18" charset="0"/>
                          </a:rPr>
                          <m:t>)</m:t>
                        </m:r>
                      </m:num>
                      <m:den>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𝜃</m:t>
                            </m:r>
                          </m:e>
                          <m:sub>
                            <m:r>
                              <a:rPr lang="en-GB" b="0" i="1" smtClean="0">
                                <a:latin typeface="Cambria Math" panose="02040503050406030204" pitchFamily="18" charset="0"/>
                              </a:rPr>
                              <m:t>𝑖</m:t>
                            </m:r>
                          </m:sub>
                        </m:sSub>
                      </m:den>
                    </m:f>
                    <m:r>
                      <a:rPr lang="en-GB" b="0" i="1" smtClean="0">
                        <a:latin typeface="Cambria Math" panose="02040503050406030204" pitchFamily="18" charset="0"/>
                      </a:rPr>
                      <m:t>&lt;</m:t>
                    </m:r>
                    <m:r>
                      <a:rPr lang="en-GB" b="0" i="1" smtClean="0">
                        <a:latin typeface="Cambria Math" panose="02040503050406030204" pitchFamily="18" charset="0"/>
                      </a:rPr>
                      <m:t>𝐾</m:t>
                    </m:r>
                  </m:oMath>
                </a14:m>
                <a:r>
                  <a:rPr lang="en-US" dirty="0"/>
                  <a:t> for all </a:t>
                </a:r>
                <a14:m>
                  <m:oMath xmlns:m="http://schemas.openxmlformats.org/officeDocument/2006/math">
                    <m:r>
                      <a:rPr lang="en-GB" b="0" i="1" smtClean="0">
                        <a:latin typeface="Cambria Math" panose="02040503050406030204" pitchFamily="18" charset="0"/>
                      </a:rPr>
                      <m:t>𝑖</m:t>
                    </m:r>
                  </m:oMath>
                </a14:m>
                <a:r>
                  <a:rPr lang="en-US" dirty="0"/>
                  <a:t> and some </a:t>
                </a:r>
                <a14:m>
                  <m:oMath xmlns:m="http://schemas.openxmlformats.org/officeDocument/2006/math">
                    <m:r>
                      <a:rPr lang="en-US" i="1" dirty="0" smtClean="0">
                        <a:latin typeface="Cambria Math" panose="02040503050406030204" pitchFamily="18" charset="0"/>
                      </a:rPr>
                      <m:t>𝐾</m:t>
                    </m:r>
                  </m:oMath>
                </a14:m>
                <a:endParaRPr lang="en-US" dirty="0"/>
              </a:p>
              <a:p>
                <a:pPr lvl="1"/>
                <a:r>
                  <a:rPr lang="en-US" dirty="0"/>
                  <a:t>K is called the </a:t>
                </a:r>
                <a:r>
                  <a:rPr lang="en-US" dirty="0" err="1"/>
                  <a:t>Lispchitz</a:t>
                </a:r>
                <a:r>
                  <a:rPr lang="en-US" dirty="0"/>
                  <a:t> constant</a:t>
                </a:r>
              </a:p>
              <a:p>
                <a:pPr marL="0" indent="0" algn="ctr">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𝐾</m:t>
                      </m:r>
                      <m:r>
                        <a:rPr lang="en-US" i="1">
                          <a:latin typeface="Cambria Math" panose="02040503050406030204" pitchFamily="18" charset="0"/>
                        </a:rPr>
                        <m:t> =</m:t>
                      </m:r>
                      <m:r>
                        <m:rPr>
                          <m:sty m:val="p"/>
                        </m:rPr>
                        <a:rPr lang="en-GB" b="0" i="0" smtClean="0">
                          <a:latin typeface="Cambria Math" panose="02040503050406030204" pitchFamily="18" charset="0"/>
                        </a:rPr>
                        <m:t>sup</m:t>
                      </m:r>
                      <m:d>
                        <m:dPr>
                          <m:begChr m:val="["/>
                          <m:endChr m:val="]"/>
                          <m:ctrlPr>
                            <a:rPr lang="en-GB" b="0" i="1" smtClean="0">
                              <a:latin typeface="Cambria Math" panose="02040503050406030204" pitchFamily="18" charset="0"/>
                            </a:rPr>
                          </m:ctrlPr>
                        </m:dPr>
                        <m:e>
                          <m:f>
                            <m:fPr>
                              <m:ctrlPr>
                                <a:rPr lang="en-GB" b="0" i="1" smtClean="0">
                                  <a:latin typeface="Cambria Math" panose="02040503050406030204" pitchFamily="18" charset="0"/>
                                </a:rPr>
                              </m:ctrlPr>
                            </m:fPr>
                            <m:num>
                              <m:d>
                                <m:dPr>
                                  <m:begChr m:val="|"/>
                                  <m:endChr m:val="|"/>
                                  <m:ctrlPr>
                                    <a:rPr lang="en-GB" b="0" i="1" smtClean="0">
                                      <a:latin typeface="Cambria Math" panose="02040503050406030204" pitchFamily="18" charset="0"/>
                                    </a:rPr>
                                  </m:ctrlPr>
                                </m:dPr>
                                <m:e>
                                  <m:r>
                                    <a:rPr lang="en-GB" b="0" i="1" smtClean="0">
                                      <a:latin typeface="Cambria Math" panose="02040503050406030204" pitchFamily="18" charset="0"/>
                                    </a:rPr>
                                    <m:t>𝑓</m:t>
                                  </m:r>
                                  <m:d>
                                    <m:dPr>
                                      <m:ctrlPr>
                                        <a:rPr lang="en-GB" b="0" i="1" smtClean="0">
                                          <a:latin typeface="Cambria Math" panose="02040503050406030204" pitchFamily="18" charset="0"/>
                                        </a:rPr>
                                      </m:ctrlPr>
                                    </m:dPr>
                                    <m:e>
                                      <m:r>
                                        <a:rPr lang="en-GB" b="0" i="1" smtClean="0">
                                          <a:latin typeface="Cambria Math" panose="02040503050406030204" pitchFamily="18" charset="0"/>
                                        </a:rPr>
                                        <m:t>𝑥</m:t>
                                      </m:r>
                                    </m:e>
                                  </m:d>
                                  <m:r>
                                    <a:rPr lang="en-GB" b="0" i="1" smtClean="0">
                                      <a:latin typeface="Cambria Math" panose="02040503050406030204" pitchFamily="18" charset="0"/>
                                    </a:rPr>
                                    <m:t>−</m:t>
                                  </m:r>
                                  <m:r>
                                    <a:rPr lang="en-GB" b="0" i="1" smtClean="0">
                                      <a:latin typeface="Cambria Math" panose="02040503050406030204" pitchFamily="18" charset="0"/>
                                    </a:rPr>
                                    <m:t>𝑓</m:t>
                                  </m:r>
                                  <m:r>
                                    <a:rPr lang="en-GB" b="0" i="1" smtClean="0">
                                      <a:latin typeface="Cambria Math" panose="02040503050406030204" pitchFamily="18" charset="0"/>
                                    </a:rPr>
                                    <m:t>(</m:t>
                                  </m:r>
                                  <m:r>
                                    <a:rPr lang="en-GB" b="0" i="1" smtClean="0">
                                      <a:latin typeface="Cambria Math" panose="02040503050406030204" pitchFamily="18" charset="0"/>
                                    </a:rPr>
                                    <m:t>𝑦</m:t>
                                  </m:r>
                                  <m:r>
                                    <a:rPr lang="en-GB" b="0" i="1" smtClean="0">
                                      <a:latin typeface="Cambria Math" panose="02040503050406030204" pitchFamily="18" charset="0"/>
                                    </a:rPr>
                                    <m:t>)</m:t>
                                  </m:r>
                                </m:e>
                              </m:d>
                            </m:num>
                            <m:den>
                              <m:d>
                                <m:dPr>
                                  <m:begChr m:val="|"/>
                                  <m:endChr m:val="|"/>
                                  <m:ctrlPr>
                                    <a:rPr lang="en-GB" b="0" i="1" smtClean="0">
                                      <a:latin typeface="Cambria Math" panose="02040503050406030204" pitchFamily="18" charset="0"/>
                                    </a:rPr>
                                  </m:ctrlPr>
                                </m:dPr>
                                <m:e>
                                  <m:r>
                                    <a:rPr lang="en-GB" b="0" i="1" smtClean="0">
                                      <a:latin typeface="Cambria Math" panose="02040503050406030204" pitchFamily="18" charset="0"/>
                                    </a:rPr>
                                    <m:t>𝑥</m:t>
                                  </m:r>
                                  <m:r>
                                    <a:rPr lang="en-GB" b="0" i="1" smtClean="0">
                                      <a:latin typeface="Cambria Math" panose="02040503050406030204" pitchFamily="18" charset="0"/>
                                    </a:rPr>
                                    <m:t>−</m:t>
                                  </m:r>
                                  <m:r>
                                    <a:rPr lang="en-GB" b="0" i="1" smtClean="0">
                                      <a:latin typeface="Cambria Math" panose="02040503050406030204" pitchFamily="18" charset="0"/>
                                    </a:rPr>
                                    <m:t>𝑦</m:t>
                                  </m:r>
                                </m:e>
                              </m:d>
                            </m:den>
                          </m:f>
                        </m:e>
                      </m:d>
                    </m:oMath>
                  </m:oMathPara>
                </a14:m>
                <a:endParaRPr lang="en-US" dirty="0"/>
              </a:p>
              <a:p>
                <a:pPr marL="0" indent="0" algn="ctr">
                  <a:buNone/>
                </a:pPr>
                <a:r>
                  <a:rPr lang="en-US" dirty="0"/>
                  <a:t>Where sup is the </a:t>
                </a:r>
                <a:r>
                  <a:rPr lang="en-US" i="1" dirty="0"/>
                  <a:t>supremum, </a:t>
                </a:r>
                <a:r>
                  <a:rPr lang="en-US" dirty="0"/>
                  <a:t>the smallest value that is larger than (or equal to) every value of this function</a:t>
                </a:r>
              </a:p>
            </p:txBody>
          </p:sp>
        </mc:Choice>
        <mc:Fallback xmlns="">
          <p:sp>
            <p:nvSpPr>
              <p:cNvPr id="3" name="Content Placeholder 2">
                <a:extLst>
                  <a:ext uri="{FF2B5EF4-FFF2-40B4-BE49-F238E27FC236}">
                    <a16:creationId xmlns:a16="http://schemas.microsoft.com/office/drawing/2014/main" id="{5554C711-3C62-F463-CDCE-826A0DEDA35B}"/>
                  </a:ext>
                </a:extLst>
              </p:cNvPr>
              <p:cNvSpPr>
                <a:spLocks noGrp="1" noRot="1" noChangeAspect="1" noMove="1" noResize="1" noEditPoints="1" noAdjustHandles="1" noChangeArrowheads="1" noChangeShapeType="1" noTextEdit="1"/>
              </p:cNvSpPr>
              <p:nvPr>
                <p:ph sz="quarter" idx="13"/>
              </p:nvPr>
            </p:nvSpPr>
            <p:spPr>
              <a:blipFill>
                <a:blip r:embed="rId2"/>
                <a:stretch>
                  <a:fillRect l="-850" t="-1720"/>
                </a:stretch>
              </a:blipFill>
            </p:spPr>
            <p:txBody>
              <a:bodyPr/>
              <a:lstStyle/>
              <a:p>
                <a:r>
                  <a:rPr lang="en-GB">
                    <a:noFill/>
                  </a:rPr>
                  <a:t> </a:t>
                </a:r>
              </a:p>
            </p:txBody>
          </p:sp>
        </mc:Fallback>
      </mc:AlternateContent>
    </p:spTree>
    <p:extLst>
      <p:ext uri="{BB962C8B-B14F-4D97-AF65-F5344CB8AC3E}">
        <p14:creationId xmlns:p14="http://schemas.microsoft.com/office/powerpoint/2010/main" val="24456634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0BAC29-53FE-70D9-50AA-3ED16C44C659}"/>
              </a:ext>
            </a:extLst>
          </p:cNvPr>
          <p:cNvSpPr>
            <a:spLocks noGrp="1"/>
          </p:cNvSpPr>
          <p:nvPr>
            <p:ph type="title"/>
          </p:nvPr>
        </p:nvSpPr>
        <p:spPr/>
        <p:txBody>
          <a:bodyPr/>
          <a:lstStyle/>
          <a:p>
            <a:r>
              <a:rPr lang="en-GB" dirty="0"/>
              <a:t>Small Lipschitz constant</a:t>
            </a:r>
          </a:p>
        </p:txBody>
      </p:sp>
      <p:pic>
        <p:nvPicPr>
          <p:cNvPr id="4" name="lipschitz">
            <a:hlinkClick r:id="" action="ppaction://media"/>
            <a:extLst>
              <a:ext uri="{FF2B5EF4-FFF2-40B4-BE49-F238E27FC236}">
                <a16:creationId xmlns:a16="http://schemas.microsoft.com/office/drawing/2014/main" id="{D8B324FE-4071-1800-1701-0A2D77B517E8}"/>
              </a:ext>
            </a:extLst>
          </p:cNvPr>
          <p:cNvPicPr>
            <a:picLocks noGrp="1" noChangeAspect="1"/>
          </p:cNvPicPr>
          <p:nvPr>
            <p:ph sz="quarter" idx="13"/>
            <a:videoFile r:link="rId2"/>
            <p:extLst>
              <p:ext uri="{DAA4B4D4-6D71-4841-9C94-3DE7FCFB9230}">
                <p14:media xmlns:p14="http://schemas.microsoft.com/office/powerpoint/2010/main" r:embed="rId1"/>
              </p:ext>
            </p:extLst>
          </p:nvPr>
        </p:nvPicPr>
        <p:blipFill>
          <a:blip r:embed="rId4"/>
          <a:stretch>
            <a:fillRect/>
          </a:stretch>
        </p:blipFill>
        <p:spPr>
          <a:xfrm>
            <a:off x="2568575" y="1627188"/>
            <a:ext cx="6910388" cy="4606925"/>
          </a:xfrm>
        </p:spPr>
      </p:pic>
    </p:spTree>
    <p:extLst>
      <p:ext uri="{BB962C8B-B14F-4D97-AF65-F5344CB8AC3E}">
        <p14:creationId xmlns:p14="http://schemas.microsoft.com/office/powerpoint/2010/main" val="7323547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8000"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6FF3C9-5681-4233-232E-0FACC09C5FAD}"/>
              </a:ext>
            </a:extLst>
          </p:cNvPr>
          <p:cNvSpPr>
            <a:spLocks noGrp="1"/>
          </p:cNvSpPr>
          <p:nvPr>
            <p:ph type="title"/>
          </p:nvPr>
        </p:nvSpPr>
        <p:spPr/>
        <p:txBody>
          <a:bodyPr/>
          <a:lstStyle/>
          <a:p>
            <a:r>
              <a:rPr lang="en-GB" dirty="0"/>
              <a:t>Large Lipschitz constant</a:t>
            </a:r>
          </a:p>
        </p:txBody>
      </p:sp>
      <p:pic>
        <p:nvPicPr>
          <p:cNvPr id="4" name="lipschitz_big">
            <a:hlinkClick r:id="" action="ppaction://media"/>
            <a:extLst>
              <a:ext uri="{FF2B5EF4-FFF2-40B4-BE49-F238E27FC236}">
                <a16:creationId xmlns:a16="http://schemas.microsoft.com/office/drawing/2014/main" id="{BE165A95-FA4C-6039-ED26-020613BB91F6}"/>
              </a:ext>
            </a:extLst>
          </p:cNvPr>
          <p:cNvPicPr>
            <a:picLocks noGrp="1" noChangeAspect="1"/>
          </p:cNvPicPr>
          <p:nvPr>
            <p:ph sz="quarter" idx="13"/>
            <a:videoFile r:link="rId2"/>
            <p:extLst>
              <p:ext uri="{DAA4B4D4-6D71-4841-9C94-3DE7FCFB9230}">
                <p14:media xmlns:p14="http://schemas.microsoft.com/office/powerpoint/2010/main" r:embed="rId1"/>
              </p:ext>
            </p:extLst>
          </p:nvPr>
        </p:nvPicPr>
        <p:blipFill>
          <a:blip r:embed="rId4"/>
          <a:stretch>
            <a:fillRect/>
          </a:stretch>
        </p:blipFill>
        <p:spPr>
          <a:xfrm>
            <a:off x="2568575" y="1627188"/>
            <a:ext cx="6910388" cy="4606925"/>
          </a:xfrm>
        </p:spPr>
      </p:pic>
    </p:spTree>
    <p:extLst>
      <p:ext uri="{BB962C8B-B14F-4D97-AF65-F5344CB8AC3E}">
        <p14:creationId xmlns:p14="http://schemas.microsoft.com/office/powerpoint/2010/main" val="9189440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8000"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2799F0C-5707-B176-259F-957F099144F0}"/>
                  </a:ext>
                </a:extLst>
              </p:cNvPr>
              <p:cNvSpPr>
                <a:spLocks noGrp="1"/>
              </p:cNvSpPr>
              <p:nvPr>
                <p:ph sz="half" idx="1"/>
              </p:nvPr>
            </p:nvSpPr>
            <p:spPr/>
            <p:txBody>
              <a:bodyPr>
                <a:noAutofit/>
              </a:bodyPr>
              <a:lstStyle/>
              <a:p>
                <a:pPr marL="342900" lvl="0" indent="-342900">
                  <a:lnSpc>
                    <a:spcPct val="100000"/>
                  </a:lnSpc>
                  <a:spcAft>
                    <a:spcPts val="600"/>
                  </a:spcAft>
                  <a:buFont typeface="Symbol" pitchFamily="2" charset="2"/>
                  <a:buChar char=""/>
                  <a:tabLst>
                    <a:tab pos="457200" algn="l"/>
                  </a:tabLst>
                </a:pPr>
                <a:r>
                  <a:rPr lang="en-US" sz="2200" dirty="0">
                    <a:effectLst/>
                    <a:ea typeface="Aptos" panose="020B0004020202020204" pitchFamily="34" charset="0"/>
                  </a:rPr>
                  <a:t>compute the derivative </a:t>
                </a:r>
                <a14:m>
                  <m:oMath xmlns:m="http://schemas.openxmlformats.org/officeDocument/2006/math">
                    <m:sSup>
                      <m:sSupPr>
                        <m:ctrlPr>
                          <a:rPr lang="en-GB" sz="2200" i="1">
                            <a:effectLst/>
                            <a:latin typeface="Cambria Math" panose="02040503050406030204" pitchFamily="18" charset="0"/>
                            <a:ea typeface="Aptos" panose="020B0004020202020204" pitchFamily="34" charset="0"/>
                            <a:cs typeface="Times New Roman" panose="02020603050405020304" pitchFamily="18" charset="0"/>
                          </a:rPr>
                        </m:ctrlPr>
                      </m:sSupPr>
                      <m:e>
                        <m:r>
                          <a:rPr lang="en-US" sz="2200" i="1">
                            <a:effectLst/>
                            <a:latin typeface="Cambria Math" panose="02040503050406030204" pitchFamily="18" charset="0"/>
                            <a:ea typeface="Aptos" panose="020B0004020202020204" pitchFamily="34" charset="0"/>
                            <a:cs typeface="Times New Roman" panose="02020603050405020304" pitchFamily="18" charset="0"/>
                          </a:rPr>
                          <m:t>𝑓</m:t>
                        </m:r>
                      </m:e>
                      <m:sup>
                        <m:r>
                          <a:rPr lang="en-US" sz="2200" i="1">
                            <a:effectLst/>
                            <a:latin typeface="Cambria Math" panose="02040503050406030204" pitchFamily="18" charset="0"/>
                            <a:ea typeface="Aptos" panose="020B0004020202020204" pitchFamily="34" charset="0"/>
                            <a:cs typeface="Times New Roman" panose="02020603050405020304" pitchFamily="18" charset="0"/>
                          </a:rPr>
                          <m:t>′</m:t>
                        </m:r>
                      </m:sup>
                    </m:sSup>
                    <m:r>
                      <a:rPr lang="en-US" sz="2200">
                        <a:effectLst/>
                        <a:latin typeface="Cambria Math" panose="02040503050406030204" pitchFamily="18" charset="0"/>
                        <a:ea typeface="Aptos" panose="020B0004020202020204" pitchFamily="34" charset="0"/>
                        <a:cs typeface="Times New Roman" panose="02020603050405020304" pitchFamily="18" charset="0"/>
                      </a:rPr>
                      <m:t>(</m:t>
                    </m:r>
                    <m:r>
                      <a:rPr lang="en-US" sz="2200" i="1">
                        <a:effectLst/>
                        <a:latin typeface="Cambria Math" panose="02040503050406030204" pitchFamily="18" charset="0"/>
                        <a:ea typeface="Aptos" panose="020B0004020202020204" pitchFamily="34" charset="0"/>
                        <a:cs typeface="Times New Roman" panose="02020603050405020304" pitchFamily="18" charset="0"/>
                      </a:rPr>
                      <m:t>𝑥</m:t>
                    </m:r>
                    <m:r>
                      <a:rPr lang="en-US" sz="2200">
                        <a:effectLst/>
                        <a:latin typeface="Cambria Math" panose="02040503050406030204" pitchFamily="18" charset="0"/>
                        <a:ea typeface="Aptos" panose="020B0004020202020204" pitchFamily="34" charset="0"/>
                        <a:cs typeface="Times New Roman" panose="02020603050405020304" pitchFamily="18" charset="0"/>
                      </a:rPr>
                      <m:t>)=</m:t>
                    </m:r>
                    <m:f>
                      <m:fPr>
                        <m:ctrlPr>
                          <a:rPr lang="en-GB" sz="2200" i="1">
                            <a:effectLst/>
                            <a:latin typeface="Cambria Math" panose="02040503050406030204" pitchFamily="18" charset="0"/>
                            <a:ea typeface="Aptos" panose="020B0004020202020204" pitchFamily="34" charset="0"/>
                            <a:cs typeface="Times New Roman" panose="02020603050405020304" pitchFamily="18" charset="0"/>
                          </a:rPr>
                        </m:ctrlPr>
                      </m:fPr>
                      <m:num>
                        <m:r>
                          <a:rPr lang="en-US" sz="2200" i="1">
                            <a:effectLst/>
                            <a:latin typeface="Cambria Math" panose="02040503050406030204" pitchFamily="18" charset="0"/>
                            <a:ea typeface="Aptos" panose="020B0004020202020204" pitchFamily="34" charset="0"/>
                            <a:cs typeface="Times New Roman" panose="02020603050405020304" pitchFamily="18" charset="0"/>
                          </a:rPr>
                          <m:t>𝑑</m:t>
                        </m:r>
                      </m:num>
                      <m:den>
                        <m:r>
                          <a:rPr lang="en-US" sz="2200" i="1">
                            <a:effectLst/>
                            <a:latin typeface="Cambria Math" panose="02040503050406030204" pitchFamily="18" charset="0"/>
                            <a:ea typeface="Aptos" panose="020B0004020202020204" pitchFamily="34" charset="0"/>
                            <a:cs typeface="Times New Roman" panose="02020603050405020304" pitchFamily="18" charset="0"/>
                          </a:rPr>
                          <m:t>𝑑𝑥</m:t>
                        </m:r>
                      </m:den>
                    </m:f>
                    <m:r>
                      <a:rPr lang="en-US" sz="2200" i="1">
                        <a:effectLst/>
                        <a:latin typeface="Cambria Math" panose="02040503050406030204" pitchFamily="18" charset="0"/>
                        <a:ea typeface="Aptos" panose="020B0004020202020204" pitchFamily="34" charset="0"/>
                        <a:cs typeface="Times New Roman" panose="02020603050405020304" pitchFamily="18" charset="0"/>
                      </a:rPr>
                      <m:t>𝑓</m:t>
                    </m:r>
                    <m:r>
                      <a:rPr lang="en-US" sz="2200">
                        <a:effectLst/>
                        <a:latin typeface="Cambria Math" panose="02040503050406030204" pitchFamily="18" charset="0"/>
                        <a:ea typeface="Aptos" panose="020B0004020202020204" pitchFamily="34" charset="0"/>
                        <a:cs typeface="Times New Roman" panose="02020603050405020304" pitchFamily="18" charset="0"/>
                      </a:rPr>
                      <m:t>(</m:t>
                    </m:r>
                    <m:r>
                      <a:rPr lang="en-US" sz="2200" i="1">
                        <a:effectLst/>
                        <a:latin typeface="Cambria Math" panose="02040503050406030204" pitchFamily="18" charset="0"/>
                        <a:ea typeface="Aptos" panose="020B0004020202020204" pitchFamily="34" charset="0"/>
                        <a:cs typeface="Times New Roman" panose="02020603050405020304" pitchFamily="18" charset="0"/>
                      </a:rPr>
                      <m:t>𝑥</m:t>
                    </m:r>
                    <m:r>
                      <a:rPr lang="en-US" sz="2200">
                        <a:effectLst/>
                        <a:latin typeface="Cambria Math" panose="02040503050406030204" pitchFamily="18" charset="0"/>
                        <a:ea typeface="Aptos" panose="020B0004020202020204" pitchFamily="34" charset="0"/>
                        <a:cs typeface="Times New Roman" panose="02020603050405020304" pitchFamily="18" charset="0"/>
                      </a:rPr>
                      <m:t>)</m:t>
                    </m:r>
                  </m:oMath>
                </a14:m>
                <a:endParaRPr lang="en-GB" sz="2200" dirty="0">
                  <a:effectLst/>
                  <a:ea typeface="Aptos" panose="020B0004020202020204" pitchFamily="34" charset="0"/>
                </a:endParaRPr>
              </a:p>
              <a:p>
                <a:pPr marL="342900" lvl="0" indent="-342900">
                  <a:lnSpc>
                    <a:spcPct val="100000"/>
                  </a:lnSpc>
                  <a:spcAft>
                    <a:spcPts val="600"/>
                  </a:spcAft>
                  <a:buFont typeface="Symbol" pitchFamily="2" charset="2"/>
                  <a:buChar char=""/>
                  <a:tabLst>
                    <a:tab pos="457200" algn="l"/>
                  </a:tabLst>
                </a:pPr>
                <a:r>
                  <a:rPr lang="en-US" sz="2200" dirty="0">
                    <a:effectLst/>
                    <a:ea typeface="Aptos" panose="020B0004020202020204" pitchFamily="34" charset="0"/>
                  </a:rPr>
                  <a:t>solve for the derivative being zero (i.e. solve </a:t>
                </a:r>
                <a14:m>
                  <m:oMath xmlns:m="http://schemas.openxmlformats.org/officeDocument/2006/math">
                    <m:r>
                      <a:rPr lang="en-US" sz="2200" i="1">
                        <a:effectLst/>
                        <a:latin typeface="Cambria Math" panose="02040503050406030204" pitchFamily="18" charset="0"/>
                        <a:ea typeface="Aptos" panose="020B0004020202020204" pitchFamily="34" charset="0"/>
                        <a:cs typeface="Times New Roman" panose="02020603050405020304" pitchFamily="18" charset="0"/>
                      </a:rPr>
                      <m:t>𝑥</m:t>
                    </m:r>
                  </m:oMath>
                </a14:m>
                <a:r>
                  <a:rPr lang="en-US" sz="2200" dirty="0">
                    <a:effectLst/>
                    <a:ea typeface="Aptos" panose="020B0004020202020204" pitchFamily="34" charset="0"/>
                  </a:rPr>
                  <a:t> for </a:t>
                </a:r>
                <a14:m>
                  <m:oMath xmlns:m="http://schemas.openxmlformats.org/officeDocument/2006/math">
                    <m:sSup>
                      <m:sSupPr>
                        <m:ctrlPr>
                          <a:rPr lang="en-GB" sz="2200" i="1">
                            <a:effectLst/>
                            <a:latin typeface="Cambria Math" panose="02040503050406030204" pitchFamily="18" charset="0"/>
                            <a:ea typeface="Aptos" panose="020B0004020202020204" pitchFamily="34" charset="0"/>
                            <a:cs typeface="Times New Roman" panose="02020603050405020304" pitchFamily="18" charset="0"/>
                          </a:rPr>
                        </m:ctrlPr>
                      </m:sSupPr>
                      <m:e>
                        <m:r>
                          <a:rPr lang="en-US" sz="2200" i="1">
                            <a:effectLst/>
                            <a:latin typeface="Cambria Math" panose="02040503050406030204" pitchFamily="18" charset="0"/>
                            <a:ea typeface="Aptos" panose="020B0004020202020204" pitchFamily="34" charset="0"/>
                            <a:cs typeface="Times New Roman" panose="02020603050405020304" pitchFamily="18" charset="0"/>
                          </a:rPr>
                          <m:t>𝑓</m:t>
                        </m:r>
                      </m:e>
                      <m:sup>
                        <m:r>
                          <a:rPr lang="en-US" sz="2200" i="1">
                            <a:effectLst/>
                            <a:latin typeface="Cambria Math" panose="02040503050406030204" pitchFamily="18" charset="0"/>
                            <a:ea typeface="Aptos" panose="020B0004020202020204" pitchFamily="34" charset="0"/>
                            <a:cs typeface="Times New Roman" panose="02020603050405020304" pitchFamily="18" charset="0"/>
                          </a:rPr>
                          <m:t>′</m:t>
                        </m:r>
                      </m:sup>
                    </m:sSup>
                    <m:r>
                      <a:rPr lang="en-US" sz="2200">
                        <a:effectLst/>
                        <a:latin typeface="Cambria Math" panose="02040503050406030204" pitchFamily="18" charset="0"/>
                        <a:ea typeface="Aptos" panose="020B0004020202020204" pitchFamily="34" charset="0"/>
                        <a:cs typeface="Times New Roman" panose="02020603050405020304" pitchFamily="18" charset="0"/>
                      </a:rPr>
                      <m:t>(</m:t>
                    </m:r>
                    <m:r>
                      <a:rPr lang="en-US" sz="2200" i="1">
                        <a:effectLst/>
                        <a:latin typeface="Cambria Math" panose="02040503050406030204" pitchFamily="18" charset="0"/>
                        <a:ea typeface="Aptos" panose="020B0004020202020204" pitchFamily="34" charset="0"/>
                        <a:cs typeface="Times New Roman" panose="02020603050405020304" pitchFamily="18" charset="0"/>
                      </a:rPr>
                      <m:t>𝑥</m:t>
                    </m:r>
                    <m:r>
                      <a:rPr lang="en-US" sz="2200">
                        <a:effectLst/>
                        <a:latin typeface="Cambria Math" panose="02040503050406030204" pitchFamily="18" charset="0"/>
                        <a:ea typeface="Aptos" panose="020B0004020202020204" pitchFamily="34" charset="0"/>
                        <a:cs typeface="Times New Roman" panose="02020603050405020304" pitchFamily="18" charset="0"/>
                      </a:rPr>
                      <m:t>)=0</m:t>
                    </m:r>
                  </m:oMath>
                </a14:m>
                <a:r>
                  <a:rPr lang="en-US" sz="2200" dirty="0">
                    <a:effectLst/>
                    <a:ea typeface="Aptos" panose="020B0004020202020204" pitchFamily="34" charset="0"/>
                  </a:rPr>
                  <a:t> ). This finds all turning points or optima of the function.</a:t>
                </a:r>
                <a:endParaRPr lang="en-GB" sz="2200" dirty="0">
                  <a:effectLst/>
                  <a:ea typeface="Aptos" panose="020B0004020202020204" pitchFamily="34" charset="0"/>
                </a:endParaRPr>
              </a:p>
              <a:p>
                <a:pPr marL="342900" lvl="0" indent="-342900">
                  <a:lnSpc>
                    <a:spcPct val="100000"/>
                  </a:lnSpc>
                  <a:spcAft>
                    <a:spcPts val="600"/>
                  </a:spcAft>
                  <a:buFont typeface="Symbol" pitchFamily="2" charset="2"/>
                  <a:buChar char=""/>
                  <a:tabLst>
                    <a:tab pos="457200" algn="l"/>
                  </a:tabLst>
                </a:pPr>
                <a:r>
                  <a:rPr lang="en-US" sz="2200" dirty="0">
                    <a:effectLst/>
                    <a:ea typeface="Aptos" panose="020B0004020202020204" pitchFamily="34" charset="0"/>
                  </a:rPr>
                  <a:t>then check if any of the solutions has positive second derivative </a:t>
                </a:r>
                <a14:m>
                  <m:oMath xmlns:m="http://schemas.openxmlformats.org/officeDocument/2006/math">
                    <m:sSup>
                      <m:sSupPr>
                        <m:ctrlPr>
                          <a:rPr lang="en-GB" sz="2200" i="1">
                            <a:effectLst/>
                            <a:latin typeface="Cambria Math" panose="02040503050406030204" pitchFamily="18" charset="0"/>
                            <a:ea typeface="Aptos" panose="020B0004020202020204" pitchFamily="34" charset="0"/>
                            <a:cs typeface="Times New Roman" panose="02020603050405020304" pitchFamily="18" charset="0"/>
                          </a:rPr>
                        </m:ctrlPr>
                      </m:sSupPr>
                      <m:e>
                        <m:r>
                          <a:rPr lang="en-US" sz="2200" i="1">
                            <a:effectLst/>
                            <a:latin typeface="Cambria Math" panose="02040503050406030204" pitchFamily="18" charset="0"/>
                            <a:ea typeface="Aptos" panose="020B0004020202020204" pitchFamily="34" charset="0"/>
                            <a:cs typeface="Times New Roman" panose="02020603050405020304" pitchFamily="18" charset="0"/>
                          </a:rPr>
                          <m:t>𝑓</m:t>
                        </m:r>
                      </m:e>
                      <m:sup>
                        <m:r>
                          <a:rPr lang="en-US" sz="2200" i="1">
                            <a:effectLst/>
                            <a:latin typeface="Cambria Math" panose="02040503050406030204" pitchFamily="18" charset="0"/>
                            <a:ea typeface="Aptos" panose="020B0004020202020204" pitchFamily="34" charset="0"/>
                            <a:cs typeface="Times New Roman" panose="02020603050405020304" pitchFamily="18" charset="0"/>
                          </a:rPr>
                          <m:t>′′</m:t>
                        </m:r>
                      </m:sup>
                    </m:sSup>
                    <m:r>
                      <a:rPr lang="en-US" sz="2200">
                        <a:effectLst/>
                        <a:latin typeface="Cambria Math" panose="02040503050406030204" pitchFamily="18" charset="0"/>
                        <a:ea typeface="Aptos" panose="020B0004020202020204" pitchFamily="34" charset="0"/>
                        <a:cs typeface="Times New Roman" panose="02020603050405020304" pitchFamily="18" charset="0"/>
                      </a:rPr>
                      <m:t>(</m:t>
                    </m:r>
                    <m:r>
                      <a:rPr lang="en-US" sz="2200" i="1">
                        <a:effectLst/>
                        <a:latin typeface="Cambria Math" panose="02040503050406030204" pitchFamily="18" charset="0"/>
                        <a:ea typeface="Aptos" panose="020B0004020202020204" pitchFamily="34" charset="0"/>
                        <a:cs typeface="Times New Roman" panose="02020603050405020304" pitchFamily="18" charset="0"/>
                      </a:rPr>
                      <m:t>𝑥</m:t>
                    </m:r>
                    <m:r>
                      <a:rPr lang="en-US" sz="2200">
                        <a:effectLst/>
                        <a:latin typeface="Cambria Math" panose="02040503050406030204" pitchFamily="18" charset="0"/>
                        <a:ea typeface="Aptos" panose="020B0004020202020204" pitchFamily="34" charset="0"/>
                        <a:cs typeface="Times New Roman" panose="02020603050405020304" pitchFamily="18" charset="0"/>
                      </a:rPr>
                      <m:t>)&gt;0</m:t>
                    </m:r>
                  </m:oMath>
                </a14:m>
                <a:r>
                  <a:rPr lang="en-US" sz="2200" dirty="0">
                    <a:effectLst/>
                    <a:ea typeface="Aptos" panose="020B0004020202020204" pitchFamily="34" charset="0"/>
                  </a:rPr>
                  <a:t>, which indicates the solution is a minimum. </a:t>
                </a:r>
                <a:endParaRPr lang="en-GB" sz="2200" dirty="0">
                  <a:effectLst/>
                  <a:ea typeface="Aptos" panose="020B0004020202020204" pitchFamily="34" charset="0"/>
                </a:endParaRPr>
              </a:p>
              <a:p>
                <a:pPr>
                  <a:lnSpc>
                    <a:spcPct val="100000"/>
                  </a:lnSpc>
                </a:pPr>
                <a:endParaRPr lang="en-US" sz="2200" dirty="0"/>
              </a:p>
            </p:txBody>
          </p:sp>
        </mc:Choice>
        <mc:Fallback xmlns="">
          <p:sp>
            <p:nvSpPr>
              <p:cNvPr id="3" name="Content Placeholder 2">
                <a:extLst>
                  <a:ext uri="{FF2B5EF4-FFF2-40B4-BE49-F238E27FC236}">
                    <a16:creationId xmlns:a16="http://schemas.microsoft.com/office/drawing/2014/main" id="{62799F0C-5707-B176-259F-957F099144F0}"/>
                  </a:ext>
                </a:extLst>
              </p:cNvPr>
              <p:cNvSpPr>
                <a:spLocks noGrp="1" noRot="1" noChangeAspect="1" noMove="1" noResize="1" noEditPoints="1" noAdjustHandles="1" noChangeArrowheads="1" noChangeShapeType="1" noTextEdit="1"/>
              </p:cNvSpPr>
              <p:nvPr>
                <p:ph sz="half" idx="1"/>
              </p:nvPr>
            </p:nvSpPr>
            <p:spPr>
              <a:blipFill>
                <a:blip r:embed="rId2"/>
                <a:stretch>
                  <a:fillRect l="-1711" t="-1108" r="-17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17AF1EB2-C2BA-C3FA-5C4B-92247CD60946}"/>
                  </a:ext>
                </a:extLst>
              </p:cNvPr>
              <p:cNvSpPr>
                <a:spLocks noGrp="1"/>
              </p:cNvSpPr>
              <p:nvPr>
                <p:ph sz="half" idx="2"/>
              </p:nvPr>
            </p:nvSpPr>
            <p:spPr>
              <a:xfrm>
                <a:off x="6172200" y="1608667"/>
                <a:ext cx="5181600" cy="2805204"/>
              </a:xfrm>
            </p:spPr>
            <p:txBody>
              <a:bodyPr>
                <a:normAutofit fontScale="55000" lnSpcReduction="20000"/>
              </a:bodyPr>
              <a:lstStyle/>
              <a:p>
                <a:pPr marL="0" lvl="0" indent="0">
                  <a:lnSpc>
                    <a:spcPct val="100000"/>
                  </a:lnSpc>
                  <a:spcAft>
                    <a:spcPts val="600"/>
                  </a:spcAft>
                  <a:buNone/>
                  <a:tabLst>
                    <a:tab pos="457200" algn="l"/>
                  </a:tabLst>
                </a:pPr>
                <a:r>
                  <a:rPr lang="en-US" sz="2400" b="1" dirty="0">
                    <a:effectLst/>
                    <a:ea typeface="Aptos" panose="020B0004020202020204" pitchFamily="34" charset="0"/>
                  </a:rPr>
                  <a:t> Example</a:t>
                </a:r>
                <a:r>
                  <a:rPr lang="en-US" altLang="zh-CN" sz="2400" b="1" dirty="0">
                    <a:effectLst/>
                    <a:ea typeface="Aptos" panose="020B0004020202020204" pitchFamily="34" charset="0"/>
                  </a:rPr>
                  <a:t>:</a:t>
                </a:r>
                <a:r>
                  <a:rPr lang="zh-CN" altLang="en-US" sz="2400" b="1" dirty="0">
                    <a:effectLst/>
                    <a:ea typeface="Aptos" panose="020B0004020202020204" pitchFamily="34" charset="0"/>
                  </a:rPr>
                  <a:t>  </a:t>
                </a:r>
                <a:r>
                  <a:rPr lang="en-US" sz="2400" b="1" dirty="0">
                    <a:effectLst/>
                    <a:ea typeface="Aptos" panose="020B0004020202020204" pitchFamily="34" charset="0"/>
                  </a:rPr>
                  <a:t>find the minimum of</a:t>
                </a:r>
                <a:endParaRPr lang="en-GB" sz="2400" b="1" dirty="0">
                  <a:effectLst/>
                  <a:ea typeface="Aptos" panose="020B0004020202020204" pitchFamily="34" charset="0"/>
                </a:endParaRPr>
              </a:p>
              <a:p>
                <a:pPr marL="0" indent="0">
                  <a:lnSpc>
                    <a:spcPct val="100000"/>
                  </a:lnSpc>
                  <a:spcAft>
                    <a:spcPts val="1200"/>
                  </a:spcAft>
                  <a:buNone/>
                </a:pPr>
                <a14:m>
                  <m:oMathPara xmlns:m="http://schemas.openxmlformats.org/officeDocument/2006/math">
                    <m:oMathParaPr>
                      <m:jc m:val="centerGroup"/>
                    </m:oMathParaPr>
                    <m:oMath xmlns:m="http://schemas.openxmlformats.org/officeDocument/2006/math">
                      <m:r>
                        <a:rPr lang="en-US" sz="2400" i="1">
                          <a:effectLst/>
                          <a:latin typeface="Cambria Math" panose="02040503050406030204" pitchFamily="18" charset="0"/>
                          <a:ea typeface="Aptos" panose="020B0004020202020204" pitchFamily="34" charset="0"/>
                          <a:cs typeface="Times New Roman" panose="02020603050405020304" pitchFamily="18" charset="0"/>
                        </a:rPr>
                        <m:t>𝑓</m:t>
                      </m:r>
                      <m:r>
                        <a:rPr lang="en-US" sz="2400">
                          <a:effectLst/>
                          <a:latin typeface="Cambria Math" panose="02040503050406030204" pitchFamily="18" charset="0"/>
                          <a:ea typeface="Aptos" panose="020B0004020202020204" pitchFamily="34" charset="0"/>
                          <a:cs typeface="Times New Roman" panose="02020603050405020304" pitchFamily="18" charset="0"/>
                        </a:rPr>
                        <m:t>(</m:t>
                      </m:r>
                      <m:r>
                        <a:rPr lang="en-US" sz="2400" i="1">
                          <a:effectLst/>
                          <a:latin typeface="Cambria Math" panose="02040503050406030204" pitchFamily="18" charset="0"/>
                          <a:ea typeface="Aptos" panose="020B0004020202020204" pitchFamily="34" charset="0"/>
                          <a:cs typeface="Times New Roman" panose="02020603050405020304" pitchFamily="18" charset="0"/>
                        </a:rPr>
                        <m:t>𝑥</m:t>
                      </m:r>
                      <m:r>
                        <a:rPr lang="en-US" sz="240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en-GB" sz="2400" i="1">
                              <a:effectLst/>
                              <a:latin typeface="Cambria Math" panose="02040503050406030204" pitchFamily="18" charset="0"/>
                              <a:ea typeface="Aptos" panose="020B0004020202020204" pitchFamily="34" charset="0"/>
                              <a:cs typeface="Times New Roman" panose="02020603050405020304" pitchFamily="18" charset="0"/>
                            </a:rPr>
                          </m:ctrlPr>
                        </m:sSupPr>
                        <m:e>
                          <m:r>
                            <a:rPr lang="en-US" sz="2400" i="1">
                              <a:effectLst/>
                              <a:latin typeface="Cambria Math" panose="02040503050406030204" pitchFamily="18" charset="0"/>
                              <a:ea typeface="Aptos" panose="020B0004020202020204" pitchFamily="34" charset="0"/>
                              <a:cs typeface="Times New Roman" panose="02020603050405020304" pitchFamily="18" charset="0"/>
                            </a:rPr>
                            <m:t>𝑥</m:t>
                          </m:r>
                        </m:e>
                        <m:sup>
                          <m:r>
                            <a:rPr lang="en-US" sz="2400">
                              <a:effectLst/>
                              <a:latin typeface="Cambria Math" panose="02040503050406030204" pitchFamily="18" charset="0"/>
                              <a:ea typeface="Aptos" panose="020B0004020202020204" pitchFamily="34" charset="0"/>
                              <a:cs typeface="Times New Roman" panose="02020603050405020304" pitchFamily="18" charset="0"/>
                            </a:rPr>
                            <m:t>4</m:t>
                          </m:r>
                        </m:sup>
                      </m:sSup>
                      <m:r>
                        <a:rPr lang="en-US" sz="2400" i="1">
                          <a:effectLst/>
                          <a:latin typeface="Cambria Math" panose="02040503050406030204" pitchFamily="18" charset="0"/>
                          <a:ea typeface="Aptos" panose="020B0004020202020204" pitchFamily="34" charset="0"/>
                          <a:cs typeface="Times New Roman" panose="02020603050405020304" pitchFamily="18" charset="0"/>
                        </a:rPr>
                        <m:t>−</m:t>
                      </m:r>
                      <m:r>
                        <a:rPr lang="en-US" sz="2400">
                          <a:effectLst/>
                          <a:latin typeface="Cambria Math" panose="02040503050406030204" pitchFamily="18" charset="0"/>
                          <a:ea typeface="Aptos" panose="020B0004020202020204" pitchFamily="34" charset="0"/>
                          <a:cs typeface="Times New Roman" panose="02020603050405020304" pitchFamily="18" charset="0"/>
                        </a:rPr>
                        <m:t>40</m:t>
                      </m:r>
                      <m:sSup>
                        <m:sSupPr>
                          <m:ctrlPr>
                            <a:rPr lang="en-GB" sz="2400" i="1">
                              <a:effectLst/>
                              <a:latin typeface="Cambria Math" panose="02040503050406030204" pitchFamily="18" charset="0"/>
                              <a:ea typeface="Aptos" panose="020B0004020202020204" pitchFamily="34" charset="0"/>
                              <a:cs typeface="Times New Roman" panose="02020603050405020304" pitchFamily="18" charset="0"/>
                            </a:rPr>
                          </m:ctrlPr>
                        </m:sSupPr>
                        <m:e>
                          <m:r>
                            <a:rPr lang="en-US" sz="2400" i="1">
                              <a:effectLst/>
                              <a:latin typeface="Cambria Math" panose="02040503050406030204" pitchFamily="18" charset="0"/>
                              <a:ea typeface="Aptos" panose="020B0004020202020204" pitchFamily="34" charset="0"/>
                              <a:cs typeface="Times New Roman" panose="02020603050405020304" pitchFamily="18" charset="0"/>
                            </a:rPr>
                            <m:t>𝑥</m:t>
                          </m:r>
                        </m:e>
                        <m:sup>
                          <m:r>
                            <a:rPr lang="en-US" sz="2400">
                              <a:effectLst/>
                              <a:latin typeface="Cambria Math" panose="02040503050406030204" pitchFamily="18" charset="0"/>
                              <a:ea typeface="Aptos" panose="020B0004020202020204" pitchFamily="34" charset="0"/>
                              <a:cs typeface="Times New Roman" panose="02020603050405020304" pitchFamily="18" charset="0"/>
                            </a:rPr>
                            <m:t>2</m:t>
                          </m:r>
                        </m:sup>
                      </m:sSup>
                      <m:r>
                        <a:rPr lang="en-US" sz="2400" i="1">
                          <a:effectLst/>
                          <a:latin typeface="Cambria Math" panose="02040503050406030204" pitchFamily="18" charset="0"/>
                          <a:ea typeface="Aptos" panose="020B0004020202020204" pitchFamily="34" charset="0"/>
                          <a:cs typeface="Times New Roman" panose="02020603050405020304" pitchFamily="18" charset="0"/>
                        </a:rPr>
                        <m:t>−</m:t>
                      </m:r>
                      <m:r>
                        <a:rPr lang="en-US" sz="2400">
                          <a:effectLst/>
                          <a:latin typeface="Cambria Math" panose="02040503050406030204" pitchFamily="18" charset="0"/>
                          <a:ea typeface="Aptos" panose="020B0004020202020204" pitchFamily="34" charset="0"/>
                          <a:cs typeface="Times New Roman" panose="02020603050405020304" pitchFamily="18" charset="0"/>
                        </a:rPr>
                        <m:t>100</m:t>
                      </m:r>
                      <m:r>
                        <a:rPr lang="en-US" sz="2400" i="1">
                          <a:effectLst/>
                          <a:latin typeface="Cambria Math" panose="02040503050406030204" pitchFamily="18" charset="0"/>
                          <a:ea typeface="Aptos" panose="020B0004020202020204" pitchFamily="34" charset="0"/>
                          <a:cs typeface="Times New Roman" panose="02020603050405020304" pitchFamily="18" charset="0"/>
                        </a:rPr>
                        <m:t>𝑥</m:t>
                      </m:r>
                    </m:oMath>
                  </m:oMathPara>
                </a14:m>
                <a:endParaRPr lang="en-GB" sz="2400" dirty="0">
                  <a:effectLst/>
                  <a:ea typeface="Aptos" panose="020B0004020202020204" pitchFamily="34" charset="0"/>
                </a:endParaRPr>
              </a:p>
              <a:p>
                <a:pPr marL="0" indent="0">
                  <a:lnSpc>
                    <a:spcPct val="100000"/>
                  </a:lnSpc>
                  <a:spcAft>
                    <a:spcPts val="1200"/>
                  </a:spcAft>
                  <a:buNone/>
                </a:pPr>
                <a:r>
                  <a:rPr lang="en-US" sz="2400" dirty="0">
                    <a:effectLst/>
                    <a:ea typeface="Aptos" panose="020B0004020202020204" pitchFamily="34" charset="0"/>
                  </a:rPr>
                  <a:t>We can solve for:</a:t>
                </a:r>
                <a:endParaRPr lang="en-GB" sz="2400" dirty="0">
                  <a:effectLst/>
                  <a:ea typeface="Aptos" panose="020B0004020202020204" pitchFamily="34" charset="0"/>
                </a:endParaRPr>
              </a:p>
              <a:p>
                <a:pPr marL="0" indent="0" algn="ctr">
                  <a:lnSpc>
                    <a:spcPct val="100000"/>
                  </a:lnSpc>
                  <a:spcAft>
                    <a:spcPts val="1200"/>
                  </a:spcAft>
                  <a:buNone/>
                </a:pPr>
                <a14:m>
                  <m:oMath xmlns:m="http://schemas.openxmlformats.org/officeDocument/2006/math">
                    <m:sSup>
                      <m:sSupPr>
                        <m:ctrlPr>
                          <a:rPr lang="en-GB" sz="2400" i="1">
                            <a:effectLst/>
                            <a:latin typeface="Cambria Math" panose="02040503050406030204" pitchFamily="18" charset="0"/>
                            <a:ea typeface="Aptos" panose="020B0004020202020204" pitchFamily="34" charset="0"/>
                            <a:cs typeface="Times New Roman" panose="02020603050405020304" pitchFamily="18" charset="0"/>
                          </a:rPr>
                        </m:ctrlPr>
                      </m:sSupPr>
                      <m:e>
                        <m:r>
                          <a:rPr lang="en-US" sz="2400" i="1">
                            <a:effectLst/>
                            <a:latin typeface="Cambria Math" panose="02040503050406030204" pitchFamily="18" charset="0"/>
                            <a:ea typeface="Aptos" panose="020B0004020202020204" pitchFamily="34" charset="0"/>
                            <a:cs typeface="Times New Roman" panose="02020603050405020304" pitchFamily="18" charset="0"/>
                          </a:rPr>
                          <m:t>𝑓</m:t>
                        </m:r>
                      </m:e>
                      <m:sup>
                        <m:r>
                          <a:rPr lang="en-US" sz="2400" i="1">
                            <a:effectLst/>
                            <a:latin typeface="Cambria Math" panose="02040503050406030204" pitchFamily="18" charset="0"/>
                            <a:ea typeface="Aptos" panose="020B0004020202020204" pitchFamily="34" charset="0"/>
                            <a:cs typeface="Times New Roman" panose="02020603050405020304" pitchFamily="18" charset="0"/>
                          </a:rPr>
                          <m:t>′</m:t>
                        </m:r>
                      </m:sup>
                    </m:sSup>
                    <m:r>
                      <a:rPr lang="en-US" sz="2400">
                        <a:effectLst/>
                        <a:latin typeface="Cambria Math" panose="02040503050406030204" pitchFamily="18" charset="0"/>
                        <a:ea typeface="Aptos" panose="020B0004020202020204" pitchFamily="34" charset="0"/>
                        <a:cs typeface="Times New Roman" panose="02020603050405020304" pitchFamily="18" charset="0"/>
                      </a:rPr>
                      <m:t>(</m:t>
                    </m:r>
                    <m:r>
                      <a:rPr lang="en-US" sz="2400" i="1">
                        <a:effectLst/>
                        <a:latin typeface="Cambria Math" panose="02040503050406030204" pitchFamily="18" charset="0"/>
                        <a:ea typeface="Aptos" panose="020B0004020202020204" pitchFamily="34" charset="0"/>
                        <a:cs typeface="Times New Roman" panose="02020603050405020304" pitchFamily="18" charset="0"/>
                      </a:rPr>
                      <m:t>𝑥</m:t>
                    </m:r>
                    <m:r>
                      <a:rPr lang="en-US" sz="2400">
                        <a:effectLst/>
                        <a:latin typeface="Cambria Math" panose="02040503050406030204" pitchFamily="18" charset="0"/>
                        <a:ea typeface="Aptos" panose="020B0004020202020204" pitchFamily="34" charset="0"/>
                        <a:cs typeface="Times New Roman" panose="02020603050405020304" pitchFamily="18" charset="0"/>
                      </a:rPr>
                      <m:t>)=4</m:t>
                    </m:r>
                    <m:sSup>
                      <m:sSupPr>
                        <m:ctrlPr>
                          <a:rPr lang="en-GB" sz="2400" i="1">
                            <a:effectLst/>
                            <a:latin typeface="Cambria Math" panose="02040503050406030204" pitchFamily="18" charset="0"/>
                            <a:ea typeface="Aptos" panose="020B0004020202020204" pitchFamily="34" charset="0"/>
                            <a:cs typeface="Times New Roman" panose="02020603050405020304" pitchFamily="18" charset="0"/>
                          </a:rPr>
                        </m:ctrlPr>
                      </m:sSupPr>
                      <m:e>
                        <m:r>
                          <a:rPr lang="en-US" sz="2400" i="1">
                            <a:effectLst/>
                            <a:latin typeface="Cambria Math" panose="02040503050406030204" pitchFamily="18" charset="0"/>
                            <a:ea typeface="Aptos" panose="020B0004020202020204" pitchFamily="34" charset="0"/>
                            <a:cs typeface="Times New Roman" panose="02020603050405020304" pitchFamily="18" charset="0"/>
                          </a:rPr>
                          <m:t>𝑥</m:t>
                        </m:r>
                      </m:e>
                      <m:sup>
                        <m:r>
                          <a:rPr lang="en-US" sz="2400">
                            <a:effectLst/>
                            <a:latin typeface="Cambria Math" panose="02040503050406030204" pitchFamily="18" charset="0"/>
                            <a:ea typeface="Aptos" panose="020B0004020202020204" pitchFamily="34" charset="0"/>
                            <a:cs typeface="Times New Roman" panose="02020603050405020304" pitchFamily="18" charset="0"/>
                          </a:rPr>
                          <m:t>3</m:t>
                        </m:r>
                      </m:sup>
                    </m:sSup>
                    <m:r>
                      <a:rPr lang="en-US" sz="2400" i="1">
                        <a:effectLst/>
                        <a:latin typeface="Cambria Math" panose="02040503050406030204" pitchFamily="18" charset="0"/>
                        <a:ea typeface="Aptos" panose="020B0004020202020204" pitchFamily="34" charset="0"/>
                        <a:cs typeface="Times New Roman" panose="02020603050405020304" pitchFamily="18" charset="0"/>
                      </a:rPr>
                      <m:t>−</m:t>
                    </m:r>
                    <m:r>
                      <a:rPr lang="en-US" sz="2400">
                        <a:effectLst/>
                        <a:latin typeface="Cambria Math" panose="02040503050406030204" pitchFamily="18" charset="0"/>
                        <a:ea typeface="Aptos" panose="020B0004020202020204" pitchFamily="34" charset="0"/>
                        <a:cs typeface="Times New Roman" panose="02020603050405020304" pitchFamily="18" charset="0"/>
                      </a:rPr>
                      <m:t>80</m:t>
                    </m:r>
                    <m:r>
                      <a:rPr lang="en-US" sz="2400" i="1">
                        <a:effectLst/>
                        <a:latin typeface="Cambria Math" panose="02040503050406030204" pitchFamily="18" charset="0"/>
                        <a:ea typeface="Aptos" panose="020B0004020202020204" pitchFamily="34" charset="0"/>
                        <a:cs typeface="Times New Roman" panose="02020603050405020304" pitchFamily="18" charset="0"/>
                      </a:rPr>
                      <m:t>𝑥</m:t>
                    </m:r>
                    <m:r>
                      <a:rPr lang="en-US" sz="2400" i="1">
                        <a:effectLst/>
                        <a:latin typeface="Cambria Math" panose="02040503050406030204" pitchFamily="18" charset="0"/>
                        <a:ea typeface="Aptos" panose="020B0004020202020204" pitchFamily="34" charset="0"/>
                        <a:cs typeface="Times New Roman" panose="02020603050405020304" pitchFamily="18" charset="0"/>
                      </a:rPr>
                      <m:t>−</m:t>
                    </m:r>
                    <m:r>
                      <a:rPr lang="en-US" sz="2400">
                        <a:effectLst/>
                        <a:latin typeface="Cambria Math" panose="02040503050406030204" pitchFamily="18" charset="0"/>
                        <a:ea typeface="Aptos" panose="020B0004020202020204" pitchFamily="34" charset="0"/>
                        <a:cs typeface="Times New Roman" panose="02020603050405020304" pitchFamily="18" charset="0"/>
                      </a:rPr>
                      <m:t>100</m:t>
                    </m:r>
                  </m:oMath>
                </a14:m>
                <a:r>
                  <a:rPr lang="zh-CN" altLang="en-US" sz="2400" dirty="0">
                    <a:effectLst/>
                    <a:ea typeface="Aptos" panose="020B0004020202020204" pitchFamily="34" charset="0"/>
                  </a:rPr>
                  <a:t> </a:t>
                </a:r>
                <a:r>
                  <a:rPr lang="en-US" altLang="zh-CN" sz="2400" dirty="0">
                    <a:effectLst/>
                    <a:ea typeface="Aptos" panose="020B0004020202020204" pitchFamily="34" charset="0"/>
                  </a:rPr>
                  <a:t>=</a:t>
                </a:r>
                <a:r>
                  <a:rPr lang="zh-CN" altLang="en-US" sz="2400" dirty="0">
                    <a:effectLst/>
                    <a:ea typeface="Aptos" panose="020B0004020202020204" pitchFamily="34" charset="0"/>
                  </a:rPr>
                  <a:t> </a:t>
                </a:r>
                <a:r>
                  <a:rPr lang="en-US" altLang="zh-CN" sz="2400" dirty="0">
                    <a:effectLst/>
                    <a:ea typeface="Aptos" panose="020B0004020202020204" pitchFamily="34" charset="0"/>
                  </a:rPr>
                  <a:t>0</a:t>
                </a:r>
                <a:endParaRPr lang="en-GB" sz="2400" dirty="0">
                  <a:effectLst/>
                  <a:ea typeface="Aptos" panose="020B0004020202020204" pitchFamily="34" charset="0"/>
                </a:endParaRPr>
              </a:p>
              <a:p>
                <a:pPr marL="0" indent="0">
                  <a:lnSpc>
                    <a:spcPct val="100000"/>
                  </a:lnSpc>
                  <a:spcAft>
                    <a:spcPts val="1200"/>
                  </a:spcAft>
                  <a:buNone/>
                </a:pPr>
                <a:r>
                  <a:rPr lang="en-US" sz="2400" dirty="0">
                    <a:effectLst/>
                    <a:ea typeface="Aptos" panose="020B0004020202020204" pitchFamily="34" charset="0"/>
                  </a:rPr>
                  <a:t>and the second derivative is</a:t>
                </a:r>
                <a:endParaRPr lang="en-GB" sz="2400" dirty="0">
                  <a:effectLst/>
                  <a:ea typeface="Aptos" panose="020B0004020202020204" pitchFamily="34" charset="0"/>
                </a:endParaRPr>
              </a:p>
              <a:p>
                <a:pPr marL="0" indent="0">
                  <a:lnSpc>
                    <a:spcPct val="100000"/>
                  </a:lnSpc>
                  <a:spcAft>
                    <a:spcPts val="1200"/>
                  </a:spcAft>
                  <a:buNone/>
                </a:pPr>
                <a14:m>
                  <m:oMathPara xmlns:m="http://schemas.openxmlformats.org/officeDocument/2006/math">
                    <m:oMathParaPr>
                      <m:jc m:val="centerGroup"/>
                    </m:oMathParaPr>
                    <m:oMath xmlns:m="http://schemas.openxmlformats.org/officeDocument/2006/math">
                      <m:sSup>
                        <m:sSupPr>
                          <m:ctrlPr>
                            <a:rPr lang="en-GB" sz="2400" i="1">
                              <a:effectLst/>
                              <a:latin typeface="Cambria Math" panose="02040503050406030204" pitchFamily="18" charset="0"/>
                              <a:ea typeface="Aptos" panose="020B0004020202020204" pitchFamily="34" charset="0"/>
                              <a:cs typeface="Times New Roman" panose="02020603050405020304" pitchFamily="18" charset="0"/>
                            </a:rPr>
                          </m:ctrlPr>
                        </m:sSupPr>
                        <m:e>
                          <m:r>
                            <a:rPr lang="en-US" sz="2400" i="1">
                              <a:effectLst/>
                              <a:latin typeface="Cambria Math" panose="02040503050406030204" pitchFamily="18" charset="0"/>
                              <a:ea typeface="Aptos" panose="020B0004020202020204" pitchFamily="34" charset="0"/>
                              <a:cs typeface="Times New Roman" panose="02020603050405020304" pitchFamily="18" charset="0"/>
                            </a:rPr>
                            <m:t>𝑓</m:t>
                          </m:r>
                        </m:e>
                        <m:sup>
                          <m:r>
                            <a:rPr lang="en-US" sz="2400" i="1">
                              <a:effectLst/>
                              <a:latin typeface="Cambria Math" panose="02040503050406030204" pitchFamily="18" charset="0"/>
                              <a:ea typeface="Aptos" panose="020B0004020202020204" pitchFamily="34" charset="0"/>
                              <a:cs typeface="Times New Roman" panose="02020603050405020304" pitchFamily="18" charset="0"/>
                            </a:rPr>
                            <m:t>′′</m:t>
                          </m:r>
                        </m:sup>
                      </m:sSup>
                      <m:r>
                        <a:rPr lang="en-US" sz="2400">
                          <a:effectLst/>
                          <a:latin typeface="Cambria Math" panose="02040503050406030204" pitchFamily="18" charset="0"/>
                          <a:ea typeface="Aptos" panose="020B0004020202020204" pitchFamily="34" charset="0"/>
                          <a:cs typeface="Times New Roman" panose="02020603050405020304" pitchFamily="18" charset="0"/>
                        </a:rPr>
                        <m:t>(</m:t>
                      </m:r>
                      <m:r>
                        <a:rPr lang="en-US" sz="2400" i="1">
                          <a:effectLst/>
                          <a:latin typeface="Cambria Math" panose="02040503050406030204" pitchFamily="18" charset="0"/>
                          <a:ea typeface="Aptos" panose="020B0004020202020204" pitchFamily="34" charset="0"/>
                          <a:cs typeface="Times New Roman" panose="02020603050405020304" pitchFamily="18" charset="0"/>
                        </a:rPr>
                        <m:t>𝑥</m:t>
                      </m:r>
                      <m:r>
                        <a:rPr lang="en-US" sz="2400">
                          <a:effectLst/>
                          <a:latin typeface="Cambria Math" panose="02040503050406030204" pitchFamily="18" charset="0"/>
                          <a:ea typeface="Aptos" panose="020B0004020202020204" pitchFamily="34" charset="0"/>
                          <a:cs typeface="Times New Roman" panose="02020603050405020304" pitchFamily="18" charset="0"/>
                        </a:rPr>
                        <m:t>)=12</m:t>
                      </m:r>
                      <m:sSup>
                        <m:sSupPr>
                          <m:ctrlPr>
                            <a:rPr lang="en-GB" sz="2400" i="1">
                              <a:effectLst/>
                              <a:latin typeface="Cambria Math" panose="02040503050406030204" pitchFamily="18" charset="0"/>
                              <a:ea typeface="Aptos" panose="020B0004020202020204" pitchFamily="34" charset="0"/>
                              <a:cs typeface="Times New Roman" panose="02020603050405020304" pitchFamily="18" charset="0"/>
                            </a:rPr>
                          </m:ctrlPr>
                        </m:sSupPr>
                        <m:e>
                          <m:r>
                            <a:rPr lang="en-US" sz="2400" i="1">
                              <a:effectLst/>
                              <a:latin typeface="Cambria Math" panose="02040503050406030204" pitchFamily="18" charset="0"/>
                              <a:ea typeface="Aptos" panose="020B0004020202020204" pitchFamily="34" charset="0"/>
                              <a:cs typeface="Times New Roman" panose="02020603050405020304" pitchFamily="18" charset="0"/>
                            </a:rPr>
                            <m:t>𝑥</m:t>
                          </m:r>
                        </m:e>
                        <m:sup>
                          <m:r>
                            <a:rPr lang="en-US" sz="2400">
                              <a:effectLst/>
                              <a:latin typeface="Cambria Math" panose="02040503050406030204" pitchFamily="18" charset="0"/>
                              <a:ea typeface="Aptos" panose="020B0004020202020204" pitchFamily="34" charset="0"/>
                              <a:cs typeface="Times New Roman" panose="02020603050405020304" pitchFamily="18" charset="0"/>
                            </a:rPr>
                            <m:t>2</m:t>
                          </m:r>
                        </m:sup>
                      </m:sSup>
                      <m:r>
                        <a:rPr lang="en-US" sz="2400" i="1">
                          <a:effectLst/>
                          <a:latin typeface="Cambria Math" panose="02040503050406030204" pitchFamily="18" charset="0"/>
                          <a:ea typeface="Aptos" panose="020B0004020202020204" pitchFamily="34" charset="0"/>
                          <a:cs typeface="Times New Roman" panose="02020603050405020304" pitchFamily="18" charset="0"/>
                        </a:rPr>
                        <m:t>−</m:t>
                      </m:r>
                      <m:r>
                        <a:rPr lang="en-US" sz="2400">
                          <a:effectLst/>
                          <a:latin typeface="Cambria Math" panose="02040503050406030204" pitchFamily="18" charset="0"/>
                          <a:ea typeface="Aptos" panose="020B0004020202020204" pitchFamily="34" charset="0"/>
                          <a:cs typeface="Times New Roman" panose="02020603050405020304" pitchFamily="18" charset="0"/>
                        </a:rPr>
                        <m:t>80</m:t>
                      </m:r>
                    </m:oMath>
                  </m:oMathPara>
                </a14:m>
                <a:endParaRPr lang="en-GB" sz="2400" dirty="0">
                  <a:effectLst/>
                  <a:ea typeface="Aptos" panose="020B0004020202020204" pitchFamily="34" charset="0"/>
                </a:endParaRPr>
              </a:p>
              <a:p>
                <a:pPr marL="0" indent="0">
                  <a:lnSpc>
                    <a:spcPct val="100000"/>
                  </a:lnSpc>
                  <a:spcAft>
                    <a:spcPts val="1200"/>
                  </a:spcAft>
                  <a:buNone/>
                </a:pPr>
                <a:r>
                  <a:rPr lang="en-US" sz="2400" dirty="0">
                    <a:effectLst/>
                    <a:ea typeface="Aptos" panose="020B0004020202020204" pitchFamily="34" charset="0"/>
                  </a:rPr>
                  <a:t>and check the sign to find if we have a minimum.</a:t>
                </a:r>
                <a:endParaRPr lang="en-US" dirty="0"/>
              </a:p>
            </p:txBody>
          </p:sp>
        </mc:Choice>
        <mc:Fallback xmlns="">
          <p:sp>
            <p:nvSpPr>
              <p:cNvPr id="4" name="Content Placeholder 3">
                <a:extLst>
                  <a:ext uri="{FF2B5EF4-FFF2-40B4-BE49-F238E27FC236}">
                    <a16:creationId xmlns:a16="http://schemas.microsoft.com/office/drawing/2014/main" id="{17AF1EB2-C2BA-C3FA-5C4B-92247CD60946}"/>
                  </a:ext>
                </a:extLst>
              </p:cNvPr>
              <p:cNvSpPr>
                <a:spLocks noGrp="1" noRot="1" noChangeAspect="1" noMove="1" noResize="1" noEditPoints="1" noAdjustHandles="1" noChangeArrowheads="1" noChangeShapeType="1" noTextEdit="1"/>
              </p:cNvSpPr>
              <p:nvPr>
                <p:ph sz="half" idx="2"/>
              </p:nvPr>
            </p:nvSpPr>
            <p:spPr>
              <a:xfrm>
                <a:off x="6172200" y="1608667"/>
                <a:ext cx="5181600" cy="2805204"/>
              </a:xfrm>
              <a:blipFill>
                <a:blip r:embed="rId3"/>
                <a:stretch>
                  <a:fillRect l="-489" t="-1802"/>
                </a:stretch>
              </a:blipFill>
            </p:spPr>
            <p:txBody>
              <a:bodyPr/>
              <a:lstStyle/>
              <a:p>
                <a:r>
                  <a:rPr lang="en-US">
                    <a:noFill/>
                  </a:rPr>
                  <a:t> </a:t>
                </a:r>
              </a:p>
            </p:txBody>
          </p:sp>
        </mc:Fallback>
      </mc:AlternateContent>
      <p:sp>
        <p:nvSpPr>
          <p:cNvPr id="2" name="Title 1">
            <a:extLst>
              <a:ext uri="{FF2B5EF4-FFF2-40B4-BE49-F238E27FC236}">
                <a16:creationId xmlns:a16="http://schemas.microsoft.com/office/drawing/2014/main" id="{AF0B4E78-0F2E-406A-15A4-11116C1F696C}"/>
              </a:ext>
            </a:extLst>
          </p:cNvPr>
          <p:cNvSpPr>
            <a:spLocks noGrp="1"/>
          </p:cNvSpPr>
          <p:nvPr>
            <p:ph type="title"/>
          </p:nvPr>
        </p:nvSpPr>
        <p:spPr/>
        <p:txBody>
          <a:bodyPr>
            <a:normAutofit fontScale="90000"/>
          </a:bodyPr>
          <a:lstStyle/>
          <a:p>
            <a:r>
              <a:rPr lang="en-US" dirty="0"/>
              <a:t>Analytical derivatives</a:t>
            </a:r>
            <a:br>
              <a:rPr lang="en-US" dirty="0"/>
            </a:br>
            <a:br>
              <a:rPr lang="en-US" dirty="0"/>
            </a:br>
            <a:endParaRPr lang="en-US" dirty="0"/>
          </a:p>
        </p:txBody>
      </p:sp>
      <p:pic>
        <p:nvPicPr>
          <p:cNvPr id="7170" name="Picture 2">
            <a:extLst>
              <a:ext uri="{FF2B5EF4-FFF2-40B4-BE49-F238E27FC236}">
                <a16:creationId xmlns:a16="http://schemas.microsoft.com/office/drawing/2014/main" id="{1D09CBD1-2A6A-3FFA-4958-F5E1E5E3EA4F}"/>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72200" y="4323575"/>
            <a:ext cx="5733907" cy="21397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4745889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AC0682-C5F5-00F7-75DB-FF5AE5D3C230}"/>
              </a:ext>
            </a:extLst>
          </p:cNvPr>
          <p:cNvSpPr>
            <a:spLocks noGrp="1"/>
          </p:cNvSpPr>
          <p:nvPr>
            <p:ph type="title"/>
          </p:nvPr>
        </p:nvSpPr>
        <p:spPr/>
        <p:txBody>
          <a:bodyPr>
            <a:normAutofit/>
          </a:bodyPr>
          <a:lstStyle/>
          <a:p>
            <a:r>
              <a:rPr lang="en-US" altLang="zh-CN" dirty="0"/>
              <a:t>G</a:t>
            </a:r>
            <a:r>
              <a:rPr lang="en-US" dirty="0"/>
              <a:t>radient : physical </a:t>
            </a:r>
            <a:r>
              <a:rPr lang="en-US" dirty="0" err="1"/>
              <a:t>optimisation</a:t>
            </a:r>
            <a:br>
              <a:rPr lang="en-US" dirty="0"/>
            </a:br>
            <a:endParaRPr lang="en-US" dirty="0"/>
          </a:p>
        </p:txBody>
      </p:sp>
      <p:sp>
        <p:nvSpPr>
          <p:cNvPr id="3" name="Content Placeholder 2">
            <a:extLst>
              <a:ext uri="{FF2B5EF4-FFF2-40B4-BE49-F238E27FC236}">
                <a16:creationId xmlns:a16="http://schemas.microsoft.com/office/drawing/2014/main" id="{713E04B1-45BD-8DFF-9EAC-D7ECE4AD7EBC}"/>
              </a:ext>
            </a:extLst>
          </p:cNvPr>
          <p:cNvSpPr>
            <a:spLocks noGrp="1"/>
          </p:cNvSpPr>
          <p:nvPr>
            <p:ph sz="quarter" idx="13"/>
          </p:nvPr>
        </p:nvSpPr>
        <p:spPr>
          <a:xfrm>
            <a:off x="285750" y="1627188"/>
            <a:ext cx="6832805" cy="4606925"/>
          </a:xfrm>
        </p:spPr>
        <p:txBody>
          <a:bodyPr/>
          <a:lstStyle/>
          <a:p>
            <a:r>
              <a:rPr lang="en-US" altLang="zh-CN" dirty="0">
                <a:latin typeface="-apple-system"/>
              </a:rPr>
              <a:t>C</a:t>
            </a:r>
            <a:r>
              <a:rPr lang="en-GB" b="0" i="0" dirty="0" err="1">
                <a:effectLst/>
                <a:latin typeface="-apple-system"/>
              </a:rPr>
              <a:t>onsidering</a:t>
            </a:r>
            <a:r>
              <a:rPr lang="en-GB" b="0" i="0" dirty="0">
                <a:effectLst/>
                <a:latin typeface="-apple-system"/>
              </a:rPr>
              <a:t> a ball rolling on a (smooth) surface, which represents the value of the objective function across a 2D domain (i.e. if we had a parameter vector </a:t>
            </a:r>
            <a:r>
              <a:rPr lang="el-GR" b="0" i="0" dirty="0">
                <a:effectLst/>
                <a:latin typeface="-apple-system"/>
              </a:rPr>
              <a:t>θ </a:t>
            </a:r>
            <a:r>
              <a:rPr lang="en-GB" b="0" i="0" dirty="0">
                <a:effectLst/>
                <a:latin typeface="-apple-system"/>
              </a:rPr>
              <a:t>with two elements).</a:t>
            </a:r>
          </a:p>
          <a:p>
            <a:r>
              <a:rPr lang="en-GB" b="1" i="0" dirty="0">
                <a:effectLst/>
                <a:latin typeface="-apple-system"/>
              </a:rPr>
              <a:t>Gravity</a:t>
            </a:r>
            <a:r>
              <a:rPr lang="en-GB" b="0" i="0" dirty="0">
                <a:effectLst/>
                <a:latin typeface="-apple-system"/>
              </a:rPr>
              <a:t> applies a force in </a:t>
            </a:r>
            <a:r>
              <a:rPr lang="en-GB" b="0" i="1" dirty="0">
                <a:effectLst/>
                <a:latin typeface="-apple-system"/>
              </a:rPr>
              <a:t>the direction of the steepest slope</a:t>
            </a:r>
            <a:r>
              <a:rPr lang="en-GB" b="0" i="0" dirty="0">
                <a:effectLst/>
                <a:latin typeface="-apple-system"/>
              </a:rPr>
              <a:t> of the surface, accelerating the ball in that direction.</a:t>
            </a:r>
          </a:p>
          <a:p>
            <a:r>
              <a:rPr lang="en-US" altLang="zh-CN" dirty="0">
                <a:latin typeface="-apple-system"/>
              </a:rPr>
              <a:t>T</a:t>
            </a:r>
            <a:r>
              <a:rPr lang="en-GB" b="0" i="0" dirty="0">
                <a:effectLst/>
                <a:latin typeface="-apple-system"/>
              </a:rPr>
              <a:t>he </a:t>
            </a:r>
            <a:r>
              <a:rPr lang="en-GB" b="1" i="0" dirty="0">
                <a:effectLst/>
                <a:latin typeface="-apple-system"/>
              </a:rPr>
              <a:t>gradient</a:t>
            </a:r>
            <a:r>
              <a:rPr lang="en-GB" b="0" i="0" dirty="0">
                <a:effectLst/>
                <a:latin typeface="-apple-system"/>
              </a:rPr>
              <a:t> can be understood by thinking of it as a vector that points in the direction of the steepest ascent (or descent) on a surface representing a function</a:t>
            </a:r>
          </a:p>
          <a:p>
            <a:endParaRPr lang="en-US" dirty="0"/>
          </a:p>
        </p:txBody>
      </p:sp>
      <p:pic>
        <p:nvPicPr>
          <p:cNvPr id="5122" name="Picture 2">
            <a:extLst>
              <a:ext uri="{FF2B5EF4-FFF2-40B4-BE49-F238E27FC236}">
                <a16:creationId xmlns:a16="http://schemas.microsoft.com/office/drawing/2014/main" id="{A7106346-079C-7D78-30FA-E21EC4A87E8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04773" y="2826775"/>
            <a:ext cx="5117174" cy="287470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2175908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7AC08F-08D3-D8C5-F635-78F687BA87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59C4D-C83A-5826-DAFC-2F69CF72D56C}"/>
              </a:ext>
            </a:extLst>
          </p:cNvPr>
          <p:cNvSpPr>
            <a:spLocks noGrp="1"/>
          </p:cNvSpPr>
          <p:nvPr>
            <p:ph type="title"/>
          </p:nvPr>
        </p:nvSpPr>
        <p:spPr/>
        <p:txBody>
          <a:bodyPr>
            <a:normAutofit/>
          </a:bodyPr>
          <a:lstStyle/>
          <a:p>
            <a:r>
              <a:rPr lang="en-US" altLang="zh-CN" dirty="0"/>
              <a:t>G</a:t>
            </a:r>
            <a:r>
              <a:rPr lang="en-US" dirty="0"/>
              <a:t>radient : physical </a:t>
            </a:r>
            <a:r>
              <a:rPr lang="en-US" dirty="0" err="1"/>
              <a:t>optimisation</a:t>
            </a:r>
            <a:br>
              <a:rPr lang="en-US" dirty="0"/>
            </a:br>
            <a:endParaRPr lang="en-US" dirty="0"/>
          </a:p>
        </p:txBody>
      </p:sp>
      <p:sp>
        <p:nvSpPr>
          <p:cNvPr id="3" name="Content Placeholder 2">
            <a:extLst>
              <a:ext uri="{FF2B5EF4-FFF2-40B4-BE49-F238E27FC236}">
                <a16:creationId xmlns:a16="http://schemas.microsoft.com/office/drawing/2014/main" id="{E231CFC1-22F2-C259-3EA5-2F96E97A4B71}"/>
              </a:ext>
            </a:extLst>
          </p:cNvPr>
          <p:cNvSpPr>
            <a:spLocks noGrp="1"/>
          </p:cNvSpPr>
          <p:nvPr>
            <p:ph sz="quarter" idx="13"/>
          </p:nvPr>
        </p:nvSpPr>
        <p:spPr>
          <a:xfrm>
            <a:off x="285751" y="1627188"/>
            <a:ext cx="6300680" cy="4606925"/>
          </a:xfrm>
        </p:spPr>
        <p:txBody>
          <a:bodyPr/>
          <a:lstStyle/>
          <a:p>
            <a:r>
              <a:rPr lang="en-GB" b="0" i="0" dirty="0">
                <a:effectLst/>
                <a:latin typeface="-apple-system"/>
              </a:rPr>
              <a:t>This </a:t>
            </a:r>
            <a:r>
              <a:rPr lang="en-GB" b="0" i="1" dirty="0">
                <a:effectLst/>
                <a:latin typeface="-apple-system"/>
              </a:rPr>
              <a:t>gradient vector always points in the direction of the steepest slope</a:t>
            </a:r>
            <a:r>
              <a:rPr lang="en-GB" b="0" i="0" dirty="0">
                <a:effectLst/>
                <a:latin typeface="-apple-system"/>
              </a:rPr>
              <a:t>.</a:t>
            </a:r>
          </a:p>
          <a:p>
            <a:endParaRPr lang="en-GB" dirty="0">
              <a:latin typeface="-apple-system"/>
            </a:endParaRPr>
          </a:p>
          <a:p>
            <a:endParaRPr lang="en-GB" dirty="0">
              <a:latin typeface="-apple-system"/>
            </a:endParaRPr>
          </a:p>
          <a:p>
            <a:endParaRPr lang="en-GB" dirty="0">
              <a:latin typeface="-apple-system"/>
            </a:endParaRPr>
          </a:p>
          <a:p>
            <a:r>
              <a:rPr lang="en-US" dirty="0"/>
              <a:t>Downhill is not always the shortest route</a:t>
            </a:r>
            <a:r>
              <a:rPr lang="en-US" altLang="zh-CN" dirty="0"/>
              <a:t>,</a:t>
            </a:r>
            <a:r>
              <a:rPr lang="zh-CN" altLang="en-US" dirty="0"/>
              <a:t> </a:t>
            </a:r>
            <a:r>
              <a:rPr lang="en-US" altLang="zh-CN" dirty="0"/>
              <a:t>but</a:t>
            </a:r>
            <a:r>
              <a:rPr lang="zh-CN" altLang="en-US" dirty="0"/>
              <a:t> </a:t>
            </a:r>
            <a:r>
              <a:rPr lang="en-US" altLang="zh-CN" dirty="0"/>
              <a:t>can</a:t>
            </a:r>
            <a:r>
              <a:rPr lang="zh-CN" altLang="en-US" dirty="0"/>
              <a:t> </a:t>
            </a:r>
            <a:r>
              <a:rPr lang="en-US" altLang="zh-CN" dirty="0"/>
              <a:t>safely</a:t>
            </a:r>
            <a:r>
              <a:rPr lang="zh-CN" altLang="en-US" dirty="0"/>
              <a:t> </a:t>
            </a:r>
            <a:r>
              <a:rPr lang="en-US" altLang="zh-CN" dirty="0"/>
              <a:t>find</a:t>
            </a:r>
            <a:r>
              <a:rPr lang="zh-CN" altLang="en-US" dirty="0"/>
              <a:t> </a:t>
            </a:r>
            <a:r>
              <a:rPr lang="en-US" altLang="zh-CN" dirty="0"/>
              <a:t>a</a:t>
            </a:r>
            <a:r>
              <a:rPr lang="zh-CN" altLang="en-US" dirty="0"/>
              <a:t> </a:t>
            </a:r>
            <a:r>
              <a:rPr lang="en-US" altLang="zh-CN" dirty="0"/>
              <a:t>good</a:t>
            </a:r>
            <a:r>
              <a:rPr lang="zh-CN" altLang="en-US" dirty="0"/>
              <a:t> </a:t>
            </a:r>
            <a:r>
              <a:rPr lang="en-US" altLang="zh-CN" dirty="0"/>
              <a:t>local</a:t>
            </a:r>
            <a:r>
              <a:rPr lang="zh-CN" altLang="en-US" dirty="0"/>
              <a:t> </a:t>
            </a:r>
            <a:r>
              <a:rPr lang="en-US" altLang="zh-CN" dirty="0"/>
              <a:t>minima</a:t>
            </a:r>
            <a:endParaRPr lang="en-US" dirty="0"/>
          </a:p>
          <a:p>
            <a:pPr marL="0" indent="0">
              <a:buNone/>
            </a:pPr>
            <a:br>
              <a:rPr lang="en-US" dirty="0"/>
            </a:br>
            <a:endParaRPr lang="en-US" dirty="0"/>
          </a:p>
        </p:txBody>
      </p:sp>
      <p:pic>
        <p:nvPicPr>
          <p:cNvPr id="6146" name="Picture 2">
            <a:extLst>
              <a:ext uri="{FF2B5EF4-FFF2-40B4-BE49-F238E27FC236}">
                <a16:creationId xmlns:a16="http://schemas.microsoft.com/office/drawing/2014/main" id="{1C0D47EE-3241-F6E6-A118-4AB09B97F1B7}"/>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12711" y="1422400"/>
            <a:ext cx="4056960" cy="2641457"/>
          </a:xfrm>
          <a:prstGeom prst="rect">
            <a:avLst/>
          </a:prstGeom>
          <a:noFill/>
          <a:extLst>
            <a:ext uri="{909E8E84-426E-40DD-AFC4-6F175D3DCCD1}">
              <a14:hiddenFill xmlns:a14="http://schemas.microsoft.com/office/drawing/2010/main">
                <a:solidFill>
                  <a:srgbClr val="FFFFFF"/>
                </a:solidFill>
              </a14:hiddenFill>
            </a:ext>
          </a:extLst>
        </p:spPr>
      </p:pic>
      <p:pic>
        <p:nvPicPr>
          <p:cNvPr id="11266" name="Picture 2">
            <a:extLst>
              <a:ext uri="{FF2B5EF4-FFF2-40B4-BE49-F238E27FC236}">
                <a16:creationId xmlns:a16="http://schemas.microsoft.com/office/drawing/2014/main" id="{98EA593C-8D70-7B26-7F29-C6C93562B9A9}"/>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433600" y="4114871"/>
            <a:ext cx="4681249" cy="264145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8458974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3F5FD5-D9CE-C7BC-7D9F-6E1640B25376}"/>
              </a:ext>
            </a:extLst>
          </p:cNvPr>
          <p:cNvSpPr>
            <a:spLocks noGrp="1"/>
          </p:cNvSpPr>
          <p:nvPr>
            <p:ph type="title"/>
          </p:nvPr>
        </p:nvSpPr>
        <p:spPr/>
        <p:txBody>
          <a:bodyPr>
            <a:normAutofit/>
          </a:bodyPr>
          <a:lstStyle/>
          <a:p>
            <a:r>
              <a:rPr lang="en-US" dirty="0"/>
              <a:t>Gradient descent</a:t>
            </a:r>
          </a:p>
        </p:txBody>
      </p:sp>
      <p:sp>
        <p:nvSpPr>
          <p:cNvPr id="3" name="Content Placeholder 2">
            <a:extLst>
              <a:ext uri="{FF2B5EF4-FFF2-40B4-BE49-F238E27FC236}">
                <a16:creationId xmlns:a16="http://schemas.microsoft.com/office/drawing/2014/main" id="{C149B4CC-6814-C4CC-30A7-4CBBA436C419}"/>
              </a:ext>
            </a:extLst>
          </p:cNvPr>
          <p:cNvSpPr>
            <a:spLocks noGrp="1"/>
          </p:cNvSpPr>
          <p:nvPr>
            <p:ph sz="quarter" idx="13"/>
          </p:nvPr>
        </p:nvSpPr>
        <p:spPr/>
        <p:txBody>
          <a:bodyPr>
            <a:normAutofit/>
          </a:bodyPr>
          <a:lstStyle/>
          <a:p>
            <a:pPr algn="l"/>
            <a:r>
              <a:rPr lang="en-GB" b="0" dirty="0">
                <a:effectLst/>
              </a:rPr>
              <a:t>The basic first-order algorithm is called </a:t>
            </a:r>
            <a:r>
              <a:rPr lang="en-GB" b="1" dirty="0">
                <a:effectLst/>
              </a:rPr>
              <a:t>gradient descent</a:t>
            </a:r>
            <a:r>
              <a:rPr lang="en-GB" b="0" dirty="0">
                <a:effectLst/>
              </a:rPr>
              <a:t> and it is very simple, starting from some initial guess </a:t>
            </a:r>
            <a:r>
              <a:rPr lang="el-GR" b="0" i="1" dirty="0">
                <a:effectLst/>
              </a:rPr>
              <a:t>θ</a:t>
            </a:r>
            <a:r>
              <a:rPr lang="el-GR" b="0" i="1" baseline="30000" dirty="0">
                <a:effectLst/>
              </a:rPr>
              <a:t>(0)</a:t>
            </a:r>
            <a:r>
              <a:rPr lang="el-GR" b="0" dirty="0">
                <a:effectLst/>
              </a:rPr>
              <a:t>:</a:t>
            </a:r>
            <a:endParaRPr lang="en-GB" b="0" dirty="0">
              <a:effectLst/>
            </a:endParaRPr>
          </a:p>
          <a:p>
            <a:pPr algn="l"/>
            <a:endParaRPr lang="en-GB" dirty="0"/>
          </a:p>
          <a:p>
            <a:pPr algn="l"/>
            <a:endParaRPr lang="en-GB" b="0" dirty="0">
              <a:effectLst/>
            </a:endParaRPr>
          </a:p>
          <a:p>
            <a:pPr marL="0" indent="0" algn="l">
              <a:buNone/>
            </a:pPr>
            <a:r>
              <a:rPr lang="en-GB" b="0" i="0" dirty="0">
                <a:effectLst/>
                <a:latin typeface="-apple-system"/>
              </a:rPr>
              <a:t>where </a:t>
            </a:r>
            <a:r>
              <a:rPr lang="el-GR" b="0" i="0" dirty="0">
                <a:effectLst/>
                <a:latin typeface="MJXc-TeX-math-I"/>
              </a:rPr>
              <a:t>δ</a:t>
            </a:r>
            <a:r>
              <a:rPr lang="el-GR" b="0" i="0" dirty="0">
                <a:effectLst/>
                <a:latin typeface="-apple-system"/>
              </a:rPr>
              <a:t> </a:t>
            </a:r>
            <a:r>
              <a:rPr lang="en-GB" b="0" i="0" dirty="0">
                <a:effectLst/>
                <a:latin typeface="-apple-system"/>
              </a:rPr>
              <a:t>is a scaling hyperparameter -- the </a:t>
            </a:r>
            <a:r>
              <a:rPr lang="en-GB" b="1" i="0" dirty="0">
                <a:effectLst/>
                <a:latin typeface="-apple-system"/>
              </a:rPr>
              <a:t>step size</a:t>
            </a:r>
            <a:r>
              <a:rPr lang="en-GB" b="0" i="0" dirty="0">
                <a:effectLst/>
                <a:latin typeface="-apple-system"/>
              </a:rPr>
              <a:t>. The </a:t>
            </a:r>
            <a:r>
              <a:rPr lang="en-GB" b="1" i="0" dirty="0">
                <a:effectLst/>
                <a:latin typeface="-apple-system"/>
              </a:rPr>
              <a:t>step size</a:t>
            </a:r>
            <a:r>
              <a:rPr lang="en-GB" b="0" i="0" dirty="0">
                <a:effectLst/>
                <a:latin typeface="-apple-system"/>
              </a:rPr>
              <a:t> might be fixed, or might be chosen adaptively according to an algorithm like </a:t>
            </a:r>
            <a:r>
              <a:rPr lang="en-GB" b="0" i="1" dirty="0">
                <a:effectLst/>
                <a:latin typeface="-apple-system"/>
              </a:rPr>
              <a:t>line search</a:t>
            </a:r>
            <a:r>
              <a:rPr lang="en-GB" b="0" i="0" dirty="0">
                <a:effectLst/>
                <a:latin typeface="-apple-system"/>
              </a:rPr>
              <a:t>.</a:t>
            </a:r>
          </a:p>
          <a:p>
            <a:pPr marL="0" indent="0" algn="l">
              <a:buNone/>
            </a:pPr>
            <a:endParaRPr lang="en-GB" dirty="0">
              <a:latin typeface="-apple-system"/>
            </a:endParaRPr>
          </a:p>
          <a:p>
            <a:pPr algn="l"/>
            <a:r>
              <a:rPr lang="en-GB" b="0" i="0" dirty="0">
                <a:effectLst/>
                <a:latin typeface="-apple-system"/>
              </a:rPr>
              <a:t>This means is that the optimiser will make moves where the objective function drops most quickly.</a:t>
            </a:r>
            <a:endParaRPr lang="el-GR" b="0" dirty="0">
              <a:effectLst/>
            </a:endParaRPr>
          </a:p>
          <a:p>
            <a:pPr marL="0" indent="0">
              <a:buNone/>
            </a:pPr>
            <a:br>
              <a:rPr lang="el-GR" b="0" i="0" dirty="0">
                <a:solidFill>
                  <a:srgbClr val="1B5E20"/>
                </a:solidFill>
                <a:effectLst/>
                <a:latin typeface="-apple-system"/>
              </a:rPr>
            </a:br>
            <a:endParaRPr lang="el-GR" b="0" dirty="0">
              <a:effectLst/>
            </a:endParaRPr>
          </a:p>
          <a:p>
            <a:endParaRPr lang="en-US" dirty="0"/>
          </a:p>
        </p:txBody>
      </p:sp>
      <p:pic>
        <p:nvPicPr>
          <p:cNvPr id="4" name="Picture 3">
            <a:extLst>
              <a:ext uri="{FF2B5EF4-FFF2-40B4-BE49-F238E27FC236}">
                <a16:creationId xmlns:a16="http://schemas.microsoft.com/office/drawing/2014/main" id="{699BF9D9-2489-3FD9-DAC6-26E19E9E33B8}"/>
              </a:ext>
            </a:extLst>
          </p:cNvPr>
          <p:cNvPicPr>
            <a:picLocks noChangeAspect="1"/>
          </p:cNvPicPr>
          <p:nvPr/>
        </p:nvPicPr>
        <p:blipFill>
          <a:blip r:embed="rId2"/>
          <a:stretch>
            <a:fillRect/>
          </a:stretch>
        </p:blipFill>
        <p:spPr>
          <a:xfrm>
            <a:off x="3982691" y="2455588"/>
            <a:ext cx="4006278" cy="788120"/>
          </a:xfrm>
          <a:prstGeom prst="rect">
            <a:avLst/>
          </a:prstGeom>
        </p:spPr>
      </p:pic>
    </p:spTree>
    <p:extLst>
      <p:ext uri="{BB962C8B-B14F-4D97-AF65-F5344CB8AC3E}">
        <p14:creationId xmlns:p14="http://schemas.microsoft.com/office/powerpoint/2010/main" val="199480142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A28C09-18D6-70B5-5FF4-F115FC83E93B}"/>
              </a:ext>
            </a:extLst>
          </p:cNvPr>
          <p:cNvSpPr>
            <a:spLocks noGrp="1"/>
          </p:cNvSpPr>
          <p:nvPr>
            <p:ph type="title"/>
          </p:nvPr>
        </p:nvSpPr>
        <p:spPr/>
        <p:txBody>
          <a:bodyPr/>
          <a:lstStyle/>
          <a:p>
            <a:r>
              <a:rPr lang="en-US" dirty="0"/>
              <a:t>Gradient descent</a:t>
            </a:r>
          </a:p>
        </p:txBody>
      </p:sp>
      <p:pic>
        <p:nvPicPr>
          <p:cNvPr id="4" name="Content Placeholder 3">
            <a:extLst>
              <a:ext uri="{FF2B5EF4-FFF2-40B4-BE49-F238E27FC236}">
                <a16:creationId xmlns:a16="http://schemas.microsoft.com/office/drawing/2014/main" id="{E1E086E4-FD8E-00A8-4349-6169371A832F}"/>
              </a:ext>
            </a:extLst>
          </p:cNvPr>
          <p:cNvPicPr>
            <a:picLocks noGrp="1" noChangeAspect="1"/>
          </p:cNvPicPr>
          <p:nvPr>
            <p:ph sz="quarter" idx="13"/>
          </p:nvPr>
        </p:nvPicPr>
        <p:blipFill>
          <a:blip r:embed="rId2"/>
          <a:stretch>
            <a:fillRect/>
          </a:stretch>
        </p:blipFill>
        <p:spPr>
          <a:xfrm>
            <a:off x="491814" y="1790700"/>
            <a:ext cx="5627538" cy="4066960"/>
          </a:xfrm>
          <a:prstGeom prst="rect">
            <a:avLst/>
          </a:prstGeom>
        </p:spPr>
      </p:pic>
      <p:pic>
        <p:nvPicPr>
          <p:cNvPr id="5" name="Picture 4">
            <a:extLst>
              <a:ext uri="{FF2B5EF4-FFF2-40B4-BE49-F238E27FC236}">
                <a16:creationId xmlns:a16="http://schemas.microsoft.com/office/drawing/2014/main" id="{D34FD342-709C-A968-ADCC-F56D07D25268}"/>
              </a:ext>
            </a:extLst>
          </p:cNvPr>
          <p:cNvPicPr>
            <a:picLocks noChangeAspect="1"/>
          </p:cNvPicPr>
          <p:nvPr/>
        </p:nvPicPr>
        <p:blipFill>
          <a:blip r:embed="rId3"/>
          <a:stretch>
            <a:fillRect/>
          </a:stretch>
        </p:blipFill>
        <p:spPr>
          <a:xfrm>
            <a:off x="6519014" y="2274279"/>
            <a:ext cx="5241185" cy="1031052"/>
          </a:xfrm>
          <a:prstGeom prst="rect">
            <a:avLst/>
          </a:prstGeom>
        </p:spPr>
      </p:pic>
      <p:pic>
        <p:nvPicPr>
          <p:cNvPr id="6" name="Picture 5">
            <a:extLst>
              <a:ext uri="{FF2B5EF4-FFF2-40B4-BE49-F238E27FC236}">
                <a16:creationId xmlns:a16="http://schemas.microsoft.com/office/drawing/2014/main" id="{CF043E06-7C26-C6A2-CC9B-A5977F370C77}"/>
              </a:ext>
            </a:extLst>
          </p:cNvPr>
          <p:cNvPicPr>
            <a:picLocks noChangeAspect="1"/>
          </p:cNvPicPr>
          <p:nvPr/>
        </p:nvPicPr>
        <p:blipFill>
          <a:blip r:embed="rId4"/>
          <a:stretch>
            <a:fillRect/>
          </a:stretch>
        </p:blipFill>
        <p:spPr>
          <a:xfrm>
            <a:off x="7585051" y="978007"/>
            <a:ext cx="3373998" cy="998626"/>
          </a:xfrm>
          <a:prstGeom prst="rect">
            <a:avLst/>
          </a:prstGeom>
        </p:spPr>
      </p:pic>
      <p:pic>
        <p:nvPicPr>
          <p:cNvPr id="7" name="Picture 2">
            <a:extLst>
              <a:ext uri="{FF2B5EF4-FFF2-40B4-BE49-F238E27FC236}">
                <a16:creationId xmlns:a16="http://schemas.microsoft.com/office/drawing/2014/main" id="{E6BE4318-29F0-3C4B-0D91-08EEFBE2B6E4}"/>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591729" y="3429000"/>
            <a:ext cx="4681249" cy="264145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4185519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F9E0B0-6F72-B072-633D-37D6A0BC0492}"/>
              </a:ext>
            </a:extLst>
          </p:cNvPr>
          <p:cNvSpPr>
            <a:spLocks noGrp="1"/>
          </p:cNvSpPr>
          <p:nvPr>
            <p:ph type="title"/>
          </p:nvPr>
        </p:nvSpPr>
        <p:spPr>
          <a:xfrm>
            <a:off x="2549236" y="533614"/>
            <a:ext cx="9210963" cy="888786"/>
          </a:xfrm>
        </p:spPr>
        <p:txBody>
          <a:bodyPr anchor="t">
            <a:normAutofit/>
          </a:bodyPr>
          <a:lstStyle/>
          <a:p>
            <a:r>
              <a:rPr lang="en-GB" dirty="0"/>
              <a:t>Gradient descent from different initial conditions</a:t>
            </a:r>
          </a:p>
        </p:txBody>
      </p:sp>
      <p:pic>
        <p:nvPicPr>
          <p:cNvPr id="1026" name="Picture 2">
            <a:extLst>
              <a:ext uri="{FF2B5EF4-FFF2-40B4-BE49-F238E27FC236}">
                <a16:creationId xmlns:a16="http://schemas.microsoft.com/office/drawing/2014/main" id="{C8C9A7D4-250A-2307-DB51-8D4A3BE3B08D}"/>
              </a:ext>
            </a:extLst>
          </p:cNvPr>
          <p:cNvPicPr>
            <a:picLocks noGrp="1" noChangeAspect="1" noChangeArrowheads="1"/>
          </p:cNvPicPr>
          <p:nvPr>
            <p:ph sz="quarter" idx="13"/>
          </p:nvPr>
        </p:nvPicPr>
        <p:blipFill>
          <a:blip r:embed="rId2">
            <a:extLst>
              <a:ext uri="{28A0092B-C50C-407E-A947-70E740481C1C}">
                <a14:useLocalDpi xmlns:a14="http://schemas.microsoft.com/office/drawing/2010/main" val="0"/>
              </a:ext>
            </a:extLst>
          </a:blip>
          <a:stretch>
            <a:fillRect/>
          </a:stretch>
        </p:blipFill>
        <p:spPr bwMode="auto">
          <a:xfrm>
            <a:off x="2085432" y="1627188"/>
            <a:ext cx="7875086" cy="4606925"/>
          </a:xfrm>
          <a:prstGeom prst="rect">
            <a:avLst/>
          </a:prstGeom>
          <a:solidFill>
            <a:srgbClr val="FFFFFF"/>
          </a:solidFill>
        </p:spPr>
      </p:pic>
    </p:spTree>
    <p:extLst>
      <p:ext uri="{BB962C8B-B14F-4D97-AF65-F5344CB8AC3E}">
        <p14:creationId xmlns:p14="http://schemas.microsoft.com/office/powerpoint/2010/main" val="51975472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3">
            <a:extLst>
              <a:ext uri="{FF2B5EF4-FFF2-40B4-BE49-F238E27FC236}">
                <a16:creationId xmlns:a16="http://schemas.microsoft.com/office/drawing/2014/main" id="{F08F45E5-CF3E-505D-235D-C21B3932494D}"/>
              </a:ext>
            </a:extLst>
          </p:cNvPr>
          <p:cNvSpPr>
            <a:spLocks noGrp="1"/>
          </p:cNvSpPr>
          <p:nvPr>
            <p:ph sz="half" idx="1"/>
          </p:nvPr>
        </p:nvSpPr>
        <p:spPr/>
        <p:txBody>
          <a:bodyPr/>
          <a:lstStyle/>
          <a:p>
            <a:pPr algn="l"/>
            <a:r>
              <a:rPr lang="en-GB" b="0" dirty="0">
                <a:effectLst/>
                <a:latin typeface="var(--jp-code-font-family)"/>
              </a:rPr>
              <a:t>Converged in 19 steps </a:t>
            </a:r>
          </a:p>
          <a:p>
            <a:pPr marL="0" indent="0">
              <a:buNone/>
            </a:pPr>
            <a:br>
              <a:rPr lang="en-GB" b="0" dirty="0">
                <a:effectLst/>
              </a:rPr>
            </a:br>
            <a:endParaRPr lang="en-GB" b="0" dirty="0">
              <a:effectLst/>
            </a:endParaRPr>
          </a:p>
          <a:p>
            <a:r>
              <a:rPr lang="zh-CN" altLang="en-US" dirty="0"/>
              <a:t>、</a:t>
            </a:r>
            <a:endParaRPr lang="en-GB" altLang="zh-CN" dirty="0"/>
          </a:p>
          <a:p>
            <a:endParaRPr lang="en-GB" dirty="0"/>
          </a:p>
          <a:p>
            <a:endParaRPr lang="en-GB" dirty="0"/>
          </a:p>
          <a:p>
            <a:r>
              <a:rPr lang="en-GB" b="0" dirty="0">
                <a:effectLst/>
                <a:latin typeface="var(--jp-code-font-family)"/>
              </a:rPr>
              <a:t>Converged in </a:t>
            </a:r>
            <a:r>
              <a:rPr lang="en-US" altLang="zh-CN" b="0" dirty="0">
                <a:effectLst/>
                <a:latin typeface="var(--jp-code-font-family)"/>
              </a:rPr>
              <a:t>2</a:t>
            </a:r>
            <a:r>
              <a:rPr lang="en-GB" b="0" dirty="0">
                <a:effectLst/>
                <a:latin typeface="var(--jp-code-font-family)"/>
              </a:rPr>
              <a:t> steps </a:t>
            </a:r>
          </a:p>
          <a:p>
            <a:endParaRPr lang="en-US" dirty="0"/>
          </a:p>
        </p:txBody>
      </p:sp>
      <p:sp>
        <p:nvSpPr>
          <p:cNvPr id="5" name="Content Placeholder 4">
            <a:extLst>
              <a:ext uri="{FF2B5EF4-FFF2-40B4-BE49-F238E27FC236}">
                <a16:creationId xmlns:a16="http://schemas.microsoft.com/office/drawing/2014/main" id="{B9F88886-60FE-46D0-2CAE-29A73F4A4A90}"/>
              </a:ext>
            </a:extLst>
          </p:cNvPr>
          <p:cNvSpPr>
            <a:spLocks noGrp="1"/>
          </p:cNvSpPr>
          <p:nvPr>
            <p:ph sz="half" idx="2"/>
          </p:nvPr>
        </p:nvSpPr>
        <p:spPr>
          <a:xfrm>
            <a:off x="6172202" y="1608667"/>
            <a:ext cx="5181600" cy="4568296"/>
          </a:xfrm>
        </p:spPr>
        <p:txBody>
          <a:bodyPr/>
          <a:lstStyle/>
          <a:p>
            <a:pPr algn="l"/>
            <a:r>
              <a:rPr lang="en-GB" b="0" dirty="0">
                <a:effectLst/>
                <a:latin typeface="var(--jp-code-font-family)"/>
              </a:rPr>
              <a:t>Converged in 606 steps</a:t>
            </a:r>
          </a:p>
          <a:p>
            <a:pPr algn="l"/>
            <a:endParaRPr lang="en-GB" dirty="0">
              <a:latin typeface="var(--jp-code-font-family)"/>
            </a:endParaRPr>
          </a:p>
          <a:p>
            <a:pPr algn="l"/>
            <a:endParaRPr lang="en-GB" b="0" dirty="0">
              <a:effectLst/>
              <a:latin typeface="var(--jp-code-font-family)"/>
            </a:endParaRPr>
          </a:p>
          <a:p>
            <a:pPr algn="l"/>
            <a:endParaRPr lang="en-GB" dirty="0">
              <a:latin typeface="var(--jp-code-font-family)"/>
            </a:endParaRPr>
          </a:p>
          <a:p>
            <a:pPr algn="l"/>
            <a:endParaRPr lang="en-GB" b="0" dirty="0">
              <a:effectLst/>
              <a:latin typeface="var(--jp-code-font-family)"/>
            </a:endParaRPr>
          </a:p>
          <a:p>
            <a:pPr algn="l"/>
            <a:endParaRPr lang="en-GB" dirty="0">
              <a:latin typeface="var(--jp-code-font-family)"/>
            </a:endParaRPr>
          </a:p>
          <a:p>
            <a:r>
              <a:rPr lang="en-GB" b="0" dirty="0">
                <a:effectLst/>
                <a:latin typeface="var(--jp-code-font-family)"/>
              </a:rPr>
              <a:t>Converged in </a:t>
            </a:r>
            <a:r>
              <a:rPr lang="en-US" altLang="zh-CN" b="0" dirty="0">
                <a:effectLst/>
                <a:latin typeface="var(--jp-code-font-family)"/>
              </a:rPr>
              <a:t>301</a:t>
            </a:r>
            <a:r>
              <a:rPr lang="en-GB" b="0" dirty="0">
                <a:effectLst/>
                <a:latin typeface="var(--jp-code-font-family)"/>
              </a:rPr>
              <a:t> steps </a:t>
            </a:r>
          </a:p>
          <a:p>
            <a:pPr marL="0" indent="0" algn="l">
              <a:buNone/>
            </a:pPr>
            <a:r>
              <a:rPr lang="en-GB" b="0" dirty="0">
                <a:effectLst/>
                <a:latin typeface="var(--jp-code-font-family)"/>
              </a:rPr>
              <a:t> </a:t>
            </a:r>
          </a:p>
          <a:p>
            <a:pPr marL="0" indent="0">
              <a:buNone/>
            </a:pPr>
            <a:br>
              <a:rPr lang="en-GB" b="0" dirty="0">
                <a:effectLst/>
              </a:rPr>
            </a:br>
            <a:endParaRPr lang="en-GB" b="0" dirty="0">
              <a:effectLst/>
            </a:endParaRPr>
          </a:p>
          <a:p>
            <a:endParaRPr lang="en-US" dirty="0"/>
          </a:p>
        </p:txBody>
      </p:sp>
      <p:sp>
        <p:nvSpPr>
          <p:cNvPr id="2" name="Title 1">
            <a:extLst>
              <a:ext uri="{FF2B5EF4-FFF2-40B4-BE49-F238E27FC236}">
                <a16:creationId xmlns:a16="http://schemas.microsoft.com/office/drawing/2014/main" id="{F8F6E54A-91CA-A91B-78D2-0D4238142794}"/>
              </a:ext>
            </a:extLst>
          </p:cNvPr>
          <p:cNvSpPr>
            <a:spLocks noGrp="1"/>
          </p:cNvSpPr>
          <p:nvPr>
            <p:ph type="title"/>
          </p:nvPr>
        </p:nvSpPr>
        <p:spPr/>
        <p:txBody>
          <a:bodyPr>
            <a:normAutofit/>
          </a:bodyPr>
          <a:lstStyle/>
          <a:p>
            <a:pPr algn="l"/>
            <a:r>
              <a:rPr lang="en-GB" b="1" i="0" dirty="0">
                <a:effectLst/>
                <a:latin typeface="-apple-system"/>
              </a:rPr>
              <a:t>Why step size matters</a:t>
            </a:r>
            <a:br>
              <a:rPr lang="en-GB" dirty="0"/>
            </a:br>
            <a:endParaRPr lang="en-US" dirty="0"/>
          </a:p>
        </p:txBody>
      </p:sp>
      <p:pic>
        <p:nvPicPr>
          <p:cNvPr id="13314" name="Picture 2">
            <a:extLst>
              <a:ext uri="{FF2B5EF4-FFF2-40B4-BE49-F238E27FC236}">
                <a16:creationId xmlns:a16="http://schemas.microsoft.com/office/drawing/2014/main" id="{574A8542-8D36-5E75-0BBE-6440FAD8A5B3}"/>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43372" y="1939635"/>
            <a:ext cx="3495251" cy="1979222"/>
          </a:xfrm>
          <a:prstGeom prst="rect">
            <a:avLst/>
          </a:prstGeom>
          <a:noFill/>
          <a:extLst>
            <a:ext uri="{909E8E84-426E-40DD-AFC4-6F175D3DCCD1}">
              <a14:hiddenFill xmlns:a14="http://schemas.microsoft.com/office/drawing/2010/main">
                <a:solidFill>
                  <a:srgbClr val="FFFFFF"/>
                </a:solidFill>
              </a14:hiddenFill>
            </a:ext>
          </a:extLst>
        </p:spPr>
      </p:pic>
      <p:pic>
        <p:nvPicPr>
          <p:cNvPr id="13318" name="Picture 6">
            <a:extLst>
              <a:ext uri="{FF2B5EF4-FFF2-40B4-BE49-F238E27FC236}">
                <a16:creationId xmlns:a16="http://schemas.microsoft.com/office/drawing/2014/main" id="{D82537EE-8DC0-1095-76EF-671FC2F45E65}"/>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19799" y="1994670"/>
            <a:ext cx="3398062" cy="1924187"/>
          </a:xfrm>
          <a:prstGeom prst="rect">
            <a:avLst/>
          </a:prstGeom>
          <a:noFill/>
          <a:extLst>
            <a:ext uri="{909E8E84-426E-40DD-AFC4-6F175D3DCCD1}">
              <a14:hiddenFill xmlns:a14="http://schemas.microsoft.com/office/drawing/2010/main">
                <a:solidFill>
                  <a:srgbClr val="FFFFFF"/>
                </a:solidFill>
              </a14:hiddenFill>
            </a:ext>
          </a:extLst>
        </p:spPr>
      </p:pic>
      <p:pic>
        <p:nvPicPr>
          <p:cNvPr id="13320" name="Picture 8">
            <a:extLst>
              <a:ext uri="{FF2B5EF4-FFF2-40B4-BE49-F238E27FC236}">
                <a16:creationId xmlns:a16="http://schemas.microsoft.com/office/drawing/2014/main" id="{F52D743B-8663-33BF-0175-FC8DEA610E3F}"/>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38198" y="4737006"/>
            <a:ext cx="3335041" cy="1888501"/>
          </a:xfrm>
          <a:prstGeom prst="rect">
            <a:avLst/>
          </a:prstGeom>
          <a:noFill/>
          <a:extLst>
            <a:ext uri="{909E8E84-426E-40DD-AFC4-6F175D3DCCD1}">
              <a14:hiddenFill xmlns:a14="http://schemas.microsoft.com/office/drawing/2010/main">
                <a:solidFill>
                  <a:srgbClr val="FFFFFF"/>
                </a:solidFill>
              </a14:hiddenFill>
            </a:ext>
          </a:extLst>
        </p:spPr>
      </p:pic>
      <p:pic>
        <p:nvPicPr>
          <p:cNvPr id="13322" name="Picture 10">
            <a:extLst>
              <a:ext uri="{FF2B5EF4-FFF2-40B4-BE49-F238E27FC236}">
                <a16:creationId xmlns:a16="http://schemas.microsoft.com/office/drawing/2014/main" id="{70D8B230-F98B-9158-7122-7DC8940BEB30}"/>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183946" y="4737006"/>
            <a:ext cx="3467362" cy="19634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984672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Content Placeholder 1">
                <a:extLst>
                  <a:ext uri="{FF2B5EF4-FFF2-40B4-BE49-F238E27FC236}">
                    <a16:creationId xmlns:a16="http://schemas.microsoft.com/office/drawing/2014/main" id="{2378C339-868D-790A-5173-2EBFCB05300B}"/>
                  </a:ext>
                </a:extLst>
              </p:cNvPr>
              <p:cNvSpPr>
                <a:spLocks noGrp="1"/>
              </p:cNvSpPr>
              <p:nvPr>
                <p:ph sz="half" idx="1"/>
              </p:nvPr>
            </p:nvSpPr>
            <p:spPr/>
            <p:txBody>
              <a:bodyPr>
                <a:normAutofit/>
              </a:bodyPr>
              <a:lstStyle/>
              <a:p>
                <a:pPr marL="0" indent="0">
                  <a:buNone/>
                </a:pPr>
                <a:r>
                  <a:rPr lang="en-GB" dirty="0"/>
                  <a:t>The definition of the derivative is well known:</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f>
                        <m:fPr>
                          <m:ctrlPr>
                            <a:rPr lang="en-GB" i="1" smtClean="0">
                              <a:latin typeface="Cambria Math" panose="02040503050406030204" pitchFamily="18" charset="0"/>
                            </a:rPr>
                          </m:ctrlPr>
                        </m:fPr>
                        <m:num>
                          <m:r>
                            <a:rPr lang="en-GB" b="0" i="1" smtClean="0">
                              <a:latin typeface="Cambria Math" panose="02040503050406030204" pitchFamily="18" charset="0"/>
                            </a:rPr>
                            <m:t>𝑑</m:t>
                          </m:r>
                        </m:num>
                        <m:den>
                          <m:r>
                            <a:rPr lang="en-GB" b="0" i="1" smtClean="0">
                              <a:latin typeface="Cambria Math" panose="02040503050406030204" pitchFamily="18" charset="0"/>
                            </a:rPr>
                            <m:t>𝑑𝑥</m:t>
                          </m:r>
                        </m:den>
                      </m:f>
                      <m:r>
                        <a:rPr lang="en-GB" b="0" i="1" smtClean="0">
                          <a:latin typeface="Cambria Math" panose="02040503050406030204" pitchFamily="18" charset="0"/>
                        </a:rPr>
                        <m:t>𝑓</m:t>
                      </m:r>
                      <m:d>
                        <m:dPr>
                          <m:ctrlPr>
                            <a:rPr lang="en-GB" b="0" i="1" smtClean="0">
                              <a:latin typeface="Cambria Math" panose="02040503050406030204" pitchFamily="18" charset="0"/>
                            </a:rPr>
                          </m:ctrlPr>
                        </m:dPr>
                        <m:e>
                          <m:r>
                            <a:rPr lang="en-GB" b="0" i="1" smtClean="0">
                              <a:latin typeface="Cambria Math" panose="02040503050406030204" pitchFamily="18" charset="0"/>
                            </a:rPr>
                            <m:t>𝑥</m:t>
                          </m:r>
                        </m:e>
                      </m:d>
                      <m:r>
                        <a:rPr lang="en-GB" b="0" i="1" smtClean="0">
                          <a:latin typeface="Cambria Math" panose="02040503050406030204" pitchFamily="18" charset="0"/>
                        </a:rPr>
                        <m:t>=</m:t>
                      </m:r>
                      <m:func>
                        <m:funcPr>
                          <m:ctrlPr>
                            <a:rPr lang="en-GB" b="0" i="1" smtClean="0">
                              <a:latin typeface="Cambria Math" panose="02040503050406030204" pitchFamily="18" charset="0"/>
                            </a:rPr>
                          </m:ctrlPr>
                        </m:funcPr>
                        <m:fName>
                          <m:limLow>
                            <m:limLowPr>
                              <m:ctrlPr>
                                <a:rPr lang="en-GB" b="0" i="1" smtClean="0">
                                  <a:latin typeface="Cambria Math" panose="02040503050406030204" pitchFamily="18" charset="0"/>
                                </a:rPr>
                              </m:ctrlPr>
                            </m:limLowPr>
                            <m:e>
                              <m:r>
                                <m:rPr>
                                  <m:sty m:val="p"/>
                                </m:rPr>
                                <a:rPr lang="en-GB" b="0" i="0" smtClean="0">
                                  <a:latin typeface="Cambria Math" panose="02040503050406030204" pitchFamily="18" charset="0"/>
                                </a:rPr>
                                <m:t>lim</m:t>
                              </m:r>
                            </m:e>
                            <m:lim>
                              <m:r>
                                <a:rPr lang="en-GB" b="0" i="1" smtClean="0">
                                  <a:latin typeface="Cambria Math" panose="02040503050406030204" pitchFamily="18" charset="0"/>
                                </a:rPr>
                                <m:t>h</m:t>
                              </m:r>
                              <m:r>
                                <a:rPr lang="en-GB" b="0" i="1" smtClean="0">
                                  <a:latin typeface="Cambria Math" panose="02040503050406030204" pitchFamily="18" charset="0"/>
                                </a:rPr>
                                <m:t>→0</m:t>
                              </m:r>
                            </m:lim>
                          </m:limLow>
                        </m:fName>
                        <m:e>
                          <m:f>
                            <m:fPr>
                              <m:ctrlPr>
                                <a:rPr lang="en-GB" b="0" i="1" smtClean="0">
                                  <a:latin typeface="Cambria Math" panose="02040503050406030204" pitchFamily="18" charset="0"/>
                                </a:rPr>
                              </m:ctrlPr>
                            </m:fPr>
                            <m:num>
                              <m:r>
                                <a:rPr lang="en-GB" b="0" i="1" smtClean="0">
                                  <a:latin typeface="Cambria Math" panose="02040503050406030204" pitchFamily="18" charset="0"/>
                                </a:rPr>
                                <m:t>𝑓</m:t>
                              </m:r>
                              <m:d>
                                <m:dPr>
                                  <m:ctrlPr>
                                    <a:rPr lang="en-GB" b="0" i="1" smtClean="0">
                                      <a:latin typeface="Cambria Math" panose="02040503050406030204" pitchFamily="18" charset="0"/>
                                    </a:rPr>
                                  </m:ctrlPr>
                                </m:dPr>
                                <m:e>
                                  <m:r>
                                    <a:rPr lang="en-GB" b="0" i="1" smtClean="0">
                                      <a:latin typeface="Cambria Math" panose="02040503050406030204" pitchFamily="18" charset="0"/>
                                    </a:rPr>
                                    <m:t>𝑥</m:t>
                                  </m:r>
                                  <m:r>
                                    <a:rPr lang="en-GB" b="0" i="1" smtClean="0">
                                      <a:latin typeface="Cambria Math" panose="02040503050406030204" pitchFamily="18" charset="0"/>
                                    </a:rPr>
                                    <m:t>+</m:t>
                                  </m:r>
                                  <m:r>
                                    <a:rPr lang="en-GB" b="0" i="1" smtClean="0">
                                      <a:latin typeface="Cambria Math" panose="02040503050406030204" pitchFamily="18" charset="0"/>
                                    </a:rPr>
                                    <m:t>h</m:t>
                                  </m:r>
                                </m:e>
                              </m:d>
                              <m:r>
                                <a:rPr lang="en-GB" b="0" i="1" smtClean="0">
                                  <a:latin typeface="Cambria Math" panose="02040503050406030204" pitchFamily="18" charset="0"/>
                                </a:rPr>
                                <m:t>−</m:t>
                              </m:r>
                              <m:r>
                                <a:rPr lang="en-GB" b="0" i="1" smtClean="0">
                                  <a:latin typeface="Cambria Math" panose="02040503050406030204" pitchFamily="18" charset="0"/>
                                </a:rPr>
                                <m:t>𝑓</m:t>
                              </m:r>
                              <m:r>
                                <a:rPr lang="en-GB" b="0" i="1" smtClean="0">
                                  <a:latin typeface="Cambria Math" panose="02040503050406030204" pitchFamily="18" charset="0"/>
                                </a:rPr>
                                <m:t>(</m:t>
                              </m:r>
                              <m:r>
                                <a:rPr lang="en-GB" b="0" i="1" smtClean="0">
                                  <a:latin typeface="Cambria Math" panose="02040503050406030204" pitchFamily="18" charset="0"/>
                                </a:rPr>
                                <m:t>𝑥</m:t>
                              </m:r>
                              <m:r>
                                <a:rPr lang="en-GB" b="0" i="1" smtClean="0">
                                  <a:latin typeface="Cambria Math" panose="02040503050406030204" pitchFamily="18" charset="0"/>
                                </a:rPr>
                                <m:t>−</m:t>
                              </m:r>
                              <m:r>
                                <a:rPr lang="en-GB" b="0" i="1" smtClean="0">
                                  <a:latin typeface="Cambria Math" panose="02040503050406030204" pitchFamily="18" charset="0"/>
                                </a:rPr>
                                <m:t>h</m:t>
                              </m:r>
                              <m:r>
                                <a:rPr lang="en-GB" b="0" i="1" smtClean="0">
                                  <a:latin typeface="Cambria Math" panose="02040503050406030204" pitchFamily="18" charset="0"/>
                                </a:rPr>
                                <m:t>)</m:t>
                              </m:r>
                            </m:num>
                            <m:den>
                              <m:r>
                                <a:rPr lang="en-GB" b="0" i="1" smtClean="0">
                                  <a:latin typeface="Cambria Math" panose="02040503050406030204" pitchFamily="18" charset="0"/>
                                </a:rPr>
                                <m:t>2</m:t>
                              </m:r>
                              <m:r>
                                <a:rPr lang="en-GB" b="0" i="1" smtClean="0">
                                  <a:latin typeface="Cambria Math" panose="02040503050406030204" pitchFamily="18" charset="0"/>
                                </a:rPr>
                                <m:t>h</m:t>
                              </m:r>
                            </m:den>
                          </m:f>
                        </m:e>
                      </m:func>
                    </m:oMath>
                  </m:oMathPara>
                </a14:m>
                <a:endParaRPr lang="en-GB" b="0" dirty="0"/>
              </a:p>
              <a:p>
                <a:pPr marL="0" indent="0">
                  <a:buNone/>
                </a:pPr>
                <a:endParaRPr lang="en-GB" dirty="0"/>
              </a:p>
              <a:p>
                <a:pPr marL="0" indent="0">
                  <a:buNone/>
                </a:pPr>
                <a:r>
                  <a:rPr lang="en-GB" dirty="0"/>
                  <a:t>Why do we need the actual gradient? Why not just evaluate f(</a:t>
                </a:r>
                <a:r>
                  <a:rPr lang="en-GB" dirty="0" err="1"/>
                  <a:t>x+h</a:t>
                </a:r>
                <a:r>
                  <a:rPr lang="en-GB" dirty="0"/>
                  <a:t>) and f(x-y) at all points? </a:t>
                </a:r>
              </a:p>
              <a:p>
                <a:pPr marL="0" indent="0">
                  <a:buNone/>
                </a:pPr>
                <a:r>
                  <a:rPr lang="en-GB" dirty="0"/>
                  <a:t>This is called </a:t>
                </a:r>
                <a:r>
                  <a:rPr lang="en-GB" i="1" dirty="0"/>
                  <a:t>finite differences.</a:t>
                </a:r>
              </a:p>
              <a:p>
                <a:pPr marL="0" indent="0">
                  <a:buNone/>
                </a:pPr>
                <a:endParaRPr lang="en-GB" i="1" dirty="0"/>
              </a:p>
              <a:p>
                <a:pPr marL="0" indent="0">
                  <a:buNone/>
                </a:pPr>
                <a:endParaRPr lang="en-GB" i="1" dirty="0"/>
              </a:p>
              <a:p>
                <a:endParaRPr lang="en-GB" dirty="0"/>
              </a:p>
            </p:txBody>
          </p:sp>
        </mc:Choice>
        <mc:Fallback>
          <p:sp>
            <p:nvSpPr>
              <p:cNvPr id="2" name="Content Placeholder 1">
                <a:extLst>
                  <a:ext uri="{FF2B5EF4-FFF2-40B4-BE49-F238E27FC236}">
                    <a16:creationId xmlns:a16="http://schemas.microsoft.com/office/drawing/2014/main" id="{2378C339-868D-790A-5173-2EBFCB05300B}"/>
                  </a:ext>
                </a:extLst>
              </p:cNvPr>
              <p:cNvSpPr>
                <a:spLocks noGrp="1" noRot="1" noChangeAspect="1" noMove="1" noResize="1" noEditPoints="1" noAdjustHandles="1" noChangeArrowheads="1" noChangeShapeType="1" noTextEdit="1"/>
              </p:cNvSpPr>
              <p:nvPr>
                <p:ph sz="half" idx="1"/>
              </p:nvPr>
            </p:nvSpPr>
            <p:spPr>
              <a:blipFill>
                <a:blip r:embed="rId2"/>
                <a:stretch>
                  <a:fillRect l="-1882" t="-1736" r="-3059"/>
                </a:stretch>
              </a:blipFill>
            </p:spPr>
            <p:txBody>
              <a:bodyPr/>
              <a:lstStyle/>
              <a:p>
                <a:r>
                  <a:rPr lang="en-GB">
                    <a:noFill/>
                  </a:rPr>
                  <a:t> </a:t>
                </a:r>
              </a:p>
            </p:txBody>
          </p:sp>
        </mc:Fallback>
      </mc:AlternateContent>
      <p:sp>
        <p:nvSpPr>
          <p:cNvPr id="4" name="Title 3">
            <a:extLst>
              <a:ext uri="{FF2B5EF4-FFF2-40B4-BE49-F238E27FC236}">
                <a16:creationId xmlns:a16="http://schemas.microsoft.com/office/drawing/2014/main" id="{299EDEA7-7E7A-8041-0C75-DFFA2B666BA3}"/>
              </a:ext>
            </a:extLst>
          </p:cNvPr>
          <p:cNvSpPr>
            <a:spLocks noGrp="1"/>
          </p:cNvSpPr>
          <p:nvPr>
            <p:ph type="title"/>
          </p:nvPr>
        </p:nvSpPr>
        <p:spPr/>
        <p:txBody>
          <a:bodyPr/>
          <a:lstStyle/>
          <a:p>
            <a:r>
              <a:rPr lang="en-GB" dirty="0"/>
              <a:t>Why not use numerical differences?</a:t>
            </a:r>
          </a:p>
        </p:txBody>
      </p:sp>
    </p:spTree>
    <p:extLst>
      <p:ext uri="{BB962C8B-B14F-4D97-AF65-F5344CB8AC3E}">
        <p14:creationId xmlns:p14="http://schemas.microsoft.com/office/powerpoint/2010/main" val="284721839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9A1C29-449B-925C-5279-4E36BDD7F4D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a:extLst>
                  <a:ext uri="{FF2B5EF4-FFF2-40B4-BE49-F238E27FC236}">
                    <a16:creationId xmlns:a16="http://schemas.microsoft.com/office/drawing/2014/main" id="{893ABF85-2ADF-75E2-6FB4-4D6E06264E77}"/>
                  </a:ext>
                </a:extLst>
              </p:cNvPr>
              <p:cNvSpPr>
                <a:spLocks noGrp="1"/>
              </p:cNvSpPr>
              <p:nvPr>
                <p:ph sz="half" idx="1"/>
              </p:nvPr>
            </p:nvSpPr>
            <p:spPr/>
            <p:txBody>
              <a:bodyPr>
                <a:normAutofit fontScale="92500" lnSpcReduction="10000"/>
              </a:bodyPr>
              <a:lstStyle/>
              <a:p>
                <a:pPr marL="0" indent="0">
                  <a:buNone/>
                </a:pPr>
                <a:r>
                  <a:rPr lang="en-GB" dirty="0"/>
                  <a:t>The definition of the derivative is well known:</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f>
                        <m:fPr>
                          <m:ctrlPr>
                            <a:rPr lang="en-GB" i="1" smtClean="0">
                              <a:latin typeface="Cambria Math" panose="02040503050406030204" pitchFamily="18" charset="0"/>
                            </a:rPr>
                          </m:ctrlPr>
                        </m:fPr>
                        <m:num>
                          <m:r>
                            <a:rPr lang="en-GB" b="0" i="1" smtClean="0">
                              <a:latin typeface="Cambria Math" panose="02040503050406030204" pitchFamily="18" charset="0"/>
                            </a:rPr>
                            <m:t>𝑑</m:t>
                          </m:r>
                        </m:num>
                        <m:den>
                          <m:r>
                            <a:rPr lang="en-GB" b="0" i="1" smtClean="0">
                              <a:latin typeface="Cambria Math" panose="02040503050406030204" pitchFamily="18" charset="0"/>
                            </a:rPr>
                            <m:t>𝑑𝑥</m:t>
                          </m:r>
                        </m:den>
                      </m:f>
                      <m:r>
                        <a:rPr lang="en-GB" b="0" i="1" smtClean="0">
                          <a:latin typeface="Cambria Math" panose="02040503050406030204" pitchFamily="18" charset="0"/>
                        </a:rPr>
                        <m:t>𝑓</m:t>
                      </m:r>
                      <m:d>
                        <m:dPr>
                          <m:ctrlPr>
                            <a:rPr lang="en-GB" b="0" i="1" smtClean="0">
                              <a:latin typeface="Cambria Math" panose="02040503050406030204" pitchFamily="18" charset="0"/>
                            </a:rPr>
                          </m:ctrlPr>
                        </m:dPr>
                        <m:e>
                          <m:r>
                            <a:rPr lang="en-GB" b="0" i="1" smtClean="0">
                              <a:latin typeface="Cambria Math" panose="02040503050406030204" pitchFamily="18" charset="0"/>
                            </a:rPr>
                            <m:t>𝑥</m:t>
                          </m:r>
                        </m:e>
                      </m:d>
                      <m:r>
                        <a:rPr lang="en-GB" b="0" i="1" smtClean="0">
                          <a:latin typeface="Cambria Math" panose="02040503050406030204" pitchFamily="18" charset="0"/>
                        </a:rPr>
                        <m:t>=</m:t>
                      </m:r>
                      <m:func>
                        <m:funcPr>
                          <m:ctrlPr>
                            <a:rPr lang="en-GB" b="0" i="1" smtClean="0">
                              <a:latin typeface="Cambria Math" panose="02040503050406030204" pitchFamily="18" charset="0"/>
                            </a:rPr>
                          </m:ctrlPr>
                        </m:funcPr>
                        <m:fName>
                          <m:limLow>
                            <m:limLowPr>
                              <m:ctrlPr>
                                <a:rPr lang="en-GB" b="0" i="1" smtClean="0">
                                  <a:latin typeface="Cambria Math" panose="02040503050406030204" pitchFamily="18" charset="0"/>
                                </a:rPr>
                              </m:ctrlPr>
                            </m:limLowPr>
                            <m:e>
                              <m:r>
                                <m:rPr>
                                  <m:sty m:val="p"/>
                                </m:rPr>
                                <a:rPr lang="en-GB" b="0" i="0" smtClean="0">
                                  <a:latin typeface="Cambria Math" panose="02040503050406030204" pitchFamily="18" charset="0"/>
                                </a:rPr>
                                <m:t>lim</m:t>
                              </m:r>
                            </m:e>
                            <m:lim>
                              <m:r>
                                <a:rPr lang="en-GB" b="0" i="1" smtClean="0">
                                  <a:latin typeface="Cambria Math" panose="02040503050406030204" pitchFamily="18" charset="0"/>
                                </a:rPr>
                                <m:t>h</m:t>
                              </m:r>
                              <m:r>
                                <a:rPr lang="en-GB" b="0" i="1" smtClean="0">
                                  <a:latin typeface="Cambria Math" panose="02040503050406030204" pitchFamily="18" charset="0"/>
                                </a:rPr>
                                <m:t>→0</m:t>
                              </m:r>
                            </m:lim>
                          </m:limLow>
                        </m:fName>
                        <m:e>
                          <m:f>
                            <m:fPr>
                              <m:ctrlPr>
                                <a:rPr lang="en-GB" b="0" i="1" smtClean="0">
                                  <a:latin typeface="Cambria Math" panose="02040503050406030204" pitchFamily="18" charset="0"/>
                                </a:rPr>
                              </m:ctrlPr>
                            </m:fPr>
                            <m:num>
                              <m:r>
                                <a:rPr lang="en-GB" b="0" i="1" smtClean="0">
                                  <a:latin typeface="Cambria Math" panose="02040503050406030204" pitchFamily="18" charset="0"/>
                                </a:rPr>
                                <m:t>𝑓</m:t>
                              </m:r>
                              <m:d>
                                <m:dPr>
                                  <m:ctrlPr>
                                    <a:rPr lang="en-GB" b="0" i="1" smtClean="0">
                                      <a:latin typeface="Cambria Math" panose="02040503050406030204" pitchFamily="18" charset="0"/>
                                    </a:rPr>
                                  </m:ctrlPr>
                                </m:dPr>
                                <m:e>
                                  <m:r>
                                    <a:rPr lang="en-GB" b="0" i="1" smtClean="0">
                                      <a:latin typeface="Cambria Math" panose="02040503050406030204" pitchFamily="18" charset="0"/>
                                    </a:rPr>
                                    <m:t>𝑥</m:t>
                                  </m:r>
                                  <m:r>
                                    <a:rPr lang="en-GB" b="0" i="1" smtClean="0">
                                      <a:latin typeface="Cambria Math" panose="02040503050406030204" pitchFamily="18" charset="0"/>
                                    </a:rPr>
                                    <m:t>+</m:t>
                                  </m:r>
                                  <m:r>
                                    <a:rPr lang="en-GB" b="0" i="1" smtClean="0">
                                      <a:latin typeface="Cambria Math" panose="02040503050406030204" pitchFamily="18" charset="0"/>
                                    </a:rPr>
                                    <m:t>h</m:t>
                                  </m:r>
                                </m:e>
                              </m:d>
                              <m:r>
                                <a:rPr lang="en-GB" b="0" i="1" smtClean="0">
                                  <a:latin typeface="Cambria Math" panose="02040503050406030204" pitchFamily="18" charset="0"/>
                                </a:rPr>
                                <m:t>−</m:t>
                              </m:r>
                              <m:r>
                                <a:rPr lang="en-GB" b="0" i="1" smtClean="0">
                                  <a:latin typeface="Cambria Math" panose="02040503050406030204" pitchFamily="18" charset="0"/>
                                </a:rPr>
                                <m:t>𝑓</m:t>
                              </m:r>
                              <m:r>
                                <a:rPr lang="en-GB" b="0" i="1" smtClean="0">
                                  <a:latin typeface="Cambria Math" panose="02040503050406030204" pitchFamily="18" charset="0"/>
                                </a:rPr>
                                <m:t>(</m:t>
                              </m:r>
                              <m:r>
                                <a:rPr lang="en-GB" b="0" i="1" smtClean="0">
                                  <a:latin typeface="Cambria Math" panose="02040503050406030204" pitchFamily="18" charset="0"/>
                                </a:rPr>
                                <m:t>𝑥</m:t>
                              </m:r>
                              <m:r>
                                <a:rPr lang="en-GB" b="0" i="1" smtClean="0">
                                  <a:latin typeface="Cambria Math" panose="02040503050406030204" pitchFamily="18" charset="0"/>
                                </a:rPr>
                                <m:t>−</m:t>
                              </m:r>
                              <m:r>
                                <a:rPr lang="en-GB" b="0" i="1" smtClean="0">
                                  <a:latin typeface="Cambria Math" panose="02040503050406030204" pitchFamily="18" charset="0"/>
                                </a:rPr>
                                <m:t>h</m:t>
                              </m:r>
                              <m:r>
                                <a:rPr lang="en-GB" b="0" i="1" smtClean="0">
                                  <a:latin typeface="Cambria Math" panose="02040503050406030204" pitchFamily="18" charset="0"/>
                                </a:rPr>
                                <m:t>)</m:t>
                              </m:r>
                            </m:num>
                            <m:den>
                              <m:r>
                                <a:rPr lang="en-GB" b="0" i="1" smtClean="0">
                                  <a:latin typeface="Cambria Math" panose="02040503050406030204" pitchFamily="18" charset="0"/>
                                </a:rPr>
                                <m:t>2</m:t>
                              </m:r>
                              <m:r>
                                <a:rPr lang="en-GB" b="0" i="1" smtClean="0">
                                  <a:latin typeface="Cambria Math" panose="02040503050406030204" pitchFamily="18" charset="0"/>
                                </a:rPr>
                                <m:t>h</m:t>
                              </m:r>
                            </m:den>
                          </m:f>
                        </m:e>
                      </m:func>
                    </m:oMath>
                  </m:oMathPara>
                </a14:m>
                <a:endParaRPr lang="en-GB" b="0" dirty="0"/>
              </a:p>
              <a:p>
                <a:pPr marL="0" indent="0">
                  <a:buNone/>
                </a:pPr>
                <a:endParaRPr lang="en-GB" dirty="0"/>
              </a:p>
              <a:p>
                <a:pPr marL="0" indent="0">
                  <a:buNone/>
                </a:pPr>
                <a:r>
                  <a:rPr lang="en-GB" dirty="0"/>
                  <a:t>Why do we need the actual gradient? Why not just evaluate f(</a:t>
                </a:r>
                <a:r>
                  <a:rPr lang="en-GB" dirty="0" err="1"/>
                  <a:t>x+h</a:t>
                </a:r>
                <a:r>
                  <a:rPr lang="en-GB" dirty="0"/>
                  <a:t>) and f(x-y) at all points? </a:t>
                </a:r>
              </a:p>
              <a:p>
                <a:pPr marL="0" indent="0">
                  <a:buNone/>
                </a:pPr>
                <a:r>
                  <a:rPr lang="en-GB" dirty="0"/>
                  <a:t>This is called </a:t>
                </a:r>
                <a:r>
                  <a:rPr lang="en-GB" i="1" dirty="0"/>
                  <a:t>finite differences.</a:t>
                </a:r>
              </a:p>
              <a:p>
                <a:pPr marL="0" indent="0">
                  <a:buNone/>
                </a:pPr>
                <a:r>
                  <a:rPr lang="en-GB" b="1" dirty="0"/>
                  <a:t>Issues:</a:t>
                </a:r>
                <a:r>
                  <a:rPr lang="en-GB" dirty="0"/>
                  <a:t> </a:t>
                </a:r>
              </a:p>
              <a:p>
                <a:pPr>
                  <a:buFontTx/>
                  <a:buChar char="-"/>
                </a:pPr>
                <a:r>
                  <a:rPr lang="en-GB" i="1" dirty="0"/>
                  <a:t>Numerical stability</a:t>
                </a:r>
              </a:p>
              <a:p>
                <a:pPr>
                  <a:buFontTx/>
                  <a:buChar char="-"/>
                </a:pPr>
                <a:r>
                  <a:rPr lang="en-GB" i="1" dirty="0"/>
                  <a:t>Curse of dimensionality (again!)</a:t>
                </a:r>
              </a:p>
              <a:p>
                <a:pPr marL="0" indent="0">
                  <a:buNone/>
                </a:pPr>
                <a:endParaRPr lang="en-GB" i="1" dirty="0"/>
              </a:p>
              <a:p>
                <a:endParaRPr lang="en-GB" dirty="0"/>
              </a:p>
            </p:txBody>
          </p:sp>
        </mc:Choice>
        <mc:Fallback xmlns="">
          <p:sp>
            <p:nvSpPr>
              <p:cNvPr id="2" name="Content Placeholder 1">
                <a:extLst>
                  <a:ext uri="{FF2B5EF4-FFF2-40B4-BE49-F238E27FC236}">
                    <a16:creationId xmlns:a16="http://schemas.microsoft.com/office/drawing/2014/main" id="{2378C339-868D-790A-5173-2EBFCB05300B}"/>
                  </a:ext>
                </a:extLst>
              </p:cNvPr>
              <p:cNvSpPr>
                <a:spLocks noGrp="1" noRot="1" noChangeAspect="1" noMove="1" noResize="1" noEditPoints="1" noAdjustHandles="1" noChangeArrowheads="1" noChangeShapeType="1" noTextEdit="1"/>
              </p:cNvSpPr>
              <p:nvPr>
                <p:ph sz="half" idx="1"/>
              </p:nvPr>
            </p:nvSpPr>
            <p:spPr>
              <a:blipFill>
                <a:blip r:embed="rId2"/>
                <a:stretch>
                  <a:fillRect l="-1529" t="-2270" b="-1602"/>
                </a:stretch>
              </a:blipFill>
            </p:spPr>
            <p:txBody>
              <a:bodyPr/>
              <a:lstStyle/>
              <a:p>
                <a:r>
                  <a:rPr lang="en-GB">
                    <a:noFill/>
                  </a:rPr>
                  <a:t> </a:t>
                </a:r>
              </a:p>
            </p:txBody>
          </p:sp>
        </mc:Fallback>
      </mc:AlternateContent>
      <p:sp>
        <p:nvSpPr>
          <p:cNvPr id="4" name="Title 3">
            <a:extLst>
              <a:ext uri="{FF2B5EF4-FFF2-40B4-BE49-F238E27FC236}">
                <a16:creationId xmlns:a16="http://schemas.microsoft.com/office/drawing/2014/main" id="{1DDF798E-C911-5969-E5AA-8FE8E37439B4}"/>
              </a:ext>
            </a:extLst>
          </p:cNvPr>
          <p:cNvSpPr>
            <a:spLocks noGrp="1"/>
          </p:cNvSpPr>
          <p:nvPr>
            <p:ph type="title"/>
          </p:nvPr>
        </p:nvSpPr>
        <p:spPr/>
        <p:txBody>
          <a:bodyPr/>
          <a:lstStyle/>
          <a:p>
            <a:r>
              <a:rPr lang="en-GB" dirty="0"/>
              <a:t>Why not use numerical differences?</a:t>
            </a:r>
          </a:p>
        </p:txBody>
      </p:sp>
      <p:pic>
        <p:nvPicPr>
          <p:cNvPr id="1026" name="Picture 2">
            <a:extLst>
              <a:ext uri="{FF2B5EF4-FFF2-40B4-BE49-F238E27FC236}">
                <a16:creationId xmlns:a16="http://schemas.microsoft.com/office/drawing/2014/main" id="{1B7685F8-2463-1645-3E70-0E94E74855B9}"/>
              </a:ext>
            </a:extLst>
          </p:cNvPr>
          <p:cNvPicPr>
            <a:picLocks noGrp="1" noChangeAspect="1" noChangeArrowheads="1"/>
          </p:cNvPicPr>
          <p:nvPr>
            <p:ph sz="half" idx="2"/>
          </p:nvPr>
        </p:nvPicPr>
        <p:blipFill>
          <a:blip r:embed="rId3">
            <a:extLst>
              <a:ext uri="{28A0092B-C50C-407E-A947-70E740481C1C}">
                <a14:useLocalDpi xmlns:a14="http://schemas.microsoft.com/office/drawing/2010/main" val="0"/>
              </a:ext>
            </a:extLst>
          </a:blip>
          <a:srcRect/>
          <a:stretch>
            <a:fillRect/>
          </a:stretch>
        </p:blipFill>
        <p:spPr bwMode="auto">
          <a:xfrm>
            <a:off x="6446019" y="1608138"/>
            <a:ext cx="4633961" cy="45688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0268745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45A1EA-BCF5-5EE2-7C77-6ED222EBF297}"/>
              </a:ext>
            </a:extLst>
          </p:cNvPr>
          <p:cNvSpPr>
            <a:spLocks noGrp="1"/>
          </p:cNvSpPr>
          <p:nvPr>
            <p:ph type="title"/>
          </p:nvPr>
        </p:nvSpPr>
        <p:spPr>
          <a:xfrm>
            <a:off x="741680" y="2123676"/>
            <a:ext cx="4027169" cy="1600200"/>
          </a:xfrm>
        </p:spPr>
        <p:txBody>
          <a:bodyPr anchor="t">
            <a:normAutofit/>
          </a:bodyPr>
          <a:lstStyle/>
          <a:p>
            <a:r>
              <a:rPr lang="en-US" sz="2600"/>
              <a:t>Improving gradient descent</a:t>
            </a:r>
            <a:br>
              <a:rPr lang="en-US" sz="2600"/>
            </a:br>
            <a:br>
              <a:rPr lang="en-US" sz="2600"/>
            </a:br>
            <a:endParaRPr lang="en-US" sz="2600"/>
          </a:p>
        </p:txBody>
      </p:sp>
      <p:sp>
        <p:nvSpPr>
          <p:cNvPr id="9" name="Text Placeholder 2">
            <a:extLst>
              <a:ext uri="{FF2B5EF4-FFF2-40B4-BE49-F238E27FC236}">
                <a16:creationId xmlns:a16="http://schemas.microsoft.com/office/drawing/2014/main" id="{3C9A5D2B-9944-116E-4B22-5D06DB9F85EC}"/>
              </a:ext>
            </a:extLst>
          </p:cNvPr>
          <p:cNvSpPr>
            <a:spLocks noGrp="1"/>
          </p:cNvSpPr>
          <p:nvPr>
            <p:ph type="body" sz="half" idx="2"/>
          </p:nvPr>
        </p:nvSpPr>
        <p:spPr>
          <a:xfrm>
            <a:off x="741680" y="3934224"/>
            <a:ext cx="4030345" cy="1934763"/>
          </a:xfrm>
        </p:spPr>
        <p:txBody>
          <a:bodyPr>
            <a:normAutofit/>
          </a:bodyPr>
          <a:lstStyle/>
          <a:p>
            <a:r>
              <a:rPr lang="en-GB" dirty="0">
                <a:latin typeface="+mn-lt"/>
              </a:rPr>
              <a:t>Gradient descent can be very efficient, and often </a:t>
            </a:r>
            <a:r>
              <a:rPr lang="en-GB" b="1" dirty="0">
                <a:latin typeface="+mn-lt"/>
              </a:rPr>
              <a:t>much</a:t>
            </a:r>
            <a:r>
              <a:rPr lang="en-GB" dirty="0">
                <a:latin typeface="+mn-lt"/>
              </a:rPr>
              <a:t> better than zeroth-order methods. However, it has drawbacks:</a:t>
            </a:r>
          </a:p>
          <a:p>
            <a:endParaRPr lang="en-US" dirty="0">
              <a:latin typeface="+mn-lt"/>
            </a:endParaRPr>
          </a:p>
        </p:txBody>
      </p:sp>
      <p:graphicFrame>
        <p:nvGraphicFramePr>
          <p:cNvPr id="5" name="Content Placeholder 2">
            <a:extLst>
              <a:ext uri="{FF2B5EF4-FFF2-40B4-BE49-F238E27FC236}">
                <a16:creationId xmlns:a16="http://schemas.microsoft.com/office/drawing/2014/main" id="{3FAA6105-D48C-FA60-3A37-CC5BD5E278C5}"/>
              </a:ext>
            </a:extLst>
          </p:cNvPr>
          <p:cNvGraphicFramePr>
            <a:graphicFrameLocks noGrp="1"/>
          </p:cNvGraphicFramePr>
          <p:nvPr>
            <p:ph idx="1"/>
            <p:extLst>
              <p:ext uri="{D42A27DB-BD31-4B8C-83A1-F6EECF244321}">
                <p14:modId xmlns:p14="http://schemas.microsoft.com/office/powerpoint/2010/main" val="2778938419"/>
              </p:ext>
            </p:extLst>
          </p:nvPr>
        </p:nvGraphicFramePr>
        <p:xfrm>
          <a:off x="5183188" y="987425"/>
          <a:ext cx="6172200" cy="487362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33381630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B93136-925D-63E1-501A-AC2D3C3AB5F8}"/>
              </a:ext>
            </a:extLst>
          </p:cNvPr>
          <p:cNvSpPr>
            <a:spLocks noGrp="1"/>
          </p:cNvSpPr>
          <p:nvPr>
            <p:ph type="title"/>
          </p:nvPr>
        </p:nvSpPr>
        <p:spPr/>
        <p:txBody>
          <a:bodyPr>
            <a:normAutofit/>
          </a:bodyPr>
          <a:lstStyle/>
          <a:p>
            <a:r>
              <a:rPr lang="en-GB" b="1" i="0" dirty="0">
                <a:effectLst/>
                <a:latin typeface="-apple-system"/>
              </a:rPr>
              <a:t>Programming language advances</a:t>
            </a:r>
            <a:br>
              <a:rPr lang="en-GB" dirty="0"/>
            </a:br>
            <a:endParaRPr lang="en-US" dirty="0"/>
          </a:p>
        </p:txBody>
      </p:sp>
      <p:sp>
        <p:nvSpPr>
          <p:cNvPr id="3" name="Content Placeholder 2">
            <a:extLst>
              <a:ext uri="{FF2B5EF4-FFF2-40B4-BE49-F238E27FC236}">
                <a16:creationId xmlns:a16="http://schemas.microsoft.com/office/drawing/2014/main" id="{C41A86BC-1E26-4439-615E-F0A68F00A8C9}"/>
              </a:ext>
            </a:extLst>
          </p:cNvPr>
          <p:cNvSpPr>
            <a:spLocks noGrp="1"/>
          </p:cNvSpPr>
          <p:nvPr>
            <p:ph sz="quarter" idx="13"/>
          </p:nvPr>
        </p:nvSpPr>
        <p:spPr/>
        <p:txBody>
          <a:bodyPr>
            <a:normAutofit lnSpcReduction="10000"/>
          </a:bodyPr>
          <a:lstStyle/>
          <a:p>
            <a:pPr algn="l">
              <a:buFont typeface="Arial" panose="020B0604020202020204" pitchFamily="34" charset="0"/>
              <a:buChar char="•"/>
            </a:pPr>
            <a:r>
              <a:rPr lang="en-GB" b="1" i="0" dirty="0">
                <a:effectLst/>
                <a:latin typeface="-apple-system"/>
              </a:rPr>
              <a:t>Vectorised programming</a:t>
            </a:r>
            <a:endParaRPr lang="en-GB" b="0" i="0" dirty="0">
              <a:effectLst/>
              <a:latin typeface="-apple-system"/>
            </a:endParaRPr>
          </a:p>
          <a:p>
            <a:pPr marL="742950" lvl="1" indent="-285750" algn="l">
              <a:buFont typeface="Arial" panose="020B0604020202020204" pitchFamily="34" charset="0"/>
              <a:buChar char="•"/>
            </a:pPr>
            <a:r>
              <a:rPr lang="en-GB" b="0" i="1" dirty="0">
                <a:effectLst/>
                <a:latin typeface="-apple-system"/>
              </a:rPr>
              <a:t>Example:</a:t>
            </a:r>
            <a:r>
              <a:rPr lang="en-GB" b="0" i="0" dirty="0">
                <a:effectLst/>
                <a:latin typeface="-apple-system"/>
              </a:rPr>
              <a:t> NumPy, eigen, nd4j, J</a:t>
            </a:r>
          </a:p>
          <a:p>
            <a:pPr marL="742950" lvl="1" indent="-285750" algn="l">
              <a:buFont typeface="Arial" panose="020B0604020202020204" pitchFamily="34" charset="0"/>
              <a:buChar char="•"/>
            </a:pPr>
            <a:r>
              <a:rPr lang="en-GB" b="0" i="0" dirty="0">
                <a:effectLst/>
                <a:latin typeface="-apple-system"/>
              </a:rPr>
              <a:t>Provides native operations over </a:t>
            </a:r>
            <a:r>
              <a:rPr lang="en-GB" b="1" i="0" dirty="0">
                <a:effectLst/>
                <a:latin typeface="-apple-system"/>
              </a:rPr>
              <a:t>tensors</a:t>
            </a:r>
            <a:r>
              <a:rPr lang="en-GB" b="0" i="0" dirty="0">
                <a:effectLst/>
                <a:latin typeface="-apple-system"/>
              </a:rPr>
              <a:t>, potentially with </a:t>
            </a:r>
            <a:r>
              <a:rPr lang="en-GB" b="1" i="0" dirty="0">
                <a:effectLst/>
                <a:latin typeface="-apple-system"/>
              </a:rPr>
              <a:t>GPU</a:t>
            </a:r>
            <a:r>
              <a:rPr lang="en-GB" b="0" i="0" dirty="0">
                <a:effectLst/>
                <a:latin typeface="-apple-system"/>
              </a:rPr>
              <a:t> acceleration.</a:t>
            </a:r>
          </a:p>
          <a:p>
            <a:pPr algn="l">
              <a:buFont typeface="Arial" panose="020B0604020202020204" pitchFamily="34" charset="0"/>
              <a:buChar char="•"/>
            </a:pPr>
            <a:r>
              <a:rPr lang="en-GB" b="1" i="0" dirty="0">
                <a:effectLst/>
                <a:latin typeface="-apple-system"/>
              </a:rPr>
              <a:t>Differentiable programming</a:t>
            </a:r>
            <a:endParaRPr lang="en-GB" b="0" i="0" dirty="0">
              <a:effectLst/>
              <a:latin typeface="-apple-system"/>
            </a:endParaRPr>
          </a:p>
          <a:p>
            <a:pPr marL="742950" lvl="1" indent="-285750" algn="l">
              <a:buFont typeface="Arial" panose="020B0604020202020204" pitchFamily="34" charset="0"/>
              <a:buChar char="•"/>
            </a:pPr>
            <a:r>
              <a:rPr lang="en-GB" b="0" i="1" dirty="0">
                <a:effectLst/>
                <a:latin typeface="-apple-system"/>
              </a:rPr>
              <a:t>Examples:</a:t>
            </a:r>
            <a:r>
              <a:rPr lang="en-GB" b="0" i="0" dirty="0">
                <a:effectLst/>
                <a:latin typeface="-apple-system"/>
              </a:rPr>
              <a:t> </a:t>
            </a:r>
            <a:r>
              <a:rPr lang="en-GB" b="1" i="0" dirty="0" err="1">
                <a:effectLst/>
                <a:latin typeface="-apple-system"/>
              </a:rPr>
              <a:t>autograd</a:t>
            </a:r>
            <a:r>
              <a:rPr lang="en-GB" b="0" i="0" dirty="0">
                <a:effectLst/>
                <a:latin typeface="-apple-system"/>
              </a:rPr>
              <a:t>, JAX, </a:t>
            </a:r>
            <a:r>
              <a:rPr lang="en-GB" b="0" i="0" dirty="0" err="1">
                <a:effectLst/>
                <a:latin typeface="-apple-system"/>
              </a:rPr>
              <a:t>pytorch</a:t>
            </a:r>
            <a:r>
              <a:rPr lang="en-GB" b="0" i="0" dirty="0">
                <a:effectLst/>
                <a:latin typeface="-apple-system"/>
              </a:rPr>
              <a:t>, </a:t>
            </a:r>
            <a:r>
              <a:rPr lang="en-GB" b="0" i="0" dirty="0" err="1">
                <a:effectLst/>
                <a:latin typeface="-apple-system"/>
              </a:rPr>
              <a:t>tensorflow</a:t>
            </a:r>
            <a:endParaRPr lang="en-GB" b="0" i="0" dirty="0">
              <a:effectLst/>
              <a:latin typeface="-apple-system"/>
            </a:endParaRPr>
          </a:p>
          <a:p>
            <a:pPr marL="742950" lvl="1" indent="-285750" algn="l">
              <a:buFont typeface="Arial" panose="020B0604020202020204" pitchFamily="34" charset="0"/>
              <a:buChar char="•"/>
            </a:pPr>
            <a:r>
              <a:rPr lang="en-GB" b="1" i="0" dirty="0">
                <a:effectLst/>
                <a:latin typeface="-apple-system"/>
              </a:rPr>
              <a:t>Automatically differentiates</a:t>
            </a:r>
            <a:r>
              <a:rPr lang="en-GB" b="0" i="0" dirty="0">
                <a:effectLst/>
                <a:latin typeface="-apple-system"/>
              </a:rPr>
              <a:t> vectorised code, producing exact derivatives of tensor algorithms.</a:t>
            </a:r>
          </a:p>
          <a:p>
            <a:pPr algn="l">
              <a:buFont typeface="Arial" panose="020B0604020202020204" pitchFamily="34" charset="0"/>
              <a:buChar char="•"/>
            </a:pPr>
            <a:r>
              <a:rPr lang="en-GB" b="1" i="0" dirty="0">
                <a:effectLst/>
                <a:latin typeface="-apple-system"/>
              </a:rPr>
              <a:t>Probabilistic programming</a:t>
            </a:r>
            <a:endParaRPr lang="en-GB" b="0" i="0" dirty="0">
              <a:effectLst/>
              <a:latin typeface="-apple-system"/>
            </a:endParaRPr>
          </a:p>
          <a:p>
            <a:pPr marL="742950" lvl="1" indent="-285750" algn="l">
              <a:buFont typeface="Arial" panose="020B0604020202020204" pitchFamily="34" charset="0"/>
              <a:buChar char="•"/>
            </a:pPr>
            <a:r>
              <a:rPr lang="en-GB" b="0" i="1" dirty="0">
                <a:effectLst/>
                <a:latin typeface="-apple-system"/>
              </a:rPr>
              <a:t>Examples:</a:t>
            </a:r>
            <a:r>
              <a:rPr lang="en-GB" b="0" i="0" dirty="0">
                <a:effectLst/>
                <a:latin typeface="-apple-system"/>
              </a:rPr>
              <a:t> </a:t>
            </a:r>
            <a:r>
              <a:rPr lang="en-GB" b="0" i="0" dirty="0" err="1">
                <a:effectLst/>
                <a:latin typeface="-apple-system"/>
              </a:rPr>
              <a:t>pymc</a:t>
            </a:r>
            <a:r>
              <a:rPr lang="en-GB" b="0" i="0" dirty="0">
                <a:effectLst/>
                <a:latin typeface="-apple-system"/>
              </a:rPr>
              <a:t>, stan, </a:t>
            </a:r>
            <a:r>
              <a:rPr lang="en-GB" b="0" i="0" dirty="0" err="1">
                <a:effectLst/>
                <a:latin typeface="-apple-system"/>
              </a:rPr>
              <a:t>edward</a:t>
            </a:r>
            <a:r>
              <a:rPr lang="en-GB" b="0" i="0" dirty="0">
                <a:effectLst/>
                <a:latin typeface="-apple-system"/>
              </a:rPr>
              <a:t>, Uber, Pyro, </a:t>
            </a:r>
            <a:r>
              <a:rPr lang="en-GB" b="0" i="0" dirty="0" err="1">
                <a:effectLst/>
                <a:latin typeface="-apple-system"/>
              </a:rPr>
              <a:t>webppl</a:t>
            </a:r>
            <a:endParaRPr lang="en-GB" b="0" i="0" dirty="0">
              <a:effectLst/>
              <a:latin typeface="-apple-system"/>
            </a:endParaRPr>
          </a:p>
          <a:p>
            <a:pPr marL="742950" lvl="1" indent="-285750" algn="l">
              <a:buFont typeface="Arial" panose="020B0604020202020204" pitchFamily="34" charset="0"/>
              <a:buChar char="•"/>
            </a:pPr>
            <a:r>
              <a:rPr lang="en-GB" b="0" i="0" dirty="0">
                <a:effectLst/>
                <a:latin typeface="-apple-system"/>
              </a:rPr>
              <a:t>Allows values to be uncertain, with (tensor, differentiable) random variables as first class values.</a:t>
            </a:r>
            <a:br>
              <a:rPr lang="en-GB" b="0" i="0" dirty="0">
                <a:effectLst/>
                <a:latin typeface="-apple-system"/>
              </a:rPr>
            </a:br>
            <a:endParaRPr lang="en-GB" b="0" i="0" dirty="0">
              <a:effectLst/>
              <a:latin typeface="-apple-system"/>
            </a:endParaRPr>
          </a:p>
          <a:p>
            <a:endParaRPr lang="en-US" dirty="0"/>
          </a:p>
        </p:txBody>
      </p:sp>
    </p:spTree>
    <p:extLst>
      <p:ext uri="{BB962C8B-B14F-4D97-AF65-F5344CB8AC3E}">
        <p14:creationId xmlns:p14="http://schemas.microsoft.com/office/powerpoint/2010/main" val="396197189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8CF64A-BCE7-77E7-D9FF-044096B3F4AC}"/>
              </a:ext>
            </a:extLst>
          </p:cNvPr>
          <p:cNvSpPr>
            <a:spLocks noGrp="1"/>
          </p:cNvSpPr>
          <p:nvPr>
            <p:ph type="title"/>
          </p:nvPr>
        </p:nvSpPr>
        <p:spPr/>
        <p:txBody>
          <a:bodyPr>
            <a:normAutofit fontScale="90000"/>
          </a:bodyPr>
          <a:lstStyle/>
          <a:p>
            <a:r>
              <a:rPr lang="en-US" dirty="0"/>
              <a:t>The magic behind modern advances in data science</a:t>
            </a:r>
            <a:br>
              <a:rPr lang="en-US" dirty="0"/>
            </a:br>
            <a:br>
              <a:rPr lang="en-US" dirty="0"/>
            </a:br>
            <a:endParaRPr lang="en-US" dirty="0"/>
          </a:p>
        </p:txBody>
      </p:sp>
      <p:sp>
        <p:nvSpPr>
          <p:cNvPr id="3" name="Content Placeholder 2">
            <a:extLst>
              <a:ext uri="{FF2B5EF4-FFF2-40B4-BE49-F238E27FC236}">
                <a16:creationId xmlns:a16="http://schemas.microsoft.com/office/drawing/2014/main" id="{955F72A7-AAFF-2C1C-5E3B-9A3DA277CF21}"/>
              </a:ext>
            </a:extLst>
          </p:cNvPr>
          <p:cNvSpPr>
            <a:spLocks noGrp="1"/>
          </p:cNvSpPr>
          <p:nvPr>
            <p:ph sz="quarter" idx="13"/>
          </p:nvPr>
        </p:nvSpPr>
        <p:spPr/>
        <p:txBody>
          <a:bodyPr>
            <a:normAutofit/>
          </a:bodyPr>
          <a:lstStyle/>
          <a:p>
            <a:r>
              <a:rPr lang="en-US" dirty="0">
                <a:latin typeface="+mn-lt"/>
              </a:rPr>
              <a:t>Automatic differentiation can take a function, usually written a </a:t>
            </a:r>
            <a:r>
              <a:rPr lang="en-US" i="1" dirty="0">
                <a:latin typeface="+mn-lt"/>
              </a:rPr>
              <a:t>subset</a:t>
            </a:r>
            <a:r>
              <a:rPr lang="en-US" dirty="0">
                <a:latin typeface="+mn-lt"/>
              </a:rPr>
              <a:t> of a full programming language, and automatically construct a function that evaluates the exact derivative at any given point. This makes it feasible to perform first-order </a:t>
            </a:r>
            <a:r>
              <a:rPr lang="en-US" dirty="0" err="1">
                <a:latin typeface="+mn-lt"/>
              </a:rPr>
              <a:t>optimisation</a:t>
            </a:r>
            <a:r>
              <a:rPr lang="en-US" dirty="0">
                <a:latin typeface="+mn-lt"/>
              </a:rPr>
              <a:t>.</a:t>
            </a:r>
            <a:endParaRPr lang="en-GB" b="0" dirty="0">
              <a:effectLst/>
              <a:latin typeface="+mn-lt"/>
            </a:endParaRPr>
          </a:p>
          <a:p>
            <a:pPr algn="l"/>
            <a:r>
              <a:rPr lang="en-GB" b="0" dirty="0">
                <a:effectLst/>
                <a:latin typeface="+mn-lt"/>
              </a:rPr>
              <a:t>Some of the most common implementations of this technique are in deep learning software packages like </a:t>
            </a:r>
            <a:r>
              <a:rPr lang="en-GB" b="0" i="1" dirty="0">
                <a:effectLst/>
                <a:latin typeface="+mn-lt"/>
              </a:rPr>
              <a:t>TensorFlow</a:t>
            </a:r>
            <a:r>
              <a:rPr lang="en-GB" b="0" dirty="0">
                <a:effectLst/>
                <a:latin typeface="+mn-lt"/>
              </a:rPr>
              <a:t>, </a:t>
            </a:r>
            <a:r>
              <a:rPr lang="en-GB" b="0" i="1" dirty="0">
                <a:effectLst/>
                <a:latin typeface="+mn-lt"/>
              </a:rPr>
              <a:t>Theano</a:t>
            </a:r>
            <a:r>
              <a:rPr lang="en-GB" b="0" dirty="0">
                <a:effectLst/>
                <a:latin typeface="+mn-lt"/>
              </a:rPr>
              <a:t>, </a:t>
            </a:r>
            <a:r>
              <a:rPr lang="en-GB" b="0" i="1" dirty="0">
                <a:effectLst/>
                <a:latin typeface="+mn-lt"/>
              </a:rPr>
              <a:t>Torch/</a:t>
            </a:r>
            <a:r>
              <a:rPr lang="en-GB" b="0" i="1" dirty="0" err="1">
                <a:effectLst/>
                <a:latin typeface="+mn-lt"/>
              </a:rPr>
              <a:t>PyTorch</a:t>
            </a:r>
            <a:r>
              <a:rPr lang="en-GB" b="0" dirty="0">
                <a:effectLst/>
                <a:latin typeface="+mn-lt"/>
              </a:rPr>
              <a:t>. </a:t>
            </a:r>
          </a:p>
          <a:p>
            <a:pPr algn="l"/>
            <a:r>
              <a:rPr lang="en-GB" b="0" dirty="0">
                <a:effectLst/>
                <a:latin typeface="+mn-lt"/>
              </a:rPr>
              <a:t>These provide a way of defining a </a:t>
            </a:r>
            <a:r>
              <a:rPr lang="en-GB" b="1" dirty="0">
                <a:effectLst/>
                <a:latin typeface="+mn-lt"/>
              </a:rPr>
              <a:t>computational graph</a:t>
            </a:r>
            <a:r>
              <a:rPr lang="en-GB" b="0" dirty="0">
                <a:effectLst/>
                <a:latin typeface="+mn-lt"/>
              </a:rPr>
              <a:t> (implicitly or explicitly) which defines the operations to be performed, and from which the corresponding derivative computation can be derived. </a:t>
            </a:r>
          </a:p>
          <a:p>
            <a:pPr algn="l"/>
            <a:r>
              <a:rPr lang="en-GB" b="0" dirty="0">
                <a:effectLst/>
                <a:latin typeface="+mn-lt"/>
              </a:rPr>
              <a:t>These implementations tend to be focused on the operations used in neural networks, like matrix multiplication and elementwise nonlinear functions, and they tend not to include branching or iteration (or support very limited forms of conditional/looping expressions).</a:t>
            </a:r>
          </a:p>
          <a:p>
            <a:pPr marL="0" indent="0" algn="l">
              <a:buNone/>
            </a:pPr>
            <a:endParaRPr lang="en-GB" b="0" i="0" dirty="0">
              <a:effectLst/>
              <a:latin typeface="+mn-lt"/>
            </a:endParaRPr>
          </a:p>
        </p:txBody>
      </p:sp>
    </p:spTree>
    <p:extLst>
      <p:ext uri="{BB962C8B-B14F-4D97-AF65-F5344CB8AC3E}">
        <p14:creationId xmlns:p14="http://schemas.microsoft.com/office/powerpoint/2010/main" val="83967472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41BA04-A4A5-3F01-7187-F2B98615D079}"/>
              </a:ext>
            </a:extLst>
          </p:cNvPr>
          <p:cNvSpPr>
            <a:spLocks noGrp="1"/>
          </p:cNvSpPr>
          <p:nvPr>
            <p:ph type="title"/>
          </p:nvPr>
        </p:nvSpPr>
        <p:spPr/>
        <p:txBody>
          <a:bodyPr>
            <a:normAutofit fontScale="90000"/>
          </a:bodyPr>
          <a:lstStyle/>
          <a:p>
            <a:r>
              <a:rPr lang="en-US" dirty="0" err="1"/>
              <a:t>Autograd</a:t>
            </a:r>
            <a:br>
              <a:rPr lang="en-US" dirty="0"/>
            </a:br>
            <a:br>
              <a:rPr lang="en-US" dirty="0"/>
            </a:br>
            <a:br>
              <a:rPr lang="en-US" dirty="0"/>
            </a:br>
            <a:endParaRPr lang="en-US" dirty="0"/>
          </a:p>
        </p:txBody>
      </p:sp>
      <p:sp>
        <p:nvSpPr>
          <p:cNvPr id="3" name="Content Placeholder 2">
            <a:extLst>
              <a:ext uri="{FF2B5EF4-FFF2-40B4-BE49-F238E27FC236}">
                <a16:creationId xmlns:a16="http://schemas.microsoft.com/office/drawing/2014/main" id="{AF32E549-CBCB-BC0C-A932-BAC3022CE1BA}"/>
              </a:ext>
            </a:extLst>
          </p:cNvPr>
          <p:cNvSpPr>
            <a:spLocks noGrp="1"/>
          </p:cNvSpPr>
          <p:nvPr>
            <p:ph sz="quarter" idx="13"/>
          </p:nvPr>
        </p:nvSpPr>
        <p:spPr>
          <a:xfrm>
            <a:off x="285750" y="1627188"/>
            <a:ext cx="5945368" cy="4606925"/>
          </a:xfrm>
        </p:spPr>
        <p:txBody>
          <a:bodyPr/>
          <a:lstStyle/>
          <a:p>
            <a:r>
              <a:rPr lang="en-GB" b="0" i="0" dirty="0">
                <a:effectLst/>
                <a:latin typeface="-apple-system"/>
              </a:rPr>
              <a:t>Other software, like </a:t>
            </a:r>
            <a:r>
              <a:rPr lang="en-GB" b="0" i="0" u="none" strike="noStrike" dirty="0">
                <a:effectLst/>
                <a:latin typeface="Lato" panose="020F0502020204030203" pitchFamily="34" charset="0"/>
                <a:hlinkClick r:id="rId2"/>
              </a:rPr>
              <a:t>autograd</a:t>
            </a:r>
            <a:r>
              <a:rPr lang="en-GB" b="0" i="0" dirty="0">
                <a:effectLst/>
                <a:latin typeface="-apple-system"/>
              </a:rPr>
              <a:t> provides automatic differentiation for virtually any NumPy code. The example below is from the </a:t>
            </a:r>
            <a:r>
              <a:rPr lang="en-GB" b="0" i="0" dirty="0" err="1">
                <a:effectLst/>
                <a:latin typeface="-apple-system"/>
              </a:rPr>
              <a:t>autograd</a:t>
            </a:r>
            <a:r>
              <a:rPr lang="en-GB" b="0" i="0" dirty="0">
                <a:effectLst/>
                <a:latin typeface="-apple-system"/>
              </a:rPr>
              <a:t> documentation. It is a drop in replacement which just "magically" estimates derivatives (although only some operations are supported).</a:t>
            </a:r>
            <a:endParaRPr lang="en-US" dirty="0"/>
          </a:p>
        </p:txBody>
      </p:sp>
      <p:pic>
        <p:nvPicPr>
          <p:cNvPr id="4" name="Picture 3">
            <a:extLst>
              <a:ext uri="{FF2B5EF4-FFF2-40B4-BE49-F238E27FC236}">
                <a16:creationId xmlns:a16="http://schemas.microsoft.com/office/drawing/2014/main" id="{33196F3F-D483-476A-335B-16B2BEFD88F2}"/>
              </a:ext>
            </a:extLst>
          </p:cNvPr>
          <p:cNvPicPr>
            <a:picLocks noChangeAspect="1"/>
          </p:cNvPicPr>
          <p:nvPr/>
        </p:nvPicPr>
        <p:blipFill>
          <a:blip r:embed="rId3"/>
          <a:stretch>
            <a:fillRect/>
          </a:stretch>
        </p:blipFill>
        <p:spPr>
          <a:xfrm>
            <a:off x="285750" y="5714546"/>
            <a:ext cx="11683281" cy="1095993"/>
          </a:xfrm>
          <a:prstGeom prst="rect">
            <a:avLst/>
          </a:prstGeom>
        </p:spPr>
      </p:pic>
      <p:pic>
        <p:nvPicPr>
          <p:cNvPr id="5" name="Picture 4">
            <a:extLst>
              <a:ext uri="{FF2B5EF4-FFF2-40B4-BE49-F238E27FC236}">
                <a16:creationId xmlns:a16="http://schemas.microsoft.com/office/drawing/2014/main" id="{F1508AF4-9E72-68F0-B5A0-D1F51DC1911B}"/>
              </a:ext>
            </a:extLst>
          </p:cNvPr>
          <p:cNvPicPr>
            <a:picLocks noChangeAspect="1"/>
          </p:cNvPicPr>
          <p:nvPr/>
        </p:nvPicPr>
        <p:blipFill>
          <a:blip r:embed="rId4"/>
          <a:stretch>
            <a:fillRect/>
          </a:stretch>
        </p:blipFill>
        <p:spPr>
          <a:xfrm>
            <a:off x="6127390" y="1627188"/>
            <a:ext cx="6022195" cy="3746090"/>
          </a:xfrm>
          <a:prstGeom prst="rect">
            <a:avLst/>
          </a:prstGeom>
        </p:spPr>
      </p:pic>
    </p:spTree>
    <p:extLst>
      <p:ext uri="{BB962C8B-B14F-4D97-AF65-F5344CB8AC3E}">
        <p14:creationId xmlns:p14="http://schemas.microsoft.com/office/powerpoint/2010/main" val="296393147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AF648D-DED8-408D-E39C-4EB92733C8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67C9F3-EC96-CE7F-F4CB-03C9A338DD98}"/>
              </a:ext>
            </a:extLst>
          </p:cNvPr>
          <p:cNvSpPr>
            <a:spLocks noGrp="1"/>
          </p:cNvSpPr>
          <p:nvPr>
            <p:ph type="title"/>
          </p:nvPr>
        </p:nvSpPr>
        <p:spPr/>
        <p:txBody>
          <a:bodyPr>
            <a:normAutofit fontScale="90000"/>
          </a:bodyPr>
          <a:lstStyle/>
          <a:p>
            <a:r>
              <a:rPr lang="en-US" dirty="0" err="1"/>
              <a:t>Autograd</a:t>
            </a:r>
            <a:br>
              <a:rPr lang="en-US" dirty="0"/>
            </a:br>
            <a:br>
              <a:rPr lang="en-US" dirty="0"/>
            </a:br>
            <a:br>
              <a:rPr lang="en-US" dirty="0"/>
            </a:br>
            <a:endParaRPr lang="en-US" dirty="0"/>
          </a:p>
        </p:txBody>
      </p:sp>
      <p:sp>
        <p:nvSpPr>
          <p:cNvPr id="7" name="Content Placeholder 6">
            <a:extLst>
              <a:ext uri="{FF2B5EF4-FFF2-40B4-BE49-F238E27FC236}">
                <a16:creationId xmlns:a16="http://schemas.microsoft.com/office/drawing/2014/main" id="{0A30A9C2-3A46-C745-353E-04EB440069FA}"/>
              </a:ext>
            </a:extLst>
          </p:cNvPr>
          <p:cNvSpPr>
            <a:spLocks noGrp="1"/>
          </p:cNvSpPr>
          <p:nvPr>
            <p:ph sz="quarter" idx="13"/>
          </p:nvPr>
        </p:nvSpPr>
        <p:spPr/>
        <p:txBody>
          <a:bodyPr/>
          <a:lstStyle/>
          <a:p>
            <a:r>
              <a:rPr lang="en-US" altLang="zh-CN" dirty="0"/>
              <a:t>Use</a:t>
            </a:r>
            <a:r>
              <a:rPr lang="zh-CN" altLang="en-US" dirty="0"/>
              <a:t> </a:t>
            </a:r>
            <a:r>
              <a:rPr lang="en-US" altLang="zh-CN" dirty="0" err="1"/>
              <a:t>Autograd</a:t>
            </a:r>
            <a:endParaRPr lang="en-US" dirty="0"/>
          </a:p>
        </p:txBody>
      </p:sp>
      <p:pic>
        <p:nvPicPr>
          <p:cNvPr id="9" name="Picture 8">
            <a:extLst>
              <a:ext uri="{FF2B5EF4-FFF2-40B4-BE49-F238E27FC236}">
                <a16:creationId xmlns:a16="http://schemas.microsoft.com/office/drawing/2014/main" id="{5F5B7A5B-DCF7-AD96-9934-B32C0766D4F2}"/>
              </a:ext>
            </a:extLst>
          </p:cNvPr>
          <p:cNvPicPr>
            <a:picLocks noChangeAspect="1"/>
          </p:cNvPicPr>
          <p:nvPr/>
        </p:nvPicPr>
        <p:blipFill>
          <a:blip r:embed="rId2"/>
          <a:stretch>
            <a:fillRect/>
          </a:stretch>
        </p:blipFill>
        <p:spPr>
          <a:xfrm>
            <a:off x="6452055" y="1748695"/>
            <a:ext cx="5172638" cy="4850043"/>
          </a:xfrm>
          <a:prstGeom prst="rect">
            <a:avLst/>
          </a:prstGeom>
        </p:spPr>
      </p:pic>
      <p:pic>
        <p:nvPicPr>
          <p:cNvPr id="10" name="Picture 9">
            <a:extLst>
              <a:ext uri="{FF2B5EF4-FFF2-40B4-BE49-F238E27FC236}">
                <a16:creationId xmlns:a16="http://schemas.microsoft.com/office/drawing/2014/main" id="{A25D99A7-D593-E658-2565-F1BBDAE990A6}"/>
              </a:ext>
            </a:extLst>
          </p:cNvPr>
          <p:cNvPicPr>
            <a:picLocks noChangeAspect="1"/>
          </p:cNvPicPr>
          <p:nvPr/>
        </p:nvPicPr>
        <p:blipFill>
          <a:blip r:embed="rId3"/>
          <a:stretch>
            <a:fillRect/>
          </a:stretch>
        </p:blipFill>
        <p:spPr>
          <a:xfrm>
            <a:off x="242426" y="2586152"/>
            <a:ext cx="5853574" cy="2880330"/>
          </a:xfrm>
          <a:prstGeom prst="rect">
            <a:avLst/>
          </a:prstGeom>
        </p:spPr>
      </p:pic>
    </p:spTree>
    <p:extLst>
      <p:ext uri="{BB962C8B-B14F-4D97-AF65-F5344CB8AC3E}">
        <p14:creationId xmlns:p14="http://schemas.microsoft.com/office/powerpoint/2010/main" val="57110090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A6D018-F80B-9300-ACC5-D1F1AF3129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25D65F-B882-3D95-4969-D28240CE66F7}"/>
              </a:ext>
            </a:extLst>
          </p:cNvPr>
          <p:cNvSpPr>
            <a:spLocks noGrp="1"/>
          </p:cNvSpPr>
          <p:nvPr>
            <p:ph type="title"/>
          </p:nvPr>
        </p:nvSpPr>
        <p:spPr/>
        <p:txBody>
          <a:bodyPr>
            <a:normAutofit fontScale="90000"/>
          </a:bodyPr>
          <a:lstStyle/>
          <a:p>
            <a:r>
              <a:rPr lang="en-US" dirty="0" err="1"/>
              <a:t>Autograd</a:t>
            </a:r>
            <a:br>
              <a:rPr lang="en-US" dirty="0"/>
            </a:br>
            <a:br>
              <a:rPr lang="en-US" dirty="0"/>
            </a:br>
            <a:br>
              <a:rPr lang="en-US" dirty="0"/>
            </a:br>
            <a:endParaRPr lang="en-US" dirty="0"/>
          </a:p>
        </p:txBody>
      </p:sp>
      <p:sp>
        <p:nvSpPr>
          <p:cNvPr id="7" name="Content Placeholder 6">
            <a:extLst>
              <a:ext uri="{FF2B5EF4-FFF2-40B4-BE49-F238E27FC236}">
                <a16:creationId xmlns:a16="http://schemas.microsoft.com/office/drawing/2014/main" id="{0B5CAAAA-88E3-D69A-8024-1CDE8938F418}"/>
              </a:ext>
            </a:extLst>
          </p:cNvPr>
          <p:cNvSpPr>
            <a:spLocks noGrp="1"/>
          </p:cNvSpPr>
          <p:nvPr>
            <p:ph sz="quarter" idx="13"/>
          </p:nvPr>
        </p:nvSpPr>
        <p:spPr/>
        <p:txBody>
          <a:bodyPr/>
          <a:lstStyle/>
          <a:p>
            <a:r>
              <a:rPr lang="en-GB" b="1" i="0" dirty="0">
                <a:effectLst/>
                <a:latin typeface="var(--jp-content-font-family)"/>
              </a:rPr>
              <a:t>Vectorised example</a:t>
            </a:r>
          </a:p>
          <a:p>
            <a:pPr marL="0" indent="0" algn="r">
              <a:buNone/>
            </a:pPr>
            <a:endParaRPr lang="en-GB" b="0" i="0" dirty="0">
              <a:effectLst/>
              <a:latin typeface="var(--jp-cell-prompt-font-family)"/>
            </a:endParaRPr>
          </a:p>
        </p:txBody>
      </p:sp>
      <p:pic>
        <p:nvPicPr>
          <p:cNvPr id="3" name="Picture 2">
            <a:extLst>
              <a:ext uri="{FF2B5EF4-FFF2-40B4-BE49-F238E27FC236}">
                <a16:creationId xmlns:a16="http://schemas.microsoft.com/office/drawing/2014/main" id="{396F3F9D-CE54-DFE5-391B-D29103FECDC0}"/>
              </a:ext>
            </a:extLst>
          </p:cNvPr>
          <p:cNvPicPr>
            <a:picLocks noChangeAspect="1"/>
          </p:cNvPicPr>
          <p:nvPr/>
        </p:nvPicPr>
        <p:blipFill>
          <a:blip r:embed="rId2"/>
          <a:stretch>
            <a:fillRect/>
          </a:stretch>
        </p:blipFill>
        <p:spPr>
          <a:xfrm>
            <a:off x="3420096" y="1190592"/>
            <a:ext cx="4208207" cy="2238408"/>
          </a:xfrm>
          <a:prstGeom prst="rect">
            <a:avLst/>
          </a:prstGeom>
        </p:spPr>
      </p:pic>
      <p:pic>
        <p:nvPicPr>
          <p:cNvPr id="4" name="Picture 3">
            <a:extLst>
              <a:ext uri="{FF2B5EF4-FFF2-40B4-BE49-F238E27FC236}">
                <a16:creationId xmlns:a16="http://schemas.microsoft.com/office/drawing/2014/main" id="{A52DA1E5-4CB9-025A-27D2-FF59F304FC1A}"/>
              </a:ext>
            </a:extLst>
          </p:cNvPr>
          <p:cNvPicPr>
            <a:picLocks noChangeAspect="1"/>
          </p:cNvPicPr>
          <p:nvPr/>
        </p:nvPicPr>
        <p:blipFill>
          <a:blip r:embed="rId3"/>
          <a:stretch>
            <a:fillRect/>
          </a:stretch>
        </p:blipFill>
        <p:spPr>
          <a:xfrm>
            <a:off x="1037276" y="3792063"/>
            <a:ext cx="2727512" cy="2315442"/>
          </a:xfrm>
          <a:prstGeom prst="rect">
            <a:avLst/>
          </a:prstGeom>
        </p:spPr>
      </p:pic>
      <p:pic>
        <p:nvPicPr>
          <p:cNvPr id="5" name="Picture 4">
            <a:extLst>
              <a:ext uri="{FF2B5EF4-FFF2-40B4-BE49-F238E27FC236}">
                <a16:creationId xmlns:a16="http://schemas.microsoft.com/office/drawing/2014/main" id="{0D49A9C4-5E95-C0D4-E63D-AAA86004B575}"/>
              </a:ext>
            </a:extLst>
          </p:cNvPr>
          <p:cNvPicPr>
            <a:picLocks noChangeAspect="1"/>
          </p:cNvPicPr>
          <p:nvPr/>
        </p:nvPicPr>
        <p:blipFill>
          <a:blip r:embed="rId4"/>
          <a:srcRect t="4111"/>
          <a:stretch/>
        </p:blipFill>
        <p:spPr>
          <a:xfrm>
            <a:off x="5035321" y="3792063"/>
            <a:ext cx="6192001" cy="2315442"/>
          </a:xfrm>
          <a:prstGeom prst="rect">
            <a:avLst/>
          </a:prstGeom>
        </p:spPr>
      </p:pic>
    </p:spTree>
    <p:extLst>
      <p:ext uri="{BB962C8B-B14F-4D97-AF65-F5344CB8AC3E}">
        <p14:creationId xmlns:p14="http://schemas.microsoft.com/office/powerpoint/2010/main" val="119699910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Content Placeholder 5" descr="A close-up of a moth&#10;&#10;AI-generated content may be incorrect.">
            <a:extLst>
              <a:ext uri="{FF2B5EF4-FFF2-40B4-BE49-F238E27FC236}">
                <a16:creationId xmlns:a16="http://schemas.microsoft.com/office/drawing/2014/main" id="{44752144-99BF-81AF-D8E7-82F77DD96EE4}"/>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tretch>
            <a:fillRect/>
          </a:stretch>
        </p:blipFill>
        <p:spPr>
          <a:xfrm>
            <a:off x="1479218" y="1608138"/>
            <a:ext cx="3899563" cy="4568825"/>
          </a:xfrm>
        </p:spPr>
      </p:pic>
      <p:sp>
        <p:nvSpPr>
          <p:cNvPr id="3" name="Content Placeholder 2">
            <a:extLst>
              <a:ext uri="{FF2B5EF4-FFF2-40B4-BE49-F238E27FC236}">
                <a16:creationId xmlns:a16="http://schemas.microsoft.com/office/drawing/2014/main" id="{02579E6D-1F17-3AAB-540A-12D73E6E3BD3}"/>
              </a:ext>
            </a:extLst>
          </p:cNvPr>
          <p:cNvSpPr>
            <a:spLocks noGrp="1"/>
          </p:cNvSpPr>
          <p:nvPr>
            <p:ph sz="half" idx="2"/>
          </p:nvPr>
        </p:nvSpPr>
        <p:spPr/>
        <p:txBody>
          <a:bodyPr>
            <a:normAutofit fontScale="92500" lnSpcReduction="20000"/>
          </a:bodyPr>
          <a:lstStyle/>
          <a:p>
            <a:pPr marL="0" indent="0">
              <a:buNone/>
            </a:pPr>
            <a:r>
              <a:rPr lang="en-GB" b="1" i="1" dirty="0">
                <a:latin typeface="+mn-lt"/>
              </a:rPr>
              <a:t>How do animals evolve camouflage?</a:t>
            </a:r>
          </a:p>
          <a:p>
            <a:pPr marL="0" indent="0">
              <a:buNone/>
            </a:pPr>
            <a:r>
              <a:rPr lang="en-US" dirty="0">
                <a:latin typeface="+mn-lt"/>
              </a:rPr>
              <a:t>It either gets eaten by a predator who sees it or the predator does not see it </a:t>
            </a:r>
            <a:r>
              <a:rPr lang="en-US" dirty="0">
                <a:latin typeface="+mn-lt"/>
                <a:sym typeface="Wingdings" panose="05000000000000000000" pitchFamily="2" charset="2"/>
              </a:rPr>
              <a:t> discontinuous fitness function!</a:t>
            </a:r>
          </a:p>
          <a:p>
            <a:pPr marL="0" indent="0">
              <a:buNone/>
            </a:pPr>
            <a:r>
              <a:rPr lang="en-US" b="1" dirty="0">
                <a:latin typeface="+mn-lt"/>
              </a:rPr>
              <a:t>Answer: </a:t>
            </a:r>
            <a:r>
              <a:rPr lang="en-US" dirty="0">
                <a:latin typeface="+mn-lt"/>
              </a:rPr>
              <a:t>although every </a:t>
            </a:r>
            <a:r>
              <a:rPr lang="en-US" i="1" dirty="0">
                <a:latin typeface="+mn-lt"/>
              </a:rPr>
              <a:t>specific</a:t>
            </a:r>
            <a:r>
              <a:rPr lang="en-US" dirty="0">
                <a:latin typeface="+mn-lt"/>
              </a:rPr>
              <a:t> case is a simple binary choice, it is </a:t>
            </a:r>
            <a:r>
              <a:rPr lang="en-US" i="1" dirty="0">
                <a:latin typeface="+mn-lt"/>
              </a:rPr>
              <a:t>averaged </a:t>
            </a:r>
            <a:r>
              <a:rPr lang="en-US" dirty="0">
                <a:latin typeface="+mn-lt"/>
              </a:rPr>
              <a:t>over many random instances, where the conditions will be slightly different</a:t>
            </a:r>
          </a:p>
          <a:p>
            <a:r>
              <a:rPr lang="en-US" i="1" dirty="0">
                <a:latin typeface="+mn-lt"/>
              </a:rPr>
              <a:t>(maybe it is nearly dark, maybe the predator has bad eyes, maybe the weather is foggy)</a:t>
            </a:r>
            <a:r>
              <a:rPr lang="en-US" dirty="0">
                <a:latin typeface="+mn-lt"/>
              </a:rPr>
              <a:t> </a:t>
            </a:r>
          </a:p>
          <a:p>
            <a:pPr marL="0" indent="0">
              <a:buNone/>
            </a:pPr>
            <a:r>
              <a:rPr lang="en-US" dirty="0">
                <a:latin typeface="+mn-lt"/>
              </a:rPr>
              <a:t>Averaging over all of those cases, some very minor change in </a:t>
            </a:r>
            <a:r>
              <a:rPr lang="en-US" dirty="0" err="1">
                <a:latin typeface="+mn-lt"/>
              </a:rPr>
              <a:t>colouring</a:t>
            </a:r>
            <a:r>
              <a:rPr lang="en-US" dirty="0">
                <a:latin typeface="+mn-lt"/>
              </a:rPr>
              <a:t> might offer an advantage. </a:t>
            </a:r>
          </a:p>
          <a:p>
            <a:pPr marL="0" indent="0">
              <a:buNone/>
            </a:pPr>
            <a:r>
              <a:rPr lang="en-US" dirty="0">
                <a:latin typeface="+mn-lt"/>
              </a:rPr>
              <a:t>This is called</a:t>
            </a:r>
            <a:r>
              <a:rPr lang="en-US" b="1" dirty="0">
                <a:latin typeface="+mn-lt"/>
              </a:rPr>
              <a:t> stochastic relaxation</a:t>
            </a:r>
          </a:p>
        </p:txBody>
      </p:sp>
      <p:sp>
        <p:nvSpPr>
          <p:cNvPr id="4" name="Title 3">
            <a:extLst>
              <a:ext uri="{FF2B5EF4-FFF2-40B4-BE49-F238E27FC236}">
                <a16:creationId xmlns:a16="http://schemas.microsoft.com/office/drawing/2014/main" id="{A01FDBF7-9A4C-A216-4F3C-41FB2B89D3B1}"/>
              </a:ext>
            </a:extLst>
          </p:cNvPr>
          <p:cNvSpPr>
            <a:spLocks noGrp="1"/>
          </p:cNvSpPr>
          <p:nvPr>
            <p:ph type="title"/>
          </p:nvPr>
        </p:nvSpPr>
        <p:spPr/>
        <p:txBody>
          <a:bodyPr/>
          <a:lstStyle/>
          <a:p>
            <a:r>
              <a:rPr lang="en-GB" dirty="0"/>
              <a:t>Stochastic relaxation</a:t>
            </a:r>
          </a:p>
        </p:txBody>
      </p:sp>
      <p:sp>
        <p:nvSpPr>
          <p:cNvPr id="8" name="TextBox 7">
            <a:extLst>
              <a:ext uri="{FF2B5EF4-FFF2-40B4-BE49-F238E27FC236}">
                <a16:creationId xmlns:a16="http://schemas.microsoft.com/office/drawing/2014/main" id="{FE5996A1-7C77-A8AF-37E4-2C6808528399}"/>
              </a:ext>
            </a:extLst>
          </p:cNvPr>
          <p:cNvSpPr txBox="1"/>
          <p:nvPr/>
        </p:nvSpPr>
        <p:spPr>
          <a:xfrm>
            <a:off x="5886450" y="6176963"/>
            <a:ext cx="6094770" cy="646331"/>
          </a:xfrm>
          <a:prstGeom prst="rect">
            <a:avLst/>
          </a:prstGeom>
          <a:noFill/>
        </p:spPr>
        <p:txBody>
          <a:bodyPr wrap="square">
            <a:spAutoFit/>
          </a:bodyPr>
          <a:lstStyle/>
          <a:p>
            <a:r>
              <a:rPr lang="en-US" i="0" dirty="0">
                <a:effectLst/>
                <a:latin typeface="system-ui"/>
              </a:rPr>
              <a:t>See </a:t>
            </a:r>
            <a:r>
              <a:rPr lang="en-US" b="1" i="0" dirty="0">
                <a:effectLst/>
                <a:latin typeface="system-ui"/>
              </a:rPr>
              <a:t>"The Blind Watchmaker"</a:t>
            </a:r>
            <a:r>
              <a:rPr lang="en-US" b="0" i="0" dirty="0">
                <a:effectLst/>
                <a:latin typeface="system-ui"/>
              </a:rPr>
              <a:t> by </a:t>
            </a:r>
            <a:r>
              <a:rPr lang="en-US" b="0" i="1" dirty="0">
                <a:effectLst/>
                <a:latin typeface="system-ui"/>
              </a:rPr>
              <a:t>Richard Dawkins, </a:t>
            </a:r>
            <a:r>
              <a:rPr lang="en-US" b="0" dirty="0">
                <a:effectLst/>
                <a:latin typeface="system-ui"/>
              </a:rPr>
              <a:t>for a discussion of this topic. </a:t>
            </a:r>
            <a:endParaRPr lang="en-GB" dirty="0"/>
          </a:p>
        </p:txBody>
      </p:sp>
    </p:spTree>
    <p:extLst>
      <p:ext uri="{BB962C8B-B14F-4D97-AF65-F5344CB8AC3E}">
        <p14:creationId xmlns:p14="http://schemas.microsoft.com/office/powerpoint/2010/main" val="314665182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a:extLst>
              <a:ext uri="{FF2B5EF4-FFF2-40B4-BE49-F238E27FC236}">
                <a16:creationId xmlns:a16="http://schemas.microsoft.com/office/drawing/2014/main" id="{DF4C3DF4-3E65-16B3-4523-0BA042973EA1}"/>
              </a:ext>
            </a:extLst>
          </p:cNvPr>
          <p:cNvPicPr>
            <a:picLocks noGrp="1" noChangeAspect="1" noChangeArrowheads="1"/>
          </p:cNvPicPr>
          <p:nvPr>
            <p:ph sz="half" idx="1"/>
          </p:nvPr>
        </p:nvPicPr>
        <p:blipFill>
          <a:blip r:embed="rId2">
            <a:extLst>
              <a:ext uri="{28A0092B-C50C-407E-A947-70E740481C1C}">
                <a14:useLocalDpi xmlns:a14="http://schemas.microsoft.com/office/drawing/2010/main" val="0"/>
              </a:ext>
            </a:extLst>
          </a:blip>
          <a:stretch>
            <a:fillRect/>
          </a:stretch>
        </p:blipFill>
        <p:spPr bwMode="auto">
          <a:xfrm>
            <a:off x="838200" y="2460216"/>
            <a:ext cx="5181600" cy="2864669"/>
          </a:xfrm>
          <a:prstGeom prst="rect">
            <a:avLst/>
          </a:prstGeom>
          <a:noFill/>
          <a:extLst>
            <a:ext uri="{909E8E84-426E-40DD-AFC4-6F175D3DCCD1}">
              <a14:hiddenFill xmlns:a14="http://schemas.microsoft.com/office/drawing/2010/main">
                <a:solidFill>
                  <a:srgbClr val="FFFFFF"/>
                </a:solidFill>
              </a14:hiddenFill>
            </a:ext>
          </a:extLst>
        </p:spPr>
      </p:pic>
      <p:sp>
        <p:nvSpPr>
          <p:cNvPr id="4" name="Content Placeholder 3">
            <a:extLst>
              <a:ext uri="{FF2B5EF4-FFF2-40B4-BE49-F238E27FC236}">
                <a16:creationId xmlns:a16="http://schemas.microsoft.com/office/drawing/2014/main" id="{C85835BC-1FFD-3EDE-B7F8-6CDC29B9B17A}"/>
              </a:ext>
            </a:extLst>
          </p:cNvPr>
          <p:cNvSpPr>
            <a:spLocks noGrp="1"/>
          </p:cNvSpPr>
          <p:nvPr>
            <p:ph sz="half" idx="2"/>
          </p:nvPr>
        </p:nvSpPr>
        <p:spPr/>
        <p:txBody>
          <a:bodyPr/>
          <a:lstStyle/>
          <a:p>
            <a:pPr marL="0" indent="0">
              <a:buNone/>
            </a:pPr>
            <a:r>
              <a:rPr lang="en-GB" b="1" dirty="0">
                <a:latin typeface="+mn-lt"/>
              </a:rPr>
              <a:t>Issue: </a:t>
            </a:r>
            <a:r>
              <a:rPr lang="en-GB" dirty="0">
                <a:latin typeface="+mn-lt"/>
              </a:rPr>
              <a:t>Gradient descent can only be applied to function with continuous gradient (Lipschitz continuous)</a:t>
            </a:r>
          </a:p>
          <a:p>
            <a:pPr marL="0" indent="0">
              <a:buNone/>
            </a:pPr>
            <a:r>
              <a:rPr lang="en-GB" dirty="0">
                <a:latin typeface="+mn-lt"/>
              </a:rPr>
              <a:t>If our loss function is a step function, we would not be able to optimise on it.</a:t>
            </a:r>
          </a:p>
          <a:p>
            <a:pPr marL="0" indent="0">
              <a:buNone/>
            </a:pPr>
            <a:r>
              <a:rPr lang="en-GB" dirty="0">
                <a:latin typeface="+mn-lt"/>
              </a:rPr>
              <a:t>But if, for example we approximate a step functions with different randomly perturbated thresholds, then the average becomes continuous. </a:t>
            </a:r>
          </a:p>
        </p:txBody>
      </p:sp>
      <p:sp>
        <p:nvSpPr>
          <p:cNvPr id="2" name="Title 1">
            <a:extLst>
              <a:ext uri="{FF2B5EF4-FFF2-40B4-BE49-F238E27FC236}">
                <a16:creationId xmlns:a16="http://schemas.microsoft.com/office/drawing/2014/main" id="{2707FCED-5365-0A9A-B749-98F629AD648E}"/>
              </a:ext>
            </a:extLst>
          </p:cNvPr>
          <p:cNvSpPr>
            <a:spLocks noGrp="1"/>
          </p:cNvSpPr>
          <p:nvPr>
            <p:ph type="title"/>
          </p:nvPr>
        </p:nvSpPr>
        <p:spPr/>
        <p:txBody>
          <a:bodyPr/>
          <a:lstStyle/>
          <a:p>
            <a:r>
              <a:rPr lang="en-GB" dirty="0"/>
              <a:t>Stochastic relaxation Example</a:t>
            </a:r>
          </a:p>
        </p:txBody>
      </p:sp>
    </p:spTree>
    <p:extLst>
      <p:ext uri="{BB962C8B-B14F-4D97-AF65-F5344CB8AC3E}">
        <p14:creationId xmlns:p14="http://schemas.microsoft.com/office/powerpoint/2010/main" val="99272267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1B1E67-B493-2FE5-E2FE-8F4D1F2342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6D9302-6AC5-F513-BBD0-8516E8356504}"/>
              </a:ext>
            </a:extLst>
          </p:cNvPr>
          <p:cNvSpPr>
            <a:spLocks noGrp="1"/>
          </p:cNvSpPr>
          <p:nvPr>
            <p:ph type="title"/>
          </p:nvPr>
        </p:nvSpPr>
        <p:spPr>
          <a:xfrm>
            <a:off x="2556610" y="533614"/>
            <a:ext cx="9210963" cy="888786"/>
          </a:xfrm>
        </p:spPr>
        <p:txBody>
          <a:bodyPr/>
          <a:lstStyle/>
          <a:p>
            <a:r>
              <a:rPr lang="en-GB" dirty="0"/>
              <a:t>Stochastic Gradient Descent</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B6675D6-B784-C5B2-6878-EB40C992A25C}"/>
                  </a:ext>
                </a:extLst>
              </p:cNvPr>
              <p:cNvSpPr>
                <a:spLocks noGrp="1"/>
              </p:cNvSpPr>
              <p:nvPr>
                <p:ph sz="quarter" idx="13"/>
              </p:nvPr>
            </p:nvSpPr>
            <p:spPr/>
            <p:txBody>
              <a:bodyPr>
                <a:normAutofit lnSpcReduction="10000"/>
              </a:bodyPr>
              <a:lstStyle/>
              <a:p>
                <a:pPr marL="0" indent="0">
                  <a:buNone/>
                </a:pPr>
                <a:r>
                  <a:rPr lang="en-GB" b="1" dirty="0">
                    <a:latin typeface="+mn-lt"/>
                  </a:rPr>
                  <a:t>Issue: </a:t>
                </a:r>
                <a:r>
                  <a:rPr lang="en-US" dirty="0">
                    <a:latin typeface="+mn-lt"/>
                  </a:rPr>
                  <a:t>Gradient descent evaluates the objective function and its gradient at each iteration before making a step. This can be very expensive to do, particularly when </a:t>
                </a:r>
                <a:r>
                  <a:rPr lang="en-US" dirty="0" err="1">
                    <a:latin typeface="+mn-lt"/>
                  </a:rPr>
                  <a:t>optimising</a:t>
                </a:r>
                <a:r>
                  <a:rPr lang="en-US" dirty="0">
                    <a:latin typeface="+mn-lt"/>
                  </a:rPr>
                  <a:t> function approximations with large data sets (e.g. in machine learning). </a:t>
                </a:r>
                <a:endParaRPr lang="en-GB" b="1" dirty="0">
                  <a:latin typeface="+mn-lt"/>
                </a:endParaRPr>
              </a:p>
              <a:p>
                <a:pPr marL="0" indent="0">
                  <a:buNone/>
                </a:pPr>
                <a:endParaRPr lang="en-GB" dirty="0">
                  <a:latin typeface="+mn-lt"/>
                </a:endParaRPr>
              </a:p>
              <a:p>
                <a:pPr marL="0" indent="0">
                  <a:buNone/>
                </a:pPr>
                <a:r>
                  <a:rPr lang="en-GB" b="1" dirty="0">
                    <a:latin typeface="+mn-lt"/>
                  </a:rPr>
                  <a:t>But:</a:t>
                </a:r>
                <a:r>
                  <a:rPr lang="en-GB" dirty="0">
                    <a:latin typeface="+mn-lt"/>
                  </a:rPr>
                  <a:t> If the loss can be broken into small parts, for example a sum:</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𝐿</m:t>
                      </m:r>
                      <m:d>
                        <m:dPr>
                          <m:ctrlPr>
                            <a:rPr lang="en-GB" b="0" i="1" smtClean="0">
                              <a:latin typeface="Cambria Math" panose="02040503050406030204" pitchFamily="18" charset="0"/>
                            </a:rPr>
                          </m:ctrlPr>
                        </m:dPr>
                        <m:e>
                          <m:r>
                            <a:rPr lang="en-GB" b="0" i="1" smtClean="0">
                              <a:latin typeface="Cambria Math" panose="02040503050406030204" pitchFamily="18" charset="0"/>
                            </a:rPr>
                            <m:t>𝜃</m:t>
                          </m:r>
                        </m:e>
                      </m:d>
                      <m:r>
                        <a:rPr lang="en-GB" b="0" i="1" smtClean="0">
                          <a:latin typeface="Cambria Math" panose="02040503050406030204" pitchFamily="18" charset="0"/>
                        </a:rPr>
                        <m:t>=</m:t>
                      </m:r>
                      <m:nary>
                        <m:naryPr>
                          <m:chr m:val="∑"/>
                          <m:supHide m:val="on"/>
                          <m:ctrlPr>
                            <a:rPr lang="en-GB" b="0" i="1" smtClean="0">
                              <a:latin typeface="Cambria Math" panose="02040503050406030204" pitchFamily="18" charset="0"/>
                            </a:rPr>
                          </m:ctrlPr>
                        </m:naryPr>
                        <m:sub>
                          <m:r>
                            <a:rPr lang="en-GB" b="0" i="1" smtClean="0">
                              <a:latin typeface="Cambria Math" panose="02040503050406030204" pitchFamily="18" charset="0"/>
                            </a:rPr>
                            <m:t>𝑖</m:t>
                          </m:r>
                        </m:sub>
                        <m:sup/>
                        <m:e>
                          <m:sSub>
                            <m:sSubPr>
                              <m:ctrlPr>
                                <a:rPr lang="en-GB" b="0" i="1" smtClean="0">
                                  <a:latin typeface="Cambria Math" panose="02040503050406030204" pitchFamily="18" charset="0"/>
                                </a:rPr>
                              </m:ctrlPr>
                            </m:sSubPr>
                            <m:e>
                              <m:r>
                                <a:rPr lang="en-GB" b="0" i="1" smtClean="0">
                                  <a:latin typeface="Cambria Math" panose="02040503050406030204" pitchFamily="18" charset="0"/>
                                </a:rPr>
                                <m:t>𝐿</m:t>
                              </m:r>
                            </m:e>
                            <m:sub>
                              <m:r>
                                <a:rPr lang="en-GB" b="0" i="1" smtClean="0">
                                  <a:latin typeface="Cambria Math" panose="02040503050406030204" pitchFamily="18" charset="0"/>
                                </a:rPr>
                                <m:t>𝑖</m:t>
                              </m:r>
                            </m:sub>
                          </m:sSub>
                          <m:r>
                            <a:rPr lang="en-GB" b="0" i="1" smtClean="0">
                              <a:latin typeface="Cambria Math" panose="02040503050406030204" pitchFamily="18" charset="0"/>
                            </a:rPr>
                            <m:t>(</m:t>
                          </m:r>
                          <m:r>
                            <a:rPr lang="en-GB" b="0" i="1" smtClean="0">
                              <a:latin typeface="Cambria Math" panose="02040503050406030204" pitchFamily="18" charset="0"/>
                            </a:rPr>
                            <m:t>𝜃</m:t>
                          </m:r>
                          <m:r>
                            <a:rPr lang="en-GB" b="0" i="1" smtClean="0">
                              <a:latin typeface="Cambria Math" panose="02040503050406030204" pitchFamily="18" charset="0"/>
                            </a:rPr>
                            <m:t>)</m:t>
                          </m:r>
                        </m:e>
                      </m:nary>
                    </m:oMath>
                  </m:oMathPara>
                </a14:m>
                <a:endParaRPr lang="en-GB" dirty="0">
                  <a:latin typeface="+mn-lt"/>
                </a:endParaRPr>
              </a:p>
              <a:p>
                <a:pPr marL="0" indent="0">
                  <a:buNone/>
                </a:pPr>
                <a:r>
                  <a:rPr lang="en-GB" dirty="0">
                    <a:latin typeface="+mn-lt"/>
                  </a:rPr>
                  <a:t>Then,</a:t>
                </a:r>
                <a:r>
                  <a:rPr lang="en-GB" i="1" dirty="0">
                    <a:latin typeface="+mn-lt"/>
                  </a:rPr>
                  <a:t> </a:t>
                </a:r>
                <a:r>
                  <a:rPr lang="en-GB" i="1" dirty="0">
                    <a:solidFill>
                      <a:schemeClr val="accent1"/>
                    </a:solidFill>
                    <a:latin typeface="+mn-lt"/>
                  </a:rPr>
                  <a:t>because the gradient is a linear operator</a:t>
                </a:r>
                <a:r>
                  <a:rPr lang="en-GB" i="1" dirty="0">
                    <a:solidFill>
                      <a:schemeClr val="tx1"/>
                    </a:solidFill>
                    <a:latin typeface="+mn-lt"/>
                  </a:rPr>
                  <a:t>,</a:t>
                </a:r>
                <a:r>
                  <a:rPr lang="en-GB" dirty="0">
                    <a:latin typeface="+mn-lt"/>
                  </a:rPr>
                  <a:t> we can write:</a:t>
                </a:r>
              </a:p>
              <a:p>
                <a:pPr marL="0" indent="0">
                  <a:buNone/>
                </a:pPr>
                <a14:m>
                  <m:oMathPara xmlns:m="http://schemas.openxmlformats.org/officeDocument/2006/math">
                    <m:oMathParaPr>
                      <m:jc m:val="centerGroup"/>
                    </m:oMathParaPr>
                    <m:oMath xmlns:m="http://schemas.openxmlformats.org/officeDocument/2006/math">
                      <m:r>
                        <m:rPr>
                          <m:sty m:val="p"/>
                        </m:rPr>
                        <a:rPr lang="en-GB">
                          <a:latin typeface="Cambria Math" panose="02040503050406030204" pitchFamily="18" charset="0"/>
                        </a:rPr>
                        <m:t>∇</m:t>
                      </m:r>
                      <m:r>
                        <a:rPr lang="en-GB" i="1">
                          <a:latin typeface="Cambria Math" panose="02040503050406030204" pitchFamily="18" charset="0"/>
                        </a:rPr>
                        <m:t>𝐿</m:t>
                      </m:r>
                      <m:d>
                        <m:dPr>
                          <m:ctrlPr>
                            <a:rPr lang="en-GB" i="1">
                              <a:latin typeface="Cambria Math" panose="02040503050406030204" pitchFamily="18" charset="0"/>
                            </a:rPr>
                          </m:ctrlPr>
                        </m:dPr>
                        <m:e>
                          <m:r>
                            <a:rPr lang="en-GB" i="1">
                              <a:latin typeface="Cambria Math" panose="02040503050406030204" pitchFamily="18" charset="0"/>
                            </a:rPr>
                            <m:t>𝜃</m:t>
                          </m:r>
                        </m:e>
                      </m:d>
                      <m:r>
                        <a:rPr lang="en-GB" i="1">
                          <a:latin typeface="Cambria Math" panose="02040503050406030204" pitchFamily="18" charset="0"/>
                        </a:rPr>
                        <m:t>=</m:t>
                      </m:r>
                      <m:nary>
                        <m:naryPr>
                          <m:chr m:val="∑"/>
                          <m:supHide m:val="on"/>
                          <m:ctrlPr>
                            <a:rPr lang="en-GB" i="1">
                              <a:latin typeface="Cambria Math" panose="02040503050406030204" pitchFamily="18" charset="0"/>
                            </a:rPr>
                          </m:ctrlPr>
                        </m:naryPr>
                        <m:sub>
                          <m:r>
                            <a:rPr lang="en-GB" i="1">
                              <a:latin typeface="Cambria Math" panose="02040503050406030204" pitchFamily="18" charset="0"/>
                            </a:rPr>
                            <m:t>𝑖</m:t>
                          </m:r>
                        </m:sub>
                        <m:sup/>
                        <m:e>
                          <m:r>
                            <m:rPr>
                              <m:sty m:val="p"/>
                            </m:rPr>
                            <a:rPr lang="en-GB">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𝐿</m:t>
                              </m:r>
                            </m:e>
                            <m:sub>
                              <m:r>
                                <a:rPr lang="en-GB" i="1">
                                  <a:latin typeface="Cambria Math" panose="02040503050406030204" pitchFamily="18" charset="0"/>
                                </a:rPr>
                                <m:t>𝑖</m:t>
                              </m:r>
                            </m:sub>
                          </m:sSub>
                          <m:r>
                            <a:rPr lang="en-GB" i="1">
                              <a:latin typeface="Cambria Math" panose="02040503050406030204" pitchFamily="18" charset="0"/>
                            </a:rPr>
                            <m:t>(</m:t>
                          </m:r>
                          <m:r>
                            <a:rPr lang="en-GB" i="1">
                              <a:latin typeface="Cambria Math" panose="02040503050406030204" pitchFamily="18" charset="0"/>
                            </a:rPr>
                            <m:t>𝜃</m:t>
                          </m:r>
                          <m:r>
                            <a:rPr lang="en-GB" i="1">
                              <a:latin typeface="Cambria Math" panose="02040503050406030204" pitchFamily="18" charset="0"/>
                            </a:rPr>
                            <m:t>)</m:t>
                          </m:r>
                        </m:e>
                      </m:nary>
                    </m:oMath>
                  </m:oMathPara>
                </a14:m>
                <a:endParaRPr lang="en-GB" dirty="0">
                  <a:latin typeface="+mn-lt"/>
                </a:endParaRPr>
              </a:p>
              <a:p>
                <a:pPr marL="0" indent="0">
                  <a:buNone/>
                </a:pPr>
                <a:r>
                  <a:rPr lang="en-GB" dirty="0">
                    <a:latin typeface="+mn-lt"/>
                  </a:rPr>
                  <a:t>Then the optimiser can do gradient descent on randomly selected parts in turns which may be much faster and will (hopefully) converge to the same solution. </a:t>
                </a:r>
              </a:p>
              <a:p>
                <a:pPr marL="0" indent="0">
                  <a:buNone/>
                </a:pPr>
                <a:endParaRPr lang="en-GB" dirty="0">
                  <a:latin typeface="+mn-lt"/>
                </a:endParaRPr>
              </a:p>
            </p:txBody>
          </p:sp>
        </mc:Choice>
        <mc:Fallback xmlns="">
          <p:sp>
            <p:nvSpPr>
              <p:cNvPr id="3" name="Content Placeholder 2">
                <a:extLst>
                  <a:ext uri="{FF2B5EF4-FFF2-40B4-BE49-F238E27FC236}">
                    <a16:creationId xmlns:a16="http://schemas.microsoft.com/office/drawing/2014/main" id="{0B6675D6-B784-C5B2-6878-EB40C992A25C}"/>
                  </a:ext>
                </a:extLst>
              </p:cNvPr>
              <p:cNvSpPr>
                <a:spLocks noGrp="1" noRot="1" noChangeAspect="1" noMove="1" noResize="1" noEditPoints="1" noAdjustHandles="1" noChangeArrowheads="1" noChangeShapeType="1" noTextEdit="1"/>
              </p:cNvSpPr>
              <p:nvPr>
                <p:ph sz="quarter" idx="13"/>
              </p:nvPr>
            </p:nvSpPr>
            <p:spPr>
              <a:blipFill>
                <a:blip r:embed="rId2"/>
                <a:stretch>
                  <a:fillRect l="-850" t="-2513" r="-903" b="-1587"/>
                </a:stretch>
              </a:blipFill>
            </p:spPr>
            <p:txBody>
              <a:bodyPr/>
              <a:lstStyle/>
              <a:p>
                <a:r>
                  <a:rPr lang="en-GB">
                    <a:noFill/>
                  </a:rPr>
                  <a:t> </a:t>
                </a:r>
              </a:p>
            </p:txBody>
          </p:sp>
        </mc:Fallback>
      </mc:AlternateContent>
    </p:spTree>
    <p:extLst>
      <p:ext uri="{BB962C8B-B14F-4D97-AF65-F5344CB8AC3E}">
        <p14:creationId xmlns:p14="http://schemas.microsoft.com/office/powerpoint/2010/main" val="217824224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338DA-E8A2-AEA9-D216-94DD5836D532}"/>
              </a:ext>
            </a:extLst>
          </p:cNvPr>
          <p:cNvSpPr>
            <a:spLocks noGrp="1"/>
          </p:cNvSpPr>
          <p:nvPr>
            <p:ph type="title"/>
          </p:nvPr>
        </p:nvSpPr>
        <p:spPr/>
        <p:txBody>
          <a:bodyPr/>
          <a:lstStyle/>
          <a:p>
            <a:r>
              <a:rPr lang="en-GB" dirty="0"/>
              <a:t>Stochastic Gradient Descent</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D5DDB48-0175-E275-43A9-220FBA5EB387}"/>
                  </a:ext>
                </a:extLst>
              </p:cNvPr>
              <p:cNvSpPr>
                <a:spLocks noGrp="1"/>
              </p:cNvSpPr>
              <p:nvPr>
                <p:ph sz="quarter" idx="13"/>
              </p:nvPr>
            </p:nvSpPr>
            <p:spPr/>
            <p:txBody>
              <a:bodyPr>
                <a:normAutofit/>
              </a:bodyPr>
              <a:lstStyle/>
              <a:p>
                <a:pPr marL="0" indent="0">
                  <a:buNone/>
                </a:pPr>
                <a:r>
                  <a:rPr lang="en-GB" dirty="0"/>
                  <a:t>For example, remember approximation problems</a:t>
                </a:r>
              </a:p>
              <a:p>
                <a:pPr marL="0" indent="0">
                  <a:buNone/>
                </a:pPr>
                <a14:m>
                  <m:oMathPara xmlns:m="http://schemas.openxmlformats.org/officeDocument/2006/math">
                    <m:oMathParaPr>
                      <m:jc m:val="centerGroup"/>
                    </m:oMathParaPr>
                    <m:oMath xmlns:m="http://schemas.openxmlformats.org/officeDocument/2006/math">
                      <m:r>
                        <a:rPr lang="en-GB" i="1">
                          <a:latin typeface="Cambria Math" panose="02040503050406030204" pitchFamily="18" charset="0"/>
                        </a:rPr>
                        <m:t>𝐿</m:t>
                      </m:r>
                      <m:d>
                        <m:dPr>
                          <m:ctrlPr>
                            <a:rPr lang="en-GB" i="1">
                              <a:latin typeface="Cambria Math" panose="02040503050406030204" pitchFamily="18" charset="0"/>
                            </a:rPr>
                          </m:ctrlPr>
                        </m:dPr>
                        <m:e>
                          <m:r>
                            <a:rPr lang="en-GB" i="1">
                              <a:latin typeface="Cambria Math" panose="02040503050406030204" pitchFamily="18" charset="0"/>
                            </a:rPr>
                            <m:t>𝜃</m:t>
                          </m:r>
                        </m:e>
                      </m:d>
                      <m:r>
                        <a:rPr lang="en-GB" i="1">
                          <a:latin typeface="Cambria Math" panose="02040503050406030204" pitchFamily="18" charset="0"/>
                        </a:rPr>
                        <m:t>=</m:t>
                      </m:r>
                      <m:nary>
                        <m:naryPr>
                          <m:chr m:val="∑"/>
                          <m:supHide m:val="on"/>
                          <m:ctrlPr>
                            <a:rPr lang="en-GB" i="1">
                              <a:latin typeface="Cambria Math" panose="02040503050406030204" pitchFamily="18" charset="0"/>
                            </a:rPr>
                          </m:ctrlPr>
                        </m:naryPr>
                        <m:sub>
                          <m:r>
                            <a:rPr lang="en-GB" i="1">
                              <a:latin typeface="Cambria Math" panose="02040503050406030204" pitchFamily="18" charset="0"/>
                            </a:rPr>
                            <m:t>𝑖</m:t>
                          </m:r>
                        </m:sub>
                        <m:sup/>
                        <m:e>
                          <m:sSub>
                            <m:sSubPr>
                              <m:ctrlPr>
                                <a:rPr lang="en-GB" i="1" smtClean="0">
                                  <a:latin typeface="Cambria Math" panose="02040503050406030204" pitchFamily="18" charset="0"/>
                                </a:rPr>
                              </m:ctrlPr>
                            </m:sSubPr>
                            <m:e>
                              <m:d>
                                <m:dPr>
                                  <m:begChr m:val="‖"/>
                                  <m:endChr m:val="‖"/>
                                  <m:ctrlPr>
                                    <a:rPr lang="en-GB" i="1" smtClean="0">
                                      <a:latin typeface="Cambria Math" panose="02040503050406030204" pitchFamily="18" charset="0"/>
                                    </a:rPr>
                                  </m:ctrlPr>
                                </m:dPr>
                                <m:e>
                                  <m:r>
                                    <a:rPr lang="en-GB" b="0" i="1" smtClean="0">
                                      <a:latin typeface="Cambria Math" panose="02040503050406030204" pitchFamily="18" charset="0"/>
                                    </a:rPr>
                                    <m:t>𝑓</m:t>
                                  </m:r>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𝑖</m:t>
                                      </m:r>
                                    </m:sub>
                                  </m:sSub>
                                  <m:r>
                                    <a:rPr lang="en-GB" b="0" i="1" smtClean="0">
                                      <a:latin typeface="Cambria Math" panose="02040503050406030204" pitchFamily="18" charset="0"/>
                                    </a:rPr>
                                    <m:t>;</m:t>
                                  </m:r>
                                  <m:r>
                                    <a:rPr lang="en-GB" b="0" i="1" smtClean="0">
                                      <a:latin typeface="Cambria Math" panose="02040503050406030204" pitchFamily="18" charset="0"/>
                                    </a:rPr>
                                    <m:t>𝜃</m:t>
                                  </m:r>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𝑦</m:t>
                                      </m:r>
                                    </m:e>
                                    <m:sub>
                                      <m:r>
                                        <a:rPr lang="en-GB" b="0" i="1" smtClean="0">
                                          <a:latin typeface="Cambria Math" panose="02040503050406030204" pitchFamily="18" charset="0"/>
                                        </a:rPr>
                                        <m:t>𝑖</m:t>
                                      </m:r>
                                    </m:sub>
                                  </m:sSub>
                                </m:e>
                              </m:d>
                            </m:e>
                            <m:sub>
                              <m:r>
                                <a:rPr lang="en-GB" b="0" i="1" smtClean="0">
                                  <a:latin typeface="Cambria Math" panose="02040503050406030204" pitchFamily="18" charset="0"/>
                                </a:rPr>
                                <m:t>2</m:t>
                              </m:r>
                            </m:sub>
                          </m:sSub>
                        </m:e>
                      </m:nary>
                    </m:oMath>
                  </m:oMathPara>
                </a14:m>
                <a:endParaRPr lang="en-GB" dirty="0"/>
              </a:p>
              <a:p>
                <a:pPr marL="0" indent="0">
                  <a:buNone/>
                </a:pPr>
                <a:r>
                  <a:rPr lang="en-GB" dirty="0"/>
                  <a:t>Where the difference between the model’s output and target is minimised, </a:t>
                </a:r>
                <a:r>
                  <a:rPr lang="en-GB" i="1" dirty="0"/>
                  <a:t>summing over all training examples, </a:t>
                </a:r>
                <a:r>
                  <a:rPr lang="en-GB" dirty="0"/>
                  <a:t>we can sum the gradients over all examples individually.</a:t>
                </a:r>
                <a:endParaRPr lang="en-GB" i="1" dirty="0"/>
              </a:p>
              <a:p>
                <a:pPr marL="0" indent="0">
                  <a:buNone/>
                </a:pPr>
                <a:endParaRPr lang="en-GB" i="1" dirty="0"/>
              </a:p>
              <a:p>
                <a:pPr marL="0" indent="0">
                  <a:buNone/>
                </a:pPr>
                <a14:m>
                  <m:oMathPara xmlns:m="http://schemas.openxmlformats.org/officeDocument/2006/math">
                    <m:oMathParaPr>
                      <m:jc m:val="centerGroup"/>
                    </m:oMathParaPr>
                    <m:oMath xmlns:m="http://schemas.openxmlformats.org/officeDocument/2006/math">
                      <m:r>
                        <m:rPr>
                          <m:sty m:val="p"/>
                        </m:rPr>
                        <a:rPr lang="en-GB" i="0" smtClean="0">
                          <a:latin typeface="Cambria Math" panose="02040503050406030204" pitchFamily="18" charset="0"/>
                        </a:rPr>
                        <m:t>∇</m:t>
                      </m:r>
                      <m:r>
                        <a:rPr lang="en-GB" i="1">
                          <a:latin typeface="Cambria Math" panose="02040503050406030204" pitchFamily="18" charset="0"/>
                        </a:rPr>
                        <m:t> </m:t>
                      </m:r>
                      <m:nary>
                        <m:naryPr>
                          <m:chr m:val="∑"/>
                          <m:supHide m:val="on"/>
                          <m:ctrlPr>
                            <a:rPr lang="en-GB" b="0" i="1" smtClean="0">
                              <a:latin typeface="Cambria Math" panose="02040503050406030204" pitchFamily="18" charset="0"/>
                            </a:rPr>
                          </m:ctrlPr>
                        </m:naryPr>
                        <m:sub>
                          <m:r>
                            <a:rPr lang="en-GB" b="0" i="1" smtClean="0">
                              <a:latin typeface="Cambria Math" panose="02040503050406030204" pitchFamily="18" charset="0"/>
                            </a:rPr>
                            <m:t>𝑖</m:t>
                          </m:r>
                        </m:sub>
                        <m:sup/>
                        <m:e>
                          <m:d>
                            <m:dPr>
                              <m:begChr m:val="‖"/>
                              <m:endChr m:val="‖"/>
                              <m:ctrlPr>
                                <a:rPr lang="en-GB" b="0" i="1" smtClean="0">
                                  <a:latin typeface="Cambria Math" panose="02040503050406030204" pitchFamily="18" charset="0"/>
                                </a:rPr>
                              </m:ctrlPr>
                            </m:dPr>
                            <m:e>
                              <m:r>
                                <a:rPr lang="en-GB" b="0" i="1" smtClean="0">
                                  <a:latin typeface="Cambria Math" panose="02040503050406030204" pitchFamily="18" charset="0"/>
                                </a:rPr>
                                <m:t>𝑓</m:t>
                              </m:r>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𝑖</m:t>
                                      </m:r>
                                    </m:sub>
                                  </m:sSub>
                                  <m:r>
                                    <a:rPr lang="en-GB" b="0" i="1" smtClean="0">
                                      <a:latin typeface="Cambria Math" panose="02040503050406030204" pitchFamily="18" charset="0"/>
                                    </a:rPr>
                                    <m:t>;</m:t>
                                  </m:r>
                                  <m:r>
                                    <a:rPr lang="en-GB" b="0" i="1" smtClean="0">
                                      <a:latin typeface="Cambria Math" panose="02040503050406030204" pitchFamily="18" charset="0"/>
                                    </a:rPr>
                                    <m:t>𝜃</m:t>
                                  </m:r>
                                </m:e>
                              </m:d>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𝑦</m:t>
                                  </m:r>
                                </m:e>
                                <m:sub>
                                  <m:r>
                                    <a:rPr lang="en-GB" b="0" i="1" smtClean="0">
                                      <a:latin typeface="Cambria Math" panose="02040503050406030204" pitchFamily="18" charset="0"/>
                                    </a:rPr>
                                    <m:t>𝑖</m:t>
                                  </m:r>
                                </m:sub>
                              </m:sSub>
                            </m:e>
                          </m:d>
                          <m:r>
                            <a:rPr lang="en-GB" b="0" i="1" smtClean="0">
                              <a:latin typeface="Cambria Math" panose="02040503050406030204" pitchFamily="18" charset="0"/>
                            </a:rPr>
                            <m:t>=</m:t>
                          </m:r>
                          <m:nary>
                            <m:naryPr>
                              <m:chr m:val="∑"/>
                              <m:supHide m:val="on"/>
                              <m:ctrlPr>
                                <a:rPr lang="en-GB" b="0" i="1" smtClean="0">
                                  <a:latin typeface="Cambria Math" panose="02040503050406030204" pitchFamily="18" charset="0"/>
                                </a:rPr>
                              </m:ctrlPr>
                            </m:naryPr>
                            <m:sub>
                              <m:r>
                                <a:rPr lang="en-GB" b="0" i="1" smtClean="0">
                                  <a:latin typeface="Cambria Math" panose="02040503050406030204" pitchFamily="18" charset="0"/>
                                </a:rPr>
                                <m:t>𝑖</m:t>
                              </m:r>
                            </m:sub>
                            <m:sup/>
                            <m:e>
                              <m:r>
                                <m:rPr>
                                  <m:sty m:val="p"/>
                                </m:rPr>
                                <a:rPr lang="en-GB" b="0" i="0" smtClean="0">
                                  <a:latin typeface="Cambria Math" panose="02040503050406030204" pitchFamily="18" charset="0"/>
                                </a:rPr>
                                <m:t>∇</m:t>
                              </m:r>
                              <m:d>
                                <m:dPr>
                                  <m:begChr m:val="‖"/>
                                  <m:endChr m:val="‖"/>
                                  <m:ctrlPr>
                                    <a:rPr lang="en-GB" b="0" i="1" smtClean="0">
                                      <a:latin typeface="Cambria Math" panose="02040503050406030204" pitchFamily="18" charset="0"/>
                                    </a:rPr>
                                  </m:ctrlPr>
                                </m:dPr>
                                <m:e>
                                  <m:r>
                                    <a:rPr lang="en-GB" b="0" i="1" smtClean="0">
                                      <a:latin typeface="Cambria Math" panose="02040503050406030204" pitchFamily="18" charset="0"/>
                                    </a:rPr>
                                    <m:t>𝑓</m:t>
                                  </m:r>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𝑖</m:t>
                                          </m:r>
                                        </m:sub>
                                      </m:sSub>
                                      <m:r>
                                        <a:rPr lang="en-GB" b="0" i="1" smtClean="0">
                                          <a:latin typeface="Cambria Math" panose="02040503050406030204" pitchFamily="18" charset="0"/>
                                        </a:rPr>
                                        <m:t>;</m:t>
                                      </m:r>
                                      <m:r>
                                        <a:rPr lang="en-GB" b="0" i="1" smtClean="0">
                                          <a:latin typeface="Cambria Math" panose="02040503050406030204" pitchFamily="18" charset="0"/>
                                        </a:rPr>
                                        <m:t>𝜃</m:t>
                                      </m:r>
                                    </m:e>
                                  </m:d>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𝑦</m:t>
                                      </m:r>
                                    </m:e>
                                    <m:sub>
                                      <m:r>
                                        <a:rPr lang="en-GB" b="0" i="1" smtClean="0">
                                          <a:latin typeface="Cambria Math" panose="02040503050406030204" pitchFamily="18" charset="0"/>
                                        </a:rPr>
                                        <m:t>𝑖</m:t>
                                      </m:r>
                                    </m:sub>
                                  </m:sSub>
                                </m:e>
                              </m:d>
                            </m:e>
                          </m:nary>
                        </m:e>
                      </m:nary>
                    </m:oMath>
                  </m:oMathPara>
                </a14:m>
                <a:endParaRPr lang="en-GB" dirty="0"/>
              </a:p>
              <a:p>
                <a:pPr marL="0" indent="0">
                  <a:buNone/>
                </a:pPr>
                <a:r>
                  <a:rPr lang="en-GB" dirty="0"/>
                  <a:t>This means we can take random subsets of training examples (a </a:t>
                </a:r>
                <a:r>
                  <a:rPr lang="en-GB" b="1" dirty="0"/>
                  <a:t>mini-batch</a:t>
                </a:r>
                <a:r>
                  <a:rPr lang="en-GB" dirty="0"/>
                  <a:t>), and do gradient updates on each, requiring fewer evaluations per update. </a:t>
                </a:r>
              </a:p>
            </p:txBody>
          </p:sp>
        </mc:Choice>
        <mc:Fallback xmlns="">
          <p:sp>
            <p:nvSpPr>
              <p:cNvPr id="3" name="Content Placeholder 2">
                <a:extLst>
                  <a:ext uri="{FF2B5EF4-FFF2-40B4-BE49-F238E27FC236}">
                    <a16:creationId xmlns:a16="http://schemas.microsoft.com/office/drawing/2014/main" id="{4D5DDB48-0175-E275-43A9-220FBA5EB387}"/>
                  </a:ext>
                </a:extLst>
              </p:cNvPr>
              <p:cNvSpPr>
                <a:spLocks noGrp="1" noRot="1" noChangeAspect="1" noMove="1" noResize="1" noEditPoints="1" noAdjustHandles="1" noChangeArrowheads="1" noChangeShapeType="1" noTextEdit="1"/>
              </p:cNvSpPr>
              <p:nvPr>
                <p:ph sz="quarter" idx="13"/>
              </p:nvPr>
            </p:nvSpPr>
            <p:spPr>
              <a:blipFill>
                <a:blip r:embed="rId2"/>
                <a:stretch>
                  <a:fillRect l="-850" t="-1720" r="-1275"/>
                </a:stretch>
              </a:blipFill>
            </p:spPr>
            <p:txBody>
              <a:bodyPr/>
              <a:lstStyle/>
              <a:p>
                <a:r>
                  <a:rPr lang="en-GB">
                    <a:noFill/>
                  </a:rPr>
                  <a:t> </a:t>
                </a:r>
              </a:p>
            </p:txBody>
          </p:sp>
        </mc:Fallback>
      </mc:AlternateContent>
    </p:spTree>
    <p:extLst>
      <p:ext uri="{BB962C8B-B14F-4D97-AF65-F5344CB8AC3E}">
        <p14:creationId xmlns:p14="http://schemas.microsoft.com/office/powerpoint/2010/main" val="366379940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35FAA9-7F2D-05AB-CD51-8AB4E418A4D2}"/>
              </a:ext>
            </a:extLst>
          </p:cNvPr>
          <p:cNvSpPr>
            <a:spLocks noGrp="1"/>
          </p:cNvSpPr>
          <p:nvPr>
            <p:ph type="title"/>
          </p:nvPr>
        </p:nvSpPr>
        <p:spPr/>
        <p:txBody>
          <a:bodyPr/>
          <a:lstStyle/>
          <a:p>
            <a:r>
              <a:rPr lang="en-US" altLang="zh-CN" dirty="0"/>
              <a:t>GD</a:t>
            </a:r>
            <a:r>
              <a:rPr lang="zh-CN" altLang="en-US" dirty="0"/>
              <a:t> </a:t>
            </a:r>
            <a:r>
              <a:rPr lang="en-US" altLang="zh-CN" dirty="0"/>
              <a:t>vs</a:t>
            </a:r>
            <a:r>
              <a:rPr lang="zh-CN" altLang="en-US" dirty="0"/>
              <a:t> </a:t>
            </a:r>
            <a:r>
              <a:rPr lang="en-US" altLang="zh-CN" dirty="0"/>
              <a:t>SGD</a:t>
            </a:r>
            <a:r>
              <a:rPr lang="zh-CN" altLang="en-US" dirty="0"/>
              <a:t> </a:t>
            </a:r>
            <a:r>
              <a:rPr lang="en-US" altLang="zh-CN" dirty="0"/>
              <a:t>vs</a:t>
            </a:r>
            <a:r>
              <a:rPr lang="zh-CN" altLang="en-US" dirty="0"/>
              <a:t> </a:t>
            </a:r>
            <a:r>
              <a:rPr lang="en-US" altLang="zh-CN" dirty="0"/>
              <a:t>mini-batch</a:t>
            </a:r>
            <a:r>
              <a:rPr lang="zh-CN" altLang="en-US" dirty="0"/>
              <a:t> </a:t>
            </a:r>
            <a:r>
              <a:rPr lang="en-US" altLang="zh-CN" dirty="0"/>
              <a:t>SGD</a:t>
            </a:r>
            <a:br>
              <a:rPr lang="en-US" dirty="0"/>
            </a:br>
            <a:endParaRPr lang="en-US" dirty="0"/>
          </a:p>
        </p:txBody>
      </p:sp>
      <p:sp>
        <p:nvSpPr>
          <p:cNvPr id="3" name="Content Placeholder 2">
            <a:extLst>
              <a:ext uri="{FF2B5EF4-FFF2-40B4-BE49-F238E27FC236}">
                <a16:creationId xmlns:a16="http://schemas.microsoft.com/office/drawing/2014/main" id="{98406BF9-EB0F-DA58-80C0-4C86D994832F}"/>
              </a:ext>
            </a:extLst>
          </p:cNvPr>
          <p:cNvSpPr>
            <a:spLocks noGrp="1"/>
          </p:cNvSpPr>
          <p:nvPr>
            <p:ph sz="quarter" idx="13"/>
          </p:nvPr>
        </p:nvSpPr>
        <p:spPr>
          <a:xfrm>
            <a:off x="285750" y="1627188"/>
            <a:ext cx="4866353" cy="4606925"/>
          </a:xfrm>
        </p:spPr>
        <p:txBody>
          <a:bodyPr/>
          <a:lstStyle/>
          <a:p>
            <a:r>
              <a:rPr lang="en-US" dirty="0"/>
              <a:t>In </a:t>
            </a:r>
            <a:r>
              <a:rPr lang="en-US" altLang="zh-CN" dirty="0"/>
              <a:t>original</a:t>
            </a:r>
            <a:r>
              <a:rPr lang="zh-CN" altLang="en-US" dirty="0"/>
              <a:t> </a:t>
            </a:r>
            <a:r>
              <a:rPr lang="en-US" altLang="zh-CN" dirty="0"/>
              <a:t>SGD</a:t>
            </a:r>
            <a:r>
              <a:rPr lang="en-US" dirty="0"/>
              <a:t>, you use only </a:t>
            </a:r>
            <a:r>
              <a:rPr lang="en-US" altLang="zh-CN" b="1" dirty="0"/>
              <a:t>ONE</a:t>
            </a:r>
            <a:r>
              <a:rPr lang="zh-CN" altLang="en-US" dirty="0"/>
              <a:t> </a:t>
            </a:r>
            <a:r>
              <a:rPr lang="en-US" dirty="0"/>
              <a:t>training example</a:t>
            </a:r>
            <a:r>
              <a:rPr lang="en-US" altLang="zh-CN" dirty="0"/>
              <a:t>s</a:t>
            </a:r>
            <a:r>
              <a:rPr lang="en-US" dirty="0"/>
              <a:t> before updating the gradients. </a:t>
            </a:r>
          </a:p>
          <a:p>
            <a:r>
              <a:rPr lang="en-US" dirty="0"/>
              <a:t>When the training set is large, SGD can be faster. </a:t>
            </a:r>
          </a:p>
          <a:p>
            <a:r>
              <a:rPr lang="en-US" dirty="0"/>
              <a:t>But the parameters will “oscillate” toward the minimum rather than converge smoothly.</a:t>
            </a:r>
          </a:p>
          <a:p>
            <a:r>
              <a:rPr lang="en-US" altLang="zh-CN" dirty="0"/>
              <a:t>Mini-batch</a:t>
            </a:r>
            <a:r>
              <a:rPr lang="zh-CN" altLang="en-US" dirty="0"/>
              <a:t> </a:t>
            </a:r>
            <a:r>
              <a:rPr lang="en-US" dirty="0"/>
              <a:t>is a middle ground between batch </a:t>
            </a:r>
            <a:r>
              <a:rPr lang="en-US" altLang="zh-CN" dirty="0"/>
              <a:t>GD</a:t>
            </a:r>
            <a:r>
              <a:rPr lang="zh-CN" altLang="en-US" dirty="0"/>
              <a:t> </a:t>
            </a:r>
            <a:r>
              <a:rPr lang="en-US" altLang="zh-CN" dirty="0"/>
              <a:t>and</a:t>
            </a:r>
            <a:r>
              <a:rPr lang="zh-CN" altLang="en-US" dirty="0"/>
              <a:t> </a:t>
            </a:r>
            <a:r>
              <a:rPr lang="en-US" altLang="zh-CN" dirty="0"/>
              <a:t>SGD.</a:t>
            </a:r>
            <a:endParaRPr lang="en-US" dirty="0"/>
          </a:p>
        </p:txBody>
      </p:sp>
      <p:pic>
        <p:nvPicPr>
          <p:cNvPr id="3080" name="Picture 8" descr="What is GD, Batch GD, SGD, Mini-Batch GD? - Nomidl">
            <a:extLst>
              <a:ext uri="{FF2B5EF4-FFF2-40B4-BE49-F238E27FC236}">
                <a16:creationId xmlns:a16="http://schemas.microsoft.com/office/drawing/2014/main" id="{4ED5DE2B-0F21-1360-0E33-C9C80122A74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92920" y="2336381"/>
            <a:ext cx="7113330" cy="39880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0030931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6FC6DD0-5F38-BE52-E70B-008D5E09F65E}"/>
              </a:ext>
            </a:extLst>
          </p:cNvPr>
          <p:cNvSpPr>
            <a:spLocks noGrp="1"/>
          </p:cNvSpPr>
          <p:nvPr>
            <p:ph sz="half" idx="1"/>
          </p:nvPr>
        </p:nvSpPr>
        <p:spPr/>
        <p:txBody>
          <a:bodyPr>
            <a:normAutofit/>
          </a:bodyPr>
          <a:lstStyle/>
          <a:p>
            <a:pPr marL="0" indent="0">
              <a:buNone/>
            </a:pPr>
            <a:r>
              <a:rPr lang="en-US" dirty="0">
                <a:latin typeface="+mn-lt"/>
              </a:rPr>
              <a:t>Because mini-batch gradient descent makes a parameter update after seeing just a subset of examples, the direction of the update has some variance, and so the path taken by mini-batch gradient descent will “oscillate” toward convergence. </a:t>
            </a:r>
          </a:p>
          <a:p>
            <a:pPr marL="0" indent="0">
              <a:buNone/>
            </a:pPr>
            <a:r>
              <a:rPr lang="en-US" dirty="0">
                <a:latin typeface="+mn-lt"/>
              </a:rPr>
              <a:t>Using momentum can reduce these oscillations.</a:t>
            </a:r>
            <a:r>
              <a:rPr lang="zh-CN" altLang="en-US" dirty="0">
                <a:latin typeface="+mn-lt"/>
              </a:rPr>
              <a:t> </a:t>
            </a:r>
            <a:r>
              <a:rPr lang="en-GB" altLang="zh-CN" b="1" dirty="0">
                <a:latin typeface="+mn-lt"/>
              </a:rPr>
              <a:t>Momentum</a:t>
            </a:r>
            <a:r>
              <a:rPr lang="en-GB" altLang="zh-CN" dirty="0">
                <a:latin typeface="+mn-lt"/>
              </a:rPr>
              <a:t> accumulates the gradient of the past steps to determine the direction to go. </a:t>
            </a:r>
            <a:br>
              <a:rPr lang="en-US" dirty="0">
                <a:latin typeface="+mn-lt"/>
              </a:rPr>
            </a:br>
            <a:endParaRPr lang="en-US" dirty="0">
              <a:latin typeface="+mn-lt"/>
            </a:endParaRPr>
          </a:p>
        </p:txBody>
      </p:sp>
      <p:sp>
        <p:nvSpPr>
          <p:cNvPr id="2" name="Title 1">
            <a:extLst>
              <a:ext uri="{FF2B5EF4-FFF2-40B4-BE49-F238E27FC236}">
                <a16:creationId xmlns:a16="http://schemas.microsoft.com/office/drawing/2014/main" id="{88E3E637-1B17-2D6A-3043-77F03A85E785}"/>
              </a:ext>
            </a:extLst>
          </p:cNvPr>
          <p:cNvSpPr>
            <a:spLocks noGrp="1"/>
          </p:cNvSpPr>
          <p:nvPr>
            <p:ph type="title"/>
          </p:nvPr>
        </p:nvSpPr>
        <p:spPr/>
        <p:txBody>
          <a:bodyPr/>
          <a:lstStyle/>
          <a:p>
            <a:r>
              <a:rPr lang="en-US" dirty="0"/>
              <a:t>Momentum</a:t>
            </a:r>
            <a:br>
              <a:rPr lang="en-US" dirty="0"/>
            </a:br>
            <a:endParaRPr lang="en-US" dirty="0"/>
          </a:p>
        </p:txBody>
      </p:sp>
      <p:pic>
        <p:nvPicPr>
          <p:cNvPr id="4" name="Picture 2">
            <a:extLst>
              <a:ext uri="{FF2B5EF4-FFF2-40B4-BE49-F238E27FC236}">
                <a16:creationId xmlns:a16="http://schemas.microsoft.com/office/drawing/2014/main" id="{9B4AA18B-C852-667F-81DC-3F690D78A73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10228" y="681037"/>
            <a:ext cx="5360634" cy="3011476"/>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4">
            <a:extLst>
              <a:ext uri="{FF2B5EF4-FFF2-40B4-BE49-F238E27FC236}">
                <a16:creationId xmlns:a16="http://schemas.microsoft.com/office/drawing/2014/main" id="{9311EA26-FC1D-DB0A-D300-F1617DF2281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344812" y="3692513"/>
            <a:ext cx="6415387" cy="28319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449235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9BFE2A-BB3D-907D-C4BC-34CB19050095}"/>
              </a:ext>
            </a:extLst>
          </p:cNvPr>
          <p:cNvSpPr>
            <a:spLocks noGrp="1"/>
          </p:cNvSpPr>
          <p:nvPr>
            <p:ph type="title"/>
          </p:nvPr>
        </p:nvSpPr>
        <p:spPr/>
        <p:txBody>
          <a:bodyPr>
            <a:normAutofit fontScale="90000"/>
          </a:bodyPr>
          <a:lstStyle/>
          <a:p>
            <a:r>
              <a:rPr lang="en-US" dirty="0"/>
              <a:t>Second-order derivatives</a:t>
            </a:r>
            <a:br>
              <a:rPr lang="en-US" dirty="0"/>
            </a:br>
            <a:br>
              <a:rPr lang="en-US" dirty="0"/>
            </a:br>
            <a:endParaRPr lang="en-US" dirty="0"/>
          </a:p>
        </p:txBody>
      </p:sp>
      <p:sp>
        <p:nvSpPr>
          <p:cNvPr id="3" name="Content Placeholder 2">
            <a:extLst>
              <a:ext uri="{FF2B5EF4-FFF2-40B4-BE49-F238E27FC236}">
                <a16:creationId xmlns:a16="http://schemas.microsoft.com/office/drawing/2014/main" id="{3C4246A0-2AAD-49FB-C48C-3A6296987E25}"/>
              </a:ext>
            </a:extLst>
          </p:cNvPr>
          <p:cNvSpPr>
            <a:spLocks noGrp="1"/>
          </p:cNvSpPr>
          <p:nvPr>
            <p:ph sz="quarter" idx="13"/>
          </p:nvPr>
        </p:nvSpPr>
        <p:spPr/>
        <p:txBody>
          <a:bodyPr>
            <a:normAutofit/>
          </a:bodyPr>
          <a:lstStyle/>
          <a:p>
            <a:pPr algn="l"/>
            <a:r>
              <a:rPr lang="en-GB" b="0" i="0" dirty="0">
                <a:effectLst/>
                <a:latin typeface="-apple-system"/>
              </a:rPr>
              <a:t>If the first order derivatives represent the "slope" of a function, the second order derivatives represent the "curvature" of a function.</a:t>
            </a:r>
          </a:p>
          <a:p>
            <a:pPr algn="l"/>
            <a:endParaRPr lang="en-GB" dirty="0">
              <a:latin typeface="-apple-system"/>
            </a:endParaRPr>
          </a:p>
          <a:p>
            <a:pPr algn="l"/>
            <a:endParaRPr lang="en-GB" b="0" i="0" dirty="0">
              <a:effectLst/>
              <a:latin typeface="-apple-system"/>
            </a:endParaRPr>
          </a:p>
          <a:p>
            <a:r>
              <a:rPr lang="en-GB" b="0" i="0" dirty="0">
                <a:effectLst/>
                <a:latin typeface="-apple-system"/>
              </a:rPr>
              <a:t>For every parameter component </a:t>
            </a:r>
            <a:r>
              <a:rPr lang="el-GR" b="0" i="0" dirty="0">
                <a:effectLst/>
                <a:latin typeface="-apple-system"/>
              </a:rPr>
              <a:t>θ</a:t>
            </a:r>
            <a:r>
              <a:rPr lang="en-GB" b="0" i="0" dirty="0" err="1">
                <a:effectLst/>
                <a:latin typeface="-apple-system"/>
              </a:rPr>
              <a:t>i</a:t>
            </a:r>
            <a:r>
              <a:rPr lang="en-GB" b="0" i="0" dirty="0">
                <a:effectLst/>
                <a:latin typeface="-apple-system"/>
              </a:rPr>
              <a:t> the Hessian stores how the </a:t>
            </a:r>
            <a:r>
              <a:rPr lang="en-GB" b="0" i="1" dirty="0">
                <a:effectLst/>
                <a:latin typeface="-apple-system"/>
              </a:rPr>
              <a:t>steepness</a:t>
            </a:r>
            <a:r>
              <a:rPr lang="en-GB" b="0" i="0" dirty="0">
                <a:effectLst/>
                <a:latin typeface="-apple-system"/>
              </a:rPr>
              <a:t> of every other </a:t>
            </a:r>
            <a:r>
              <a:rPr lang="el-GR" b="0" i="0" dirty="0">
                <a:effectLst/>
                <a:latin typeface="-apple-system"/>
              </a:rPr>
              <a:t>θ</a:t>
            </a:r>
            <a:r>
              <a:rPr lang="en-GB" b="0" i="0" dirty="0">
                <a:effectLst/>
                <a:latin typeface="-apple-system"/>
              </a:rPr>
              <a:t>j changes.</a:t>
            </a:r>
          </a:p>
        </p:txBody>
      </p:sp>
      <p:pic>
        <p:nvPicPr>
          <p:cNvPr id="4" name="Picture 3">
            <a:extLst>
              <a:ext uri="{FF2B5EF4-FFF2-40B4-BE49-F238E27FC236}">
                <a16:creationId xmlns:a16="http://schemas.microsoft.com/office/drawing/2014/main" id="{56DB9B6A-A967-6873-47C5-14DA1CA24308}"/>
              </a:ext>
            </a:extLst>
          </p:cNvPr>
          <p:cNvPicPr>
            <a:picLocks noChangeAspect="1"/>
          </p:cNvPicPr>
          <p:nvPr/>
        </p:nvPicPr>
        <p:blipFill>
          <a:blip r:embed="rId2"/>
          <a:stretch>
            <a:fillRect/>
          </a:stretch>
        </p:blipFill>
        <p:spPr>
          <a:xfrm>
            <a:off x="1997507" y="4198610"/>
            <a:ext cx="7607300" cy="2540000"/>
          </a:xfrm>
          <a:prstGeom prst="rect">
            <a:avLst/>
          </a:prstGeom>
        </p:spPr>
      </p:pic>
      <p:pic>
        <p:nvPicPr>
          <p:cNvPr id="5" name="Picture 4">
            <a:extLst>
              <a:ext uri="{FF2B5EF4-FFF2-40B4-BE49-F238E27FC236}">
                <a16:creationId xmlns:a16="http://schemas.microsoft.com/office/drawing/2014/main" id="{2415C3ED-114B-702A-0DAA-B6F325ED73A2}"/>
              </a:ext>
            </a:extLst>
          </p:cNvPr>
          <p:cNvPicPr>
            <a:picLocks noChangeAspect="1"/>
          </p:cNvPicPr>
          <p:nvPr/>
        </p:nvPicPr>
        <p:blipFill>
          <a:blip r:embed="rId3"/>
          <a:stretch>
            <a:fillRect/>
          </a:stretch>
        </p:blipFill>
        <p:spPr>
          <a:xfrm>
            <a:off x="1997507" y="2247015"/>
            <a:ext cx="6217032" cy="1061947"/>
          </a:xfrm>
          <a:prstGeom prst="rect">
            <a:avLst/>
          </a:prstGeom>
        </p:spPr>
      </p:pic>
    </p:spTree>
    <p:extLst>
      <p:ext uri="{BB962C8B-B14F-4D97-AF65-F5344CB8AC3E}">
        <p14:creationId xmlns:p14="http://schemas.microsoft.com/office/powerpoint/2010/main" val="325520199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316BD5-0B13-2E98-41F2-7817B3C990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9A0286-0E89-2955-3E77-5DC03ED970D7}"/>
              </a:ext>
            </a:extLst>
          </p:cNvPr>
          <p:cNvSpPr>
            <a:spLocks noGrp="1"/>
          </p:cNvSpPr>
          <p:nvPr>
            <p:ph type="title"/>
          </p:nvPr>
        </p:nvSpPr>
        <p:spPr/>
        <p:txBody>
          <a:bodyPr>
            <a:normAutofit fontScale="90000"/>
          </a:bodyPr>
          <a:lstStyle/>
          <a:p>
            <a:r>
              <a:rPr lang="en-US" dirty="0"/>
              <a:t>Hessian: Jacobian of the gradient vector</a:t>
            </a:r>
            <a:br>
              <a:rPr lang="en-US" dirty="0"/>
            </a:br>
            <a:br>
              <a:rPr lang="en-US" dirty="0"/>
            </a:br>
            <a:br>
              <a:rPr lang="en-US" dirty="0"/>
            </a:b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8482315-D749-DE7F-C26B-554AA9EF1410}"/>
                  </a:ext>
                </a:extLst>
              </p:cNvPr>
              <p:cNvSpPr>
                <a:spLocks noGrp="1"/>
              </p:cNvSpPr>
              <p:nvPr>
                <p:ph sz="quarter" idx="13"/>
              </p:nvPr>
            </p:nvSpPr>
            <p:spPr/>
            <p:txBody>
              <a:bodyPr>
                <a:normAutofit/>
              </a:bodyPr>
              <a:lstStyle/>
              <a:p>
                <a14:m>
                  <m:oMath xmlns:m="http://schemas.openxmlformats.org/officeDocument/2006/math">
                    <m:sSup>
                      <m:sSupPr>
                        <m:ctrlPr>
                          <a:rPr lang="en-GB" sz="2200" i="1" smtClean="0">
                            <a:effectLst/>
                            <a:latin typeface="Cambria Math" panose="02040503050406030204" pitchFamily="18" charset="0"/>
                            <a:ea typeface="Aptos" panose="020B0004020202020204" pitchFamily="34" charset="0"/>
                            <a:cs typeface="Times New Roman" panose="02020603050405020304" pitchFamily="18" charset="0"/>
                          </a:rPr>
                        </m:ctrlPr>
                      </m:sSupPr>
                      <m:e>
                        <m:r>
                          <m:rPr>
                            <m:sty m:val="p"/>
                          </m:rPr>
                          <a:rPr lang="en-US" sz="2200">
                            <a:effectLst/>
                            <a:latin typeface="Cambria Math" panose="02040503050406030204" pitchFamily="18" charset="0"/>
                            <a:ea typeface="Aptos" panose="020B0004020202020204" pitchFamily="34" charset="0"/>
                            <a:cs typeface="Times New Roman" panose="02020603050405020304" pitchFamily="18" charset="0"/>
                          </a:rPr>
                          <m:t>∇</m:t>
                        </m:r>
                      </m:e>
                      <m:sup>
                        <m:r>
                          <a:rPr lang="en-US" sz="2200">
                            <a:effectLst/>
                            <a:latin typeface="Cambria Math" panose="02040503050406030204" pitchFamily="18" charset="0"/>
                            <a:ea typeface="Aptos" panose="020B0004020202020204" pitchFamily="34" charset="0"/>
                            <a:cs typeface="Times New Roman" panose="02020603050405020304" pitchFamily="18" charset="0"/>
                          </a:rPr>
                          <m:t>2</m:t>
                        </m:r>
                      </m:sup>
                    </m:sSup>
                    <m:r>
                      <a:rPr lang="en-US" sz="2200" i="1">
                        <a:effectLst/>
                        <a:latin typeface="Cambria Math" panose="02040503050406030204" pitchFamily="18" charset="0"/>
                        <a:ea typeface="Aptos" panose="020B0004020202020204" pitchFamily="34" charset="0"/>
                        <a:cs typeface="Times New Roman" panose="02020603050405020304" pitchFamily="18" charset="0"/>
                      </a:rPr>
                      <m:t>𝐿</m:t>
                    </m:r>
                    <m:r>
                      <a:rPr lang="en-US" sz="2200">
                        <a:effectLst/>
                        <a:latin typeface="Cambria Math" panose="02040503050406030204" pitchFamily="18" charset="0"/>
                        <a:ea typeface="Aptos" panose="020B0004020202020204" pitchFamily="34" charset="0"/>
                        <a:cs typeface="Times New Roman" panose="02020603050405020304" pitchFamily="18" charset="0"/>
                      </a:rPr>
                      <m:t>(</m:t>
                    </m:r>
                    <m:r>
                      <a:rPr lang="en-US" sz="2200" i="1">
                        <a:effectLst/>
                        <a:latin typeface="Cambria Math" panose="02040503050406030204" pitchFamily="18" charset="0"/>
                        <a:ea typeface="Aptos" panose="020B0004020202020204" pitchFamily="34" charset="0"/>
                        <a:cs typeface="Times New Roman" panose="02020603050405020304" pitchFamily="18" charset="0"/>
                      </a:rPr>
                      <m:t>𝜃</m:t>
                    </m:r>
                    <m:r>
                      <a:rPr lang="en-US" sz="2200">
                        <a:effectLst/>
                        <a:latin typeface="Cambria Math" panose="02040503050406030204" pitchFamily="18" charset="0"/>
                        <a:ea typeface="Aptos" panose="020B0004020202020204" pitchFamily="34" charset="0"/>
                        <a:cs typeface="Times New Roman" panose="02020603050405020304" pitchFamily="18" charset="0"/>
                      </a:rPr>
                      <m:t>)</m:t>
                    </m:r>
                  </m:oMath>
                </a14:m>
                <a:r>
                  <a:rPr lang="en-US" sz="2200" dirty="0">
                    <a:effectLst/>
                    <a:ea typeface="Aptos" panose="020B0004020202020204" pitchFamily="34" charset="0"/>
                  </a:rPr>
                  <a:t> </a:t>
                </a:r>
                <a:r>
                  <a:rPr lang="en-GB" sz="2200" b="0" i="0" dirty="0">
                    <a:effectLst/>
                    <a:latin typeface="-apple-system"/>
                  </a:rPr>
                  <a:t>is the </a:t>
                </a:r>
                <a:r>
                  <a:rPr lang="en-GB" sz="2200" b="1" i="1" dirty="0">
                    <a:effectLst/>
                    <a:latin typeface="-apple-system"/>
                  </a:rPr>
                  <a:t>Hessian</a:t>
                </a:r>
                <a:r>
                  <a:rPr lang="en-GB" sz="2200" b="0" i="1" dirty="0">
                    <a:effectLst/>
                    <a:latin typeface="-apple-system"/>
                  </a:rPr>
                  <a:t> matrix</a:t>
                </a:r>
                <a:r>
                  <a:rPr lang="en-GB" sz="2200" b="0" i="0" dirty="0">
                    <a:effectLst/>
                    <a:latin typeface="-apple-system"/>
                  </a:rPr>
                  <a:t> of a (scalar) function of a vector, the equivalent of the </a:t>
                </a:r>
                <a:r>
                  <a:rPr lang="en-GB" sz="2200" b="1" i="0" dirty="0">
                    <a:effectLst/>
                    <a:latin typeface="-apple-system"/>
                  </a:rPr>
                  <a:t>second</a:t>
                </a:r>
                <a:r>
                  <a:rPr lang="en-GB" sz="2200" b="0" i="0" dirty="0">
                    <a:effectLst/>
                    <a:latin typeface="-apple-system"/>
                  </a:rPr>
                  <a:t> derivative for vector functions.</a:t>
                </a:r>
              </a:p>
              <a:p>
                <a:pPr algn="l"/>
                <a:r>
                  <a:rPr lang="en-GB" sz="2200" b="0" dirty="0">
                    <a:effectLst/>
                  </a:rPr>
                  <a:t>Following our rule above, it's just the Jacobian of a </a:t>
                </a:r>
                <a:r>
                  <a:rPr lang="en-GB" sz="2200" b="1" dirty="0">
                    <a:effectLst/>
                  </a:rPr>
                  <a:t>vector</a:t>
                </a:r>
                <a:r>
                  <a:rPr lang="en-GB" sz="2200" b="0" dirty="0">
                    <a:effectLst/>
                  </a:rPr>
                  <a:t> valued function, so we know:</a:t>
                </a:r>
              </a:p>
              <a:p>
                <a:pPr marL="0" indent="0" algn="ctr">
                  <a:buNone/>
                </a:pPr>
                <a14:m>
                  <m:oMath xmlns:m="http://schemas.openxmlformats.org/officeDocument/2006/math">
                    <m:sSup>
                      <m:sSupPr>
                        <m:ctrlPr>
                          <a:rPr lang="en-GB" sz="2200" i="1" smtClean="0">
                            <a:effectLst/>
                            <a:latin typeface="Cambria Math" panose="02040503050406030204" pitchFamily="18" charset="0"/>
                            <a:ea typeface="Aptos" panose="020B0004020202020204" pitchFamily="34" charset="0"/>
                            <a:cs typeface="Times New Roman" panose="02020603050405020304" pitchFamily="18" charset="0"/>
                          </a:rPr>
                        </m:ctrlPr>
                      </m:sSupPr>
                      <m:e>
                        <m:r>
                          <m:rPr>
                            <m:sty m:val="p"/>
                          </m:rPr>
                          <a:rPr lang="en-US" sz="2200">
                            <a:effectLst/>
                            <a:latin typeface="Cambria Math" panose="02040503050406030204" pitchFamily="18" charset="0"/>
                            <a:ea typeface="Aptos" panose="020B0004020202020204" pitchFamily="34" charset="0"/>
                            <a:cs typeface="Times New Roman" panose="02020603050405020304" pitchFamily="18" charset="0"/>
                          </a:rPr>
                          <m:t>∇</m:t>
                        </m:r>
                      </m:e>
                      <m:sup>
                        <m:r>
                          <a:rPr lang="en-US" sz="2200">
                            <a:effectLst/>
                            <a:latin typeface="Cambria Math" panose="02040503050406030204" pitchFamily="18" charset="0"/>
                            <a:ea typeface="Aptos" panose="020B0004020202020204" pitchFamily="34" charset="0"/>
                            <a:cs typeface="Times New Roman" panose="02020603050405020304" pitchFamily="18" charset="0"/>
                          </a:rPr>
                          <m:t>2</m:t>
                        </m:r>
                      </m:sup>
                    </m:sSup>
                    <m:r>
                      <a:rPr lang="en-US" sz="2200" i="1">
                        <a:effectLst/>
                        <a:latin typeface="Cambria Math" panose="02040503050406030204" pitchFamily="18" charset="0"/>
                        <a:ea typeface="Aptos" panose="020B0004020202020204" pitchFamily="34" charset="0"/>
                        <a:cs typeface="Times New Roman" panose="02020603050405020304" pitchFamily="18" charset="0"/>
                      </a:rPr>
                      <m:t>𝐿</m:t>
                    </m:r>
                    <m:r>
                      <a:rPr lang="en-US" sz="2200">
                        <a:effectLst/>
                        <a:latin typeface="Cambria Math" panose="02040503050406030204" pitchFamily="18" charset="0"/>
                        <a:ea typeface="Aptos" panose="020B0004020202020204" pitchFamily="34" charset="0"/>
                        <a:cs typeface="Times New Roman" panose="02020603050405020304" pitchFamily="18" charset="0"/>
                      </a:rPr>
                      <m:t>(</m:t>
                    </m:r>
                    <m:r>
                      <a:rPr lang="en-US" sz="2200" i="1">
                        <a:effectLst/>
                        <a:latin typeface="Cambria Math" panose="02040503050406030204" pitchFamily="18" charset="0"/>
                        <a:ea typeface="Aptos" panose="020B0004020202020204" pitchFamily="34" charset="0"/>
                        <a:cs typeface="Times New Roman" panose="02020603050405020304" pitchFamily="18" charset="0"/>
                      </a:rPr>
                      <m:t>𝜃</m:t>
                    </m:r>
                    <m:r>
                      <a:rPr lang="en-US" sz="2200">
                        <a:effectLst/>
                        <a:latin typeface="Cambria Math" panose="02040503050406030204" pitchFamily="18" charset="0"/>
                        <a:ea typeface="Aptos" panose="020B0004020202020204" pitchFamily="34" charset="0"/>
                        <a:cs typeface="Times New Roman" panose="02020603050405020304" pitchFamily="18" charset="0"/>
                      </a:rPr>
                      <m:t>)</m:t>
                    </m:r>
                  </m:oMath>
                </a14:m>
                <a:r>
                  <a:rPr lang="en-US" sz="2200" dirty="0">
                    <a:effectLst/>
                    <a:ea typeface="Aptos" panose="020B0004020202020204" pitchFamily="34" charset="0"/>
                  </a:rPr>
                  <a:t> is matrix valued map </a:t>
                </a:r>
                <a14:m>
                  <m:oMath xmlns:m="http://schemas.openxmlformats.org/officeDocument/2006/math">
                    <m:sSup>
                      <m:sSupPr>
                        <m:ctrlPr>
                          <a:rPr lang="en-GB" sz="2200" i="1">
                            <a:effectLst/>
                            <a:latin typeface="Cambria Math" panose="02040503050406030204" pitchFamily="18" charset="0"/>
                            <a:ea typeface="Aptos" panose="020B0004020202020204" pitchFamily="34" charset="0"/>
                            <a:cs typeface="Times New Roman" panose="02020603050405020304" pitchFamily="18" charset="0"/>
                          </a:rPr>
                        </m:ctrlPr>
                      </m:sSupPr>
                      <m:e>
                        <m:r>
                          <a:rPr lang="en-US" sz="2200" i="1">
                            <a:effectLst/>
                            <a:latin typeface="Cambria Math" panose="02040503050406030204" pitchFamily="18" charset="0"/>
                            <a:ea typeface="Aptos" panose="020B0004020202020204" pitchFamily="34" charset="0"/>
                            <a:cs typeface="Times New Roman" panose="02020603050405020304" pitchFamily="18" charset="0"/>
                          </a:rPr>
                          <m:t>ℝ</m:t>
                        </m:r>
                      </m:e>
                      <m:sup>
                        <m:r>
                          <a:rPr lang="en-US" sz="2200" i="1">
                            <a:effectLst/>
                            <a:latin typeface="Cambria Math" panose="02040503050406030204" pitchFamily="18" charset="0"/>
                            <a:ea typeface="Aptos" panose="020B0004020202020204" pitchFamily="34" charset="0"/>
                            <a:cs typeface="Times New Roman" panose="02020603050405020304" pitchFamily="18" charset="0"/>
                          </a:rPr>
                          <m:t>𝑛</m:t>
                        </m:r>
                      </m:sup>
                    </m:sSup>
                    <m:r>
                      <a:rPr lang="en-US" sz="2200">
                        <a:effectLst/>
                        <a:latin typeface="Cambria Math" panose="02040503050406030204" pitchFamily="18" charset="0"/>
                        <a:ea typeface="Aptos" panose="020B0004020202020204" pitchFamily="34" charset="0"/>
                        <a:cs typeface="Times New Roman" panose="02020603050405020304" pitchFamily="18" charset="0"/>
                      </a:rPr>
                      <m:t>→</m:t>
                    </m:r>
                    <m:sSup>
                      <m:sSupPr>
                        <m:ctrlPr>
                          <a:rPr lang="en-GB" sz="2200" i="1">
                            <a:effectLst/>
                            <a:latin typeface="Cambria Math" panose="02040503050406030204" pitchFamily="18" charset="0"/>
                            <a:ea typeface="Aptos" panose="020B0004020202020204" pitchFamily="34" charset="0"/>
                            <a:cs typeface="Times New Roman" panose="02020603050405020304" pitchFamily="18" charset="0"/>
                          </a:rPr>
                        </m:ctrlPr>
                      </m:sSupPr>
                      <m:e>
                        <m:r>
                          <a:rPr lang="en-US" sz="2200" i="1">
                            <a:effectLst/>
                            <a:latin typeface="Cambria Math" panose="02040503050406030204" pitchFamily="18" charset="0"/>
                            <a:ea typeface="Aptos" panose="020B0004020202020204" pitchFamily="34" charset="0"/>
                            <a:cs typeface="Times New Roman" panose="02020603050405020304" pitchFamily="18" charset="0"/>
                          </a:rPr>
                          <m:t>ℝ</m:t>
                        </m:r>
                      </m:e>
                      <m:sup>
                        <m:r>
                          <a:rPr lang="en-US" sz="2200" i="1">
                            <a:effectLst/>
                            <a:latin typeface="Cambria Math" panose="02040503050406030204" pitchFamily="18" charset="0"/>
                            <a:ea typeface="Aptos" panose="020B0004020202020204" pitchFamily="34" charset="0"/>
                            <a:cs typeface="Times New Roman" panose="02020603050405020304" pitchFamily="18" charset="0"/>
                          </a:rPr>
                          <m:t>𝑛</m:t>
                        </m:r>
                        <m:r>
                          <a:rPr lang="en-US" sz="2200">
                            <a:effectLst/>
                            <a:latin typeface="Cambria Math" panose="02040503050406030204" pitchFamily="18" charset="0"/>
                            <a:ea typeface="Aptos" panose="020B0004020202020204" pitchFamily="34" charset="0"/>
                            <a:cs typeface="Times New Roman" panose="02020603050405020304" pitchFamily="18" charset="0"/>
                          </a:rPr>
                          <m:t>×</m:t>
                        </m:r>
                        <m:r>
                          <a:rPr lang="en-US" sz="2200" i="1">
                            <a:effectLst/>
                            <a:latin typeface="Cambria Math" panose="02040503050406030204" pitchFamily="18" charset="0"/>
                            <a:ea typeface="Aptos" panose="020B0004020202020204" pitchFamily="34" charset="0"/>
                            <a:cs typeface="Times New Roman" panose="02020603050405020304" pitchFamily="18" charset="0"/>
                          </a:rPr>
                          <m:t>𝑛</m:t>
                        </m:r>
                      </m:sup>
                    </m:sSup>
                  </m:oMath>
                </a14:m>
                <a:endParaRPr lang="en-GB" sz="2200" dirty="0">
                  <a:effectLst/>
                  <a:ea typeface="Aptos" panose="020B0004020202020204" pitchFamily="34" charset="0"/>
                </a:endParaRPr>
              </a:p>
              <a:p>
                <a:pPr algn="l"/>
                <a:endParaRPr lang="en-GB" sz="2200" b="0" dirty="0">
                  <a:effectLst/>
                </a:endParaRPr>
              </a:p>
              <a:p>
                <a:pPr marL="0" indent="0">
                  <a:buNone/>
                </a:pPr>
                <a:br>
                  <a:rPr lang="en-GB" sz="2200" b="0" i="0" dirty="0">
                    <a:effectLst/>
                    <a:latin typeface="-apple-system"/>
                  </a:rPr>
                </a:br>
                <a:endParaRPr lang="en-GB" sz="2200" b="0" dirty="0">
                  <a:effectLst/>
                </a:endParaRPr>
              </a:p>
              <a:p>
                <a:endParaRPr lang="en-US" sz="2200" dirty="0"/>
              </a:p>
            </p:txBody>
          </p:sp>
        </mc:Choice>
        <mc:Fallback xmlns="">
          <p:sp>
            <p:nvSpPr>
              <p:cNvPr id="3" name="Content Placeholder 2">
                <a:extLst>
                  <a:ext uri="{FF2B5EF4-FFF2-40B4-BE49-F238E27FC236}">
                    <a16:creationId xmlns:a16="http://schemas.microsoft.com/office/drawing/2014/main" id="{66A7083D-24BB-587A-546C-A1DC94DEB1AF}"/>
                  </a:ext>
                </a:extLst>
              </p:cNvPr>
              <p:cNvSpPr>
                <a:spLocks noGrp="1" noRot="1" noChangeAspect="1" noMove="1" noResize="1" noEditPoints="1" noAdjustHandles="1" noChangeArrowheads="1" noChangeShapeType="1" noTextEdit="1"/>
              </p:cNvSpPr>
              <p:nvPr>
                <p:ph sz="quarter" idx="13"/>
              </p:nvPr>
            </p:nvSpPr>
            <p:spPr>
              <a:blipFill>
                <a:blip r:embed="rId2"/>
                <a:stretch>
                  <a:fillRect l="-664" t="-1923"/>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id="{5C1DE242-AED8-35FC-12B1-EE1C37D2F61D}"/>
              </a:ext>
            </a:extLst>
          </p:cNvPr>
          <p:cNvPicPr>
            <a:picLocks noChangeAspect="1"/>
          </p:cNvPicPr>
          <p:nvPr/>
        </p:nvPicPr>
        <p:blipFill>
          <a:blip r:embed="rId3"/>
          <a:stretch>
            <a:fillRect/>
          </a:stretch>
        </p:blipFill>
        <p:spPr>
          <a:xfrm>
            <a:off x="1955466" y="3644041"/>
            <a:ext cx="7607300" cy="2540000"/>
          </a:xfrm>
          <a:prstGeom prst="rect">
            <a:avLst/>
          </a:prstGeom>
        </p:spPr>
      </p:pic>
    </p:spTree>
    <p:extLst>
      <p:ext uri="{BB962C8B-B14F-4D97-AF65-F5344CB8AC3E}">
        <p14:creationId xmlns:p14="http://schemas.microsoft.com/office/powerpoint/2010/main" val="25160588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3" name="Content Placeholder 1">
            <a:extLst>
              <a:ext uri="{FF2B5EF4-FFF2-40B4-BE49-F238E27FC236}">
                <a16:creationId xmlns:a16="http://schemas.microsoft.com/office/drawing/2014/main" id="{30CDA679-118C-0393-2DEE-34CAF3FD4E24}"/>
              </a:ext>
            </a:extLst>
          </p:cNvPr>
          <p:cNvSpPr>
            <a:spLocks noGrp="1"/>
          </p:cNvSpPr>
          <p:nvPr>
            <p:ph sz="half" idx="1"/>
          </p:nvPr>
        </p:nvSpPr>
        <p:spPr>
          <a:xfrm>
            <a:off x="838200" y="1608667"/>
            <a:ext cx="5181600" cy="4568296"/>
          </a:xfrm>
        </p:spPr>
        <p:txBody>
          <a:bodyPr>
            <a:normAutofit fontScale="85000" lnSpcReduction="10000"/>
          </a:bodyPr>
          <a:lstStyle/>
          <a:p>
            <a:r>
              <a:rPr lang="en-GB" b="0" i="0" dirty="0">
                <a:effectLst/>
                <a:latin typeface="-apple-system"/>
              </a:rPr>
              <a:t>Imagine I am on a hill.</a:t>
            </a:r>
          </a:p>
          <a:p>
            <a:pPr lvl="1"/>
            <a:r>
              <a:rPr lang="en-GB" b="0" i="0" dirty="0">
                <a:effectLst/>
                <a:latin typeface="-apple-system"/>
              </a:rPr>
              <a:t>The </a:t>
            </a:r>
            <a:r>
              <a:rPr lang="en-GB" b="1" i="0" dirty="0">
                <a:effectLst/>
                <a:latin typeface="-apple-system"/>
              </a:rPr>
              <a:t>altitude</a:t>
            </a:r>
            <a:r>
              <a:rPr lang="en-GB" b="0" i="0" dirty="0">
                <a:effectLst/>
                <a:latin typeface="-apple-system"/>
              </a:rPr>
              <a:t> I am at is the value of the </a:t>
            </a:r>
            <a:r>
              <a:rPr lang="en-GB" b="1" i="0" dirty="0">
                <a:effectLst/>
                <a:latin typeface="-apple-system"/>
              </a:rPr>
              <a:t>objective function</a:t>
            </a:r>
            <a:r>
              <a:rPr lang="en-GB" b="0" i="0" dirty="0">
                <a:effectLst/>
                <a:latin typeface="-apple-system"/>
              </a:rPr>
              <a:t>.</a:t>
            </a:r>
          </a:p>
          <a:p>
            <a:pPr lvl="1"/>
            <a:r>
              <a:rPr lang="en-GB" b="0" i="0" dirty="0">
                <a:effectLst/>
                <a:latin typeface="-apple-system"/>
              </a:rPr>
              <a:t>The </a:t>
            </a:r>
            <a:r>
              <a:rPr lang="en-GB" b="1" i="0" dirty="0">
                <a:effectLst/>
                <a:latin typeface="-apple-system"/>
              </a:rPr>
              <a:t>parameters</a:t>
            </a:r>
            <a:r>
              <a:rPr lang="en-GB" b="0" i="0" dirty="0">
                <a:effectLst/>
                <a:latin typeface="-apple-system"/>
              </a:rPr>
              <a:t> I can vary are my position </a:t>
            </a:r>
            <a:r>
              <a:rPr lang="en-GB" b="1" i="0" dirty="0">
                <a:effectLst/>
                <a:latin typeface="-apple-system"/>
              </a:rPr>
              <a:t>North/South</a:t>
            </a:r>
            <a:r>
              <a:rPr lang="en-GB" b="0" i="0" dirty="0">
                <a:effectLst/>
                <a:latin typeface="-apple-system"/>
              </a:rPr>
              <a:t> and </a:t>
            </a:r>
            <a:r>
              <a:rPr lang="en-GB" b="1" i="0" dirty="0">
                <a:effectLst/>
                <a:latin typeface="-apple-system"/>
              </a:rPr>
              <a:t>East/West</a:t>
            </a:r>
            <a:r>
              <a:rPr lang="en-GB" b="0" i="0" dirty="0">
                <a:effectLst/>
                <a:latin typeface="-apple-system"/>
              </a:rPr>
              <a:t>.</a:t>
            </a:r>
          </a:p>
          <a:p>
            <a:pPr lvl="1"/>
            <a:r>
              <a:rPr lang="en-GB" b="0" i="0" dirty="0">
                <a:effectLst/>
                <a:latin typeface="-apple-system"/>
              </a:rPr>
              <a:t>The </a:t>
            </a:r>
            <a:r>
              <a:rPr lang="en-GB" b="1" i="0" dirty="0">
                <a:effectLst/>
                <a:latin typeface="-apple-system"/>
              </a:rPr>
              <a:t>gradient vector</a:t>
            </a:r>
            <a:r>
              <a:rPr lang="en-GB" b="0" i="0" dirty="0">
                <a:effectLst/>
                <a:latin typeface="-apple-system"/>
              </a:rPr>
              <a:t> is the change in altitude as I take a step North or a step East, which are the two parameters. This is the local </a:t>
            </a:r>
            <a:r>
              <a:rPr lang="en-GB" b="1" i="0" dirty="0">
                <a:effectLst/>
                <a:latin typeface="-apple-system"/>
              </a:rPr>
              <a:t>steepness</a:t>
            </a:r>
            <a:r>
              <a:rPr lang="en-GB" b="0" i="0" dirty="0">
                <a:effectLst/>
                <a:latin typeface="-apple-system"/>
              </a:rPr>
              <a:t> at the place I am at on the hill.</a:t>
            </a:r>
          </a:p>
          <a:p>
            <a:pPr lvl="1"/>
            <a:r>
              <a:rPr lang="en-GB" b="0" i="0" dirty="0">
                <a:effectLst/>
                <a:latin typeface="-apple-system"/>
              </a:rPr>
              <a:t>The </a:t>
            </a:r>
            <a:r>
              <a:rPr lang="en-GB" b="1" i="0" dirty="0">
                <a:effectLst/>
                <a:latin typeface="-apple-system"/>
              </a:rPr>
              <a:t>Hessian</a:t>
            </a:r>
            <a:r>
              <a:rPr lang="en-GB" b="0" i="0" dirty="0">
                <a:effectLst/>
                <a:latin typeface="-apple-system"/>
              </a:rPr>
              <a:t> captures </a:t>
            </a:r>
            <a:r>
              <a:rPr lang="en-GB" b="1" i="0" dirty="0">
                <a:effectLst/>
                <a:latin typeface="-apple-system"/>
              </a:rPr>
              <a:t>how much steeper </a:t>
            </a:r>
            <a:r>
              <a:rPr lang="en-GB" b="0" i="0" dirty="0">
                <a:effectLst/>
                <a:latin typeface="-apple-system"/>
              </a:rPr>
              <a:t>the hill get </a:t>
            </a:r>
            <a:r>
              <a:rPr lang="en-GB" b="1" i="0" dirty="0">
                <a:effectLst/>
                <a:latin typeface="-apple-system"/>
              </a:rPr>
              <a:t>stepping Northwards</a:t>
            </a:r>
            <a:r>
              <a:rPr lang="en-GB" b="0" i="0" dirty="0">
                <a:effectLst/>
                <a:latin typeface="-apple-system"/>
              </a:rPr>
              <a:t> </a:t>
            </a:r>
            <a:r>
              <a:rPr lang="en-GB" i="0" dirty="0">
                <a:effectLst/>
                <a:latin typeface="-apple-system"/>
              </a:rPr>
              <a:t>as I go </a:t>
            </a:r>
            <a:r>
              <a:rPr lang="en-GB" b="1" i="0" dirty="0">
                <a:effectLst/>
                <a:latin typeface="-apple-system"/>
              </a:rPr>
              <a:t>North</a:t>
            </a:r>
            <a:r>
              <a:rPr lang="en-GB" b="0" i="0" dirty="0">
                <a:effectLst/>
                <a:latin typeface="-apple-system"/>
              </a:rPr>
              <a:t> and </a:t>
            </a:r>
            <a:r>
              <a:rPr lang="en-GB" b="0" i="1" dirty="0">
                <a:effectLst/>
                <a:latin typeface="-apple-system"/>
              </a:rPr>
              <a:t>also</a:t>
            </a:r>
            <a:r>
              <a:rPr lang="en-GB" b="0" i="0" dirty="0">
                <a:effectLst/>
                <a:latin typeface="-apple-system"/>
              </a:rPr>
              <a:t> how much steeper the hill </a:t>
            </a:r>
            <a:r>
              <a:rPr lang="en-GB" b="1" i="0" dirty="0">
                <a:effectLst/>
                <a:latin typeface="-apple-system"/>
              </a:rPr>
              <a:t>gets</a:t>
            </a:r>
            <a:r>
              <a:rPr lang="en-GB" b="0" i="0" dirty="0">
                <a:effectLst/>
                <a:latin typeface="-apple-system"/>
              </a:rPr>
              <a:t> </a:t>
            </a:r>
            <a:r>
              <a:rPr lang="en-GB" b="1" i="0" dirty="0">
                <a:effectLst/>
                <a:latin typeface="-apple-system"/>
              </a:rPr>
              <a:t>Eastwards</a:t>
            </a:r>
            <a:r>
              <a:rPr lang="en-GB" b="0" i="0" dirty="0">
                <a:effectLst/>
                <a:latin typeface="-apple-system"/>
              </a:rPr>
              <a:t> </a:t>
            </a:r>
            <a:r>
              <a:rPr lang="en-GB" i="0" dirty="0">
                <a:effectLst/>
                <a:latin typeface="-apple-system"/>
              </a:rPr>
              <a:t>as I step </a:t>
            </a:r>
            <a:r>
              <a:rPr lang="en-GB" b="1" i="0" dirty="0">
                <a:effectLst/>
                <a:latin typeface="-apple-system"/>
              </a:rPr>
              <a:t>North</a:t>
            </a:r>
            <a:r>
              <a:rPr lang="en-GB" b="0" i="0" dirty="0">
                <a:effectLst/>
                <a:latin typeface="-apple-system"/>
              </a:rPr>
              <a:t>; similarly for stepping East. So there is a </a:t>
            </a:r>
            <a:r>
              <a:rPr lang="en-GB" b="1" i="0" dirty="0">
                <a:effectLst/>
                <a:latin typeface="-apple-system"/>
              </a:rPr>
              <a:t>2x2 matrix </a:t>
            </a:r>
            <a:r>
              <a:rPr lang="en-GB" b="0" i="0" dirty="0">
                <a:effectLst/>
                <a:latin typeface="-apple-system"/>
              </a:rPr>
              <a:t>describing these changes in steepness.</a:t>
            </a:r>
            <a:br>
              <a:rPr lang="en-GB" dirty="0"/>
            </a:br>
            <a:endParaRPr lang="en-US" dirty="0"/>
          </a:p>
          <a:p>
            <a:endParaRPr lang="en-US" dirty="0"/>
          </a:p>
        </p:txBody>
      </p:sp>
      <p:sp>
        <p:nvSpPr>
          <p:cNvPr id="1035" name="Title 3">
            <a:extLst>
              <a:ext uri="{FF2B5EF4-FFF2-40B4-BE49-F238E27FC236}">
                <a16:creationId xmlns:a16="http://schemas.microsoft.com/office/drawing/2014/main" id="{34F8F587-6E7F-8670-7AEA-B6D79676A8AE}"/>
              </a:ext>
            </a:extLst>
          </p:cNvPr>
          <p:cNvSpPr>
            <a:spLocks noGrp="1"/>
          </p:cNvSpPr>
          <p:nvPr>
            <p:ph type="title"/>
          </p:nvPr>
        </p:nvSpPr>
        <p:spPr>
          <a:xfrm>
            <a:off x="2549236" y="236644"/>
            <a:ext cx="9210963" cy="888786"/>
          </a:xfrm>
        </p:spPr>
        <p:txBody>
          <a:bodyPr>
            <a:normAutofit/>
          </a:bodyPr>
          <a:lstStyle/>
          <a:p>
            <a:r>
              <a:rPr lang="en-US" dirty="0"/>
              <a:t>Second-order derivatives</a:t>
            </a:r>
            <a:br>
              <a:rPr lang="en-US" dirty="0"/>
            </a:br>
            <a:endParaRPr lang="en-US" dirty="0"/>
          </a:p>
        </p:txBody>
      </p:sp>
      <p:pic>
        <p:nvPicPr>
          <p:cNvPr id="1030" name="Picture 6" descr="Output image">
            <a:extLst>
              <a:ext uri="{FF2B5EF4-FFF2-40B4-BE49-F238E27FC236}">
                <a16:creationId xmlns:a16="http://schemas.microsoft.com/office/drawing/2014/main" id="{0B5C2C59-DE32-CD39-5906-5A428DA2DB0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96000" y="1040362"/>
            <a:ext cx="5463431" cy="55809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4461300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FC1D657-5E4F-AD7C-DE1D-54B72DB951AA}"/>
              </a:ext>
            </a:extLst>
          </p:cNvPr>
          <p:cNvSpPr>
            <a:spLocks noGrp="1"/>
          </p:cNvSpPr>
          <p:nvPr>
            <p:ph sz="half" idx="1"/>
          </p:nvPr>
        </p:nvSpPr>
        <p:spPr>
          <a:xfrm>
            <a:off x="838200" y="1608667"/>
            <a:ext cx="5181600" cy="4568296"/>
          </a:xfrm>
        </p:spPr>
        <p:txBody>
          <a:bodyPr>
            <a:normAutofit/>
          </a:bodyPr>
          <a:lstStyle/>
          <a:p>
            <a:pPr marL="0" indent="0">
              <a:buNone/>
            </a:pPr>
            <a:r>
              <a:rPr lang="en-GB" sz="1700" b="0" dirty="0">
                <a:effectLst/>
              </a:rPr>
              <a:t>The Hessian matrix captures important properties about the </a:t>
            </a:r>
            <a:r>
              <a:rPr lang="en-GB" sz="1700" b="1" dirty="0">
                <a:effectLst/>
              </a:rPr>
              <a:t>type of critical point</a:t>
            </a:r>
            <a:r>
              <a:rPr lang="en-GB" sz="1700" b="0" dirty="0">
                <a:effectLst/>
              </a:rPr>
              <a:t> that we saw in the previous lecture. In particular, the </a:t>
            </a:r>
            <a:r>
              <a:rPr lang="en-GB" sz="1700" b="1" dirty="0">
                <a:effectLst/>
              </a:rPr>
              <a:t>eigenvalues</a:t>
            </a:r>
            <a:r>
              <a:rPr lang="en-GB" sz="1700" b="0" dirty="0">
                <a:effectLst/>
              </a:rPr>
              <a:t> of the Hessian tell us what kind of point we have.</a:t>
            </a:r>
          </a:p>
          <a:p>
            <a:pPr>
              <a:buFont typeface="Arial" panose="020B0604020202020204" pitchFamily="34" charset="0"/>
              <a:buChar char="•"/>
            </a:pPr>
            <a:r>
              <a:rPr lang="en-GB" sz="1700" b="0" dirty="0">
                <a:effectLst/>
              </a:rPr>
              <a:t>If all eigenvalues are all strictly positive, the matrix is called </a:t>
            </a:r>
            <a:r>
              <a:rPr lang="en-GB" sz="1700" b="1" dirty="0">
                <a:effectLst/>
              </a:rPr>
              <a:t>positive definite</a:t>
            </a:r>
            <a:r>
              <a:rPr lang="en-GB" sz="1700" b="0" dirty="0">
                <a:effectLst/>
              </a:rPr>
              <a:t> and the point is a </a:t>
            </a:r>
            <a:r>
              <a:rPr lang="en-GB" sz="1700" b="1" dirty="0">
                <a:effectLst/>
              </a:rPr>
              <a:t>minimum</a:t>
            </a:r>
            <a:r>
              <a:rPr lang="en-GB" sz="1700" b="0" dirty="0">
                <a:effectLst/>
              </a:rPr>
              <a:t>.</a:t>
            </a:r>
          </a:p>
          <a:p>
            <a:pPr>
              <a:buFont typeface="Arial" panose="020B0604020202020204" pitchFamily="34" charset="0"/>
              <a:buChar char="•"/>
            </a:pPr>
            <a:r>
              <a:rPr lang="en-GB" sz="1700" b="0" dirty="0">
                <a:effectLst/>
              </a:rPr>
              <a:t>If all eigenvalues are all strictly negative (</a:t>
            </a:r>
            <a:r>
              <a:rPr lang="en-GB" sz="1700" b="1" dirty="0">
                <a:effectLst/>
              </a:rPr>
              <a:t>negative definite</a:t>
            </a:r>
            <a:r>
              <a:rPr lang="en-GB" sz="1700" b="0" dirty="0">
                <a:effectLst/>
              </a:rPr>
              <a:t>) and the point is a </a:t>
            </a:r>
            <a:r>
              <a:rPr lang="en-GB" sz="1700" b="1" dirty="0">
                <a:effectLst/>
              </a:rPr>
              <a:t>maximum</a:t>
            </a:r>
            <a:r>
              <a:rPr lang="en-GB" sz="1700" b="0" dirty="0">
                <a:effectLst/>
              </a:rPr>
              <a:t>.</a:t>
            </a:r>
          </a:p>
          <a:p>
            <a:pPr>
              <a:buFont typeface="Arial" panose="020B0604020202020204" pitchFamily="34" charset="0"/>
              <a:buChar char="•"/>
            </a:pPr>
            <a:r>
              <a:rPr lang="en-GB" sz="1700" b="0" dirty="0">
                <a:effectLst/>
              </a:rPr>
              <a:t>If eigenvalues have mixed sign the point is a </a:t>
            </a:r>
            <a:r>
              <a:rPr lang="en-GB" sz="1700" b="1" dirty="0">
                <a:effectLst/>
              </a:rPr>
              <a:t>saddle</a:t>
            </a:r>
            <a:r>
              <a:rPr lang="en-GB" sz="1700" b="0" dirty="0">
                <a:effectLst/>
              </a:rPr>
              <a:t> point.</a:t>
            </a:r>
          </a:p>
          <a:p>
            <a:pPr>
              <a:buFont typeface="Arial" panose="020B0604020202020204" pitchFamily="34" charset="0"/>
              <a:buChar char="•"/>
            </a:pPr>
            <a:r>
              <a:rPr lang="en-GB" sz="1700" b="0" dirty="0">
                <a:effectLst/>
              </a:rPr>
              <a:t>If the eigenvalues are all positive/negative, but with some zeros, the matrix is </a:t>
            </a:r>
            <a:r>
              <a:rPr lang="en-GB" sz="1700" b="1" dirty="0">
                <a:effectLst/>
              </a:rPr>
              <a:t>semidefinite</a:t>
            </a:r>
            <a:r>
              <a:rPr lang="en-GB" sz="1700" b="0" dirty="0">
                <a:effectLst/>
              </a:rPr>
              <a:t> and the point is plateau/ridge.</a:t>
            </a:r>
            <a:endParaRPr lang="en-GB" sz="1700" b="0" i="0" dirty="0">
              <a:effectLst/>
            </a:endParaRPr>
          </a:p>
          <a:p>
            <a:endParaRPr lang="en-US" sz="1700" dirty="0"/>
          </a:p>
        </p:txBody>
      </p:sp>
      <p:pic>
        <p:nvPicPr>
          <p:cNvPr id="5" name="Picture 4" descr="A black and white picture of a set of objects&#10;&#10;AI-generated content may be incorrect.">
            <a:extLst>
              <a:ext uri="{FF2B5EF4-FFF2-40B4-BE49-F238E27FC236}">
                <a16:creationId xmlns:a16="http://schemas.microsoft.com/office/drawing/2014/main" id="{1D482685-682D-FF9C-8DBB-5FF2F13BCD6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690134" y="1608667"/>
            <a:ext cx="4145731" cy="4568296"/>
          </a:xfrm>
          <a:prstGeom prst="rect">
            <a:avLst/>
          </a:prstGeom>
          <a:noFill/>
        </p:spPr>
      </p:pic>
      <p:sp>
        <p:nvSpPr>
          <p:cNvPr id="2" name="Title 1">
            <a:extLst>
              <a:ext uri="{FF2B5EF4-FFF2-40B4-BE49-F238E27FC236}">
                <a16:creationId xmlns:a16="http://schemas.microsoft.com/office/drawing/2014/main" id="{2A32FAEE-273D-C3A8-973A-83813A202023}"/>
              </a:ext>
            </a:extLst>
          </p:cNvPr>
          <p:cNvSpPr>
            <a:spLocks noGrp="1"/>
          </p:cNvSpPr>
          <p:nvPr>
            <p:ph type="title"/>
          </p:nvPr>
        </p:nvSpPr>
        <p:spPr>
          <a:xfrm>
            <a:off x="2549236" y="533614"/>
            <a:ext cx="9210963" cy="888786"/>
          </a:xfrm>
        </p:spPr>
        <p:txBody>
          <a:bodyPr anchor="t">
            <a:normAutofit/>
          </a:bodyPr>
          <a:lstStyle/>
          <a:p>
            <a:r>
              <a:rPr lang="en-US" sz="1800" dirty="0"/>
              <a:t>Eigenvalues of the Hessian &amp; types of critical points</a:t>
            </a:r>
            <a:br>
              <a:rPr lang="en-US" sz="1800" dirty="0"/>
            </a:br>
            <a:br>
              <a:rPr lang="en-US" sz="1800" dirty="0"/>
            </a:br>
            <a:endParaRPr lang="en-US" sz="1800" dirty="0"/>
          </a:p>
        </p:txBody>
      </p:sp>
    </p:spTree>
    <p:extLst>
      <p:ext uri="{BB962C8B-B14F-4D97-AF65-F5344CB8AC3E}">
        <p14:creationId xmlns:p14="http://schemas.microsoft.com/office/powerpoint/2010/main" val="244117031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5414D2-EA69-5574-AD88-A00F22CD1E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9A778B1-EF95-6D9B-D2FD-8948FB9FDEB5}"/>
              </a:ext>
            </a:extLst>
          </p:cNvPr>
          <p:cNvSpPr>
            <a:spLocks noGrp="1"/>
          </p:cNvSpPr>
          <p:nvPr>
            <p:ph type="title"/>
          </p:nvPr>
        </p:nvSpPr>
        <p:spPr/>
        <p:txBody>
          <a:bodyPr>
            <a:normAutofit/>
          </a:bodyPr>
          <a:lstStyle/>
          <a:p>
            <a:r>
              <a:rPr lang="en-GB" dirty="0"/>
              <a:t>Newton-Conjugate Gradient</a:t>
            </a:r>
            <a:endParaRPr lang="en-US" dirty="0"/>
          </a:p>
        </p:txBody>
      </p:sp>
      <p:sp>
        <p:nvSpPr>
          <p:cNvPr id="3" name="Content Placeholder 2">
            <a:extLst>
              <a:ext uri="{FF2B5EF4-FFF2-40B4-BE49-F238E27FC236}">
                <a16:creationId xmlns:a16="http://schemas.microsoft.com/office/drawing/2014/main" id="{0A095409-6E33-74DC-E86F-75A6BE86C390}"/>
              </a:ext>
            </a:extLst>
          </p:cNvPr>
          <p:cNvSpPr>
            <a:spLocks noGrp="1"/>
          </p:cNvSpPr>
          <p:nvPr>
            <p:ph sz="quarter" idx="13"/>
          </p:nvPr>
        </p:nvSpPr>
        <p:spPr/>
        <p:txBody>
          <a:bodyPr>
            <a:normAutofit fontScale="92500"/>
          </a:bodyPr>
          <a:lstStyle/>
          <a:p>
            <a:r>
              <a:rPr lang="en-GB" b="1" dirty="0"/>
              <a:t>Newton‘s Method</a:t>
            </a:r>
            <a:r>
              <a:rPr lang="en-US" altLang="zh-CN" b="1" dirty="0"/>
              <a:t>:</a:t>
            </a:r>
            <a:r>
              <a:rPr lang="zh-CN" altLang="en-US" b="1" dirty="0"/>
              <a:t> </a:t>
            </a:r>
            <a:r>
              <a:rPr lang="en-GB" dirty="0"/>
              <a:t>Uses second-order information (Hessian matrix) to account for curvature.</a:t>
            </a:r>
          </a:p>
          <a:p>
            <a:endParaRPr lang="en-GB" dirty="0"/>
          </a:p>
          <a:p>
            <a:endParaRPr lang="en-GB" dirty="0"/>
          </a:p>
          <a:p>
            <a:r>
              <a:rPr lang="en-GB" b="1" dirty="0"/>
              <a:t>Conjugate Gradient (CG):</a:t>
            </a:r>
          </a:p>
          <a:p>
            <a:pPr marL="0" indent="0">
              <a:buNone/>
            </a:pPr>
            <a:r>
              <a:rPr lang="en-GB" dirty="0"/>
              <a:t>	Efficiently solves linear systems involving the Hessian without direct inversion.</a:t>
            </a:r>
          </a:p>
          <a:p>
            <a:r>
              <a:rPr lang="en-GB" dirty="0"/>
              <a:t>Newton-CG typically converges faster than gradient descent because it uses second-order information (the Hessian), making it more effective, especially for problems with high curvature.</a:t>
            </a:r>
          </a:p>
          <a:p>
            <a:r>
              <a:rPr lang="en-US" dirty="0"/>
              <a:t>A full computation of the Hessian matrix (second-order derivatives) is both memory-intensive and computationally costly for large datasets.</a:t>
            </a:r>
            <a:r>
              <a:rPr lang="zh-CN" altLang="en-US" dirty="0"/>
              <a:t> </a:t>
            </a:r>
            <a:r>
              <a:rPr lang="en-GB" b="0" i="0" dirty="0">
                <a:effectLst/>
                <a:latin typeface="-apple-system"/>
              </a:rPr>
              <a:t>Evaluating the Hessian matrix requires </a:t>
            </a:r>
            <a:r>
              <a:rPr lang="en-GB" b="0" i="0" dirty="0">
                <a:effectLst/>
                <a:latin typeface="MJXc-TeX-math-I"/>
              </a:rPr>
              <a:t>d</a:t>
            </a:r>
            <a:r>
              <a:rPr lang="en-GB" b="0" i="0" baseline="30000" dirty="0">
                <a:effectLst/>
                <a:latin typeface="MJXc-TeX-main-R"/>
              </a:rPr>
              <a:t>2</a:t>
            </a:r>
            <a:r>
              <a:rPr lang="en-GB" b="0" i="0" dirty="0">
                <a:effectLst/>
                <a:latin typeface="-apple-system"/>
              </a:rPr>
              <a:t> computations, and </a:t>
            </a:r>
            <a:r>
              <a:rPr lang="en-GB" b="0" i="0" dirty="0">
                <a:effectLst/>
                <a:latin typeface="MJXc-TeX-math-I"/>
              </a:rPr>
              <a:t>d</a:t>
            </a:r>
            <a:r>
              <a:rPr lang="en-GB" b="0" i="0" baseline="30000" dirty="0">
                <a:effectLst/>
                <a:latin typeface="MJXc-TeX-main-R"/>
              </a:rPr>
              <a:t>2</a:t>
            </a:r>
            <a:r>
              <a:rPr lang="en-GB" b="0" i="0" dirty="0">
                <a:effectLst/>
                <a:latin typeface="-apple-system"/>
              </a:rPr>
              <a:t> storage.</a:t>
            </a:r>
            <a:endParaRPr lang="en-US" dirty="0"/>
          </a:p>
        </p:txBody>
      </p:sp>
      <p:pic>
        <p:nvPicPr>
          <p:cNvPr id="4" name="Picture 3">
            <a:extLst>
              <a:ext uri="{FF2B5EF4-FFF2-40B4-BE49-F238E27FC236}">
                <a16:creationId xmlns:a16="http://schemas.microsoft.com/office/drawing/2014/main" id="{27287375-D06D-3EAF-7504-1528A1A4ACDF}"/>
              </a:ext>
            </a:extLst>
          </p:cNvPr>
          <p:cNvPicPr>
            <a:picLocks noChangeAspect="1"/>
          </p:cNvPicPr>
          <p:nvPr/>
        </p:nvPicPr>
        <p:blipFill>
          <a:blip r:embed="rId2"/>
          <a:stretch>
            <a:fillRect/>
          </a:stretch>
        </p:blipFill>
        <p:spPr>
          <a:xfrm>
            <a:off x="4076919" y="2340303"/>
            <a:ext cx="3697572" cy="749738"/>
          </a:xfrm>
          <a:prstGeom prst="rect">
            <a:avLst/>
          </a:prstGeom>
        </p:spPr>
      </p:pic>
    </p:spTree>
    <p:extLst>
      <p:ext uri="{BB962C8B-B14F-4D97-AF65-F5344CB8AC3E}">
        <p14:creationId xmlns:p14="http://schemas.microsoft.com/office/powerpoint/2010/main" val="310217880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025ECB-4C0C-739F-60D7-8EA05C9E0ADA}"/>
              </a:ext>
            </a:extLst>
          </p:cNvPr>
          <p:cNvSpPr>
            <a:spLocks noGrp="1"/>
          </p:cNvSpPr>
          <p:nvPr>
            <p:ph type="title"/>
          </p:nvPr>
        </p:nvSpPr>
        <p:spPr/>
        <p:txBody>
          <a:bodyPr/>
          <a:lstStyle/>
          <a:p>
            <a:r>
              <a:rPr lang="en-US" dirty="0"/>
              <a:t>Why </a:t>
            </a:r>
            <a:r>
              <a:rPr lang="en-GB" dirty="0"/>
              <a:t>Newton-CG</a:t>
            </a:r>
            <a:r>
              <a:rPr lang="zh-CN" altLang="en-US" dirty="0"/>
              <a:t> </a:t>
            </a:r>
            <a:r>
              <a:rPr lang="en-GB" dirty="0"/>
              <a:t>converges faster</a:t>
            </a:r>
            <a:r>
              <a:rPr lang="en-US" dirty="0"/>
              <a:t>?</a:t>
            </a:r>
            <a:br>
              <a:rPr lang="en-US" dirty="0"/>
            </a:br>
            <a:endParaRPr lang="en-US" dirty="0"/>
          </a:p>
        </p:txBody>
      </p:sp>
      <p:sp>
        <p:nvSpPr>
          <p:cNvPr id="3" name="Content Placeholder 2">
            <a:extLst>
              <a:ext uri="{FF2B5EF4-FFF2-40B4-BE49-F238E27FC236}">
                <a16:creationId xmlns:a16="http://schemas.microsoft.com/office/drawing/2014/main" id="{28E181C8-367D-A2A1-F07A-FD26DCB67577}"/>
              </a:ext>
            </a:extLst>
          </p:cNvPr>
          <p:cNvSpPr>
            <a:spLocks noGrp="1"/>
          </p:cNvSpPr>
          <p:nvPr>
            <p:ph sz="quarter" idx="13"/>
          </p:nvPr>
        </p:nvSpPr>
        <p:spPr>
          <a:xfrm>
            <a:off x="285750" y="1627188"/>
            <a:ext cx="5890940" cy="4606925"/>
          </a:xfrm>
        </p:spPr>
        <p:txBody>
          <a:bodyPr/>
          <a:lstStyle/>
          <a:p>
            <a:r>
              <a:rPr lang="en-US" altLang="zh-CN" dirty="0"/>
              <a:t>A</a:t>
            </a:r>
            <a:r>
              <a:rPr lang="en-GB" dirty="0" err="1"/>
              <a:t>djust</a:t>
            </a:r>
            <a:r>
              <a:rPr lang="en-GB" dirty="0"/>
              <a:t> the step size and direction more accurately</a:t>
            </a:r>
          </a:p>
          <a:p>
            <a:r>
              <a:rPr lang="en-GB" dirty="0"/>
              <a:t>Near a local minimum, Newton‘s method converges quadratically—meaning the error decreases</a:t>
            </a:r>
            <a:r>
              <a:rPr lang="zh-CN" altLang="en-US" dirty="0"/>
              <a:t> </a:t>
            </a:r>
            <a:r>
              <a:rPr lang="en-GB" dirty="0"/>
              <a:t>exponentially with each iteration, requiring fewer steps to achieve a highly accurate solution.</a:t>
            </a:r>
          </a:p>
          <a:p>
            <a:pPr marL="0" indent="0">
              <a:buNone/>
            </a:pPr>
            <a:endParaRPr lang="en-US" dirty="0"/>
          </a:p>
        </p:txBody>
      </p:sp>
      <p:pic>
        <p:nvPicPr>
          <p:cNvPr id="3074" name="Picture 2">
            <a:extLst>
              <a:ext uri="{FF2B5EF4-FFF2-40B4-BE49-F238E27FC236}">
                <a16:creationId xmlns:a16="http://schemas.microsoft.com/office/drawing/2014/main" id="{0DB6FAA9-DE05-6343-3DDF-4F0F9DF17FB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76690" y="2025066"/>
            <a:ext cx="5458262" cy="3811167"/>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024AECFB-DBC0-C2F4-61B4-87846E95DE68}"/>
              </a:ext>
            </a:extLst>
          </p:cNvPr>
          <p:cNvSpPr txBox="1"/>
          <p:nvPr/>
        </p:nvSpPr>
        <p:spPr>
          <a:xfrm>
            <a:off x="4939862" y="5955054"/>
            <a:ext cx="6096000" cy="369332"/>
          </a:xfrm>
          <a:prstGeom prst="rect">
            <a:avLst/>
          </a:prstGeom>
          <a:noFill/>
        </p:spPr>
        <p:txBody>
          <a:bodyPr wrap="square">
            <a:spAutoFit/>
          </a:bodyPr>
          <a:lstStyle/>
          <a:p>
            <a:r>
              <a:rPr lang="en-US" altLang="zh-CN" dirty="0"/>
              <a:t>See:</a:t>
            </a:r>
            <a:r>
              <a:rPr lang="zh-CN" altLang="en-US" dirty="0"/>
              <a:t> </a:t>
            </a:r>
            <a:r>
              <a:rPr lang="en-US" dirty="0">
                <a:hlinkClick r:id="rId3"/>
              </a:rPr>
              <a:t>IDSS - </a:t>
            </a:r>
            <a:r>
              <a:rPr lang="en-US" dirty="0" err="1">
                <a:hlinkClick r:id="rId3"/>
              </a:rPr>
              <a:t>optimisation</a:t>
            </a:r>
            <a:r>
              <a:rPr lang="en-US" dirty="0">
                <a:hlinkClick r:id="rId3"/>
              </a:rPr>
              <a:t> III - lecture </a:t>
            </a:r>
            <a:r>
              <a:rPr lang="en-US" dirty="0" err="1">
                <a:hlinkClick r:id="rId3"/>
              </a:rPr>
              <a:t>codes.ipynb</a:t>
            </a:r>
            <a:endParaRPr lang="en-US" dirty="0"/>
          </a:p>
        </p:txBody>
      </p:sp>
    </p:spTree>
    <p:extLst>
      <p:ext uri="{BB962C8B-B14F-4D97-AF65-F5344CB8AC3E}">
        <p14:creationId xmlns:p14="http://schemas.microsoft.com/office/powerpoint/2010/main" val="331255823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0498B5-F3B5-10FE-3559-6CD295B9DBC8}"/>
              </a:ext>
            </a:extLst>
          </p:cNvPr>
          <p:cNvSpPr>
            <a:spLocks noGrp="1"/>
          </p:cNvSpPr>
          <p:nvPr>
            <p:ph type="title"/>
          </p:nvPr>
        </p:nvSpPr>
        <p:spPr/>
        <p:txBody>
          <a:bodyPr>
            <a:normAutofit/>
          </a:bodyPr>
          <a:lstStyle/>
          <a:p>
            <a:r>
              <a:rPr lang="en-GB" b="1" i="0" dirty="0">
                <a:effectLst/>
                <a:latin typeface="-apple-system"/>
              </a:rPr>
              <a:t>Use the right algorithm</a:t>
            </a:r>
            <a:br>
              <a:rPr lang="en-GB" b="1" i="0" dirty="0">
                <a:effectLst/>
                <a:latin typeface="-apple-system"/>
              </a:rPr>
            </a:br>
            <a:endParaRPr lang="en-US" dirty="0"/>
          </a:p>
        </p:txBody>
      </p:sp>
      <p:sp>
        <p:nvSpPr>
          <p:cNvPr id="3" name="Content Placeholder 2">
            <a:extLst>
              <a:ext uri="{FF2B5EF4-FFF2-40B4-BE49-F238E27FC236}">
                <a16:creationId xmlns:a16="http://schemas.microsoft.com/office/drawing/2014/main" id="{19F7F86C-CDBD-C820-A4F9-571056172904}"/>
              </a:ext>
            </a:extLst>
          </p:cNvPr>
          <p:cNvSpPr>
            <a:spLocks noGrp="1"/>
          </p:cNvSpPr>
          <p:nvPr>
            <p:ph sz="quarter" idx="13"/>
          </p:nvPr>
        </p:nvSpPr>
        <p:spPr/>
        <p:txBody>
          <a:bodyPr/>
          <a:lstStyle/>
          <a:p>
            <a:pPr algn="l">
              <a:buFont typeface="Arial" panose="020B0604020202020204" pitchFamily="34" charset="0"/>
              <a:buChar char="•"/>
            </a:pPr>
            <a:r>
              <a:rPr lang="en-GB" b="0" i="0" dirty="0">
                <a:effectLst/>
                <a:latin typeface="-apple-system"/>
              </a:rPr>
              <a:t>If you know the problem is </a:t>
            </a:r>
            <a:r>
              <a:rPr lang="en-GB" b="1" i="0" dirty="0">
                <a:effectLst/>
                <a:latin typeface="-apple-system"/>
              </a:rPr>
              <a:t>least-squares</a:t>
            </a:r>
            <a:r>
              <a:rPr lang="en-GB" b="0" i="0" dirty="0">
                <a:effectLst/>
                <a:latin typeface="-apple-system"/>
              </a:rPr>
              <a:t> use a specialised least-squares solver. You might be able to solve directly, for example with the pseudo-inverse.</a:t>
            </a:r>
          </a:p>
          <a:p>
            <a:pPr algn="l">
              <a:buFont typeface="Arial" panose="020B0604020202020204" pitchFamily="34" charset="0"/>
              <a:buChar char="•"/>
            </a:pPr>
            <a:r>
              <a:rPr lang="en-GB" b="0" i="0" dirty="0">
                <a:effectLst/>
                <a:latin typeface="-apple-system"/>
              </a:rPr>
              <a:t>If you know the problem is </a:t>
            </a:r>
            <a:r>
              <a:rPr lang="en-GB" b="1" i="0" dirty="0">
                <a:effectLst/>
                <a:latin typeface="-apple-system"/>
              </a:rPr>
              <a:t>convex</a:t>
            </a:r>
            <a:r>
              <a:rPr lang="en-GB" b="0" i="0" dirty="0">
                <a:effectLst/>
                <a:latin typeface="-apple-system"/>
              </a:rPr>
              <a:t>, use a convex solver. This is radically more efficient than any other choice if its applicable.</a:t>
            </a:r>
          </a:p>
          <a:p>
            <a:pPr algn="l">
              <a:buFont typeface="Arial" panose="020B0604020202020204" pitchFamily="34" charset="0"/>
              <a:buChar char="•"/>
            </a:pPr>
            <a:r>
              <a:rPr lang="en-GB" b="0" i="0" dirty="0">
                <a:effectLst/>
                <a:latin typeface="-apple-system"/>
              </a:rPr>
              <a:t>If you know the derivatives of the objective function, or can compute them using automatic differentiation, use a </a:t>
            </a:r>
            <a:r>
              <a:rPr lang="en-GB" b="1" i="0" dirty="0">
                <a:effectLst/>
                <a:latin typeface="-apple-system"/>
              </a:rPr>
              <a:t>first-order</a:t>
            </a:r>
            <a:r>
              <a:rPr lang="en-GB" b="0" i="0" dirty="0">
                <a:effectLst/>
                <a:latin typeface="-apple-system"/>
              </a:rPr>
              <a:t> method (or second order, if you can)</a:t>
            </a:r>
          </a:p>
          <a:p>
            <a:pPr algn="l">
              <a:buFont typeface="Arial" panose="020B0604020202020204" pitchFamily="34" charset="0"/>
              <a:buChar char="•"/>
            </a:pPr>
            <a:r>
              <a:rPr lang="en-GB" b="0" i="0" dirty="0">
                <a:effectLst/>
                <a:latin typeface="-apple-system"/>
              </a:rPr>
              <a:t>If you don't know any of these things, use a general purpose </a:t>
            </a:r>
            <a:r>
              <a:rPr lang="en-GB" b="1" i="0" dirty="0">
                <a:effectLst/>
                <a:latin typeface="-apple-system"/>
              </a:rPr>
              <a:t>zeroth-order</a:t>
            </a:r>
            <a:r>
              <a:rPr lang="en-GB" b="0" i="0" dirty="0">
                <a:effectLst/>
                <a:latin typeface="-apple-system"/>
              </a:rPr>
              <a:t> solver like </a:t>
            </a:r>
            <a:r>
              <a:rPr lang="en-GB" b="1" i="0" dirty="0">
                <a:effectLst/>
                <a:latin typeface="-apple-system"/>
              </a:rPr>
              <a:t>simulated annealing</a:t>
            </a:r>
            <a:r>
              <a:rPr lang="en-GB" b="0" i="0" dirty="0">
                <a:effectLst/>
                <a:latin typeface="-apple-system"/>
              </a:rPr>
              <a:t> or a </a:t>
            </a:r>
            <a:r>
              <a:rPr lang="en-GB" b="1" i="0" dirty="0">
                <a:effectLst/>
                <a:latin typeface="-apple-system"/>
              </a:rPr>
              <a:t>genetic </a:t>
            </a:r>
            <a:r>
              <a:rPr lang="en-GB" b="1" i="0">
                <a:effectLst/>
                <a:latin typeface="-apple-system"/>
              </a:rPr>
              <a:t>algorithm</a:t>
            </a:r>
            <a:r>
              <a:rPr lang="en-GB" b="0" i="0">
                <a:effectLst/>
                <a:latin typeface="-apple-system"/>
              </a:rPr>
              <a:t>.</a:t>
            </a:r>
            <a:br>
              <a:rPr lang="en-GB" dirty="0"/>
            </a:br>
            <a:endParaRPr lang="en-US" dirty="0"/>
          </a:p>
        </p:txBody>
      </p:sp>
      <p:sp>
        <p:nvSpPr>
          <p:cNvPr id="4" name="TextBox 3">
            <a:extLst>
              <a:ext uri="{FF2B5EF4-FFF2-40B4-BE49-F238E27FC236}">
                <a16:creationId xmlns:a16="http://schemas.microsoft.com/office/drawing/2014/main" id="{1E3D3B73-7107-9312-9A25-378ECF08C8F8}"/>
              </a:ext>
            </a:extLst>
          </p:cNvPr>
          <p:cNvSpPr txBox="1"/>
          <p:nvPr/>
        </p:nvSpPr>
        <p:spPr>
          <a:xfrm>
            <a:off x="6854562" y="6490177"/>
            <a:ext cx="184731" cy="369332"/>
          </a:xfrm>
          <a:prstGeom prst="rect">
            <a:avLst/>
          </a:prstGeom>
          <a:noFill/>
        </p:spPr>
        <p:txBody>
          <a:bodyPr wrap="none" rtlCol="0">
            <a:spAutoFit/>
          </a:bodyPr>
          <a:lstStyle/>
          <a:p>
            <a:endParaRPr lang="en-US" dirty="0"/>
          </a:p>
        </p:txBody>
      </p:sp>
    </p:spTree>
    <p:extLst>
      <p:ext uri="{BB962C8B-B14F-4D97-AF65-F5344CB8AC3E}">
        <p14:creationId xmlns:p14="http://schemas.microsoft.com/office/powerpoint/2010/main" val="178436686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0498B5-F3B5-10FE-3559-6CD295B9DBC8}"/>
              </a:ext>
            </a:extLst>
          </p:cNvPr>
          <p:cNvSpPr>
            <a:spLocks noGrp="1"/>
          </p:cNvSpPr>
          <p:nvPr>
            <p:ph type="title"/>
          </p:nvPr>
        </p:nvSpPr>
        <p:spPr/>
        <p:txBody>
          <a:bodyPr>
            <a:normAutofit/>
          </a:bodyPr>
          <a:lstStyle/>
          <a:p>
            <a:r>
              <a:rPr lang="en-GB" b="1" i="0" dirty="0">
                <a:effectLst/>
                <a:latin typeface="-apple-system"/>
              </a:rPr>
              <a:t>Use the right algorithm</a:t>
            </a:r>
            <a:br>
              <a:rPr lang="en-GB" b="1" i="0" dirty="0">
                <a:effectLst/>
                <a:latin typeface="-apple-system"/>
              </a:rPr>
            </a:br>
            <a:endParaRPr lang="en-US" dirty="0"/>
          </a:p>
        </p:txBody>
      </p:sp>
      <p:sp>
        <p:nvSpPr>
          <p:cNvPr id="3" name="Content Placeholder 2">
            <a:extLst>
              <a:ext uri="{FF2B5EF4-FFF2-40B4-BE49-F238E27FC236}">
                <a16:creationId xmlns:a16="http://schemas.microsoft.com/office/drawing/2014/main" id="{19F7F86C-CDBD-C820-A4F9-571056172904}"/>
              </a:ext>
            </a:extLst>
          </p:cNvPr>
          <p:cNvSpPr>
            <a:spLocks noGrp="1"/>
          </p:cNvSpPr>
          <p:nvPr>
            <p:ph sz="quarter" idx="13"/>
          </p:nvPr>
        </p:nvSpPr>
        <p:spPr/>
        <p:txBody>
          <a:bodyPr/>
          <a:lstStyle/>
          <a:p>
            <a:pPr algn="l">
              <a:buFont typeface="Arial" panose="020B0604020202020204" pitchFamily="34" charset="0"/>
              <a:buChar char="•"/>
            </a:pPr>
            <a:r>
              <a:rPr lang="en-GB" b="0" i="0" dirty="0">
                <a:effectLst/>
                <a:latin typeface="-apple-system"/>
              </a:rPr>
              <a:t>If you know the problem is </a:t>
            </a:r>
            <a:r>
              <a:rPr lang="en-GB" b="1" i="0" dirty="0">
                <a:effectLst/>
                <a:latin typeface="-apple-system"/>
              </a:rPr>
              <a:t>least-squares</a:t>
            </a:r>
            <a:r>
              <a:rPr lang="en-GB" b="0" i="0" dirty="0">
                <a:effectLst/>
                <a:latin typeface="-apple-system"/>
              </a:rPr>
              <a:t> use a specialised least-squares solver. You might be able to solve directly, for example with the pseudo-inverse.</a:t>
            </a:r>
          </a:p>
          <a:p>
            <a:pPr algn="l">
              <a:buFont typeface="Arial" panose="020B0604020202020204" pitchFamily="34" charset="0"/>
              <a:buChar char="•"/>
            </a:pPr>
            <a:r>
              <a:rPr lang="en-GB" b="0" i="0" dirty="0">
                <a:effectLst/>
                <a:latin typeface="-apple-system"/>
              </a:rPr>
              <a:t>If you know the problem is </a:t>
            </a:r>
            <a:r>
              <a:rPr lang="en-GB" b="1" i="0" dirty="0">
                <a:effectLst/>
                <a:latin typeface="-apple-system"/>
              </a:rPr>
              <a:t>convex</a:t>
            </a:r>
            <a:r>
              <a:rPr lang="en-GB" b="0" i="0" dirty="0">
                <a:effectLst/>
                <a:latin typeface="-apple-system"/>
              </a:rPr>
              <a:t>, use a convex solver. This is radically more efficient than any other choice if its applicable.</a:t>
            </a:r>
          </a:p>
          <a:p>
            <a:pPr algn="l">
              <a:buFont typeface="Arial" panose="020B0604020202020204" pitchFamily="34" charset="0"/>
              <a:buChar char="•"/>
            </a:pPr>
            <a:r>
              <a:rPr lang="en-GB" b="0" i="0" dirty="0">
                <a:effectLst/>
                <a:latin typeface="-apple-system"/>
              </a:rPr>
              <a:t>If you know the derivatives of the objective function, or can compute them using automatic differentiation, use a </a:t>
            </a:r>
            <a:r>
              <a:rPr lang="en-GB" b="1" i="0" dirty="0">
                <a:effectLst/>
                <a:latin typeface="-apple-system"/>
              </a:rPr>
              <a:t>first-order</a:t>
            </a:r>
            <a:r>
              <a:rPr lang="en-GB" b="0" i="0" dirty="0">
                <a:effectLst/>
                <a:latin typeface="-apple-system"/>
              </a:rPr>
              <a:t> method (or second order, if you can)</a:t>
            </a:r>
          </a:p>
          <a:p>
            <a:pPr algn="l">
              <a:buFont typeface="Arial" panose="020B0604020202020204" pitchFamily="34" charset="0"/>
              <a:buChar char="•"/>
            </a:pPr>
            <a:r>
              <a:rPr lang="en-GB" b="0" i="0" dirty="0">
                <a:effectLst/>
                <a:latin typeface="-apple-system"/>
              </a:rPr>
              <a:t>If you don't know any of these things, use a general-purpose </a:t>
            </a:r>
            <a:r>
              <a:rPr lang="en-GB" b="1" i="0" dirty="0">
                <a:effectLst/>
                <a:latin typeface="-apple-system"/>
              </a:rPr>
              <a:t>zeroth-order</a:t>
            </a:r>
            <a:r>
              <a:rPr lang="en-GB" b="0" i="0" dirty="0">
                <a:effectLst/>
                <a:latin typeface="-apple-system"/>
              </a:rPr>
              <a:t> solver like </a:t>
            </a:r>
            <a:r>
              <a:rPr lang="en-GB" b="1" i="0" dirty="0">
                <a:effectLst/>
                <a:latin typeface="-apple-system"/>
              </a:rPr>
              <a:t>simulated annealing</a:t>
            </a:r>
            <a:r>
              <a:rPr lang="en-GB" b="0" i="0" dirty="0">
                <a:effectLst/>
                <a:latin typeface="-apple-system"/>
              </a:rPr>
              <a:t> or a </a:t>
            </a:r>
            <a:r>
              <a:rPr lang="en-GB" b="1" i="0" dirty="0">
                <a:effectLst/>
                <a:latin typeface="-apple-system"/>
              </a:rPr>
              <a:t>genetic algorithm</a:t>
            </a:r>
            <a:r>
              <a:rPr lang="en-GB" b="0" i="0" dirty="0">
                <a:effectLst/>
                <a:latin typeface="-apple-system"/>
              </a:rPr>
              <a:t>.</a:t>
            </a:r>
            <a:br>
              <a:rPr lang="en-GB" dirty="0"/>
            </a:br>
            <a:endParaRPr lang="en-US" dirty="0"/>
          </a:p>
        </p:txBody>
      </p:sp>
      <p:sp>
        <p:nvSpPr>
          <p:cNvPr id="4" name="TextBox 3">
            <a:extLst>
              <a:ext uri="{FF2B5EF4-FFF2-40B4-BE49-F238E27FC236}">
                <a16:creationId xmlns:a16="http://schemas.microsoft.com/office/drawing/2014/main" id="{1E3D3B73-7107-9312-9A25-378ECF08C8F8}"/>
              </a:ext>
            </a:extLst>
          </p:cNvPr>
          <p:cNvSpPr txBox="1"/>
          <p:nvPr/>
        </p:nvSpPr>
        <p:spPr>
          <a:xfrm>
            <a:off x="6854562" y="6490177"/>
            <a:ext cx="184731" cy="369332"/>
          </a:xfrm>
          <a:prstGeom prst="rect">
            <a:avLst/>
          </a:prstGeom>
          <a:noFill/>
        </p:spPr>
        <p:txBody>
          <a:bodyPr wrap="none" rtlCol="0">
            <a:spAutoFit/>
          </a:bodyPr>
          <a:lstStyle/>
          <a:p>
            <a:endParaRPr lang="en-US" dirty="0"/>
          </a:p>
        </p:txBody>
      </p:sp>
    </p:spTree>
    <p:extLst>
      <p:ext uri="{BB962C8B-B14F-4D97-AF65-F5344CB8AC3E}">
        <p14:creationId xmlns:p14="http://schemas.microsoft.com/office/powerpoint/2010/main" val="63797435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The University at sunset">
            <a:extLst>
              <a:ext uri="{FF2B5EF4-FFF2-40B4-BE49-F238E27FC236}">
                <a16:creationId xmlns:a16="http://schemas.microsoft.com/office/drawing/2014/main" id="{11FDCD37-95D4-D94F-8143-5384ADC6A6CB}"/>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7175F20C-468E-F742-9149-B8A5FEBC2911}"/>
              </a:ext>
            </a:extLst>
          </p:cNvPr>
          <p:cNvSpPr>
            <a:spLocks noGrp="1"/>
          </p:cNvSpPr>
          <p:nvPr>
            <p:ph type="title" idx="4294967295"/>
          </p:nvPr>
        </p:nvSpPr>
        <p:spPr>
          <a:xfrm>
            <a:off x="645886" y="1889351"/>
            <a:ext cx="8940566" cy="1931535"/>
          </a:xfrm>
        </p:spPr>
        <p:txBody>
          <a:bodyPr>
            <a:noAutofit/>
          </a:bodyPr>
          <a:lstStyle/>
          <a:p>
            <a:pPr algn="l"/>
            <a:r>
              <a:rPr lang="en-US" altLang="zh-CN" dirty="0">
                <a:solidFill>
                  <a:schemeClr val="bg1"/>
                </a:solidFill>
              </a:rPr>
              <a:t>Thank</a:t>
            </a:r>
            <a:r>
              <a:rPr lang="zh-CN" altLang="en-US" dirty="0">
                <a:solidFill>
                  <a:schemeClr val="bg1"/>
                </a:solidFill>
              </a:rPr>
              <a:t> </a:t>
            </a:r>
            <a:r>
              <a:rPr lang="en-US" altLang="zh-CN" dirty="0">
                <a:solidFill>
                  <a:schemeClr val="bg1"/>
                </a:solidFill>
              </a:rPr>
              <a:t>you</a:t>
            </a:r>
            <a:r>
              <a:rPr lang="zh-CN" altLang="en-US" dirty="0">
                <a:solidFill>
                  <a:schemeClr val="bg1"/>
                </a:solidFill>
              </a:rPr>
              <a:t> </a:t>
            </a:r>
            <a:r>
              <a:rPr lang="en-US" altLang="zh-CN" dirty="0">
                <a:solidFill>
                  <a:schemeClr val="bg1"/>
                </a:solidFill>
              </a:rPr>
              <a:t>for</a:t>
            </a:r>
            <a:r>
              <a:rPr lang="zh-CN" altLang="en-US" dirty="0">
                <a:solidFill>
                  <a:schemeClr val="bg1"/>
                </a:solidFill>
              </a:rPr>
              <a:t> </a:t>
            </a:r>
            <a:r>
              <a:rPr lang="en-US" altLang="zh-CN" dirty="0">
                <a:solidFill>
                  <a:schemeClr val="bg1"/>
                </a:solidFill>
              </a:rPr>
              <a:t>you</a:t>
            </a:r>
            <a:r>
              <a:rPr lang="zh-CN" altLang="en-US" dirty="0">
                <a:solidFill>
                  <a:schemeClr val="bg1"/>
                </a:solidFill>
              </a:rPr>
              <a:t> </a:t>
            </a:r>
            <a:r>
              <a:rPr lang="en-US" altLang="zh-CN" dirty="0">
                <a:solidFill>
                  <a:schemeClr val="bg1"/>
                </a:solidFill>
              </a:rPr>
              <a:t>attention!</a:t>
            </a:r>
            <a:br>
              <a:rPr lang="en-US" altLang="zh-CN" dirty="0">
                <a:solidFill>
                  <a:schemeClr val="bg1"/>
                </a:solidFill>
              </a:rPr>
            </a:br>
            <a:br>
              <a:rPr lang="en-US" altLang="zh-CN" dirty="0">
                <a:solidFill>
                  <a:schemeClr val="bg1"/>
                </a:solidFill>
              </a:rPr>
            </a:br>
            <a:r>
              <a:rPr lang="en-US" altLang="zh-CN" dirty="0">
                <a:solidFill>
                  <a:schemeClr val="bg1"/>
                </a:solidFill>
              </a:rPr>
              <a:t>Contact:</a:t>
            </a:r>
            <a:r>
              <a:rPr lang="zh-CN" altLang="en-US" dirty="0">
                <a:solidFill>
                  <a:schemeClr val="bg1"/>
                </a:solidFill>
              </a:rPr>
              <a:t> </a:t>
            </a:r>
            <a:r>
              <a:rPr lang="en-US" altLang="zh-CN" dirty="0">
                <a:solidFill>
                  <a:schemeClr val="bg1"/>
                </a:solidFill>
              </a:rPr>
              <a:t>Nicolas.Pugeault@Glasgow.ac.uk</a:t>
            </a:r>
            <a:endParaRPr lang="en-US" dirty="0">
              <a:solidFill>
                <a:schemeClr val="bg1"/>
              </a:solidFill>
            </a:endParaRPr>
          </a:p>
        </p:txBody>
      </p:sp>
    </p:spTree>
    <p:extLst>
      <p:ext uri="{BB962C8B-B14F-4D97-AF65-F5344CB8AC3E}">
        <p14:creationId xmlns:p14="http://schemas.microsoft.com/office/powerpoint/2010/main" val="57849668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143C27-4282-0924-C149-BCAE735B5911}"/>
              </a:ext>
            </a:extLst>
          </p:cNvPr>
          <p:cNvSpPr>
            <a:spLocks noGrp="1"/>
          </p:cNvSpPr>
          <p:nvPr>
            <p:ph type="ctrTitle"/>
          </p:nvPr>
        </p:nvSpPr>
        <p:spPr/>
        <p:txBody>
          <a:bodyPr/>
          <a:lstStyle/>
          <a:p>
            <a:r>
              <a:rPr lang="en-GB" dirty="0"/>
              <a:t>Example Optimisation exam question</a:t>
            </a:r>
          </a:p>
        </p:txBody>
      </p:sp>
      <p:sp>
        <p:nvSpPr>
          <p:cNvPr id="3" name="Subtitle 2">
            <a:extLst>
              <a:ext uri="{FF2B5EF4-FFF2-40B4-BE49-F238E27FC236}">
                <a16:creationId xmlns:a16="http://schemas.microsoft.com/office/drawing/2014/main" id="{74069DAF-7B12-98AF-A3C9-232068D18958}"/>
              </a:ext>
            </a:extLst>
          </p:cNvPr>
          <p:cNvSpPr>
            <a:spLocks noGrp="1"/>
          </p:cNvSpPr>
          <p:nvPr>
            <p:ph type="subTitle" idx="1"/>
          </p:nvPr>
        </p:nvSpPr>
        <p:spPr/>
        <p:txBody>
          <a:bodyPr/>
          <a:lstStyle/>
          <a:p>
            <a:r>
              <a:rPr lang="en-GB" dirty="0"/>
              <a:t>December 2023 Exam paper</a:t>
            </a:r>
          </a:p>
          <a:p>
            <a:endParaRPr lang="en-GB" dirty="0"/>
          </a:p>
        </p:txBody>
      </p:sp>
    </p:spTree>
    <p:extLst>
      <p:ext uri="{BB962C8B-B14F-4D97-AF65-F5344CB8AC3E}">
        <p14:creationId xmlns:p14="http://schemas.microsoft.com/office/powerpoint/2010/main" val="157453059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8E7ADE3-EF7F-570B-3C3F-F7A160AC080A}"/>
              </a:ext>
            </a:extLst>
          </p:cNvPr>
          <p:cNvPicPr>
            <a:picLocks noChangeAspect="1"/>
          </p:cNvPicPr>
          <p:nvPr/>
        </p:nvPicPr>
        <p:blipFill>
          <a:blip r:embed="rId2"/>
          <a:stretch>
            <a:fillRect/>
          </a:stretch>
        </p:blipFill>
        <p:spPr>
          <a:xfrm>
            <a:off x="1752568" y="461941"/>
            <a:ext cx="8686864" cy="5934118"/>
          </a:xfrm>
          <a:prstGeom prst="rect">
            <a:avLst/>
          </a:prstGeom>
        </p:spPr>
      </p:pic>
    </p:spTree>
    <p:extLst>
      <p:ext uri="{BB962C8B-B14F-4D97-AF65-F5344CB8AC3E}">
        <p14:creationId xmlns:p14="http://schemas.microsoft.com/office/powerpoint/2010/main" val="379607835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8538BBA-A9A4-5D81-659A-029FD89C72D6}"/>
              </a:ext>
            </a:extLst>
          </p:cNvPr>
          <p:cNvPicPr>
            <a:picLocks noChangeAspect="1"/>
          </p:cNvPicPr>
          <p:nvPr/>
        </p:nvPicPr>
        <p:blipFill>
          <a:blip r:embed="rId2"/>
          <a:stretch>
            <a:fillRect/>
          </a:stretch>
        </p:blipFill>
        <p:spPr>
          <a:xfrm>
            <a:off x="1543800" y="3796951"/>
            <a:ext cx="8324911" cy="2771795"/>
          </a:xfrm>
          <a:prstGeom prst="rect">
            <a:avLst/>
          </a:prstGeom>
        </p:spPr>
      </p:pic>
      <p:pic>
        <p:nvPicPr>
          <p:cNvPr id="4" name="Picture 3">
            <a:extLst>
              <a:ext uri="{FF2B5EF4-FFF2-40B4-BE49-F238E27FC236}">
                <a16:creationId xmlns:a16="http://schemas.microsoft.com/office/drawing/2014/main" id="{3F185861-2BA3-E589-80C0-7A94F4722092}"/>
              </a:ext>
            </a:extLst>
          </p:cNvPr>
          <p:cNvPicPr>
            <a:picLocks noChangeAspect="1"/>
          </p:cNvPicPr>
          <p:nvPr/>
        </p:nvPicPr>
        <p:blipFill>
          <a:blip r:embed="rId3"/>
          <a:srcRect l="8557" t="6615" r="38640" b="40843"/>
          <a:stretch>
            <a:fillRect/>
          </a:stretch>
        </p:blipFill>
        <p:spPr>
          <a:xfrm>
            <a:off x="3412760" y="382249"/>
            <a:ext cx="4586990" cy="3117954"/>
          </a:xfrm>
          <a:prstGeom prst="rect">
            <a:avLst/>
          </a:prstGeom>
        </p:spPr>
      </p:pic>
    </p:spTree>
    <p:extLst>
      <p:ext uri="{BB962C8B-B14F-4D97-AF65-F5344CB8AC3E}">
        <p14:creationId xmlns:p14="http://schemas.microsoft.com/office/powerpoint/2010/main" val="343715745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B4F056B-28FF-4155-59B2-D2598AB27AAA}"/>
              </a:ext>
            </a:extLst>
          </p:cNvPr>
          <p:cNvPicPr>
            <a:picLocks noChangeAspect="1"/>
          </p:cNvPicPr>
          <p:nvPr/>
        </p:nvPicPr>
        <p:blipFill>
          <a:blip r:embed="rId2"/>
          <a:stretch>
            <a:fillRect/>
          </a:stretch>
        </p:blipFill>
        <p:spPr>
          <a:xfrm>
            <a:off x="1835328" y="4717680"/>
            <a:ext cx="8191560" cy="1200159"/>
          </a:xfrm>
          <a:prstGeom prst="rect">
            <a:avLst/>
          </a:prstGeom>
        </p:spPr>
      </p:pic>
      <p:pic>
        <p:nvPicPr>
          <p:cNvPr id="4" name="Picture 3">
            <a:extLst>
              <a:ext uri="{FF2B5EF4-FFF2-40B4-BE49-F238E27FC236}">
                <a16:creationId xmlns:a16="http://schemas.microsoft.com/office/drawing/2014/main" id="{04DCF0B7-0CC5-D3E7-0A38-DCA5FA7152B5}"/>
              </a:ext>
            </a:extLst>
          </p:cNvPr>
          <p:cNvPicPr>
            <a:picLocks noChangeAspect="1"/>
          </p:cNvPicPr>
          <p:nvPr/>
        </p:nvPicPr>
        <p:blipFill>
          <a:blip r:embed="rId3"/>
          <a:srcRect l="8557" t="6615" r="38640" b="40843"/>
          <a:stretch>
            <a:fillRect/>
          </a:stretch>
        </p:blipFill>
        <p:spPr>
          <a:xfrm>
            <a:off x="3427750" y="727023"/>
            <a:ext cx="4586990" cy="3117954"/>
          </a:xfrm>
          <a:prstGeom prst="rect">
            <a:avLst/>
          </a:prstGeom>
        </p:spPr>
      </p:pic>
    </p:spTree>
    <p:extLst>
      <p:ext uri="{BB962C8B-B14F-4D97-AF65-F5344CB8AC3E}">
        <p14:creationId xmlns:p14="http://schemas.microsoft.com/office/powerpoint/2010/main" val="388763918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4111B04-EB4B-E439-72C5-71AE92F0427C}"/>
              </a:ext>
            </a:extLst>
          </p:cNvPr>
          <p:cNvPicPr>
            <a:picLocks noChangeAspect="1"/>
          </p:cNvPicPr>
          <p:nvPr/>
        </p:nvPicPr>
        <p:blipFill>
          <a:blip r:embed="rId2"/>
          <a:srcRect l="8557" t="6615" r="38640" b="40843"/>
          <a:stretch>
            <a:fillRect/>
          </a:stretch>
        </p:blipFill>
        <p:spPr>
          <a:xfrm>
            <a:off x="3412760" y="382249"/>
            <a:ext cx="4586990" cy="3117954"/>
          </a:xfrm>
          <a:prstGeom prst="rect">
            <a:avLst/>
          </a:prstGeom>
        </p:spPr>
      </p:pic>
      <p:pic>
        <p:nvPicPr>
          <p:cNvPr id="4" name="Picture 3">
            <a:extLst>
              <a:ext uri="{FF2B5EF4-FFF2-40B4-BE49-F238E27FC236}">
                <a16:creationId xmlns:a16="http://schemas.microsoft.com/office/drawing/2014/main" id="{62BECF2A-57FF-3C26-0BFC-BFE5546413E3}"/>
              </a:ext>
            </a:extLst>
          </p:cNvPr>
          <p:cNvPicPr>
            <a:picLocks noChangeAspect="1"/>
          </p:cNvPicPr>
          <p:nvPr/>
        </p:nvPicPr>
        <p:blipFill>
          <a:blip r:embed="rId3"/>
          <a:stretch>
            <a:fillRect/>
          </a:stretch>
        </p:blipFill>
        <p:spPr>
          <a:xfrm>
            <a:off x="1957357" y="4354483"/>
            <a:ext cx="8277286" cy="1162058"/>
          </a:xfrm>
          <a:prstGeom prst="rect">
            <a:avLst/>
          </a:prstGeom>
        </p:spPr>
      </p:pic>
    </p:spTree>
    <p:extLst>
      <p:ext uri="{BB962C8B-B14F-4D97-AF65-F5344CB8AC3E}">
        <p14:creationId xmlns:p14="http://schemas.microsoft.com/office/powerpoint/2010/main" val="3067273267"/>
      </p:ext>
    </p:extLst>
  </p:cSld>
  <p:clrMapOvr>
    <a:masterClrMapping/>
  </p:clrMapOvr>
</p:sld>
</file>

<file path=ppt/theme/theme1.xml><?xml version="1.0" encoding="utf-8"?>
<a:theme xmlns:a="http://schemas.openxmlformats.org/drawingml/2006/main" name="Office Theme">
  <a:themeElements>
    <a:clrScheme name="UofG colours">
      <a:dk1>
        <a:srgbClr val="003865"/>
      </a:dk1>
      <a:lt1>
        <a:srgbClr val="FFFFFE"/>
      </a:lt1>
      <a:dk2>
        <a:srgbClr val="000000"/>
      </a:dk2>
      <a:lt2>
        <a:srgbClr val="7D2238"/>
      </a:lt2>
      <a:accent1>
        <a:srgbClr val="0075B0"/>
      </a:accent1>
      <a:accent2>
        <a:srgbClr val="5B4D93"/>
      </a:accent2>
      <a:accent3>
        <a:srgbClr val="CF1C20"/>
      </a:accent3>
      <a:accent4>
        <a:srgbClr val="00833C"/>
      </a:accent4>
      <a:accent5>
        <a:srgbClr val="BE4D00"/>
      </a:accent5>
      <a:accent6>
        <a:srgbClr val="951271"/>
      </a:accent6>
      <a:hlink>
        <a:srgbClr val="584B3D"/>
      </a:hlink>
      <a:folHlink>
        <a:srgbClr val="0068A9"/>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A61AF5F2-503D-2641-86A1-09AD8919EA9C}" vid="{A816E7D6-9491-074F-A4D5-6596497DAC1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8491</TotalTime>
  <Words>3798</Words>
  <Application>Microsoft Office PowerPoint</Application>
  <PresentationFormat>Widescreen</PresentationFormat>
  <Paragraphs>308</Paragraphs>
  <Slides>58</Slides>
  <Notes>8</Notes>
  <HiddenSlides>0</HiddenSlides>
  <MMClips>2</MMClips>
  <ScaleCrop>false</ScaleCrop>
  <HeadingPairs>
    <vt:vector size="6" baseType="variant">
      <vt:variant>
        <vt:lpstr>Fonts Used</vt:lpstr>
      </vt:variant>
      <vt:variant>
        <vt:i4>15</vt:i4>
      </vt:variant>
      <vt:variant>
        <vt:lpstr>Theme</vt:lpstr>
      </vt:variant>
      <vt:variant>
        <vt:i4>1</vt:i4>
      </vt:variant>
      <vt:variant>
        <vt:lpstr>Slide Titles</vt:lpstr>
      </vt:variant>
      <vt:variant>
        <vt:i4>58</vt:i4>
      </vt:variant>
    </vt:vector>
  </HeadingPairs>
  <TitlesOfParts>
    <vt:vector size="74" baseType="lpstr">
      <vt:lpstr>-apple-system</vt:lpstr>
      <vt:lpstr>Aptos</vt:lpstr>
      <vt:lpstr>Arial</vt:lpstr>
      <vt:lpstr>Calibri</vt:lpstr>
      <vt:lpstr>Cambria Math</vt:lpstr>
      <vt:lpstr>Lato</vt:lpstr>
      <vt:lpstr>MJXc-TeX-main-B</vt:lpstr>
      <vt:lpstr>MJXc-TeX-main-R</vt:lpstr>
      <vt:lpstr>MJXc-TeX-math-I</vt:lpstr>
      <vt:lpstr>source-serif-pro</vt:lpstr>
      <vt:lpstr>Symbol</vt:lpstr>
      <vt:lpstr>system-ui</vt:lpstr>
      <vt:lpstr>var(--jp-cell-prompt-font-family)</vt:lpstr>
      <vt:lpstr>var(--jp-code-font-family)</vt:lpstr>
      <vt:lpstr>var(--jp-content-font-family)</vt:lpstr>
      <vt:lpstr>Office Theme</vt:lpstr>
      <vt:lpstr>Introduction to Data Science and Systems</vt:lpstr>
      <vt:lpstr>Deep neural networks</vt:lpstr>
      <vt:lpstr>Deep neural networks</vt:lpstr>
      <vt:lpstr>Deep Neural Networks as Origami</vt:lpstr>
      <vt:lpstr>Activation  function </vt:lpstr>
      <vt:lpstr>A 3-layer deep neural network (DNN)</vt:lpstr>
      <vt:lpstr>Why not use heuristic search?</vt:lpstr>
      <vt:lpstr>Why not use heuristic search?</vt:lpstr>
      <vt:lpstr>The derivative of a scalar function</vt:lpstr>
      <vt:lpstr>The derivative of a scalar function</vt:lpstr>
      <vt:lpstr>The derivative of a scalar function</vt:lpstr>
      <vt:lpstr>The derivative of a scalar function</vt:lpstr>
      <vt:lpstr>Jacobian: matrix of derivatives </vt:lpstr>
      <vt:lpstr>Gradient vector: one row of the Jacobian   </vt:lpstr>
      <vt:lpstr>Hessian: Jacobian of the gradient vector   </vt:lpstr>
      <vt:lpstr>Differentiable objective functions  </vt:lpstr>
      <vt:lpstr>Orders: zeroth, first, second </vt:lpstr>
      <vt:lpstr>Optimisation with derivatives  </vt:lpstr>
      <vt:lpstr>Differentiability</vt:lpstr>
      <vt:lpstr>continuous derivatives vs differentiable</vt:lpstr>
      <vt:lpstr>Lipschitz Continuity</vt:lpstr>
      <vt:lpstr>Small Lipschitz constant</vt:lpstr>
      <vt:lpstr>Large Lipschitz constant</vt:lpstr>
      <vt:lpstr>Analytical derivatives  </vt:lpstr>
      <vt:lpstr>Gradient : physical optimisation </vt:lpstr>
      <vt:lpstr>Gradient : physical optimisation </vt:lpstr>
      <vt:lpstr>Gradient descent</vt:lpstr>
      <vt:lpstr>Gradient descent</vt:lpstr>
      <vt:lpstr>Gradient descent from different initial conditions</vt:lpstr>
      <vt:lpstr>Why step size matters </vt:lpstr>
      <vt:lpstr>Why not use numerical differences?</vt:lpstr>
      <vt:lpstr>Why not use numerical differences?</vt:lpstr>
      <vt:lpstr>Improving gradient descent  </vt:lpstr>
      <vt:lpstr>Programming language advances </vt:lpstr>
      <vt:lpstr>The magic behind modern advances in data science  </vt:lpstr>
      <vt:lpstr>Autograd   </vt:lpstr>
      <vt:lpstr>Autograd   </vt:lpstr>
      <vt:lpstr>Autograd   </vt:lpstr>
      <vt:lpstr>Stochastic relaxation</vt:lpstr>
      <vt:lpstr>Stochastic relaxation Example</vt:lpstr>
      <vt:lpstr>Stochastic Gradient Descent</vt:lpstr>
      <vt:lpstr>Stochastic Gradient Descent</vt:lpstr>
      <vt:lpstr>GD vs SGD vs mini-batch SGD </vt:lpstr>
      <vt:lpstr>Momentum </vt:lpstr>
      <vt:lpstr>Second-order derivatives  </vt:lpstr>
      <vt:lpstr>Hessian: Jacobian of the gradient vector   </vt:lpstr>
      <vt:lpstr>Second-order derivatives </vt:lpstr>
      <vt:lpstr>Eigenvalues of the Hessian &amp; types of critical points  </vt:lpstr>
      <vt:lpstr>Newton-Conjugate Gradient</vt:lpstr>
      <vt:lpstr>Why Newton-CG converges faster? </vt:lpstr>
      <vt:lpstr>Use the right algorithm </vt:lpstr>
      <vt:lpstr>Use the right algorithm </vt:lpstr>
      <vt:lpstr>Thank you for you attention!  Contact: Nicolas.Pugeault@Glasgow.ac.uk</vt:lpstr>
      <vt:lpstr>Example Optimisation exam question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Nicolas Pugeault</dc:creator>
  <cp:keywords/>
  <dc:description/>
  <cp:lastModifiedBy>Nicolas Pugeault</cp:lastModifiedBy>
  <cp:revision>1047</cp:revision>
  <cp:lastPrinted>2024-10-23T15:10:15Z</cp:lastPrinted>
  <dcterms:created xsi:type="dcterms:W3CDTF">2021-01-06T14:22:07Z</dcterms:created>
  <dcterms:modified xsi:type="dcterms:W3CDTF">2025-10-30T14:24:00Z</dcterms:modified>
  <cp:category/>
</cp:coreProperties>
</file>