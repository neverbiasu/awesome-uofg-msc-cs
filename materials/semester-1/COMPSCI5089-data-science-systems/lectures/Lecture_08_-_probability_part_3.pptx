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7"/>
  </p:notesMasterIdLst>
  <p:sldIdLst>
    <p:sldId id="256" r:id="rId2"/>
    <p:sldId id="487" r:id="rId3"/>
    <p:sldId id="591" r:id="rId4"/>
    <p:sldId id="488" r:id="rId5"/>
    <p:sldId id="489" r:id="rId6"/>
    <p:sldId id="490" r:id="rId7"/>
    <p:sldId id="491" r:id="rId8"/>
    <p:sldId id="492" r:id="rId9"/>
    <p:sldId id="493" r:id="rId10"/>
    <p:sldId id="494" r:id="rId11"/>
    <p:sldId id="495" r:id="rId12"/>
    <p:sldId id="496" r:id="rId13"/>
    <p:sldId id="498" r:id="rId14"/>
    <p:sldId id="497" r:id="rId15"/>
    <p:sldId id="499" r:id="rId16"/>
    <p:sldId id="500" r:id="rId17"/>
    <p:sldId id="504" r:id="rId18"/>
    <p:sldId id="502" r:id="rId19"/>
    <p:sldId id="503" r:id="rId20"/>
    <p:sldId id="501" r:id="rId21"/>
    <p:sldId id="505" r:id="rId22"/>
    <p:sldId id="506" r:id="rId23"/>
    <p:sldId id="507" r:id="rId24"/>
    <p:sldId id="508" r:id="rId25"/>
    <p:sldId id="509" r:id="rId26"/>
    <p:sldId id="510" r:id="rId27"/>
    <p:sldId id="511" r:id="rId28"/>
    <p:sldId id="512" r:id="rId29"/>
    <p:sldId id="513" r:id="rId30"/>
    <p:sldId id="514" r:id="rId31"/>
    <p:sldId id="515" r:id="rId32"/>
    <p:sldId id="516" r:id="rId33"/>
    <p:sldId id="518" r:id="rId34"/>
    <p:sldId id="522" r:id="rId35"/>
    <p:sldId id="521" r:id="rId36"/>
    <p:sldId id="520" r:id="rId37"/>
    <p:sldId id="523" r:id="rId38"/>
    <p:sldId id="524" r:id="rId39"/>
    <p:sldId id="590" r:id="rId40"/>
    <p:sldId id="525" r:id="rId41"/>
    <p:sldId id="526" r:id="rId42"/>
    <p:sldId id="527" r:id="rId43"/>
    <p:sldId id="529" r:id="rId44"/>
    <p:sldId id="528" r:id="rId45"/>
    <p:sldId id="538" r:id="rId46"/>
    <p:sldId id="539" r:id="rId47"/>
    <p:sldId id="540" r:id="rId48"/>
    <p:sldId id="541" r:id="rId49"/>
    <p:sldId id="530" r:id="rId50"/>
    <p:sldId id="531" r:id="rId51"/>
    <p:sldId id="532" r:id="rId52"/>
    <p:sldId id="533" r:id="rId53"/>
    <p:sldId id="534" r:id="rId54"/>
    <p:sldId id="535" r:id="rId55"/>
    <p:sldId id="536" r:id="rId56"/>
    <p:sldId id="537" r:id="rId57"/>
    <p:sldId id="542" r:id="rId58"/>
    <p:sldId id="559" r:id="rId59"/>
    <p:sldId id="543" r:id="rId60"/>
    <p:sldId id="544" r:id="rId61"/>
    <p:sldId id="545" r:id="rId62"/>
    <p:sldId id="546" r:id="rId63"/>
    <p:sldId id="547" r:id="rId64"/>
    <p:sldId id="548" r:id="rId65"/>
    <p:sldId id="549" r:id="rId66"/>
    <p:sldId id="550" r:id="rId67"/>
    <p:sldId id="551" r:id="rId68"/>
    <p:sldId id="552" r:id="rId69"/>
    <p:sldId id="553" r:id="rId70"/>
    <p:sldId id="554" r:id="rId71"/>
    <p:sldId id="555" r:id="rId72"/>
    <p:sldId id="556" r:id="rId73"/>
    <p:sldId id="557" r:id="rId74"/>
    <p:sldId id="558" r:id="rId75"/>
    <p:sldId id="560" r:id="rId76"/>
    <p:sldId id="561" r:id="rId77"/>
    <p:sldId id="562" r:id="rId78"/>
    <p:sldId id="563" r:id="rId79"/>
    <p:sldId id="564" r:id="rId80"/>
    <p:sldId id="565" r:id="rId81"/>
    <p:sldId id="567" r:id="rId82"/>
    <p:sldId id="566" r:id="rId83"/>
    <p:sldId id="568" r:id="rId84"/>
    <p:sldId id="569" r:id="rId85"/>
    <p:sldId id="570" r:id="rId86"/>
    <p:sldId id="571" r:id="rId87"/>
    <p:sldId id="572" r:id="rId88"/>
    <p:sldId id="573" r:id="rId89"/>
    <p:sldId id="574" r:id="rId90"/>
    <p:sldId id="575" r:id="rId91"/>
    <p:sldId id="589" r:id="rId92"/>
    <p:sldId id="576" r:id="rId93"/>
    <p:sldId id="577" r:id="rId94"/>
    <p:sldId id="578" r:id="rId95"/>
    <p:sldId id="580" r:id="rId96"/>
    <p:sldId id="579" r:id="rId97"/>
    <p:sldId id="581" r:id="rId98"/>
    <p:sldId id="582" r:id="rId99"/>
    <p:sldId id="583" r:id="rId100"/>
    <p:sldId id="584" r:id="rId101"/>
    <p:sldId id="585" r:id="rId102"/>
    <p:sldId id="586" r:id="rId103"/>
    <p:sldId id="587" r:id="rId104"/>
    <p:sldId id="588" r:id="rId105"/>
    <p:sldId id="273" r:id="rId106"/>
  </p:sldIdLst>
  <p:sldSz cx="12192000" cy="6858000"/>
  <p:notesSz cx="6858000" cy="9144000"/>
  <p:custDataLst>
    <p:tags r:id="rId10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4411E0-5A96-4AEC-B38C-8106D5528890}" v="1" dt="2025-11-19T12:26:54.67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742" autoAdjust="0"/>
    <p:restoredTop sz="84570"/>
  </p:normalViewPr>
  <p:slideViewPr>
    <p:cSldViewPr snapToGrid="0">
      <p:cViewPr varScale="1">
        <p:scale>
          <a:sx n="93" d="100"/>
          <a:sy n="93" d="100"/>
        </p:scale>
        <p:origin x="942" y="96"/>
      </p:cViewPr>
      <p:guideLst/>
    </p:cSldViewPr>
  </p:slideViewPr>
  <p:outlineViewPr>
    <p:cViewPr>
      <p:scale>
        <a:sx n="30" d="100"/>
        <a:sy n="30" d="100"/>
      </p:scale>
      <p:origin x="0" y="0"/>
    </p:cViewPr>
  </p:outlin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notesMaster" Target="notesMasters/notesMaster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microsoft.com/office/2016/11/relationships/changesInfo" Target="changesInfos/changesInfo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gs" Target="tags/tag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presProps" Target="pres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olas Pugeault" userId="1fb198ab-7f77-45c5-8863-126c823efc0f" providerId="ADAL" clId="{8B42B996-EAF0-42D3-9BA6-EDDC2F6172A2}"/>
    <pc:docChg chg="modSld">
      <pc:chgData name="Nicolas Pugeault" userId="1fb198ab-7f77-45c5-8863-126c823efc0f" providerId="ADAL" clId="{8B42B996-EAF0-42D3-9BA6-EDDC2F6172A2}" dt="2025-11-19T14:17:56.308" v="21" actId="729"/>
      <pc:docMkLst>
        <pc:docMk/>
      </pc:docMkLst>
      <pc:sldChg chg="modSp mod">
        <pc:chgData name="Nicolas Pugeault" userId="1fb198ab-7f77-45c5-8863-126c823efc0f" providerId="ADAL" clId="{8B42B996-EAF0-42D3-9BA6-EDDC2F6172A2}" dt="2025-11-19T12:16:10.926" v="17" actId="6549"/>
        <pc:sldMkLst>
          <pc:docMk/>
          <pc:sldMk cId="1372791628" sldId="488"/>
        </pc:sldMkLst>
        <pc:spChg chg="mod">
          <ac:chgData name="Nicolas Pugeault" userId="1fb198ab-7f77-45c5-8863-126c823efc0f" providerId="ADAL" clId="{8B42B996-EAF0-42D3-9BA6-EDDC2F6172A2}" dt="2025-11-19T12:16:10.926" v="17" actId="6549"/>
          <ac:spMkLst>
            <pc:docMk/>
            <pc:sldMk cId="1372791628" sldId="488"/>
            <ac:spMk id="3" creationId="{E9CB007D-D96F-10CD-D3AA-D1228E092460}"/>
          </ac:spMkLst>
        </pc:spChg>
      </pc:sldChg>
      <pc:sldChg chg="addSp delSp modSp">
        <pc:chgData name="Nicolas Pugeault" userId="1fb198ab-7f77-45c5-8863-126c823efc0f" providerId="ADAL" clId="{8B42B996-EAF0-42D3-9BA6-EDDC2F6172A2}" dt="2025-11-19T12:26:54.674" v="18"/>
        <pc:sldMkLst>
          <pc:docMk/>
          <pc:sldMk cId="899195847" sldId="493"/>
        </pc:sldMkLst>
        <pc:spChg chg="del">
          <ac:chgData name="Nicolas Pugeault" userId="1fb198ab-7f77-45c5-8863-126c823efc0f" providerId="ADAL" clId="{8B42B996-EAF0-42D3-9BA6-EDDC2F6172A2}" dt="2025-11-19T12:26:54.674" v="18"/>
          <ac:spMkLst>
            <pc:docMk/>
            <pc:sldMk cId="899195847" sldId="493"/>
            <ac:spMk id="3" creationId="{21D9B18E-5305-B5D2-AC99-F154AB1C42EB}"/>
          </ac:spMkLst>
        </pc:spChg>
        <pc:picChg chg="add mod">
          <ac:chgData name="Nicolas Pugeault" userId="1fb198ab-7f77-45c5-8863-126c823efc0f" providerId="ADAL" clId="{8B42B996-EAF0-42D3-9BA6-EDDC2F6172A2}" dt="2025-11-19T12:26:54.674" v="18"/>
          <ac:picMkLst>
            <pc:docMk/>
            <pc:sldMk cId="899195847" sldId="493"/>
            <ac:picMk id="5" creationId="{21D566FD-3FB6-95C5-7566-F50E50AB19FF}"/>
          </ac:picMkLst>
        </pc:picChg>
      </pc:sldChg>
      <pc:sldChg chg="modSp mod">
        <pc:chgData name="Nicolas Pugeault" userId="1fb198ab-7f77-45c5-8863-126c823efc0f" providerId="ADAL" clId="{8B42B996-EAF0-42D3-9BA6-EDDC2F6172A2}" dt="2025-11-19T12:31:49.538" v="19" actId="207"/>
        <pc:sldMkLst>
          <pc:docMk/>
          <pc:sldMk cId="2819550155" sldId="496"/>
        </pc:sldMkLst>
        <pc:spChg chg="mod">
          <ac:chgData name="Nicolas Pugeault" userId="1fb198ab-7f77-45c5-8863-126c823efc0f" providerId="ADAL" clId="{8B42B996-EAF0-42D3-9BA6-EDDC2F6172A2}" dt="2025-11-19T12:31:49.538" v="19" actId="207"/>
          <ac:spMkLst>
            <pc:docMk/>
            <pc:sldMk cId="2819550155" sldId="496"/>
            <ac:spMk id="2" creationId="{6064159F-A9E3-1359-3224-D45CC585E9B4}"/>
          </ac:spMkLst>
        </pc:spChg>
      </pc:sldChg>
      <pc:sldChg chg="mod modShow">
        <pc:chgData name="Nicolas Pugeault" userId="1fb198ab-7f77-45c5-8863-126c823efc0f" providerId="ADAL" clId="{8B42B996-EAF0-42D3-9BA6-EDDC2F6172A2}" dt="2025-11-19T14:09:25.366" v="20" actId="729"/>
        <pc:sldMkLst>
          <pc:docMk/>
          <pc:sldMk cId="2837385958" sldId="560"/>
        </pc:sldMkLst>
      </pc:sldChg>
      <pc:sldChg chg="mod modShow">
        <pc:chgData name="Nicolas Pugeault" userId="1fb198ab-7f77-45c5-8863-126c823efc0f" providerId="ADAL" clId="{8B42B996-EAF0-42D3-9BA6-EDDC2F6172A2}" dt="2025-11-19T14:17:56.308" v="21" actId="729"/>
        <pc:sldMkLst>
          <pc:docMk/>
          <pc:sldMk cId="2639673700" sldId="576"/>
        </pc:sldMkLst>
      </pc:sldChg>
      <pc:sldChg chg="mod modShow">
        <pc:chgData name="Nicolas Pugeault" userId="1fb198ab-7f77-45c5-8863-126c823efc0f" providerId="ADAL" clId="{8B42B996-EAF0-42D3-9BA6-EDDC2F6172A2}" dt="2025-11-19T14:17:56.308" v="21" actId="729"/>
        <pc:sldMkLst>
          <pc:docMk/>
          <pc:sldMk cId="3274381055" sldId="577"/>
        </pc:sldMkLst>
      </pc:sldChg>
      <pc:sldChg chg="mod modShow">
        <pc:chgData name="Nicolas Pugeault" userId="1fb198ab-7f77-45c5-8863-126c823efc0f" providerId="ADAL" clId="{8B42B996-EAF0-42D3-9BA6-EDDC2F6172A2}" dt="2025-11-19T14:17:56.308" v="21" actId="729"/>
        <pc:sldMkLst>
          <pc:docMk/>
          <pc:sldMk cId="214169781" sldId="578"/>
        </pc:sldMkLst>
      </pc:sldChg>
      <pc:sldChg chg="mod modShow">
        <pc:chgData name="Nicolas Pugeault" userId="1fb198ab-7f77-45c5-8863-126c823efc0f" providerId="ADAL" clId="{8B42B996-EAF0-42D3-9BA6-EDDC2F6172A2}" dt="2025-11-19T14:17:56.308" v="21" actId="729"/>
        <pc:sldMkLst>
          <pc:docMk/>
          <pc:sldMk cId="3364619888" sldId="579"/>
        </pc:sldMkLst>
      </pc:sldChg>
      <pc:sldChg chg="mod modShow">
        <pc:chgData name="Nicolas Pugeault" userId="1fb198ab-7f77-45c5-8863-126c823efc0f" providerId="ADAL" clId="{8B42B996-EAF0-42D3-9BA6-EDDC2F6172A2}" dt="2025-11-19T14:17:56.308" v="21" actId="729"/>
        <pc:sldMkLst>
          <pc:docMk/>
          <pc:sldMk cId="3865192383" sldId="580"/>
        </pc:sldMkLst>
      </pc:sldChg>
      <pc:sldChg chg="mod modShow">
        <pc:chgData name="Nicolas Pugeault" userId="1fb198ab-7f77-45c5-8863-126c823efc0f" providerId="ADAL" clId="{8B42B996-EAF0-42D3-9BA6-EDDC2F6172A2}" dt="2025-11-19T14:17:56.308" v="21" actId="729"/>
        <pc:sldMkLst>
          <pc:docMk/>
          <pc:sldMk cId="3129982643" sldId="581"/>
        </pc:sldMkLst>
      </pc:sldChg>
      <pc:sldChg chg="mod modShow">
        <pc:chgData name="Nicolas Pugeault" userId="1fb198ab-7f77-45c5-8863-126c823efc0f" providerId="ADAL" clId="{8B42B996-EAF0-42D3-9BA6-EDDC2F6172A2}" dt="2025-11-19T14:17:56.308" v="21" actId="729"/>
        <pc:sldMkLst>
          <pc:docMk/>
          <pc:sldMk cId="2201366979" sldId="582"/>
        </pc:sldMkLst>
      </pc:sldChg>
      <pc:sldChg chg="mod modShow">
        <pc:chgData name="Nicolas Pugeault" userId="1fb198ab-7f77-45c5-8863-126c823efc0f" providerId="ADAL" clId="{8B42B996-EAF0-42D3-9BA6-EDDC2F6172A2}" dt="2025-11-19T14:17:56.308" v="21" actId="729"/>
        <pc:sldMkLst>
          <pc:docMk/>
          <pc:sldMk cId="4006005690" sldId="583"/>
        </pc:sldMkLst>
      </pc:sldChg>
      <pc:sldChg chg="mod modShow">
        <pc:chgData name="Nicolas Pugeault" userId="1fb198ab-7f77-45c5-8863-126c823efc0f" providerId="ADAL" clId="{8B42B996-EAF0-42D3-9BA6-EDDC2F6172A2}" dt="2025-11-19T14:17:56.308" v="21" actId="729"/>
        <pc:sldMkLst>
          <pc:docMk/>
          <pc:sldMk cId="833975602" sldId="584"/>
        </pc:sldMkLst>
      </pc:sldChg>
      <pc:sldChg chg="mod modShow">
        <pc:chgData name="Nicolas Pugeault" userId="1fb198ab-7f77-45c5-8863-126c823efc0f" providerId="ADAL" clId="{8B42B996-EAF0-42D3-9BA6-EDDC2F6172A2}" dt="2025-11-19T14:17:56.308" v="21" actId="729"/>
        <pc:sldMkLst>
          <pc:docMk/>
          <pc:sldMk cId="4108379373" sldId="585"/>
        </pc:sldMkLst>
      </pc:sldChg>
      <pc:sldChg chg="mod modShow">
        <pc:chgData name="Nicolas Pugeault" userId="1fb198ab-7f77-45c5-8863-126c823efc0f" providerId="ADAL" clId="{8B42B996-EAF0-42D3-9BA6-EDDC2F6172A2}" dt="2025-11-19T14:17:56.308" v="21" actId="729"/>
        <pc:sldMkLst>
          <pc:docMk/>
          <pc:sldMk cId="900680294" sldId="586"/>
        </pc:sldMkLst>
      </pc:sldChg>
      <pc:sldChg chg="mod modShow">
        <pc:chgData name="Nicolas Pugeault" userId="1fb198ab-7f77-45c5-8863-126c823efc0f" providerId="ADAL" clId="{8B42B996-EAF0-42D3-9BA6-EDDC2F6172A2}" dt="2025-11-19T14:17:56.308" v="21" actId="729"/>
        <pc:sldMkLst>
          <pc:docMk/>
          <pc:sldMk cId="3058185350" sldId="587"/>
        </pc:sldMkLst>
      </pc:sldChg>
      <pc:sldChg chg="mod modShow">
        <pc:chgData name="Nicolas Pugeault" userId="1fb198ab-7f77-45c5-8863-126c823efc0f" providerId="ADAL" clId="{8B42B996-EAF0-42D3-9BA6-EDDC2F6172A2}" dt="2025-11-19T14:17:56.308" v="21" actId="729"/>
        <pc:sldMkLst>
          <pc:docMk/>
          <pc:sldMk cId="236014586" sldId="588"/>
        </pc:sldMkLst>
      </pc:sldChg>
      <pc:sldChg chg="mod modShow">
        <pc:chgData name="Nicolas Pugeault" userId="1fb198ab-7f77-45c5-8863-126c823efc0f" providerId="ADAL" clId="{8B42B996-EAF0-42D3-9BA6-EDDC2F6172A2}" dt="2025-11-19T14:17:56.308" v="21" actId="729"/>
        <pc:sldMkLst>
          <pc:docMk/>
          <pc:sldMk cId="2960886822" sldId="589"/>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76446D-EA01-43B4-872F-9C712D1ADEB6}" type="doc">
      <dgm:prSet loTypeId="urn:microsoft.com/office/officeart/2008/layout/LinedList" loCatId="list" qsTypeId="urn:microsoft.com/office/officeart/2005/8/quickstyle/simple1" qsCatId="simple" csTypeId="urn:microsoft.com/office/officeart/2005/8/colors/accent2_2" csCatId="accent2"/>
      <dgm:spPr/>
      <dgm:t>
        <a:bodyPr/>
        <a:lstStyle/>
        <a:p>
          <a:endParaRPr lang="en-US"/>
        </a:p>
      </dgm:t>
    </dgm:pt>
    <dgm:pt modelId="{330995A5-F0FF-48E0-8122-7F93AA282D1C}">
      <dgm:prSet/>
      <dgm:spPr/>
      <dgm:t>
        <a:bodyPr/>
        <a:lstStyle/>
        <a:p>
          <a:r>
            <a:rPr lang="en-US" b="0" i="0"/>
            <a:t>How do we </a:t>
          </a:r>
          <a:r>
            <a:rPr lang="en-US" b="0" i="1"/>
            <a:t>draw</a:t>
          </a:r>
          <a:r>
            <a:rPr lang="en-US" b="0" i="0"/>
            <a:t> samples from a continuous distribution? </a:t>
          </a:r>
          <a:endParaRPr lang="en-US"/>
        </a:p>
      </dgm:t>
    </dgm:pt>
    <dgm:pt modelId="{55897506-847A-4968-B84C-17766A28C015}" type="parTrans" cxnId="{621328B4-D9BF-4336-8F54-EBD3732FA0FB}">
      <dgm:prSet/>
      <dgm:spPr/>
      <dgm:t>
        <a:bodyPr/>
        <a:lstStyle/>
        <a:p>
          <a:endParaRPr lang="en-US"/>
        </a:p>
      </dgm:t>
    </dgm:pt>
    <dgm:pt modelId="{C2080D11-A009-40AD-9D18-4D1065D5927F}" type="sibTrans" cxnId="{621328B4-D9BF-4336-8F54-EBD3732FA0FB}">
      <dgm:prSet/>
      <dgm:spPr/>
      <dgm:t>
        <a:bodyPr/>
        <a:lstStyle/>
        <a:p>
          <a:endParaRPr lang="en-US"/>
        </a:p>
      </dgm:t>
    </dgm:pt>
    <dgm:pt modelId="{8901FD45-E896-4708-825C-C77B6C60A4BA}">
      <dgm:prSet/>
      <dgm:spPr/>
      <dgm:t>
        <a:bodyPr/>
        <a:lstStyle/>
        <a:p>
          <a:r>
            <a:rPr lang="en-US" b="0" i="0"/>
            <a:t>How can we simulate the outcomes of a random variable </a:t>
          </a:r>
          <a:r>
            <a:rPr lang="en-US"/>
            <a:t>X</a:t>
          </a:r>
          <a:r>
            <a:rPr lang="en-US" b="0" i="0"/>
            <a:t>? </a:t>
          </a:r>
          <a:endParaRPr lang="en-US"/>
        </a:p>
      </dgm:t>
    </dgm:pt>
    <dgm:pt modelId="{F11FC985-E9D6-4449-A983-B171A77CE3FB}" type="parTrans" cxnId="{ECB0D529-6019-46B2-8CDA-CBA4EEABAFEA}">
      <dgm:prSet/>
      <dgm:spPr/>
      <dgm:t>
        <a:bodyPr/>
        <a:lstStyle/>
        <a:p>
          <a:endParaRPr lang="en-US"/>
        </a:p>
      </dgm:t>
    </dgm:pt>
    <dgm:pt modelId="{90B903F9-07CE-44D6-A585-2B8EDD03261A}" type="sibTrans" cxnId="{ECB0D529-6019-46B2-8CDA-CBA4EEABAFEA}">
      <dgm:prSet/>
      <dgm:spPr/>
      <dgm:t>
        <a:bodyPr/>
        <a:lstStyle/>
        <a:p>
          <a:endParaRPr lang="en-US"/>
        </a:p>
      </dgm:t>
    </dgm:pt>
    <dgm:pt modelId="{3606C898-8F2B-4734-BA3D-896A771AF3DA}">
      <dgm:prSet/>
      <dgm:spPr/>
      <dgm:t>
        <a:bodyPr/>
        <a:lstStyle/>
        <a:p>
          <a:r>
            <a:rPr lang="en-US" b="0" i="0"/>
            <a:t>This is a vital tool in computational statistics. One of the reasons computers are useful for statistical analysis is that they can generate (pseudo)-random numbers very quickly.</a:t>
          </a:r>
          <a:endParaRPr lang="en-US"/>
        </a:p>
      </dgm:t>
    </dgm:pt>
    <dgm:pt modelId="{43660652-0529-4F86-AAD5-E5EA140C7DA6}" type="parTrans" cxnId="{D35218F7-1811-46A2-9023-B5267D1E38B0}">
      <dgm:prSet/>
      <dgm:spPr/>
      <dgm:t>
        <a:bodyPr/>
        <a:lstStyle/>
        <a:p>
          <a:endParaRPr lang="en-US"/>
        </a:p>
      </dgm:t>
    </dgm:pt>
    <dgm:pt modelId="{B78B43AC-2B1A-4D73-B039-260EAF4C8E74}" type="sibTrans" cxnId="{D35218F7-1811-46A2-9023-B5267D1E38B0}">
      <dgm:prSet/>
      <dgm:spPr/>
      <dgm:t>
        <a:bodyPr/>
        <a:lstStyle/>
        <a:p>
          <a:endParaRPr lang="en-US"/>
        </a:p>
      </dgm:t>
    </dgm:pt>
    <dgm:pt modelId="{51D6BBB8-D502-48D9-93BA-E4C008D12549}" type="pres">
      <dgm:prSet presAssocID="{1876446D-EA01-43B4-872F-9C712D1ADEB6}" presName="vert0" presStyleCnt="0">
        <dgm:presLayoutVars>
          <dgm:dir/>
          <dgm:animOne val="branch"/>
          <dgm:animLvl val="lvl"/>
        </dgm:presLayoutVars>
      </dgm:prSet>
      <dgm:spPr/>
    </dgm:pt>
    <dgm:pt modelId="{68CEAF2F-075F-4ED3-B4BA-2327B3E9CEAB}" type="pres">
      <dgm:prSet presAssocID="{330995A5-F0FF-48E0-8122-7F93AA282D1C}" presName="thickLine" presStyleLbl="alignNode1" presStyleIdx="0" presStyleCnt="3"/>
      <dgm:spPr/>
    </dgm:pt>
    <dgm:pt modelId="{FD98EA45-23C9-4060-8FDB-A28C6FE4E7D2}" type="pres">
      <dgm:prSet presAssocID="{330995A5-F0FF-48E0-8122-7F93AA282D1C}" presName="horz1" presStyleCnt="0"/>
      <dgm:spPr/>
    </dgm:pt>
    <dgm:pt modelId="{11CC173D-6AEC-4504-B30E-6E319F2BE17D}" type="pres">
      <dgm:prSet presAssocID="{330995A5-F0FF-48E0-8122-7F93AA282D1C}" presName="tx1" presStyleLbl="revTx" presStyleIdx="0" presStyleCnt="3"/>
      <dgm:spPr/>
    </dgm:pt>
    <dgm:pt modelId="{1B0EDC04-CE04-4736-955B-46E1E4AAAC8B}" type="pres">
      <dgm:prSet presAssocID="{330995A5-F0FF-48E0-8122-7F93AA282D1C}" presName="vert1" presStyleCnt="0"/>
      <dgm:spPr/>
    </dgm:pt>
    <dgm:pt modelId="{B9B606D9-DABA-4811-AA89-7224E7F90422}" type="pres">
      <dgm:prSet presAssocID="{8901FD45-E896-4708-825C-C77B6C60A4BA}" presName="thickLine" presStyleLbl="alignNode1" presStyleIdx="1" presStyleCnt="3"/>
      <dgm:spPr/>
    </dgm:pt>
    <dgm:pt modelId="{F03C087A-6D02-4612-A790-23C2442DE622}" type="pres">
      <dgm:prSet presAssocID="{8901FD45-E896-4708-825C-C77B6C60A4BA}" presName="horz1" presStyleCnt="0"/>
      <dgm:spPr/>
    </dgm:pt>
    <dgm:pt modelId="{56B860D0-2D3E-407B-9321-89A96049B71B}" type="pres">
      <dgm:prSet presAssocID="{8901FD45-E896-4708-825C-C77B6C60A4BA}" presName="tx1" presStyleLbl="revTx" presStyleIdx="1" presStyleCnt="3"/>
      <dgm:spPr/>
    </dgm:pt>
    <dgm:pt modelId="{16A4B9BB-9928-4E57-A789-2E788A79D642}" type="pres">
      <dgm:prSet presAssocID="{8901FD45-E896-4708-825C-C77B6C60A4BA}" presName="vert1" presStyleCnt="0"/>
      <dgm:spPr/>
    </dgm:pt>
    <dgm:pt modelId="{E95E3DBF-157A-4F81-B494-82D65677CD72}" type="pres">
      <dgm:prSet presAssocID="{3606C898-8F2B-4734-BA3D-896A771AF3DA}" presName="thickLine" presStyleLbl="alignNode1" presStyleIdx="2" presStyleCnt="3"/>
      <dgm:spPr/>
    </dgm:pt>
    <dgm:pt modelId="{29F54590-11F5-4298-ACF1-7CEC1A5449E5}" type="pres">
      <dgm:prSet presAssocID="{3606C898-8F2B-4734-BA3D-896A771AF3DA}" presName="horz1" presStyleCnt="0"/>
      <dgm:spPr/>
    </dgm:pt>
    <dgm:pt modelId="{CFF730AC-4C26-4F27-9418-619ACFC5700E}" type="pres">
      <dgm:prSet presAssocID="{3606C898-8F2B-4734-BA3D-896A771AF3DA}" presName="tx1" presStyleLbl="revTx" presStyleIdx="2" presStyleCnt="3"/>
      <dgm:spPr/>
    </dgm:pt>
    <dgm:pt modelId="{37528F5F-C00D-41D2-81BB-115C4E6CF437}" type="pres">
      <dgm:prSet presAssocID="{3606C898-8F2B-4734-BA3D-896A771AF3DA}" presName="vert1" presStyleCnt="0"/>
      <dgm:spPr/>
    </dgm:pt>
  </dgm:ptLst>
  <dgm:cxnLst>
    <dgm:cxn modelId="{ECB0D529-6019-46B2-8CDA-CBA4EEABAFEA}" srcId="{1876446D-EA01-43B4-872F-9C712D1ADEB6}" destId="{8901FD45-E896-4708-825C-C77B6C60A4BA}" srcOrd="1" destOrd="0" parTransId="{F11FC985-E9D6-4449-A983-B171A77CE3FB}" sibTransId="{90B903F9-07CE-44D6-A585-2B8EDD03261A}"/>
    <dgm:cxn modelId="{EA670E4D-8664-4B44-9CD3-5F724DF5E39C}" type="presOf" srcId="{8901FD45-E896-4708-825C-C77B6C60A4BA}" destId="{56B860D0-2D3E-407B-9321-89A96049B71B}" srcOrd="0" destOrd="0" presId="urn:microsoft.com/office/officeart/2008/layout/LinedList"/>
    <dgm:cxn modelId="{65A1D285-58C6-402B-8912-7A483B7B03B2}" type="presOf" srcId="{3606C898-8F2B-4734-BA3D-896A771AF3DA}" destId="{CFF730AC-4C26-4F27-9418-619ACFC5700E}" srcOrd="0" destOrd="0" presId="urn:microsoft.com/office/officeart/2008/layout/LinedList"/>
    <dgm:cxn modelId="{94282E98-510F-48AB-A275-90267D10B70E}" type="presOf" srcId="{1876446D-EA01-43B4-872F-9C712D1ADEB6}" destId="{51D6BBB8-D502-48D9-93BA-E4C008D12549}" srcOrd="0" destOrd="0" presId="urn:microsoft.com/office/officeart/2008/layout/LinedList"/>
    <dgm:cxn modelId="{621328B4-D9BF-4336-8F54-EBD3732FA0FB}" srcId="{1876446D-EA01-43B4-872F-9C712D1ADEB6}" destId="{330995A5-F0FF-48E0-8122-7F93AA282D1C}" srcOrd="0" destOrd="0" parTransId="{55897506-847A-4968-B84C-17766A28C015}" sibTransId="{C2080D11-A009-40AD-9D18-4D1065D5927F}"/>
    <dgm:cxn modelId="{575A02F0-ED3A-4FD7-BC6B-51965E5265EF}" type="presOf" srcId="{330995A5-F0FF-48E0-8122-7F93AA282D1C}" destId="{11CC173D-6AEC-4504-B30E-6E319F2BE17D}" srcOrd="0" destOrd="0" presId="urn:microsoft.com/office/officeart/2008/layout/LinedList"/>
    <dgm:cxn modelId="{D35218F7-1811-46A2-9023-B5267D1E38B0}" srcId="{1876446D-EA01-43B4-872F-9C712D1ADEB6}" destId="{3606C898-8F2B-4734-BA3D-896A771AF3DA}" srcOrd="2" destOrd="0" parTransId="{43660652-0529-4F86-AAD5-E5EA140C7DA6}" sibTransId="{B78B43AC-2B1A-4D73-B039-260EAF4C8E74}"/>
    <dgm:cxn modelId="{876E4E09-19D6-4D74-B93F-22906C705EBA}" type="presParOf" srcId="{51D6BBB8-D502-48D9-93BA-E4C008D12549}" destId="{68CEAF2F-075F-4ED3-B4BA-2327B3E9CEAB}" srcOrd="0" destOrd="0" presId="urn:microsoft.com/office/officeart/2008/layout/LinedList"/>
    <dgm:cxn modelId="{07DB6F55-F99A-4C24-8A48-E9FAF8E1881F}" type="presParOf" srcId="{51D6BBB8-D502-48D9-93BA-E4C008D12549}" destId="{FD98EA45-23C9-4060-8FDB-A28C6FE4E7D2}" srcOrd="1" destOrd="0" presId="urn:microsoft.com/office/officeart/2008/layout/LinedList"/>
    <dgm:cxn modelId="{25AE710E-8A3B-4109-B85B-4D789164B5DC}" type="presParOf" srcId="{FD98EA45-23C9-4060-8FDB-A28C6FE4E7D2}" destId="{11CC173D-6AEC-4504-B30E-6E319F2BE17D}" srcOrd="0" destOrd="0" presId="urn:microsoft.com/office/officeart/2008/layout/LinedList"/>
    <dgm:cxn modelId="{950466B1-8D27-43C8-B23D-F525F6D1A971}" type="presParOf" srcId="{FD98EA45-23C9-4060-8FDB-A28C6FE4E7D2}" destId="{1B0EDC04-CE04-4736-955B-46E1E4AAAC8B}" srcOrd="1" destOrd="0" presId="urn:microsoft.com/office/officeart/2008/layout/LinedList"/>
    <dgm:cxn modelId="{6FE5AFC3-A8DA-4695-BAB2-A795E1025394}" type="presParOf" srcId="{51D6BBB8-D502-48D9-93BA-E4C008D12549}" destId="{B9B606D9-DABA-4811-AA89-7224E7F90422}" srcOrd="2" destOrd="0" presId="urn:microsoft.com/office/officeart/2008/layout/LinedList"/>
    <dgm:cxn modelId="{11E285B7-5CDF-482E-8BE5-DE618DBA0BA0}" type="presParOf" srcId="{51D6BBB8-D502-48D9-93BA-E4C008D12549}" destId="{F03C087A-6D02-4612-A790-23C2442DE622}" srcOrd="3" destOrd="0" presId="urn:microsoft.com/office/officeart/2008/layout/LinedList"/>
    <dgm:cxn modelId="{A21B8DD7-ABB4-41E5-B124-93B26B77FA15}" type="presParOf" srcId="{F03C087A-6D02-4612-A790-23C2442DE622}" destId="{56B860D0-2D3E-407B-9321-89A96049B71B}" srcOrd="0" destOrd="0" presId="urn:microsoft.com/office/officeart/2008/layout/LinedList"/>
    <dgm:cxn modelId="{68FABA38-FC80-4869-942C-4F3E69C11B9B}" type="presParOf" srcId="{F03C087A-6D02-4612-A790-23C2442DE622}" destId="{16A4B9BB-9928-4E57-A789-2E788A79D642}" srcOrd="1" destOrd="0" presId="urn:microsoft.com/office/officeart/2008/layout/LinedList"/>
    <dgm:cxn modelId="{4340F5EA-A3BE-49BE-9548-9920A0F8C9A6}" type="presParOf" srcId="{51D6BBB8-D502-48D9-93BA-E4C008D12549}" destId="{E95E3DBF-157A-4F81-B494-82D65677CD72}" srcOrd="4" destOrd="0" presId="urn:microsoft.com/office/officeart/2008/layout/LinedList"/>
    <dgm:cxn modelId="{A2B9FB5E-7FC3-4583-AE36-600516BF47C2}" type="presParOf" srcId="{51D6BBB8-D502-48D9-93BA-E4C008D12549}" destId="{29F54590-11F5-4298-ACF1-7CEC1A5449E5}" srcOrd="5" destOrd="0" presId="urn:microsoft.com/office/officeart/2008/layout/LinedList"/>
    <dgm:cxn modelId="{EFFEE95A-2805-4035-88A9-78B390A13E30}" type="presParOf" srcId="{29F54590-11F5-4298-ACF1-7CEC1A5449E5}" destId="{CFF730AC-4C26-4F27-9418-619ACFC5700E}" srcOrd="0" destOrd="0" presId="urn:microsoft.com/office/officeart/2008/layout/LinedList"/>
    <dgm:cxn modelId="{D0C044BB-939A-44AE-93B8-0EB0188A71D8}" type="presParOf" srcId="{29F54590-11F5-4298-ACF1-7CEC1A5449E5}" destId="{37528F5F-C00D-41D2-81BB-115C4E6CF43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CEAF2F-075F-4ED3-B4BA-2327B3E9CEAB}">
      <dsp:nvSpPr>
        <dsp:cNvPr id="0" name=""/>
        <dsp:cNvSpPr/>
      </dsp:nvSpPr>
      <dsp:spPr>
        <a:xfrm>
          <a:off x="0" y="2249"/>
          <a:ext cx="114744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CC173D-6AEC-4504-B30E-6E319F2BE17D}">
      <dsp:nvSpPr>
        <dsp:cNvPr id="0" name=""/>
        <dsp:cNvSpPr/>
      </dsp:nvSpPr>
      <dsp:spPr>
        <a:xfrm>
          <a:off x="0" y="2249"/>
          <a:ext cx="11474450"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b="0" i="0" kern="1200"/>
            <a:t>How do we </a:t>
          </a:r>
          <a:r>
            <a:rPr lang="en-US" sz="3100" b="0" i="1" kern="1200"/>
            <a:t>draw</a:t>
          </a:r>
          <a:r>
            <a:rPr lang="en-US" sz="3100" b="0" i="0" kern="1200"/>
            <a:t> samples from a continuous distribution? </a:t>
          </a:r>
          <a:endParaRPr lang="en-US" sz="3100" kern="1200"/>
        </a:p>
      </dsp:txBody>
      <dsp:txXfrm>
        <a:off x="0" y="2249"/>
        <a:ext cx="11474450" cy="1534142"/>
      </dsp:txXfrm>
    </dsp:sp>
    <dsp:sp modelId="{B9B606D9-DABA-4811-AA89-7224E7F90422}">
      <dsp:nvSpPr>
        <dsp:cNvPr id="0" name=""/>
        <dsp:cNvSpPr/>
      </dsp:nvSpPr>
      <dsp:spPr>
        <a:xfrm>
          <a:off x="0" y="1536391"/>
          <a:ext cx="114744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B860D0-2D3E-407B-9321-89A96049B71B}">
      <dsp:nvSpPr>
        <dsp:cNvPr id="0" name=""/>
        <dsp:cNvSpPr/>
      </dsp:nvSpPr>
      <dsp:spPr>
        <a:xfrm>
          <a:off x="0" y="1536391"/>
          <a:ext cx="11474450"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b="0" i="0" kern="1200"/>
            <a:t>How can we simulate the outcomes of a random variable </a:t>
          </a:r>
          <a:r>
            <a:rPr lang="en-US" sz="3100" kern="1200"/>
            <a:t>X</a:t>
          </a:r>
          <a:r>
            <a:rPr lang="en-US" sz="3100" b="0" i="0" kern="1200"/>
            <a:t>? </a:t>
          </a:r>
          <a:endParaRPr lang="en-US" sz="3100" kern="1200"/>
        </a:p>
      </dsp:txBody>
      <dsp:txXfrm>
        <a:off x="0" y="1536391"/>
        <a:ext cx="11474450" cy="1534142"/>
      </dsp:txXfrm>
    </dsp:sp>
    <dsp:sp modelId="{E95E3DBF-157A-4F81-B494-82D65677CD72}">
      <dsp:nvSpPr>
        <dsp:cNvPr id="0" name=""/>
        <dsp:cNvSpPr/>
      </dsp:nvSpPr>
      <dsp:spPr>
        <a:xfrm>
          <a:off x="0" y="3070533"/>
          <a:ext cx="114744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F730AC-4C26-4F27-9418-619ACFC5700E}">
      <dsp:nvSpPr>
        <dsp:cNvPr id="0" name=""/>
        <dsp:cNvSpPr/>
      </dsp:nvSpPr>
      <dsp:spPr>
        <a:xfrm>
          <a:off x="0" y="3070533"/>
          <a:ext cx="11474450"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b="0" i="0" kern="1200"/>
            <a:t>This is a vital tool in computational statistics. One of the reasons computers are useful for statistical analysis is that they can generate (pseudo)-random numbers very quickly.</a:t>
          </a:r>
          <a:endParaRPr lang="en-US" sz="3100" kern="1200"/>
        </a:p>
      </dsp:txBody>
      <dsp:txXfrm>
        <a:off x="0" y="3070533"/>
        <a:ext cx="11474450" cy="153414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295AE2-43AC-144B-AE88-DCB376799F11}" type="datetimeFigureOut">
              <a:rPr lang="en-US" smtClean="0"/>
              <a:t>11/19/2025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24E5BB-E6B0-B84A-ABCD-9A3E9C2D78CB}" type="slidenum">
              <a:rPr lang="en-US" smtClean="0"/>
              <a:t>‹#›</a:t>
            </a:fld>
            <a:endParaRPr lang="en-US"/>
          </a:p>
        </p:txBody>
      </p:sp>
    </p:spTree>
    <p:extLst>
      <p:ext uri="{BB962C8B-B14F-4D97-AF65-F5344CB8AC3E}">
        <p14:creationId xmlns:p14="http://schemas.microsoft.com/office/powerpoint/2010/main" val="2372742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F24E5BB-E6B0-B84A-ABCD-9A3E9C2D78CB}" type="slidenum">
              <a:rPr lang="en-US" smtClean="0"/>
              <a:t>1</a:t>
            </a:fld>
            <a:endParaRPr lang="en-US"/>
          </a:p>
        </p:txBody>
      </p:sp>
    </p:spTree>
    <p:extLst>
      <p:ext uri="{BB962C8B-B14F-4D97-AF65-F5344CB8AC3E}">
        <p14:creationId xmlns:p14="http://schemas.microsoft.com/office/powerpoint/2010/main" val="176595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By the end of this unit you should know:</a:t>
            </a:r>
          </a:p>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2</a:t>
            </a:fld>
            <a:endParaRPr lang="en-US"/>
          </a:p>
        </p:txBody>
      </p:sp>
    </p:spTree>
    <p:extLst>
      <p:ext uri="{BB962C8B-B14F-4D97-AF65-F5344CB8AC3E}">
        <p14:creationId xmlns:p14="http://schemas.microsoft.com/office/powerpoint/2010/main" val="3826514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dirty="0">
                <a:effectLst/>
                <a:latin typeface="system-ui"/>
              </a:rPr>
              <a:t>Support</a:t>
            </a:r>
          </a:p>
          <a:p>
            <a:pPr algn="l"/>
            <a:r>
              <a:rPr lang="en-US" b="0" i="0" dirty="0">
                <a:effectLst/>
                <a:latin typeface="system-ui"/>
              </a:rPr>
              <a:t>The </a:t>
            </a:r>
            <a:r>
              <a:rPr lang="en-US" b="1" i="0" dirty="0">
                <a:effectLst/>
                <a:latin typeface="system-ui"/>
              </a:rPr>
              <a:t>support</a:t>
            </a:r>
            <a:r>
              <a:rPr lang="en-US" b="0" i="0" dirty="0">
                <a:effectLst/>
                <a:latin typeface="system-ui"/>
              </a:rPr>
              <a:t> of a PDF is the domain it maps from where the density is non-zero.</a:t>
            </a:r>
          </a:p>
          <a:p>
            <a:pPr algn="l"/>
            <a:r>
              <a:rPr lang="en-US" b="0" i="0" dirty="0">
                <a:effectLst/>
                <a:latin typeface="system-ui"/>
              </a:rPr>
              <a:t>supp(x)=x such that </a:t>
            </a:r>
            <a:r>
              <a:rPr lang="en-US" b="0" i="0" dirty="0" err="1">
                <a:effectLst/>
                <a:latin typeface="system-ui"/>
              </a:rPr>
              <a:t>fX</a:t>
            </a:r>
            <a:r>
              <a:rPr lang="en-US" b="0" i="0" dirty="0">
                <a:effectLst/>
                <a:latin typeface="system-ui"/>
              </a:rPr>
              <a:t>(x)&gt;0</a:t>
            </a:r>
          </a:p>
          <a:p>
            <a:pPr algn="l"/>
            <a:endParaRPr lang="en-US" b="0" i="0" dirty="0">
              <a:effectLst/>
              <a:latin typeface="system-ui"/>
            </a:endParaRPr>
          </a:p>
          <a:p>
            <a:pPr algn="l"/>
            <a:r>
              <a:rPr lang="en-US" b="0" i="0" dirty="0">
                <a:effectLst/>
                <a:latin typeface="system-ui"/>
              </a:rPr>
              <a:t>Some PDFs have density over a fixed interval, and have zero density everywhere else. This is true of the uniform distribution, which has a fixed range where the density is constant, and is zero everywhere. This is called </a:t>
            </a:r>
            <a:r>
              <a:rPr lang="en-US" b="1" i="0" dirty="0">
                <a:effectLst/>
                <a:latin typeface="system-ui"/>
              </a:rPr>
              <a:t>compact support</a:t>
            </a:r>
            <a:r>
              <a:rPr lang="en-US" b="0" i="0" dirty="0">
                <a:effectLst/>
                <a:latin typeface="system-ui"/>
              </a:rPr>
              <a:t>. We know that sampling from a random variable with this PDF will always give us values in the range of this support. </a:t>
            </a:r>
          </a:p>
          <a:p>
            <a:pPr algn="l"/>
            <a:endParaRPr lang="en-US" b="0" i="0" dirty="0">
              <a:effectLst/>
              <a:latin typeface="system-ui"/>
            </a:endParaRPr>
          </a:p>
          <a:p>
            <a:pPr algn="l"/>
            <a:r>
              <a:rPr lang="en-US" b="0" i="0" dirty="0">
                <a:effectLst/>
                <a:latin typeface="system-ui"/>
              </a:rPr>
              <a:t>Some PDFs have non-zero density over an infinite domain. This is true of the normal distribution. A sample from a normal distribution could take on </a:t>
            </a:r>
            <a:r>
              <a:rPr lang="en-US" b="0" i="1" dirty="0">
                <a:effectLst/>
                <a:latin typeface="system-ui"/>
              </a:rPr>
              <a:t>any</a:t>
            </a:r>
            <a:r>
              <a:rPr lang="en-US" b="0" i="0" dirty="0">
                <a:effectLst/>
                <a:latin typeface="system-ui"/>
              </a:rPr>
              <a:t> real value at all; it's just much more likely to be close to the mean of the distribution than to be far away. This is </a:t>
            </a:r>
            <a:r>
              <a:rPr lang="en-US" b="1" i="0" dirty="0">
                <a:effectLst/>
                <a:latin typeface="system-ui"/>
              </a:rPr>
              <a:t>infinite support</a:t>
            </a:r>
            <a:r>
              <a:rPr lang="en-US" b="0" i="0" dirty="0">
                <a:effectLst/>
                <a:latin typeface="system-ui"/>
              </a:rPr>
              <a:t>.</a:t>
            </a:r>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7</a:t>
            </a:fld>
            <a:endParaRPr lang="en-US"/>
          </a:p>
        </p:txBody>
      </p:sp>
    </p:spTree>
    <p:extLst>
      <p:ext uri="{BB962C8B-B14F-4D97-AF65-F5344CB8AC3E}">
        <p14:creationId xmlns:p14="http://schemas.microsoft.com/office/powerpoint/2010/main" val="35576979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9</a:t>
            </a:fld>
            <a:endParaRPr lang="en-US"/>
          </a:p>
        </p:txBody>
      </p:sp>
    </p:spTree>
    <p:extLst>
      <p:ext uri="{BB962C8B-B14F-4D97-AF65-F5344CB8AC3E}">
        <p14:creationId xmlns:p14="http://schemas.microsoft.com/office/powerpoint/2010/main" val="4036828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11</a:t>
            </a:fld>
            <a:endParaRPr lang="en-US"/>
          </a:p>
        </p:txBody>
      </p:sp>
    </p:spTree>
    <p:extLst>
      <p:ext uri="{BB962C8B-B14F-4D97-AF65-F5344CB8AC3E}">
        <p14:creationId xmlns:p14="http://schemas.microsoft.com/office/powerpoint/2010/main" val="18170074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33</a:t>
            </a:fld>
            <a:endParaRPr lang="en-US"/>
          </a:p>
        </p:txBody>
      </p:sp>
    </p:spTree>
    <p:extLst>
      <p:ext uri="{BB962C8B-B14F-4D97-AF65-F5344CB8AC3E}">
        <p14:creationId xmlns:p14="http://schemas.microsoft.com/office/powerpoint/2010/main" val="4157594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F169D-6DEE-60E5-0A19-B3D905A0B2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C342C6-2C4F-DE16-B4BB-34B369A455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9A3B55-88DA-53F1-5F1B-D67D4844BCE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906EBDF-A36F-DC67-9A5A-DDB67A5EA87F}"/>
              </a:ext>
            </a:extLst>
          </p:cNvPr>
          <p:cNvSpPr>
            <a:spLocks noGrp="1"/>
          </p:cNvSpPr>
          <p:nvPr>
            <p:ph type="sldNum" sz="quarter" idx="5"/>
          </p:nvPr>
        </p:nvSpPr>
        <p:spPr/>
        <p:txBody>
          <a:bodyPr/>
          <a:lstStyle/>
          <a:p>
            <a:fld id="{0F24E5BB-E6B0-B84A-ABCD-9A3E9C2D78CB}" type="slidenum">
              <a:rPr lang="en-US" smtClean="0"/>
              <a:t>34</a:t>
            </a:fld>
            <a:endParaRPr lang="en-US"/>
          </a:p>
        </p:txBody>
      </p:sp>
    </p:spTree>
    <p:extLst>
      <p:ext uri="{BB962C8B-B14F-4D97-AF65-F5344CB8AC3E}">
        <p14:creationId xmlns:p14="http://schemas.microsoft.com/office/powerpoint/2010/main" val="35418678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effectLst/>
                <a:latin typeface="system-ui"/>
              </a:rPr>
              <a:t>While this might seem like a unsubstantiated "hack", random sampling approaches in fact have strong statistical guarantees and are exceptionally powerful methods for performing </a:t>
            </a:r>
            <a:r>
              <a:rPr lang="en-US" b="1" i="0" dirty="0">
                <a:effectLst/>
                <a:latin typeface="system-ui"/>
              </a:rPr>
              <a:t>inference.</a:t>
            </a:r>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38</a:t>
            </a:fld>
            <a:endParaRPr lang="en-US"/>
          </a:p>
        </p:txBody>
      </p:sp>
    </p:spTree>
    <p:extLst>
      <p:ext uri="{BB962C8B-B14F-4D97-AF65-F5344CB8AC3E}">
        <p14:creationId xmlns:p14="http://schemas.microsoft.com/office/powerpoint/2010/main" val="35999775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effectLst/>
                <a:latin typeface="system-ui"/>
              </a:rPr>
              <a:t>We will see three different approaches to doing inference:</a:t>
            </a:r>
          </a:p>
          <a:p>
            <a:pPr algn="l">
              <a:buFont typeface="Arial" panose="020B0604020202020204" pitchFamily="34" charset="0"/>
              <a:buChar char="•"/>
            </a:pPr>
            <a:r>
              <a:rPr lang="en-US" b="1" i="0" dirty="0">
                <a:effectLst/>
                <a:latin typeface="system-ui"/>
              </a:rPr>
              <a:t>Direct estimation</a:t>
            </a:r>
            <a:r>
              <a:rPr lang="en-US" b="0" i="0" dirty="0">
                <a:effectLst/>
                <a:latin typeface="system-ui"/>
              </a:rPr>
              <a:t> of parameters, where we define </a:t>
            </a:r>
            <a:r>
              <a:rPr lang="en-US" b="0" i="1" dirty="0">
                <a:effectLst/>
                <a:latin typeface="system-ui"/>
              </a:rPr>
              <a:t>functions of observations</a:t>
            </a:r>
            <a:r>
              <a:rPr lang="en-US" b="0" i="0" dirty="0">
                <a:effectLst/>
                <a:latin typeface="system-ui"/>
              </a:rPr>
              <a:t> that will estimate the values of parameters of distributions </a:t>
            </a:r>
            <a:r>
              <a:rPr lang="en-US" b="0" i="1" dirty="0">
                <a:effectLst/>
                <a:latin typeface="system-ui"/>
              </a:rPr>
              <a:t>directly</a:t>
            </a:r>
            <a:r>
              <a:rPr lang="en-US" b="0" i="0" dirty="0">
                <a:effectLst/>
                <a:latin typeface="system-ui"/>
              </a:rPr>
              <a:t>. This requires we assume the form of the distribution governing the mysterious entity. It is very efficient, but only works for very particular kinds of model. We need to have </a:t>
            </a:r>
            <a:r>
              <a:rPr lang="en-US" b="0" i="1" dirty="0">
                <a:effectLst/>
                <a:latin typeface="system-ui"/>
              </a:rPr>
              <a:t>estimator functions</a:t>
            </a:r>
            <a:r>
              <a:rPr lang="en-US" b="0" i="0" dirty="0">
                <a:effectLst/>
                <a:latin typeface="system-ui"/>
              </a:rPr>
              <a:t> for each specific distribution we want to estimate, which map observations into parameter estimates.</a:t>
            </a:r>
          </a:p>
          <a:p>
            <a:pPr algn="l">
              <a:buFont typeface="Arial" panose="020B0604020202020204" pitchFamily="34" charset="0"/>
              <a:buChar char="•"/>
            </a:pPr>
            <a:r>
              <a:rPr lang="en-US" b="1" i="0" dirty="0">
                <a:effectLst/>
                <a:latin typeface="system-ui"/>
              </a:rPr>
              <a:t>Maximum likelihood estimation</a:t>
            </a:r>
            <a:r>
              <a:rPr lang="en-US" b="0" i="0" dirty="0">
                <a:effectLst/>
                <a:latin typeface="system-ui"/>
              </a:rPr>
              <a:t> of parameters, where we use </a:t>
            </a:r>
            <a:r>
              <a:rPr lang="en-US" b="1" i="0" dirty="0" err="1">
                <a:effectLst/>
                <a:latin typeface="system-ui"/>
              </a:rPr>
              <a:t>optimisation</a:t>
            </a:r>
            <a:r>
              <a:rPr lang="en-US" b="0" i="0" dirty="0">
                <a:effectLst/>
                <a:latin typeface="system-ui"/>
              </a:rPr>
              <a:t> to find parameter settings that make the </a:t>
            </a:r>
            <a:r>
              <a:rPr lang="en-US" b="0" i="0" dirty="0" err="1">
                <a:effectLst/>
                <a:latin typeface="system-ui"/>
              </a:rPr>
              <a:t>the</a:t>
            </a:r>
            <a:r>
              <a:rPr lang="en-US" b="0" i="0" dirty="0">
                <a:effectLst/>
                <a:latin typeface="system-ui"/>
              </a:rPr>
              <a:t> observations appear as likely as possible. We can see this as tweaking the parameters of some predefined model until they "best align" with the observations we have. This requires an iterative </a:t>
            </a:r>
            <a:r>
              <a:rPr lang="en-US" b="0" i="0" dirty="0" err="1">
                <a:effectLst/>
                <a:latin typeface="system-ui"/>
              </a:rPr>
              <a:t>optimisation</a:t>
            </a:r>
            <a:r>
              <a:rPr lang="en-US" b="0" i="0" dirty="0">
                <a:effectLst/>
                <a:latin typeface="system-ui"/>
              </a:rPr>
              <a:t> process, but it works for any model where the distribution has a known likelihood function (that is we can compute how likely observations were to have been generated by that model).</a:t>
            </a:r>
          </a:p>
          <a:p>
            <a:pPr algn="l">
              <a:buFont typeface="Arial" panose="020B0604020202020204" pitchFamily="34" charset="0"/>
              <a:buChar char="•"/>
            </a:pPr>
            <a:r>
              <a:rPr lang="en-US" b="1" i="0" dirty="0">
                <a:effectLst/>
                <a:latin typeface="system-ui"/>
              </a:rPr>
              <a:t>Bayesian, probabilistic</a:t>
            </a:r>
            <a:r>
              <a:rPr lang="en-US" b="0" i="0" dirty="0">
                <a:effectLst/>
                <a:latin typeface="system-ui"/>
              </a:rPr>
              <a:t> approaches explicitly encode belief about the </a:t>
            </a:r>
            <a:r>
              <a:rPr lang="en-US" b="0" i="0" dirty="0" err="1">
                <a:effectLst/>
                <a:latin typeface="system-ui"/>
              </a:rPr>
              <a:t>behaviour</a:t>
            </a:r>
            <a:r>
              <a:rPr lang="en-US" b="0" i="0" dirty="0">
                <a:effectLst/>
                <a:latin typeface="system-ui"/>
              </a:rPr>
              <a:t> of the mysterious entity using probability distributions. In Bayesian models, we assume a distribution over the parameters themselves, and consider the </a:t>
            </a:r>
            <a:r>
              <a:rPr lang="en-US" b="0" i="1" dirty="0">
                <a:effectLst/>
                <a:latin typeface="system-ui"/>
              </a:rPr>
              <a:t>parameters to be random variables</a:t>
            </a:r>
            <a:r>
              <a:rPr lang="en-US" b="0" i="0" dirty="0">
                <a:effectLst/>
                <a:latin typeface="system-ui"/>
              </a:rPr>
              <a:t>. We have an initial hypotheses for these parameters ("prior") and we use observations to update this belief to hone our estimate of the parameters to a tighter (hopefully) distribution ("posterior"). Unlike the other methods, we do not estimate a single "parameter setting", but instead we always have a distribution over possible parameters which changes as data is observed. This is much more robust and arguably more coherent way to do inference, but it is harder to represent and harder to compute. We require both </a:t>
            </a:r>
            <a:r>
              <a:rPr lang="en-US" b="1" i="0" dirty="0">
                <a:effectLst/>
                <a:latin typeface="system-ui"/>
              </a:rPr>
              <a:t>priors</a:t>
            </a:r>
            <a:r>
              <a:rPr lang="en-US" b="0" i="0" dirty="0">
                <a:effectLst/>
                <a:latin typeface="system-ui"/>
              </a:rPr>
              <a:t> over parameters, and a </a:t>
            </a:r>
            <a:r>
              <a:rPr lang="en-US" b="1" i="0" dirty="0">
                <a:effectLst/>
                <a:latin typeface="system-ui"/>
              </a:rPr>
              <a:t>likelihood function</a:t>
            </a:r>
            <a:r>
              <a:rPr lang="en-US" b="0" i="0" dirty="0">
                <a:effectLst/>
                <a:latin typeface="system-ui"/>
              </a:rPr>
              <a:t> that will tell us how likely data is to have been generated under a particular parameter setting.</a:t>
            </a:r>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44</a:t>
            </a:fld>
            <a:endParaRPr lang="en-US"/>
          </a:p>
        </p:txBody>
      </p:sp>
    </p:spTree>
    <p:extLst>
      <p:ext uri="{BB962C8B-B14F-4D97-AF65-F5344CB8AC3E}">
        <p14:creationId xmlns:p14="http://schemas.microsoft.com/office/powerpoint/2010/main" val="41675201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45</a:t>
            </a:fld>
            <a:endParaRPr lang="en-US"/>
          </a:p>
        </p:txBody>
      </p:sp>
    </p:spTree>
    <p:extLst>
      <p:ext uri="{BB962C8B-B14F-4D97-AF65-F5344CB8AC3E}">
        <p14:creationId xmlns:p14="http://schemas.microsoft.com/office/powerpoint/2010/main" val="640019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effectLst/>
                <a:latin typeface="system-ui"/>
              </a:rPr>
              <a:t>For example, the arithmetic mean, and the standard deviation of a set of observed samples are </a:t>
            </a:r>
            <a:r>
              <a:rPr lang="en-US" b="1" i="0" dirty="0">
                <a:effectLst/>
                <a:latin typeface="system-ui"/>
              </a:rPr>
              <a:t>statistics</a:t>
            </a:r>
            <a:r>
              <a:rPr lang="en-US" b="0" i="0" dirty="0">
                <a:effectLst/>
                <a:latin typeface="system-ui"/>
              </a:rPr>
              <a:t> which are </a:t>
            </a:r>
            <a:r>
              <a:rPr lang="en-US" b="1" i="0" dirty="0">
                <a:effectLst/>
                <a:latin typeface="system-ui"/>
              </a:rPr>
              <a:t>estimators</a:t>
            </a:r>
            <a:r>
              <a:rPr lang="en-US" b="0" i="0" dirty="0">
                <a:effectLst/>
                <a:latin typeface="system-ui"/>
              </a:rPr>
              <a:t> of the parameters of μ and σ normal distribution. If we have observations (believed to have been) drawn from a normal distribution, we can estimate the parameters μ and σ of that distribution just by computing the mean and standard deviation.</a:t>
            </a:r>
          </a:p>
          <a:p>
            <a:pPr algn="l"/>
            <a:r>
              <a:rPr lang="en-US" b="0" i="0" dirty="0">
                <a:effectLst/>
                <a:latin typeface="system-ui"/>
              </a:rPr>
              <a:t>In other words, we might want to know the "true" average app rating -- the </a:t>
            </a:r>
            <a:r>
              <a:rPr lang="en-US" b="1" i="0" dirty="0">
                <a:effectLst/>
                <a:latin typeface="system-ui"/>
              </a:rPr>
              <a:t>population mean</a:t>
            </a:r>
            <a:r>
              <a:rPr lang="en-US" b="0" i="0" dirty="0">
                <a:effectLst/>
                <a:latin typeface="system-ui"/>
              </a:rPr>
              <a:t> of the distribution which is "generating" app ratings. We have an assumption that a random process is creating these ratings, whose operational characteristics (parameters) we can learn from samples. But we can only observe a limited sample of ratings by measuring some specific subset of ratings from users who actually rated the app and computing statistics of the results -- the </a:t>
            </a:r>
            <a:r>
              <a:rPr lang="en-US" b="1" i="0" dirty="0">
                <a:effectLst/>
                <a:latin typeface="system-ui"/>
              </a:rPr>
              <a:t>sample mean</a:t>
            </a:r>
            <a:r>
              <a:rPr lang="en-US" b="0" i="0" dirty="0">
                <a:effectLst/>
                <a:latin typeface="system-ui"/>
              </a:rPr>
              <a:t>.</a:t>
            </a:r>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50</a:t>
            </a:fld>
            <a:endParaRPr lang="en-US"/>
          </a:p>
        </p:txBody>
      </p:sp>
    </p:spTree>
    <p:extLst>
      <p:ext uri="{BB962C8B-B14F-4D97-AF65-F5344CB8AC3E}">
        <p14:creationId xmlns:p14="http://schemas.microsoft.com/office/powerpoint/2010/main" val="21994937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56</a:t>
            </a:fld>
            <a:endParaRPr lang="en-US"/>
          </a:p>
        </p:txBody>
      </p:sp>
    </p:spTree>
    <p:extLst>
      <p:ext uri="{BB962C8B-B14F-4D97-AF65-F5344CB8AC3E}">
        <p14:creationId xmlns:p14="http://schemas.microsoft.com/office/powerpoint/2010/main" val="265686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60</a:t>
            </a:fld>
            <a:endParaRPr lang="en-US"/>
          </a:p>
        </p:txBody>
      </p:sp>
    </p:spTree>
    <p:extLst>
      <p:ext uri="{BB962C8B-B14F-4D97-AF65-F5344CB8AC3E}">
        <p14:creationId xmlns:p14="http://schemas.microsoft.com/office/powerpoint/2010/main" val="26424504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effectLst/>
                <a:latin typeface="system-ui"/>
              </a:rPr>
              <a:t>Bayesian inference involves thinking about the problem quite differently. Bayesians represent the </a:t>
            </a:r>
            <a:r>
              <a:rPr lang="en-US" b="0" i="1" dirty="0">
                <a:effectLst/>
                <a:latin typeface="system-ui"/>
              </a:rPr>
              <a:t>parameters</a:t>
            </a:r>
            <a:r>
              <a:rPr lang="en-US" b="0" i="0" dirty="0">
                <a:effectLst/>
                <a:latin typeface="system-ui"/>
              </a:rPr>
              <a:t> of the distribution they are estimating as random variables </a:t>
            </a:r>
            <a:r>
              <a:rPr lang="en-US" b="0" i="1" dirty="0">
                <a:effectLst/>
                <a:latin typeface="system-ui"/>
              </a:rPr>
              <a:t>themselves</a:t>
            </a:r>
            <a:r>
              <a:rPr lang="en-US" b="0" i="0" dirty="0">
                <a:effectLst/>
                <a:latin typeface="system-ui"/>
              </a:rPr>
              <a:t>, with distributions of their own.</a:t>
            </a:r>
          </a:p>
          <a:p>
            <a:pPr algn="l"/>
            <a:r>
              <a:rPr lang="en-US" b="0" i="0" dirty="0">
                <a:effectLst/>
                <a:latin typeface="system-ui"/>
              </a:rPr>
              <a:t>Prior distributions are defined over these parameters (e.g. we might believe that the mean app rating could be any value 1.0-5.0 with equal probability) and evidence arriving as updates is combined using Bayes' Rule to refine our belief about the distribution of the parameters. We again consider our distribution to be </a:t>
            </a:r>
            <a:r>
              <a:rPr lang="en-US" b="0" i="0" dirty="0" err="1">
                <a:effectLst/>
                <a:latin typeface="system-ui"/>
              </a:rPr>
              <a:t>characterised</a:t>
            </a:r>
            <a:r>
              <a:rPr lang="en-US" b="0" i="0" dirty="0">
                <a:effectLst/>
                <a:latin typeface="system-ui"/>
              </a:rPr>
              <a:t> by some parameter vector θ and we want to refine a distribution over possible </a:t>
            </a:r>
            <a:r>
              <a:rPr lang="en-US" b="0" i="0" dirty="0" err="1">
                <a:effectLst/>
                <a:latin typeface="system-ui"/>
              </a:rPr>
              <a:t>θs</a:t>
            </a:r>
            <a:r>
              <a:rPr lang="en-US" b="0" i="0" dirty="0">
                <a:effectLst/>
                <a:latin typeface="system-ui"/>
              </a:rPr>
              <a:t>.</a:t>
            </a:r>
          </a:p>
          <a:p>
            <a:pPr algn="l"/>
            <a:r>
              <a:rPr lang="en-US" b="0" i="0" dirty="0">
                <a:effectLst/>
                <a:latin typeface="system-ui"/>
              </a:rPr>
              <a:t>We don't think about estimators, or their sampling distributions, and it doesn't make sense to talk about finding the best parameter setting; we can only have </a:t>
            </a:r>
            <a:r>
              <a:rPr lang="en-US" b="0" i="1" dirty="0">
                <a:effectLst/>
                <a:latin typeface="system-ui"/>
              </a:rPr>
              <a:t>beliefs</a:t>
            </a:r>
            <a:r>
              <a:rPr lang="en-US" b="0" i="0" dirty="0">
                <a:effectLst/>
                <a:latin typeface="system-ui"/>
              </a:rPr>
              <a:t> in parameter settings which must be represented probabilistically. We do not seek to find the most likely parameter setting (as in direct estimation or MLE), but to infer a distribution over possible parameter settings </a:t>
            </a:r>
            <a:r>
              <a:rPr lang="en-US" b="0" i="1" dirty="0">
                <a:effectLst/>
                <a:latin typeface="system-ui"/>
              </a:rPr>
              <a:t>compatible with the data</a:t>
            </a:r>
            <a:r>
              <a:rPr lang="en-US" b="0" i="0" dirty="0">
                <a:effectLst/>
                <a:latin typeface="system-ui"/>
              </a:rPr>
              <a:t>.</a:t>
            </a:r>
          </a:p>
          <a:p>
            <a:pPr algn="l"/>
            <a:r>
              <a:rPr lang="en-US" b="0" i="0" dirty="0">
                <a:effectLst/>
                <a:latin typeface="system-ui"/>
              </a:rPr>
              <a:t>We talk about inferring a </a:t>
            </a:r>
            <a:r>
              <a:rPr lang="en-US" b="1" i="0" dirty="0">
                <a:effectLst/>
                <a:latin typeface="system-ui"/>
              </a:rPr>
              <a:t>posterior</a:t>
            </a:r>
            <a:r>
              <a:rPr lang="en-US" b="0" i="0" dirty="0">
                <a:effectLst/>
                <a:latin typeface="system-ui"/>
              </a:rPr>
              <a:t> distribution over the parameters, given some </a:t>
            </a:r>
            <a:r>
              <a:rPr lang="en-US" b="1" i="0" dirty="0">
                <a:effectLst/>
                <a:latin typeface="system-ui"/>
              </a:rPr>
              <a:t>prior</a:t>
            </a:r>
            <a:r>
              <a:rPr lang="en-US" b="0" i="0" dirty="0">
                <a:effectLst/>
                <a:latin typeface="system-ui"/>
              </a:rPr>
              <a:t> belief and some </a:t>
            </a:r>
            <a:r>
              <a:rPr lang="en-US" b="1" i="0" dirty="0">
                <a:effectLst/>
                <a:latin typeface="system-ui"/>
              </a:rPr>
              <a:t>evidence</a:t>
            </a:r>
            <a:r>
              <a:rPr lang="en-US" b="0" i="0" dirty="0">
                <a:effectLst/>
                <a:latin typeface="system-ui"/>
              </a:rPr>
              <a:t>. We assume that we have a </a:t>
            </a:r>
            <a:r>
              <a:rPr lang="en-US" b="1" i="0" dirty="0">
                <a:effectLst/>
                <a:latin typeface="system-ui"/>
              </a:rPr>
              <a:t>likelihood function</a:t>
            </a:r>
            <a:r>
              <a:rPr lang="en-US" b="0" i="0" dirty="0">
                <a:effectLst/>
                <a:latin typeface="system-ui"/>
              </a:rPr>
              <a:t> P(</a:t>
            </a:r>
            <a:r>
              <a:rPr lang="en-US" b="0" i="0" dirty="0" err="1">
                <a:effectLst/>
                <a:latin typeface="system-ui"/>
              </a:rPr>
              <a:t>D|θ</a:t>
            </a:r>
            <a:r>
              <a:rPr lang="en-US" b="0" i="0" dirty="0">
                <a:effectLst/>
                <a:latin typeface="system-ui"/>
              </a:rPr>
              <a:t>), and a prior over parameters P(θ) and we can then use Bayes Rule in the form:</a:t>
            </a:r>
          </a:p>
          <a:p>
            <a:pPr algn="l"/>
            <a:r>
              <a:rPr lang="en-US" b="0" i="0" dirty="0">
                <a:effectLst/>
                <a:latin typeface="system-ui"/>
              </a:rPr>
              <a:t>P(</a:t>
            </a:r>
            <a:r>
              <a:rPr lang="en-US" b="0" i="0" dirty="0" err="1">
                <a:effectLst/>
                <a:latin typeface="system-ui"/>
              </a:rPr>
              <a:t>θ|D</a:t>
            </a:r>
            <a:r>
              <a:rPr lang="en-US" b="0" i="0" dirty="0">
                <a:effectLst/>
                <a:latin typeface="system-ui"/>
              </a:rPr>
              <a:t>)=P(</a:t>
            </a:r>
            <a:r>
              <a:rPr lang="en-US" b="0" i="0" dirty="0" err="1">
                <a:effectLst/>
                <a:latin typeface="system-ui"/>
              </a:rPr>
              <a:t>D|θ</a:t>
            </a:r>
            <a:r>
              <a:rPr lang="en-US" b="0" i="0" dirty="0">
                <a:effectLst/>
                <a:latin typeface="system-ui"/>
              </a:rPr>
              <a:t>)P(θ)P(D)</a:t>
            </a:r>
          </a:p>
          <a:p>
            <a:pPr algn="l"/>
            <a:r>
              <a:rPr lang="en-US" b="0" i="0" dirty="0">
                <a:effectLst/>
                <a:latin typeface="system-ui"/>
              </a:rPr>
              <a:t>which gives us a new distribution over θ given some observations. Bayes' rule applies just as well to continuous distributions as to discrete ones, but computations in "closed form" (i.e. algebraically) are much harder.</a:t>
            </a:r>
          </a:p>
          <a:p>
            <a:pPr algn="l"/>
            <a:r>
              <a:rPr lang="en-US" b="0" i="0" dirty="0">
                <a:effectLst/>
                <a:latin typeface="system-ui"/>
              </a:rPr>
              <a:t>This </a:t>
            </a:r>
            <a:r>
              <a:rPr lang="en-US" b="0" i="1" dirty="0">
                <a:effectLst/>
                <a:latin typeface="system-ui"/>
              </a:rPr>
              <a:t>can</a:t>
            </a:r>
            <a:r>
              <a:rPr lang="en-US" b="0" i="0" dirty="0">
                <a:effectLst/>
                <a:latin typeface="system-ui"/>
              </a:rPr>
              <a:t> be done in closed form to find P(</a:t>
            </a:r>
            <a:r>
              <a:rPr lang="en-US" b="0" i="0" dirty="0" err="1">
                <a:effectLst/>
                <a:latin typeface="system-ui"/>
              </a:rPr>
              <a:t>θ|D</a:t>
            </a:r>
            <a:r>
              <a:rPr lang="en-US" b="0" i="0" dirty="0">
                <a:effectLst/>
                <a:latin typeface="system-ui"/>
              </a:rPr>
              <a:t>) in certain cases, but the algebra is often complex and the model choices are limited; we will not discuss how to do this. When it is possible, it is, however, much more computationally efficient. Instead we will approach this from a computational perspective and find a way to draw </a:t>
            </a:r>
            <a:r>
              <a:rPr lang="en-US" b="0" i="1" dirty="0">
                <a:effectLst/>
                <a:latin typeface="system-ui"/>
              </a:rPr>
              <a:t>samples</a:t>
            </a:r>
            <a:r>
              <a:rPr lang="en-US" b="0" i="0" dirty="0">
                <a:effectLst/>
                <a:latin typeface="system-ui"/>
              </a:rPr>
              <a:t> from the posterior distribution P(</a:t>
            </a:r>
            <a:r>
              <a:rPr lang="en-US" b="0" i="0" dirty="0" err="1">
                <a:effectLst/>
                <a:latin typeface="system-ui"/>
              </a:rPr>
              <a:t>θ|D</a:t>
            </a:r>
            <a:r>
              <a:rPr lang="en-US" b="0" i="0" dirty="0">
                <a:effectLst/>
                <a:latin typeface="system-ui"/>
              </a:rPr>
              <a:t>).</a:t>
            </a:r>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76</a:t>
            </a:fld>
            <a:endParaRPr lang="en-US"/>
          </a:p>
        </p:txBody>
      </p:sp>
    </p:spTree>
    <p:extLst>
      <p:ext uri="{BB962C8B-B14F-4D97-AF65-F5344CB8AC3E}">
        <p14:creationId xmlns:p14="http://schemas.microsoft.com/office/powerpoint/2010/main" val="14252690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D6490-3DCC-27B3-E875-52D301B0F7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9DA257-2B5D-D556-3784-6EF1CEEA5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9D03F2-8235-E7E1-9A74-336E2828560C}"/>
              </a:ext>
            </a:extLst>
          </p:cNvPr>
          <p:cNvSpPr>
            <a:spLocks noGrp="1"/>
          </p:cNvSpPr>
          <p:nvPr>
            <p:ph type="body" idx="1"/>
          </p:nvPr>
        </p:nvSpPr>
        <p:spPr/>
        <p:txBody>
          <a:bodyPr/>
          <a:lstStyle/>
          <a:p>
            <a:pPr algn="l"/>
            <a:r>
              <a:rPr lang="en-US" b="1" i="0" dirty="0">
                <a:effectLst/>
                <a:latin typeface="system-ui"/>
              </a:rPr>
              <a:t>Samples will do</a:t>
            </a:r>
          </a:p>
          <a:p>
            <a:pPr algn="l"/>
            <a:r>
              <a:rPr lang="en-US" b="0" i="0" dirty="0">
                <a:effectLst/>
                <a:latin typeface="system-ui"/>
              </a:rPr>
              <a:t>We often can't compute P(</a:t>
            </a:r>
            <a:r>
              <a:rPr lang="en-US" b="0" i="0" dirty="0" err="1">
                <a:effectLst/>
                <a:latin typeface="system-ui"/>
              </a:rPr>
              <a:t>θ|D</a:t>
            </a:r>
            <a:r>
              <a:rPr lang="en-US" b="0" i="0" dirty="0">
                <a:effectLst/>
                <a:latin typeface="system-ui"/>
              </a:rPr>
              <a:t>) because we don't know how to do operations on products of functions. But it's often trivial for </a:t>
            </a:r>
            <a:r>
              <a:rPr lang="en-US" b="0" i="1" dirty="0">
                <a:effectLst/>
                <a:latin typeface="system-ui"/>
              </a:rPr>
              <a:t>specific, concrete</a:t>
            </a:r>
            <a:r>
              <a:rPr lang="en-US" b="0" i="0" dirty="0">
                <a:effectLst/>
                <a:latin typeface="system-ui"/>
              </a:rPr>
              <a:t> values of θ. For example, for a given fixed θ we can compute both the likelihood and the prior of that specific example.</a:t>
            </a:r>
          </a:p>
          <a:p>
            <a:pPr algn="l"/>
            <a:r>
              <a:rPr lang="en-US" b="0" i="0" dirty="0">
                <a:effectLst/>
                <a:latin typeface="system-ui"/>
              </a:rPr>
              <a:t>This leads us to the idea of </a:t>
            </a:r>
            <a:r>
              <a:rPr lang="en-US" b="1" i="0" dirty="0">
                <a:effectLst/>
                <a:latin typeface="system-ui"/>
              </a:rPr>
              <a:t>drawing samples</a:t>
            </a:r>
            <a:r>
              <a:rPr lang="en-US" b="0" i="0" dirty="0">
                <a:effectLst/>
                <a:latin typeface="system-ui"/>
              </a:rPr>
              <a:t> from the posterior distribution P(</a:t>
            </a:r>
            <a:r>
              <a:rPr lang="en-US" b="0" i="0" dirty="0" err="1">
                <a:effectLst/>
                <a:latin typeface="system-ui"/>
              </a:rPr>
              <a:t>θ|D</a:t>
            </a:r>
            <a:r>
              <a:rPr lang="en-US" b="0" i="0" dirty="0">
                <a:effectLst/>
                <a:latin typeface="system-ui"/>
              </a:rPr>
              <a:t>), instead of trying to compute the distribution exactly.</a:t>
            </a:r>
          </a:p>
          <a:p>
            <a:endParaRPr lang="en-GB" dirty="0"/>
          </a:p>
          <a:p>
            <a:pPr algn="l"/>
            <a:r>
              <a:rPr lang="en-US" b="1" i="0" dirty="0">
                <a:effectLst/>
                <a:latin typeface="system-ui"/>
              </a:rPr>
              <a:t>Relative probability only</a:t>
            </a:r>
          </a:p>
          <a:p>
            <a:pPr algn="l"/>
            <a:r>
              <a:rPr lang="en-US" b="0" i="0" dirty="0">
                <a:effectLst/>
                <a:latin typeface="system-ui"/>
              </a:rPr>
              <a:t>We can make a simplifying assumption: we only care about the </a:t>
            </a:r>
            <a:r>
              <a:rPr lang="en-US" b="0" i="1" dirty="0">
                <a:effectLst/>
                <a:latin typeface="system-ui"/>
              </a:rPr>
              <a:t>relative</a:t>
            </a:r>
            <a:r>
              <a:rPr lang="en-US" b="0" i="0" dirty="0">
                <a:effectLst/>
                <a:latin typeface="system-ui"/>
              </a:rPr>
              <a:t> probability of different parameter settings with the data that we actually have, D. That is we have</a:t>
            </a:r>
          </a:p>
          <a:p>
            <a:pPr algn="l"/>
            <a:r>
              <a:rPr lang="en-US" b="0" i="0" dirty="0">
                <a:effectLst/>
                <a:latin typeface="system-ui"/>
              </a:rPr>
              <a:t>P(</a:t>
            </a:r>
            <a:r>
              <a:rPr lang="en-US" b="0" i="0" dirty="0" err="1">
                <a:effectLst/>
                <a:latin typeface="system-ui"/>
              </a:rPr>
              <a:t>θ|D</a:t>
            </a:r>
            <a:r>
              <a:rPr lang="en-US" b="0" i="0" dirty="0">
                <a:effectLst/>
                <a:latin typeface="system-ui"/>
              </a:rPr>
              <a:t>)∝P(</a:t>
            </a:r>
            <a:r>
              <a:rPr lang="en-US" b="0" i="0" dirty="0" err="1">
                <a:effectLst/>
                <a:latin typeface="system-ui"/>
              </a:rPr>
              <a:t>D|θ</a:t>
            </a:r>
            <a:r>
              <a:rPr lang="en-US" b="0" i="0" dirty="0">
                <a:effectLst/>
                <a:latin typeface="system-ui"/>
              </a:rPr>
              <a:t>)P(θ)</a:t>
            </a:r>
          </a:p>
          <a:p>
            <a:pPr algn="l"/>
            <a:r>
              <a:rPr lang="en-US" b="0" i="0" dirty="0">
                <a:effectLst/>
                <a:latin typeface="system-ui"/>
              </a:rPr>
              <a:t>and ignore the fact that this is the posterior scaled by some unknown constant Z=1P(D). This only makes sense because we are only considering one model with one set of data in this example.</a:t>
            </a:r>
          </a:p>
          <a:p>
            <a:endParaRPr lang="en-GB" dirty="0"/>
          </a:p>
        </p:txBody>
      </p:sp>
      <p:sp>
        <p:nvSpPr>
          <p:cNvPr id="4" name="Slide Number Placeholder 3">
            <a:extLst>
              <a:ext uri="{FF2B5EF4-FFF2-40B4-BE49-F238E27FC236}">
                <a16:creationId xmlns:a16="http://schemas.microsoft.com/office/drawing/2014/main" id="{AF1AC738-045D-E0F4-6CB9-639010896D8B}"/>
              </a:ext>
            </a:extLst>
          </p:cNvPr>
          <p:cNvSpPr>
            <a:spLocks noGrp="1"/>
          </p:cNvSpPr>
          <p:nvPr>
            <p:ph type="sldNum" sz="quarter" idx="5"/>
          </p:nvPr>
        </p:nvSpPr>
        <p:spPr/>
        <p:txBody>
          <a:bodyPr/>
          <a:lstStyle/>
          <a:p>
            <a:fld id="{0F24E5BB-E6B0-B84A-ABCD-9A3E9C2D78CB}" type="slidenum">
              <a:rPr lang="en-US" smtClean="0"/>
              <a:t>81</a:t>
            </a:fld>
            <a:endParaRPr lang="en-US"/>
          </a:p>
        </p:txBody>
      </p:sp>
    </p:spTree>
    <p:extLst>
      <p:ext uri="{BB962C8B-B14F-4D97-AF65-F5344CB8AC3E}">
        <p14:creationId xmlns:p14="http://schemas.microsoft.com/office/powerpoint/2010/main" val="4823405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dirty="0">
                <a:effectLst/>
                <a:latin typeface="system-ui"/>
              </a:rPr>
              <a:t>Samples will do</a:t>
            </a:r>
          </a:p>
          <a:p>
            <a:pPr algn="l"/>
            <a:r>
              <a:rPr lang="en-US" b="0" i="0" dirty="0">
                <a:effectLst/>
                <a:latin typeface="system-ui"/>
              </a:rPr>
              <a:t>We often can't compute P(</a:t>
            </a:r>
            <a:r>
              <a:rPr lang="en-US" b="0" i="0" dirty="0" err="1">
                <a:effectLst/>
                <a:latin typeface="system-ui"/>
              </a:rPr>
              <a:t>θ|D</a:t>
            </a:r>
            <a:r>
              <a:rPr lang="en-US" b="0" i="0" dirty="0">
                <a:effectLst/>
                <a:latin typeface="system-ui"/>
              </a:rPr>
              <a:t>) because we don't know how to do operations on products of functions. But it's often trivial for </a:t>
            </a:r>
            <a:r>
              <a:rPr lang="en-US" b="0" i="1" dirty="0">
                <a:effectLst/>
                <a:latin typeface="system-ui"/>
              </a:rPr>
              <a:t>specific, concrete</a:t>
            </a:r>
            <a:r>
              <a:rPr lang="en-US" b="0" i="0" dirty="0">
                <a:effectLst/>
                <a:latin typeface="system-ui"/>
              </a:rPr>
              <a:t> values of θ. For example, for a given fixed θ we can compute both the likelihood and the prior of that specific example.</a:t>
            </a:r>
          </a:p>
          <a:p>
            <a:pPr algn="l"/>
            <a:r>
              <a:rPr lang="en-US" b="0" i="0" dirty="0">
                <a:effectLst/>
                <a:latin typeface="system-ui"/>
              </a:rPr>
              <a:t>This leads us to the idea of </a:t>
            </a:r>
            <a:r>
              <a:rPr lang="en-US" b="1" i="0" dirty="0">
                <a:effectLst/>
                <a:latin typeface="system-ui"/>
              </a:rPr>
              <a:t>drawing samples</a:t>
            </a:r>
            <a:r>
              <a:rPr lang="en-US" b="0" i="0" dirty="0">
                <a:effectLst/>
                <a:latin typeface="system-ui"/>
              </a:rPr>
              <a:t> from the posterior distribution P(</a:t>
            </a:r>
            <a:r>
              <a:rPr lang="en-US" b="0" i="0" dirty="0" err="1">
                <a:effectLst/>
                <a:latin typeface="system-ui"/>
              </a:rPr>
              <a:t>θ|D</a:t>
            </a:r>
            <a:r>
              <a:rPr lang="en-US" b="0" i="0" dirty="0">
                <a:effectLst/>
                <a:latin typeface="system-ui"/>
              </a:rPr>
              <a:t>), instead of trying to compute the distribution exactly.</a:t>
            </a:r>
          </a:p>
          <a:p>
            <a:endParaRPr lang="en-GB" dirty="0"/>
          </a:p>
          <a:p>
            <a:pPr algn="l"/>
            <a:r>
              <a:rPr lang="en-US" b="1" i="0" dirty="0">
                <a:effectLst/>
                <a:latin typeface="system-ui"/>
              </a:rPr>
              <a:t>Relative probability only</a:t>
            </a:r>
          </a:p>
          <a:p>
            <a:pPr algn="l"/>
            <a:r>
              <a:rPr lang="en-US" b="0" i="0" dirty="0">
                <a:effectLst/>
                <a:latin typeface="system-ui"/>
              </a:rPr>
              <a:t>We can make a simplifying assumption: we only care about the </a:t>
            </a:r>
            <a:r>
              <a:rPr lang="en-US" b="0" i="1" dirty="0">
                <a:effectLst/>
                <a:latin typeface="system-ui"/>
              </a:rPr>
              <a:t>relative</a:t>
            </a:r>
            <a:r>
              <a:rPr lang="en-US" b="0" i="0" dirty="0">
                <a:effectLst/>
                <a:latin typeface="system-ui"/>
              </a:rPr>
              <a:t> probability of different parameter settings with the data that we actually have, D. That is we have</a:t>
            </a:r>
          </a:p>
          <a:p>
            <a:pPr algn="l"/>
            <a:r>
              <a:rPr lang="en-US" b="0" i="0" dirty="0">
                <a:effectLst/>
                <a:latin typeface="system-ui"/>
              </a:rPr>
              <a:t>P(</a:t>
            </a:r>
            <a:r>
              <a:rPr lang="en-US" b="0" i="0" dirty="0" err="1">
                <a:effectLst/>
                <a:latin typeface="system-ui"/>
              </a:rPr>
              <a:t>θ|D</a:t>
            </a:r>
            <a:r>
              <a:rPr lang="en-US" b="0" i="0" dirty="0">
                <a:effectLst/>
                <a:latin typeface="system-ui"/>
              </a:rPr>
              <a:t>)∝P(</a:t>
            </a:r>
            <a:r>
              <a:rPr lang="en-US" b="0" i="0" dirty="0" err="1">
                <a:effectLst/>
                <a:latin typeface="system-ui"/>
              </a:rPr>
              <a:t>D|θ</a:t>
            </a:r>
            <a:r>
              <a:rPr lang="en-US" b="0" i="0" dirty="0">
                <a:effectLst/>
                <a:latin typeface="system-ui"/>
              </a:rPr>
              <a:t>)P(θ)</a:t>
            </a:r>
          </a:p>
          <a:p>
            <a:pPr algn="l"/>
            <a:r>
              <a:rPr lang="en-US" b="0" i="0" dirty="0">
                <a:effectLst/>
                <a:latin typeface="system-ui"/>
              </a:rPr>
              <a:t>and ignore the fact that this is the posterior scaled by some unknown constant Z=1P(D). This only makes sense because we are only considering one model with one set of data in this example.</a:t>
            </a:r>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82</a:t>
            </a:fld>
            <a:endParaRPr lang="en-US"/>
          </a:p>
        </p:txBody>
      </p:sp>
    </p:spTree>
    <p:extLst>
      <p:ext uri="{BB962C8B-B14F-4D97-AF65-F5344CB8AC3E}">
        <p14:creationId xmlns:p14="http://schemas.microsoft.com/office/powerpoint/2010/main" val="15629031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b="0" i="0" dirty="0">
                <a:effectLst/>
                <a:latin typeface="system-ui"/>
              </a:rPr>
              <a:t>Let's apply this to our app rating problem. We want to estimate the distribution over the parameters </a:t>
            </a:r>
            <a:r>
              <a:rPr lang="en-US" dirty="0"/>
              <a:t>μ</a:t>
            </a:r>
            <a:r>
              <a:rPr lang="en-US" b="0" i="0" dirty="0">
                <a:effectLst/>
                <a:latin typeface="system-ui"/>
              </a:rPr>
              <a:t> and </a:t>
            </a:r>
            <a:r>
              <a:rPr lang="en-US" dirty="0"/>
              <a:t>σ</a:t>
            </a:r>
            <a:r>
              <a:rPr lang="en-US" b="0" i="0" dirty="0">
                <a:effectLst/>
                <a:latin typeface="system-ui"/>
              </a:rPr>
              <a:t>, given some observations (evidence/data) </a:t>
            </a:r>
            <a:r>
              <a:rPr lang="en-US" dirty="0"/>
              <a:t>x1,x2,x3,…</a:t>
            </a:r>
            <a:r>
              <a:rPr lang="en-US" b="0" i="0" dirty="0">
                <a:effectLst/>
                <a:latin typeface="system-ui"/>
              </a:rPr>
              <a:t> drawn from a distribution we assume is </a:t>
            </a:r>
            <a:r>
              <a:rPr lang="en-US" dirty="0"/>
              <a:t>N(</a:t>
            </a:r>
            <a:r>
              <a:rPr lang="en-US" dirty="0" err="1"/>
              <a:t>μ,σ</a:t>
            </a:r>
            <a:r>
              <a:rPr lang="en-US" dirty="0"/>
              <a:t>)</a:t>
            </a:r>
            <a:r>
              <a:rPr lang="en-US" b="0" i="0" dirty="0">
                <a:effectLst/>
                <a:latin typeface="system-ui"/>
              </a:rPr>
              <a:t>.</a:t>
            </a:r>
          </a:p>
          <a:p>
            <a:pPr marL="0" indent="0">
              <a:buNone/>
            </a:pPr>
            <a:r>
              <a:rPr lang="en-US" dirty="0">
                <a:latin typeface="system-ui"/>
              </a:rPr>
              <a:t>We already have a prior function `</a:t>
            </a:r>
            <a:r>
              <a:rPr lang="en-US" dirty="0" err="1">
                <a:latin typeface="system-ui"/>
              </a:rPr>
              <a:t>prior_pdf</a:t>
            </a:r>
            <a:r>
              <a:rPr lang="en-US" dirty="0">
                <a:latin typeface="system-ui"/>
              </a:rPr>
              <a:t>` and a likelihood function `likelihood` . So we can just do this, using the same procedure as above, but this time starting the random process in various random initial conditions drawn from the prior to make sure we don't get stuck in some bad part of the space.</a:t>
            </a:r>
            <a:endParaRPr lang="en-GB" dirty="0">
              <a:latin typeface="system-ui"/>
            </a:endParaRPr>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89</a:t>
            </a:fld>
            <a:endParaRPr lang="en-US"/>
          </a:p>
        </p:txBody>
      </p:sp>
    </p:spTree>
    <p:extLst>
      <p:ext uri="{BB962C8B-B14F-4D97-AF65-F5344CB8AC3E}">
        <p14:creationId xmlns:p14="http://schemas.microsoft.com/office/powerpoint/2010/main" val="26097402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dirty="0">
                <a:effectLst/>
                <a:latin typeface="system-ui"/>
              </a:rPr>
              <a:t>Linear regression</a:t>
            </a:r>
            <a:r>
              <a:rPr lang="en-US" b="0" i="0" dirty="0">
                <a:effectLst/>
                <a:latin typeface="system-ui"/>
              </a:rPr>
              <a:t> is the fitting of a line to observed data. It assumes the mysterious entity generates data where one of the observed variables is scaled and shifted version of another observed variable, corrupted by some noise; a linear relationship. It is a very helpful lens through which different approaches to data modelling can be seen; it is pretty much the simplest useful model of data with relationships, and the techniques we use easily </a:t>
            </a:r>
            <a:r>
              <a:rPr lang="en-US" b="0" i="0" dirty="0" err="1">
                <a:effectLst/>
                <a:latin typeface="system-ui"/>
              </a:rPr>
              <a:t>generalise</a:t>
            </a:r>
            <a:r>
              <a:rPr lang="en-US" b="0" i="0" dirty="0">
                <a:effectLst/>
                <a:latin typeface="system-ui"/>
              </a:rPr>
              <a:t> from linear models to more powerful representations.</a:t>
            </a:r>
          </a:p>
          <a:p>
            <a:pPr algn="l"/>
            <a:r>
              <a:rPr lang="en-US" b="0" i="0" dirty="0">
                <a:effectLst/>
                <a:latin typeface="system-ui"/>
              </a:rPr>
              <a:t>The problems is to estimate what that scaling and shifting is. In a simple 2D case, this is the gradient m and offset c in the equation y=</a:t>
            </a:r>
            <a:r>
              <a:rPr lang="en-US" b="0" i="0" dirty="0" err="1">
                <a:effectLst/>
                <a:latin typeface="system-ui"/>
              </a:rPr>
              <a:t>mx+c</a:t>
            </a:r>
            <a:r>
              <a:rPr lang="en-US" b="0" i="0" dirty="0">
                <a:effectLst/>
                <a:latin typeface="system-ui"/>
              </a:rPr>
              <a:t>. It can be directly </a:t>
            </a:r>
            <a:r>
              <a:rPr lang="en-US" b="0" i="0" dirty="0" err="1">
                <a:effectLst/>
                <a:latin typeface="system-ui"/>
              </a:rPr>
              <a:t>generalised</a:t>
            </a:r>
            <a:r>
              <a:rPr lang="en-US" b="0" i="0" dirty="0">
                <a:effectLst/>
                <a:latin typeface="system-ui"/>
              </a:rPr>
              <a:t> to higher dimensions to find A and b in y=</a:t>
            </a:r>
            <a:r>
              <a:rPr lang="en-US" b="0" i="0" dirty="0" err="1">
                <a:effectLst/>
                <a:latin typeface="system-ui"/>
              </a:rPr>
              <a:t>Ax+b</a:t>
            </a:r>
            <a:r>
              <a:rPr lang="en-US" b="0" i="0" dirty="0">
                <a:effectLst/>
                <a:latin typeface="system-ui"/>
              </a:rPr>
              <a:t>, but we'll use the simple "high school" y=</a:t>
            </a:r>
            <a:r>
              <a:rPr lang="en-US" b="0" i="0" dirty="0" err="1">
                <a:effectLst/>
                <a:latin typeface="system-ui"/>
              </a:rPr>
              <a:t>mx+c</a:t>
            </a:r>
            <a:r>
              <a:rPr lang="en-US" b="0" i="0" dirty="0">
                <a:effectLst/>
                <a:latin typeface="system-ui"/>
              </a:rPr>
              <a:t> case for simplicity.</a:t>
            </a:r>
          </a:p>
          <a:p>
            <a:endParaRPr lang="en-GB" dirty="0"/>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92</a:t>
            </a:fld>
            <a:endParaRPr lang="en-US"/>
          </a:p>
        </p:txBody>
      </p:sp>
    </p:spTree>
    <p:extLst>
      <p:ext uri="{BB962C8B-B14F-4D97-AF65-F5344CB8AC3E}">
        <p14:creationId xmlns:p14="http://schemas.microsoft.com/office/powerpoint/2010/main" val="42515202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1" dirty="0">
                <a:solidFill>
                  <a:schemeClr val="accent4"/>
                </a:solidFill>
                <a:effectLst/>
                <a:latin typeface="Arial" panose="020B0604020202020204" pitchFamily="34" charset="0"/>
                <a:cs typeface="Arial" panose="020B0604020202020204" pitchFamily="34" charset="0"/>
              </a:rPr>
              <a:t>Linear least squares tried to make the size of the squares nestled between the line and data points as small as possible</a:t>
            </a:r>
            <a:endParaRPr lang="en-GB" sz="1200" b="0" i="0" dirty="0">
              <a:solidFill>
                <a:schemeClr val="accent4"/>
              </a:solidFill>
              <a:effectLst/>
              <a:latin typeface="Arial" panose="020B0604020202020204" pitchFamily="34" charset="0"/>
              <a:cs typeface="Arial" panose="020B0604020202020204" pitchFamily="34" charset="0"/>
            </a:endParaRPr>
          </a:p>
          <a:p>
            <a:endParaRPr lang="en-US" b="0" i="0" dirty="0">
              <a:effectLst/>
              <a:latin typeface="system-ui"/>
            </a:endParaRPr>
          </a:p>
          <a:p>
            <a:r>
              <a:rPr lang="en-US" b="0" i="0" dirty="0">
                <a:effectLst/>
                <a:latin typeface="system-ui"/>
              </a:rPr>
              <a:t>In fact, we can find a closed form solution to this problem, without doing any iterative </a:t>
            </a:r>
            <a:r>
              <a:rPr lang="en-US" b="0" i="0" dirty="0" err="1">
                <a:effectLst/>
                <a:latin typeface="system-ui"/>
              </a:rPr>
              <a:t>optimisation</a:t>
            </a:r>
            <a:r>
              <a:rPr lang="en-US" b="0" i="0" dirty="0">
                <a:effectLst/>
                <a:latin typeface="system-ui"/>
              </a:rPr>
              <a:t>. This is because we have an </a:t>
            </a:r>
            <a:r>
              <a:rPr lang="en-US" b="1" i="0" dirty="0">
                <a:effectLst/>
                <a:latin typeface="system-ui"/>
              </a:rPr>
              <a:t>estimator</a:t>
            </a:r>
            <a:r>
              <a:rPr lang="en-US" b="0" i="0" dirty="0">
                <a:effectLst/>
                <a:latin typeface="system-ui"/>
              </a:rPr>
              <a:t> that gives us an estimate of the parameters of the line fit directly from observations. We can derive this, for example, by setting </a:t>
            </a:r>
            <a:r>
              <a:rPr lang="en-US" dirty="0"/>
              <a:t>∇L(θ)=0</a:t>
            </a:r>
            <a:r>
              <a:rPr lang="en-US" b="0" i="0" dirty="0">
                <a:effectLst/>
                <a:latin typeface="system-ui"/>
              </a:rPr>
              <a:t> and solving directly (high-school </a:t>
            </a:r>
            <a:r>
              <a:rPr lang="en-US" b="0" i="0" dirty="0" err="1">
                <a:effectLst/>
                <a:latin typeface="system-ui"/>
              </a:rPr>
              <a:t>optimisation</a:t>
            </a:r>
            <a:r>
              <a:rPr lang="en-US" b="0" i="0" dirty="0">
                <a:effectLst/>
                <a:latin typeface="system-ui"/>
              </a:rPr>
              <a:t>).</a:t>
            </a:r>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96</a:t>
            </a:fld>
            <a:endParaRPr lang="en-US"/>
          </a:p>
        </p:txBody>
      </p:sp>
    </p:spTree>
    <p:extLst>
      <p:ext uri="{BB962C8B-B14F-4D97-AF65-F5344CB8AC3E}">
        <p14:creationId xmlns:p14="http://schemas.microsoft.com/office/powerpoint/2010/main" val="31641773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solidFill>
                  <a:schemeClr val="accent1"/>
                </a:solidFill>
                <a:effectLst/>
                <a:latin typeface="system-ui"/>
              </a:rPr>
              <a:t>Maximum likelihood estimation tried to find parameters of a line that made the observations likely</a:t>
            </a:r>
            <a:endParaRPr lang="en-GB" dirty="0">
              <a:solidFill>
                <a:schemeClr val="accent1"/>
              </a:solidFill>
            </a:endParaRPr>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100</a:t>
            </a:fld>
            <a:endParaRPr lang="en-US"/>
          </a:p>
        </p:txBody>
      </p:sp>
    </p:spTree>
    <p:extLst>
      <p:ext uri="{BB962C8B-B14F-4D97-AF65-F5344CB8AC3E}">
        <p14:creationId xmlns:p14="http://schemas.microsoft.com/office/powerpoint/2010/main" val="8386499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101</a:t>
            </a:fld>
            <a:endParaRPr lang="en-US"/>
          </a:p>
        </p:txBody>
      </p:sp>
    </p:spTree>
    <p:extLst>
      <p:ext uri="{BB962C8B-B14F-4D97-AF65-F5344CB8AC3E}">
        <p14:creationId xmlns:p14="http://schemas.microsoft.com/office/powerpoint/2010/main" val="1404589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105</a:t>
            </a:fld>
            <a:endParaRPr lang="en-US"/>
          </a:p>
        </p:txBody>
      </p:sp>
    </p:spTree>
    <p:extLst>
      <p:ext uri="{BB962C8B-B14F-4D97-AF65-F5344CB8AC3E}">
        <p14:creationId xmlns:p14="http://schemas.microsoft.com/office/powerpoint/2010/main" val="1727494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Standar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2559E32-3873-7D45-B9C6-C4F839B303D0}"/>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
        <p:nvSpPr>
          <p:cNvPr id="11" name="Picture Placeholder 2">
            <a:extLst>
              <a:ext uri="{FF2B5EF4-FFF2-40B4-BE49-F238E27FC236}">
                <a16:creationId xmlns:a16="http://schemas.microsoft.com/office/drawing/2014/main" id="{81BC6CA5-FB54-8746-B1B1-0D09602CEAEC}"/>
              </a:ext>
            </a:extLst>
          </p:cNvPr>
          <p:cNvSpPr>
            <a:spLocks noGrp="1"/>
          </p:cNvSpPr>
          <p:nvPr>
            <p:ph type="pic" sz="quarter" idx="13"/>
          </p:nvPr>
        </p:nvSpPr>
        <p:spPr>
          <a:xfrm>
            <a:off x="-1" y="1699336"/>
            <a:ext cx="2452283" cy="4575733"/>
          </a:xfrm>
          <a:prstGeom prst="rect">
            <a:avLst/>
          </a:prstGeom>
        </p:spPr>
        <p:txBody>
          <a:bodyPr/>
          <a:lstStyle>
            <a:lvl1pPr>
              <a:defRPr>
                <a:solidFill>
                  <a:srgbClr val="003560"/>
                </a:solidFill>
                <a:latin typeface="Arial" panose="020B0604020202020204" pitchFamily="34" charset="0"/>
                <a:cs typeface="Arial" panose="020B0604020202020204" pitchFamily="34" charset="0"/>
              </a:defRPr>
            </a:lvl1pPr>
          </a:lstStyle>
          <a:p>
            <a:r>
              <a:rPr lang="en-GB"/>
              <a:t>Click icon to add picture</a:t>
            </a:r>
            <a:endParaRPr lang="en-US" dirty="0"/>
          </a:p>
        </p:txBody>
      </p:sp>
      <p:sp>
        <p:nvSpPr>
          <p:cNvPr id="12" name="Text Placeholder 6">
            <a:extLst>
              <a:ext uri="{FF2B5EF4-FFF2-40B4-BE49-F238E27FC236}">
                <a16:creationId xmlns:a16="http://schemas.microsoft.com/office/drawing/2014/main" id="{1DECEF87-946C-834D-8550-61FE3D91A5E9}"/>
              </a:ext>
            </a:extLst>
          </p:cNvPr>
          <p:cNvSpPr>
            <a:spLocks noGrp="1"/>
          </p:cNvSpPr>
          <p:nvPr>
            <p:ph type="body" sz="quarter" idx="14" hasCustomPrompt="1"/>
          </p:nvPr>
        </p:nvSpPr>
        <p:spPr>
          <a:xfrm>
            <a:off x="2549235" y="1705343"/>
            <a:ext cx="9210963" cy="4526124"/>
          </a:xfrm>
          <a:prstGeom prst="rect">
            <a:avLst/>
          </a:prstGeom>
        </p:spPr>
        <p:txBody>
          <a:bodyPr/>
          <a:lstStyle>
            <a:lvl1pPr>
              <a:defRPr sz="2400">
                <a:solidFill>
                  <a:srgbClr val="003560"/>
                </a:solidFill>
                <a:latin typeface="Arial" panose="020B0604020202020204" pitchFamily="34" charset="0"/>
                <a:cs typeface="Arial" panose="020B0604020202020204" pitchFamily="34" charset="0"/>
              </a:defRPr>
            </a:lvl1pPr>
            <a:lvl2pPr>
              <a:defRPr sz="2400">
                <a:solidFill>
                  <a:srgbClr val="003560"/>
                </a:solidFill>
                <a:latin typeface="Arial" panose="020B0604020202020204" pitchFamily="34" charset="0"/>
                <a:cs typeface="Arial" panose="020B0604020202020204" pitchFamily="34" charset="0"/>
              </a:defRPr>
            </a:lvl2pPr>
            <a:lvl3pPr>
              <a:defRPr sz="2400" b="0">
                <a:solidFill>
                  <a:srgbClr val="003560"/>
                </a:solidFill>
                <a:latin typeface="Arial" panose="020B0604020202020204" pitchFamily="34" charset="0"/>
                <a:cs typeface="Arial" panose="020B0604020202020204" pitchFamily="34" charset="0"/>
              </a:defRPr>
            </a:lvl3pPr>
            <a:lvl4pPr>
              <a:defRPr sz="2400">
                <a:solidFill>
                  <a:srgbClr val="003560"/>
                </a:solidFill>
                <a:latin typeface="Arial" panose="020B0604020202020204" pitchFamily="34" charset="0"/>
                <a:cs typeface="Arial" panose="020B0604020202020204" pitchFamily="34" charset="0"/>
              </a:defRPr>
            </a:lvl4pPr>
            <a:lvl5pPr>
              <a:defRPr sz="2400">
                <a:solidFill>
                  <a:srgbClr val="003560"/>
                </a:solidFill>
                <a:latin typeface="Arial" panose="020B0604020202020204" pitchFamily="34" charset="0"/>
                <a:cs typeface="Arial" panose="020B0604020202020204" pitchFamily="34" charset="0"/>
              </a:defRPr>
            </a:lvl5pPr>
          </a:lstStyle>
          <a:p>
            <a:pPr lvl="0"/>
            <a:r>
              <a:rPr lang="en-GB" dirty="0"/>
              <a:t>Body text Arial 24pt</a:t>
            </a:r>
            <a:endParaRPr lang="en-US" dirty="0"/>
          </a:p>
        </p:txBody>
      </p:sp>
    </p:spTree>
    <p:extLst>
      <p:ext uri="{BB962C8B-B14F-4D97-AF65-F5344CB8AC3E}">
        <p14:creationId xmlns:p14="http://schemas.microsoft.com/office/powerpoint/2010/main" val="28108165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83BB4406-02B4-284F-84C5-A21F22E6BA49}"/>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
        <p:nvSpPr>
          <p:cNvPr id="11" name="Content Placeholder 7">
            <a:extLst>
              <a:ext uri="{FF2B5EF4-FFF2-40B4-BE49-F238E27FC236}">
                <a16:creationId xmlns:a16="http://schemas.microsoft.com/office/drawing/2014/main" id="{5FEA054A-F191-E34B-8C26-BA11F3F0C090}"/>
              </a:ext>
            </a:extLst>
          </p:cNvPr>
          <p:cNvSpPr>
            <a:spLocks noGrp="1"/>
          </p:cNvSpPr>
          <p:nvPr>
            <p:ph sz="quarter" idx="13"/>
          </p:nvPr>
        </p:nvSpPr>
        <p:spPr>
          <a:xfrm>
            <a:off x="285750" y="1627188"/>
            <a:ext cx="11474450" cy="46069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76892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ual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838200" y="1608667"/>
            <a:ext cx="5181600" cy="456829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p:cNvSpPr>
            <a:spLocks noGrp="1"/>
          </p:cNvSpPr>
          <p:nvPr>
            <p:ph sz="half" idx="2"/>
          </p:nvPr>
        </p:nvSpPr>
        <p:spPr>
          <a:xfrm>
            <a:off x="6172200" y="1608667"/>
            <a:ext cx="5181600" cy="456829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itle 1">
            <a:extLst>
              <a:ext uri="{FF2B5EF4-FFF2-40B4-BE49-F238E27FC236}">
                <a16:creationId xmlns:a16="http://schemas.microsoft.com/office/drawing/2014/main" id="{3EE31514-F8EA-5D4E-B45D-65DD78DBE34E}"/>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3412524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Title 1">
            <a:extLst>
              <a:ext uri="{FF2B5EF4-FFF2-40B4-BE49-F238E27FC236}">
                <a16:creationId xmlns:a16="http://schemas.microsoft.com/office/drawing/2014/main" id="{191D55F9-A3F2-1242-A5F3-5AAACC9DB3AE}"/>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22494081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90418" y="1657926"/>
            <a:ext cx="6629400" cy="789709"/>
          </a:xfrm>
        </p:spPr>
        <p:txBody>
          <a:bodyPr anchor="t">
            <a:normAutofit/>
          </a:bodyPr>
          <a:lstStyle>
            <a:lvl1pPr algn="l">
              <a:defRPr sz="2800">
                <a:solidFill>
                  <a:schemeClr val="accent1">
                    <a:lumMod val="50000"/>
                  </a:schemeClr>
                </a:solidFill>
                <a:latin typeface="Arial" panose="020B0604020202020204" pitchFamily="34" charset="0"/>
                <a:cs typeface="Arial" panose="020B0604020202020204" pitchFamily="34" charset="0"/>
              </a:defRPr>
            </a:lvl1pPr>
          </a:lstStyle>
          <a:p>
            <a:r>
              <a:rPr lang="en-GB"/>
              <a:t>Click to edit Master title style</a:t>
            </a:r>
            <a:endParaRPr lang="en-GB" dirty="0"/>
          </a:p>
        </p:txBody>
      </p:sp>
      <p:sp>
        <p:nvSpPr>
          <p:cNvPr id="3" name="Subtitle 2"/>
          <p:cNvSpPr>
            <a:spLocks noGrp="1"/>
          </p:cNvSpPr>
          <p:nvPr>
            <p:ph type="subTitle" idx="1"/>
          </p:nvPr>
        </p:nvSpPr>
        <p:spPr>
          <a:xfrm>
            <a:off x="690418" y="3015529"/>
            <a:ext cx="5680364" cy="623598"/>
          </a:xfrm>
        </p:spPr>
        <p:txBody>
          <a:bodyPr>
            <a:normAutofit/>
          </a:bodyPr>
          <a:lstStyle>
            <a:lvl1pPr marL="0" indent="0" algn="l">
              <a:buNone/>
              <a:defRPr sz="240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Tree>
    <p:extLst>
      <p:ext uri="{BB962C8B-B14F-4D97-AF65-F5344CB8AC3E}">
        <p14:creationId xmlns:p14="http://schemas.microsoft.com/office/powerpoint/2010/main" val="11842734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97420DD-2415-454D-AA0F-DBDA719CBDF3}"/>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11012830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41680" y="2123676"/>
            <a:ext cx="4027169" cy="1600200"/>
          </a:xfrm>
        </p:spPr>
        <p:txBody>
          <a:bodyPr anchor="t">
            <a:normAutofit/>
          </a:bodyPr>
          <a:lstStyle>
            <a:lvl1pPr algn="l">
              <a:defRPr sz="2800"/>
            </a:lvl1pPr>
          </a:lstStyle>
          <a:p>
            <a:r>
              <a:rPr lang="en-GB" dirty="0"/>
              <a:t>Click to edit Master title style</a:t>
            </a:r>
          </a:p>
        </p:txBody>
      </p:sp>
      <p:sp>
        <p:nvSpPr>
          <p:cNvPr id="4" name="Text Placeholder 3"/>
          <p:cNvSpPr>
            <a:spLocks noGrp="1"/>
          </p:cNvSpPr>
          <p:nvPr>
            <p:ph type="body" sz="half" idx="2"/>
          </p:nvPr>
        </p:nvSpPr>
        <p:spPr>
          <a:xfrm>
            <a:off x="741680" y="3934224"/>
            <a:ext cx="4030345" cy="1934763"/>
          </a:xfrm>
        </p:spPr>
        <p:txBody>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3" name="Content Placeholder 2"/>
          <p:cNvSpPr>
            <a:spLocks noGrp="1"/>
          </p:cNvSpPr>
          <p:nvPr>
            <p:ph idx="1"/>
          </p:nvPr>
        </p:nvSpPr>
        <p:spPr>
          <a:xfrm>
            <a:off x="5183188" y="987425"/>
            <a:ext cx="6172200" cy="4873625"/>
          </a:xfrm>
        </p:spPr>
        <p:txBody>
          <a:bodyPr/>
          <a:lstStyle>
            <a:lvl1pPr>
              <a:defRPr sz="2400"/>
            </a:lvl1pPr>
            <a:lvl2pPr>
              <a:defRPr sz="24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Tree>
    <p:extLst>
      <p:ext uri="{BB962C8B-B14F-4D97-AF65-F5344CB8AC3E}">
        <p14:creationId xmlns:p14="http://schemas.microsoft.com/office/powerpoint/2010/main" val="2328039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A65B24-645B-1746-9651-55C209C5E25D}"/>
              </a:ext>
            </a:extLst>
          </p:cNvPr>
          <p:cNvSpPr/>
          <p:nvPr userDrawn="1"/>
        </p:nvSpPr>
        <p:spPr>
          <a:xfrm>
            <a:off x="0" y="0"/>
            <a:ext cx="12192000"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38103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511800" y="681037"/>
            <a:ext cx="5842000" cy="1009651"/>
          </a:xfrm>
          <a:prstGeom prst="rect">
            <a:avLst/>
          </a:prstGeom>
        </p:spPr>
        <p:txBody>
          <a:bodyPr vert="horz" lIns="91440" tIns="45720" rIns="91440" bIns="45720" rtlCol="0" anchor="t">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F624FB1-CB24-4B4C-BFD4-AD276D9A4059}" type="datetimeFigureOut">
              <a:rPr lang="en-GB" smtClean="0"/>
              <a:t>19/11/2025</a:t>
            </a:fld>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19F3F6-C255-4AC5-91C2-3F61B6509B36}" type="slidenum">
              <a:rPr lang="en-GB" smtClean="0"/>
              <a:t>‹#›</a:t>
            </a:fld>
            <a:endParaRPr lang="en-GB"/>
          </a:p>
        </p:txBody>
      </p:sp>
      <p:pic>
        <p:nvPicPr>
          <p:cNvPr id="9" name="Picture 8">
            <a:extLst>
              <a:ext uri="{FF2B5EF4-FFF2-40B4-BE49-F238E27FC236}">
                <a16:creationId xmlns:a16="http://schemas.microsoft.com/office/drawing/2014/main" id="{46262A0F-9E49-6B4D-94F3-647B33A25AE7}"/>
              </a:ext>
              <a:ext uri="{C183D7F6-B498-43B3-948B-1728B52AA6E4}">
                <adec:decorative xmlns:adec="http://schemas.microsoft.com/office/drawing/2017/decorative" val="1"/>
              </a:ext>
            </a:extLst>
          </p:cNvPr>
          <p:cNvPicPr>
            <a:picLocks noChangeAspect="1"/>
          </p:cNvPicPr>
          <p:nvPr userDrawn="1"/>
        </p:nvPicPr>
        <p:blipFill>
          <a:blip r:embed="rId10">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635699181"/>
      </p:ext>
    </p:extLst>
  </p:cSld>
  <p:clrMap bg1="lt1" tx1="dk1" bg2="lt2" tx2="dk2" accent1="accent1" accent2="accent2" accent3="accent3" accent4="accent4" accent5="accent5" accent6="accent6" hlink="hlink" folHlink="folHlink"/>
  <p:sldLayoutIdLst>
    <p:sldLayoutId id="2147483688" r:id="rId1"/>
    <p:sldLayoutId id="2147483683" r:id="rId2"/>
    <p:sldLayoutId id="2147483652" r:id="rId3"/>
    <p:sldLayoutId id="2147483653" r:id="rId4"/>
    <p:sldLayoutId id="2147483649" r:id="rId5"/>
    <p:sldLayoutId id="2147483654" r:id="rId6"/>
    <p:sldLayoutId id="2147483656" r:id="rId7"/>
    <p:sldLayoutId id="2147483684" r:id="rId8"/>
  </p:sldLayoutIdLst>
  <p:txStyles>
    <p:titleStyle>
      <a:lvl1pPr algn="r" defTabSz="914400" rtl="0" eaLnBrk="1" latinLnBrk="0" hangingPunct="1">
        <a:lnSpc>
          <a:spcPct val="90000"/>
        </a:lnSpc>
        <a:spcBef>
          <a:spcPct val="0"/>
        </a:spcBef>
        <a:buNone/>
        <a:defRPr sz="2800" b="1" kern="1200">
          <a:solidFill>
            <a:schemeClr val="accent1">
              <a:lumMod val="50000"/>
            </a:schemeClr>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3.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3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63.png"/></Relationships>
</file>

<file path=ppt/slides/_rels/slide6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1.png"/><Relationship Id="rId1" Type="http://schemas.openxmlformats.org/officeDocument/2006/relationships/slideLayout" Target="../slideLayouts/slideLayout3.xml"/><Relationship Id="rId4" Type="http://schemas.openxmlformats.org/officeDocument/2006/relationships/image" Target="../media/image74.png"/></Relationships>
</file>

<file path=ppt/slides/_rels/slide7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79.png"/></Relationships>
</file>

<file path=ppt/slides/_rels/slide7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89.png"/></Relationships>
</file>

<file path=ppt/slides/_rels/slide9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5.xml"/><Relationship Id="rId4" Type="http://schemas.openxmlformats.org/officeDocument/2006/relationships/image" Target="../media/image93.png"/></Relationships>
</file>

<file path=ppt/slides/_rels/slide9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3.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9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9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2.xml"/><Relationship Id="rId4" Type="http://schemas.openxmlformats.org/officeDocument/2006/relationships/image" Target="../media/image107.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8.jp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he Gilbert Scott Building">
            <a:extLst>
              <a:ext uri="{FF2B5EF4-FFF2-40B4-BE49-F238E27FC236}">
                <a16:creationId xmlns:a16="http://schemas.microsoft.com/office/drawing/2014/main" id="{BAB3C4BD-A67A-4D47-6D5C-637F167E7C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p:txBody>
          <a:bodyPr>
            <a:normAutofit/>
          </a:bodyPr>
          <a:lstStyle/>
          <a:p>
            <a:r>
              <a:rPr lang="en-GB" b="1" i="0" dirty="0">
                <a:effectLst/>
                <a:latin typeface="-apple-system"/>
              </a:rPr>
              <a:t>Introduction to Data Science and Systems</a:t>
            </a:r>
            <a:endParaRPr lang="en-GB" dirty="0">
              <a:solidFill>
                <a:schemeClr val="tx1"/>
              </a:solidFill>
            </a:endParaRPr>
          </a:p>
        </p:txBody>
      </p:sp>
      <p:sp>
        <p:nvSpPr>
          <p:cNvPr id="3" name="Subtitle 2"/>
          <p:cNvSpPr>
            <a:spLocks noGrp="1"/>
          </p:cNvSpPr>
          <p:nvPr>
            <p:ph type="subTitle" idx="1"/>
          </p:nvPr>
        </p:nvSpPr>
        <p:spPr>
          <a:xfrm>
            <a:off x="690417" y="2576945"/>
            <a:ext cx="6352640" cy="1062182"/>
          </a:xfrm>
        </p:spPr>
        <p:txBody>
          <a:bodyPr/>
          <a:lstStyle/>
          <a:p>
            <a:r>
              <a:rPr lang="en-GB" dirty="0">
                <a:solidFill>
                  <a:schemeClr val="tx1"/>
                </a:solidFill>
              </a:rPr>
              <a:t>Probabilities III – Continuous Random Variables</a:t>
            </a:r>
          </a:p>
          <a:p>
            <a:endParaRPr lang="en-GB" dirty="0">
              <a:solidFill>
                <a:schemeClr val="tx1"/>
              </a:solidFill>
            </a:endParaRPr>
          </a:p>
          <a:p>
            <a:endParaRPr lang="en-GB" dirty="0">
              <a:solidFill>
                <a:schemeClr val="tx1"/>
              </a:solidFill>
            </a:endParaRPr>
          </a:p>
        </p:txBody>
      </p:sp>
      <p:sp>
        <p:nvSpPr>
          <p:cNvPr id="5" name="TextBox 4">
            <a:extLst>
              <a:ext uri="{FF2B5EF4-FFF2-40B4-BE49-F238E27FC236}">
                <a16:creationId xmlns:a16="http://schemas.microsoft.com/office/drawing/2014/main" id="{8751FC6E-FCE7-8227-A3BF-138CAED1187D}"/>
              </a:ext>
            </a:extLst>
          </p:cNvPr>
          <p:cNvSpPr txBox="1"/>
          <p:nvPr/>
        </p:nvSpPr>
        <p:spPr>
          <a:xfrm>
            <a:off x="690417" y="3269795"/>
            <a:ext cx="6183086" cy="369332"/>
          </a:xfrm>
          <a:prstGeom prst="rect">
            <a:avLst/>
          </a:prstGeom>
          <a:noFill/>
        </p:spPr>
        <p:txBody>
          <a:bodyPr wrap="square">
            <a:spAutoFit/>
          </a:bodyPr>
          <a:lstStyle/>
          <a:p>
            <a:r>
              <a:rPr lang="en-US" altLang="zh-CN" dirty="0">
                <a:solidFill>
                  <a:schemeClr val="tx1"/>
                </a:solidFill>
              </a:rPr>
              <a:t>Dr</a:t>
            </a:r>
            <a:r>
              <a:rPr lang="zh-CN" altLang="en-US" dirty="0">
                <a:solidFill>
                  <a:schemeClr val="tx1"/>
                </a:solidFill>
              </a:rPr>
              <a:t> </a:t>
            </a:r>
            <a:r>
              <a:rPr lang="en-GB" altLang="zh-CN" dirty="0">
                <a:solidFill>
                  <a:schemeClr val="tx1"/>
                </a:solidFill>
              </a:rPr>
              <a:t>Nicolas Pugeault</a:t>
            </a:r>
            <a:endParaRPr lang="en-GB" dirty="0">
              <a:solidFill>
                <a:schemeClr val="tx1"/>
              </a:solidFill>
            </a:endParaRPr>
          </a:p>
        </p:txBody>
      </p:sp>
    </p:spTree>
    <p:extLst>
      <p:ext uri="{BB962C8B-B14F-4D97-AF65-F5344CB8AC3E}">
        <p14:creationId xmlns:p14="http://schemas.microsoft.com/office/powerpoint/2010/main" val="42441715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A5424-B679-554A-935B-2CF2EFD17240}"/>
              </a:ext>
            </a:extLst>
          </p:cNvPr>
          <p:cNvSpPr>
            <a:spLocks noGrp="1"/>
          </p:cNvSpPr>
          <p:nvPr>
            <p:ph type="title"/>
          </p:nvPr>
        </p:nvSpPr>
        <p:spPr>
          <a:xfrm>
            <a:off x="2549236" y="533614"/>
            <a:ext cx="9210963" cy="888786"/>
          </a:xfrm>
        </p:spPr>
        <p:txBody>
          <a:bodyPr anchor="t">
            <a:normAutofit/>
          </a:bodyPr>
          <a:lstStyle/>
          <a:p>
            <a:r>
              <a:rPr lang="en-US" dirty="0"/>
              <a:t>Today’s learning outcomes</a:t>
            </a:r>
          </a:p>
        </p:txBody>
      </p:sp>
      <p:sp>
        <p:nvSpPr>
          <p:cNvPr id="8" name="Picture Placeholder 2">
            <a:extLst>
              <a:ext uri="{FF2B5EF4-FFF2-40B4-BE49-F238E27FC236}">
                <a16:creationId xmlns:a16="http://schemas.microsoft.com/office/drawing/2014/main" id="{25585006-BCAE-529E-80CC-A539A29D7C53}"/>
              </a:ext>
            </a:extLst>
          </p:cNvPr>
          <p:cNvSpPr>
            <a:spLocks noGrp="1"/>
          </p:cNvSpPr>
          <p:nvPr>
            <p:ph type="pic" sz="quarter" idx="13"/>
          </p:nvPr>
        </p:nvSpPr>
        <p:spPr>
          <a:xfrm>
            <a:off x="-1" y="1699336"/>
            <a:ext cx="2452283" cy="4575733"/>
          </a:xfrm>
        </p:spPr>
        <p:txBody>
          <a:bodyPr/>
          <a:lstStyle/>
          <a:p>
            <a:endParaRPr lang="en-GB"/>
          </a:p>
        </p:txBody>
      </p:sp>
      <p:sp>
        <p:nvSpPr>
          <p:cNvPr id="3" name="Content Placeholder 2">
            <a:extLst>
              <a:ext uri="{FF2B5EF4-FFF2-40B4-BE49-F238E27FC236}">
                <a16:creationId xmlns:a16="http://schemas.microsoft.com/office/drawing/2014/main" id="{32FF7AE7-790E-374F-98D3-31609964D7B4}"/>
              </a:ext>
            </a:extLst>
          </p:cNvPr>
          <p:cNvSpPr>
            <a:spLocks noGrp="1"/>
          </p:cNvSpPr>
          <p:nvPr>
            <p:ph type="body" sz="quarter" idx="14"/>
          </p:nvPr>
        </p:nvSpPr>
        <p:spPr>
          <a:xfrm>
            <a:off x="2549235" y="1705343"/>
            <a:ext cx="9210963" cy="4526124"/>
          </a:xfrm>
        </p:spPr>
        <p:txBody>
          <a:bodyPr>
            <a:normAutofit/>
          </a:bodyPr>
          <a:lstStyle/>
          <a:p>
            <a:pPr algn="l">
              <a:buFont typeface="Arial" panose="020B0604020202020204" pitchFamily="34" charset="0"/>
              <a:buChar char="•"/>
            </a:pPr>
            <a:r>
              <a:rPr lang="en-US" b="0" i="0" dirty="0">
                <a:effectLst/>
                <a:latin typeface="system-ui"/>
              </a:rPr>
              <a:t>the specific problems of continuous random variables as compared to discrete random variables</a:t>
            </a:r>
          </a:p>
          <a:p>
            <a:r>
              <a:rPr lang="en-US" b="0" i="0" dirty="0">
                <a:effectLst/>
                <a:latin typeface="system-ui"/>
              </a:rPr>
              <a:t>how to model simple data using normal distributions and the central limit theorem</a:t>
            </a:r>
          </a:p>
          <a:p>
            <a:pPr algn="l">
              <a:buFont typeface="Arial" panose="020B0604020202020204" pitchFamily="34" charset="0"/>
              <a:buChar char="•"/>
            </a:pPr>
            <a:r>
              <a:rPr lang="en-US" b="0" i="0" dirty="0">
                <a:effectLst/>
                <a:latin typeface="system-ui"/>
              </a:rPr>
              <a:t>what multivariate distributions are</a:t>
            </a:r>
          </a:p>
          <a:p>
            <a:pPr algn="l">
              <a:buFont typeface="Arial" panose="020B0604020202020204" pitchFamily="34" charset="0"/>
              <a:buChar char="•"/>
            </a:pPr>
            <a:r>
              <a:rPr lang="en-US" b="0" i="0" dirty="0">
                <a:effectLst/>
                <a:latin typeface="system-ui"/>
              </a:rPr>
              <a:t>what Monte Carlo approaches are, and how expectation can be approximated</a:t>
            </a:r>
          </a:p>
          <a:p>
            <a:pPr algn="l">
              <a:buFont typeface="Arial" panose="020B0604020202020204" pitchFamily="34" charset="0"/>
              <a:buChar char="•"/>
            </a:pPr>
            <a:r>
              <a:rPr lang="en-US" b="0" i="0" dirty="0">
                <a:effectLst/>
                <a:latin typeface="system-ui"/>
              </a:rPr>
              <a:t>what population, parameters, statistics and samples are</a:t>
            </a:r>
          </a:p>
          <a:p>
            <a:pPr algn="l">
              <a:buFont typeface="Arial" panose="020B0604020202020204" pitchFamily="34" charset="0"/>
              <a:buChar char="•"/>
            </a:pPr>
            <a:r>
              <a:rPr lang="en-US" b="0" i="0" dirty="0">
                <a:effectLst/>
                <a:latin typeface="system-ui"/>
              </a:rPr>
              <a:t>how estimators and maximum likelihood estimation work</a:t>
            </a:r>
          </a:p>
          <a:p>
            <a:pPr algn="l">
              <a:buFont typeface="Arial" panose="020B0604020202020204" pitchFamily="34" charset="0"/>
              <a:buChar char="•"/>
            </a:pPr>
            <a:r>
              <a:rPr lang="en-US" b="0" i="0" dirty="0">
                <a:effectLst/>
                <a:latin typeface="system-ui"/>
              </a:rPr>
              <a:t>MCMC approaches to sampling posteriors in Bayesian inference</a:t>
            </a:r>
          </a:p>
        </p:txBody>
      </p:sp>
    </p:spTree>
    <p:extLst>
      <p:ext uri="{BB962C8B-B14F-4D97-AF65-F5344CB8AC3E}">
        <p14:creationId xmlns:p14="http://schemas.microsoft.com/office/powerpoint/2010/main" val="294217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E0AD72-F70D-7BC6-22E4-E24928870E87}"/>
              </a:ext>
            </a:extLst>
          </p:cNvPr>
          <p:cNvSpPr>
            <a:spLocks noGrp="1"/>
          </p:cNvSpPr>
          <p:nvPr>
            <p:ph type="title"/>
          </p:nvPr>
        </p:nvSpPr>
        <p:spPr>
          <a:xfrm>
            <a:off x="741680" y="2123676"/>
            <a:ext cx="4027169" cy="1600200"/>
          </a:xfrm>
        </p:spPr>
        <p:txBody>
          <a:bodyPr anchor="t">
            <a:normAutofit/>
          </a:bodyPr>
          <a:lstStyle/>
          <a:p>
            <a:r>
              <a:rPr lang="en-GB" dirty="0"/>
              <a:t>Continuous random variables</a:t>
            </a:r>
          </a:p>
        </p:txBody>
      </p:sp>
      <p:sp>
        <p:nvSpPr>
          <p:cNvPr id="11" name="Text Placeholder 2">
            <a:extLst>
              <a:ext uri="{FF2B5EF4-FFF2-40B4-BE49-F238E27FC236}">
                <a16:creationId xmlns:a16="http://schemas.microsoft.com/office/drawing/2014/main" id="{6DAAC768-EF25-89CD-AF5D-1C1B0EDC79C8}"/>
              </a:ext>
            </a:extLst>
          </p:cNvPr>
          <p:cNvSpPr>
            <a:spLocks noGrp="1"/>
          </p:cNvSpPr>
          <p:nvPr>
            <p:ph type="body" sz="half" idx="2"/>
          </p:nvPr>
        </p:nvSpPr>
        <p:spPr>
          <a:xfrm>
            <a:off x="741680" y="3934224"/>
            <a:ext cx="4030345" cy="1934763"/>
          </a:xfrm>
        </p:spPr>
        <p:txBody>
          <a:bodyPr/>
          <a:lstStyle/>
          <a:p>
            <a:endParaRPr lang="en-US"/>
          </a:p>
        </p:txBody>
      </p:sp>
      <p:pic>
        <p:nvPicPr>
          <p:cNvPr id="6" name="Content Placeholder 5">
            <a:extLst>
              <a:ext uri="{FF2B5EF4-FFF2-40B4-BE49-F238E27FC236}">
                <a16:creationId xmlns:a16="http://schemas.microsoft.com/office/drawing/2014/main" id="{F25C8B10-84AB-01FB-5A2A-98D0170E7D97}"/>
              </a:ext>
            </a:extLst>
          </p:cNvPr>
          <p:cNvPicPr>
            <a:picLocks noChangeAspect="1"/>
          </p:cNvPicPr>
          <p:nvPr/>
        </p:nvPicPr>
        <p:blipFill>
          <a:blip r:embed="rId2"/>
          <a:stretch>
            <a:fillRect/>
          </a:stretch>
        </p:blipFill>
        <p:spPr>
          <a:xfrm>
            <a:off x="5183188" y="1827181"/>
            <a:ext cx="6172200" cy="3194112"/>
          </a:xfrm>
          <a:prstGeom prst="rect">
            <a:avLst/>
          </a:prstGeom>
          <a:noFill/>
        </p:spPr>
      </p:pic>
    </p:spTree>
    <p:extLst>
      <p:ext uri="{BB962C8B-B14F-4D97-AF65-F5344CB8AC3E}">
        <p14:creationId xmlns:p14="http://schemas.microsoft.com/office/powerpoint/2010/main" val="1158979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363E4-87A1-D027-5629-40C457C3E3AE}"/>
              </a:ext>
            </a:extLst>
          </p:cNvPr>
          <p:cNvSpPr>
            <a:spLocks noGrp="1"/>
          </p:cNvSpPr>
          <p:nvPr>
            <p:ph type="title"/>
          </p:nvPr>
        </p:nvSpPr>
        <p:spPr/>
        <p:txBody>
          <a:bodyPr/>
          <a:lstStyle/>
          <a:p>
            <a:r>
              <a:rPr lang="en-GB" b="1" i="0" dirty="0">
                <a:effectLst/>
                <a:latin typeface="system-ui"/>
              </a:rPr>
              <a:t>Problems with continuous variables</a:t>
            </a:r>
            <a:endParaRPr lang="en-GB" dirty="0"/>
          </a:p>
        </p:txBody>
      </p:sp>
      <p:sp>
        <p:nvSpPr>
          <p:cNvPr id="3" name="Content Placeholder 2">
            <a:extLst>
              <a:ext uri="{FF2B5EF4-FFF2-40B4-BE49-F238E27FC236}">
                <a16:creationId xmlns:a16="http://schemas.microsoft.com/office/drawing/2014/main" id="{E9CB007D-D96F-10CD-D3AA-D1228E092460}"/>
              </a:ext>
            </a:extLst>
          </p:cNvPr>
          <p:cNvSpPr>
            <a:spLocks noGrp="1"/>
          </p:cNvSpPr>
          <p:nvPr>
            <p:ph sz="quarter" idx="13"/>
          </p:nvPr>
        </p:nvSpPr>
        <p:spPr/>
        <p:txBody>
          <a:bodyPr>
            <a:normAutofit lnSpcReduction="10000"/>
          </a:bodyPr>
          <a:lstStyle/>
          <a:p>
            <a:pPr marL="0" indent="0" algn="l">
              <a:buNone/>
            </a:pPr>
            <a:r>
              <a:rPr lang="en-US" b="0" i="0" dirty="0">
                <a:effectLst/>
                <a:latin typeface="system-ui"/>
              </a:rPr>
              <a:t>Continuous random variables are defined by a </a:t>
            </a:r>
            <a:r>
              <a:rPr lang="en-US" b="0" i="0" dirty="0">
                <a:solidFill>
                  <a:schemeClr val="accent5"/>
                </a:solidFill>
                <a:effectLst/>
                <a:latin typeface="system-ui"/>
              </a:rPr>
              <a:t>PDF (probability </a:t>
            </a:r>
            <a:r>
              <a:rPr lang="en-US" b="0" i="1" dirty="0">
                <a:solidFill>
                  <a:schemeClr val="accent5"/>
                </a:solidFill>
                <a:effectLst/>
                <a:latin typeface="system-ui"/>
              </a:rPr>
              <a:t>density</a:t>
            </a:r>
            <a:r>
              <a:rPr lang="en-US" b="0" i="0" dirty="0">
                <a:solidFill>
                  <a:schemeClr val="accent5"/>
                </a:solidFill>
                <a:effectLst/>
                <a:latin typeface="system-ui"/>
              </a:rPr>
              <a:t> function)</a:t>
            </a:r>
            <a:r>
              <a:rPr lang="en-US" b="0" i="0" dirty="0">
                <a:effectLst/>
                <a:latin typeface="system-ui"/>
              </a:rPr>
              <a:t>, rather than a PMF (probability </a:t>
            </a:r>
            <a:r>
              <a:rPr lang="en-US" b="0" i="1" dirty="0">
                <a:effectLst/>
                <a:latin typeface="system-ui"/>
              </a:rPr>
              <a:t>mass</a:t>
            </a:r>
            <a:r>
              <a:rPr lang="en-US" b="0" i="0" dirty="0">
                <a:effectLst/>
                <a:latin typeface="system-ui"/>
              </a:rPr>
              <a:t> function). A PMF is essentially just a vector of values, but a PDF is </a:t>
            </a:r>
            <a:r>
              <a:rPr lang="en-US" b="0" i="0" dirty="0">
                <a:solidFill>
                  <a:schemeClr val="accent5"/>
                </a:solidFill>
                <a:effectLst/>
                <a:latin typeface="system-ui"/>
              </a:rPr>
              <a:t>a function mapping </a:t>
            </a:r>
            <a:r>
              <a:rPr lang="en-US" b="0" i="1" dirty="0">
                <a:solidFill>
                  <a:schemeClr val="accent5"/>
                </a:solidFill>
                <a:effectLst/>
                <a:latin typeface="system-ui"/>
              </a:rPr>
              <a:t>any</a:t>
            </a:r>
            <a:r>
              <a:rPr lang="en-US" b="0" i="0" dirty="0">
                <a:solidFill>
                  <a:schemeClr val="accent5"/>
                </a:solidFill>
                <a:effectLst/>
                <a:latin typeface="system-ui"/>
              </a:rPr>
              <a:t> interval in its domain to a probability</a:t>
            </a:r>
            <a:r>
              <a:rPr lang="en-US" b="0" i="0" dirty="0">
                <a:effectLst/>
                <a:latin typeface="system-ui"/>
              </a:rPr>
              <a:t>. This brings a number of complexities: </a:t>
            </a:r>
          </a:p>
          <a:p>
            <a:pPr algn="l">
              <a:buFont typeface="Arial" panose="020B0604020202020204" pitchFamily="34" charset="0"/>
              <a:buChar char="•"/>
            </a:pPr>
            <a:r>
              <a:rPr lang="en-US" b="0" i="0" dirty="0">
                <a:effectLst/>
                <a:latin typeface="system-ui"/>
              </a:rPr>
              <a:t>The probability of any specific value is P(X=x)=0: </a:t>
            </a:r>
            <a:r>
              <a:rPr lang="en-US" b="0" i="1" dirty="0">
                <a:effectLst/>
                <a:latin typeface="system-ui"/>
              </a:rPr>
              <a:t>zero</a:t>
            </a:r>
            <a:r>
              <a:rPr lang="en-US" b="0" i="0" dirty="0">
                <a:effectLst/>
                <a:latin typeface="system-ui"/>
              </a:rPr>
              <a:t> for every possible x, yet any value in the </a:t>
            </a:r>
            <a:r>
              <a:rPr lang="en-US" b="0" i="1" dirty="0">
                <a:effectLst/>
                <a:latin typeface="system-ui"/>
              </a:rPr>
              <a:t>support</a:t>
            </a:r>
            <a:r>
              <a:rPr lang="en-US" b="0" i="0" dirty="0">
                <a:effectLst/>
                <a:latin typeface="system-ui"/>
              </a:rPr>
              <a:t> of the distribution function (everywhere the PDF is non-zero) is possible.</a:t>
            </a:r>
          </a:p>
          <a:p>
            <a:pPr algn="l">
              <a:buFont typeface="Arial" panose="020B0604020202020204" pitchFamily="34" charset="0"/>
              <a:buChar char="•"/>
            </a:pPr>
            <a:r>
              <a:rPr lang="en-US" b="0" i="0" dirty="0">
                <a:effectLst/>
                <a:latin typeface="system-ui"/>
              </a:rPr>
              <a:t>There is no direct way to sample from the PDF in the same way as we did for the PMF. But there are several tricks for sampling from continuous distributions.</a:t>
            </a:r>
          </a:p>
          <a:p>
            <a:pPr algn="l">
              <a:buFont typeface="Arial" panose="020B0604020202020204" pitchFamily="34" charset="0"/>
              <a:buChar char="•"/>
            </a:pPr>
            <a:r>
              <a:rPr lang="en-US" b="0" i="0" dirty="0">
                <a:effectLst/>
                <a:latin typeface="system-ui"/>
              </a:rPr>
              <a:t>We cannot estimate the true PDF from simple counts of observations like with the empirical distribution. </a:t>
            </a:r>
          </a:p>
          <a:p>
            <a:pPr algn="l">
              <a:buFont typeface="Arial" panose="020B0604020202020204" pitchFamily="34" charset="0"/>
              <a:buChar char="•"/>
            </a:pPr>
            <a:r>
              <a:rPr lang="en-US" b="0" i="0" dirty="0">
                <a:effectLst/>
                <a:latin typeface="system-ui"/>
              </a:rPr>
              <a:t>How do we do computations with continuous PDFs using Bayes' Rule?</a:t>
            </a:r>
          </a:p>
          <a:p>
            <a:pPr algn="l">
              <a:buFont typeface="Arial" panose="020B0604020202020204" pitchFamily="34" charset="0"/>
              <a:buChar char="•"/>
            </a:pPr>
            <a:r>
              <a:rPr lang="en-US" b="0" i="0" dirty="0">
                <a:effectLst/>
                <a:latin typeface="system-ui"/>
              </a:rPr>
              <a:t>Simple discrete distributions don't have a concept of dimension. But we can have continuous values in R, or in vector spaces R</a:t>
            </a:r>
            <a:r>
              <a:rPr lang="en-US" b="0" i="0" baseline="30000" dirty="0">
                <a:effectLst/>
                <a:latin typeface="system-ui"/>
              </a:rPr>
              <a:t>n</a:t>
            </a:r>
            <a:endParaRPr lang="en-US" b="0" i="0" dirty="0">
              <a:effectLst/>
              <a:latin typeface="system-ui"/>
            </a:endParaRPr>
          </a:p>
          <a:p>
            <a:pPr algn="l">
              <a:buFont typeface="Arial" panose="020B0604020202020204" pitchFamily="34" charset="0"/>
              <a:buChar char="•"/>
            </a:pPr>
            <a:endParaRPr lang="en-US" b="0" i="0" dirty="0">
              <a:effectLst/>
              <a:latin typeface="system-ui"/>
            </a:endParaRPr>
          </a:p>
          <a:p>
            <a:endParaRPr lang="en-GB" dirty="0"/>
          </a:p>
        </p:txBody>
      </p:sp>
    </p:spTree>
    <p:extLst>
      <p:ext uri="{BB962C8B-B14F-4D97-AF65-F5344CB8AC3E}">
        <p14:creationId xmlns:p14="http://schemas.microsoft.com/office/powerpoint/2010/main" val="13727916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FA08E-8F5A-0859-2A0D-843379245485}"/>
              </a:ext>
            </a:extLst>
          </p:cNvPr>
          <p:cNvSpPr>
            <a:spLocks noGrp="1"/>
          </p:cNvSpPr>
          <p:nvPr>
            <p:ph type="title"/>
          </p:nvPr>
        </p:nvSpPr>
        <p:spPr/>
        <p:txBody>
          <a:bodyPr/>
          <a:lstStyle/>
          <a:p>
            <a:r>
              <a:rPr lang="en-GB" b="1" i="0" dirty="0">
                <a:effectLst/>
                <a:latin typeface="system-ui"/>
              </a:rPr>
              <a:t>Probability distribution functions</a:t>
            </a:r>
            <a:endParaRPr lang="en-GB" dirty="0"/>
          </a:p>
        </p:txBody>
      </p:sp>
      <p:sp>
        <p:nvSpPr>
          <p:cNvPr id="3" name="Content Placeholder 2">
            <a:extLst>
              <a:ext uri="{FF2B5EF4-FFF2-40B4-BE49-F238E27FC236}">
                <a16:creationId xmlns:a16="http://schemas.microsoft.com/office/drawing/2014/main" id="{1420DF95-2940-05E6-C58B-6D31E1D1E375}"/>
              </a:ext>
            </a:extLst>
          </p:cNvPr>
          <p:cNvSpPr>
            <a:spLocks noGrp="1"/>
          </p:cNvSpPr>
          <p:nvPr>
            <p:ph sz="quarter" idx="13"/>
          </p:nvPr>
        </p:nvSpPr>
        <p:spPr/>
        <p:txBody>
          <a:bodyPr/>
          <a:lstStyle/>
          <a:p>
            <a:pPr marL="0" indent="0" algn="l">
              <a:buNone/>
            </a:pPr>
            <a:r>
              <a:rPr lang="en-US" b="0" i="0" dirty="0">
                <a:effectLst/>
                <a:latin typeface="system-ui"/>
              </a:rPr>
              <a:t>The PDF </a:t>
            </a:r>
            <a:r>
              <a:rPr lang="en-US" b="0" i="0" dirty="0" err="1">
                <a:effectLst/>
                <a:latin typeface="system-ui"/>
              </a:rPr>
              <a:t>f</a:t>
            </a:r>
            <a:r>
              <a:rPr lang="en-US" b="0" i="0" baseline="-25000" dirty="0" err="1">
                <a:effectLst/>
                <a:latin typeface="system-ui"/>
              </a:rPr>
              <a:t>X</a:t>
            </a:r>
            <a:r>
              <a:rPr lang="en-US" b="0" i="0" dirty="0">
                <a:effectLst/>
                <a:latin typeface="system-ui"/>
              </a:rPr>
              <a:t>(x) of a random variable X maps a value x (which might be a real number, or a vector, or any other continuous value) to a single number, the density at the point. </a:t>
            </a:r>
          </a:p>
          <a:p>
            <a:pPr marL="0" indent="0" algn="l">
              <a:buNone/>
            </a:pPr>
            <a:r>
              <a:rPr lang="en-US" b="0" i="0" dirty="0">
                <a:effectLst/>
                <a:latin typeface="system-ui"/>
              </a:rPr>
              <a:t>It is a function (assuming a distribution over real vectors) </a:t>
            </a:r>
            <a:r>
              <a:rPr lang="en-US" b="0" i="0" dirty="0" err="1">
                <a:effectLst/>
                <a:latin typeface="system-ui"/>
              </a:rPr>
              <a:t>R</a:t>
            </a:r>
            <a:r>
              <a:rPr lang="en-US" b="0" i="0" baseline="30000" dirty="0" err="1">
                <a:effectLst/>
                <a:latin typeface="system-ui"/>
              </a:rPr>
              <a:t>n</a:t>
            </a:r>
            <a:r>
              <a:rPr lang="en-US" b="0" i="0" dirty="0" err="1">
                <a:effectLst/>
                <a:latin typeface="system-ui"/>
              </a:rPr>
              <a:t>→R</a:t>
            </a:r>
            <a:r>
              <a:rPr lang="en-US" b="0" i="0" baseline="30000" dirty="0">
                <a:effectLst/>
                <a:latin typeface="system-ui"/>
              </a:rPr>
              <a:t>+</a:t>
            </a:r>
            <a:r>
              <a:rPr lang="en-US" b="0" i="0" dirty="0">
                <a:effectLst/>
                <a:latin typeface="system-ui"/>
              </a:rPr>
              <a:t>, where R</a:t>
            </a:r>
            <a:r>
              <a:rPr lang="en-US" b="0" i="0" baseline="30000" dirty="0">
                <a:effectLst/>
                <a:latin typeface="system-ui"/>
              </a:rPr>
              <a:t>+</a:t>
            </a:r>
            <a:r>
              <a:rPr lang="en-US" b="0" i="0" dirty="0">
                <a:effectLst/>
                <a:latin typeface="system-ui"/>
              </a:rPr>
              <a:t> is the positive real numbers, and </a:t>
            </a:r>
          </a:p>
          <a:p>
            <a:pPr algn="l">
              <a:buFont typeface="Arial" panose="020B0604020202020204" pitchFamily="34" charset="0"/>
              <a:buChar char="•"/>
            </a:pPr>
            <a:endParaRPr lang="en-US" b="0" i="0" dirty="0">
              <a:effectLst/>
              <a:latin typeface="system-ui"/>
            </a:endParaRPr>
          </a:p>
          <a:p>
            <a:pPr marL="0" indent="0" algn="l">
              <a:buNone/>
            </a:pPr>
            <a:endParaRPr lang="en-US" b="0" i="0" dirty="0">
              <a:effectLst/>
              <a:latin typeface="system-ui"/>
            </a:endParaRPr>
          </a:p>
          <a:p>
            <a:pPr marL="0" indent="0" algn="l">
              <a:buNone/>
            </a:pPr>
            <a:endParaRPr lang="en-US" dirty="0">
              <a:latin typeface="system-ui"/>
            </a:endParaRPr>
          </a:p>
          <a:p>
            <a:pPr marL="0" indent="0" algn="l">
              <a:buNone/>
            </a:pPr>
            <a:r>
              <a:rPr lang="en-US" b="0" i="0" dirty="0">
                <a:effectLst/>
                <a:latin typeface="system-ui"/>
              </a:rPr>
              <a:t>While a PMF can have outcomes with a probability of at most 1, it is </a:t>
            </a:r>
            <a:r>
              <a:rPr lang="en-US" b="0" i="1" dirty="0">
                <a:effectLst/>
                <a:latin typeface="system-ui"/>
              </a:rPr>
              <a:t>not</a:t>
            </a:r>
            <a:r>
              <a:rPr lang="en-US" b="0" i="0" dirty="0">
                <a:effectLst/>
                <a:latin typeface="system-ui"/>
              </a:rPr>
              <a:t> the case that the maximum value of a PDF is </a:t>
            </a:r>
            <a:r>
              <a:rPr lang="en-US" b="0" i="0" dirty="0" err="1">
                <a:effectLst/>
                <a:latin typeface="system-ui"/>
              </a:rPr>
              <a:t>f</a:t>
            </a:r>
            <a:r>
              <a:rPr lang="en-US" b="0" i="0" baseline="-25000" dirty="0" err="1">
                <a:effectLst/>
                <a:latin typeface="system-ui"/>
              </a:rPr>
              <a:t>X</a:t>
            </a:r>
            <a:r>
              <a:rPr lang="en-US" b="0" i="0" dirty="0">
                <a:effectLst/>
                <a:latin typeface="system-ui"/>
              </a:rPr>
              <a:t>(x) ≤ 1 - </a:t>
            </a:r>
            <a:r>
              <a:rPr lang="en-US" b="0" i="1" dirty="0">
                <a:effectLst/>
                <a:latin typeface="system-ui"/>
              </a:rPr>
              <a:t>just that the integral of the PDF be 1.</a:t>
            </a:r>
            <a:endParaRPr lang="en-US" b="0" i="0" dirty="0">
              <a:effectLst/>
              <a:latin typeface="system-ui"/>
            </a:endParaRPr>
          </a:p>
        </p:txBody>
      </p:sp>
      <p:pic>
        <p:nvPicPr>
          <p:cNvPr id="5" name="Picture 4">
            <a:extLst>
              <a:ext uri="{FF2B5EF4-FFF2-40B4-BE49-F238E27FC236}">
                <a16:creationId xmlns:a16="http://schemas.microsoft.com/office/drawing/2014/main" id="{C593CAE2-E5BC-C72C-5F83-3B9B2CFD5F12}"/>
              </a:ext>
            </a:extLst>
          </p:cNvPr>
          <p:cNvPicPr>
            <a:picLocks noChangeAspect="1"/>
          </p:cNvPicPr>
          <p:nvPr/>
        </p:nvPicPr>
        <p:blipFill>
          <a:blip r:embed="rId2"/>
          <a:stretch>
            <a:fillRect/>
          </a:stretch>
        </p:blipFill>
        <p:spPr>
          <a:xfrm>
            <a:off x="4929886" y="3558306"/>
            <a:ext cx="1257475" cy="600159"/>
          </a:xfrm>
          <a:prstGeom prst="rect">
            <a:avLst/>
          </a:prstGeom>
        </p:spPr>
      </p:pic>
    </p:spTree>
    <p:extLst>
      <p:ext uri="{BB962C8B-B14F-4D97-AF65-F5344CB8AC3E}">
        <p14:creationId xmlns:p14="http://schemas.microsoft.com/office/powerpoint/2010/main" val="32710134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5850E-AB92-BF69-0041-3429A110A22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04D8A9-82C7-41F7-753D-7B594754A652}"/>
              </a:ext>
            </a:extLst>
          </p:cNvPr>
          <p:cNvSpPr>
            <a:spLocks noGrp="1"/>
          </p:cNvSpPr>
          <p:nvPr>
            <p:ph sz="half" idx="1"/>
          </p:nvPr>
        </p:nvSpPr>
        <p:spPr>
          <a:xfrm>
            <a:off x="838200" y="1608667"/>
            <a:ext cx="5521504" cy="4568296"/>
          </a:xfrm>
        </p:spPr>
        <p:txBody>
          <a:bodyPr>
            <a:normAutofit/>
          </a:bodyPr>
          <a:lstStyle/>
          <a:p>
            <a:pPr marL="0" indent="0">
              <a:buNone/>
            </a:pPr>
            <a:r>
              <a:rPr lang="en-US" b="0" i="0" dirty="0">
                <a:effectLst/>
              </a:rPr>
              <a:t>The value of the PDF at any point is </a:t>
            </a:r>
            <a:r>
              <a:rPr lang="en-US" b="1" i="0" dirty="0">
                <a:effectLst/>
              </a:rPr>
              <a:t>not</a:t>
            </a:r>
            <a:r>
              <a:rPr lang="en-US" b="0" i="0" dirty="0">
                <a:effectLst/>
              </a:rPr>
              <a:t> a probability, because the probability of a continuous random variable taking on any specific number must be zero. </a:t>
            </a:r>
          </a:p>
          <a:p>
            <a:pPr marL="0" indent="0">
              <a:buNone/>
            </a:pPr>
            <a:r>
              <a:rPr lang="en-US" b="0" i="0" dirty="0">
                <a:effectLst/>
              </a:rPr>
              <a:t>Instead, we can say that the probability of a continuous random variable X lying in a range (</a:t>
            </a:r>
            <a:r>
              <a:rPr lang="en-US" b="0" i="0" dirty="0" err="1">
                <a:effectLst/>
              </a:rPr>
              <a:t>a,b</a:t>
            </a:r>
            <a:r>
              <a:rPr lang="en-US" b="0" i="0" dirty="0">
                <a:effectLst/>
              </a:rPr>
              <a:t>) is:</a:t>
            </a:r>
          </a:p>
          <a:p>
            <a:endParaRPr lang="en-GB" dirty="0"/>
          </a:p>
        </p:txBody>
      </p:sp>
      <p:pic>
        <p:nvPicPr>
          <p:cNvPr id="6" name="Picture 5">
            <a:extLst>
              <a:ext uri="{FF2B5EF4-FFF2-40B4-BE49-F238E27FC236}">
                <a16:creationId xmlns:a16="http://schemas.microsoft.com/office/drawing/2014/main" id="{99AD5E10-6F05-24E3-04CF-F3C5D2184C85}"/>
              </a:ext>
            </a:extLst>
          </p:cNvPr>
          <p:cNvPicPr>
            <a:picLocks noChangeAspect="1"/>
          </p:cNvPicPr>
          <p:nvPr/>
        </p:nvPicPr>
        <p:blipFill>
          <a:blip r:embed="rId2"/>
          <a:srcRect r="48453"/>
          <a:stretch/>
        </p:blipFill>
        <p:spPr>
          <a:xfrm>
            <a:off x="6359703" y="998530"/>
            <a:ext cx="5639805" cy="5744002"/>
          </a:xfrm>
          <a:prstGeom prst="rect">
            <a:avLst/>
          </a:prstGeom>
          <a:noFill/>
        </p:spPr>
      </p:pic>
      <p:sp>
        <p:nvSpPr>
          <p:cNvPr id="2" name="Title 1">
            <a:extLst>
              <a:ext uri="{FF2B5EF4-FFF2-40B4-BE49-F238E27FC236}">
                <a16:creationId xmlns:a16="http://schemas.microsoft.com/office/drawing/2014/main" id="{5D5AE732-1264-20D6-7CC8-CE8FFF4D46CB}"/>
              </a:ext>
            </a:extLst>
          </p:cNvPr>
          <p:cNvSpPr>
            <a:spLocks noGrp="1"/>
          </p:cNvSpPr>
          <p:nvPr>
            <p:ph type="title"/>
          </p:nvPr>
        </p:nvSpPr>
        <p:spPr>
          <a:xfrm>
            <a:off x="2549236" y="533614"/>
            <a:ext cx="9210963" cy="888786"/>
          </a:xfrm>
        </p:spPr>
        <p:txBody>
          <a:bodyPr anchor="t">
            <a:normAutofit/>
          </a:bodyPr>
          <a:lstStyle/>
          <a:p>
            <a:r>
              <a:rPr lang="en-GB" b="1" i="0">
                <a:effectLst/>
              </a:rPr>
              <a:t>Probability distribution functions</a:t>
            </a:r>
            <a:endParaRPr lang="en-GB" dirty="0"/>
          </a:p>
        </p:txBody>
      </p:sp>
      <p:pic>
        <p:nvPicPr>
          <p:cNvPr id="8" name="Picture 7">
            <a:extLst>
              <a:ext uri="{FF2B5EF4-FFF2-40B4-BE49-F238E27FC236}">
                <a16:creationId xmlns:a16="http://schemas.microsoft.com/office/drawing/2014/main" id="{3FF88FD1-7B68-7E97-39DE-6837597CBD7B}"/>
              </a:ext>
            </a:extLst>
          </p:cNvPr>
          <p:cNvPicPr>
            <a:picLocks noChangeAspect="1"/>
          </p:cNvPicPr>
          <p:nvPr/>
        </p:nvPicPr>
        <p:blipFill>
          <a:blip r:embed="rId3"/>
          <a:stretch>
            <a:fillRect/>
          </a:stretch>
        </p:blipFill>
        <p:spPr>
          <a:xfrm>
            <a:off x="1231777" y="4862645"/>
            <a:ext cx="3810532" cy="590632"/>
          </a:xfrm>
          <a:prstGeom prst="rect">
            <a:avLst/>
          </a:prstGeom>
        </p:spPr>
      </p:pic>
    </p:spTree>
    <p:extLst>
      <p:ext uri="{BB962C8B-B14F-4D97-AF65-F5344CB8AC3E}">
        <p14:creationId xmlns:p14="http://schemas.microsoft.com/office/powerpoint/2010/main" val="12145732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C7C3C1-9526-FFA5-5C4B-411F4618C894}"/>
              </a:ext>
            </a:extLst>
          </p:cNvPr>
          <p:cNvSpPr>
            <a:spLocks noGrp="1"/>
          </p:cNvSpPr>
          <p:nvPr>
            <p:ph sz="half" idx="1"/>
          </p:nvPr>
        </p:nvSpPr>
        <p:spPr/>
        <p:txBody>
          <a:bodyPr>
            <a:normAutofit/>
          </a:bodyPr>
          <a:lstStyle/>
          <a:p>
            <a:pPr marL="0" indent="0" algn="l">
              <a:buNone/>
            </a:pPr>
            <a:r>
              <a:rPr lang="en-US" b="0" i="0" dirty="0">
                <a:effectLst/>
                <a:latin typeface="system-ui"/>
              </a:rPr>
              <a:t>The </a:t>
            </a:r>
            <a:r>
              <a:rPr lang="en-US" b="1" i="0" dirty="0">
                <a:effectLst/>
                <a:latin typeface="system-ui"/>
              </a:rPr>
              <a:t>support</a:t>
            </a:r>
            <a:r>
              <a:rPr lang="en-US" b="0" i="0" dirty="0">
                <a:effectLst/>
                <a:latin typeface="system-ui"/>
              </a:rPr>
              <a:t> of a PDF is the domain it maps from where the density is non-zero.</a:t>
            </a:r>
          </a:p>
          <a:p>
            <a:pPr algn="l"/>
            <a:endParaRPr lang="en-US" b="0" i="0" dirty="0">
              <a:effectLst/>
              <a:latin typeface="system-ui"/>
            </a:endParaRPr>
          </a:p>
          <a:p>
            <a:pPr algn="l"/>
            <a:r>
              <a:rPr lang="en-US" b="0" i="0" dirty="0">
                <a:effectLst/>
                <a:latin typeface="system-ui"/>
              </a:rPr>
              <a:t>Some PDFs have density over a fixed interval, and have zero density everywhere else (</a:t>
            </a:r>
            <a:r>
              <a:rPr lang="en-US" b="0" i="0" dirty="0" err="1">
                <a:effectLst/>
                <a:latin typeface="system-ui"/>
              </a:rPr>
              <a:t>eg</a:t>
            </a:r>
            <a:r>
              <a:rPr lang="en-US" b="0" i="0" dirty="0">
                <a:effectLst/>
                <a:latin typeface="system-ui"/>
              </a:rPr>
              <a:t>, uniform distribution). This is called </a:t>
            </a:r>
            <a:r>
              <a:rPr lang="en-US" b="1" i="0" dirty="0">
                <a:effectLst/>
                <a:latin typeface="system-ui"/>
              </a:rPr>
              <a:t>compact support</a:t>
            </a:r>
            <a:r>
              <a:rPr lang="en-US" b="0" i="0" dirty="0">
                <a:effectLst/>
                <a:latin typeface="system-ui"/>
              </a:rPr>
              <a:t>. </a:t>
            </a:r>
          </a:p>
          <a:p>
            <a:pPr algn="l"/>
            <a:r>
              <a:rPr lang="en-US" b="0" i="0" dirty="0">
                <a:effectLst/>
                <a:latin typeface="system-ui"/>
              </a:rPr>
              <a:t>Some PDFs have non-zero density over an infinite domain (</a:t>
            </a:r>
            <a:r>
              <a:rPr lang="en-US" b="0" i="0" dirty="0" err="1">
                <a:effectLst/>
                <a:latin typeface="system-ui"/>
              </a:rPr>
              <a:t>eg</a:t>
            </a:r>
            <a:r>
              <a:rPr lang="en-US" b="0" i="0" dirty="0">
                <a:effectLst/>
                <a:latin typeface="system-ui"/>
              </a:rPr>
              <a:t>, normal distribution). This is </a:t>
            </a:r>
            <a:r>
              <a:rPr lang="en-US" b="1" i="0" dirty="0">
                <a:effectLst/>
                <a:latin typeface="system-ui"/>
              </a:rPr>
              <a:t>infinite support</a:t>
            </a:r>
            <a:r>
              <a:rPr lang="en-US" b="0" i="0" dirty="0">
                <a:effectLst/>
                <a:latin typeface="system-ui"/>
              </a:rPr>
              <a:t>.</a:t>
            </a:r>
          </a:p>
          <a:p>
            <a:endParaRPr lang="en-GB" dirty="0"/>
          </a:p>
        </p:txBody>
      </p:sp>
      <p:sp>
        <p:nvSpPr>
          <p:cNvPr id="4" name="Title 3">
            <a:extLst>
              <a:ext uri="{FF2B5EF4-FFF2-40B4-BE49-F238E27FC236}">
                <a16:creationId xmlns:a16="http://schemas.microsoft.com/office/drawing/2014/main" id="{3B81AEED-1BA4-26E7-7E69-FF83DF1C0412}"/>
              </a:ext>
            </a:extLst>
          </p:cNvPr>
          <p:cNvSpPr>
            <a:spLocks noGrp="1"/>
          </p:cNvSpPr>
          <p:nvPr>
            <p:ph type="title"/>
          </p:nvPr>
        </p:nvSpPr>
        <p:spPr/>
        <p:txBody>
          <a:bodyPr/>
          <a:lstStyle/>
          <a:p>
            <a:r>
              <a:rPr lang="en-GB" dirty="0"/>
              <a:t>Support</a:t>
            </a:r>
          </a:p>
        </p:txBody>
      </p:sp>
      <p:pic>
        <p:nvPicPr>
          <p:cNvPr id="6" name="Picture 5">
            <a:extLst>
              <a:ext uri="{FF2B5EF4-FFF2-40B4-BE49-F238E27FC236}">
                <a16:creationId xmlns:a16="http://schemas.microsoft.com/office/drawing/2014/main" id="{959DF1BF-B2C1-3C58-EA4D-8579532873B8}"/>
              </a:ext>
            </a:extLst>
          </p:cNvPr>
          <p:cNvPicPr>
            <a:picLocks noChangeAspect="1"/>
          </p:cNvPicPr>
          <p:nvPr/>
        </p:nvPicPr>
        <p:blipFill>
          <a:blip r:embed="rId3"/>
          <a:stretch>
            <a:fillRect/>
          </a:stretch>
        </p:blipFill>
        <p:spPr>
          <a:xfrm>
            <a:off x="1695452" y="2506895"/>
            <a:ext cx="3474389" cy="576879"/>
          </a:xfrm>
          <a:prstGeom prst="rect">
            <a:avLst/>
          </a:prstGeom>
        </p:spPr>
      </p:pic>
      <p:pic>
        <p:nvPicPr>
          <p:cNvPr id="8" name="Picture 7">
            <a:extLst>
              <a:ext uri="{FF2B5EF4-FFF2-40B4-BE49-F238E27FC236}">
                <a16:creationId xmlns:a16="http://schemas.microsoft.com/office/drawing/2014/main" id="{2320A3D6-1790-B0A9-FB3E-8FA5FE62CA11}"/>
              </a:ext>
            </a:extLst>
          </p:cNvPr>
          <p:cNvPicPr>
            <a:picLocks noChangeAspect="1"/>
          </p:cNvPicPr>
          <p:nvPr/>
        </p:nvPicPr>
        <p:blipFill>
          <a:blip r:embed="rId4"/>
          <a:stretch>
            <a:fillRect/>
          </a:stretch>
        </p:blipFill>
        <p:spPr>
          <a:xfrm>
            <a:off x="7462680" y="3571416"/>
            <a:ext cx="4391638" cy="3219899"/>
          </a:xfrm>
          <a:prstGeom prst="rect">
            <a:avLst/>
          </a:prstGeom>
        </p:spPr>
      </p:pic>
      <p:pic>
        <p:nvPicPr>
          <p:cNvPr id="10" name="Picture 9">
            <a:extLst>
              <a:ext uri="{FF2B5EF4-FFF2-40B4-BE49-F238E27FC236}">
                <a16:creationId xmlns:a16="http://schemas.microsoft.com/office/drawing/2014/main" id="{0FDC4403-CEB3-DB13-9CB2-14B62E510040}"/>
              </a:ext>
            </a:extLst>
          </p:cNvPr>
          <p:cNvPicPr>
            <a:picLocks noChangeAspect="1"/>
          </p:cNvPicPr>
          <p:nvPr/>
        </p:nvPicPr>
        <p:blipFill>
          <a:blip r:embed="rId5"/>
          <a:stretch>
            <a:fillRect/>
          </a:stretch>
        </p:blipFill>
        <p:spPr>
          <a:xfrm>
            <a:off x="7270708" y="66685"/>
            <a:ext cx="4744112" cy="3353268"/>
          </a:xfrm>
          <a:prstGeom prst="rect">
            <a:avLst/>
          </a:prstGeom>
        </p:spPr>
      </p:pic>
    </p:spTree>
    <p:extLst>
      <p:ext uri="{BB962C8B-B14F-4D97-AF65-F5344CB8AC3E}">
        <p14:creationId xmlns:p14="http://schemas.microsoft.com/office/powerpoint/2010/main" val="39592739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CE3ACC-91A2-BE18-BCB6-09F289F1F1A5}"/>
              </a:ext>
            </a:extLst>
          </p:cNvPr>
          <p:cNvSpPr>
            <a:spLocks noGrp="1"/>
          </p:cNvSpPr>
          <p:nvPr>
            <p:ph sz="half" idx="1"/>
          </p:nvPr>
        </p:nvSpPr>
        <p:spPr/>
        <p:txBody>
          <a:bodyPr>
            <a:normAutofit fontScale="85000" lnSpcReduction="20000"/>
          </a:bodyPr>
          <a:lstStyle/>
          <a:p>
            <a:pPr marL="0" indent="0" algn="l">
              <a:buNone/>
            </a:pPr>
            <a:r>
              <a:rPr lang="en-US" b="0" i="0" dirty="0">
                <a:effectLst/>
                <a:latin typeface="system-ui"/>
              </a:rPr>
              <a:t>The </a:t>
            </a:r>
            <a:r>
              <a:rPr lang="en-US" b="1" i="0" dirty="0">
                <a:effectLst/>
                <a:latin typeface="system-ui"/>
              </a:rPr>
              <a:t>cumulative distribution function</a:t>
            </a:r>
            <a:r>
              <a:rPr lang="en-US" b="0" i="0" dirty="0">
                <a:effectLst/>
                <a:latin typeface="system-ui"/>
              </a:rPr>
              <a:t> or CDF of a real-valued random variable is</a:t>
            </a:r>
          </a:p>
          <a:p>
            <a:pPr marL="0" indent="0" algn="l">
              <a:buNone/>
            </a:pPr>
            <a:endParaRPr lang="en-US" b="0" i="0" dirty="0">
              <a:effectLst/>
              <a:latin typeface="system-ui"/>
            </a:endParaRPr>
          </a:p>
          <a:p>
            <a:pPr marL="0" indent="0" algn="l">
              <a:buNone/>
            </a:pPr>
            <a:endParaRPr lang="en-US" b="0" i="0" dirty="0">
              <a:effectLst/>
              <a:latin typeface="system-ui"/>
            </a:endParaRPr>
          </a:p>
          <a:p>
            <a:pPr marL="0" indent="0" algn="l">
              <a:buNone/>
            </a:pPr>
            <a:endParaRPr lang="en-US" b="0" i="0" dirty="0">
              <a:effectLst/>
              <a:latin typeface="system-ui"/>
            </a:endParaRPr>
          </a:p>
          <a:p>
            <a:pPr algn="l">
              <a:buFontTx/>
              <a:buChar char="-"/>
            </a:pPr>
            <a:r>
              <a:rPr lang="en-US" b="0" i="0" dirty="0">
                <a:effectLst/>
                <a:latin typeface="system-ui"/>
              </a:rPr>
              <a:t>the CDF always maps x to [0,1]. </a:t>
            </a:r>
          </a:p>
          <a:p>
            <a:pPr algn="l">
              <a:buFontTx/>
              <a:buChar char="-"/>
            </a:pPr>
            <a:r>
              <a:rPr lang="en-US" b="0" i="0" dirty="0">
                <a:effectLst/>
                <a:latin typeface="system-ui"/>
              </a:rPr>
              <a:t>For any given value F</a:t>
            </a:r>
            <a:r>
              <a:rPr lang="en-US" b="0" i="0" baseline="-25000" dirty="0">
                <a:effectLst/>
                <a:latin typeface="system-ui"/>
              </a:rPr>
              <a:t>X</a:t>
            </a:r>
            <a:r>
              <a:rPr lang="en-US" b="0" i="0" dirty="0">
                <a:effectLst/>
                <a:latin typeface="system-ui"/>
              </a:rPr>
              <a:t>(x) tells us how much probability mass there is that is less than or equal to x. </a:t>
            </a:r>
          </a:p>
          <a:p>
            <a:pPr algn="l">
              <a:buFontTx/>
              <a:buChar char="-"/>
            </a:pPr>
            <a:r>
              <a:rPr lang="en-US" b="0" i="0" dirty="0">
                <a:effectLst/>
                <a:latin typeface="system-ui"/>
              </a:rPr>
              <a:t>Given a CDF, we can now answer questions, like: what is the probability that random variable X takes on a value between 3.0 and 4.0?</a:t>
            </a:r>
          </a:p>
          <a:p>
            <a:pPr algn="l">
              <a:buFontTx/>
              <a:buChar char="-"/>
            </a:pPr>
            <a:endParaRPr lang="en-US" b="0" i="0" dirty="0">
              <a:effectLst/>
              <a:latin typeface="system-ui"/>
            </a:endParaRPr>
          </a:p>
          <a:p>
            <a:pPr algn="l">
              <a:buFontTx/>
              <a:buChar char="-"/>
            </a:pPr>
            <a:r>
              <a:rPr lang="en-US" b="0" i="0" dirty="0">
                <a:effectLst/>
                <a:latin typeface="system-ui"/>
              </a:rPr>
              <a:t>This </a:t>
            </a:r>
            <a:r>
              <a:rPr lang="en-US" b="0" i="1" dirty="0">
                <a:effectLst/>
                <a:latin typeface="system-ui"/>
              </a:rPr>
              <a:t>is</a:t>
            </a:r>
            <a:r>
              <a:rPr lang="en-US" b="0" i="0" dirty="0">
                <a:effectLst/>
                <a:latin typeface="system-ui"/>
              </a:rPr>
              <a:t> a probability. </a:t>
            </a:r>
            <a:endParaRPr lang="en-GB" dirty="0"/>
          </a:p>
        </p:txBody>
      </p:sp>
      <p:pic>
        <p:nvPicPr>
          <p:cNvPr id="10" name="Content Placeholder 9">
            <a:extLst>
              <a:ext uri="{FF2B5EF4-FFF2-40B4-BE49-F238E27FC236}">
                <a16:creationId xmlns:a16="http://schemas.microsoft.com/office/drawing/2014/main" id="{96FD5851-E351-FCB9-6FA0-F81A0640567C}"/>
              </a:ext>
            </a:extLst>
          </p:cNvPr>
          <p:cNvPicPr>
            <a:picLocks noGrp="1" noChangeAspect="1"/>
          </p:cNvPicPr>
          <p:nvPr>
            <p:ph sz="half" idx="2"/>
          </p:nvPr>
        </p:nvPicPr>
        <p:blipFill>
          <a:blip r:embed="rId2"/>
          <a:stretch>
            <a:fillRect/>
          </a:stretch>
        </p:blipFill>
        <p:spPr>
          <a:xfrm>
            <a:off x="6663497" y="1608138"/>
            <a:ext cx="4199005" cy="4568825"/>
          </a:xfrm>
        </p:spPr>
      </p:pic>
      <p:sp>
        <p:nvSpPr>
          <p:cNvPr id="4" name="Title 3">
            <a:extLst>
              <a:ext uri="{FF2B5EF4-FFF2-40B4-BE49-F238E27FC236}">
                <a16:creationId xmlns:a16="http://schemas.microsoft.com/office/drawing/2014/main" id="{5A56E74D-CA22-62CB-4194-135883927B6F}"/>
              </a:ext>
            </a:extLst>
          </p:cNvPr>
          <p:cNvSpPr>
            <a:spLocks noGrp="1"/>
          </p:cNvSpPr>
          <p:nvPr>
            <p:ph type="title"/>
          </p:nvPr>
        </p:nvSpPr>
        <p:spPr/>
        <p:txBody>
          <a:bodyPr/>
          <a:lstStyle/>
          <a:p>
            <a:r>
              <a:rPr lang="en-GB" dirty="0"/>
              <a:t>Cumulative distribution function (CDF)</a:t>
            </a:r>
          </a:p>
        </p:txBody>
      </p:sp>
      <p:pic>
        <p:nvPicPr>
          <p:cNvPr id="6" name="Picture 5">
            <a:extLst>
              <a:ext uri="{FF2B5EF4-FFF2-40B4-BE49-F238E27FC236}">
                <a16:creationId xmlns:a16="http://schemas.microsoft.com/office/drawing/2014/main" id="{1DF76868-2C09-0DCE-A50C-AFC5A4552A41}"/>
              </a:ext>
            </a:extLst>
          </p:cNvPr>
          <p:cNvPicPr>
            <a:picLocks noChangeAspect="1"/>
          </p:cNvPicPr>
          <p:nvPr/>
        </p:nvPicPr>
        <p:blipFill>
          <a:blip r:embed="rId3"/>
          <a:stretch>
            <a:fillRect/>
          </a:stretch>
        </p:blipFill>
        <p:spPr>
          <a:xfrm>
            <a:off x="1546463" y="2241133"/>
            <a:ext cx="3411638" cy="751069"/>
          </a:xfrm>
          <a:prstGeom prst="rect">
            <a:avLst/>
          </a:prstGeom>
        </p:spPr>
      </p:pic>
      <p:pic>
        <p:nvPicPr>
          <p:cNvPr id="8" name="Picture 7">
            <a:extLst>
              <a:ext uri="{FF2B5EF4-FFF2-40B4-BE49-F238E27FC236}">
                <a16:creationId xmlns:a16="http://schemas.microsoft.com/office/drawing/2014/main" id="{13CC670B-5FCB-8A45-197F-B1D793B03D3D}"/>
              </a:ext>
            </a:extLst>
          </p:cNvPr>
          <p:cNvPicPr>
            <a:picLocks noChangeAspect="1"/>
          </p:cNvPicPr>
          <p:nvPr/>
        </p:nvPicPr>
        <p:blipFill>
          <a:blip r:embed="rId4"/>
          <a:stretch>
            <a:fillRect/>
          </a:stretch>
        </p:blipFill>
        <p:spPr>
          <a:xfrm>
            <a:off x="1990599" y="5126806"/>
            <a:ext cx="2967502" cy="440048"/>
          </a:xfrm>
          <a:prstGeom prst="rect">
            <a:avLst/>
          </a:prstGeom>
        </p:spPr>
      </p:pic>
    </p:spTree>
    <p:extLst>
      <p:ext uri="{BB962C8B-B14F-4D97-AF65-F5344CB8AC3E}">
        <p14:creationId xmlns:p14="http://schemas.microsoft.com/office/powerpoint/2010/main" val="2436669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852B66-A950-D431-4437-D232155E16A4}"/>
              </a:ext>
            </a:extLst>
          </p:cNvPr>
          <p:cNvSpPr>
            <a:spLocks noGrp="1"/>
          </p:cNvSpPr>
          <p:nvPr>
            <p:ph sz="half" idx="1"/>
          </p:nvPr>
        </p:nvSpPr>
        <p:spPr/>
        <p:txBody>
          <a:bodyPr>
            <a:normAutofit/>
          </a:bodyPr>
          <a:lstStyle/>
          <a:p>
            <a:pPr marL="0" indent="0" algn="l">
              <a:buNone/>
            </a:pPr>
            <a:r>
              <a:rPr lang="en-US" b="0" i="0" dirty="0">
                <a:effectLst/>
                <a:latin typeface="system-ui"/>
              </a:rPr>
              <a:t>The most ubiquitous of all continuous PDFs is the </a:t>
            </a:r>
            <a:r>
              <a:rPr lang="en-US" b="1" i="0" dirty="0">
                <a:effectLst/>
                <a:latin typeface="system-ui"/>
              </a:rPr>
              <a:t>normal</a:t>
            </a:r>
            <a:r>
              <a:rPr lang="en-US" dirty="0">
                <a:latin typeface="system-ui"/>
              </a:rPr>
              <a:t> </a:t>
            </a:r>
            <a:r>
              <a:rPr lang="en-US" b="0" i="0" dirty="0">
                <a:effectLst/>
                <a:latin typeface="system-ui"/>
              </a:rPr>
              <a:t>or </a:t>
            </a:r>
            <a:r>
              <a:rPr lang="en-US" b="1" i="0" dirty="0">
                <a:effectLst/>
                <a:latin typeface="system-ui"/>
              </a:rPr>
              <a:t>Gaussian</a:t>
            </a:r>
            <a:r>
              <a:rPr lang="en-US" dirty="0">
                <a:latin typeface="system-ui"/>
              </a:rPr>
              <a:t> </a:t>
            </a:r>
            <a:r>
              <a:rPr lang="en-US" b="0" i="0" dirty="0">
                <a:effectLst/>
                <a:latin typeface="system-ui"/>
              </a:rPr>
              <a:t>distribution. It has a density given by the PDF:</a:t>
            </a:r>
          </a:p>
          <a:p>
            <a:pPr algn="l"/>
            <a:endParaRPr lang="en-US" b="0" i="0" dirty="0">
              <a:effectLst/>
              <a:latin typeface="system-ui"/>
            </a:endParaRPr>
          </a:p>
          <a:p>
            <a:pPr marL="0" indent="0" algn="l">
              <a:buNone/>
            </a:pPr>
            <a:r>
              <a:rPr lang="en-US" b="0" i="0" dirty="0">
                <a:effectLst/>
                <a:latin typeface="system-ui"/>
              </a:rPr>
              <a:t>You do not need to remember this formula, but it is very useful to know that it is essentially just       with some scaling factors to </a:t>
            </a:r>
            <a:r>
              <a:rPr lang="en-US" b="0" i="0" dirty="0" err="1">
                <a:effectLst/>
                <a:latin typeface="system-ui"/>
              </a:rPr>
              <a:t>normalise</a:t>
            </a:r>
            <a:r>
              <a:rPr lang="en-US" b="0" i="0" dirty="0">
                <a:effectLst/>
                <a:latin typeface="system-ui"/>
              </a:rPr>
              <a:t> it -- this is called the </a:t>
            </a:r>
            <a:r>
              <a:rPr lang="en-US" b="1" i="0" dirty="0">
                <a:effectLst/>
                <a:latin typeface="system-ui"/>
              </a:rPr>
              <a:t>squared exponential function</a:t>
            </a:r>
            <a:r>
              <a:rPr lang="en-US" b="0" i="0" dirty="0">
                <a:effectLst/>
                <a:latin typeface="system-ui"/>
              </a:rPr>
              <a:t>.</a:t>
            </a:r>
          </a:p>
          <a:p>
            <a:endParaRPr lang="en-GB" dirty="0"/>
          </a:p>
        </p:txBody>
      </p:sp>
      <p:sp>
        <p:nvSpPr>
          <p:cNvPr id="4" name="Title 3">
            <a:extLst>
              <a:ext uri="{FF2B5EF4-FFF2-40B4-BE49-F238E27FC236}">
                <a16:creationId xmlns:a16="http://schemas.microsoft.com/office/drawing/2014/main" id="{3708AE85-6DDB-2426-9710-A4CDFC456C49}"/>
              </a:ext>
            </a:extLst>
          </p:cNvPr>
          <p:cNvSpPr>
            <a:spLocks noGrp="1"/>
          </p:cNvSpPr>
          <p:nvPr>
            <p:ph type="title"/>
          </p:nvPr>
        </p:nvSpPr>
        <p:spPr/>
        <p:txBody>
          <a:bodyPr/>
          <a:lstStyle/>
          <a:p>
            <a:r>
              <a:rPr lang="en-GB" dirty="0"/>
              <a:t>Example: The Normal Distribution</a:t>
            </a:r>
          </a:p>
        </p:txBody>
      </p:sp>
      <p:pic>
        <p:nvPicPr>
          <p:cNvPr id="6" name="Picture 5">
            <a:extLst>
              <a:ext uri="{FF2B5EF4-FFF2-40B4-BE49-F238E27FC236}">
                <a16:creationId xmlns:a16="http://schemas.microsoft.com/office/drawing/2014/main" id="{BF1AAFD6-5C4E-B580-BAEA-FD356327E75B}"/>
              </a:ext>
            </a:extLst>
          </p:cNvPr>
          <p:cNvPicPr>
            <a:picLocks noChangeAspect="1"/>
          </p:cNvPicPr>
          <p:nvPr/>
        </p:nvPicPr>
        <p:blipFill>
          <a:blip r:embed="rId3"/>
          <a:stretch>
            <a:fillRect/>
          </a:stretch>
        </p:blipFill>
        <p:spPr>
          <a:xfrm>
            <a:off x="2079838" y="2732926"/>
            <a:ext cx="1950899" cy="714054"/>
          </a:xfrm>
          <a:prstGeom prst="rect">
            <a:avLst/>
          </a:prstGeom>
        </p:spPr>
      </p:pic>
      <p:pic>
        <p:nvPicPr>
          <p:cNvPr id="8" name="Picture 7">
            <a:extLst>
              <a:ext uri="{FF2B5EF4-FFF2-40B4-BE49-F238E27FC236}">
                <a16:creationId xmlns:a16="http://schemas.microsoft.com/office/drawing/2014/main" id="{CA2103C3-AFEC-CBE1-D7A9-E7E9B937A82C}"/>
              </a:ext>
            </a:extLst>
          </p:cNvPr>
          <p:cNvPicPr>
            <a:picLocks noChangeAspect="1"/>
          </p:cNvPicPr>
          <p:nvPr/>
        </p:nvPicPr>
        <p:blipFill>
          <a:blip r:embed="rId4"/>
          <a:stretch>
            <a:fillRect/>
          </a:stretch>
        </p:blipFill>
        <p:spPr>
          <a:xfrm>
            <a:off x="3859263" y="4140485"/>
            <a:ext cx="419112" cy="430754"/>
          </a:xfrm>
          <a:prstGeom prst="rect">
            <a:avLst/>
          </a:prstGeom>
        </p:spPr>
      </p:pic>
      <p:pic>
        <p:nvPicPr>
          <p:cNvPr id="10" name="Picture 9">
            <a:extLst>
              <a:ext uri="{FF2B5EF4-FFF2-40B4-BE49-F238E27FC236}">
                <a16:creationId xmlns:a16="http://schemas.microsoft.com/office/drawing/2014/main" id="{636AF18B-369B-3009-D531-52C43600AC3F}"/>
              </a:ext>
            </a:extLst>
          </p:cNvPr>
          <p:cNvPicPr>
            <a:picLocks noChangeAspect="1"/>
          </p:cNvPicPr>
          <p:nvPr/>
        </p:nvPicPr>
        <p:blipFill>
          <a:blip r:embed="rId5"/>
          <a:stretch>
            <a:fillRect/>
          </a:stretch>
        </p:blipFill>
        <p:spPr>
          <a:xfrm>
            <a:off x="833401" y="5877387"/>
            <a:ext cx="4925112" cy="485843"/>
          </a:xfrm>
          <a:prstGeom prst="rect">
            <a:avLst/>
          </a:prstGeom>
        </p:spPr>
      </p:pic>
      <p:pic>
        <p:nvPicPr>
          <p:cNvPr id="5" name="Content Placeholder 5">
            <a:extLst>
              <a:ext uri="{FF2B5EF4-FFF2-40B4-BE49-F238E27FC236}">
                <a16:creationId xmlns:a16="http://schemas.microsoft.com/office/drawing/2014/main" id="{21D566FD-3FB6-95C5-7566-F50E50AB19FF}"/>
              </a:ext>
            </a:extLst>
          </p:cNvPr>
          <p:cNvPicPr>
            <a:picLocks noGrp="1" noChangeAspect="1"/>
          </p:cNvPicPr>
          <p:nvPr>
            <p:ph sz="half" idx="2"/>
          </p:nvPr>
        </p:nvPicPr>
        <p:blipFill>
          <a:blip r:embed="rId6"/>
          <a:stretch>
            <a:fillRect/>
          </a:stretch>
        </p:blipFill>
        <p:spPr>
          <a:xfrm>
            <a:off x="6172200" y="2551530"/>
            <a:ext cx="5181600" cy="2682040"/>
          </a:xfrm>
          <a:prstGeom prst="rect">
            <a:avLst/>
          </a:prstGeom>
          <a:noFill/>
        </p:spPr>
      </p:pic>
    </p:spTree>
    <p:extLst>
      <p:ext uri="{BB962C8B-B14F-4D97-AF65-F5344CB8AC3E}">
        <p14:creationId xmlns:p14="http://schemas.microsoft.com/office/powerpoint/2010/main" val="899195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149C45-DC74-F28A-7362-E6D1ABA26A81}"/>
              </a:ext>
            </a:extLst>
          </p:cNvPr>
          <p:cNvSpPr>
            <a:spLocks noGrp="1"/>
          </p:cNvSpPr>
          <p:nvPr>
            <p:ph sz="half" idx="1"/>
          </p:nvPr>
        </p:nvSpPr>
        <p:spPr>
          <a:xfrm>
            <a:off x="838199" y="1608667"/>
            <a:ext cx="10921999" cy="4568296"/>
          </a:xfrm>
        </p:spPr>
        <p:txBody>
          <a:bodyPr>
            <a:normAutofit lnSpcReduction="10000"/>
          </a:bodyPr>
          <a:lstStyle/>
          <a:p>
            <a:pPr marL="0" indent="0">
              <a:buNone/>
            </a:pPr>
            <a:r>
              <a:rPr lang="en-US" b="0" i="0" dirty="0">
                <a:effectLst/>
                <a:latin typeface="system-ui"/>
              </a:rPr>
              <a:t>We use a shorthand notation to refer to the distribution of continuous random variables, </a:t>
            </a:r>
          </a:p>
          <a:p>
            <a:pPr marL="0" indent="0" algn="ctr">
              <a:buNone/>
            </a:pPr>
            <a:r>
              <a:rPr lang="en-US" dirty="0" err="1"/>
              <a:t>variable∼distribution</a:t>
            </a:r>
            <a:r>
              <a:rPr lang="en-US" dirty="0"/>
              <a:t>(parameters),</a:t>
            </a:r>
            <a:r>
              <a:rPr lang="en-US" b="0" i="0" dirty="0">
                <a:effectLst/>
                <a:latin typeface="system-ui"/>
              </a:rPr>
              <a:t> </a:t>
            </a:r>
          </a:p>
          <a:p>
            <a:pPr marL="0" indent="0">
              <a:buNone/>
            </a:pPr>
            <a:r>
              <a:rPr lang="en-US" b="0" i="0" dirty="0">
                <a:effectLst/>
                <a:latin typeface="system-ui"/>
              </a:rPr>
              <a:t>where </a:t>
            </a:r>
            <a:r>
              <a:rPr lang="en-US" dirty="0"/>
              <a:t>∼</a:t>
            </a:r>
            <a:r>
              <a:rPr lang="en-US" b="0" i="0" dirty="0">
                <a:effectLst/>
                <a:latin typeface="system-ui"/>
              </a:rPr>
              <a:t> is read as "distributed as". </a:t>
            </a:r>
          </a:p>
          <a:p>
            <a:pPr marL="0" indent="0">
              <a:buNone/>
            </a:pPr>
            <a:r>
              <a:rPr lang="en-US" b="0" i="0" dirty="0">
                <a:effectLst/>
                <a:latin typeface="system-ui"/>
              </a:rPr>
              <a:t>For a normal distribution this is:</a:t>
            </a:r>
          </a:p>
          <a:p>
            <a:pPr marL="0" indent="0">
              <a:buNone/>
            </a:pPr>
            <a:endParaRPr lang="en-US" dirty="0">
              <a:latin typeface="system-ui"/>
            </a:endParaRPr>
          </a:p>
          <a:p>
            <a:pPr marL="0" indent="0">
              <a:buNone/>
            </a:pPr>
            <a:r>
              <a:rPr lang="en-GB" b="0" i="0" dirty="0">
                <a:effectLst/>
                <a:latin typeface="system-ui"/>
              </a:rPr>
              <a:t>which is read as:</a:t>
            </a:r>
          </a:p>
          <a:p>
            <a:pPr marL="457200" lvl="1" indent="0">
              <a:buNone/>
            </a:pPr>
            <a:r>
              <a:rPr lang="en-US" b="0" i="0" dirty="0">
                <a:effectLst/>
                <a:latin typeface="system-ui"/>
              </a:rPr>
              <a:t>"Random variable X is distributed as [N]</a:t>
            </a:r>
            <a:r>
              <a:rPr lang="en-US" b="0" i="0" dirty="0" err="1">
                <a:effectLst/>
                <a:latin typeface="system-ui"/>
              </a:rPr>
              <a:t>ormal</a:t>
            </a:r>
            <a:r>
              <a:rPr lang="en-US" b="0" i="0" dirty="0">
                <a:effectLst/>
                <a:latin typeface="system-ui"/>
              </a:rPr>
              <a:t> with mean </a:t>
            </a:r>
            <a:r>
              <a:rPr lang="en-US" dirty="0"/>
              <a:t>μ</a:t>
            </a:r>
            <a:r>
              <a:rPr lang="en-US" b="0" i="0" dirty="0">
                <a:effectLst/>
                <a:latin typeface="system-ui"/>
              </a:rPr>
              <a:t> and variance </a:t>
            </a:r>
            <a:r>
              <a:rPr lang="en-US" dirty="0"/>
              <a:t>σ2</a:t>
            </a:r>
            <a:r>
              <a:rPr lang="en-US" b="0" i="0" dirty="0">
                <a:effectLst/>
                <a:latin typeface="system-ui"/>
              </a:rPr>
              <a:t>“</a:t>
            </a:r>
          </a:p>
          <a:p>
            <a:pPr marL="457200" lvl="1" indent="0">
              <a:buNone/>
            </a:pPr>
            <a:endParaRPr lang="en-US" b="0" i="0" dirty="0">
              <a:effectLst/>
              <a:latin typeface="system-ui"/>
            </a:endParaRPr>
          </a:p>
          <a:p>
            <a:pPr marL="0" indent="0">
              <a:buNone/>
            </a:pPr>
            <a:r>
              <a:rPr lang="en-US" b="1" i="1" dirty="0">
                <a:effectLst/>
                <a:latin typeface="system-ui"/>
              </a:rPr>
              <a:t>Note:</a:t>
            </a:r>
            <a:r>
              <a:rPr lang="en-US" b="0" i="1" dirty="0">
                <a:effectLst/>
                <a:latin typeface="system-ui"/>
              </a:rPr>
              <a:t> There are various other symbols used for other continuous distributions, including </a:t>
            </a:r>
            <a:r>
              <a:rPr lang="en-US" i="1" dirty="0"/>
              <a:t>Γ(α,β),β(α,β),t(ν),χ2(k),…</a:t>
            </a:r>
            <a:r>
              <a:rPr lang="en-US" b="0" i="1" dirty="0">
                <a:effectLst/>
                <a:latin typeface="system-ui"/>
              </a:rPr>
              <a:t>, which we will not cover in this course.</a:t>
            </a:r>
            <a:r>
              <a:rPr lang="en-US" b="0" i="0" dirty="0">
                <a:effectLst/>
                <a:latin typeface="system-ui"/>
              </a:rPr>
              <a:t> </a:t>
            </a:r>
          </a:p>
        </p:txBody>
      </p:sp>
      <p:sp>
        <p:nvSpPr>
          <p:cNvPr id="4" name="Title 3">
            <a:extLst>
              <a:ext uri="{FF2B5EF4-FFF2-40B4-BE49-F238E27FC236}">
                <a16:creationId xmlns:a16="http://schemas.microsoft.com/office/drawing/2014/main" id="{E147FFF9-218F-14D0-D060-EC2169330760}"/>
              </a:ext>
            </a:extLst>
          </p:cNvPr>
          <p:cNvSpPr>
            <a:spLocks noGrp="1"/>
          </p:cNvSpPr>
          <p:nvPr>
            <p:ph type="title"/>
          </p:nvPr>
        </p:nvSpPr>
        <p:spPr/>
        <p:txBody>
          <a:bodyPr/>
          <a:lstStyle/>
          <a:p>
            <a:r>
              <a:rPr lang="en-GB" dirty="0"/>
              <a:t>Example: The Normal Distribution (cont’d)</a:t>
            </a:r>
          </a:p>
        </p:txBody>
      </p:sp>
      <p:pic>
        <p:nvPicPr>
          <p:cNvPr id="7" name="Picture 6">
            <a:extLst>
              <a:ext uri="{FF2B5EF4-FFF2-40B4-BE49-F238E27FC236}">
                <a16:creationId xmlns:a16="http://schemas.microsoft.com/office/drawing/2014/main" id="{E6D847B0-E5B4-5904-210E-639A56FB17B1}"/>
              </a:ext>
            </a:extLst>
          </p:cNvPr>
          <p:cNvPicPr>
            <a:picLocks noChangeAspect="1"/>
          </p:cNvPicPr>
          <p:nvPr/>
        </p:nvPicPr>
        <p:blipFill>
          <a:blip r:embed="rId2"/>
          <a:stretch>
            <a:fillRect/>
          </a:stretch>
        </p:blipFill>
        <p:spPr>
          <a:xfrm>
            <a:off x="4588697" y="3600382"/>
            <a:ext cx="1813086" cy="584866"/>
          </a:xfrm>
          <a:prstGeom prst="rect">
            <a:avLst/>
          </a:prstGeom>
        </p:spPr>
      </p:pic>
    </p:spTree>
    <p:extLst>
      <p:ext uri="{BB962C8B-B14F-4D97-AF65-F5344CB8AC3E}">
        <p14:creationId xmlns:p14="http://schemas.microsoft.com/office/powerpoint/2010/main" val="2099655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0BFEE72-17EE-4B37-F65C-996472816C7B}"/>
              </a:ext>
            </a:extLst>
          </p:cNvPr>
          <p:cNvSpPr>
            <a:spLocks noGrp="1"/>
          </p:cNvSpPr>
          <p:nvPr>
            <p:ph sz="half" idx="1"/>
          </p:nvPr>
        </p:nvSpPr>
        <p:spPr>
          <a:xfrm>
            <a:off x="838200" y="1608667"/>
            <a:ext cx="5181600" cy="4568296"/>
          </a:xfrm>
        </p:spPr>
        <p:txBody>
          <a:bodyPr>
            <a:normAutofit/>
          </a:bodyPr>
          <a:lstStyle/>
          <a:p>
            <a:pPr marL="0" indent="0">
              <a:buNone/>
            </a:pPr>
            <a:r>
              <a:rPr lang="en-US" b="0" i="0" dirty="0">
                <a:effectLst/>
              </a:rPr>
              <a:t>The normal distribution places the point of highest density to its center </a:t>
            </a:r>
            <a:r>
              <a:rPr lang="en-US" dirty="0"/>
              <a:t>μ</a:t>
            </a:r>
            <a:r>
              <a:rPr lang="en-US" b="0" i="0" dirty="0">
                <a:effectLst/>
              </a:rPr>
              <a:t> (the "mean"), with a spread defined by </a:t>
            </a:r>
            <a:r>
              <a:rPr lang="en-US" dirty="0"/>
              <a:t>σ2</a:t>
            </a:r>
            <a:r>
              <a:rPr lang="en-US" b="0" i="0" dirty="0">
                <a:effectLst/>
              </a:rPr>
              <a:t> (the "variance"). </a:t>
            </a:r>
          </a:p>
          <a:p>
            <a:pPr marL="0" indent="0">
              <a:buNone/>
            </a:pPr>
            <a:r>
              <a:rPr lang="en-US" b="0" i="0" dirty="0">
                <a:effectLst/>
              </a:rPr>
              <a:t>This can be though of the </a:t>
            </a:r>
            <a:r>
              <a:rPr lang="en-US" b="1" i="0" dirty="0">
                <a:effectLst/>
              </a:rPr>
              <a:t>location</a:t>
            </a:r>
            <a:r>
              <a:rPr lang="en-US" b="0" i="0" dirty="0">
                <a:effectLst/>
              </a:rPr>
              <a:t> and </a:t>
            </a:r>
            <a:r>
              <a:rPr lang="en-US" b="1" i="0" dirty="0">
                <a:effectLst/>
              </a:rPr>
              <a:t>scale</a:t>
            </a:r>
            <a:r>
              <a:rPr lang="en-US" b="0" i="0" dirty="0">
                <a:effectLst/>
              </a:rPr>
              <a:t> of the density function. </a:t>
            </a:r>
          </a:p>
          <a:p>
            <a:pPr marL="0" indent="0">
              <a:buNone/>
            </a:pPr>
            <a:r>
              <a:rPr lang="en-US" b="0" i="0" dirty="0">
                <a:effectLst/>
              </a:rPr>
              <a:t>Most standard continuous random variable PDFs have a location (where density is concentrated) and scale (how spread out the density is).</a:t>
            </a:r>
            <a:endParaRPr lang="en-GB" dirty="0"/>
          </a:p>
        </p:txBody>
      </p:sp>
      <p:pic>
        <p:nvPicPr>
          <p:cNvPr id="6" name="Content Placeholder 5">
            <a:extLst>
              <a:ext uri="{FF2B5EF4-FFF2-40B4-BE49-F238E27FC236}">
                <a16:creationId xmlns:a16="http://schemas.microsoft.com/office/drawing/2014/main" id="{EAC630A6-3B03-7283-0BA4-1648A9F8E3A5}"/>
              </a:ext>
            </a:extLst>
          </p:cNvPr>
          <p:cNvPicPr>
            <a:picLocks noGrp="1" noChangeAspect="1"/>
          </p:cNvPicPr>
          <p:nvPr>
            <p:ph sz="half" idx="2"/>
          </p:nvPr>
        </p:nvPicPr>
        <p:blipFill>
          <a:blip r:embed="rId3"/>
          <a:stretch>
            <a:fillRect/>
          </a:stretch>
        </p:blipFill>
        <p:spPr>
          <a:xfrm>
            <a:off x="6274942" y="978007"/>
            <a:ext cx="5181600" cy="2681477"/>
          </a:xfrm>
          <a:noFill/>
        </p:spPr>
      </p:pic>
      <p:sp>
        <p:nvSpPr>
          <p:cNvPr id="4" name="Title 3">
            <a:extLst>
              <a:ext uri="{FF2B5EF4-FFF2-40B4-BE49-F238E27FC236}">
                <a16:creationId xmlns:a16="http://schemas.microsoft.com/office/drawing/2014/main" id="{0B7459B8-8093-70DF-3781-90A3CACE5EBE}"/>
              </a:ext>
            </a:extLst>
          </p:cNvPr>
          <p:cNvSpPr>
            <a:spLocks noGrp="1"/>
          </p:cNvSpPr>
          <p:nvPr>
            <p:ph type="title"/>
          </p:nvPr>
        </p:nvSpPr>
        <p:spPr>
          <a:xfrm>
            <a:off x="2549236" y="533614"/>
            <a:ext cx="9210963" cy="888786"/>
          </a:xfrm>
        </p:spPr>
        <p:txBody>
          <a:bodyPr anchor="t">
            <a:normAutofit/>
          </a:bodyPr>
          <a:lstStyle/>
          <a:p>
            <a:r>
              <a:rPr lang="en-GB" dirty="0"/>
              <a:t>Location and scale</a:t>
            </a:r>
          </a:p>
        </p:txBody>
      </p:sp>
      <p:pic>
        <p:nvPicPr>
          <p:cNvPr id="8" name="Picture 7">
            <a:extLst>
              <a:ext uri="{FF2B5EF4-FFF2-40B4-BE49-F238E27FC236}">
                <a16:creationId xmlns:a16="http://schemas.microsoft.com/office/drawing/2014/main" id="{DEB6CEBC-72A0-934C-AEFA-D4A15E86F969}"/>
              </a:ext>
            </a:extLst>
          </p:cNvPr>
          <p:cNvPicPr>
            <a:picLocks noChangeAspect="1"/>
          </p:cNvPicPr>
          <p:nvPr/>
        </p:nvPicPr>
        <p:blipFill>
          <a:blip r:embed="rId4"/>
          <a:stretch>
            <a:fillRect/>
          </a:stretch>
        </p:blipFill>
        <p:spPr>
          <a:xfrm>
            <a:off x="6323426" y="3716064"/>
            <a:ext cx="5133116" cy="2868756"/>
          </a:xfrm>
          <a:prstGeom prst="rect">
            <a:avLst/>
          </a:prstGeom>
        </p:spPr>
      </p:pic>
    </p:spTree>
    <p:extLst>
      <p:ext uri="{BB962C8B-B14F-4D97-AF65-F5344CB8AC3E}">
        <p14:creationId xmlns:p14="http://schemas.microsoft.com/office/powerpoint/2010/main" val="31628278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AA6C47-BC88-0D34-C7E1-8E57AC5D2657}"/>
              </a:ext>
            </a:extLst>
          </p:cNvPr>
          <p:cNvSpPr>
            <a:spLocks noGrp="1"/>
          </p:cNvSpPr>
          <p:nvPr>
            <p:ph type="title"/>
          </p:nvPr>
        </p:nvSpPr>
        <p:spPr/>
        <p:txBody>
          <a:bodyPr/>
          <a:lstStyle/>
          <a:p>
            <a:r>
              <a:rPr lang="en-GB" dirty="0"/>
              <a:t>Normal modelling</a:t>
            </a:r>
          </a:p>
        </p:txBody>
      </p:sp>
      <p:sp>
        <p:nvSpPr>
          <p:cNvPr id="2" name="Content Placeholder 1">
            <a:extLst>
              <a:ext uri="{FF2B5EF4-FFF2-40B4-BE49-F238E27FC236}">
                <a16:creationId xmlns:a16="http://schemas.microsoft.com/office/drawing/2014/main" id="{6064159F-A9E3-1359-3224-D45CC585E9B4}"/>
              </a:ext>
            </a:extLst>
          </p:cNvPr>
          <p:cNvSpPr>
            <a:spLocks noGrp="1"/>
          </p:cNvSpPr>
          <p:nvPr>
            <p:ph sz="quarter" idx="13"/>
          </p:nvPr>
        </p:nvSpPr>
        <p:spPr/>
        <p:txBody>
          <a:bodyPr>
            <a:normAutofit/>
          </a:bodyPr>
          <a:lstStyle/>
          <a:p>
            <a:pPr marL="0" indent="0" algn="l">
              <a:buNone/>
            </a:pPr>
            <a:r>
              <a:rPr lang="en-US" b="0" i="0" dirty="0">
                <a:effectLst/>
                <a:latin typeface="system-ui"/>
              </a:rPr>
              <a:t>It seems that this might be a very limiting choice but there are two good reasons for this to work well as a model in many contexts:</a:t>
            </a:r>
          </a:p>
          <a:p>
            <a:pPr algn="l">
              <a:buFont typeface="+mj-lt"/>
              <a:buAutoNum type="arabicPeriod"/>
            </a:pPr>
            <a:r>
              <a:rPr lang="en-US" b="0" i="0" dirty="0">
                <a:effectLst/>
                <a:latin typeface="system-ui"/>
              </a:rPr>
              <a:t>Normal variables have very nice mathematical properties and are easy to work with analytically (i.e. without relying on numerical computation).</a:t>
            </a:r>
          </a:p>
          <a:p>
            <a:pPr algn="l">
              <a:buFont typeface="+mj-lt"/>
              <a:buAutoNum type="arabicPeriod"/>
            </a:pPr>
            <a:r>
              <a:rPr lang="en-US" b="0" i="0" dirty="0">
                <a:effectLst/>
                <a:latin typeface="system-ui"/>
              </a:rPr>
              <a:t>The </a:t>
            </a:r>
            <a:r>
              <a:rPr lang="en-US" b="0" i="1" dirty="0">
                <a:solidFill>
                  <a:schemeClr val="accent5"/>
                </a:solidFill>
                <a:effectLst/>
                <a:latin typeface="system-ui"/>
              </a:rPr>
              <a:t>central limit theorem</a:t>
            </a:r>
            <a:r>
              <a:rPr lang="en-US" b="0" i="0" dirty="0">
                <a:solidFill>
                  <a:schemeClr val="accent5"/>
                </a:solidFill>
                <a:effectLst/>
                <a:latin typeface="system-ui"/>
              </a:rPr>
              <a:t> </a:t>
            </a:r>
            <a:r>
              <a:rPr lang="en-US" b="0" i="0" dirty="0">
                <a:effectLst/>
                <a:latin typeface="system-ui"/>
              </a:rPr>
              <a:t>tells us that any sum of random variables (however they are distributed) will tend to a </a:t>
            </a:r>
            <a:r>
              <a:rPr lang="en-US" b="0" i="1" dirty="0">
                <a:effectLst/>
                <a:latin typeface="system-ui"/>
              </a:rPr>
              <a:t>Levy stable distribution</a:t>
            </a:r>
            <a:r>
              <a:rPr lang="en-US" b="0" i="0" dirty="0">
                <a:effectLst/>
                <a:latin typeface="system-ui"/>
              </a:rPr>
              <a:t> as the number of variables being summed increases. For most random variables encountered, this means the normal distribution (one specific Levy stable distribution).</a:t>
            </a:r>
          </a:p>
          <a:p>
            <a:endParaRPr lang="en-GB" dirty="0"/>
          </a:p>
        </p:txBody>
      </p:sp>
    </p:spTree>
    <p:extLst>
      <p:ext uri="{BB962C8B-B14F-4D97-AF65-F5344CB8AC3E}">
        <p14:creationId xmlns:p14="http://schemas.microsoft.com/office/powerpoint/2010/main" val="28195501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BC9B03-CD7B-C3E3-648B-D6B33E2B9D58}"/>
              </a:ext>
            </a:extLst>
          </p:cNvPr>
          <p:cNvSpPr>
            <a:spLocks noGrp="1"/>
          </p:cNvSpPr>
          <p:nvPr>
            <p:ph sz="half" idx="1"/>
          </p:nvPr>
        </p:nvSpPr>
        <p:spPr/>
        <p:txBody>
          <a:bodyPr/>
          <a:lstStyle/>
          <a:p>
            <a:endParaRPr lang="en-GB"/>
          </a:p>
        </p:txBody>
      </p:sp>
      <p:sp>
        <p:nvSpPr>
          <p:cNvPr id="4" name="Title 3">
            <a:extLst>
              <a:ext uri="{FF2B5EF4-FFF2-40B4-BE49-F238E27FC236}">
                <a16:creationId xmlns:a16="http://schemas.microsoft.com/office/drawing/2014/main" id="{FD376D5B-C7D3-EAC0-6530-DCBC6112F549}"/>
              </a:ext>
            </a:extLst>
          </p:cNvPr>
          <p:cNvSpPr>
            <a:spLocks noGrp="1"/>
          </p:cNvSpPr>
          <p:nvPr>
            <p:ph type="title"/>
          </p:nvPr>
        </p:nvSpPr>
        <p:spPr/>
        <p:txBody>
          <a:bodyPr/>
          <a:lstStyle/>
          <a:p>
            <a:endParaRPr lang="en-GB"/>
          </a:p>
        </p:txBody>
      </p:sp>
      <p:pic>
        <p:nvPicPr>
          <p:cNvPr id="3074" name="Picture 2">
            <a:extLst>
              <a:ext uri="{FF2B5EF4-FFF2-40B4-BE49-F238E27FC236}">
                <a16:creationId xmlns:a16="http://schemas.microsoft.com/office/drawing/2014/main" id="{A09FCEA9-1F94-514E-62DC-46C60852D56A}"/>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72200" y="2427372"/>
            <a:ext cx="5181600" cy="293035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0A096DD0-5A51-EE52-AB7B-3D8DDFABA430}"/>
              </a:ext>
            </a:extLst>
          </p:cNvPr>
          <p:cNvPicPr>
            <a:picLocks noChangeAspect="1"/>
          </p:cNvPicPr>
          <p:nvPr/>
        </p:nvPicPr>
        <p:blipFill>
          <a:blip r:embed="rId3"/>
          <a:stretch>
            <a:fillRect/>
          </a:stretch>
        </p:blipFill>
        <p:spPr>
          <a:xfrm>
            <a:off x="1532888" y="1033128"/>
            <a:ext cx="9126224" cy="4791744"/>
          </a:xfrm>
          <a:prstGeom prst="rect">
            <a:avLst/>
          </a:prstGeom>
        </p:spPr>
      </p:pic>
    </p:spTree>
    <p:extLst>
      <p:ext uri="{BB962C8B-B14F-4D97-AF65-F5344CB8AC3E}">
        <p14:creationId xmlns:p14="http://schemas.microsoft.com/office/powerpoint/2010/main" val="11984431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B9F4FC-151C-0780-856A-016492AEC12E}"/>
              </a:ext>
            </a:extLst>
          </p:cNvPr>
          <p:cNvSpPr>
            <a:spLocks noGrp="1"/>
          </p:cNvSpPr>
          <p:nvPr>
            <p:ph sz="half" idx="1"/>
          </p:nvPr>
        </p:nvSpPr>
        <p:spPr>
          <a:xfrm>
            <a:off x="838200" y="1608667"/>
            <a:ext cx="5181600" cy="4568296"/>
          </a:xfrm>
        </p:spPr>
        <p:txBody>
          <a:bodyPr>
            <a:normAutofit/>
          </a:bodyPr>
          <a:lstStyle/>
          <a:p>
            <a:pPr marL="0" indent="0">
              <a:buNone/>
            </a:pPr>
            <a:r>
              <a:rPr lang="en-US" b="0" i="0">
                <a:effectLst/>
              </a:rPr>
              <a:t>If we form a sum of many random variables </a:t>
            </a:r>
            <a:r>
              <a:rPr lang="en-US" dirty="0"/>
              <a:t>Y=X1+X2+X3+…,</a:t>
            </a:r>
            <a:r>
              <a:rPr lang="en-US" b="0" i="0">
                <a:effectLst/>
              </a:rPr>
              <a:t> then for almost any PDF that each of </a:t>
            </a:r>
            <a:r>
              <a:rPr lang="en-US" dirty="0"/>
              <a:t>X1,X2,…</a:t>
            </a:r>
            <a:r>
              <a:rPr lang="en-US" b="0" i="0">
                <a:effectLst/>
              </a:rPr>
              <a:t> might have, the PDF of </a:t>
            </a:r>
            <a:r>
              <a:rPr lang="en-US" dirty="0"/>
              <a:t>Y</a:t>
            </a:r>
            <a:r>
              <a:rPr lang="en-US" b="0" i="0">
                <a:effectLst/>
              </a:rPr>
              <a:t> will be approximately normal, </a:t>
            </a:r>
            <a:r>
              <a:rPr lang="en-US" dirty="0"/>
              <a:t>Y∼N(μ,σ2)</a:t>
            </a:r>
            <a:r>
              <a:rPr lang="en-US" b="0" i="0">
                <a:effectLst/>
              </a:rPr>
              <a:t>. </a:t>
            </a:r>
          </a:p>
          <a:p>
            <a:pPr marL="0" indent="0">
              <a:buNone/>
            </a:pPr>
            <a:r>
              <a:rPr lang="en-US" b="0" i="0">
                <a:effectLst/>
              </a:rPr>
              <a:t>This means that any process that involves a mixture of many random components will tend to be Gaussian under a wide variety of conditions.</a:t>
            </a:r>
            <a:endParaRPr lang="en-GB" dirty="0"/>
          </a:p>
        </p:txBody>
      </p:sp>
      <p:pic>
        <p:nvPicPr>
          <p:cNvPr id="4" name="Picture 3">
            <a:extLst>
              <a:ext uri="{FF2B5EF4-FFF2-40B4-BE49-F238E27FC236}">
                <a16:creationId xmlns:a16="http://schemas.microsoft.com/office/drawing/2014/main" id="{18D05AD3-A08C-3B23-CEAA-119DE60410ED}"/>
              </a:ext>
            </a:extLst>
          </p:cNvPr>
          <p:cNvPicPr>
            <a:picLocks noChangeAspect="1"/>
          </p:cNvPicPr>
          <p:nvPr/>
        </p:nvPicPr>
        <p:blipFill>
          <a:blip r:embed="rId2"/>
          <a:stretch>
            <a:fillRect/>
          </a:stretch>
        </p:blipFill>
        <p:spPr>
          <a:xfrm>
            <a:off x="6172200" y="2532645"/>
            <a:ext cx="5181600" cy="2720339"/>
          </a:xfrm>
          <a:prstGeom prst="rect">
            <a:avLst/>
          </a:prstGeom>
          <a:noFill/>
        </p:spPr>
      </p:pic>
      <p:sp>
        <p:nvSpPr>
          <p:cNvPr id="2" name="Title 1">
            <a:extLst>
              <a:ext uri="{FF2B5EF4-FFF2-40B4-BE49-F238E27FC236}">
                <a16:creationId xmlns:a16="http://schemas.microsoft.com/office/drawing/2014/main" id="{B984E40A-9079-D13F-9DFA-A6E4A53BFC2C}"/>
              </a:ext>
            </a:extLst>
          </p:cNvPr>
          <p:cNvSpPr>
            <a:spLocks noGrp="1"/>
          </p:cNvSpPr>
          <p:nvPr>
            <p:ph type="title"/>
          </p:nvPr>
        </p:nvSpPr>
        <p:spPr>
          <a:xfrm>
            <a:off x="2549236" y="533614"/>
            <a:ext cx="9210963" cy="888786"/>
          </a:xfrm>
        </p:spPr>
        <p:txBody>
          <a:bodyPr anchor="t">
            <a:normAutofit/>
          </a:bodyPr>
          <a:lstStyle/>
          <a:p>
            <a:r>
              <a:rPr lang="en-GB" dirty="0"/>
              <a:t>Central limit theorem</a:t>
            </a:r>
          </a:p>
        </p:txBody>
      </p:sp>
    </p:spTree>
    <p:extLst>
      <p:ext uri="{BB962C8B-B14F-4D97-AF65-F5344CB8AC3E}">
        <p14:creationId xmlns:p14="http://schemas.microsoft.com/office/powerpoint/2010/main" val="34089924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2AE22-CA1C-7315-58BE-436D4BB9172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1692676-032A-08F2-B09E-371D0531562B}"/>
              </a:ext>
            </a:extLst>
          </p:cNvPr>
          <p:cNvSpPr>
            <a:spLocks noGrp="1"/>
          </p:cNvSpPr>
          <p:nvPr>
            <p:ph sz="half" idx="1"/>
          </p:nvPr>
        </p:nvSpPr>
        <p:spPr>
          <a:xfrm>
            <a:off x="838200" y="1608667"/>
            <a:ext cx="5181600" cy="4568296"/>
          </a:xfrm>
        </p:spPr>
        <p:txBody>
          <a:bodyPr>
            <a:normAutofit/>
          </a:bodyPr>
          <a:lstStyle/>
          <a:p>
            <a:pPr marL="0" indent="0">
              <a:buNone/>
            </a:pPr>
            <a:r>
              <a:rPr lang="en-US" b="0" i="0">
                <a:effectLst/>
              </a:rPr>
              <a:t>If we form a sum of many random variables </a:t>
            </a:r>
            <a:r>
              <a:rPr lang="en-US" dirty="0"/>
              <a:t>Y=X1+X2+X3+…,</a:t>
            </a:r>
            <a:r>
              <a:rPr lang="en-US" b="0" i="0">
                <a:effectLst/>
              </a:rPr>
              <a:t> then for almost any PDF that each of </a:t>
            </a:r>
            <a:r>
              <a:rPr lang="en-US" dirty="0"/>
              <a:t>X1,X2,…</a:t>
            </a:r>
            <a:r>
              <a:rPr lang="en-US" b="0" i="0">
                <a:effectLst/>
              </a:rPr>
              <a:t> might have, the PDF of </a:t>
            </a:r>
            <a:r>
              <a:rPr lang="en-US" dirty="0"/>
              <a:t>Y</a:t>
            </a:r>
            <a:r>
              <a:rPr lang="en-US" b="0" i="0">
                <a:effectLst/>
              </a:rPr>
              <a:t> will be approximately normal, </a:t>
            </a:r>
            <a:r>
              <a:rPr lang="en-US" dirty="0"/>
              <a:t>Y∼N(μ,σ2)</a:t>
            </a:r>
            <a:r>
              <a:rPr lang="en-US" b="0" i="0">
                <a:effectLst/>
              </a:rPr>
              <a:t>. </a:t>
            </a:r>
          </a:p>
          <a:p>
            <a:pPr marL="0" indent="0">
              <a:buNone/>
            </a:pPr>
            <a:r>
              <a:rPr lang="en-US" b="0" i="0">
                <a:effectLst/>
              </a:rPr>
              <a:t>This means that any process that involves a mixture of many random components will tend to be Gaussian under a wide variety of conditions.</a:t>
            </a:r>
            <a:endParaRPr lang="en-GB" dirty="0"/>
          </a:p>
        </p:txBody>
      </p:sp>
      <p:pic>
        <p:nvPicPr>
          <p:cNvPr id="5" name="Picture 4">
            <a:extLst>
              <a:ext uri="{FF2B5EF4-FFF2-40B4-BE49-F238E27FC236}">
                <a16:creationId xmlns:a16="http://schemas.microsoft.com/office/drawing/2014/main" id="{DC18EF11-4B43-4D88-F2F3-61541DDCAEE6}"/>
              </a:ext>
            </a:extLst>
          </p:cNvPr>
          <p:cNvPicPr>
            <a:picLocks noChangeAspect="1"/>
          </p:cNvPicPr>
          <p:nvPr/>
        </p:nvPicPr>
        <p:blipFill>
          <a:blip r:embed="rId2"/>
          <a:stretch>
            <a:fillRect/>
          </a:stretch>
        </p:blipFill>
        <p:spPr>
          <a:xfrm>
            <a:off x="6172200" y="2454921"/>
            <a:ext cx="5181600" cy="2875787"/>
          </a:xfrm>
          <a:prstGeom prst="rect">
            <a:avLst/>
          </a:prstGeom>
          <a:noFill/>
        </p:spPr>
      </p:pic>
      <p:sp>
        <p:nvSpPr>
          <p:cNvPr id="2" name="Title 1">
            <a:extLst>
              <a:ext uri="{FF2B5EF4-FFF2-40B4-BE49-F238E27FC236}">
                <a16:creationId xmlns:a16="http://schemas.microsoft.com/office/drawing/2014/main" id="{AE465DE5-D4C2-F359-DAF9-D7395A845A2D}"/>
              </a:ext>
            </a:extLst>
          </p:cNvPr>
          <p:cNvSpPr>
            <a:spLocks noGrp="1"/>
          </p:cNvSpPr>
          <p:nvPr>
            <p:ph type="title"/>
          </p:nvPr>
        </p:nvSpPr>
        <p:spPr>
          <a:xfrm>
            <a:off x="2549236" y="533614"/>
            <a:ext cx="9210963" cy="888786"/>
          </a:xfrm>
        </p:spPr>
        <p:txBody>
          <a:bodyPr anchor="t">
            <a:normAutofit/>
          </a:bodyPr>
          <a:lstStyle/>
          <a:p>
            <a:r>
              <a:rPr lang="en-GB" dirty="0"/>
              <a:t>Central limit theorem</a:t>
            </a:r>
          </a:p>
        </p:txBody>
      </p:sp>
    </p:spTree>
    <p:extLst>
      <p:ext uri="{BB962C8B-B14F-4D97-AF65-F5344CB8AC3E}">
        <p14:creationId xmlns:p14="http://schemas.microsoft.com/office/powerpoint/2010/main" val="22405073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8E6A5-F58D-21B2-CB7A-1FAC7D31A1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009A55-C21D-C0BD-A242-76D1AA1340FD}"/>
              </a:ext>
            </a:extLst>
          </p:cNvPr>
          <p:cNvSpPr>
            <a:spLocks noGrp="1"/>
          </p:cNvSpPr>
          <p:nvPr>
            <p:ph sz="half" idx="1"/>
          </p:nvPr>
        </p:nvSpPr>
        <p:spPr>
          <a:xfrm>
            <a:off x="838200" y="1608667"/>
            <a:ext cx="5181600" cy="4568296"/>
          </a:xfrm>
        </p:spPr>
        <p:txBody>
          <a:bodyPr>
            <a:normAutofit/>
          </a:bodyPr>
          <a:lstStyle/>
          <a:p>
            <a:pPr marL="0" indent="0">
              <a:buNone/>
            </a:pPr>
            <a:r>
              <a:rPr lang="en-US" b="0" i="0">
                <a:effectLst/>
              </a:rPr>
              <a:t>If we form a sum of many random variables </a:t>
            </a:r>
            <a:r>
              <a:rPr lang="en-US" dirty="0"/>
              <a:t>Y=X1+X2+X3+…,</a:t>
            </a:r>
            <a:r>
              <a:rPr lang="en-US" b="0" i="0">
                <a:effectLst/>
              </a:rPr>
              <a:t> then for almost any PDF that each of </a:t>
            </a:r>
            <a:r>
              <a:rPr lang="en-US" dirty="0"/>
              <a:t>X1,X2,…</a:t>
            </a:r>
            <a:r>
              <a:rPr lang="en-US" b="0" i="0">
                <a:effectLst/>
              </a:rPr>
              <a:t> might have, the PDF of </a:t>
            </a:r>
            <a:r>
              <a:rPr lang="en-US" dirty="0"/>
              <a:t>Y</a:t>
            </a:r>
            <a:r>
              <a:rPr lang="en-US" b="0" i="0">
                <a:effectLst/>
              </a:rPr>
              <a:t> will be approximately normal, </a:t>
            </a:r>
            <a:r>
              <a:rPr lang="en-US" dirty="0"/>
              <a:t>Y∼N(μ,σ2)</a:t>
            </a:r>
            <a:r>
              <a:rPr lang="en-US" b="0" i="0">
                <a:effectLst/>
              </a:rPr>
              <a:t>. </a:t>
            </a:r>
          </a:p>
          <a:p>
            <a:pPr marL="0" indent="0">
              <a:buNone/>
            </a:pPr>
            <a:r>
              <a:rPr lang="en-US" b="0" i="0">
                <a:effectLst/>
              </a:rPr>
              <a:t>This means that any process that involves a mixture of many random components will tend to be Gaussian under a wide variety of conditions.</a:t>
            </a:r>
            <a:endParaRPr lang="en-GB" dirty="0"/>
          </a:p>
        </p:txBody>
      </p:sp>
      <p:pic>
        <p:nvPicPr>
          <p:cNvPr id="5" name="Picture 4">
            <a:extLst>
              <a:ext uri="{FF2B5EF4-FFF2-40B4-BE49-F238E27FC236}">
                <a16:creationId xmlns:a16="http://schemas.microsoft.com/office/drawing/2014/main" id="{7E7C3734-8ACD-E56A-9135-39A0D2E37ACE}"/>
              </a:ext>
            </a:extLst>
          </p:cNvPr>
          <p:cNvPicPr>
            <a:picLocks noChangeAspect="1"/>
          </p:cNvPicPr>
          <p:nvPr/>
        </p:nvPicPr>
        <p:blipFill>
          <a:blip r:embed="rId2"/>
          <a:stretch>
            <a:fillRect/>
          </a:stretch>
        </p:blipFill>
        <p:spPr>
          <a:xfrm>
            <a:off x="6172200" y="2487306"/>
            <a:ext cx="5181600" cy="2811017"/>
          </a:xfrm>
          <a:prstGeom prst="rect">
            <a:avLst/>
          </a:prstGeom>
          <a:noFill/>
        </p:spPr>
      </p:pic>
      <p:sp>
        <p:nvSpPr>
          <p:cNvPr id="2" name="Title 1">
            <a:extLst>
              <a:ext uri="{FF2B5EF4-FFF2-40B4-BE49-F238E27FC236}">
                <a16:creationId xmlns:a16="http://schemas.microsoft.com/office/drawing/2014/main" id="{F6FEDA92-5373-72EC-3C3F-B0AC7C3E6D23}"/>
              </a:ext>
            </a:extLst>
          </p:cNvPr>
          <p:cNvSpPr>
            <a:spLocks noGrp="1"/>
          </p:cNvSpPr>
          <p:nvPr>
            <p:ph type="title"/>
          </p:nvPr>
        </p:nvSpPr>
        <p:spPr>
          <a:xfrm>
            <a:off x="2549236" y="533614"/>
            <a:ext cx="9210963" cy="888786"/>
          </a:xfrm>
        </p:spPr>
        <p:txBody>
          <a:bodyPr anchor="t">
            <a:normAutofit/>
          </a:bodyPr>
          <a:lstStyle/>
          <a:p>
            <a:r>
              <a:rPr lang="en-GB" dirty="0"/>
              <a:t>Central limit theorem</a:t>
            </a:r>
          </a:p>
        </p:txBody>
      </p:sp>
    </p:spTree>
    <p:extLst>
      <p:ext uri="{BB962C8B-B14F-4D97-AF65-F5344CB8AC3E}">
        <p14:creationId xmlns:p14="http://schemas.microsoft.com/office/powerpoint/2010/main" val="4115983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1342B-B6CD-81D9-9B63-323153CA6D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3F02CC-610D-DE0E-AC2E-9CC668D6E05D}"/>
              </a:ext>
            </a:extLst>
          </p:cNvPr>
          <p:cNvSpPr>
            <a:spLocks noGrp="1"/>
          </p:cNvSpPr>
          <p:nvPr>
            <p:ph sz="half" idx="1"/>
          </p:nvPr>
        </p:nvSpPr>
        <p:spPr>
          <a:xfrm>
            <a:off x="838200" y="1608667"/>
            <a:ext cx="5181600" cy="4568296"/>
          </a:xfrm>
        </p:spPr>
        <p:txBody>
          <a:bodyPr>
            <a:normAutofit/>
          </a:bodyPr>
          <a:lstStyle/>
          <a:p>
            <a:pPr marL="0" indent="0">
              <a:buNone/>
            </a:pPr>
            <a:r>
              <a:rPr lang="en-US" b="0" i="0">
                <a:effectLst/>
              </a:rPr>
              <a:t>If we form a sum of many random variables </a:t>
            </a:r>
            <a:r>
              <a:rPr lang="en-US" dirty="0"/>
              <a:t>Y=X1+X2+X3+…,</a:t>
            </a:r>
            <a:r>
              <a:rPr lang="en-US" b="0" i="0">
                <a:effectLst/>
              </a:rPr>
              <a:t> then for almost any PDF that each of </a:t>
            </a:r>
            <a:r>
              <a:rPr lang="en-US" dirty="0"/>
              <a:t>X1,X2,…</a:t>
            </a:r>
            <a:r>
              <a:rPr lang="en-US" b="0" i="0">
                <a:effectLst/>
              </a:rPr>
              <a:t> might have, the PDF of </a:t>
            </a:r>
            <a:r>
              <a:rPr lang="en-US" dirty="0"/>
              <a:t>Y</a:t>
            </a:r>
            <a:r>
              <a:rPr lang="en-US" b="0" i="0">
                <a:effectLst/>
              </a:rPr>
              <a:t> will be approximately normal, </a:t>
            </a:r>
            <a:r>
              <a:rPr lang="en-US" dirty="0"/>
              <a:t>Y∼N(μ,σ2)</a:t>
            </a:r>
            <a:r>
              <a:rPr lang="en-US" b="0" i="0">
                <a:effectLst/>
              </a:rPr>
              <a:t>. </a:t>
            </a:r>
          </a:p>
          <a:p>
            <a:pPr marL="0" indent="0">
              <a:buNone/>
            </a:pPr>
            <a:r>
              <a:rPr lang="en-US" b="0" i="0">
                <a:effectLst/>
              </a:rPr>
              <a:t>This means that any process that involves a mixture of many random components will tend to be Gaussian under a wide variety of conditions.</a:t>
            </a:r>
            <a:endParaRPr lang="en-GB" dirty="0"/>
          </a:p>
        </p:txBody>
      </p:sp>
      <p:pic>
        <p:nvPicPr>
          <p:cNvPr id="6" name="Picture 5">
            <a:extLst>
              <a:ext uri="{FF2B5EF4-FFF2-40B4-BE49-F238E27FC236}">
                <a16:creationId xmlns:a16="http://schemas.microsoft.com/office/drawing/2014/main" id="{074E7475-36C9-B11A-8CD4-A0FEB4CDC91E}"/>
              </a:ext>
            </a:extLst>
          </p:cNvPr>
          <p:cNvPicPr>
            <a:picLocks noChangeAspect="1"/>
          </p:cNvPicPr>
          <p:nvPr/>
        </p:nvPicPr>
        <p:blipFill>
          <a:blip r:embed="rId2"/>
          <a:stretch>
            <a:fillRect/>
          </a:stretch>
        </p:blipFill>
        <p:spPr>
          <a:xfrm>
            <a:off x="6172200" y="2467875"/>
            <a:ext cx="5181600" cy="2849879"/>
          </a:xfrm>
          <a:prstGeom prst="rect">
            <a:avLst/>
          </a:prstGeom>
          <a:noFill/>
        </p:spPr>
      </p:pic>
      <p:sp>
        <p:nvSpPr>
          <p:cNvPr id="2" name="Title 1">
            <a:extLst>
              <a:ext uri="{FF2B5EF4-FFF2-40B4-BE49-F238E27FC236}">
                <a16:creationId xmlns:a16="http://schemas.microsoft.com/office/drawing/2014/main" id="{4A7B8C62-BA24-68B8-3300-F0D0BE57E0BD}"/>
              </a:ext>
            </a:extLst>
          </p:cNvPr>
          <p:cNvSpPr>
            <a:spLocks noGrp="1"/>
          </p:cNvSpPr>
          <p:nvPr>
            <p:ph type="title"/>
          </p:nvPr>
        </p:nvSpPr>
        <p:spPr>
          <a:xfrm>
            <a:off x="2549236" y="533614"/>
            <a:ext cx="9210963" cy="888786"/>
          </a:xfrm>
        </p:spPr>
        <p:txBody>
          <a:bodyPr anchor="t">
            <a:normAutofit/>
          </a:bodyPr>
          <a:lstStyle/>
          <a:p>
            <a:r>
              <a:rPr lang="en-GB" dirty="0"/>
              <a:t>Central limit theorem</a:t>
            </a:r>
          </a:p>
        </p:txBody>
      </p:sp>
    </p:spTree>
    <p:extLst>
      <p:ext uri="{BB962C8B-B14F-4D97-AF65-F5344CB8AC3E}">
        <p14:creationId xmlns:p14="http://schemas.microsoft.com/office/powerpoint/2010/main" val="2932250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6E68A-FD12-52F0-B1A8-2B78FFB871B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BC4B90-6028-7CD9-DF4F-FC79185D14AB}"/>
              </a:ext>
            </a:extLst>
          </p:cNvPr>
          <p:cNvSpPr>
            <a:spLocks noGrp="1"/>
          </p:cNvSpPr>
          <p:nvPr>
            <p:ph sz="half" idx="1"/>
          </p:nvPr>
        </p:nvSpPr>
        <p:spPr>
          <a:xfrm>
            <a:off x="838200" y="1608667"/>
            <a:ext cx="5181600" cy="4568296"/>
          </a:xfrm>
        </p:spPr>
        <p:txBody>
          <a:bodyPr>
            <a:normAutofit/>
          </a:bodyPr>
          <a:lstStyle/>
          <a:p>
            <a:pPr marL="0" indent="0">
              <a:buNone/>
            </a:pPr>
            <a:r>
              <a:rPr lang="en-US" b="0" i="0">
                <a:effectLst/>
              </a:rPr>
              <a:t>If we form a sum of many random variables </a:t>
            </a:r>
            <a:r>
              <a:rPr lang="en-US" dirty="0"/>
              <a:t>Y=X1+X2+X3+…,</a:t>
            </a:r>
            <a:r>
              <a:rPr lang="en-US" b="0" i="0">
                <a:effectLst/>
              </a:rPr>
              <a:t> then for almost any PDF that each of </a:t>
            </a:r>
            <a:r>
              <a:rPr lang="en-US" dirty="0"/>
              <a:t>X1,X2,…</a:t>
            </a:r>
            <a:r>
              <a:rPr lang="en-US" b="0" i="0">
                <a:effectLst/>
              </a:rPr>
              <a:t> might have, the PDF of </a:t>
            </a:r>
            <a:r>
              <a:rPr lang="en-US" dirty="0"/>
              <a:t>Y</a:t>
            </a:r>
            <a:r>
              <a:rPr lang="en-US" b="0" i="0">
                <a:effectLst/>
              </a:rPr>
              <a:t> will be approximately normal, </a:t>
            </a:r>
            <a:r>
              <a:rPr lang="en-US" dirty="0"/>
              <a:t>Y∼N(μ,σ2)</a:t>
            </a:r>
            <a:r>
              <a:rPr lang="en-US" b="0" i="0">
                <a:effectLst/>
              </a:rPr>
              <a:t>. </a:t>
            </a:r>
          </a:p>
          <a:p>
            <a:pPr marL="0" indent="0">
              <a:buNone/>
            </a:pPr>
            <a:r>
              <a:rPr lang="en-US" b="0" i="0">
                <a:effectLst/>
              </a:rPr>
              <a:t>This means that any process that involves a mixture of many random components will tend to be Gaussian under a wide variety of conditions.</a:t>
            </a:r>
            <a:endParaRPr lang="en-GB" dirty="0"/>
          </a:p>
        </p:txBody>
      </p:sp>
      <p:pic>
        <p:nvPicPr>
          <p:cNvPr id="8" name="Picture 7">
            <a:extLst>
              <a:ext uri="{FF2B5EF4-FFF2-40B4-BE49-F238E27FC236}">
                <a16:creationId xmlns:a16="http://schemas.microsoft.com/office/drawing/2014/main" id="{E2704FB1-FF85-4EC3-370D-282AB1284E6B}"/>
              </a:ext>
            </a:extLst>
          </p:cNvPr>
          <p:cNvPicPr>
            <a:picLocks noChangeAspect="1"/>
          </p:cNvPicPr>
          <p:nvPr/>
        </p:nvPicPr>
        <p:blipFill>
          <a:blip r:embed="rId2"/>
          <a:stretch>
            <a:fillRect/>
          </a:stretch>
        </p:blipFill>
        <p:spPr>
          <a:xfrm>
            <a:off x="6172200" y="2480829"/>
            <a:ext cx="5181600" cy="2823972"/>
          </a:xfrm>
          <a:prstGeom prst="rect">
            <a:avLst/>
          </a:prstGeom>
          <a:noFill/>
        </p:spPr>
      </p:pic>
      <p:sp>
        <p:nvSpPr>
          <p:cNvPr id="2" name="Title 1">
            <a:extLst>
              <a:ext uri="{FF2B5EF4-FFF2-40B4-BE49-F238E27FC236}">
                <a16:creationId xmlns:a16="http://schemas.microsoft.com/office/drawing/2014/main" id="{E2F60A09-5BE7-9DD1-823F-DB2312F2E491}"/>
              </a:ext>
            </a:extLst>
          </p:cNvPr>
          <p:cNvSpPr>
            <a:spLocks noGrp="1"/>
          </p:cNvSpPr>
          <p:nvPr>
            <p:ph type="title"/>
          </p:nvPr>
        </p:nvSpPr>
        <p:spPr>
          <a:xfrm>
            <a:off x="2549236" y="533614"/>
            <a:ext cx="9210963" cy="888786"/>
          </a:xfrm>
        </p:spPr>
        <p:txBody>
          <a:bodyPr anchor="t">
            <a:normAutofit/>
          </a:bodyPr>
          <a:lstStyle/>
          <a:p>
            <a:r>
              <a:rPr lang="en-GB" dirty="0"/>
              <a:t>Central limit theorem</a:t>
            </a:r>
          </a:p>
        </p:txBody>
      </p:sp>
    </p:spTree>
    <p:extLst>
      <p:ext uri="{BB962C8B-B14F-4D97-AF65-F5344CB8AC3E}">
        <p14:creationId xmlns:p14="http://schemas.microsoft.com/office/powerpoint/2010/main" val="38557680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AF204-1881-DA0F-B4CB-1E65E43E812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DB4944E-675A-EDED-6D17-60C974B80CBA}"/>
              </a:ext>
            </a:extLst>
          </p:cNvPr>
          <p:cNvSpPr>
            <a:spLocks noGrp="1"/>
          </p:cNvSpPr>
          <p:nvPr>
            <p:ph sz="half" idx="1"/>
          </p:nvPr>
        </p:nvSpPr>
        <p:spPr>
          <a:xfrm>
            <a:off x="838200" y="1608667"/>
            <a:ext cx="5181600" cy="4568296"/>
          </a:xfrm>
        </p:spPr>
        <p:txBody>
          <a:bodyPr>
            <a:normAutofit/>
          </a:bodyPr>
          <a:lstStyle/>
          <a:p>
            <a:pPr marL="0" indent="0">
              <a:buNone/>
            </a:pPr>
            <a:r>
              <a:rPr lang="en-US" b="0" i="0">
                <a:effectLst/>
              </a:rPr>
              <a:t>If we form a sum of many random variables </a:t>
            </a:r>
            <a:r>
              <a:rPr lang="en-US" dirty="0"/>
              <a:t>Y=X1+X2+X3+…,</a:t>
            </a:r>
            <a:r>
              <a:rPr lang="en-US" b="0" i="0">
                <a:effectLst/>
              </a:rPr>
              <a:t> then for almost any PDF that each of </a:t>
            </a:r>
            <a:r>
              <a:rPr lang="en-US" dirty="0"/>
              <a:t>X1,X2,…</a:t>
            </a:r>
            <a:r>
              <a:rPr lang="en-US" b="0" i="0">
                <a:effectLst/>
              </a:rPr>
              <a:t> might have, the PDF of </a:t>
            </a:r>
            <a:r>
              <a:rPr lang="en-US" dirty="0"/>
              <a:t>Y</a:t>
            </a:r>
            <a:r>
              <a:rPr lang="en-US" b="0" i="0">
                <a:effectLst/>
              </a:rPr>
              <a:t> will be approximately normal, </a:t>
            </a:r>
            <a:r>
              <a:rPr lang="en-US" dirty="0"/>
              <a:t>Y∼N(μ,σ2)</a:t>
            </a:r>
            <a:r>
              <a:rPr lang="en-US" b="0" i="0">
                <a:effectLst/>
              </a:rPr>
              <a:t>. </a:t>
            </a:r>
          </a:p>
          <a:p>
            <a:pPr marL="0" indent="0">
              <a:buNone/>
            </a:pPr>
            <a:r>
              <a:rPr lang="en-US" b="0" i="0">
                <a:effectLst/>
              </a:rPr>
              <a:t>This means that any process that involves a mixture of many random components will tend to be Gaussian under a wide variety of conditions.</a:t>
            </a:r>
            <a:endParaRPr lang="en-GB" dirty="0"/>
          </a:p>
        </p:txBody>
      </p:sp>
      <p:pic>
        <p:nvPicPr>
          <p:cNvPr id="5" name="Picture 4">
            <a:extLst>
              <a:ext uri="{FF2B5EF4-FFF2-40B4-BE49-F238E27FC236}">
                <a16:creationId xmlns:a16="http://schemas.microsoft.com/office/drawing/2014/main" id="{FDD83DB0-3E43-BD5E-EA3A-6FECB344F3AE}"/>
              </a:ext>
            </a:extLst>
          </p:cNvPr>
          <p:cNvPicPr>
            <a:picLocks noChangeAspect="1"/>
          </p:cNvPicPr>
          <p:nvPr/>
        </p:nvPicPr>
        <p:blipFill>
          <a:blip r:embed="rId2"/>
          <a:stretch>
            <a:fillRect/>
          </a:stretch>
        </p:blipFill>
        <p:spPr>
          <a:xfrm>
            <a:off x="6172200" y="2448444"/>
            <a:ext cx="5181600" cy="2888741"/>
          </a:xfrm>
          <a:prstGeom prst="rect">
            <a:avLst/>
          </a:prstGeom>
          <a:noFill/>
        </p:spPr>
      </p:pic>
      <p:sp>
        <p:nvSpPr>
          <p:cNvPr id="2" name="Title 1">
            <a:extLst>
              <a:ext uri="{FF2B5EF4-FFF2-40B4-BE49-F238E27FC236}">
                <a16:creationId xmlns:a16="http://schemas.microsoft.com/office/drawing/2014/main" id="{1987896A-D4B4-E056-153D-87BE68CE3B1B}"/>
              </a:ext>
            </a:extLst>
          </p:cNvPr>
          <p:cNvSpPr>
            <a:spLocks noGrp="1"/>
          </p:cNvSpPr>
          <p:nvPr>
            <p:ph type="title"/>
          </p:nvPr>
        </p:nvSpPr>
        <p:spPr>
          <a:xfrm>
            <a:off x="2549236" y="533614"/>
            <a:ext cx="9210963" cy="888786"/>
          </a:xfrm>
        </p:spPr>
        <p:txBody>
          <a:bodyPr anchor="t">
            <a:normAutofit/>
          </a:bodyPr>
          <a:lstStyle/>
          <a:p>
            <a:r>
              <a:rPr lang="en-GB" dirty="0"/>
              <a:t>Central limit theorem</a:t>
            </a:r>
          </a:p>
        </p:txBody>
      </p:sp>
    </p:spTree>
    <p:extLst>
      <p:ext uri="{BB962C8B-B14F-4D97-AF65-F5344CB8AC3E}">
        <p14:creationId xmlns:p14="http://schemas.microsoft.com/office/powerpoint/2010/main" val="18008618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58D98-D1EF-76E4-7E2B-799D529CA1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1A20898-0099-D17F-8F5D-51E167F59798}"/>
              </a:ext>
            </a:extLst>
          </p:cNvPr>
          <p:cNvSpPr>
            <a:spLocks noGrp="1"/>
          </p:cNvSpPr>
          <p:nvPr>
            <p:ph sz="half" idx="1"/>
          </p:nvPr>
        </p:nvSpPr>
        <p:spPr>
          <a:xfrm>
            <a:off x="838200" y="1608667"/>
            <a:ext cx="5181600" cy="4568296"/>
          </a:xfrm>
        </p:spPr>
        <p:txBody>
          <a:bodyPr>
            <a:normAutofit/>
          </a:bodyPr>
          <a:lstStyle/>
          <a:p>
            <a:pPr marL="0" indent="0">
              <a:buNone/>
            </a:pPr>
            <a:r>
              <a:rPr lang="en-US" b="0" i="0">
                <a:effectLst/>
              </a:rPr>
              <a:t>If we form a sum of many random variables </a:t>
            </a:r>
            <a:r>
              <a:rPr lang="en-US" dirty="0"/>
              <a:t>Y=X1+X2+X3+…,</a:t>
            </a:r>
            <a:r>
              <a:rPr lang="en-US" b="0" i="0">
                <a:effectLst/>
              </a:rPr>
              <a:t> then for almost any PDF that each of </a:t>
            </a:r>
            <a:r>
              <a:rPr lang="en-US" dirty="0"/>
              <a:t>X1,X2,…</a:t>
            </a:r>
            <a:r>
              <a:rPr lang="en-US" b="0" i="0">
                <a:effectLst/>
              </a:rPr>
              <a:t> might have, the PDF of </a:t>
            </a:r>
            <a:r>
              <a:rPr lang="en-US" dirty="0"/>
              <a:t>Y</a:t>
            </a:r>
            <a:r>
              <a:rPr lang="en-US" b="0" i="0">
                <a:effectLst/>
              </a:rPr>
              <a:t> will be approximately normal, </a:t>
            </a:r>
            <a:r>
              <a:rPr lang="en-US" dirty="0"/>
              <a:t>Y∼N(μ,σ2)</a:t>
            </a:r>
            <a:r>
              <a:rPr lang="en-US" b="0" i="0">
                <a:effectLst/>
              </a:rPr>
              <a:t>. </a:t>
            </a:r>
          </a:p>
          <a:p>
            <a:pPr marL="0" indent="0">
              <a:buNone/>
            </a:pPr>
            <a:r>
              <a:rPr lang="en-US" b="0" i="0">
                <a:effectLst/>
              </a:rPr>
              <a:t>This means that any process that involves a mixture of many random components will tend to be Gaussian under a wide variety of conditions.</a:t>
            </a:r>
            <a:endParaRPr lang="en-GB" dirty="0"/>
          </a:p>
        </p:txBody>
      </p:sp>
      <p:pic>
        <p:nvPicPr>
          <p:cNvPr id="2050" name="Picture 2">
            <a:extLst>
              <a:ext uri="{FF2B5EF4-FFF2-40B4-BE49-F238E27FC236}">
                <a16:creationId xmlns:a16="http://schemas.microsoft.com/office/drawing/2014/main" id="{735787A3-8E40-446D-ED55-1194D94049D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72200" y="2429013"/>
            <a:ext cx="5181600" cy="2927603"/>
          </a:xfrm>
          <a:prstGeom prst="rect">
            <a:avLst/>
          </a:prstGeom>
          <a:solidFill>
            <a:srgbClr val="FFFFFF"/>
          </a:solidFill>
        </p:spPr>
      </p:pic>
      <p:sp>
        <p:nvSpPr>
          <p:cNvPr id="2" name="Title 1">
            <a:extLst>
              <a:ext uri="{FF2B5EF4-FFF2-40B4-BE49-F238E27FC236}">
                <a16:creationId xmlns:a16="http://schemas.microsoft.com/office/drawing/2014/main" id="{24D1A7E5-0B04-8DED-5D3F-62A6B741F135}"/>
              </a:ext>
            </a:extLst>
          </p:cNvPr>
          <p:cNvSpPr>
            <a:spLocks noGrp="1"/>
          </p:cNvSpPr>
          <p:nvPr>
            <p:ph type="title"/>
          </p:nvPr>
        </p:nvSpPr>
        <p:spPr>
          <a:xfrm>
            <a:off x="2549236" y="533614"/>
            <a:ext cx="9210963" cy="888786"/>
          </a:xfrm>
        </p:spPr>
        <p:txBody>
          <a:bodyPr anchor="t">
            <a:normAutofit/>
          </a:bodyPr>
          <a:lstStyle/>
          <a:p>
            <a:r>
              <a:rPr lang="en-GB" dirty="0"/>
              <a:t>Central limit theorem</a:t>
            </a:r>
          </a:p>
        </p:txBody>
      </p:sp>
    </p:spTree>
    <p:extLst>
      <p:ext uri="{BB962C8B-B14F-4D97-AF65-F5344CB8AC3E}">
        <p14:creationId xmlns:p14="http://schemas.microsoft.com/office/powerpoint/2010/main" val="2920954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F58FE55-5367-07F0-C057-6FBACC42EC4A}"/>
              </a:ext>
            </a:extLst>
          </p:cNvPr>
          <p:cNvSpPr>
            <a:spLocks noGrp="1"/>
          </p:cNvSpPr>
          <p:nvPr>
            <p:ph type="title"/>
          </p:nvPr>
        </p:nvSpPr>
        <p:spPr/>
        <p:txBody>
          <a:bodyPr/>
          <a:lstStyle/>
          <a:p>
            <a:r>
              <a:rPr lang="en-GB" dirty="0"/>
              <a:t>Multivariate distributions over R</a:t>
            </a:r>
            <a:r>
              <a:rPr lang="en-GB" baseline="30000" dirty="0"/>
              <a:t>n</a:t>
            </a:r>
          </a:p>
        </p:txBody>
      </p:sp>
      <p:sp>
        <p:nvSpPr>
          <p:cNvPr id="2" name="Content Placeholder 1">
            <a:extLst>
              <a:ext uri="{FF2B5EF4-FFF2-40B4-BE49-F238E27FC236}">
                <a16:creationId xmlns:a16="http://schemas.microsoft.com/office/drawing/2014/main" id="{B05DE776-ACD4-3653-BEF1-731F7CA7E8F8}"/>
              </a:ext>
            </a:extLst>
          </p:cNvPr>
          <p:cNvSpPr>
            <a:spLocks noGrp="1"/>
          </p:cNvSpPr>
          <p:nvPr>
            <p:ph sz="quarter" idx="13"/>
          </p:nvPr>
        </p:nvSpPr>
        <p:spPr/>
        <p:txBody>
          <a:bodyPr>
            <a:normAutofit fontScale="92500" lnSpcReduction="10000"/>
          </a:bodyPr>
          <a:lstStyle/>
          <a:p>
            <a:pPr marL="0" indent="0" algn="l">
              <a:buNone/>
            </a:pPr>
            <a:r>
              <a:rPr lang="en-US" b="0" i="0" dirty="0">
                <a:effectLst/>
                <a:latin typeface="system-ui"/>
              </a:rPr>
              <a:t>Continuous distributions </a:t>
            </a:r>
            <a:r>
              <a:rPr lang="en-US" b="0" i="0" dirty="0" err="1">
                <a:effectLst/>
                <a:latin typeface="system-ui"/>
              </a:rPr>
              <a:t>generalise</a:t>
            </a:r>
            <a:r>
              <a:rPr lang="en-US" b="0" i="0" dirty="0">
                <a:effectLst/>
                <a:latin typeface="system-ui"/>
              </a:rPr>
              <a:t> discrete variables to continuous spaces over R via probability density functions.</a:t>
            </a:r>
          </a:p>
          <a:p>
            <a:pPr marL="0" indent="0" algn="l">
              <a:buNone/>
            </a:pPr>
            <a:r>
              <a:rPr lang="en-US" b="0" i="0" dirty="0">
                <a:effectLst/>
                <a:latin typeface="system-ui"/>
              </a:rPr>
              <a:t>Probability densities can be further </a:t>
            </a:r>
            <a:r>
              <a:rPr lang="en-US" b="0" i="0" dirty="0" err="1">
                <a:effectLst/>
                <a:latin typeface="system-ui"/>
              </a:rPr>
              <a:t>generalised</a:t>
            </a:r>
            <a:r>
              <a:rPr lang="en-US" b="0" i="0" dirty="0">
                <a:effectLst/>
                <a:latin typeface="system-ui"/>
              </a:rPr>
              <a:t> to vector spaces, particularly to R</a:t>
            </a:r>
            <a:r>
              <a:rPr lang="en-US" b="0" i="0" baseline="30000" dirty="0">
                <a:effectLst/>
                <a:latin typeface="system-ui"/>
              </a:rPr>
              <a:t>n</a:t>
            </a:r>
            <a:r>
              <a:rPr lang="en-US" b="0" i="0" dirty="0">
                <a:effectLst/>
                <a:latin typeface="system-ui"/>
              </a:rPr>
              <a:t>, under the constraint </a:t>
            </a:r>
          </a:p>
          <a:p>
            <a:pPr marL="0" indent="0" algn="l">
              <a:buNone/>
            </a:pPr>
            <a:endParaRPr lang="en-US" b="0" i="0" dirty="0">
              <a:effectLst/>
              <a:latin typeface="system-ui"/>
            </a:endParaRPr>
          </a:p>
          <a:p>
            <a:pPr marL="0" indent="0" algn="l">
              <a:buNone/>
            </a:pPr>
            <a:endParaRPr lang="en-US" b="0" i="0" dirty="0">
              <a:effectLst/>
              <a:latin typeface="system-ui"/>
            </a:endParaRPr>
          </a:p>
          <a:p>
            <a:pPr marL="0" indent="0" algn="l">
              <a:buNone/>
            </a:pPr>
            <a:r>
              <a:rPr lang="en-US" b="0" i="0" dirty="0">
                <a:effectLst/>
                <a:latin typeface="system-ui"/>
              </a:rPr>
              <a:t>This is the same as:</a:t>
            </a:r>
          </a:p>
          <a:p>
            <a:pPr marL="0" indent="0" algn="l">
              <a:buNone/>
            </a:pPr>
            <a:endParaRPr lang="en-US" b="0" i="0" dirty="0">
              <a:effectLst/>
              <a:latin typeface="system-ui"/>
            </a:endParaRPr>
          </a:p>
          <a:p>
            <a:pPr marL="0" indent="0" algn="l">
              <a:buNone/>
            </a:pPr>
            <a:endParaRPr lang="en-US" b="0" i="0" dirty="0">
              <a:effectLst/>
              <a:latin typeface="system-ui"/>
            </a:endParaRPr>
          </a:p>
          <a:p>
            <a:pPr marL="0" indent="0" algn="l">
              <a:buNone/>
            </a:pPr>
            <a:r>
              <a:rPr lang="en-US" b="0" i="0" dirty="0">
                <a:effectLst/>
                <a:latin typeface="system-ui"/>
              </a:rPr>
              <a:t>Distributions with PDFs over vector spaces are called </a:t>
            </a:r>
            <a:r>
              <a:rPr lang="en-US" b="1" i="0" dirty="0">
                <a:effectLst/>
                <a:latin typeface="system-ui"/>
              </a:rPr>
              <a:t>multivariate distributions</a:t>
            </a:r>
            <a:r>
              <a:rPr lang="en-US" b="0" i="0" dirty="0">
                <a:effectLst/>
                <a:latin typeface="system-ui"/>
              </a:rPr>
              <a:t>. </a:t>
            </a:r>
          </a:p>
          <a:p>
            <a:pPr marL="0" indent="0" algn="l">
              <a:buNone/>
            </a:pPr>
            <a:r>
              <a:rPr lang="en-US" b="0" i="0" dirty="0">
                <a:effectLst/>
                <a:latin typeface="system-ui"/>
              </a:rPr>
              <a:t>In many respects, they work the same as </a:t>
            </a:r>
            <a:r>
              <a:rPr lang="en-US" b="1" i="0" dirty="0">
                <a:effectLst/>
                <a:latin typeface="system-ui"/>
              </a:rPr>
              <a:t>univariate</a:t>
            </a:r>
            <a:r>
              <a:rPr lang="en-US" b="0" i="0" dirty="0">
                <a:effectLst/>
                <a:latin typeface="system-ui"/>
              </a:rPr>
              <a:t> continuous distributions. However, they typically require more parameters to specify their form, since they can vary over more dimensions.</a:t>
            </a:r>
          </a:p>
          <a:p>
            <a:endParaRPr lang="en-GB" dirty="0"/>
          </a:p>
        </p:txBody>
      </p:sp>
      <p:pic>
        <p:nvPicPr>
          <p:cNvPr id="6" name="Picture 5">
            <a:extLst>
              <a:ext uri="{FF2B5EF4-FFF2-40B4-BE49-F238E27FC236}">
                <a16:creationId xmlns:a16="http://schemas.microsoft.com/office/drawing/2014/main" id="{2FAFF188-72EA-AE46-07B9-907056AA9475}"/>
              </a:ext>
            </a:extLst>
          </p:cNvPr>
          <p:cNvPicPr>
            <a:picLocks noChangeAspect="1"/>
          </p:cNvPicPr>
          <p:nvPr/>
        </p:nvPicPr>
        <p:blipFill>
          <a:blip r:embed="rId2"/>
          <a:stretch>
            <a:fillRect/>
          </a:stretch>
        </p:blipFill>
        <p:spPr>
          <a:xfrm>
            <a:off x="4731918" y="2779301"/>
            <a:ext cx="1914792" cy="895475"/>
          </a:xfrm>
          <a:prstGeom prst="rect">
            <a:avLst/>
          </a:prstGeom>
        </p:spPr>
      </p:pic>
      <p:pic>
        <p:nvPicPr>
          <p:cNvPr id="8" name="Picture 7">
            <a:extLst>
              <a:ext uri="{FF2B5EF4-FFF2-40B4-BE49-F238E27FC236}">
                <a16:creationId xmlns:a16="http://schemas.microsoft.com/office/drawing/2014/main" id="{F984F51E-185B-E7F5-7513-3C29C34C90EA}"/>
              </a:ext>
            </a:extLst>
          </p:cNvPr>
          <p:cNvPicPr>
            <a:picLocks noChangeAspect="1"/>
          </p:cNvPicPr>
          <p:nvPr/>
        </p:nvPicPr>
        <p:blipFill>
          <a:blip r:embed="rId3"/>
          <a:stretch>
            <a:fillRect/>
          </a:stretch>
        </p:blipFill>
        <p:spPr>
          <a:xfrm>
            <a:off x="2723679" y="3902835"/>
            <a:ext cx="6744641" cy="924054"/>
          </a:xfrm>
          <a:prstGeom prst="rect">
            <a:avLst/>
          </a:prstGeom>
        </p:spPr>
      </p:pic>
    </p:spTree>
    <p:extLst>
      <p:ext uri="{BB962C8B-B14F-4D97-AF65-F5344CB8AC3E}">
        <p14:creationId xmlns:p14="http://schemas.microsoft.com/office/powerpoint/2010/main" val="12686543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A0E3D2F-88BD-6EEC-D9EF-A05DBCEC5179}"/>
              </a:ext>
            </a:extLst>
          </p:cNvPr>
          <p:cNvSpPr>
            <a:spLocks noGrp="1"/>
          </p:cNvSpPr>
          <p:nvPr>
            <p:ph sz="half" idx="1"/>
          </p:nvPr>
        </p:nvSpPr>
        <p:spPr/>
        <p:txBody>
          <a:bodyPr>
            <a:normAutofit fontScale="92500"/>
          </a:bodyPr>
          <a:lstStyle/>
          <a:p>
            <a:pPr marL="0" indent="0" algn="l">
              <a:buNone/>
            </a:pPr>
            <a:r>
              <a:rPr lang="en-US" b="0" i="0" dirty="0">
                <a:effectLst/>
                <a:latin typeface="system-ui"/>
              </a:rPr>
              <a:t>The multivariate uniform distribution is particularly simple to understand. It assigns equal density </a:t>
            </a:r>
            <a:r>
              <a:rPr lang="en-US" b="0" i="0" dirty="0" err="1">
                <a:effectLst/>
                <a:latin typeface="system-ui"/>
              </a:rPr>
              <a:t>f</a:t>
            </a:r>
            <a:r>
              <a:rPr lang="en-US" b="0" i="0" baseline="-25000" dirty="0" err="1">
                <a:effectLst/>
                <a:latin typeface="system-ui"/>
              </a:rPr>
              <a:t>X</a:t>
            </a:r>
            <a:r>
              <a:rPr lang="en-US" b="0" i="0" dirty="0">
                <a:effectLst/>
                <a:latin typeface="system-ui"/>
              </a:rPr>
              <a:t>(x</a:t>
            </a:r>
            <a:r>
              <a:rPr lang="en-US" b="0" i="0" baseline="-25000" dirty="0">
                <a:effectLst/>
                <a:latin typeface="system-ui"/>
              </a:rPr>
              <a:t>i</a:t>
            </a:r>
            <a:r>
              <a:rPr lang="en-US" b="0" i="0" dirty="0">
                <a:effectLst/>
                <a:latin typeface="system-ui"/>
              </a:rPr>
              <a:t>)=</a:t>
            </a:r>
            <a:r>
              <a:rPr lang="en-US" b="0" i="0" dirty="0" err="1">
                <a:effectLst/>
                <a:latin typeface="system-ui"/>
              </a:rPr>
              <a:t>f</a:t>
            </a:r>
            <a:r>
              <a:rPr lang="en-US" b="0" i="0" baseline="-25000" dirty="0" err="1">
                <a:effectLst/>
                <a:latin typeface="system-ui"/>
              </a:rPr>
              <a:t>X</a:t>
            </a:r>
            <a:r>
              <a:rPr lang="en-US" b="0" i="0" dirty="0">
                <a:effectLst/>
                <a:latin typeface="system-ui"/>
              </a:rPr>
              <a:t>(</a:t>
            </a:r>
            <a:r>
              <a:rPr lang="en-US" b="0" i="0" dirty="0" err="1">
                <a:effectLst/>
                <a:latin typeface="system-ui"/>
              </a:rPr>
              <a:t>x</a:t>
            </a:r>
            <a:r>
              <a:rPr lang="en-US" b="0" i="0" baseline="-25000" dirty="0" err="1">
                <a:effectLst/>
                <a:latin typeface="system-ui"/>
              </a:rPr>
              <a:t>j</a:t>
            </a:r>
            <a:r>
              <a:rPr lang="en-US" b="0" i="0" dirty="0">
                <a:effectLst/>
                <a:latin typeface="system-ui"/>
              </a:rPr>
              <a:t>) to some (axis-aligned) box in a vector space Rn, such that </a:t>
            </a:r>
          </a:p>
          <a:p>
            <a:pPr marL="0" indent="0" algn="l">
              <a:buNone/>
            </a:pPr>
            <a:endParaRPr lang="en-US" b="0" i="0" dirty="0">
              <a:effectLst/>
              <a:latin typeface="system-ui"/>
            </a:endParaRPr>
          </a:p>
          <a:p>
            <a:pPr marL="0" indent="0" algn="l">
              <a:buNone/>
            </a:pPr>
            <a:endParaRPr lang="en-US" b="0" i="0" dirty="0">
              <a:effectLst/>
              <a:latin typeface="system-ui"/>
            </a:endParaRPr>
          </a:p>
          <a:p>
            <a:pPr marL="0" indent="0" algn="l">
              <a:buNone/>
            </a:pPr>
            <a:r>
              <a:rPr lang="en-US" b="0" i="0" dirty="0">
                <a:effectLst/>
                <a:latin typeface="system-ui"/>
              </a:rPr>
              <a:t>It is trivial to sample from; we just sample </a:t>
            </a:r>
            <a:r>
              <a:rPr lang="en-US" b="0" i="1" dirty="0">
                <a:effectLst/>
                <a:latin typeface="system-ui"/>
              </a:rPr>
              <a:t>independently</a:t>
            </a:r>
            <a:r>
              <a:rPr lang="en-US" b="0" i="0" dirty="0">
                <a:effectLst/>
                <a:latin typeface="system-ui"/>
              </a:rPr>
              <a:t> from a one-dimensional uniform distribution in the range [0,1] to get each element of our vector sample. </a:t>
            </a:r>
          </a:p>
          <a:p>
            <a:pPr marL="0" indent="0" algn="l">
              <a:buNone/>
            </a:pPr>
            <a:r>
              <a:rPr lang="en-US" b="0" i="0" dirty="0">
                <a:effectLst/>
                <a:latin typeface="system-ui"/>
              </a:rPr>
              <a:t>This is a draw from a n-dimensional uniform distribution in the unit box.</a:t>
            </a:r>
          </a:p>
          <a:p>
            <a:endParaRPr lang="en-GB" dirty="0"/>
          </a:p>
        </p:txBody>
      </p:sp>
      <p:sp>
        <p:nvSpPr>
          <p:cNvPr id="2" name="Title 1">
            <a:extLst>
              <a:ext uri="{FF2B5EF4-FFF2-40B4-BE49-F238E27FC236}">
                <a16:creationId xmlns:a16="http://schemas.microsoft.com/office/drawing/2014/main" id="{B6AC8EE4-941D-4E83-616D-4980A020BF68}"/>
              </a:ext>
            </a:extLst>
          </p:cNvPr>
          <p:cNvSpPr>
            <a:spLocks noGrp="1"/>
          </p:cNvSpPr>
          <p:nvPr>
            <p:ph type="title"/>
          </p:nvPr>
        </p:nvSpPr>
        <p:spPr/>
        <p:txBody>
          <a:bodyPr/>
          <a:lstStyle/>
          <a:p>
            <a:r>
              <a:rPr lang="en-GB" dirty="0"/>
              <a:t>Multivariate Uniform</a:t>
            </a:r>
          </a:p>
        </p:txBody>
      </p:sp>
      <p:pic>
        <p:nvPicPr>
          <p:cNvPr id="5" name="Picture 4">
            <a:extLst>
              <a:ext uri="{FF2B5EF4-FFF2-40B4-BE49-F238E27FC236}">
                <a16:creationId xmlns:a16="http://schemas.microsoft.com/office/drawing/2014/main" id="{0813D556-91F0-214E-FB08-FE7B29380729}"/>
              </a:ext>
            </a:extLst>
          </p:cNvPr>
          <p:cNvPicPr>
            <a:picLocks noChangeAspect="1"/>
          </p:cNvPicPr>
          <p:nvPr/>
        </p:nvPicPr>
        <p:blipFill>
          <a:blip r:embed="rId2"/>
          <a:stretch>
            <a:fillRect/>
          </a:stretch>
        </p:blipFill>
        <p:spPr>
          <a:xfrm>
            <a:off x="1620307" y="2901589"/>
            <a:ext cx="2743583" cy="828791"/>
          </a:xfrm>
          <a:prstGeom prst="rect">
            <a:avLst/>
          </a:prstGeom>
        </p:spPr>
      </p:pic>
      <p:pic>
        <p:nvPicPr>
          <p:cNvPr id="4098" name="Picture 2">
            <a:extLst>
              <a:ext uri="{FF2B5EF4-FFF2-40B4-BE49-F238E27FC236}">
                <a16:creationId xmlns:a16="http://schemas.microsoft.com/office/drawing/2014/main" id="{2459D16F-E5E0-CE81-3F36-D72E42A6C951}"/>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493268" y="1608667"/>
            <a:ext cx="4783289" cy="43680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25421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2E4D70-D232-3439-827B-0D663C8252E4}"/>
              </a:ext>
            </a:extLst>
          </p:cNvPr>
          <p:cNvSpPr>
            <a:spLocks noGrp="1"/>
          </p:cNvSpPr>
          <p:nvPr>
            <p:ph sz="half" idx="1"/>
          </p:nvPr>
        </p:nvSpPr>
        <p:spPr/>
        <p:txBody>
          <a:bodyPr/>
          <a:lstStyle/>
          <a:p>
            <a:pPr marL="0" indent="0">
              <a:buNone/>
            </a:pPr>
            <a:r>
              <a:rPr lang="en-US" b="0" i="0" dirty="0">
                <a:effectLst/>
                <a:latin typeface="system-ui"/>
              </a:rPr>
              <a:t>If we want to define a distribution over any box, we can simply transform the vectors with a matrix </a:t>
            </a:r>
            <a:r>
              <a:rPr lang="en-US" dirty="0"/>
              <a:t>A</a:t>
            </a:r>
            <a:r>
              <a:rPr lang="en-US" b="0" i="0" dirty="0">
                <a:effectLst/>
                <a:latin typeface="system-ui"/>
              </a:rPr>
              <a:t> and shift by adding an offset vector b</a:t>
            </a:r>
            <a:endParaRPr lang="en-GB" dirty="0"/>
          </a:p>
        </p:txBody>
      </p:sp>
      <p:pic>
        <p:nvPicPr>
          <p:cNvPr id="6" name="Content Placeholder 5">
            <a:extLst>
              <a:ext uri="{FF2B5EF4-FFF2-40B4-BE49-F238E27FC236}">
                <a16:creationId xmlns:a16="http://schemas.microsoft.com/office/drawing/2014/main" id="{31E5CCC6-EF74-56CF-243F-5DF090713B24}"/>
              </a:ext>
            </a:extLst>
          </p:cNvPr>
          <p:cNvPicPr>
            <a:picLocks noGrp="1" noChangeAspect="1"/>
          </p:cNvPicPr>
          <p:nvPr>
            <p:ph sz="half" idx="2"/>
          </p:nvPr>
        </p:nvPicPr>
        <p:blipFill>
          <a:blip r:embed="rId2"/>
          <a:stretch>
            <a:fillRect/>
          </a:stretch>
        </p:blipFill>
        <p:spPr>
          <a:xfrm>
            <a:off x="6393569" y="1608138"/>
            <a:ext cx="4738861" cy="4568825"/>
          </a:xfrm>
        </p:spPr>
      </p:pic>
      <p:sp>
        <p:nvSpPr>
          <p:cNvPr id="4" name="Title 3">
            <a:extLst>
              <a:ext uri="{FF2B5EF4-FFF2-40B4-BE49-F238E27FC236}">
                <a16:creationId xmlns:a16="http://schemas.microsoft.com/office/drawing/2014/main" id="{5377AB40-3CF3-414F-2A4C-263D410ABAED}"/>
              </a:ext>
            </a:extLst>
          </p:cNvPr>
          <p:cNvSpPr>
            <a:spLocks noGrp="1"/>
          </p:cNvSpPr>
          <p:nvPr>
            <p:ph type="title"/>
          </p:nvPr>
        </p:nvSpPr>
        <p:spPr/>
        <p:txBody>
          <a:bodyPr/>
          <a:lstStyle/>
          <a:p>
            <a:r>
              <a:rPr lang="en-GB" b="1" i="0" dirty="0">
                <a:effectLst/>
                <a:latin typeface="system-ui"/>
              </a:rPr>
              <a:t>Transformed uniform distribution</a:t>
            </a:r>
            <a:endParaRPr lang="en-GB" dirty="0"/>
          </a:p>
        </p:txBody>
      </p:sp>
      <p:pic>
        <p:nvPicPr>
          <p:cNvPr id="8" name="Picture 7">
            <a:extLst>
              <a:ext uri="{FF2B5EF4-FFF2-40B4-BE49-F238E27FC236}">
                <a16:creationId xmlns:a16="http://schemas.microsoft.com/office/drawing/2014/main" id="{92996EC4-7484-26A7-C165-F39D641576DD}"/>
              </a:ext>
            </a:extLst>
          </p:cNvPr>
          <p:cNvPicPr>
            <a:picLocks noChangeAspect="1"/>
          </p:cNvPicPr>
          <p:nvPr/>
        </p:nvPicPr>
        <p:blipFill>
          <a:blip r:embed="rId3"/>
          <a:stretch>
            <a:fillRect/>
          </a:stretch>
        </p:blipFill>
        <p:spPr>
          <a:xfrm>
            <a:off x="0" y="3633433"/>
            <a:ext cx="6335009" cy="2543530"/>
          </a:xfrm>
          <a:prstGeom prst="rect">
            <a:avLst/>
          </a:prstGeom>
        </p:spPr>
      </p:pic>
    </p:spTree>
    <p:extLst>
      <p:ext uri="{BB962C8B-B14F-4D97-AF65-F5344CB8AC3E}">
        <p14:creationId xmlns:p14="http://schemas.microsoft.com/office/powerpoint/2010/main" val="30900069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16C35D-3781-A7F0-ABEA-13E2CC815C7E}"/>
              </a:ext>
            </a:extLst>
          </p:cNvPr>
          <p:cNvSpPr>
            <a:spLocks noGrp="1"/>
          </p:cNvSpPr>
          <p:nvPr>
            <p:ph type="title"/>
          </p:nvPr>
        </p:nvSpPr>
        <p:spPr/>
        <p:txBody>
          <a:bodyPr/>
          <a:lstStyle/>
          <a:p>
            <a:r>
              <a:rPr lang="en-GB" dirty="0"/>
              <a:t>Normal distribution</a:t>
            </a:r>
          </a:p>
        </p:txBody>
      </p:sp>
      <p:sp>
        <p:nvSpPr>
          <p:cNvPr id="2" name="Content Placeholder 1">
            <a:extLst>
              <a:ext uri="{FF2B5EF4-FFF2-40B4-BE49-F238E27FC236}">
                <a16:creationId xmlns:a16="http://schemas.microsoft.com/office/drawing/2014/main" id="{18B14597-16AD-2C84-2AB8-74C30EC7F8DA}"/>
              </a:ext>
            </a:extLst>
          </p:cNvPr>
          <p:cNvSpPr>
            <a:spLocks noGrp="1"/>
          </p:cNvSpPr>
          <p:nvPr>
            <p:ph sz="quarter" idx="13"/>
          </p:nvPr>
        </p:nvSpPr>
        <p:spPr/>
        <p:txBody>
          <a:bodyPr>
            <a:normAutofit/>
          </a:bodyPr>
          <a:lstStyle/>
          <a:p>
            <a:pPr marL="0" indent="0" algn="l">
              <a:buNone/>
            </a:pPr>
            <a:r>
              <a:rPr lang="en-US" b="0" i="0" dirty="0">
                <a:effectLst/>
                <a:latin typeface="system-ui"/>
              </a:rPr>
              <a:t>The normal distribution (above) is very widely used as the distribution of continuous random variables. </a:t>
            </a:r>
          </a:p>
          <a:p>
            <a:pPr marL="0" indent="0" algn="l">
              <a:buNone/>
            </a:pPr>
            <a:r>
              <a:rPr lang="en-US" b="0" i="0" dirty="0">
                <a:effectLst/>
                <a:latin typeface="system-ui"/>
              </a:rPr>
              <a:t>It can be defined for a random variable of </a:t>
            </a:r>
            <a:r>
              <a:rPr lang="en-US" b="0" i="1" dirty="0">
                <a:effectLst/>
                <a:latin typeface="system-ui"/>
              </a:rPr>
              <a:t>any dimension</a:t>
            </a:r>
            <a:r>
              <a:rPr lang="en-US" b="0" i="0" dirty="0">
                <a:effectLst/>
                <a:latin typeface="system-ui"/>
              </a:rPr>
              <a:t>; a </a:t>
            </a:r>
            <a:r>
              <a:rPr lang="en-US" b="1" i="0" dirty="0">
                <a:effectLst/>
                <a:latin typeface="system-ui"/>
              </a:rPr>
              <a:t>multivariate normal</a:t>
            </a:r>
            <a:r>
              <a:rPr lang="en-US" b="0" i="0" dirty="0">
                <a:effectLst/>
                <a:latin typeface="system-ui"/>
              </a:rPr>
              <a:t> in statistical terminology. </a:t>
            </a:r>
          </a:p>
          <a:p>
            <a:pPr marL="0" indent="0" algn="l">
              <a:buNone/>
            </a:pPr>
            <a:r>
              <a:rPr lang="en-US" b="0" i="0" dirty="0">
                <a:effectLst/>
                <a:latin typeface="system-ui"/>
              </a:rPr>
              <a:t>We saw the idea of a </a:t>
            </a:r>
            <a:r>
              <a:rPr lang="en-US" b="1" i="0" dirty="0">
                <a:effectLst/>
                <a:latin typeface="system-ui"/>
              </a:rPr>
              <a:t>mean vector</a:t>
            </a:r>
            <a:r>
              <a:rPr lang="en-US" b="0" i="0" dirty="0">
                <a:effectLst/>
                <a:latin typeface="system-ui"/>
              </a:rPr>
              <a:t> μ and a </a:t>
            </a:r>
            <a:r>
              <a:rPr lang="en-US" b="1" i="0" dirty="0">
                <a:effectLst/>
                <a:latin typeface="system-ui"/>
              </a:rPr>
              <a:t>covariance matrix</a:t>
            </a:r>
            <a:r>
              <a:rPr lang="en-US" b="0" i="0" dirty="0">
                <a:effectLst/>
                <a:latin typeface="system-ui"/>
              </a:rPr>
              <a:t> Σ which captured the "shape" of a dataset in terms of an ellipse. </a:t>
            </a:r>
            <a:r>
              <a:rPr lang="en-US" b="0" i="1" dirty="0">
                <a:effectLst/>
                <a:latin typeface="system-ui"/>
              </a:rPr>
              <a:t>These are in fact the </a:t>
            </a:r>
            <a:r>
              <a:rPr lang="en-US" b="0" i="1" dirty="0" err="1">
                <a:effectLst/>
                <a:latin typeface="system-ui"/>
              </a:rPr>
              <a:t>parameterisation</a:t>
            </a:r>
            <a:r>
              <a:rPr lang="en-US" b="0" i="1" dirty="0">
                <a:effectLst/>
                <a:latin typeface="system-ui"/>
              </a:rPr>
              <a:t> of the multivariate normal distribution.</a:t>
            </a:r>
            <a:endParaRPr lang="en-US" b="0" i="0" dirty="0">
              <a:effectLst/>
              <a:latin typeface="system-ui"/>
            </a:endParaRPr>
          </a:p>
          <a:p>
            <a:pPr algn="l"/>
            <a:endParaRPr lang="en-US" b="0" i="0" dirty="0">
              <a:effectLst/>
              <a:latin typeface="system-ui"/>
            </a:endParaRPr>
          </a:p>
          <a:p>
            <a:endParaRPr lang="en-GB" dirty="0"/>
          </a:p>
        </p:txBody>
      </p:sp>
    </p:spTree>
    <p:extLst>
      <p:ext uri="{BB962C8B-B14F-4D97-AF65-F5344CB8AC3E}">
        <p14:creationId xmlns:p14="http://schemas.microsoft.com/office/powerpoint/2010/main" val="30729393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4AB4D81-55FA-7045-7EB8-29C436A18B39}"/>
              </a:ext>
            </a:extLst>
          </p:cNvPr>
          <p:cNvSpPr>
            <a:spLocks noGrp="1"/>
          </p:cNvSpPr>
          <p:nvPr>
            <p:ph type="title"/>
          </p:nvPr>
        </p:nvSpPr>
        <p:spPr/>
        <p:txBody>
          <a:bodyPr/>
          <a:lstStyle/>
          <a:p>
            <a:r>
              <a:rPr lang="en-GB" dirty="0"/>
              <a:t>Normal distribution</a:t>
            </a:r>
          </a:p>
        </p:txBody>
      </p:sp>
      <p:sp>
        <p:nvSpPr>
          <p:cNvPr id="2" name="Content Placeholder 1">
            <a:extLst>
              <a:ext uri="{FF2B5EF4-FFF2-40B4-BE49-F238E27FC236}">
                <a16:creationId xmlns:a16="http://schemas.microsoft.com/office/drawing/2014/main" id="{6186D664-F147-9403-A2D0-1974AA4A003C}"/>
              </a:ext>
            </a:extLst>
          </p:cNvPr>
          <p:cNvSpPr>
            <a:spLocks noGrp="1"/>
          </p:cNvSpPr>
          <p:nvPr>
            <p:ph sz="quarter" idx="13"/>
          </p:nvPr>
        </p:nvSpPr>
        <p:spPr/>
        <p:txBody>
          <a:bodyPr>
            <a:normAutofit/>
          </a:bodyPr>
          <a:lstStyle/>
          <a:p>
            <a:pPr algn="l"/>
            <a:r>
              <a:rPr lang="en-US" b="0" i="0" dirty="0">
                <a:effectLst/>
                <a:latin typeface="system-ui"/>
              </a:rPr>
              <a:t>A multivariate normal is fully specified by a mean vector μ and the covariance matrix Σ. If you imagine the normal distribution to be a ball shaped mass in space, the mean </a:t>
            </a:r>
            <a:r>
              <a:rPr lang="en-US" b="0" i="1" dirty="0">
                <a:effectLst/>
                <a:latin typeface="system-ui"/>
              </a:rPr>
              <a:t>translates</a:t>
            </a:r>
            <a:r>
              <a:rPr lang="en-US" b="0" i="0" dirty="0">
                <a:effectLst/>
                <a:latin typeface="system-ui"/>
              </a:rPr>
              <a:t> the mass, and covariance applies a transformation matrix (scale, rotate and shear) to the ball.</a:t>
            </a:r>
          </a:p>
          <a:p>
            <a:pPr algn="l"/>
            <a:r>
              <a:rPr lang="en-US" b="0" i="0" dirty="0">
                <a:effectLst/>
                <a:latin typeface="system-ui"/>
              </a:rPr>
              <a:t>Just like the uniform distribution, we can think of drawing samples from a "unit ball" with an independent normal distribution in each dimension. These samples are transformed linearly by the covariance matrix Σ and the mean vector μ, just like A and b above (though Σ is actually A−12 for technical reasons)</a:t>
            </a:r>
            <a:endParaRPr lang="en-GB" dirty="0"/>
          </a:p>
        </p:txBody>
      </p:sp>
    </p:spTree>
    <p:extLst>
      <p:ext uri="{BB962C8B-B14F-4D97-AF65-F5344CB8AC3E}">
        <p14:creationId xmlns:p14="http://schemas.microsoft.com/office/powerpoint/2010/main" val="32528529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3D4DD12-0466-5237-BBAE-8A68E2640E4E}"/>
              </a:ext>
            </a:extLst>
          </p:cNvPr>
          <p:cNvPicPr>
            <a:picLocks noGrp="1" noChangeAspect="1"/>
          </p:cNvPicPr>
          <p:nvPr>
            <p:ph sz="half" idx="1"/>
          </p:nvPr>
        </p:nvPicPr>
        <p:blipFill>
          <a:blip r:embed="rId2"/>
          <a:stretch>
            <a:fillRect/>
          </a:stretch>
        </p:blipFill>
        <p:spPr>
          <a:xfrm>
            <a:off x="838200" y="2518573"/>
            <a:ext cx="5181600" cy="2747954"/>
          </a:xfrm>
        </p:spPr>
      </p:pic>
      <p:sp>
        <p:nvSpPr>
          <p:cNvPr id="8" name="Title 7">
            <a:extLst>
              <a:ext uri="{FF2B5EF4-FFF2-40B4-BE49-F238E27FC236}">
                <a16:creationId xmlns:a16="http://schemas.microsoft.com/office/drawing/2014/main" id="{6A8F583C-294B-0B15-57FB-6F1597FE9C13}"/>
              </a:ext>
            </a:extLst>
          </p:cNvPr>
          <p:cNvSpPr>
            <a:spLocks noGrp="1"/>
          </p:cNvSpPr>
          <p:nvPr>
            <p:ph type="title"/>
          </p:nvPr>
        </p:nvSpPr>
        <p:spPr/>
        <p:txBody>
          <a:bodyPr/>
          <a:lstStyle/>
          <a:p>
            <a:r>
              <a:rPr lang="en-GB" dirty="0"/>
              <a:t>Normal distribution</a:t>
            </a:r>
          </a:p>
        </p:txBody>
      </p:sp>
      <p:pic>
        <p:nvPicPr>
          <p:cNvPr id="10" name="Content Placeholder 9">
            <a:extLst>
              <a:ext uri="{FF2B5EF4-FFF2-40B4-BE49-F238E27FC236}">
                <a16:creationId xmlns:a16="http://schemas.microsoft.com/office/drawing/2014/main" id="{2D7CC5AA-6783-1089-CABB-8012B640C4AA}"/>
              </a:ext>
            </a:extLst>
          </p:cNvPr>
          <p:cNvPicPr>
            <a:picLocks noGrp="1" noChangeAspect="1"/>
          </p:cNvPicPr>
          <p:nvPr>
            <p:ph sz="half" idx="2"/>
          </p:nvPr>
        </p:nvPicPr>
        <p:blipFill>
          <a:blip r:embed="rId3"/>
          <a:stretch>
            <a:fillRect/>
          </a:stretch>
        </p:blipFill>
        <p:spPr>
          <a:xfrm>
            <a:off x="6440891" y="1608138"/>
            <a:ext cx="4644217" cy="4568825"/>
          </a:xfrm>
          <a:prstGeom prst="rect">
            <a:avLst/>
          </a:prstGeom>
        </p:spPr>
      </p:pic>
    </p:spTree>
    <p:extLst>
      <p:ext uri="{BB962C8B-B14F-4D97-AF65-F5344CB8AC3E}">
        <p14:creationId xmlns:p14="http://schemas.microsoft.com/office/powerpoint/2010/main" val="15059486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88637-3CB9-7F2E-F5DF-0E88046C2FC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778FC02-E842-A66F-BE1C-DE32ADD4735E}"/>
              </a:ext>
            </a:extLst>
          </p:cNvPr>
          <p:cNvSpPr>
            <a:spLocks noGrp="1"/>
          </p:cNvSpPr>
          <p:nvPr>
            <p:ph type="title"/>
          </p:nvPr>
        </p:nvSpPr>
        <p:spPr/>
        <p:txBody>
          <a:bodyPr/>
          <a:lstStyle/>
          <a:p>
            <a:r>
              <a:rPr lang="en-GB" dirty="0"/>
              <a:t>Normal distribution</a:t>
            </a:r>
          </a:p>
        </p:txBody>
      </p:sp>
      <p:pic>
        <p:nvPicPr>
          <p:cNvPr id="3" name="Picture 2">
            <a:extLst>
              <a:ext uri="{FF2B5EF4-FFF2-40B4-BE49-F238E27FC236}">
                <a16:creationId xmlns:a16="http://schemas.microsoft.com/office/drawing/2014/main" id="{A4507863-746D-473F-3792-ED8061ED2351}"/>
              </a:ext>
            </a:extLst>
          </p:cNvPr>
          <p:cNvPicPr>
            <a:picLocks noChangeAspect="1"/>
          </p:cNvPicPr>
          <p:nvPr/>
        </p:nvPicPr>
        <p:blipFill>
          <a:blip r:embed="rId2"/>
          <a:stretch>
            <a:fillRect/>
          </a:stretch>
        </p:blipFill>
        <p:spPr>
          <a:xfrm>
            <a:off x="838200" y="2567729"/>
            <a:ext cx="4582164" cy="2400635"/>
          </a:xfrm>
          <a:prstGeom prst="rect">
            <a:avLst/>
          </a:prstGeom>
        </p:spPr>
      </p:pic>
      <p:pic>
        <p:nvPicPr>
          <p:cNvPr id="12" name="Content Placeholder 11">
            <a:extLst>
              <a:ext uri="{FF2B5EF4-FFF2-40B4-BE49-F238E27FC236}">
                <a16:creationId xmlns:a16="http://schemas.microsoft.com/office/drawing/2014/main" id="{7E1A0A55-DD92-D605-621C-29B9334E9C31}"/>
              </a:ext>
            </a:extLst>
          </p:cNvPr>
          <p:cNvPicPr>
            <a:picLocks noGrp="1" noChangeAspect="1"/>
          </p:cNvPicPr>
          <p:nvPr>
            <p:ph sz="half" idx="2"/>
          </p:nvPr>
        </p:nvPicPr>
        <p:blipFill>
          <a:blip r:embed="rId3"/>
          <a:stretch>
            <a:fillRect/>
          </a:stretch>
        </p:blipFill>
        <p:spPr>
          <a:xfrm>
            <a:off x="6418073" y="1608138"/>
            <a:ext cx="4689853" cy="4568825"/>
          </a:xfrm>
        </p:spPr>
      </p:pic>
    </p:spTree>
    <p:extLst>
      <p:ext uri="{BB962C8B-B14F-4D97-AF65-F5344CB8AC3E}">
        <p14:creationId xmlns:p14="http://schemas.microsoft.com/office/powerpoint/2010/main" val="4509512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6473366-B3CF-2C9C-223E-58E1921D865A}"/>
              </a:ext>
            </a:extLst>
          </p:cNvPr>
          <p:cNvSpPr>
            <a:spLocks noGrp="1"/>
          </p:cNvSpPr>
          <p:nvPr>
            <p:ph type="title"/>
          </p:nvPr>
        </p:nvSpPr>
        <p:spPr>
          <a:xfrm>
            <a:off x="741680" y="2123676"/>
            <a:ext cx="4027169" cy="1600200"/>
          </a:xfrm>
        </p:spPr>
        <p:txBody>
          <a:bodyPr anchor="t">
            <a:normAutofit/>
          </a:bodyPr>
          <a:lstStyle/>
          <a:p>
            <a:r>
              <a:rPr lang="en-GB" b="1" i="0" dirty="0">
                <a:effectLst/>
              </a:rPr>
              <a:t>Joint and marginal PDFs</a:t>
            </a:r>
            <a:endParaRPr lang="en-GB" dirty="0"/>
          </a:p>
        </p:txBody>
      </p:sp>
      <p:sp>
        <p:nvSpPr>
          <p:cNvPr id="2" name="Content Placeholder 1">
            <a:extLst>
              <a:ext uri="{FF2B5EF4-FFF2-40B4-BE49-F238E27FC236}">
                <a16:creationId xmlns:a16="http://schemas.microsoft.com/office/drawing/2014/main" id="{574F7D99-0A4E-6768-565C-49B0971C3E5F}"/>
              </a:ext>
            </a:extLst>
          </p:cNvPr>
          <p:cNvSpPr>
            <a:spLocks noGrp="1"/>
          </p:cNvSpPr>
          <p:nvPr>
            <p:ph type="body" sz="half" idx="2"/>
          </p:nvPr>
        </p:nvSpPr>
        <p:spPr>
          <a:xfrm>
            <a:off x="741680" y="3934224"/>
            <a:ext cx="4030345" cy="1934763"/>
          </a:xfrm>
        </p:spPr>
        <p:txBody>
          <a:bodyPr>
            <a:normAutofit/>
          </a:bodyPr>
          <a:lstStyle/>
          <a:p>
            <a:r>
              <a:rPr lang="en-US" b="0" i="0">
                <a:effectLst/>
              </a:rPr>
              <a:t>We can look at the PDF of a multivariate </a:t>
            </a:r>
            <a:r>
              <a:rPr lang="en-US" b="0" i="0" err="1">
                <a:effectLst/>
              </a:rPr>
              <a:t>normals</a:t>
            </a:r>
            <a:r>
              <a:rPr lang="en-US" b="0" i="0">
                <a:effectLst/>
              </a:rPr>
              <a:t> for different covariances and mean vector (</a:t>
            </a:r>
            <a:r>
              <a:rPr lang="en-US" b="0" i="0" err="1">
                <a:effectLst/>
              </a:rPr>
              <a:t>centres</a:t>
            </a:r>
            <a:r>
              <a:rPr lang="en-US" b="0" i="0">
                <a:effectLst/>
              </a:rPr>
              <a:t> and spreads).</a:t>
            </a:r>
            <a:endParaRPr lang="en-GB" dirty="0"/>
          </a:p>
        </p:txBody>
      </p:sp>
      <p:pic>
        <p:nvPicPr>
          <p:cNvPr id="6" name="Picture 5">
            <a:extLst>
              <a:ext uri="{FF2B5EF4-FFF2-40B4-BE49-F238E27FC236}">
                <a16:creationId xmlns:a16="http://schemas.microsoft.com/office/drawing/2014/main" id="{799FD422-04E3-EF33-86DA-5FA531FBD911}"/>
              </a:ext>
            </a:extLst>
          </p:cNvPr>
          <p:cNvPicPr>
            <a:picLocks noChangeAspect="1"/>
          </p:cNvPicPr>
          <p:nvPr/>
        </p:nvPicPr>
        <p:blipFill>
          <a:blip r:embed="rId2"/>
          <a:stretch>
            <a:fillRect/>
          </a:stretch>
        </p:blipFill>
        <p:spPr>
          <a:xfrm>
            <a:off x="5183188" y="1711452"/>
            <a:ext cx="6172200" cy="3425570"/>
          </a:xfrm>
          <a:prstGeom prst="rect">
            <a:avLst/>
          </a:prstGeom>
          <a:noFill/>
        </p:spPr>
      </p:pic>
    </p:spTree>
    <p:extLst>
      <p:ext uri="{BB962C8B-B14F-4D97-AF65-F5344CB8AC3E}">
        <p14:creationId xmlns:p14="http://schemas.microsoft.com/office/powerpoint/2010/main" val="7846889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06357DF-625E-3115-A37D-37EEAE53CA91}"/>
              </a:ext>
            </a:extLst>
          </p:cNvPr>
          <p:cNvSpPr>
            <a:spLocks noGrp="1"/>
          </p:cNvSpPr>
          <p:nvPr>
            <p:ph type="title"/>
          </p:nvPr>
        </p:nvSpPr>
        <p:spPr/>
        <p:txBody>
          <a:bodyPr/>
          <a:lstStyle/>
          <a:p>
            <a:r>
              <a:rPr lang="en-GB" b="1" i="0" dirty="0">
                <a:effectLst/>
              </a:rPr>
              <a:t>Joint PDF</a:t>
            </a:r>
            <a:endParaRPr lang="en-GB" dirty="0"/>
          </a:p>
        </p:txBody>
      </p:sp>
      <p:sp>
        <p:nvSpPr>
          <p:cNvPr id="4" name="Content Placeholder 3">
            <a:extLst>
              <a:ext uri="{FF2B5EF4-FFF2-40B4-BE49-F238E27FC236}">
                <a16:creationId xmlns:a16="http://schemas.microsoft.com/office/drawing/2014/main" id="{3DC301A2-0438-9444-DEA4-27A6C8F33DC4}"/>
              </a:ext>
            </a:extLst>
          </p:cNvPr>
          <p:cNvSpPr>
            <a:spLocks noGrp="1"/>
          </p:cNvSpPr>
          <p:nvPr>
            <p:ph sz="quarter" idx="13"/>
          </p:nvPr>
        </p:nvSpPr>
        <p:spPr/>
        <p:txBody>
          <a:bodyPr/>
          <a:lstStyle/>
          <a:p>
            <a:pPr marL="0" indent="0" algn="l">
              <a:buNone/>
            </a:pPr>
            <a:r>
              <a:rPr lang="en-US" b="0" i="0" dirty="0">
                <a:effectLst/>
                <a:latin typeface="system-ui"/>
              </a:rPr>
              <a:t>We can now talk about the </a:t>
            </a:r>
            <a:r>
              <a:rPr lang="en-US" b="1" i="0" dirty="0">
                <a:effectLst/>
                <a:latin typeface="system-ui"/>
              </a:rPr>
              <a:t>joint probability density function</a:t>
            </a:r>
            <a:r>
              <a:rPr lang="en-US" b="0" i="0" dirty="0">
                <a:effectLst/>
                <a:latin typeface="system-ui"/>
              </a:rPr>
              <a:t> (density over all dimensions) and the </a:t>
            </a:r>
            <a:r>
              <a:rPr lang="en-US" b="1" i="0" dirty="0">
                <a:effectLst/>
                <a:latin typeface="system-ui"/>
              </a:rPr>
              <a:t>marginal probability density function</a:t>
            </a:r>
            <a:r>
              <a:rPr lang="en-US" b="0" i="0" dirty="0">
                <a:effectLst/>
                <a:latin typeface="system-ui"/>
              </a:rPr>
              <a:t> (density over some sub-selection of dimensions).</a:t>
            </a:r>
          </a:p>
          <a:p>
            <a:pPr marL="0" indent="0" algn="l">
              <a:buNone/>
            </a:pPr>
            <a:r>
              <a:rPr lang="en-US" b="0" i="0" dirty="0">
                <a:effectLst/>
                <a:latin typeface="system-ui"/>
              </a:rPr>
              <a:t>For example, consider X∼N(</a:t>
            </a:r>
            <a:r>
              <a:rPr lang="en-US" b="0" i="0" dirty="0" err="1">
                <a:effectLst/>
                <a:latin typeface="system-ui"/>
              </a:rPr>
              <a:t>μ,Σ</a:t>
            </a:r>
            <a:r>
              <a:rPr lang="en-US" b="0" i="0" dirty="0">
                <a:effectLst/>
                <a:latin typeface="system-ui"/>
              </a:rPr>
              <a:t>), X∈R</a:t>
            </a:r>
            <a:r>
              <a:rPr lang="en-US" b="0" i="0" baseline="30000" dirty="0">
                <a:effectLst/>
                <a:latin typeface="system-ui"/>
              </a:rPr>
              <a:t>2</a:t>
            </a:r>
            <a:r>
              <a:rPr lang="en-US" b="0" i="0" dirty="0">
                <a:effectLst/>
                <a:latin typeface="system-ui"/>
              </a:rPr>
              <a:t>, a two dimensional ("bivariate") normal distribution. We can look at some examples of the PDF, showing:</a:t>
            </a:r>
          </a:p>
          <a:p>
            <a:pPr algn="l">
              <a:buFont typeface="Arial" panose="020B0604020202020204" pitchFamily="34" charset="0"/>
              <a:buChar char="•"/>
            </a:pPr>
            <a:r>
              <a:rPr lang="en-US" b="0" i="0" dirty="0">
                <a:effectLst/>
                <a:latin typeface="system-ui"/>
              </a:rPr>
              <a:t>Joint P(X)</a:t>
            </a:r>
          </a:p>
          <a:p>
            <a:pPr algn="l">
              <a:buFont typeface="Arial" panose="020B0604020202020204" pitchFamily="34" charset="0"/>
              <a:buChar char="•"/>
            </a:pPr>
            <a:r>
              <a:rPr lang="en-US" b="0" i="0" dirty="0">
                <a:effectLst/>
                <a:latin typeface="system-ui"/>
              </a:rPr>
              <a:t>Marginal P(X1) and P(X2)</a:t>
            </a:r>
          </a:p>
          <a:p>
            <a:pPr algn="l">
              <a:buFont typeface="Arial" panose="020B0604020202020204" pitchFamily="34" charset="0"/>
              <a:buChar char="•"/>
            </a:pPr>
            <a:r>
              <a:rPr lang="en-US" b="0" i="0" dirty="0">
                <a:effectLst/>
                <a:latin typeface="system-ui"/>
              </a:rPr>
              <a:t>Conditionals P(X1|X2) and </a:t>
            </a:r>
          </a:p>
          <a:p>
            <a:endParaRPr lang="en-GB" dirty="0"/>
          </a:p>
        </p:txBody>
      </p:sp>
    </p:spTree>
    <p:extLst>
      <p:ext uri="{BB962C8B-B14F-4D97-AF65-F5344CB8AC3E}">
        <p14:creationId xmlns:p14="http://schemas.microsoft.com/office/powerpoint/2010/main" val="34611359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018E8-565B-43D9-34B3-6306845F71B0}"/>
              </a:ext>
            </a:extLst>
          </p:cNvPr>
          <p:cNvSpPr>
            <a:spLocks noGrp="1"/>
          </p:cNvSpPr>
          <p:nvPr>
            <p:ph type="title"/>
          </p:nvPr>
        </p:nvSpPr>
        <p:spPr/>
        <p:txBody>
          <a:bodyPr/>
          <a:lstStyle/>
          <a:p>
            <a:r>
              <a:rPr lang="en-GB" dirty="0"/>
              <a:t>Marginal PDF</a:t>
            </a:r>
          </a:p>
        </p:txBody>
      </p:sp>
      <p:pic>
        <p:nvPicPr>
          <p:cNvPr id="5" name="Content Placeholder 4">
            <a:extLst>
              <a:ext uri="{FF2B5EF4-FFF2-40B4-BE49-F238E27FC236}">
                <a16:creationId xmlns:a16="http://schemas.microsoft.com/office/drawing/2014/main" id="{0C190B7A-0FAD-74CF-061D-E6F41E1C64E5}"/>
              </a:ext>
            </a:extLst>
          </p:cNvPr>
          <p:cNvPicPr>
            <a:picLocks noGrp="1" noChangeAspect="1"/>
          </p:cNvPicPr>
          <p:nvPr>
            <p:ph sz="quarter" idx="13"/>
          </p:nvPr>
        </p:nvPicPr>
        <p:blipFill>
          <a:blip r:embed="rId2"/>
          <a:stretch>
            <a:fillRect/>
          </a:stretch>
        </p:blipFill>
        <p:spPr>
          <a:xfrm>
            <a:off x="1176179" y="1627188"/>
            <a:ext cx="9693591" cy="4606925"/>
          </a:xfrm>
        </p:spPr>
      </p:pic>
    </p:spTree>
    <p:extLst>
      <p:ext uri="{BB962C8B-B14F-4D97-AF65-F5344CB8AC3E}">
        <p14:creationId xmlns:p14="http://schemas.microsoft.com/office/powerpoint/2010/main" val="1013857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CD8B9-4390-2612-8E75-CE805C516F39}"/>
              </a:ext>
            </a:extLst>
          </p:cNvPr>
          <p:cNvSpPr>
            <a:spLocks noGrp="1"/>
          </p:cNvSpPr>
          <p:nvPr>
            <p:ph type="title"/>
          </p:nvPr>
        </p:nvSpPr>
        <p:spPr/>
        <p:txBody>
          <a:bodyPr/>
          <a:lstStyle/>
          <a:p>
            <a:r>
              <a:rPr lang="en-GB" dirty="0"/>
              <a:t>Conditional PDF</a:t>
            </a:r>
          </a:p>
        </p:txBody>
      </p:sp>
      <p:pic>
        <p:nvPicPr>
          <p:cNvPr id="5" name="Content Placeholder 4">
            <a:extLst>
              <a:ext uri="{FF2B5EF4-FFF2-40B4-BE49-F238E27FC236}">
                <a16:creationId xmlns:a16="http://schemas.microsoft.com/office/drawing/2014/main" id="{45434FAB-BE98-EDD9-2D20-355B793EAE3B}"/>
              </a:ext>
            </a:extLst>
          </p:cNvPr>
          <p:cNvPicPr>
            <a:picLocks noGrp="1" noChangeAspect="1"/>
          </p:cNvPicPr>
          <p:nvPr>
            <p:ph sz="quarter" idx="13"/>
          </p:nvPr>
        </p:nvPicPr>
        <p:blipFill>
          <a:blip r:embed="rId2"/>
          <a:stretch>
            <a:fillRect/>
          </a:stretch>
        </p:blipFill>
        <p:spPr>
          <a:xfrm>
            <a:off x="1096723" y="1627188"/>
            <a:ext cx="9852503" cy="4606925"/>
          </a:xfrm>
        </p:spPr>
      </p:pic>
    </p:spTree>
    <p:extLst>
      <p:ext uri="{BB962C8B-B14F-4D97-AF65-F5344CB8AC3E}">
        <p14:creationId xmlns:p14="http://schemas.microsoft.com/office/powerpoint/2010/main" val="37838759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B82F7-141C-B2DF-BD9A-58697D11B535}"/>
              </a:ext>
            </a:extLst>
          </p:cNvPr>
          <p:cNvSpPr>
            <a:spLocks noGrp="1"/>
          </p:cNvSpPr>
          <p:nvPr>
            <p:ph type="title"/>
          </p:nvPr>
        </p:nvSpPr>
        <p:spPr>
          <a:xfrm>
            <a:off x="2549236" y="533614"/>
            <a:ext cx="9210963" cy="888786"/>
          </a:xfrm>
        </p:spPr>
        <p:txBody>
          <a:bodyPr anchor="t">
            <a:normAutofit/>
          </a:bodyPr>
          <a:lstStyle/>
          <a:p>
            <a:r>
              <a:rPr lang="en-GB" dirty="0"/>
              <a:t>Monte Carlo</a:t>
            </a:r>
          </a:p>
        </p:txBody>
      </p:sp>
      <p:graphicFrame>
        <p:nvGraphicFramePr>
          <p:cNvPr id="5" name="Content Placeholder 2">
            <a:extLst>
              <a:ext uri="{FF2B5EF4-FFF2-40B4-BE49-F238E27FC236}">
                <a16:creationId xmlns:a16="http://schemas.microsoft.com/office/drawing/2014/main" id="{17F94D5F-99CD-5B63-6C9B-D8593BC7D167}"/>
              </a:ext>
            </a:extLst>
          </p:cNvPr>
          <p:cNvGraphicFramePr>
            <a:graphicFrameLocks noGrp="1"/>
          </p:cNvGraphicFramePr>
          <p:nvPr>
            <p:ph sz="quarter" idx="13"/>
            <p:extLst>
              <p:ext uri="{D42A27DB-BD31-4B8C-83A1-F6EECF244321}">
                <p14:modId xmlns:p14="http://schemas.microsoft.com/office/powerpoint/2010/main" val="3003464913"/>
              </p:ext>
            </p:extLst>
          </p:nvPr>
        </p:nvGraphicFramePr>
        <p:xfrm>
          <a:off x="285750" y="1627188"/>
          <a:ext cx="11474450" cy="46069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668615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4">
            <a:extLst>
              <a:ext uri="{FF2B5EF4-FFF2-40B4-BE49-F238E27FC236}">
                <a16:creationId xmlns:a16="http://schemas.microsoft.com/office/drawing/2014/main" id="{60638345-08CA-3215-2756-CE4A4BD78A10}"/>
              </a:ext>
            </a:extLst>
          </p:cNvPr>
          <p:cNvSpPr>
            <a:spLocks noGrp="1"/>
          </p:cNvSpPr>
          <p:nvPr>
            <p:ph type="title"/>
          </p:nvPr>
        </p:nvSpPr>
        <p:spPr>
          <a:xfrm>
            <a:off x="2549236" y="533614"/>
            <a:ext cx="9210963" cy="888786"/>
          </a:xfrm>
        </p:spPr>
        <p:txBody>
          <a:bodyPr vert="horz" lIns="91440" tIns="45720" rIns="91440" bIns="45720" rtlCol="0" anchor="t">
            <a:normAutofit/>
          </a:bodyPr>
          <a:lstStyle/>
          <a:p>
            <a:r>
              <a:rPr lang="en-GB" b="1" kern="1200">
                <a:latin typeface="Arial" panose="020B0604020202020204" pitchFamily="34" charset="0"/>
                <a:ea typeface="+mj-ea"/>
                <a:cs typeface="Arial" panose="020B0604020202020204" pitchFamily="34" charset="0"/>
              </a:rPr>
              <a:t>Monte Carlo</a:t>
            </a:r>
          </a:p>
        </p:txBody>
      </p:sp>
      <p:sp>
        <p:nvSpPr>
          <p:cNvPr id="7" name="TextBox 6">
            <a:extLst>
              <a:ext uri="{FF2B5EF4-FFF2-40B4-BE49-F238E27FC236}">
                <a16:creationId xmlns:a16="http://schemas.microsoft.com/office/drawing/2014/main" id="{36A5ECFD-6C48-381B-F7ED-059DA39B8E6D}"/>
              </a:ext>
            </a:extLst>
          </p:cNvPr>
          <p:cNvSpPr txBox="1"/>
          <p:nvPr/>
        </p:nvSpPr>
        <p:spPr>
          <a:xfrm>
            <a:off x="2549235" y="1705343"/>
            <a:ext cx="9210963" cy="4526124"/>
          </a:xfrm>
          <a:prstGeom prst="rect">
            <a:avLst/>
          </a:prstGeom>
        </p:spPr>
        <p:txBody>
          <a:bodyPr vert="horz" lIns="91440" tIns="45720" rIns="91440" bIns="45720" rtlCol="0">
            <a:normAutofit/>
          </a:bodyPr>
          <a:lstStyle/>
          <a:p>
            <a:pPr marL="228600" indent="-228600">
              <a:lnSpc>
                <a:spcPct val="90000"/>
              </a:lnSpc>
              <a:spcBef>
                <a:spcPts val="1000"/>
              </a:spcBef>
              <a:buFont typeface="Arial" panose="020B0604020202020204" pitchFamily="34" charset="0"/>
              <a:buChar char="•"/>
            </a:pPr>
            <a:r>
              <a:rPr lang="en-US" sz="2400" b="0" i="0" dirty="0">
                <a:solidFill>
                  <a:srgbClr val="003560"/>
                </a:solidFill>
                <a:effectLst/>
                <a:latin typeface="Arial" panose="020B0604020202020204" pitchFamily="34" charset="0"/>
                <a:cs typeface="Arial" panose="020B0604020202020204" pitchFamily="34" charset="0"/>
              </a:rPr>
              <a:t>During the </a:t>
            </a:r>
            <a:r>
              <a:rPr lang="en-US" sz="2400" b="0" i="1" dirty="0">
                <a:solidFill>
                  <a:srgbClr val="003560"/>
                </a:solidFill>
                <a:effectLst/>
                <a:latin typeface="Arial" panose="020B0604020202020204" pitchFamily="34" charset="0"/>
                <a:cs typeface="Arial" panose="020B0604020202020204" pitchFamily="34" charset="0"/>
              </a:rPr>
              <a:t>Manhattan project</a:t>
            </a:r>
            <a:r>
              <a:rPr lang="en-US" sz="2400" b="0" i="0" dirty="0">
                <a:solidFill>
                  <a:srgbClr val="003560"/>
                </a:solidFill>
                <a:effectLst/>
                <a:latin typeface="Arial" panose="020B0604020202020204" pitchFamily="34" charset="0"/>
                <a:cs typeface="Arial" panose="020B0604020202020204" pitchFamily="34" charset="0"/>
              </a:rPr>
              <a:t> that developed the atomic bomb during the Second World War, there were many difficult probabilistic equations to work out. </a:t>
            </a:r>
          </a:p>
          <a:p>
            <a:pPr marL="228600" indent="-228600">
              <a:lnSpc>
                <a:spcPct val="90000"/>
              </a:lnSpc>
              <a:spcBef>
                <a:spcPts val="1000"/>
              </a:spcBef>
              <a:buFont typeface="Arial" panose="020B0604020202020204" pitchFamily="34" charset="0"/>
              <a:buChar char="•"/>
            </a:pPr>
            <a:r>
              <a:rPr lang="en-US" sz="2400" b="0" i="0" dirty="0">
                <a:solidFill>
                  <a:srgbClr val="003560"/>
                </a:solidFill>
                <a:effectLst/>
                <a:latin typeface="Arial" panose="020B0604020202020204" pitchFamily="34" charset="0"/>
                <a:cs typeface="Arial" panose="020B0604020202020204" pitchFamily="34" charset="0"/>
              </a:rPr>
              <a:t>Although </a:t>
            </a:r>
            <a:r>
              <a:rPr lang="en-US" sz="2400" b="0" i="1" dirty="0">
                <a:solidFill>
                  <a:srgbClr val="003560"/>
                </a:solidFill>
                <a:effectLst/>
                <a:latin typeface="Arial" panose="020B0604020202020204" pitchFamily="34" charset="0"/>
                <a:cs typeface="Arial" panose="020B0604020202020204" pitchFamily="34" charset="0"/>
              </a:rPr>
              <a:t>analytical techniques</a:t>
            </a:r>
            <a:r>
              <a:rPr lang="en-US" sz="2400" b="0" i="0" dirty="0">
                <a:solidFill>
                  <a:srgbClr val="003560"/>
                </a:solidFill>
                <a:effectLst/>
                <a:latin typeface="Arial" panose="020B0604020202020204" pitchFamily="34" charset="0"/>
                <a:cs typeface="Arial" panose="020B0604020202020204" pitchFamily="34" charset="0"/>
              </a:rPr>
              <a:t> for solving certain kinds of problems existed, they were only effective some narrow types of problem and were tricky to apply to the problems that the Manhattan project had to solve.</a:t>
            </a:r>
            <a:endParaRPr lang="en-US" sz="2400" dirty="0">
              <a:solidFill>
                <a:srgbClr val="003560"/>
              </a:solidFill>
              <a:latin typeface="Arial" panose="020B0604020202020204" pitchFamily="34" charset="0"/>
              <a:cs typeface="Arial" panose="020B0604020202020204" pitchFamily="34" charset="0"/>
            </a:endParaRPr>
          </a:p>
        </p:txBody>
      </p:sp>
      <p:pic>
        <p:nvPicPr>
          <p:cNvPr id="12290" name="Picture 2">
            <a:extLst>
              <a:ext uri="{FF2B5EF4-FFF2-40B4-BE49-F238E27FC236}">
                <a16:creationId xmlns:a16="http://schemas.microsoft.com/office/drawing/2014/main" id="{627E0254-6F8E-428F-4B3C-AAACAF9B4380}"/>
              </a:ext>
            </a:extLst>
          </p:cNvPr>
          <p:cNvPicPr>
            <a:picLocks noGrp="1" noChangeAspect="1" noChangeArrowheads="1"/>
          </p:cNvPicPr>
          <p:nvPr>
            <p:ph type="pic" sz="quarter" idx="13"/>
          </p:nvPr>
        </p:nvPicPr>
        <p:blipFill>
          <a:blip r:embed="rId3">
            <a:extLst>
              <a:ext uri="{28A0092B-C50C-407E-A947-70E740481C1C}">
                <a14:useLocalDpi xmlns:a14="http://schemas.microsoft.com/office/drawing/2010/main" val="0"/>
              </a:ext>
            </a:extLst>
          </a:blip>
          <a:srcRect l="34167" r="34167"/>
          <a:stretch>
            <a:fillRect/>
          </a:stretch>
        </p:blipFill>
        <p:spPr bwMode="auto">
          <a:xfrm>
            <a:off x="0" y="1698625"/>
            <a:ext cx="2452688" cy="4576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5750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ED5D9-EA4E-E967-7950-96458D35029B}"/>
            </a:ext>
          </a:extLst>
        </p:cNvPr>
        <p:cNvGrpSpPr/>
        <p:nvPr/>
      </p:nvGrpSpPr>
      <p:grpSpPr>
        <a:xfrm>
          <a:off x="0" y="0"/>
          <a:ext cx="0" cy="0"/>
          <a:chOff x="0" y="0"/>
          <a:chExt cx="0" cy="0"/>
        </a:xfrm>
      </p:grpSpPr>
      <p:sp>
        <p:nvSpPr>
          <p:cNvPr id="14" name="Content Placeholder 4">
            <a:extLst>
              <a:ext uri="{FF2B5EF4-FFF2-40B4-BE49-F238E27FC236}">
                <a16:creationId xmlns:a16="http://schemas.microsoft.com/office/drawing/2014/main" id="{27C5DF8B-D838-50A8-A8E9-BD155886F1F5}"/>
              </a:ext>
            </a:extLst>
          </p:cNvPr>
          <p:cNvSpPr>
            <a:spLocks noGrp="1"/>
          </p:cNvSpPr>
          <p:nvPr>
            <p:ph type="title"/>
          </p:nvPr>
        </p:nvSpPr>
        <p:spPr>
          <a:xfrm>
            <a:off x="741680" y="2123676"/>
            <a:ext cx="4027169" cy="1600200"/>
          </a:xfrm>
        </p:spPr>
        <p:txBody>
          <a:bodyPr vert="horz" lIns="91440" tIns="45720" rIns="91440" bIns="45720" rtlCol="0" anchor="t">
            <a:normAutofit/>
          </a:bodyPr>
          <a:lstStyle/>
          <a:p>
            <a:pPr marL="0" indent="0"/>
            <a:r>
              <a:rPr lang="en-GB" b="1" kern="1200">
                <a:latin typeface="Arial" panose="020B0604020202020204" pitchFamily="34" charset="0"/>
                <a:ea typeface="+mj-ea"/>
                <a:cs typeface="Arial" panose="020B0604020202020204" pitchFamily="34" charset="0"/>
              </a:rPr>
              <a:t>Monte Carlo</a:t>
            </a:r>
          </a:p>
        </p:txBody>
      </p:sp>
      <p:sp>
        <p:nvSpPr>
          <p:cNvPr id="3" name="TextBox 2">
            <a:extLst>
              <a:ext uri="{FF2B5EF4-FFF2-40B4-BE49-F238E27FC236}">
                <a16:creationId xmlns:a16="http://schemas.microsoft.com/office/drawing/2014/main" id="{96AD8B00-CA5C-9546-5812-60FE72EB6412}"/>
              </a:ext>
            </a:extLst>
          </p:cNvPr>
          <p:cNvSpPr txBox="1"/>
          <p:nvPr/>
        </p:nvSpPr>
        <p:spPr>
          <a:xfrm>
            <a:off x="510284" y="2923776"/>
            <a:ext cx="4657617" cy="3518121"/>
          </a:xfrm>
          <a:prstGeom prst="rect">
            <a:avLst/>
          </a:prstGeom>
        </p:spPr>
        <p:txBody>
          <a:bodyPr vert="horz" lIns="91440" tIns="45720" rIns="91440" bIns="45720" rtlCol="0">
            <a:noAutofit/>
          </a:bodyPr>
          <a:lstStyle/>
          <a:p>
            <a:pPr>
              <a:lnSpc>
                <a:spcPct val="90000"/>
              </a:lnSpc>
              <a:spcBef>
                <a:spcPts val="1000"/>
              </a:spcBef>
            </a:pPr>
            <a:r>
              <a:rPr lang="en-GB" sz="2000" b="0" i="0" kern="1200" dirty="0">
                <a:solidFill>
                  <a:schemeClr val="accent1">
                    <a:lumMod val="50000"/>
                  </a:schemeClr>
                </a:solidFill>
                <a:effectLst/>
                <a:latin typeface="system-ui"/>
                <a:cs typeface="Arial" panose="020B0604020202020204" pitchFamily="34" charset="0"/>
              </a:rPr>
              <a:t>John von Neumann and Stanislaw </a:t>
            </a:r>
            <a:r>
              <a:rPr lang="en-GB" sz="2000" b="0" i="0" kern="1200" dirty="0" err="1">
                <a:solidFill>
                  <a:schemeClr val="accent1">
                    <a:lumMod val="50000"/>
                  </a:schemeClr>
                </a:solidFill>
                <a:effectLst/>
                <a:latin typeface="system-ui"/>
                <a:cs typeface="Arial" panose="020B0604020202020204" pitchFamily="34" charset="0"/>
              </a:rPr>
              <a:t>Ulam</a:t>
            </a:r>
            <a:r>
              <a:rPr lang="en-GB" sz="2000" b="0" i="0" kern="1200" dirty="0">
                <a:solidFill>
                  <a:schemeClr val="accent1">
                    <a:lumMod val="50000"/>
                  </a:schemeClr>
                </a:solidFill>
                <a:effectLst/>
                <a:latin typeface="system-ui"/>
                <a:cs typeface="Arial" panose="020B0604020202020204" pitchFamily="34" charset="0"/>
              </a:rPr>
              <a:t> developed the </a:t>
            </a:r>
            <a:r>
              <a:rPr lang="en-GB" sz="2000" b="1" i="0" kern="1200" dirty="0">
                <a:solidFill>
                  <a:schemeClr val="accent1">
                    <a:lumMod val="50000"/>
                  </a:schemeClr>
                </a:solidFill>
                <a:effectLst/>
                <a:latin typeface="system-ui"/>
                <a:cs typeface="Arial" panose="020B0604020202020204" pitchFamily="34" charset="0"/>
              </a:rPr>
              <a:t>Monte Carlo</a:t>
            </a:r>
            <a:r>
              <a:rPr lang="en-GB" sz="2000" b="0" i="0" kern="1200" dirty="0">
                <a:solidFill>
                  <a:schemeClr val="accent1">
                    <a:lumMod val="50000"/>
                  </a:schemeClr>
                </a:solidFill>
                <a:effectLst/>
                <a:latin typeface="system-ui"/>
                <a:cs typeface="Arial" panose="020B0604020202020204" pitchFamily="34" charset="0"/>
              </a:rPr>
              <a:t> method to approximate the answer to probabilistic problems, named after the casinos of Monte Carlo. </a:t>
            </a:r>
          </a:p>
          <a:p>
            <a:pPr>
              <a:lnSpc>
                <a:spcPct val="90000"/>
              </a:lnSpc>
              <a:spcBef>
                <a:spcPts val="1000"/>
              </a:spcBef>
            </a:pPr>
            <a:r>
              <a:rPr lang="en-GB" sz="2000" b="0" i="0" kern="1200" dirty="0">
                <a:solidFill>
                  <a:schemeClr val="accent1">
                    <a:lumMod val="50000"/>
                  </a:schemeClr>
                </a:solidFill>
                <a:effectLst/>
                <a:latin typeface="system-ui"/>
                <a:cs typeface="Arial" panose="020B0604020202020204" pitchFamily="34" charset="0"/>
              </a:rPr>
              <a:t>This involved setting up a </a:t>
            </a:r>
            <a:r>
              <a:rPr lang="en-GB" sz="2000" b="0" i="1" kern="1200" dirty="0">
                <a:solidFill>
                  <a:schemeClr val="accent1">
                    <a:lumMod val="50000"/>
                  </a:schemeClr>
                </a:solidFill>
                <a:effectLst/>
                <a:latin typeface="system-ui"/>
                <a:cs typeface="Arial" panose="020B0604020202020204" pitchFamily="34" charset="0"/>
              </a:rPr>
              <a:t>simulation</a:t>
            </a:r>
            <a:r>
              <a:rPr lang="en-GB" sz="2000" b="0" i="0" kern="1200" dirty="0">
                <a:solidFill>
                  <a:schemeClr val="accent1">
                    <a:lumMod val="50000"/>
                  </a:schemeClr>
                </a:solidFill>
                <a:effectLst/>
                <a:latin typeface="system-ui"/>
                <a:cs typeface="Arial" panose="020B0604020202020204" pitchFamily="34" charset="0"/>
              </a:rPr>
              <a:t> with stochastic (random) components. </a:t>
            </a:r>
          </a:p>
          <a:p>
            <a:pPr>
              <a:lnSpc>
                <a:spcPct val="90000"/>
              </a:lnSpc>
              <a:spcBef>
                <a:spcPts val="1000"/>
              </a:spcBef>
            </a:pPr>
            <a:br>
              <a:rPr lang="en-GB" sz="2000" b="0" i="0" kern="1200" dirty="0">
                <a:solidFill>
                  <a:schemeClr val="accent1">
                    <a:lumMod val="50000"/>
                  </a:schemeClr>
                </a:solidFill>
                <a:effectLst/>
                <a:latin typeface="system-ui"/>
                <a:cs typeface="Arial" panose="020B0604020202020204" pitchFamily="34" charset="0"/>
              </a:rPr>
            </a:br>
            <a:r>
              <a:rPr lang="en-GB" sz="2000" b="0" i="0" kern="1200" dirty="0">
                <a:solidFill>
                  <a:schemeClr val="accent1">
                    <a:lumMod val="50000"/>
                  </a:schemeClr>
                </a:solidFill>
                <a:effectLst/>
                <a:latin typeface="system-ui"/>
                <a:cs typeface="Arial" panose="020B0604020202020204" pitchFamily="34" charset="0"/>
              </a:rPr>
              <a:t>By running the simulation many times with different random behaviour, the population of </a:t>
            </a:r>
            <a:r>
              <a:rPr lang="en-GB" sz="2000" b="0" i="1" kern="1200" dirty="0">
                <a:solidFill>
                  <a:schemeClr val="accent1">
                    <a:lumMod val="50000"/>
                  </a:schemeClr>
                </a:solidFill>
                <a:effectLst/>
                <a:latin typeface="system-ui"/>
                <a:cs typeface="Arial" panose="020B0604020202020204" pitchFamily="34" charset="0"/>
              </a:rPr>
              <a:t>possible</a:t>
            </a:r>
            <a:r>
              <a:rPr lang="en-GB" sz="2000" b="0" i="0" kern="1200" dirty="0">
                <a:solidFill>
                  <a:schemeClr val="accent1">
                    <a:lumMod val="50000"/>
                  </a:schemeClr>
                </a:solidFill>
                <a:effectLst/>
                <a:latin typeface="system-ui"/>
                <a:cs typeface="Arial" panose="020B0604020202020204" pitchFamily="34" charset="0"/>
              </a:rPr>
              <a:t> behaviours could be approximated.</a:t>
            </a:r>
            <a:endParaRPr lang="en-GB" sz="2000" kern="1200" dirty="0">
              <a:solidFill>
                <a:schemeClr val="accent1">
                  <a:lumMod val="50000"/>
                </a:schemeClr>
              </a:solidFill>
              <a:latin typeface="system-ui"/>
              <a:cs typeface="Arial" panose="020B0604020202020204" pitchFamily="34" charset="0"/>
            </a:endParaRPr>
          </a:p>
        </p:txBody>
      </p:sp>
      <p:pic>
        <p:nvPicPr>
          <p:cNvPr id="5" name="Content Placeholder 4" descr="A collage of men with a wooden object&#10;&#10;Description automatically generated">
            <a:extLst>
              <a:ext uri="{FF2B5EF4-FFF2-40B4-BE49-F238E27FC236}">
                <a16:creationId xmlns:a16="http://schemas.microsoft.com/office/drawing/2014/main" id="{8544B89F-A8E3-C13C-3BC4-6647D99E6462}"/>
              </a:ext>
            </a:extLst>
          </p:cNvPr>
          <p:cNvPicPr>
            <a:picLocks noGrp="1" noChangeAspect="1"/>
          </p:cNvPicPr>
          <p:nvPr>
            <p:ph idx="1"/>
          </p:nvPr>
        </p:nvPicPr>
        <p:blipFill>
          <a:blip r:embed="rId3"/>
          <a:srcRect l="13388" r="6242" b="3"/>
          <a:stretch/>
        </p:blipFill>
        <p:spPr>
          <a:xfrm>
            <a:off x="5414481" y="987425"/>
            <a:ext cx="6267235" cy="4873625"/>
          </a:xfrm>
          <a:noFill/>
        </p:spPr>
      </p:pic>
    </p:spTree>
    <p:extLst>
      <p:ext uri="{BB962C8B-B14F-4D97-AF65-F5344CB8AC3E}">
        <p14:creationId xmlns:p14="http://schemas.microsoft.com/office/powerpoint/2010/main" val="42359681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2C633-65A8-4D7B-13D9-B8EADBDB86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F428AD-D6E0-2FB7-432D-ED708897483C}"/>
              </a:ext>
            </a:extLst>
          </p:cNvPr>
          <p:cNvSpPr>
            <a:spLocks noGrp="1"/>
          </p:cNvSpPr>
          <p:nvPr>
            <p:ph type="title"/>
          </p:nvPr>
        </p:nvSpPr>
        <p:spPr/>
        <p:txBody>
          <a:bodyPr/>
          <a:lstStyle/>
          <a:p>
            <a:r>
              <a:rPr lang="en-GB" dirty="0"/>
              <a:t>Monte Carlo</a:t>
            </a:r>
          </a:p>
        </p:txBody>
      </p:sp>
      <p:sp>
        <p:nvSpPr>
          <p:cNvPr id="3" name="Content Placeholder 2">
            <a:extLst>
              <a:ext uri="{FF2B5EF4-FFF2-40B4-BE49-F238E27FC236}">
                <a16:creationId xmlns:a16="http://schemas.microsoft.com/office/drawing/2014/main" id="{93F2CEA0-5ED4-2E5D-54F7-A66C2E1AEDDA}"/>
              </a:ext>
            </a:extLst>
          </p:cNvPr>
          <p:cNvSpPr>
            <a:spLocks noGrp="1"/>
          </p:cNvSpPr>
          <p:nvPr>
            <p:ph sz="quarter" idx="13"/>
          </p:nvPr>
        </p:nvSpPr>
        <p:spPr/>
        <p:txBody>
          <a:bodyPr>
            <a:normAutofit lnSpcReduction="10000"/>
          </a:bodyPr>
          <a:lstStyle/>
          <a:p>
            <a:pPr marL="0" indent="0" algn="l">
              <a:buNone/>
            </a:pPr>
            <a:r>
              <a:rPr lang="en-US" b="0" i="0" dirty="0">
                <a:effectLst/>
                <a:latin typeface="system-ui"/>
              </a:rPr>
              <a:t>For example, computing the expectation of a function of a random variable can often be hard for continuous random variables. </a:t>
            </a:r>
          </a:p>
          <a:p>
            <a:pPr marL="0" indent="0" algn="l">
              <a:buNone/>
            </a:pPr>
            <a:r>
              <a:rPr lang="en-US" b="0" i="0" dirty="0">
                <a:effectLst/>
                <a:latin typeface="system-ui"/>
              </a:rPr>
              <a:t>The integral for:</a:t>
            </a:r>
          </a:p>
          <a:p>
            <a:pPr marL="0" indent="0" algn="l">
              <a:buNone/>
            </a:pPr>
            <a:endParaRPr lang="en-US" b="0" i="0" dirty="0">
              <a:effectLst/>
              <a:latin typeface="system-ui"/>
            </a:endParaRPr>
          </a:p>
          <a:p>
            <a:pPr marL="0" indent="0" algn="l">
              <a:buNone/>
            </a:pPr>
            <a:endParaRPr lang="en-US" b="0" i="0" dirty="0">
              <a:effectLst/>
              <a:latin typeface="system-ui"/>
            </a:endParaRPr>
          </a:p>
          <a:p>
            <a:pPr marL="0" indent="0" algn="l">
              <a:buNone/>
            </a:pPr>
            <a:r>
              <a:rPr lang="en-US" b="0" i="0" dirty="0">
                <a:effectLst/>
                <a:latin typeface="system-ui"/>
              </a:rPr>
              <a:t>may be intractable. However it is often very easy to compute g(x) for any possible x. If we can somehow sample from the distribution P(X=x), then we can approximate this very easily:</a:t>
            </a:r>
          </a:p>
          <a:p>
            <a:pPr marL="0" indent="0" algn="l">
              <a:buNone/>
            </a:pPr>
            <a:endParaRPr lang="en-US" b="0" i="0" dirty="0">
              <a:effectLst/>
              <a:latin typeface="system-ui"/>
            </a:endParaRPr>
          </a:p>
          <a:p>
            <a:pPr marL="0" indent="0" algn="l">
              <a:buNone/>
            </a:pPr>
            <a:endParaRPr lang="en-US" b="0" i="0" dirty="0">
              <a:effectLst/>
              <a:latin typeface="system-ui"/>
            </a:endParaRPr>
          </a:p>
          <a:p>
            <a:pPr marL="0" indent="0" algn="l">
              <a:buNone/>
            </a:pPr>
            <a:r>
              <a:rPr lang="en-US" b="0" i="0" dirty="0">
                <a:effectLst/>
                <a:latin typeface="system-ui"/>
              </a:rPr>
              <a:t>where xi are random samples from P(X=x), defined by the PDF </a:t>
            </a:r>
            <a:r>
              <a:rPr lang="en-US" b="0" i="0" dirty="0" err="1">
                <a:effectLst/>
                <a:latin typeface="system-ui"/>
              </a:rPr>
              <a:t>fX</a:t>
            </a:r>
            <a:r>
              <a:rPr lang="en-US" b="0" i="0" dirty="0">
                <a:effectLst/>
                <a:latin typeface="system-ui"/>
              </a:rPr>
              <a:t>(x). This gets better as N gets larger.</a:t>
            </a:r>
          </a:p>
          <a:p>
            <a:endParaRPr lang="en-GB" dirty="0"/>
          </a:p>
        </p:txBody>
      </p:sp>
      <p:pic>
        <p:nvPicPr>
          <p:cNvPr id="5" name="Picture 4">
            <a:extLst>
              <a:ext uri="{FF2B5EF4-FFF2-40B4-BE49-F238E27FC236}">
                <a16:creationId xmlns:a16="http://schemas.microsoft.com/office/drawing/2014/main" id="{B2F5AC62-7BDF-4B39-E156-1D345FEF627C}"/>
              </a:ext>
            </a:extLst>
          </p:cNvPr>
          <p:cNvPicPr>
            <a:picLocks noChangeAspect="1"/>
          </p:cNvPicPr>
          <p:nvPr/>
        </p:nvPicPr>
        <p:blipFill>
          <a:blip r:embed="rId2"/>
          <a:stretch>
            <a:fillRect/>
          </a:stretch>
        </p:blipFill>
        <p:spPr>
          <a:xfrm>
            <a:off x="3486618" y="2691829"/>
            <a:ext cx="3547725" cy="918447"/>
          </a:xfrm>
          <a:prstGeom prst="rect">
            <a:avLst/>
          </a:prstGeom>
        </p:spPr>
      </p:pic>
      <p:pic>
        <p:nvPicPr>
          <p:cNvPr id="7" name="Picture 6">
            <a:extLst>
              <a:ext uri="{FF2B5EF4-FFF2-40B4-BE49-F238E27FC236}">
                <a16:creationId xmlns:a16="http://schemas.microsoft.com/office/drawing/2014/main" id="{03618B12-FA96-FB6F-F8E1-D5A7488B2C95}"/>
              </a:ext>
            </a:extLst>
          </p:cNvPr>
          <p:cNvPicPr>
            <a:picLocks noChangeAspect="1"/>
          </p:cNvPicPr>
          <p:nvPr/>
        </p:nvPicPr>
        <p:blipFill>
          <a:blip r:embed="rId3"/>
          <a:stretch>
            <a:fillRect/>
          </a:stretch>
        </p:blipFill>
        <p:spPr>
          <a:xfrm>
            <a:off x="3448946" y="4474318"/>
            <a:ext cx="3859404" cy="756494"/>
          </a:xfrm>
          <a:prstGeom prst="rect">
            <a:avLst/>
          </a:prstGeom>
        </p:spPr>
      </p:pic>
    </p:spTree>
    <p:extLst>
      <p:ext uri="{BB962C8B-B14F-4D97-AF65-F5344CB8AC3E}">
        <p14:creationId xmlns:p14="http://schemas.microsoft.com/office/powerpoint/2010/main" val="26093354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0D1B1F2-F9FD-CF8B-D71C-AE8C4325ADA5}"/>
              </a:ext>
            </a:extLst>
          </p:cNvPr>
          <p:cNvPicPr>
            <a:picLocks noChangeAspect="1"/>
          </p:cNvPicPr>
          <p:nvPr/>
        </p:nvPicPr>
        <p:blipFill>
          <a:blip r:embed="rId2"/>
          <a:srcRect t="13476" b="2548"/>
          <a:stretch/>
        </p:blipFill>
        <p:spPr>
          <a:xfrm>
            <a:off x="838200" y="1608667"/>
            <a:ext cx="5181600" cy="4568296"/>
          </a:xfrm>
          <a:prstGeom prst="rect">
            <a:avLst/>
          </a:prstGeom>
          <a:noFill/>
        </p:spPr>
      </p:pic>
      <p:sp>
        <p:nvSpPr>
          <p:cNvPr id="3" name="Content Placeholder 2">
            <a:extLst>
              <a:ext uri="{FF2B5EF4-FFF2-40B4-BE49-F238E27FC236}">
                <a16:creationId xmlns:a16="http://schemas.microsoft.com/office/drawing/2014/main" id="{2003419F-26AE-AB3D-5CDF-F73F84324A46}"/>
              </a:ext>
            </a:extLst>
          </p:cNvPr>
          <p:cNvSpPr>
            <a:spLocks noGrp="1"/>
          </p:cNvSpPr>
          <p:nvPr>
            <p:ph sz="half" idx="2"/>
          </p:nvPr>
        </p:nvSpPr>
        <p:spPr>
          <a:xfrm>
            <a:off x="6172200" y="1608667"/>
            <a:ext cx="5181600" cy="4568296"/>
          </a:xfrm>
        </p:spPr>
        <p:txBody>
          <a:bodyPr>
            <a:normAutofit/>
          </a:bodyPr>
          <a:lstStyle/>
          <a:p>
            <a:pPr marL="0" indent="0">
              <a:buNone/>
            </a:pPr>
            <a:r>
              <a:rPr lang="en-US" sz="2200" b="0" i="0">
                <a:effectLst/>
              </a:rPr>
              <a:t>For example, imagine trying to work out the expectation of dart throw. A dart board has sections giving different scores. </a:t>
            </a:r>
          </a:p>
          <a:p>
            <a:pPr marL="0" indent="0">
              <a:buNone/>
            </a:pPr>
            <a:r>
              <a:rPr lang="en-US" sz="2200" b="0" i="0">
                <a:effectLst/>
              </a:rPr>
              <a:t>We might model the position of the dart as a normal distribution over the dart space. This models the human variability in throwing. </a:t>
            </a:r>
          </a:p>
          <a:p>
            <a:pPr marL="0" indent="0">
              <a:buNone/>
            </a:pPr>
            <a:r>
              <a:rPr lang="en-US" sz="2200" b="0" i="0">
                <a:effectLst/>
              </a:rPr>
              <a:t>The expected score of a throw requires evaluating the integral of the normal PDF multiplied by the score at each point -- which isn't feasible to compute directly.</a:t>
            </a:r>
            <a:endParaRPr lang="en-GB" sz="2200"/>
          </a:p>
        </p:txBody>
      </p:sp>
      <p:sp>
        <p:nvSpPr>
          <p:cNvPr id="2" name="Title 1">
            <a:extLst>
              <a:ext uri="{FF2B5EF4-FFF2-40B4-BE49-F238E27FC236}">
                <a16:creationId xmlns:a16="http://schemas.microsoft.com/office/drawing/2014/main" id="{F84C4D5E-0C52-DF61-0AAB-11C054FD0A27}"/>
              </a:ext>
            </a:extLst>
          </p:cNvPr>
          <p:cNvSpPr>
            <a:spLocks noGrp="1"/>
          </p:cNvSpPr>
          <p:nvPr>
            <p:ph type="title"/>
          </p:nvPr>
        </p:nvSpPr>
        <p:spPr>
          <a:xfrm>
            <a:off x="2549236" y="533614"/>
            <a:ext cx="9210963" cy="888786"/>
          </a:xfrm>
        </p:spPr>
        <p:txBody>
          <a:bodyPr anchor="t">
            <a:normAutofit/>
          </a:bodyPr>
          <a:lstStyle/>
          <a:p>
            <a:r>
              <a:rPr lang="en-GB" dirty="0"/>
              <a:t>Throwing darts</a:t>
            </a:r>
          </a:p>
        </p:txBody>
      </p:sp>
    </p:spTree>
    <p:extLst>
      <p:ext uri="{BB962C8B-B14F-4D97-AF65-F5344CB8AC3E}">
        <p14:creationId xmlns:p14="http://schemas.microsoft.com/office/powerpoint/2010/main" val="23397077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B9EE420-C192-690B-FC3A-D4E0A996AB6D}"/>
              </a:ext>
            </a:extLst>
          </p:cNvPr>
          <p:cNvPicPr>
            <a:picLocks noGrp="1" noChangeAspect="1"/>
          </p:cNvPicPr>
          <p:nvPr>
            <p:ph sz="half" idx="1"/>
          </p:nvPr>
        </p:nvPicPr>
        <p:blipFill>
          <a:blip r:embed="rId2"/>
          <a:srcRect t="10927" r="-1" b="3112"/>
          <a:stretch/>
        </p:blipFill>
        <p:spPr>
          <a:xfrm>
            <a:off x="838200" y="1608667"/>
            <a:ext cx="5181600" cy="4568296"/>
          </a:xfrm>
          <a:noFill/>
        </p:spPr>
      </p:pic>
      <p:sp>
        <p:nvSpPr>
          <p:cNvPr id="2" name="Content Placeholder 1">
            <a:extLst>
              <a:ext uri="{FF2B5EF4-FFF2-40B4-BE49-F238E27FC236}">
                <a16:creationId xmlns:a16="http://schemas.microsoft.com/office/drawing/2014/main" id="{B2BA041D-CE9A-B5C5-1AD7-241D52F58CFE}"/>
              </a:ext>
            </a:extLst>
          </p:cNvPr>
          <p:cNvSpPr>
            <a:spLocks noGrp="1"/>
          </p:cNvSpPr>
          <p:nvPr>
            <p:ph sz="half" idx="2"/>
          </p:nvPr>
        </p:nvSpPr>
        <p:spPr>
          <a:xfrm>
            <a:off x="6172200" y="1608667"/>
            <a:ext cx="5181600" cy="4568296"/>
          </a:xfrm>
        </p:spPr>
        <p:txBody>
          <a:bodyPr>
            <a:normAutofit/>
          </a:bodyPr>
          <a:lstStyle/>
          <a:p>
            <a:pPr marL="0" indent="0">
              <a:buNone/>
            </a:pPr>
            <a:r>
              <a:rPr lang="en-US" sz="2000" b="0" i="0">
                <a:effectLst/>
              </a:rPr>
              <a:t>But we can sample from a multivariate normal distribution easily; we saw this in the last unit; just sample from </a:t>
            </a:r>
            <a:r>
              <a:rPr lang="en-US" sz="2000"/>
              <a:t>d</a:t>
            </a:r>
            <a:r>
              <a:rPr lang="en-US" sz="2000" b="0" i="0">
                <a:effectLst/>
              </a:rPr>
              <a:t> independent standard </a:t>
            </a:r>
            <a:r>
              <a:rPr lang="en-US" sz="2000" b="0" i="0" err="1">
                <a:effectLst/>
              </a:rPr>
              <a:t>normals</a:t>
            </a:r>
            <a:r>
              <a:rPr lang="en-US" sz="2000" b="0" i="0">
                <a:effectLst/>
              </a:rPr>
              <a:t>, and transform with a linear transform (matrix). </a:t>
            </a:r>
          </a:p>
          <a:p>
            <a:pPr marL="0" indent="0">
              <a:buNone/>
            </a:pPr>
            <a:r>
              <a:rPr lang="en-US" sz="2000" b="0" i="0">
                <a:effectLst/>
              </a:rPr>
              <a:t>So instead of trying to solve a very hard integral, we can simulate lots of dart throws, which follow the pattern of the normal distribution, and take the average score that they get. </a:t>
            </a:r>
          </a:p>
          <a:p>
            <a:pPr marL="0" indent="0">
              <a:buNone/>
            </a:pPr>
            <a:r>
              <a:rPr lang="en-US" sz="2000" b="0" i="0">
                <a:effectLst/>
              </a:rPr>
              <a:t>If we simulate a lot of darts, the average will be close to the true value of the integral.</a:t>
            </a:r>
            <a:endParaRPr lang="en-GB" sz="2000"/>
          </a:p>
        </p:txBody>
      </p:sp>
      <p:sp>
        <p:nvSpPr>
          <p:cNvPr id="4" name="Title 3">
            <a:extLst>
              <a:ext uri="{FF2B5EF4-FFF2-40B4-BE49-F238E27FC236}">
                <a16:creationId xmlns:a16="http://schemas.microsoft.com/office/drawing/2014/main" id="{96C15B21-60E2-0325-67BC-1CF4792C557A}"/>
              </a:ext>
            </a:extLst>
          </p:cNvPr>
          <p:cNvSpPr>
            <a:spLocks noGrp="1"/>
          </p:cNvSpPr>
          <p:nvPr>
            <p:ph type="title"/>
          </p:nvPr>
        </p:nvSpPr>
        <p:spPr>
          <a:xfrm>
            <a:off x="2549236" y="533614"/>
            <a:ext cx="9210963" cy="888786"/>
          </a:xfrm>
        </p:spPr>
        <p:txBody>
          <a:bodyPr anchor="t">
            <a:normAutofit/>
          </a:bodyPr>
          <a:lstStyle/>
          <a:p>
            <a:r>
              <a:rPr lang="en-GB" dirty="0"/>
              <a:t>Throwing darts</a:t>
            </a:r>
          </a:p>
        </p:txBody>
      </p:sp>
    </p:spTree>
    <p:extLst>
      <p:ext uri="{BB962C8B-B14F-4D97-AF65-F5344CB8AC3E}">
        <p14:creationId xmlns:p14="http://schemas.microsoft.com/office/powerpoint/2010/main" val="16471776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6400667-D0C0-E46F-F818-F162DC68AD4B}"/>
              </a:ext>
            </a:extLst>
          </p:cNvPr>
          <p:cNvSpPr>
            <a:spLocks noGrp="1"/>
          </p:cNvSpPr>
          <p:nvPr>
            <p:ph sz="half" idx="1"/>
          </p:nvPr>
        </p:nvSpPr>
        <p:spPr/>
        <p:txBody>
          <a:bodyPr/>
          <a:lstStyle/>
          <a:p>
            <a:pPr marL="0" indent="0">
              <a:buNone/>
            </a:pPr>
            <a:r>
              <a:rPr lang="en-US" b="0" i="0" dirty="0">
                <a:effectLst/>
                <a:latin typeface="system-ui"/>
              </a:rPr>
              <a:t>For example, we might want to define a circular score region, which gives us 25 points if we land in it, 50 points if we lie in a smaller </a:t>
            </a:r>
            <a:r>
              <a:rPr lang="en-US" b="0" i="0" dirty="0" err="1">
                <a:effectLst/>
                <a:latin typeface="system-ui"/>
              </a:rPr>
              <a:t>coencentric</a:t>
            </a:r>
            <a:r>
              <a:rPr lang="en-US" b="0" i="0" dirty="0">
                <a:effectLst/>
                <a:latin typeface="system-ui"/>
              </a:rPr>
              <a:t> circle, and 0 otherwise; this is our function </a:t>
            </a:r>
            <a:r>
              <a:rPr lang="en-US" dirty="0"/>
              <a:t>g(X)</a:t>
            </a:r>
            <a:r>
              <a:rPr lang="en-US" b="0" i="0" dirty="0">
                <a:effectLst/>
                <a:latin typeface="system-ui"/>
              </a:rPr>
              <a:t>. We might model the throw of the dart with a multivariate normal. </a:t>
            </a:r>
          </a:p>
          <a:p>
            <a:pPr marL="0" indent="0">
              <a:buNone/>
            </a:pPr>
            <a:r>
              <a:rPr lang="en-US" b="0" i="0" dirty="0">
                <a:effectLst/>
                <a:latin typeface="system-ui"/>
              </a:rPr>
              <a:t>How do we compute the expected score </a:t>
            </a:r>
            <a:r>
              <a:rPr lang="en-US" dirty="0"/>
              <a:t>E[g(X)]</a:t>
            </a:r>
            <a:r>
              <a:rPr lang="en-US" b="0" i="0" dirty="0">
                <a:effectLst/>
                <a:latin typeface="system-ui"/>
              </a:rPr>
              <a:t>?</a:t>
            </a:r>
          </a:p>
          <a:p>
            <a:pPr marL="0" indent="0">
              <a:buNone/>
            </a:pPr>
            <a:endParaRPr lang="en-US" dirty="0">
              <a:latin typeface="system-ui"/>
            </a:endParaRPr>
          </a:p>
          <a:p>
            <a:pPr marL="0" indent="0">
              <a:buNone/>
            </a:pPr>
            <a:endParaRPr lang="en-GB" dirty="0"/>
          </a:p>
        </p:txBody>
      </p:sp>
      <p:pic>
        <p:nvPicPr>
          <p:cNvPr id="6" name="Content Placeholder 5">
            <a:extLst>
              <a:ext uri="{FF2B5EF4-FFF2-40B4-BE49-F238E27FC236}">
                <a16:creationId xmlns:a16="http://schemas.microsoft.com/office/drawing/2014/main" id="{F942A789-55FD-D7E1-BC2A-112DC568191A}"/>
              </a:ext>
            </a:extLst>
          </p:cNvPr>
          <p:cNvPicPr>
            <a:picLocks noGrp="1" noChangeAspect="1"/>
          </p:cNvPicPr>
          <p:nvPr>
            <p:ph sz="half" idx="2"/>
          </p:nvPr>
        </p:nvPicPr>
        <p:blipFill>
          <a:blip r:embed="rId3"/>
          <a:stretch>
            <a:fillRect/>
          </a:stretch>
        </p:blipFill>
        <p:spPr>
          <a:xfrm>
            <a:off x="6369806" y="1608138"/>
            <a:ext cx="4786387" cy="4568825"/>
          </a:xfrm>
        </p:spPr>
      </p:pic>
      <p:sp>
        <p:nvSpPr>
          <p:cNvPr id="4" name="Title 3">
            <a:extLst>
              <a:ext uri="{FF2B5EF4-FFF2-40B4-BE49-F238E27FC236}">
                <a16:creationId xmlns:a16="http://schemas.microsoft.com/office/drawing/2014/main" id="{D3925B76-C92E-9534-B138-176187EC3A93}"/>
              </a:ext>
            </a:extLst>
          </p:cNvPr>
          <p:cNvSpPr>
            <a:spLocks noGrp="1"/>
          </p:cNvSpPr>
          <p:nvPr>
            <p:ph type="title"/>
          </p:nvPr>
        </p:nvSpPr>
        <p:spPr/>
        <p:txBody>
          <a:bodyPr/>
          <a:lstStyle/>
          <a:p>
            <a:r>
              <a:rPr lang="en-GB" dirty="0"/>
              <a:t>Bullseye example</a:t>
            </a:r>
          </a:p>
        </p:txBody>
      </p:sp>
      <p:pic>
        <p:nvPicPr>
          <p:cNvPr id="10" name="Picture 9">
            <a:extLst>
              <a:ext uri="{FF2B5EF4-FFF2-40B4-BE49-F238E27FC236}">
                <a16:creationId xmlns:a16="http://schemas.microsoft.com/office/drawing/2014/main" id="{463DCB0B-9740-6DCC-1807-6740C8B41AAA}"/>
              </a:ext>
            </a:extLst>
          </p:cNvPr>
          <p:cNvPicPr>
            <a:picLocks noChangeAspect="1"/>
          </p:cNvPicPr>
          <p:nvPr/>
        </p:nvPicPr>
        <p:blipFill>
          <a:blip r:embed="rId4"/>
          <a:stretch>
            <a:fillRect/>
          </a:stretch>
        </p:blipFill>
        <p:spPr>
          <a:xfrm>
            <a:off x="7685395" y="1167618"/>
            <a:ext cx="2404504" cy="440520"/>
          </a:xfrm>
          <a:prstGeom prst="rect">
            <a:avLst/>
          </a:prstGeom>
        </p:spPr>
      </p:pic>
    </p:spTree>
    <p:extLst>
      <p:ext uri="{BB962C8B-B14F-4D97-AF65-F5344CB8AC3E}">
        <p14:creationId xmlns:p14="http://schemas.microsoft.com/office/powerpoint/2010/main" val="29707024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55A6F8F-48AA-DBE2-9D19-77408EAF47BE}"/>
              </a:ext>
            </a:extLst>
          </p:cNvPr>
          <p:cNvSpPr>
            <a:spLocks noGrp="1"/>
          </p:cNvSpPr>
          <p:nvPr>
            <p:ph type="title"/>
          </p:nvPr>
        </p:nvSpPr>
        <p:spPr>
          <a:xfrm>
            <a:off x="741680" y="2123676"/>
            <a:ext cx="4027169" cy="1600200"/>
          </a:xfrm>
        </p:spPr>
        <p:txBody>
          <a:bodyPr anchor="t">
            <a:normAutofit/>
          </a:bodyPr>
          <a:lstStyle/>
          <a:p>
            <a:r>
              <a:rPr lang="en-GB" dirty="0"/>
              <a:t>Inference</a:t>
            </a:r>
          </a:p>
        </p:txBody>
      </p:sp>
      <p:sp>
        <p:nvSpPr>
          <p:cNvPr id="12" name="Text Placeholder 2">
            <a:extLst>
              <a:ext uri="{FF2B5EF4-FFF2-40B4-BE49-F238E27FC236}">
                <a16:creationId xmlns:a16="http://schemas.microsoft.com/office/drawing/2014/main" id="{0EEACCC2-0C69-497C-A8E9-3326AB009D3E}"/>
              </a:ext>
            </a:extLst>
          </p:cNvPr>
          <p:cNvSpPr>
            <a:spLocks noGrp="1"/>
          </p:cNvSpPr>
          <p:nvPr>
            <p:ph type="body" sz="half" idx="2"/>
          </p:nvPr>
        </p:nvSpPr>
        <p:spPr>
          <a:xfrm>
            <a:off x="741680" y="3934224"/>
            <a:ext cx="4030345" cy="1934763"/>
          </a:xfrm>
        </p:spPr>
        <p:txBody>
          <a:bodyPr/>
          <a:lstStyle/>
          <a:p>
            <a:endParaRPr lang="en-US"/>
          </a:p>
        </p:txBody>
      </p:sp>
      <p:pic>
        <p:nvPicPr>
          <p:cNvPr id="7" name="Content Placeholder 5">
            <a:extLst>
              <a:ext uri="{FF2B5EF4-FFF2-40B4-BE49-F238E27FC236}">
                <a16:creationId xmlns:a16="http://schemas.microsoft.com/office/drawing/2014/main" id="{41193827-5A2F-49F5-BD67-67F27AA4ACE7}"/>
              </a:ext>
            </a:extLst>
          </p:cNvPr>
          <p:cNvPicPr>
            <a:picLocks noChangeAspect="1"/>
          </p:cNvPicPr>
          <p:nvPr/>
        </p:nvPicPr>
        <p:blipFill>
          <a:blip r:embed="rId2"/>
          <a:stretch>
            <a:fillRect/>
          </a:stretch>
        </p:blipFill>
        <p:spPr>
          <a:xfrm>
            <a:off x="5183188" y="2158937"/>
            <a:ext cx="6172200" cy="2530601"/>
          </a:xfrm>
          <a:prstGeom prst="rect">
            <a:avLst/>
          </a:prstGeom>
          <a:noFill/>
        </p:spPr>
      </p:pic>
    </p:spTree>
    <p:extLst>
      <p:ext uri="{BB962C8B-B14F-4D97-AF65-F5344CB8AC3E}">
        <p14:creationId xmlns:p14="http://schemas.microsoft.com/office/powerpoint/2010/main" val="15600170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8EF1D0-B890-B471-8421-760FE5E39DB1}"/>
              </a:ext>
            </a:extLst>
          </p:cNvPr>
          <p:cNvSpPr>
            <a:spLocks noGrp="1"/>
          </p:cNvSpPr>
          <p:nvPr>
            <p:ph sz="half" idx="1"/>
          </p:nvPr>
        </p:nvSpPr>
        <p:spPr/>
        <p:txBody>
          <a:bodyPr/>
          <a:lstStyle/>
          <a:p>
            <a:r>
              <a:rPr lang="en-US" b="1" i="0" dirty="0">
                <a:effectLst/>
                <a:latin typeface="system-ui"/>
              </a:rPr>
              <a:t>Inferential statistics</a:t>
            </a:r>
            <a:r>
              <a:rPr lang="en-US" b="0" i="0" dirty="0">
                <a:effectLst/>
                <a:latin typeface="system-ui"/>
              </a:rPr>
              <a:t> is concerned with estimating the properties of an unobserved "global" </a:t>
            </a:r>
            <a:r>
              <a:rPr lang="en-US" b="1" i="0" dirty="0">
                <a:effectLst/>
                <a:latin typeface="system-ui"/>
              </a:rPr>
              <a:t>population</a:t>
            </a:r>
            <a:r>
              <a:rPr lang="en-US" b="0" i="0" dirty="0">
                <a:effectLst/>
                <a:latin typeface="system-ui"/>
              </a:rPr>
              <a:t> of values from a limited set of observed </a:t>
            </a:r>
            <a:r>
              <a:rPr lang="en-US" b="1" i="0" dirty="0">
                <a:effectLst/>
                <a:latin typeface="system-ui"/>
              </a:rPr>
              <a:t>samples</a:t>
            </a:r>
            <a:r>
              <a:rPr lang="en-US" b="0" i="0" dirty="0">
                <a:effectLst/>
                <a:latin typeface="system-ui"/>
              </a:rPr>
              <a:t>. </a:t>
            </a:r>
          </a:p>
          <a:p>
            <a:r>
              <a:rPr lang="en-US" b="0" i="0" dirty="0">
                <a:effectLst/>
                <a:latin typeface="system-ui"/>
              </a:rPr>
              <a:t>This assumes that there is some underlying distribution from which samples are being drawn. </a:t>
            </a:r>
          </a:p>
          <a:p>
            <a:r>
              <a:rPr lang="en-US" b="0" i="0" dirty="0">
                <a:effectLst/>
                <a:latin typeface="system-ui"/>
              </a:rPr>
              <a:t>This is a hidden process (the "mysterious entity"), which we only partially observe through the samples we see.</a:t>
            </a:r>
            <a:endParaRPr lang="en-GB" dirty="0"/>
          </a:p>
        </p:txBody>
      </p:sp>
      <p:sp>
        <p:nvSpPr>
          <p:cNvPr id="3" name="Content Placeholder 2">
            <a:extLst>
              <a:ext uri="{FF2B5EF4-FFF2-40B4-BE49-F238E27FC236}">
                <a16:creationId xmlns:a16="http://schemas.microsoft.com/office/drawing/2014/main" id="{0608F06C-3566-924E-C783-54B414F1315D}"/>
              </a:ext>
            </a:extLst>
          </p:cNvPr>
          <p:cNvSpPr>
            <a:spLocks noGrp="1"/>
          </p:cNvSpPr>
          <p:nvPr>
            <p:ph sz="half" idx="2"/>
          </p:nvPr>
        </p:nvSpPr>
        <p:spPr/>
        <p:txBody>
          <a:bodyPr/>
          <a:lstStyle/>
          <a:p>
            <a:endParaRPr lang="en-GB"/>
          </a:p>
        </p:txBody>
      </p:sp>
      <p:sp>
        <p:nvSpPr>
          <p:cNvPr id="4" name="Title 3">
            <a:extLst>
              <a:ext uri="{FF2B5EF4-FFF2-40B4-BE49-F238E27FC236}">
                <a16:creationId xmlns:a16="http://schemas.microsoft.com/office/drawing/2014/main" id="{1DFA5A3F-002B-5004-126A-D4BB3AE48008}"/>
              </a:ext>
            </a:extLst>
          </p:cNvPr>
          <p:cNvSpPr>
            <a:spLocks noGrp="1"/>
          </p:cNvSpPr>
          <p:nvPr>
            <p:ph type="title"/>
          </p:nvPr>
        </p:nvSpPr>
        <p:spPr/>
        <p:txBody>
          <a:bodyPr/>
          <a:lstStyle/>
          <a:p>
            <a:r>
              <a:rPr lang="en-GB" dirty="0"/>
              <a:t>Inference</a:t>
            </a:r>
          </a:p>
        </p:txBody>
      </p:sp>
    </p:spTree>
    <p:extLst>
      <p:ext uri="{BB962C8B-B14F-4D97-AF65-F5344CB8AC3E}">
        <p14:creationId xmlns:p14="http://schemas.microsoft.com/office/powerpoint/2010/main" val="6223657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D6E53C-DB22-9F5B-A233-0BCEB6E59E39}"/>
              </a:ext>
            </a:extLst>
          </p:cNvPr>
          <p:cNvSpPr>
            <a:spLocks noGrp="1"/>
          </p:cNvSpPr>
          <p:nvPr>
            <p:ph sz="half" idx="1"/>
          </p:nvPr>
        </p:nvSpPr>
        <p:spPr/>
        <p:txBody>
          <a:bodyPr>
            <a:normAutofit fontScale="77500" lnSpcReduction="20000"/>
          </a:bodyPr>
          <a:lstStyle/>
          <a:p>
            <a:pPr marL="0" indent="0" algn="l">
              <a:buNone/>
            </a:pPr>
            <a:r>
              <a:rPr lang="en-US" b="1" i="0" dirty="0">
                <a:effectLst/>
                <a:latin typeface="system-ui"/>
              </a:rPr>
              <a:t>Population</a:t>
            </a:r>
            <a:r>
              <a:rPr lang="en-US" b="0" i="0" dirty="0">
                <a:effectLst/>
                <a:latin typeface="system-ui"/>
              </a:rPr>
              <a:t> is the unknown set of outcomes (which might be infinite)</a:t>
            </a:r>
          </a:p>
          <a:p>
            <a:pPr marL="742950" lvl="1" indent="-285750" algn="l">
              <a:buFont typeface="Arial" panose="020B0604020202020204" pitchFamily="34" charset="0"/>
              <a:buChar char="•"/>
            </a:pPr>
            <a:r>
              <a:rPr lang="en-US" b="1" i="0" dirty="0">
                <a:effectLst/>
                <a:latin typeface="system-ui"/>
              </a:rPr>
              <a:t>Example</a:t>
            </a:r>
            <a:r>
              <a:rPr lang="en-US" b="0" i="0" dirty="0">
                <a:effectLst/>
                <a:latin typeface="system-ui"/>
              </a:rPr>
              <a:t> the weight of all beetles</a:t>
            </a:r>
          </a:p>
          <a:p>
            <a:pPr marL="742950" lvl="1" indent="-285750" algn="l">
              <a:buFont typeface="Arial" panose="020B0604020202020204" pitchFamily="34" charset="0"/>
              <a:buChar char="•"/>
            </a:pPr>
            <a:r>
              <a:rPr lang="en-US" b="1" i="0" dirty="0">
                <a:effectLst/>
                <a:latin typeface="system-ui"/>
              </a:rPr>
              <a:t>Parameter</a:t>
            </a:r>
            <a:r>
              <a:rPr lang="en-US" b="0" i="0" dirty="0">
                <a:effectLst/>
                <a:latin typeface="system-ui"/>
              </a:rPr>
              <a:t> describes this </a:t>
            </a:r>
            <a:r>
              <a:rPr lang="en-US" b="1" i="0" dirty="0">
                <a:effectLst/>
                <a:latin typeface="system-ui"/>
              </a:rPr>
              <a:t>whole population</a:t>
            </a:r>
            <a:r>
              <a:rPr lang="en-US" b="0" i="0" dirty="0">
                <a:effectLst/>
                <a:latin typeface="system-ui"/>
              </a:rPr>
              <a:t>, e.g. the mean weight of all beetles</a:t>
            </a:r>
          </a:p>
          <a:p>
            <a:pPr marL="0" indent="0" algn="l">
              <a:buNone/>
            </a:pPr>
            <a:r>
              <a:rPr lang="en-US" b="1" i="0" dirty="0">
                <a:effectLst/>
                <a:latin typeface="system-ui"/>
              </a:rPr>
              <a:t>Sample</a:t>
            </a:r>
            <a:r>
              <a:rPr lang="en-US" b="0" i="0" dirty="0">
                <a:effectLst/>
                <a:latin typeface="system-ui"/>
              </a:rPr>
              <a:t> is some subset of the population that has been observed.</a:t>
            </a:r>
          </a:p>
          <a:p>
            <a:pPr marL="742950" lvl="1" indent="-285750" algn="l">
              <a:buFont typeface="Arial" panose="020B0604020202020204" pitchFamily="34" charset="0"/>
              <a:buChar char="•"/>
            </a:pPr>
            <a:r>
              <a:rPr lang="en-US" b="1" i="0" dirty="0">
                <a:effectLst/>
                <a:latin typeface="system-ui"/>
              </a:rPr>
              <a:t>Example</a:t>
            </a:r>
            <a:r>
              <a:rPr lang="en-US" b="0" i="0" dirty="0">
                <a:effectLst/>
                <a:latin typeface="system-ui"/>
              </a:rPr>
              <a:t> 20 beetles whose weight has been measured</a:t>
            </a:r>
          </a:p>
          <a:p>
            <a:pPr marL="742950" lvl="1" indent="-285750" algn="l">
              <a:buFont typeface="Arial" panose="020B0604020202020204" pitchFamily="34" charset="0"/>
              <a:buChar char="•"/>
            </a:pPr>
            <a:r>
              <a:rPr lang="en-US" b="1" i="0" dirty="0">
                <a:effectLst/>
                <a:latin typeface="system-ui"/>
              </a:rPr>
              <a:t>Statistic</a:t>
            </a:r>
            <a:r>
              <a:rPr lang="en-US" b="0" i="0" dirty="0">
                <a:effectLst/>
                <a:latin typeface="system-ui"/>
              </a:rPr>
              <a:t> is a function of the sample data, e.g. the arithmetic mean of those 20 samples</a:t>
            </a:r>
          </a:p>
          <a:p>
            <a:pPr marL="0" indent="0" algn="l">
              <a:buNone/>
            </a:pPr>
            <a:r>
              <a:rPr lang="en-US" b="0" i="0" dirty="0">
                <a:effectLst/>
                <a:latin typeface="system-ui"/>
              </a:rPr>
              <a:t>The parameters of the population distribution govern the generation of the samples that are observed. </a:t>
            </a:r>
          </a:p>
          <a:p>
            <a:pPr marL="0" indent="0" algn="l">
              <a:buNone/>
            </a:pPr>
            <a:r>
              <a:rPr lang="en-US" b="0" i="0" dirty="0">
                <a:effectLst/>
                <a:latin typeface="system-ui"/>
              </a:rPr>
              <a:t>The problem of statistics is how to </a:t>
            </a:r>
            <a:r>
              <a:rPr lang="en-US" b="1" i="0" dirty="0">
                <a:effectLst/>
                <a:latin typeface="system-ui"/>
              </a:rPr>
              <a:t>infer p</a:t>
            </a:r>
            <a:r>
              <a:rPr lang="en-US" b="0" i="0" dirty="0">
                <a:effectLst/>
                <a:latin typeface="system-ui"/>
              </a:rPr>
              <a:t>arameters given samples.</a:t>
            </a:r>
          </a:p>
        </p:txBody>
      </p:sp>
      <p:pic>
        <p:nvPicPr>
          <p:cNvPr id="6" name="Content Placeholder 5">
            <a:extLst>
              <a:ext uri="{FF2B5EF4-FFF2-40B4-BE49-F238E27FC236}">
                <a16:creationId xmlns:a16="http://schemas.microsoft.com/office/drawing/2014/main" id="{6CE49445-8F2F-8C5B-553E-976E535931DD}"/>
              </a:ext>
            </a:extLst>
          </p:cNvPr>
          <p:cNvPicPr>
            <a:picLocks noGrp="1" noChangeAspect="1"/>
          </p:cNvPicPr>
          <p:nvPr>
            <p:ph sz="half" idx="2"/>
          </p:nvPr>
        </p:nvPicPr>
        <p:blipFill>
          <a:blip r:embed="rId2"/>
          <a:stretch>
            <a:fillRect/>
          </a:stretch>
        </p:blipFill>
        <p:spPr>
          <a:xfrm>
            <a:off x="6172200" y="1870072"/>
            <a:ext cx="5181600" cy="4044956"/>
          </a:xfrm>
        </p:spPr>
      </p:pic>
      <p:sp>
        <p:nvSpPr>
          <p:cNvPr id="4" name="Title 3">
            <a:extLst>
              <a:ext uri="{FF2B5EF4-FFF2-40B4-BE49-F238E27FC236}">
                <a16:creationId xmlns:a16="http://schemas.microsoft.com/office/drawing/2014/main" id="{4A28AA0A-3FCD-D175-E9E2-AC06A815B299}"/>
              </a:ext>
            </a:extLst>
          </p:cNvPr>
          <p:cNvSpPr>
            <a:spLocks noGrp="1"/>
          </p:cNvSpPr>
          <p:nvPr>
            <p:ph type="title"/>
          </p:nvPr>
        </p:nvSpPr>
        <p:spPr/>
        <p:txBody>
          <a:bodyPr/>
          <a:lstStyle/>
          <a:p>
            <a:endParaRPr lang="en-GB"/>
          </a:p>
        </p:txBody>
      </p:sp>
    </p:spTree>
    <p:extLst>
      <p:ext uri="{BB962C8B-B14F-4D97-AF65-F5344CB8AC3E}">
        <p14:creationId xmlns:p14="http://schemas.microsoft.com/office/powerpoint/2010/main" val="21992009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5">
            <a:extLst>
              <a:ext uri="{FF2B5EF4-FFF2-40B4-BE49-F238E27FC236}">
                <a16:creationId xmlns:a16="http://schemas.microsoft.com/office/drawing/2014/main" id="{0EFF26B9-D5E9-97A6-83B3-1C82EC98064B}"/>
              </a:ext>
            </a:extLst>
          </p:cNvPr>
          <p:cNvPicPr>
            <a:picLocks noChangeAspect="1"/>
          </p:cNvPicPr>
          <p:nvPr/>
        </p:nvPicPr>
        <p:blipFill>
          <a:blip r:embed="rId2"/>
          <a:stretch>
            <a:fillRect/>
          </a:stretch>
        </p:blipFill>
        <p:spPr>
          <a:xfrm>
            <a:off x="838200" y="2830587"/>
            <a:ext cx="5181600" cy="2124455"/>
          </a:xfrm>
          <a:prstGeom prst="rect">
            <a:avLst/>
          </a:prstGeom>
          <a:noFill/>
        </p:spPr>
      </p:pic>
      <p:sp>
        <p:nvSpPr>
          <p:cNvPr id="16" name="Title 3">
            <a:extLst>
              <a:ext uri="{FF2B5EF4-FFF2-40B4-BE49-F238E27FC236}">
                <a16:creationId xmlns:a16="http://schemas.microsoft.com/office/drawing/2014/main" id="{132E3075-A951-B663-CB5C-85950E0BB70C}"/>
              </a:ext>
            </a:extLst>
          </p:cNvPr>
          <p:cNvSpPr>
            <a:spLocks noGrp="1"/>
          </p:cNvSpPr>
          <p:nvPr>
            <p:ph type="title"/>
          </p:nvPr>
        </p:nvSpPr>
        <p:spPr>
          <a:xfrm>
            <a:off x="2549236" y="533614"/>
            <a:ext cx="9210963" cy="888786"/>
          </a:xfrm>
        </p:spPr>
        <p:txBody>
          <a:bodyPr/>
          <a:lstStyle/>
          <a:p>
            <a:endParaRPr lang="en-US"/>
          </a:p>
        </p:txBody>
      </p:sp>
      <p:sp>
        <p:nvSpPr>
          <p:cNvPr id="12" name="Content Placeholder 11">
            <a:extLst>
              <a:ext uri="{FF2B5EF4-FFF2-40B4-BE49-F238E27FC236}">
                <a16:creationId xmlns:a16="http://schemas.microsoft.com/office/drawing/2014/main" id="{172A10FE-216B-8F2D-04D6-27B18577DCF7}"/>
              </a:ext>
            </a:extLst>
          </p:cNvPr>
          <p:cNvSpPr>
            <a:spLocks noGrp="1"/>
          </p:cNvSpPr>
          <p:nvPr>
            <p:ph sz="half" idx="2"/>
          </p:nvPr>
        </p:nvSpPr>
        <p:spPr/>
        <p:txBody>
          <a:bodyPr>
            <a:normAutofit/>
          </a:bodyPr>
          <a:lstStyle/>
          <a:p>
            <a:pPr marL="0" indent="0">
              <a:buNone/>
            </a:pPr>
            <a:r>
              <a:rPr lang="en-US" sz="2400" b="0" i="0" dirty="0">
                <a:effectLst/>
              </a:rPr>
              <a:t>Our model of the world is that there is some unknown entity which </a:t>
            </a:r>
            <a:r>
              <a:rPr lang="en-US" sz="2400" b="1" i="0" dirty="0">
                <a:effectLst/>
              </a:rPr>
              <a:t>generates</a:t>
            </a:r>
            <a:r>
              <a:rPr lang="en-US" dirty="0"/>
              <a:t> </a:t>
            </a:r>
            <a:r>
              <a:rPr lang="en-US" sz="2400" b="0" i="0" dirty="0">
                <a:effectLst/>
              </a:rPr>
              <a:t>data that we observe, according to some definite but unknown rules. </a:t>
            </a:r>
          </a:p>
          <a:p>
            <a:pPr marL="0" indent="0">
              <a:buNone/>
            </a:pPr>
            <a:r>
              <a:rPr lang="en-US" sz="2400" b="0" i="0" dirty="0">
                <a:effectLst/>
              </a:rPr>
              <a:t>These rules are codified by a </a:t>
            </a:r>
            <a:r>
              <a:rPr lang="en-US" sz="2400" b="1" i="0" dirty="0">
                <a:effectLst/>
              </a:rPr>
              <a:t>distribution</a:t>
            </a:r>
            <a:r>
              <a:rPr lang="en-US" sz="2400" b="0" i="0" dirty="0">
                <a:effectLst/>
              </a:rPr>
              <a:t> (a "type" of rule) and </a:t>
            </a:r>
            <a:r>
              <a:rPr lang="en-US" sz="2400" b="1" i="0" dirty="0">
                <a:effectLst/>
              </a:rPr>
              <a:t>parameters</a:t>
            </a:r>
            <a:r>
              <a:rPr lang="en-US" sz="2400" b="0" i="0" dirty="0">
                <a:effectLst/>
              </a:rPr>
              <a:t> (the specifics of rules applied). We assume the model has some </a:t>
            </a:r>
            <a:r>
              <a:rPr lang="en-US" sz="2400" b="0" i="1" dirty="0">
                <a:effectLst/>
              </a:rPr>
              <a:t>randomness</a:t>
            </a:r>
            <a:r>
              <a:rPr lang="en-US" dirty="0"/>
              <a:t> </a:t>
            </a:r>
            <a:r>
              <a:rPr lang="en-US" sz="2400" b="0" i="0" dirty="0">
                <a:effectLst/>
              </a:rPr>
              <a:t>or </a:t>
            </a:r>
            <a:r>
              <a:rPr lang="en-US" sz="2400" b="0" i="1" dirty="0">
                <a:effectLst/>
              </a:rPr>
              <a:t>stochastic</a:t>
            </a:r>
            <a:r>
              <a:rPr lang="en-US" sz="2400" b="0" i="0" dirty="0">
                <a:effectLst/>
              </a:rPr>
              <a:t> elements, either because it truly does, or because this makes it simpler to represent the model.</a:t>
            </a:r>
          </a:p>
          <a:p>
            <a:endParaRPr lang="en-GB" dirty="0"/>
          </a:p>
        </p:txBody>
      </p:sp>
    </p:spTree>
    <p:extLst>
      <p:ext uri="{BB962C8B-B14F-4D97-AF65-F5344CB8AC3E}">
        <p14:creationId xmlns:p14="http://schemas.microsoft.com/office/powerpoint/2010/main" val="18873504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5A377-F048-DD9D-45A1-295E713B35DD}"/>
            </a:ext>
          </a:extLst>
        </p:cNvPr>
        <p:cNvGrpSpPr/>
        <p:nvPr/>
      </p:nvGrpSpPr>
      <p:grpSpPr>
        <a:xfrm>
          <a:off x="0" y="0"/>
          <a:ext cx="0" cy="0"/>
          <a:chOff x="0" y="0"/>
          <a:chExt cx="0" cy="0"/>
        </a:xfrm>
      </p:grpSpPr>
      <p:pic>
        <p:nvPicPr>
          <p:cNvPr id="7" name="Content Placeholder 5">
            <a:extLst>
              <a:ext uri="{FF2B5EF4-FFF2-40B4-BE49-F238E27FC236}">
                <a16:creationId xmlns:a16="http://schemas.microsoft.com/office/drawing/2014/main" id="{1754C38C-10EB-1474-BAC7-CF5AAD8121F4}"/>
              </a:ext>
            </a:extLst>
          </p:cNvPr>
          <p:cNvPicPr>
            <a:picLocks noChangeAspect="1"/>
          </p:cNvPicPr>
          <p:nvPr/>
        </p:nvPicPr>
        <p:blipFill>
          <a:blip r:embed="rId2"/>
          <a:stretch>
            <a:fillRect/>
          </a:stretch>
        </p:blipFill>
        <p:spPr>
          <a:xfrm>
            <a:off x="838200" y="2830587"/>
            <a:ext cx="5181600" cy="2124455"/>
          </a:xfrm>
          <a:prstGeom prst="rect">
            <a:avLst/>
          </a:prstGeom>
          <a:noFill/>
        </p:spPr>
      </p:pic>
      <p:sp>
        <p:nvSpPr>
          <p:cNvPr id="16" name="Title 3">
            <a:extLst>
              <a:ext uri="{FF2B5EF4-FFF2-40B4-BE49-F238E27FC236}">
                <a16:creationId xmlns:a16="http://schemas.microsoft.com/office/drawing/2014/main" id="{E2200EE0-0D98-A698-891F-C9EE9762E1F8}"/>
              </a:ext>
            </a:extLst>
          </p:cNvPr>
          <p:cNvSpPr>
            <a:spLocks noGrp="1"/>
          </p:cNvSpPr>
          <p:nvPr>
            <p:ph type="title"/>
          </p:nvPr>
        </p:nvSpPr>
        <p:spPr>
          <a:xfrm>
            <a:off x="2549236" y="533614"/>
            <a:ext cx="9210963" cy="888786"/>
          </a:xfrm>
        </p:spPr>
        <p:txBody>
          <a:bodyPr/>
          <a:lstStyle/>
          <a:p>
            <a:endParaRPr lang="en-US"/>
          </a:p>
        </p:txBody>
      </p:sp>
      <p:sp>
        <p:nvSpPr>
          <p:cNvPr id="4" name="Content Placeholder 3">
            <a:extLst>
              <a:ext uri="{FF2B5EF4-FFF2-40B4-BE49-F238E27FC236}">
                <a16:creationId xmlns:a16="http://schemas.microsoft.com/office/drawing/2014/main" id="{92395A90-A8EC-C632-2CFE-1433806EE99B}"/>
              </a:ext>
            </a:extLst>
          </p:cNvPr>
          <p:cNvSpPr>
            <a:spLocks noGrp="1"/>
          </p:cNvSpPr>
          <p:nvPr>
            <p:ph sz="half" idx="2"/>
          </p:nvPr>
        </p:nvSpPr>
        <p:spPr/>
        <p:txBody>
          <a:bodyPr>
            <a:normAutofit fontScale="92500" lnSpcReduction="10000"/>
          </a:bodyPr>
          <a:lstStyle/>
          <a:p>
            <a:pPr marL="0" indent="0">
              <a:buNone/>
            </a:pPr>
            <a:r>
              <a:rPr lang="en-US" sz="2400" b="1" i="0" dirty="0">
                <a:effectLst/>
              </a:rPr>
              <a:t>Inference</a:t>
            </a:r>
            <a:r>
              <a:rPr lang="en-US" sz="2400" b="0" i="0" dirty="0">
                <a:effectLst/>
              </a:rPr>
              <a:t> is the process of determining these rules (i.e. the parameters) by looking at the aftermath of the actions of the mysterious entity. </a:t>
            </a:r>
          </a:p>
          <a:p>
            <a:pPr marL="0" indent="0">
              <a:buNone/>
            </a:pPr>
            <a:r>
              <a:rPr lang="en-US" sz="2400" b="0" i="0" dirty="0">
                <a:effectLst/>
              </a:rPr>
              <a:t>These are the </a:t>
            </a:r>
            <a:r>
              <a:rPr lang="en-US" sz="2400" b="1" i="0" dirty="0">
                <a:effectLst/>
              </a:rPr>
              <a:t>samples </a:t>
            </a:r>
            <a:r>
              <a:rPr lang="en-US" sz="2400" b="0" i="0" dirty="0">
                <a:effectLst/>
              </a:rPr>
              <a:t>or </a:t>
            </a:r>
            <a:r>
              <a:rPr lang="en-US" sz="2400" b="1" i="0" dirty="0">
                <a:effectLst/>
              </a:rPr>
              <a:t>observations</a:t>
            </a:r>
            <a:r>
              <a:rPr lang="en-US" dirty="0"/>
              <a:t> </a:t>
            </a:r>
            <a:r>
              <a:rPr lang="en-US" sz="2400" b="0" i="0" dirty="0">
                <a:effectLst/>
              </a:rPr>
              <a:t>that we have. From these we can work out what must have been going on in the mysterious entities world. Or at least approximate it as well as we can. </a:t>
            </a:r>
          </a:p>
          <a:p>
            <a:pPr marL="0" indent="0">
              <a:buNone/>
            </a:pPr>
            <a:r>
              <a:rPr lang="en-US" sz="2400" b="0" i="0" dirty="0">
                <a:effectLst/>
              </a:rPr>
              <a:t>We usually assume that we know or have chosen a specific </a:t>
            </a:r>
            <a:r>
              <a:rPr lang="en-US" sz="2400" b="1" i="0" dirty="0">
                <a:effectLst/>
              </a:rPr>
              <a:t>distribution</a:t>
            </a:r>
            <a:r>
              <a:rPr lang="en-US" dirty="0"/>
              <a:t> </a:t>
            </a:r>
            <a:r>
              <a:rPr lang="en-US" sz="2400" b="0" i="0" dirty="0">
                <a:effectLst/>
              </a:rPr>
              <a:t>which we expect to be governing the process, and focus on identifying the parameters involved.</a:t>
            </a:r>
          </a:p>
          <a:p>
            <a:endParaRPr lang="en-GB" sz="2400" dirty="0"/>
          </a:p>
          <a:p>
            <a:endParaRPr lang="en-GB" dirty="0"/>
          </a:p>
        </p:txBody>
      </p:sp>
    </p:spTree>
    <p:extLst>
      <p:ext uri="{BB962C8B-B14F-4D97-AF65-F5344CB8AC3E}">
        <p14:creationId xmlns:p14="http://schemas.microsoft.com/office/powerpoint/2010/main" val="19130657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screenshot of a computer&#10;&#10;Description automatically generated">
            <a:extLst>
              <a:ext uri="{FF2B5EF4-FFF2-40B4-BE49-F238E27FC236}">
                <a16:creationId xmlns:a16="http://schemas.microsoft.com/office/drawing/2014/main" id="{BFE18101-1757-5AE8-98A0-755381A1BD28}"/>
              </a:ext>
            </a:extLst>
          </p:cNvPr>
          <p:cNvPicPr>
            <a:picLocks noChangeAspect="1"/>
          </p:cNvPicPr>
          <p:nvPr/>
        </p:nvPicPr>
        <p:blipFill>
          <a:blip r:embed="rId3"/>
          <a:stretch>
            <a:fillRect/>
          </a:stretch>
        </p:blipFill>
        <p:spPr>
          <a:xfrm>
            <a:off x="1630233" y="1608667"/>
            <a:ext cx="3597533" cy="4568296"/>
          </a:xfrm>
          <a:prstGeom prst="rect">
            <a:avLst/>
          </a:prstGeom>
          <a:noFill/>
        </p:spPr>
      </p:pic>
      <p:sp>
        <p:nvSpPr>
          <p:cNvPr id="15" name="Content Placeholder 2">
            <a:extLst>
              <a:ext uri="{FF2B5EF4-FFF2-40B4-BE49-F238E27FC236}">
                <a16:creationId xmlns:a16="http://schemas.microsoft.com/office/drawing/2014/main" id="{7246FCFF-7ADD-B179-6565-D1B56C2A93CE}"/>
              </a:ext>
            </a:extLst>
          </p:cNvPr>
          <p:cNvSpPr>
            <a:spLocks noGrp="1"/>
          </p:cNvSpPr>
          <p:nvPr>
            <p:ph sz="half" idx="2"/>
          </p:nvPr>
        </p:nvSpPr>
        <p:spPr>
          <a:xfrm>
            <a:off x="6172200" y="1608667"/>
            <a:ext cx="5181600" cy="4568296"/>
          </a:xfrm>
        </p:spPr>
        <p:txBody>
          <a:bodyPr>
            <a:normAutofit fontScale="85000" lnSpcReduction="20000"/>
          </a:bodyPr>
          <a:lstStyle/>
          <a:p>
            <a:pPr marL="0" indent="0" algn="l">
              <a:buNone/>
            </a:pPr>
            <a:r>
              <a:rPr lang="en-US" b="0" i="0" dirty="0">
                <a:effectLst/>
                <a:latin typeface="system-ui"/>
              </a:rPr>
              <a:t>We will see three different approaches to doing inference:</a:t>
            </a:r>
          </a:p>
          <a:p>
            <a:pPr algn="l">
              <a:buFont typeface="Arial" panose="020B0604020202020204" pitchFamily="34" charset="0"/>
              <a:buChar char="•"/>
            </a:pPr>
            <a:r>
              <a:rPr lang="en-US" b="1" i="0" dirty="0">
                <a:effectLst/>
                <a:latin typeface="system-ui"/>
              </a:rPr>
              <a:t>Direct estimation</a:t>
            </a:r>
            <a:r>
              <a:rPr lang="en-US" b="0" i="0" dirty="0">
                <a:effectLst/>
                <a:latin typeface="system-ui"/>
              </a:rPr>
              <a:t> of parameters, where we define </a:t>
            </a:r>
            <a:r>
              <a:rPr lang="en-US" b="0" i="1" dirty="0">
                <a:effectLst/>
                <a:latin typeface="system-ui"/>
              </a:rPr>
              <a:t>functions of observations</a:t>
            </a:r>
            <a:r>
              <a:rPr lang="en-US" b="0" i="0" dirty="0">
                <a:effectLst/>
                <a:latin typeface="system-ui"/>
              </a:rPr>
              <a:t> that will estimate the values of parameters of distributions </a:t>
            </a:r>
            <a:r>
              <a:rPr lang="en-US" b="0" i="1" dirty="0">
                <a:effectLst/>
                <a:latin typeface="system-ui"/>
              </a:rPr>
              <a:t>directly</a:t>
            </a:r>
            <a:r>
              <a:rPr lang="en-US" b="0" i="0" dirty="0">
                <a:effectLst/>
                <a:latin typeface="system-ui"/>
              </a:rPr>
              <a:t>. </a:t>
            </a:r>
          </a:p>
          <a:p>
            <a:pPr algn="l">
              <a:buFont typeface="Arial" panose="020B0604020202020204" pitchFamily="34" charset="0"/>
              <a:buChar char="•"/>
            </a:pPr>
            <a:r>
              <a:rPr lang="en-US" b="1" i="0" dirty="0">
                <a:effectLst/>
                <a:latin typeface="system-ui"/>
              </a:rPr>
              <a:t>Maximum likelihood estimation</a:t>
            </a:r>
            <a:r>
              <a:rPr lang="en-US" b="0" i="0" dirty="0">
                <a:effectLst/>
                <a:latin typeface="system-ui"/>
              </a:rPr>
              <a:t> of parameters, where we use </a:t>
            </a:r>
            <a:r>
              <a:rPr lang="en-US" b="1" i="0" dirty="0" err="1">
                <a:effectLst/>
                <a:latin typeface="system-ui"/>
              </a:rPr>
              <a:t>optimisation</a:t>
            </a:r>
            <a:r>
              <a:rPr lang="en-US" b="0" i="0" dirty="0">
                <a:effectLst/>
                <a:latin typeface="system-ui"/>
              </a:rPr>
              <a:t> to find parameter settings that make the </a:t>
            </a:r>
            <a:r>
              <a:rPr lang="en-US" b="0" i="0" dirty="0" err="1">
                <a:effectLst/>
                <a:latin typeface="system-ui"/>
              </a:rPr>
              <a:t>the</a:t>
            </a:r>
            <a:r>
              <a:rPr lang="en-US" b="0" i="0" dirty="0">
                <a:effectLst/>
                <a:latin typeface="system-ui"/>
              </a:rPr>
              <a:t> observations appear as likely as possible. </a:t>
            </a:r>
          </a:p>
          <a:p>
            <a:pPr algn="l">
              <a:buFont typeface="Arial" panose="020B0604020202020204" pitchFamily="34" charset="0"/>
              <a:buChar char="•"/>
            </a:pPr>
            <a:r>
              <a:rPr lang="en-US" b="1" i="0" dirty="0">
                <a:effectLst/>
                <a:latin typeface="system-ui"/>
              </a:rPr>
              <a:t>Bayesian, probabilistic</a:t>
            </a:r>
            <a:r>
              <a:rPr lang="en-US" b="0" i="0" dirty="0">
                <a:effectLst/>
                <a:latin typeface="system-ui"/>
              </a:rPr>
              <a:t> approaches explicitly encode belief about the </a:t>
            </a:r>
            <a:r>
              <a:rPr lang="en-US" b="0" i="0" dirty="0" err="1">
                <a:effectLst/>
                <a:latin typeface="system-ui"/>
              </a:rPr>
              <a:t>behaviour</a:t>
            </a:r>
            <a:r>
              <a:rPr lang="en-US" b="0" i="0" dirty="0">
                <a:effectLst/>
                <a:latin typeface="system-ui"/>
              </a:rPr>
              <a:t> of the mysterious entity using probability distributions. In Bayesian models, we assume a distribution over the parameters themselves, and consider the </a:t>
            </a:r>
            <a:r>
              <a:rPr lang="en-US" b="0" i="1" dirty="0">
                <a:effectLst/>
                <a:latin typeface="system-ui"/>
              </a:rPr>
              <a:t>parameters to be random variables</a:t>
            </a:r>
            <a:r>
              <a:rPr lang="en-US" b="0" i="0" dirty="0">
                <a:effectLst/>
                <a:latin typeface="system-ui"/>
              </a:rPr>
              <a:t>. </a:t>
            </a:r>
          </a:p>
          <a:p>
            <a:endParaRPr lang="en-US" dirty="0"/>
          </a:p>
        </p:txBody>
      </p:sp>
      <p:sp>
        <p:nvSpPr>
          <p:cNvPr id="17" name="Title 3">
            <a:extLst>
              <a:ext uri="{FF2B5EF4-FFF2-40B4-BE49-F238E27FC236}">
                <a16:creationId xmlns:a16="http://schemas.microsoft.com/office/drawing/2014/main" id="{5995B655-0CCE-00FE-994D-853046B5C27F}"/>
              </a:ext>
            </a:extLst>
          </p:cNvPr>
          <p:cNvSpPr>
            <a:spLocks noGrp="1"/>
          </p:cNvSpPr>
          <p:nvPr>
            <p:ph type="title"/>
          </p:nvPr>
        </p:nvSpPr>
        <p:spPr>
          <a:xfrm>
            <a:off x="2549236" y="533614"/>
            <a:ext cx="9210963" cy="888786"/>
          </a:xfrm>
        </p:spPr>
        <p:txBody>
          <a:bodyPr/>
          <a:lstStyle/>
          <a:p>
            <a:endParaRPr lang="en-US"/>
          </a:p>
        </p:txBody>
      </p:sp>
    </p:spTree>
    <p:extLst>
      <p:ext uri="{BB962C8B-B14F-4D97-AF65-F5344CB8AC3E}">
        <p14:creationId xmlns:p14="http://schemas.microsoft.com/office/powerpoint/2010/main" val="40629297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C84ABE9-FDB9-64AC-E664-39103893E0CB}"/>
              </a:ext>
            </a:extLst>
          </p:cNvPr>
          <p:cNvSpPr>
            <a:spLocks noGrp="1"/>
          </p:cNvSpPr>
          <p:nvPr>
            <p:ph type="title"/>
          </p:nvPr>
        </p:nvSpPr>
        <p:spPr>
          <a:xfrm>
            <a:off x="741680" y="2123676"/>
            <a:ext cx="4027169" cy="1600200"/>
          </a:xfrm>
        </p:spPr>
        <p:txBody>
          <a:bodyPr anchor="t">
            <a:normAutofit/>
          </a:bodyPr>
          <a:lstStyle/>
          <a:p>
            <a:r>
              <a:rPr lang="en-US" b="1" i="0">
                <a:effectLst/>
              </a:rPr>
              <a:t>An inference scenario: The app rating problem</a:t>
            </a:r>
            <a:endParaRPr lang="en-GB" dirty="0"/>
          </a:p>
        </p:txBody>
      </p:sp>
      <p:sp>
        <p:nvSpPr>
          <p:cNvPr id="2" name="Content Placeholder 1">
            <a:extLst>
              <a:ext uri="{FF2B5EF4-FFF2-40B4-BE49-F238E27FC236}">
                <a16:creationId xmlns:a16="http://schemas.microsoft.com/office/drawing/2014/main" id="{1852EA06-0C71-3441-1271-3067A44BAE2E}"/>
              </a:ext>
            </a:extLst>
          </p:cNvPr>
          <p:cNvSpPr>
            <a:spLocks noGrp="1"/>
          </p:cNvSpPr>
          <p:nvPr>
            <p:ph type="body" sz="half" idx="2"/>
          </p:nvPr>
        </p:nvSpPr>
        <p:spPr>
          <a:xfrm>
            <a:off x="741680" y="3934224"/>
            <a:ext cx="10708640" cy="1934763"/>
          </a:xfrm>
        </p:spPr>
        <p:txBody>
          <a:bodyPr>
            <a:normAutofit/>
          </a:bodyPr>
          <a:lstStyle/>
          <a:p>
            <a:pPr marL="0" indent="0">
              <a:buNone/>
            </a:pPr>
            <a:r>
              <a:rPr lang="en-US" sz="2000" b="0" i="0" dirty="0">
                <a:effectLst/>
              </a:rPr>
              <a:t>You've written an app, and it'll make you rich. If you can make a version that people really like, that is. </a:t>
            </a:r>
          </a:p>
          <a:p>
            <a:pPr marL="0" indent="0">
              <a:buNone/>
            </a:pPr>
            <a:r>
              <a:rPr lang="en-US" sz="2000" b="0" i="0" dirty="0">
                <a:effectLst/>
              </a:rPr>
              <a:t>So maybe you've released a few different beta version to try out some options. Each user has rated the app with 1-5 stars. </a:t>
            </a:r>
          </a:p>
          <a:p>
            <a:pPr marL="0" indent="0">
              <a:buNone/>
            </a:pPr>
            <a:r>
              <a:rPr lang="en-US" sz="2000" b="0" i="0" dirty="0">
                <a:solidFill>
                  <a:schemeClr val="accent4"/>
                </a:solidFill>
                <a:effectLst/>
              </a:rPr>
              <a:t>You need to work out which version is better.</a:t>
            </a:r>
          </a:p>
        </p:txBody>
      </p:sp>
      <p:pic>
        <p:nvPicPr>
          <p:cNvPr id="11" name="Content Placeholder 10">
            <a:extLst>
              <a:ext uri="{FF2B5EF4-FFF2-40B4-BE49-F238E27FC236}">
                <a16:creationId xmlns:a16="http://schemas.microsoft.com/office/drawing/2014/main" id="{1E815ED3-63DA-089F-DBA9-C7D0552D0710}"/>
              </a:ext>
            </a:extLst>
          </p:cNvPr>
          <p:cNvPicPr>
            <a:picLocks noGrp="1" noChangeAspect="1"/>
          </p:cNvPicPr>
          <p:nvPr>
            <p:ph idx="1"/>
          </p:nvPr>
        </p:nvPicPr>
        <p:blipFill>
          <a:blip r:embed="rId3"/>
          <a:stretch/>
        </p:blipFill>
        <p:spPr>
          <a:xfrm>
            <a:off x="5278120" y="871521"/>
            <a:ext cx="6172200" cy="2052255"/>
          </a:xfrm>
          <a:noFill/>
        </p:spPr>
      </p:pic>
    </p:spTree>
    <p:extLst>
      <p:ext uri="{BB962C8B-B14F-4D97-AF65-F5344CB8AC3E}">
        <p14:creationId xmlns:p14="http://schemas.microsoft.com/office/powerpoint/2010/main" val="29249351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4D4D3-03C3-014C-3B90-A58965C4C61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2D549D-1D60-E63A-845B-922D157D86D3}"/>
              </a:ext>
            </a:extLst>
          </p:cNvPr>
          <p:cNvSpPr>
            <a:spLocks noGrp="1"/>
          </p:cNvSpPr>
          <p:nvPr>
            <p:ph sz="half" idx="1"/>
          </p:nvPr>
        </p:nvSpPr>
        <p:spPr/>
        <p:txBody>
          <a:bodyPr>
            <a:normAutofit/>
          </a:bodyPr>
          <a:lstStyle/>
          <a:p>
            <a:pPr marL="0" indent="0">
              <a:buNone/>
            </a:pPr>
            <a:r>
              <a:rPr lang="en-US" b="0" i="0" dirty="0">
                <a:effectLst/>
                <a:latin typeface="system-ui"/>
              </a:rPr>
              <a:t>The problem is that you only have a sample of responses. </a:t>
            </a:r>
          </a:p>
          <a:p>
            <a:pPr marL="0" indent="0">
              <a:buNone/>
            </a:pPr>
            <a:r>
              <a:rPr lang="en-US" b="0" i="0" dirty="0">
                <a:effectLst/>
                <a:latin typeface="system-ui"/>
              </a:rPr>
              <a:t>Not every user rated the app, and actually you don't even care about the users who have </a:t>
            </a:r>
            <a:r>
              <a:rPr lang="en-US" b="0" i="1" dirty="0">
                <a:solidFill>
                  <a:schemeClr val="accent5"/>
                </a:solidFill>
                <a:effectLst/>
                <a:latin typeface="system-ui"/>
              </a:rPr>
              <a:t>already</a:t>
            </a:r>
            <a:r>
              <a:rPr lang="en-US" b="0" i="0" dirty="0">
                <a:effectLst/>
                <a:latin typeface="system-ui"/>
              </a:rPr>
              <a:t> bought the app and rated it. </a:t>
            </a:r>
          </a:p>
          <a:p>
            <a:pPr marL="0" indent="0">
              <a:buNone/>
            </a:pPr>
            <a:r>
              <a:rPr lang="en-US" b="0" i="0" dirty="0">
                <a:effectLst/>
                <a:latin typeface="system-ui"/>
              </a:rPr>
              <a:t>You want to know how </a:t>
            </a:r>
            <a:r>
              <a:rPr lang="en-US" b="0" i="1" dirty="0">
                <a:solidFill>
                  <a:schemeClr val="accent5"/>
                </a:solidFill>
                <a:effectLst/>
                <a:latin typeface="system-ui"/>
              </a:rPr>
              <a:t>prospective</a:t>
            </a:r>
            <a:r>
              <a:rPr lang="en-US" dirty="0">
                <a:latin typeface="system-ui"/>
              </a:rPr>
              <a:t> </a:t>
            </a:r>
            <a:r>
              <a:rPr lang="en-US" b="0" i="0" dirty="0">
                <a:effectLst/>
                <a:latin typeface="system-ui"/>
              </a:rPr>
              <a:t>customers will view it, and by definition you cannot have sampled from this population of users.</a:t>
            </a:r>
            <a:endParaRPr lang="en-GB" dirty="0"/>
          </a:p>
        </p:txBody>
      </p:sp>
      <p:pic>
        <p:nvPicPr>
          <p:cNvPr id="6" name="Content Placeholder 5">
            <a:extLst>
              <a:ext uri="{FF2B5EF4-FFF2-40B4-BE49-F238E27FC236}">
                <a16:creationId xmlns:a16="http://schemas.microsoft.com/office/drawing/2014/main" id="{1D5B75ED-C512-F540-79C9-AEC5706DC840}"/>
              </a:ext>
            </a:extLst>
          </p:cNvPr>
          <p:cNvPicPr>
            <a:picLocks noGrp="1" noChangeAspect="1"/>
          </p:cNvPicPr>
          <p:nvPr>
            <p:ph sz="half" idx="2"/>
          </p:nvPr>
        </p:nvPicPr>
        <p:blipFill>
          <a:blip r:embed="rId2"/>
          <a:stretch>
            <a:fillRect/>
          </a:stretch>
        </p:blipFill>
        <p:spPr>
          <a:xfrm>
            <a:off x="6172200" y="2454867"/>
            <a:ext cx="5181600" cy="2875367"/>
          </a:xfrm>
        </p:spPr>
      </p:pic>
      <p:sp>
        <p:nvSpPr>
          <p:cNvPr id="4" name="Title 3">
            <a:extLst>
              <a:ext uri="{FF2B5EF4-FFF2-40B4-BE49-F238E27FC236}">
                <a16:creationId xmlns:a16="http://schemas.microsoft.com/office/drawing/2014/main" id="{AA773475-5648-FF82-BF18-8A5F167EADC3}"/>
              </a:ext>
            </a:extLst>
          </p:cNvPr>
          <p:cNvSpPr>
            <a:spLocks noGrp="1"/>
          </p:cNvSpPr>
          <p:nvPr>
            <p:ph type="title"/>
          </p:nvPr>
        </p:nvSpPr>
        <p:spPr/>
        <p:txBody>
          <a:bodyPr/>
          <a:lstStyle/>
          <a:p>
            <a:r>
              <a:rPr lang="en-US" b="1" i="0" dirty="0">
                <a:effectLst/>
                <a:latin typeface="system-ui"/>
              </a:rPr>
              <a:t>An inference scenario: The app rating problem</a:t>
            </a:r>
            <a:endParaRPr lang="en-GB" dirty="0"/>
          </a:p>
        </p:txBody>
      </p:sp>
    </p:spTree>
    <p:extLst>
      <p:ext uri="{BB962C8B-B14F-4D97-AF65-F5344CB8AC3E}">
        <p14:creationId xmlns:p14="http://schemas.microsoft.com/office/powerpoint/2010/main" val="24204517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0ACE053-C76F-24FD-53F1-AEAF5E4E9461}"/>
              </a:ext>
            </a:extLst>
          </p:cNvPr>
          <p:cNvSpPr>
            <a:spLocks noGrp="1"/>
          </p:cNvSpPr>
          <p:nvPr>
            <p:ph type="title"/>
          </p:nvPr>
        </p:nvSpPr>
        <p:spPr/>
        <p:txBody>
          <a:bodyPr/>
          <a:lstStyle/>
          <a:p>
            <a:r>
              <a:rPr lang="en-US" b="1" i="0" dirty="0">
                <a:effectLst/>
                <a:latin typeface="system-ui"/>
              </a:rPr>
              <a:t>An inference scenario: The app rating problem</a:t>
            </a:r>
            <a:endParaRPr lang="en-GB" dirty="0"/>
          </a:p>
        </p:txBody>
      </p:sp>
      <p:sp>
        <p:nvSpPr>
          <p:cNvPr id="2" name="Content Placeholder 1">
            <a:extLst>
              <a:ext uri="{FF2B5EF4-FFF2-40B4-BE49-F238E27FC236}">
                <a16:creationId xmlns:a16="http://schemas.microsoft.com/office/drawing/2014/main" id="{E1C31F13-F7B8-296C-F824-5567C3AF09B7}"/>
              </a:ext>
            </a:extLst>
          </p:cNvPr>
          <p:cNvSpPr>
            <a:spLocks noGrp="1"/>
          </p:cNvSpPr>
          <p:nvPr>
            <p:ph sz="quarter" idx="13"/>
          </p:nvPr>
        </p:nvSpPr>
        <p:spPr/>
        <p:txBody>
          <a:bodyPr>
            <a:normAutofit/>
          </a:bodyPr>
          <a:lstStyle/>
          <a:p>
            <a:pPr marL="0" indent="0">
              <a:buNone/>
            </a:pPr>
            <a:r>
              <a:rPr lang="en-US" b="0" i="0" dirty="0">
                <a:effectLst/>
                <a:latin typeface="system-ui"/>
              </a:rPr>
              <a:t>Imagine we are trying to infer the distribution of app scores </a:t>
            </a:r>
            <a:r>
              <a:rPr lang="en-US" b="0" i="1" dirty="0">
                <a:solidFill>
                  <a:schemeClr val="accent4"/>
                </a:solidFill>
                <a:effectLst/>
                <a:latin typeface="system-ui"/>
              </a:rPr>
              <a:t>assuming that they were generated by a normal distribution</a:t>
            </a:r>
            <a:r>
              <a:rPr lang="en-US" b="0" i="0" dirty="0">
                <a:effectLst/>
                <a:latin typeface="system-ui"/>
              </a:rPr>
              <a:t>. That is, we imagine there is some function like this:</a:t>
            </a:r>
          </a:p>
          <a:p>
            <a:pPr marL="0" indent="0">
              <a:buNone/>
            </a:pPr>
            <a:endParaRPr lang="en-US" dirty="0">
              <a:latin typeface="system-ui"/>
            </a:endParaRPr>
          </a:p>
          <a:p>
            <a:pPr marL="0" indent="0">
              <a:buNone/>
            </a:pPr>
            <a:endParaRPr lang="en-US" dirty="0">
              <a:latin typeface="system-ui"/>
            </a:endParaRPr>
          </a:p>
          <a:p>
            <a:pPr marL="0" indent="0">
              <a:buNone/>
            </a:pPr>
            <a:r>
              <a:rPr lang="en-US" b="0" i="0" dirty="0">
                <a:effectLst/>
                <a:latin typeface="system-ui"/>
              </a:rPr>
              <a:t>This isn't a very good approximation to the real samples; for example, it can generate negative ratings, or ratings with fractional values. It also assumes that all of the ratings that we see are independent of each other (</a:t>
            </a:r>
            <a:r>
              <a:rPr lang="en-US" b="1" i="0" dirty="0">
                <a:solidFill>
                  <a:schemeClr val="accent5"/>
                </a:solidFill>
                <a:effectLst/>
                <a:latin typeface="system-ui"/>
              </a:rPr>
              <a:t>independence assumption</a:t>
            </a:r>
            <a:r>
              <a:rPr lang="en-US" b="0" i="0" dirty="0">
                <a:effectLst/>
                <a:latin typeface="system-ui"/>
              </a:rPr>
              <a:t>) and that they are all drawn  the </a:t>
            </a:r>
            <a:r>
              <a:rPr lang="en-US" b="0" i="1" dirty="0">
                <a:effectLst/>
                <a:latin typeface="system-ui"/>
              </a:rPr>
              <a:t>same</a:t>
            </a:r>
            <a:r>
              <a:rPr lang="en-US" b="0" i="0" dirty="0">
                <a:effectLst/>
                <a:latin typeface="system-ui"/>
              </a:rPr>
              <a:t> underlying distribution (</a:t>
            </a:r>
            <a:r>
              <a:rPr lang="en-US" b="1" i="0" dirty="0">
                <a:solidFill>
                  <a:schemeClr val="accent5"/>
                </a:solidFill>
                <a:effectLst/>
                <a:latin typeface="system-ui"/>
              </a:rPr>
              <a:t>identical distribution assumption</a:t>
            </a:r>
            <a:r>
              <a:rPr lang="en-US" b="0" i="0" dirty="0">
                <a:effectLst/>
                <a:latin typeface="system-ui"/>
              </a:rPr>
              <a:t>).</a:t>
            </a:r>
            <a:endParaRPr lang="en-US" dirty="0">
              <a:latin typeface="system-ui"/>
            </a:endParaRPr>
          </a:p>
          <a:p>
            <a:pPr marL="0" indent="0">
              <a:buNone/>
            </a:pPr>
            <a:r>
              <a:rPr lang="en-US" b="0" i="0" dirty="0">
                <a:effectLst/>
                <a:latin typeface="system-ui"/>
              </a:rPr>
              <a:t>But it is simple to work with, and the problem we have to solve is: given a collection of return values from this function (samples), what values did mu and sigma have? </a:t>
            </a:r>
          </a:p>
          <a:p>
            <a:pPr marL="0" indent="0" algn="ctr">
              <a:buNone/>
            </a:pPr>
            <a:r>
              <a:rPr lang="en-US" b="1" dirty="0">
                <a:solidFill>
                  <a:schemeClr val="accent4"/>
                </a:solidFill>
                <a:latin typeface="system-ui"/>
              </a:rPr>
              <a:t>This is a problem of inference</a:t>
            </a:r>
            <a:endParaRPr lang="en-GB" b="1" dirty="0">
              <a:solidFill>
                <a:schemeClr val="accent4"/>
              </a:solidFill>
            </a:endParaRPr>
          </a:p>
        </p:txBody>
      </p:sp>
      <p:pic>
        <p:nvPicPr>
          <p:cNvPr id="9" name="Picture 8">
            <a:extLst>
              <a:ext uri="{FF2B5EF4-FFF2-40B4-BE49-F238E27FC236}">
                <a16:creationId xmlns:a16="http://schemas.microsoft.com/office/drawing/2014/main" id="{496AA8C4-F9BD-288A-3AFF-A384D2ABD350}"/>
              </a:ext>
            </a:extLst>
          </p:cNvPr>
          <p:cNvPicPr>
            <a:picLocks noChangeAspect="1"/>
          </p:cNvPicPr>
          <p:nvPr/>
        </p:nvPicPr>
        <p:blipFill>
          <a:blip r:embed="rId2"/>
          <a:stretch>
            <a:fillRect/>
          </a:stretch>
        </p:blipFill>
        <p:spPr>
          <a:xfrm>
            <a:off x="3155667" y="2373330"/>
            <a:ext cx="4193288" cy="782168"/>
          </a:xfrm>
          <a:prstGeom prst="rect">
            <a:avLst/>
          </a:prstGeom>
        </p:spPr>
      </p:pic>
    </p:spTree>
    <p:extLst>
      <p:ext uri="{BB962C8B-B14F-4D97-AF65-F5344CB8AC3E}">
        <p14:creationId xmlns:p14="http://schemas.microsoft.com/office/powerpoint/2010/main" val="2379277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19E1E-85EE-DC45-2075-21801C9EADA3}"/>
              </a:ext>
            </a:extLst>
          </p:cNvPr>
          <p:cNvSpPr>
            <a:spLocks noGrp="1"/>
          </p:cNvSpPr>
          <p:nvPr>
            <p:ph type="title"/>
          </p:nvPr>
        </p:nvSpPr>
        <p:spPr/>
        <p:txBody>
          <a:bodyPr/>
          <a:lstStyle/>
          <a:p>
            <a:r>
              <a:rPr lang="en-GB" dirty="0"/>
              <a:t>A. Direct estimates</a:t>
            </a:r>
          </a:p>
        </p:txBody>
      </p:sp>
      <p:pic>
        <p:nvPicPr>
          <p:cNvPr id="5" name="Content Placeholder 4">
            <a:extLst>
              <a:ext uri="{FF2B5EF4-FFF2-40B4-BE49-F238E27FC236}">
                <a16:creationId xmlns:a16="http://schemas.microsoft.com/office/drawing/2014/main" id="{0584B701-0F84-37E8-2CF5-581298656B1D}"/>
              </a:ext>
            </a:extLst>
          </p:cNvPr>
          <p:cNvPicPr>
            <a:picLocks noGrp="1" noChangeAspect="1"/>
          </p:cNvPicPr>
          <p:nvPr>
            <p:ph sz="quarter" idx="13"/>
          </p:nvPr>
        </p:nvPicPr>
        <p:blipFill>
          <a:blip r:embed="rId2"/>
          <a:stretch>
            <a:fillRect/>
          </a:stretch>
        </p:blipFill>
        <p:spPr>
          <a:xfrm>
            <a:off x="285750" y="1702648"/>
            <a:ext cx="11474450" cy="4456005"/>
          </a:xfrm>
        </p:spPr>
      </p:pic>
    </p:spTree>
    <p:extLst>
      <p:ext uri="{BB962C8B-B14F-4D97-AF65-F5344CB8AC3E}">
        <p14:creationId xmlns:p14="http://schemas.microsoft.com/office/powerpoint/2010/main" val="35022297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B2AF5F4-DA14-E416-8164-9E3967189E84}"/>
              </a:ext>
            </a:extLst>
          </p:cNvPr>
          <p:cNvSpPr>
            <a:spLocks noGrp="1"/>
          </p:cNvSpPr>
          <p:nvPr>
            <p:ph type="title"/>
          </p:nvPr>
        </p:nvSpPr>
        <p:spPr/>
        <p:txBody>
          <a:bodyPr/>
          <a:lstStyle/>
          <a:p>
            <a:r>
              <a:rPr lang="en-GB" dirty="0"/>
              <a:t>Direct estimation</a:t>
            </a:r>
          </a:p>
        </p:txBody>
      </p:sp>
      <p:sp>
        <p:nvSpPr>
          <p:cNvPr id="2" name="Content Placeholder 1">
            <a:extLst>
              <a:ext uri="{FF2B5EF4-FFF2-40B4-BE49-F238E27FC236}">
                <a16:creationId xmlns:a16="http://schemas.microsoft.com/office/drawing/2014/main" id="{33713C13-BC4D-B309-170B-DFE29ADCE7DE}"/>
              </a:ext>
            </a:extLst>
          </p:cNvPr>
          <p:cNvSpPr>
            <a:spLocks noGrp="1"/>
          </p:cNvSpPr>
          <p:nvPr>
            <p:ph sz="quarter" idx="13"/>
          </p:nvPr>
        </p:nvSpPr>
        <p:spPr/>
        <p:txBody>
          <a:bodyPr/>
          <a:lstStyle/>
          <a:p>
            <a:pPr marL="0" indent="0">
              <a:buNone/>
            </a:pPr>
            <a:r>
              <a:rPr lang="en-US" b="0" i="0" dirty="0">
                <a:effectLst/>
                <a:latin typeface="system-ui"/>
              </a:rPr>
              <a:t>One way of doing inference is to, if we assume a particular </a:t>
            </a:r>
            <a:r>
              <a:rPr lang="en-US" b="0" i="1" dirty="0">
                <a:effectLst/>
                <a:latin typeface="system-ui"/>
              </a:rPr>
              <a:t>form</a:t>
            </a:r>
            <a:r>
              <a:rPr lang="en-US" b="0" i="0" dirty="0">
                <a:effectLst/>
                <a:latin typeface="system-ui"/>
              </a:rPr>
              <a:t> of the distribution (e.g. assume it is normal), use </a:t>
            </a:r>
            <a:r>
              <a:rPr lang="en-US" b="1" i="0" dirty="0">
                <a:effectLst/>
                <a:latin typeface="system-ui"/>
              </a:rPr>
              <a:t>estimators</a:t>
            </a:r>
            <a:r>
              <a:rPr lang="en-US" b="0" i="0" dirty="0">
                <a:effectLst/>
                <a:latin typeface="system-ui"/>
              </a:rPr>
              <a:t> of </a:t>
            </a:r>
            <a:r>
              <a:rPr lang="en-US" b="1" i="0" dirty="0">
                <a:effectLst/>
                <a:latin typeface="system-ui"/>
              </a:rPr>
              <a:t>parameters</a:t>
            </a:r>
            <a:r>
              <a:rPr lang="en-US" b="0" i="0" dirty="0">
                <a:effectLst/>
                <a:latin typeface="system-ui"/>
              </a:rPr>
              <a:t> (such as the mean and variance) of this population distribution. </a:t>
            </a:r>
          </a:p>
          <a:p>
            <a:pPr marL="0" indent="0">
              <a:buNone/>
            </a:pPr>
            <a:r>
              <a:rPr lang="en-US" b="0" i="0" dirty="0">
                <a:effectLst/>
                <a:latin typeface="system-ui"/>
              </a:rPr>
              <a:t>These </a:t>
            </a:r>
            <a:r>
              <a:rPr lang="en-US" b="1" i="0" dirty="0">
                <a:effectLst/>
                <a:latin typeface="system-ui"/>
              </a:rPr>
              <a:t>estimators</a:t>
            </a:r>
            <a:r>
              <a:rPr lang="en-US" b="0" i="0" dirty="0">
                <a:effectLst/>
                <a:latin typeface="system-ui"/>
              </a:rPr>
              <a:t> are computed via </a:t>
            </a:r>
            <a:r>
              <a:rPr lang="en-US" b="1" i="0" dirty="0">
                <a:effectLst/>
                <a:latin typeface="system-ui"/>
              </a:rPr>
              <a:t>statistics</a:t>
            </a:r>
            <a:r>
              <a:rPr lang="en-US" b="0" i="0" dirty="0">
                <a:effectLst/>
                <a:latin typeface="system-ui"/>
              </a:rPr>
              <a:t> which are </a:t>
            </a:r>
            <a:r>
              <a:rPr lang="en-US" b="0" i="0" dirty="0" err="1">
                <a:effectLst/>
                <a:latin typeface="system-ui"/>
              </a:rPr>
              <a:t>summarising</a:t>
            </a:r>
            <a:r>
              <a:rPr lang="en-US" b="0" i="0" dirty="0">
                <a:effectLst/>
                <a:latin typeface="system-ui"/>
              </a:rPr>
              <a:t> functions we can apply to data. </a:t>
            </a:r>
          </a:p>
          <a:p>
            <a:pPr marL="0" indent="0">
              <a:buNone/>
            </a:pPr>
            <a:r>
              <a:rPr lang="en-US" b="0" i="1" dirty="0">
                <a:effectLst/>
                <a:latin typeface="system-ui"/>
              </a:rPr>
              <a:t>These estimators need to specially derived for each specific kind of problem.</a:t>
            </a:r>
            <a:endParaRPr lang="en-GB" dirty="0"/>
          </a:p>
        </p:txBody>
      </p:sp>
    </p:spTree>
    <p:extLst>
      <p:ext uri="{BB962C8B-B14F-4D97-AF65-F5344CB8AC3E}">
        <p14:creationId xmlns:p14="http://schemas.microsoft.com/office/powerpoint/2010/main" val="17090297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CAC17A-BEFF-3B5A-12D6-521275259FCC}"/>
              </a:ext>
            </a:extLst>
          </p:cNvPr>
          <p:cNvSpPr>
            <a:spLocks noGrp="1"/>
          </p:cNvSpPr>
          <p:nvPr>
            <p:ph sz="half" idx="1"/>
          </p:nvPr>
        </p:nvSpPr>
        <p:spPr>
          <a:xfrm>
            <a:off x="838200" y="1608667"/>
            <a:ext cx="5181600" cy="4568296"/>
          </a:xfrm>
        </p:spPr>
        <p:txBody>
          <a:bodyPr>
            <a:normAutofit/>
          </a:bodyPr>
          <a:lstStyle/>
          <a:p>
            <a:r>
              <a:rPr lang="en-US" b="0" i="0">
                <a:effectLst/>
              </a:rPr>
              <a:t>For example, the arithmetic mean, and the standard deviation of a set of observed samples are </a:t>
            </a:r>
            <a:r>
              <a:rPr lang="en-US" b="1" i="0">
                <a:effectLst/>
              </a:rPr>
              <a:t>statistics</a:t>
            </a:r>
            <a:r>
              <a:rPr lang="en-US" b="0" i="0">
                <a:effectLst/>
              </a:rPr>
              <a:t> which are </a:t>
            </a:r>
            <a:r>
              <a:rPr lang="en-US" b="1" i="0">
                <a:effectLst/>
              </a:rPr>
              <a:t>estimators</a:t>
            </a:r>
            <a:r>
              <a:rPr lang="en-US" b="0" i="0">
                <a:effectLst/>
              </a:rPr>
              <a:t> of the parameters of μ and σ normal distribution. </a:t>
            </a:r>
          </a:p>
          <a:p>
            <a:r>
              <a:rPr lang="en-US" b="0" i="0">
                <a:effectLst/>
              </a:rPr>
              <a:t>If we have observations (believed to have been) drawn from a normal distribution, we can estimate the parameters μ and σ of that distribution just by computing the mean and standard deviation.</a:t>
            </a:r>
          </a:p>
          <a:p>
            <a:endParaRPr lang="en-GB" dirty="0"/>
          </a:p>
        </p:txBody>
      </p:sp>
      <p:pic>
        <p:nvPicPr>
          <p:cNvPr id="5" name="Picture 4">
            <a:extLst>
              <a:ext uri="{FF2B5EF4-FFF2-40B4-BE49-F238E27FC236}">
                <a16:creationId xmlns:a16="http://schemas.microsoft.com/office/drawing/2014/main" id="{BED181B0-09DA-495C-49B5-97E55FACBF00}"/>
              </a:ext>
            </a:extLst>
          </p:cNvPr>
          <p:cNvPicPr>
            <a:picLocks noChangeAspect="1"/>
          </p:cNvPicPr>
          <p:nvPr/>
        </p:nvPicPr>
        <p:blipFill>
          <a:blip r:embed="rId3"/>
          <a:stretch>
            <a:fillRect/>
          </a:stretch>
        </p:blipFill>
        <p:spPr>
          <a:xfrm>
            <a:off x="6172200" y="2196373"/>
            <a:ext cx="5181600" cy="3392883"/>
          </a:xfrm>
          <a:prstGeom prst="rect">
            <a:avLst/>
          </a:prstGeom>
          <a:noFill/>
        </p:spPr>
      </p:pic>
      <p:sp>
        <p:nvSpPr>
          <p:cNvPr id="12" name="Title 3">
            <a:extLst>
              <a:ext uri="{FF2B5EF4-FFF2-40B4-BE49-F238E27FC236}">
                <a16:creationId xmlns:a16="http://schemas.microsoft.com/office/drawing/2014/main" id="{D4FFBBF7-6AF0-0A4C-2635-68C25DFC57EC}"/>
              </a:ext>
            </a:extLst>
          </p:cNvPr>
          <p:cNvSpPr>
            <a:spLocks noGrp="1"/>
          </p:cNvSpPr>
          <p:nvPr>
            <p:ph type="title"/>
          </p:nvPr>
        </p:nvSpPr>
        <p:spPr>
          <a:xfrm>
            <a:off x="2549236" y="533614"/>
            <a:ext cx="9210963" cy="888786"/>
          </a:xfrm>
        </p:spPr>
        <p:txBody>
          <a:bodyPr/>
          <a:lstStyle/>
          <a:p>
            <a:r>
              <a:rPr lang="en-US" dirty="0"/>
              <a:t>Example: mean and variance</a:t>
            </a:r>
          </a:p>
        </p:txBody>
      </p:sp>
    </p:spTree>
    <p:extLst>
      <p:ext uri="{BB962C8B-B14F-4D97-AF65-F5344CB8AC3E}">
        <p14:creationId xmlns:p14="http://schemas.microsoft.com/office/powerpoint/2010/main" val="111509940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0574AA-2932-88B1-1192-C815A0DE91EF}"/>
              </a:ext>
            </a:extLst>
          </p:cNvPr>
          <p:cNvSpPr>
            <a:spLocks noGrp="1"/>
          </p:cNvSpPr>
          <p:nvPr>
            <p:ph sz="half" idx="1"/>
          </p:nvPr>
        </p:nvSpPr>
        <p:spPr/>
        <p:txBody>
          <a:bodyPr/>
          <a:lstStyle/>
          <a:p>
            <a:pPr marL="0" indent="0">
              <a:buNone/>
            </a:pPr>
            <a:r>
              <a:rPr lang="en-US" b="1" i="0" dirty="0">
                <a:effectLst/>
                <a:latin typeface="system-ui"/>
              </a:rPr>
              <a:t>Mean</a:t>
            </a:r>
          </a:p>
          <a:p>
            <a:pPr marL="0" indent="0">
              <a:buNone/>
            </a:pPr>
            <a:r>
              <a:rPr lang="en-US" b="0" i="0" dirty="0">
                <a:effectLst/>
                <a:latin typeface="system-ui"/>
              </a:rPr>
              <a:t>The </a:t>
            </a:r>
            <a:r>
              <a:rPr lang="en-US" b="1" i="0" dirty="0">
                <a:effectLst/>
                <a:latin typeface="system-ui"/>
              </a:rPr>
              <a:t>arithmetic mean</a:t>
            </a:r>
            <a:r>
              <a:rPr lang="en-US" b="0" i="0" dirty="0">
                <a:effectLst/>
                <a:latin typeface="system-ui"/>
              </a:rPr>
              <a:t> is sum of sample values </a:t>
            </a:r>
            <a:r>
              <a:rPr lang="en-US" dirty="0"/>
              <a:t>x</a:t>
            </a:r>
            <a:r>
              <a:rPr lang="en-US" baseline="-25000" dirty="0"/>
              <a:t>1</a:t>
            </a:r>
            <a:r>
              <a:rPr lang="en-US" dirty="0"/>
              <a:t>,x</a:t>
            </a:r>
            <a:r>
              <a:rPr lang="en-US" baseline="-25000" dirty="0"/>
              <a:t>2</a:t>
            </a:r>
            <a:r>
              <a:rPr lang="en-US" dirty="0"/>
              <a:t>,…,</a:t>
            </a:r>
            <a:r>
              <a:rPr lang="en-US" dirty="0" err="1"/>
              <a:t>x</a:t>
            </a:r>
            <a:r>
              <a:rPr lang="en-US" baseline="-25000" dirty="0" err="1"/>
              <a:t>n</a:t>
            </a:r>
            <a:r>
              <a:rPr lang="en-US" b="0" i="0" dirty="0">
                <a:effectLst/>
                <a:latin typeface="system-ui"/>
              </a:rPr>
              <a:t> divided by the number of values:</a:t>
            </a:r>
          </a:p>
          <a:p>
            <a:pPr marL="0" indent="0">
              <a:buNone/>
            </a:pPr>
            <a:endParaRPr lang="en-US" dirty="0">
              <a:latin typeface="system-ui"/>
            </a:endParaRPr>
          </a:p>
          <a:p>
            <a:pPr marL="0" indent="0">
              <a:buNone/>
            </a:pPr>
            <a:endParaRPr lang="en-US" dirty="0">
              <a:latin typeface="system-ui"/>
            </a:endParaRPr>
          </a:p>
          <a:p>
            <a:pPr marL="0" indent="0">
              <a:buNone/>
            </a:pPr>
            <a:endParaRPr lang="en-GB" dirty="0"/>
          </a:p>
        </p:txBody>
      </p:sp>
      <p:sp>
        <p:nvSpPr>
          <p:cNvPr id="4" name="Title 3">
            <a:extLst>
              <a:ext uri="{FF2B5EF4-FFF2-40B4-BE49-F238E27FC236}">
                <a16:creationId xmlns:a16="http://schemas.microsoft.com/office/drawing/2014/main" id="{A4D53598-84BD-48B7-B8F7-F6314AEB518B}"/>
              </a:ext>
            </a:extLst>
          </p:cNvPr>
          <p:cNvSpPr>
            <a:spLocks noGrp="1"/>
          </p:cNvSpPr>
          <p:nvPr>
            <p:ph type="title"/>
          </p:nvPr>
        </p:nvSpPr>
        <p:spPr/>
        <p:txBody>
          <a:bodyPr/>
          <a:lstStyle/>
          <a:p>
            <a:r>
              <a:rPr lang="en-GB" dirty="0"/>
              <a:t>Standard estimators</a:t>
            </a:r>
          </a:p>
        </p:txBody>
      </p:sp>
      <p:pic>
        <p:nvPicPr>
          <p:cNvPr id="6" name="Picture 5">
            <a:extLst>
              <a:ext uri="{FF2B5EF4-FFF2-40B4-BE49-F238E27FC236}">
                <a16:creationId xmlns:a16="http://schemas.microsoft.com/office/drawing/2014/main" id="{A1D93E1E-C884-5244-62D9-1706006B3449}"/>
              </a:ext>
            </a:extLst>
          </p:cNvPr>
          <p:cNvPicPr>
            <a:picLocks noChangeAspect="1"/>
          </p:cNvPicPr>
          <p:nvPr/>
        </p:nvPicPr>
        <p:blipFill>
          <a:blip r:embed="rId2"/>
          <a:stretch>
            <a:fillRect/>
          </a:stretch>
        </p:blipFill>
        <p:spPr>
          <a:xfrm>
            <a:off x="2413318" y="3071762"/>
            <a:ext cx="1324160" cy="714475"/>
          </a:xfrm>
          <a:prstGeom prst="rect">
            <a:avLst/>
          </a:prstGeom>
        </p:spPr>
      </p:pic>
      <p:pic>
        <p:nvPicPr>
          <p:cNvPr id="7" name="Content Placeholder 6">
            <a:extLst>
              <a:ext uri="{FF2B5EF4-FFF2-40B4-BE49-F238E27FC236}">
                <a16:creationId xmlns:a16="http://schemas.microsoft.com/office/drawing/2014/main" id="{D7A5882E-B276-718F-FC18-D09642F99B34}"/>
              </a:ext>
            </a:extLst>
          </p:cNvPr>
          <p:cNvPicPr>
            <a:picLocks noGrp="1" noChangeAspect="1"/>
          </p:cNvPicPr>
          <p:nvPr>
            <p:ph sz="half" idx="2"/>
          </p:nvPr>
        </p:nvPicPr>
        <p:blipFill>
          <a:blip r:embed="rId3"/>
          <a:stretch>
            <a:fillRect/>
          </a:stretch>
        </p:blipFill>
        <p:spPr>
          <a:xfrm>
            <a:off x="7024445" y="2754154"/>
            <a:ext cx="3477110" cy="2276793"/>
          </a:xfrm>
          <a:prstGeom prst="rect">
            <a:avLst/>
          </a:prstGeom>
          <a:noFill/>
        </p:spPr>
      </p:pic>
    </p:spTree>
    <p:extLst>
      <p:ext uri="{BB962C8B-B14F-4D97-AF65-F5344CB8AC3E}">
        <p14:creationId xmlns:p14="http://schemas.microsoft.com/office/powerpoint/2010/main" val="247383472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D3A6A870-FA82-B517-DD67-21C08FC9EDE1}"/>
              </a:ext>
            </a:extLst>
          </p:cNvPr>
          <p:cNvSpPr>
            <a:spLocks noGrp="1"/>
          </p:cNvSpPr>
          <p:nvPr>
            <p:ph type="title"/>
          </p:nvPr>
        </p:nvSpPr>
        <p:spPr/>
        <p:txBody>
          <a:bodyPr/>
          <a:lstStyle/>
          <a:p>
            <a:r>
              <a:rPr lang="en-GB" dirty="0"/>
              <a:t>Sample mean</a:t>
            </a:r>
          </a:p>
        </p:txBody>
      </p:sp>
      <p:sp>
        <p:nvSpPr>
          <p:cNvPr id="2" name="Content Placeholder 1">
            <a:extLst>
              <a:ext uri="{FF2B5EF4-FFF2-40B4-BE49-F238E27FC236}">
                <a16:creationId xmlns:a16="http://schemas.microsoft.com/office/drawing/2014/main" id="{11B96F2D-A8B8-D82D-625A-D25597AE54CC}"/>
              </a:ext>
            </a:extLst>
          </p:cNvPr>
          <p:cNvSpPr>
            <a:spLocks noGrp="1"/>
          </p:cNvSpPr>
          <p:nvPr>
            <p:ph sz="quarter" idx="13"/>
          </p:nvPr>
        </p:nvSpPr>
        <p:spPr/>
        <p:txBody>
          <a:bodyPr>
            <a:normAutofit fontScale="92500"/>
          </a:bodyPr>
          <a:lstStyle/>
          <a:p>
            <a:pPr marL="0" indent="0">
              <a:buNone/>
            </a:pPr>
            <a:r>
              <a:rPr lang="en-US" b="0" i="0" dirty="0">
                <a:effectLst/>
                <a:latin typeface="system-ui"/>
              </a:rPr>
              <a:t>The population mean is </a:t>
            </a:r>
            <a:r>
              <a:rPr lang="en-US" dirty="0"/>
              <a:t>μ=E[X]</a:t>
            </a:r>
            <a:r>
              <a:rPr lang="en-US" b="0" i="0" dirty="0">
                <a:effectLst/>
                <a:latin typeface="system-ui"/>
              </a:rPr>
              <a:t> for a random variable </a:t>
            </a:r>
            <a:r>
              <a:rPr lang="en-US" dirty="0"/>
              <a:t>X</a:t>
            </a:r>
            <a:r>
              <a:rPr lang="en-US" b="0" i="0" dirty="0">
                <a:effectLst/>
                <a:latin typeface="system-ui"/>
              </a:rPr>
              <a:t>. It turns out the </a:t>
            </a:r>
            <a:r>
              <a:rPr lang="en-US" b="0" i="1" dirty="0">
                <a:effectLst/>
                <a:latin typeface="system-ui"/>
              </a:rPr>
              <a:t>arithmetic mean of the observed samples</a:t>
            </a:r>
            <a:r>
              <a:rPr lang="en-US" b="0" i="0" dirty="0">
                <a:effectLst/>
                <a:latin typeface="system-ui"/>
              </a:rPr>
              <a:t> or </a:t>
            </a:r>
            <a:r>
              <a:rPr lang="en-US" b="1" i="0" dirty="0">
                <a:effectLst/>
                <a:latin typeface="system-ui"/>
              </a:rPr>
              <a:t>sample mean</a:t>
            </a:r>
            <a:r>
              <a:rPr lang="en-US" b="0" i="0" dirty="0">
                <a:effectLst/>
                <a:latin typeface="system-ui"/>
              </a:rPr>
              <a:t>, which we write with a </a:t>
            </a:r>
            <a:r>
              <a:rPr lang="en-US" b="0" i="1" dirty="0">
                <a:effectLst/>
                <a:latin typeface="system-ui"/>
              </a:rPr>
              <a:t>little hat</a:t>
            </a:r>
            <a:r>
              <a:rPr lang="en-US" b="0" i="0" dirty="0">
                <a:effectLst/>
                <a:latin typeface="system-ui"/>
              </a:rPr>
              <a:t> </a:t>
            </a:r>
            <a:r>
              <a:rPr lang="en-US" dirty="0"/>
              <a:t>μ^</a:t>
            </a:r>
            <a:r>
              <a:rPr lang="en-US" b="0" i="0" dirty="0">
                <a:effectLst/>
                <a:latin typeface="system-ui"/>
              </a:rPr>
              <a:t> is a good (footnote: good is what statisticians would call "unbiased") estimator of the true population mean </a:t>
            </a:r>
            <a:r>
              <a:rPr lang="en-US" dirty="0"/>
              <a:t>μ</a:t>
            </a:r>
            <a:r>
              <a:rPr lang="en-US" b="0" i="0" dirty="0">
                <a:effectLst/>
                <a:latin typeface="system-ui"/>
              </a:rPr>
              <a:t>. As the number of samples increases, our estimate </a:t>
            </a:r>
            <a:r>
              <a:rPr lang="en-US" dirty="0"/>
              <a:t>μ^</a:t>
            </a:r>
            <a:r>
              <a:rPr lang="en-US" b="0" i="0" dirty="0">
                <a:effectLst/>
                <a:latin typeface="system-ui"/>
              </a:rPr>
              <a:t> of the population mean </a:t>
            </a:r>
            <a:r>
              <a:rPr lang="en-US" dirty="0"/>
              <a:t>μ</a:t>
            </a:r>
            <a:r>
              <a:rPr lang="en-US" b="0" i="0" dirty="0">
                <a:effectLst/>
                <a:latin typeface="system-ui"/>
              </a:rPr>
              <a:t> gets better and better.</a:t>
            </a:r>
          </a:p>
          <a:p>
            <a:pPr marL="0" indent="0">
              <a:buNone/>
            </a:pPr>
            <a:r>
              <a:rPr lang="en-US" dirty="0">
                <a:latin typeface="system-ui"/>
              </a:rPr>
              <a:t>It’s important to separate the idea of </a:t>
            </a:r>
          </a:p>
          <a:p>
            <a:pPr algn="l">
              <a:buFont typeface="Arial" panose="020B0604020202020204" pitchFamily="34" charset="0"/>
              <a:buChar char="•"/>
            </a:pPr>
            <a:r>
              <a:rPr lang="en-US" b="0" i="0" dirty="0">
                <a:effectLst/>
                <a:latin typeface="system-ui"/>
              </a:rPr>
              <a:t>the population mean μ, which (usually!) exists but is not knowable directly. It is the expectation of the random variable E[X].</a:t>
            </a:r>
            <a:endParaRPr lang="en-GB" b="0" i="0" dirty="0">
              <a:effectLst/>
              <a:latin typeface="system-ui"/>
            </a:endParaRPr>
          </a:p>
          <a:p>
            <a:pPr algn="l">
              <a:buFont typeface="Arial" panose="020B0604020202020204" pitchFamily="34" charset="0"/>
              <a:buChar char="•"/>
            </a:pPr>
            <a:r>
              <a:rPr lang="en-US" b="0" i="0" dirty="0">
                <a:effectLst/>
                <a:latin typeface="system-ui"/>
              </a:rPr>
              <a:t>the sample mean </a:t>
            </a:r>
            <a:r>
              <a:rPr lang="en-US" dirty="0"/>
              <a:t>μ^</a:t>
            </a:r>
            <a:r>
              <a:rPr lang="en-US" b="0" i="0" dirty="0">
                <a:effectLst/>
                <a:latin typeface="system-ui"/>
              </a:rPr>
              <a:t> which is just the arithmetic average of samples we have seen</a:t>
            </a:r>
          </a:p>
          <a:p>
            <a:pPr marL="0" indent="0" algn="l">
              <a:buNone/>
            </a:pPr>
            <a:r>
              <a:rPr lang="en-US" b="0" i="0" dirty="0">
                <a:effectLst/>
                <a:latin typeface="system-ui"/>
              </a:rPr>
              <a:t>The sample mean is a </a:t>
            </a:r>
            <a:r>
              <a:rPr lang="en-US" b="1" i="0" dirty="0">
                <a:effectLst/>
                <a:latin typeface="system-ui"/>
              </a:rPr>
              <a:t>statistic</a:t>
            </a:r>
            <a:r>
              <a:rPr lang="en-US" b="0" i="0" dirty="0">
                <a:effectLst/>
                <a:latin typeface="system-ui"/>
              </a:rPr>
              <a:t> (a function of observations) which is an </a:t>
            </a:r>
            <a:r>
              <a:rPr lang="en-US" b="1" i="0" dirty="0">
                <a:effectLst/>
                <a:latin typeface="system-ui"/>
              </a:rPr>
              <a:t>estimator</a:t>
            </a:r>
            <a:r>
              <a:rPr lang="en-US" b="0" i="0" dirty="0">
                <a:effectLst/>
                <a:latin typeface="system-ui"/>
              </a:rPr>
              <a:t> of the population mean (which could be a </a:t>
            </a:r>
            <a:r>
              <a:rPr lang="en-US" b="1" i="0" dirty="0">
                <a:effectLst/>
                <a:latin typeface="system-ui"/>
              </a:rPr>
              <a:t>parameter</a:t>
            </a:r>
            <a:r>
              <a:rPr lang="en-US" b="0" i="0" dirty="0">
                <a:effectLst/>
                <a:latin typeface="system-ui"/>
              </a:rPr>
              <a:t> of a distribution). Specific bounds can be put on this estimate; the standard error gives a measure of how close we expect that the arithmetic mean of samples is to the population mean, although the interpretation is not straightforward.</a:t>
            </a:r>
          </a:p>
        </p:txBody>
      </p:sp>
    </p:spTree>
    <p:extLst>
      <p:ext uri="{BB962C8B-B14F-4D97-AF65-F5344CB8AC3E}">
        <p14:creationId xmlns:p14="http://schemas.microsoft.com/office/powerpoint/2010/main" val="40616629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6B877-398B-2218-C392-EB04D544F301}"/>
              </a:ext>
            </a:extLst>
          </p:cNvPr>
          <p:cNvSpPr>
            <a:spLocks noGrp="1"/>
          </p:cNvSpPr>
          <p:nvPr>
            <p:ph type="title"/>
          </p:nvPr>
        </p:nvSpPr>
        <p:spPr/>
        <p:txBody>
          <a:bodyPr/>
          <a:lstStyle/>
          <a:p>
            <a:r>
              <a:rPr lang="en-GB" dirty="0"/>
              <a:t>Sample mean example</a:t>
            </a:r>
          </a:p>
        </p:txBody>
      </p:sp>
      <p:pic>
        <p:nvPicPr>
          <p:cNvPr id="5" name="Content Placeholder 4">
            <a:extLst>
              <a:ext uri="{FF2B5EF4-FFF2-40B4-BE49-F238E27FC236}">
                <a16:creationId xmlns:a16="http://schemas.microsoft.com/office/drawing/2014/main" id="{2B40B3DB-EE13-6FAB-7D82-BF2B12C80A41}"/>
              </a:ext>
            </a:extLst>
          </p:cNvPr>
          <p:cNvPicPr>
            <a:picLocks noGrp="1" noChangeAspect="1"/>
          </p:cNvPicPr>
          <p:nvPr>
            <p:ph sz="quarter" idx="13"/>
          </p:nvPr>
        </p:nvPicPr>
        <p:blipFill>
          <a:blip r:embed="rId2"/>
          <a:stretch>
            <a:fillRect/>
          </a:stretch>
        </p:blipFill>
        <p:spPr>
          <a:xfrm>
            <a:off x="2580686" y="1627188"/>
            <a:ext cx="6884578" cy="4606925"/>
          </a:xfrm>
        </p:spPr>
      </p:pic>
      <p:sp>
        <p:nvSpPr>
          <p:cNvPr id="7" name="TextBox 6">
            <a:extLst>
              <a:ext uri="{FF2B5EF4-FFF2-40B4-BE49-F238E27FC236}">
                <a16:creationId xmlns:a16="http://schemas.microsoft.com/office/drawing/2014/main" id="{A6E1665E-8F96-F56A-D317-CAE300806F44}"/>
              </a:ext>
            </a:extLst>
          </p:cNvPr>
          <p:cNvSpPr txBox="1"/>
          <p:nvPr/>
        </p:nvSpPr>
        <p:spPr>
          <a:xfrm>
            <a:off x="239730" y="6324386"/>
            <a:ext cx="11712539" cy="369332"/>
          </a:xfrm>
          <a:prstGeom prst="rect">
            <a:avLst/>
          </a:prstGeom>
          <a:noFill/>
        </p:spPr>
        <p:txBody>
          <a:bodyPr wrap="square">
            <a:spAutoFit/>
          </a:bodyPr>
          <a:lstStyle/>
          <a:p>
            <a:r>
              <a:rPr lang="en-US" b="0" i="0" dirty="0">
                <a:effectLst/>
                <a:latin typeface="system-ui"/>
              </a:rPr>
              <a:t>The mean measures the </a:t>
            </a:r>
            <a:r>
              <a:rPr lang="en-US" b="1" i="0" dirty="0">
                <a:effectLst/>
                <a:latin typeface="system-ui"/>
              </a:rPr>
              <a:t>central tendency</a:t>
            </a:r>
            <a:r>
              <a:rPr lang="en-US" b="0" i="0" dirty="0">
                <a:effectLst/>
                <a:latin typeface="system-ui"/>
              </a:rPr>
              <a:t> of a collection of values. The </a:t>
            </a:r>
            <a:r>
              <a:rPr lang="en-US" b="1" i="0" dirty="0">
                <a:effectLst/>
                <a:latin typeface="system-ui"/>
              </a:rPr>
              <a:t>mean vector</a:t>
            </a:r>
            <a:r>
              <a:rPr lang="en-US" b="0" i="0" dirty="0">
                <a:effectLst/>
                <a:latin typeface="system-ui"/>
              </a:rPr>
              <a:t> </a:t>
            </a:r>
            <a:r>
              <a:rPr lang="en-US" b="0" i="0" dirty="0" err="1">
                <a:effectLst/>
                <a:latin typeface="system-ui"/>
              </a:rPr>
              <a:t>generalises</a:t>
            </a:r>
            <a:r>
              <a:rPr lang="en-US" b="0" i="0" dirty="0">
                <a:effectLst/>
                <a:latin typeface="system-ui"/>
              </a:rPr>
              <a:t> this to higher dimensions.</a:t>
            </a:r>
            <a:endParaRPr lang="en-GB" dirty="0"/>
          </a:p>
        </p:txBody>
      </p:sp>
    </p:spTree>
    <p:extLst>
      <p:ext uri="{BB962C8B-B14F-4D97-AF65-F5344CB8AC3E}">
        <p14:creationId xmlns:p14="http://schemas.microsoft.com/office/powerpoint/2010/main" val="27323340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E8AE50-B610-3611-7308-7B6867EDAB5F}"/>
              </a:ext>
            </a:extLst>
          </p:cNvPr>
          <p:cNvSpPr>
            <a:spLocks noGrp="1"/>
          </p:cNvSpPr>
          <p:nvPr>
            <p:ph type="title"/>
          </p:nvPr>
        </p:nvSpPr>
        <p:spPr/>
        <p:txBody>
          <a:bodyPr/>
          <a:lstStyle/>
          <a:p>
            <a:r>
              <a:rPr lang="en-GB" dirty="0"/>
              <a:t>Variance and standard deviation</a:t>
            </a:r>
          </a:p>
        </p:txBody>
      </p:sp>
      <p:sp>
        <p:nvSpPr>
          <p:cNvPr id="3" name="Content Placeholder 2">
            <a:extLst>
              <a:ext uri="{FF2B5EF4-FFF2-40B4-BE49-F238E27FC236}">
                <a16:creationId xmlns:a16="http://schemas.microsoft.com/office/drawing/2014/main" id="{FD42BB12-B2CF-D897-D648-41EBD1F3D467}"/>
              </a:ext>
            </a:extLst>
          </p:cNvPr>
          <p:cNvSpPr>
            <a:spLocks noGrp="1"/>
          </p:cNvSpPr>
          <p:nvPr>
            <p:ph sz="quarter" idx="13"/>
          </p:nvPr>
        </p:nvSpPr>
        <p:spPr/>
        <p:txBody>
          <a:bodyPr>
            <a:normAutofit fontScale="92500" lnSpcReduction="10000"/>
          </a:bodyPr>
          <a:lstStyle/>
          <a:p>
            <a:pPr marL="0" indent="0">
              <a:buNone/>
            </a:pPr>
            <a:r>
              <a:rPr lang="en-US" b="0" i="0" dirty="0">
                <a:effectLst/>
                <a:latin typeface="system-ui"/>
              </a:rPr>
              <a:t>The sample variance is the squared difference of each value of a sequence from the mean of that sequence:</a:t>
            </a:r>
          </a:p>
          <a:p>
            <a:pPr marL="0" indent="0">
              <a:buNone/>
            </a:pPr>
            <a:endParaRPr lang="en-US" dirty="0">
              <a:latin typeface="system-ui"/>
            </a:endParaRPr>
          </a:p>
          <a:p>
            <a:pPr marL="0" indent="0" algn="l">
              <a:buNone/>
            </a:pPr>
            <a:endParaRPr lang="en-US" dirty="0">
              <a:latin typeface="system-ui"/>
            </a:endParaRPr>
          </a:p>
          <a:p>
            <a:pPr marL="0" indent="0" algn="l">
              <a:buNone/>
            </a:pPr>
            <a:r>
              <a:rPr lang="en-US" b="0" i="0" dirty="0">
                <a:effectLst/>
                <a:latin typeface="system-ui"/>
              </a:rPr>
              <a:t>It is an estimator of the population variance, E[(X−E[X])</a:t>
            </a:r>
            <a:r>
              <a:rPr lang="en-US" b="0" i="0" baseline="30000" dirty="0">
                <a:effectLst/>
                <a:latin typeface="system-ui"/>
              </a:rPr>
              <a:t>2</a:t>
            </a:r>
            <a:r>
              <a:rPr lang="en-US" b="0" i="0" dirty="0">
                <a:effectLst/>
                <a:latin typeface="system-ui"/>
              </a:rPr>
              <a:t>]</a:t>
            </a:r>
          </a:p>
          <a:p>
            <a:pPr marL="0" indent="0" algn="l">
              <a:buNone/>
            </a:pPr>
            <a:r>
              <a:rPr lang="en-US" b="0" i="0" dirty="0">
                <a:effectLst/>
                <a:latin typeface="system-ui"/>
              </a:rPr>
              <a:t>The sample standard deviation is just the square root of this value.</a:t>
            </a:r>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r>
              <a:rPr lang="en-US" b="0" i="0" dirty="0">
                <a:effectLst/>
                <a:latin typeface="system-ui"/>
              </a:rPr>
              <a:t>The variance and the standard deviation measure the </a:t>
            </a:r>
            <a:r>
              <a:rPr lang="en-US" b="1" i="0" dirty="0">
                <a:effectLst/>
                <a:latin typeface="system-ui"/>
              </a:rPr>
              <a:t>spread</a:t>
            </a:r>
            <a:r>
              <a:rPr lang="en-US" b="0" i="0" dirty="0">
                <a:effectLst/>
                <a:latin typeface="system-ui"/>
              </a:rPr>
              <a:t> of a collection of values. The </a:t>
            </a:r>
            <a:r>
              <a:rPr lang="en-US" b="1" i="0" dirty="0">
                <a:effectLst/>
                <a:latin typeface="system-ui"/>
              </a:rPr>
              <a:t>covariance matrix</a:t>
            </a:r>
            <a:r>
              <a:rPr lang="en-US" b="0" i="0" dirty="0">
                <a:effectLst/>
                <a:latin typeface="system-ui"/>
              </a:rPr>
              <a:t> </a:t>
            </a:r>
            <a:r>
              <a:rPr lang="en-US" dirty="0"/>
              <a:t>Σ</a:t>
            </a:r>
            <a:r>
              <a:rPr lang="en-US" b="0" i="0" dirty="0">
                <a:effectLst/>
                <a:latin typeface="system-ui"/>
              </a:rPr>
              <a:t> </a:t>
            </a:r>
            <a:r>
              <a:rPr lang="en-US" b="0" i="0" dirty="0" err="1">
                <a:effectLst/>
                <a:latin typeface="system-ui"/>
              </a:rPr>
              <a:t>generalises</a:t>
            </a:r>
            <a:r>
              <a:rPr lang="en-US" b="0" i="0" dirty="0">
                <a:effectLst/>
                <a:latin typeface="system-ui"/>
              </a:rPr>
              <a:t> this idea to higher dimensions.</a:t>
            </a:r>
            <a:endParaRPr lang="en-GB" dirty="0"/>
          </a:p>
        </p:txBody>
      </p:sp>
      <p:pic>
        <p:nvPicPr>
          <p:cNvPr id="5" name="Picture 4">
            <a:extLst>
              <a:ext uri="{FF2B5EF4-FFF2-40B4-BE49-F238E27FC236}">
                <a16:creationId xmlns:a16="http://schemas.microsoft.com/office/drawing/2014/main" id="{7998A642-0BF0-BA2F-9557-47EEBB2056F7}"/>
              </a:ext>
            </a:extLst>
          </p:cNvPr>
          <p:cNvPicPr>
            <a:picLocks noChangeAspect="1"/>
          </p:cNvPicPr>
          <p:nvPr/>
        </p:nvPicPr>
        <p:blipFill>
          <a:blip r:embed="rId2"/>
          <a:stretch>
            <a:fillRect/>
          </a:stretch>
        </p:blipFill>
        <p:spPr>
          <a:xfrm>
            <a:off x="4433485" y="2250041"/>
            <a:ext cx="2055776" cy="829524"/>
          </a:xfrm>
          <a:prstGeom prst="rect">
            <a:avLst/>
          </a:prstGeom>
        </p:spPr>
      </p:pic>
      <p:pic>
        <p:nvPicPr>
          <p:cNvPr id="7" name="Picture 6">
            <a:extLst>
              <a:ext uri="{FF2B5EF4-FFF2-40B4-BE49-F238E27FC236}">
                <a16:creationId xmlns:a16="http://schemas.microsoft.com/office/drawing/2014/main" id="{C5BB9E67-EC71-A6EB-9F8A-5DB80AC661EF}"/>
              </a:ext>
            </a:extLst>
          </p:cNvPr>
          <p:cNvPicPr>
            <a:picLocks noChangeAspect="1"/>
          </p:cNvPicPr>
          <p:nvPr/>
        </p:nvPicPr>
        <p:blipFill>
          <a:blip r:embed="rId3"/>
          <a:stretch>
            <a:fillRect/>
          </a:stretch>
        </p:blipFill>
        <p:spPr>
          <a:xfrm>
            <a:off x="4715838" y="4273556"/>
            <a:ext cx="2179544" cy="1131918"/>
          </a:xfrm>
          <a:prstGeom prst="rect">
            <a:avLst/>
          </a:prstGeom>
        </p:spPr>
      </p:pic>
    </p:spTree>
    <p:extLst>
      <p:ext uri="{BB962C8B-B14F-4D97-AF65-F5344CB8AC3E}">
        <p14:creationId xmlns:p14="http://schemas.microsoft.com/office/powerpoint/2010/main" val="42858301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99DDBC0-3C2F-BB4A-90BB-1B7A778012D2}"/>
              </a:ext>
            </a:extLst>
          </p:cNvPr>
          <p:cNvSpPr>
            <a:spLocks noGrp="1"/>
          </p:cNvSpPr>
          <p:nvPr>
            <p:ph sz="half" idx="1"/>
          </p:nvPr>
        </p:nvSpPr>
        <p:spPr>
          <a:xfrm>
            <a:off x="838200" y="1608667"/>
            <a:ext cx="5181600" cy="4568296"/>
          </a:xfrm>
        </p:spPr>
        <p:txBody>
          <a:bodyPr>
            <a:normAutofit/>
          </a:bodyPr>
          <a:lstStyle/>
          <a:p>
            <a:pPr marL="0" indent="0">
              <a:buNone/>
            </a:pPr>
            <a:r>
              <a:rPr lang="en-US" sz="2200" b="0" i="0" dirty="0">
                <a:effectLst/>
              </a:rPr>
              <a:t>If we </a:t>
            </a:r>
            <a:r>
              <a:rPr lang="en-US" sz="2200" b="0" i="1" dirty="0">
                <a:effectLst/>
              </a:rPr>
              <a:t>assume</a:t>
            </a:r>
            <a:r>
              <a:rPr lang="en-US" sz="2200" b="0" i="0" dirty="0">
                <a:effectLst/>
              </a:rPr>
              <a:t> that our data is generated by a normal distribution, then the statistics </a:t>
            </a:r>
            <a:r>
              <a:rPr lang="en-US" sz="2200" b="1" i="0" dirty="0">
                <a:effectLst/>
              </a:rPr>
              <a:t>mean</a:t>
            </a:r>
            <a:r>
              <a:rPr lang="en-US" sz="2200" b="0" i="0" dirty="0">
                <a:effectLst/>
              </a:rPr>
              <a:t> </a:t>
            </a:r>
            <a:r>
              <a:rPr lang="en-US" sz="2200" dirty="0"/>
              <a:t>μ^</a:t>
            </a:r>
            <a:r>
              <a:rPr lang="en-US" sz="2200" b="0" i="0" dirty="0">
                <a:effectLst/>
              </a:rPr>
              <a:t> and </a:t>
            </a:r>
            <a:r>
              <a:rPr lang="en-US" sz="2200" b="1" i="0" dirty="0">
                <a:effectLst/>
              </a:rPr>
              <a:t>variance</a:t>
            </a:r>
            <a:r>
              <a:rPr lang="en-US" sz="2200" b="0" i="0" dirty="0">
                <a:effectLst/>
              </a:rPr>
              <a:t> </a:t>
            </a:r>
            <a:r>
              <a:rPr lang="en-US" sz="2200" dirty="0"/>
              <a:t>σ</a:t>
            </a:r>
            <a:r>
              <a:rPr lang="en-US" sz="2200" baseline="30000" dirty="0"/>
              <a:t>2</a:t>
            </a:r>
            <a:r>
              <a:rPr lang="en-US" sz="2200" dirty="0"/>
              <a:t>^</a:t>
            </a:r>
            <a:r>
              <a:rPr lang="en-US" sz="2200" b="0" i="0" dirty="0">
                <a:effectLst/>
              </a:rPr>
              <a:t> </a:t>
            </a:r>
            <a:br>
              <a:rPr lang="en-US" sz="2200" dirty="0"/>
            </a:br>
            <a:r>
              <a:rPr lang="en-US" sz="2200" b="0" i="0" dirty="0">
                <a:effectLst/>
              </a:rPr>
              <a:t>estimate the parameters </a:t>
            </a:r>
            <a:r>
              <a:rPr lang="en-US" sz="2200" dirty="0" err="1"/>
              <a:t>μ,σ</a:t>
            </a:r>
            <a:r>
              <a:rPr lang="en-US" sz="2200" b="0" i="0" dirty="0">
                <a:effectLst/>
              </a:rPr>
              <a:t> of that normal distribution, </a:t>
            </a:r>
            <a:r>
              <a:rPr lang="en-US" sz="2200" dirty="0"/>
              <a:t>N(</a:t>
            </a:r>
            <a:r>
              <a:rPr lang="en-US" sz="2200" dirty="0" err="1"/>
              <a:t>μ,σ</a:t>
            </a:r>
            <a:r>
              <a:rPr lang="en-US" sz="2200" dirty="0"/>
              <a:t>)</a:t>
            </a:r>
            <a:r>
              <a:rPr lang="en-US" sz="2200" b="0" i="0" dirty="0">
                <a:effectLst/>
              </a:rPr>
              <a:t>. </a:t>
            </a:r>
          </a:p>
          <a:p>
            <a:pPr marL="0" indent="0">
              <a:buNone/>
            </a:pPr>
            <a:r>
              <a:rPr lang="en-US" sz="2200" b="0" i="0" dirty="0">
                <a:effectLst/>
              </a:rPr>
              <a:t>Even if the underlying process isn't exactly normal, it may well be close to being normal because of the Central Limit Theorem. </a:t>
            </a:r>
          </a:p>
          <a:p>
            <a:pPr marL="0" indent="0">
              <a:buNone/>
            </a:pPr>
            <a:r>
              <a:rPr lang="en-US" sz="2200" b="0" i="0" dirty="0">
                <a:effectLst/>
              </a:rPr>
              <a:t>And even if that doesn't apply, the mean and the variance are still useful </a:t>
            </a:r>
            <a:r>
              <a:rPr lang="en-US" sz="2200" b="0" i="1" dirty="0">
                <a:effectLst/>
              </a:rPr>
              <a:t>descriptive statistics</a:t>
            </a:r>
            <a:r>
              <a:rPr lang="en-US" sz="2200" b="0" i="0" dirty="0">
                <a:effectLst/>
              </a:rPr>
              <a:t>.</a:t>
            </a:r>
            <a:endParaRPr lang="en-GB" sz="2200" dirty="0"/>
          </a:p>
        </p:txBody>
      </p:sp>
      <p:pic>
        <p:nvPicPr>
          <p:cNvPr id="5" name="Picture 4" descr="A graph with numbers and lines&#10;&#10;Description automatically generated">
            <a:extLst>
              <a:ext uri="{FF2B5EF4-FFF2-40B4-BE49-F238E27FC236}">
                <a16:creationId xmlns:a16="http://schemas.microsoft.com/office/drawing/2014/main" id="{FB9D8324-CF92-6696-9B69-C29CA3D15AA9}"/>
              </a:ext>
            </a:extLst>
          </p:cNvPr>
          <p:cNvPicPr>
            <a:picLocks noChangeAspect="1"/>
          </p:cNvPicPr>
          <p:nvPr/>
        </p:nvPicPr>
        <p:blipFill>
          <a:blip r:embed="rId2"/>
          <a:stretch>
            <a:fillRect/>
          </a:stretch>
        </p:blipFill>
        <p:spPr>
          <a:xfrm>
            <a:off x="6172200" y="1995054"/>
            <a:ext cx="5181600" cy="3795522"/>
          </a:xfrm>
          <a:prstGeom prst="rect">
            <a:avLst/>
          </a:prstGeom>
          <a:noFill/>
        </p:spPr>
      </p:pic>
      <p:sp>
        <p:nvSpPr>
          <p:cNvPr id="2" name="Title 1">
            <a:extLst>
              <a:ext uri="{FF2B5EF4-FFF2-40B4-BE49-F238E27FC236}">
                <a16:creationId xmlns:a16="http://schemas.microsoft.com/office/drawing/2014/main" id="{D7FC8E70-EFBF-6BB0-1B65-8F5EDBCCB968}"/>
              </a:ext>
            </a:extLst>
          </p:cNvPr>
          <p:cNvSpPr>
            <a:spLocks noGrp="1"/>
          </p:cNvSpPr>
          <p:nvPr>
            <p:ph type="title"/>
          </p:nvPr>
        </p:nvSpPr>
        <p:spPr>
          <a:xfrm>
            <a:off x="2549236" y="533614"/>
            <a:ext cx="9210963" cy="888786"/>
          </a:xfrm>
        </p:spPr>
        <p:txBody>
          <a:bodyPr anchor="t">
            <a:normAutofit/>
          </a:bodyPr>
          <a:lstStyle/>
          <a:p>
            <a:r>
              <a:rPr lang="en-GB" dirty="0"/>
              <a:t>Relation to normal distribution</a:t>
            </a:r>
          </a:p>
        </p:txBody>
      </p:sp>
    </p:spTree>
    <p:extLst>
      <p:ext uri="{BB962C8B-B14F-4D97-AF65-F5344CB8AC3E}">
        <p14:creationId xmlns:p14="http://schemas.microsoft.com/office/powerpoint/2010/main" val="174713346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0738C3-8D11-E053-BB53-98F9096F16A6}"/>
              </a:ext>
            </a:extLst>
          </p:cNvPr>
          <p:cNvSpPr>
            <a:spLocks noGrp="1"/>
          </p:cNvSpPr>
          <p:nvPr>
            <p:ph sz="half" idx="1"/>
          </p:nvPr>
        </p:nvSpPr>
        <p:spPr>
          <a:xfrm>
            <a:off x="699927" y="1526474"/>
            <a:ext cx="10792146" cy="4568296"/>
          </a:xfrm>
        </p:spPr>
        <p:txBody>
          <a:bodyPr>
            <a:normAutofit/>
          </a:bodyPr>
          <a:lstStyle/>
          <a:p>
            <a:pPr marL="0" indent="0" algn="l">
              <a:buNone/>
            </a:pPr>
            <a:r>
              <a:rPr lang="en-US" b="0" i="0" dirty="0">
                <a:effectLst/>
                <a:latin typeface="system-ui"/>
              </a:rPr>
              <a:t>What does it mean to estimate the parameters of a normal distribution that might be creating app ratings? </a:t>
            </a:r>
          </a:p>
          <a:p>
            <a:pPr marL="0" indent="0" algn="l">
              <a:buNone/>
            </a:pPr>
            <a:r>
              <a:rPr lang="en-US" b="0" i="0" dirty="0">
                <a:effectLst/>
                <a:latin typeface="system-ui"/>
              </a:rPr>
              <a:t>We are </a:t>
            </a:r>
            <a:r>
              <a:rPr lang="en-US" b="1" i="0" dirty="0">
                <a:effectLst/>
                <a:latin typeface="system-ui"/>
              </a:rPr>
              <a:t>fitting</a:t>
            </a:r>
            <a:r>
              <a:rPr lang="en-US" b="0" i="0" dirty="0">
                <a:effectLst/>
                <a:latin typeface="system-ui"/>
              </a:rPr>
              <a:t> a distribution, governed by a PDF, to a set of observations. But estimating a PDF requires some structure, a space of functions with some </a:t>
            </a:r>
            <a:r>
              <a:rPr lang="en-US" b="0" i="0" dirty="0" err="1">
                <a:effectLst/>
                <a:latin typeface="system-ui"/>
              </a:rPr>
              <a:t>parameterisation</a:t>
            </a:r>
            <a:r>
              <a:rPr lang="en-US" b="0" i="0" dirty="0">
                <a:effectLst/>
                <a:latin typeface="system-ui"/>
              </a:rPr>
              <a:t>.</a:t>
            </a:r>
          </a:p>
          <a:p>
            <a:pPr marL="0" indent="0" algn="l">
              <a:buNone/>
            </a:pPr>
            <a:r>
              <a:rPr lang="en-US" b="0" i="0" dirty="0">
                <a:effectLst/>
                <a:latin typeface="system-ui"/>
              </a:rPr>
              <a:t>We can </a:t>
            </a:r>
            <a:r>
              <a:rPr lang="en-US" b="0" i="0" dirty="0" err="1">
                <a:effectLst/>
                <a:latin typeface="system-ui"/>
              </a:rPr>
              <a:t>visualise</a:t>
            </a:r>
            <a:r>
              <a:rPr lang="en-US" b="0" i="0" dirty="0">
                <a:effectLst/>
                <a:latin typeface="system-ui"/>
              </a:rPr>
              <a:t> this:</a:t>
            </a:r>
          </a:p>
          <a:p>
            <a:endParaRPr lang="en-GB" dirty="0"/>
          </a:p>
        </p:txBody>
      </p:sp>
      <p:pic>
        <p:nvPicPr>
          <p:cNvPr id="6" name="Content Placeholder 5">
            <a:extLst>
              <a:ext uri="{FF2B5EF4-FFF2-40B4-BE49-F238E27FC236}">
                <a16:creationId xmlns:a16="http://schemas.microsoft.com/office/drawing/2014/main" id="{C515F97A-FB55-11CE-26A0-BC6D59E810D8}"/>
              </a:ext>
            </a:extLst>
          </p:cNvPr>
          <p:cNvPicPr>
            <a:picLocks noGrp="1" noChangeAspect="1"/>
          </p:cNvPicPr>
          <p:nvPr>
            <p:ph sz="half" idx="2"/>
          </p:nvPr>
        </p:nvPicPr>
        <p:blipFill>
          <a:blip r:embed="rId3"/>
          <a:stretch>
            <a:fillRect/>
          </a:stretch>
        </p:blipFill>
        <p:spPr>
          <a:xfrm>
            <a:off x="1190518" y="4379260"/>
            <a:ext cx="9658564" cy="2297385"/>
          </a:xfrm>
        </p:spPr>
      </p:pic>
      <p:sp>
        <p:nvSpPr>
          <p:cNvPr id="4" name="Title 3">
            <a:extLst>
              <a:ext uri="{FF2B5EF4-FFF2-40B4-BE49-F238E27FC236}">
                <a16:creationId xmlns:a16="http://schemas.microsoft.com/office/drawing/2014/main" id="{B03A193A-90D0-FA43-1BFB-46BB7A4CC07F}"/>
              </a:ext>
            </a:extLst>
          </p:cNvPr>
          <p:cNvSpPr>
            <a:spLocks noGrp="1"/>
          </p:cNvSpPr>
          <p:nvPr>
            <p:ph type="title"/>
          </p:nvPr>
        </p:nvSpPr>
        <p:spPr/>
        <p:txBody>
          <a:bodyPr/>
          <a:lstStyle/>
          <a:p>
            <a:r>
              <a:rPr lang="en-GB" dirty="0"/>
              <a:t>Fitting</a:t>
            </a:r>
          </a:p>
        </p:txBody>
      </p:sp>
    </p:spTree>
    <p:extLst>
      <p:ext uri="{BB962C8B-B14F-4D97-AF65-F5344CB8AC3E}">
        <p14:creationId xmlns:p14="http://schemas.microsoft.com/office/powerpoint/2010/main" val="27158582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714E25-95F7-ADFA-684E-43605F6C2506}"/>
              </a:ext>
            </a:extLst>
          </p:cNvPr>
          <p:cNvSpPr>
            <a:spLocks noGrp="1"/>
          </p:cNvSpPr>
          <p:nvPr>
            <p:ph sz="half" idx="1"/>
          </p:nvPr>
        </p:nvSpPr>
        <p:spPr>
          <a:xfrm>
            <a:off x="838200" y="1608667"/>
            <a:ext cx="10647348" cy="4568296"/>
          </a:xfrm>
        </p:spPr>
        <p:txBody>
          <a:bodyPr/>
          <a:lstStyle/>
          <a:p>
            <a:pPr marL="0" indent="0">
              <a:buNone/>
            </a:pPr>
            <a:r>
              <a:rPr lang="en-US" b="0" i="0" dirty="0">
                <a:effectLst/>
                <a:latin typeface="system-ui"/>
              </a:rPr>
              <a:t>We can draw samples from our fitted distribution, and compare them to our results. </a:t>
            </a:r>
          </a:p>
          <a:p>
            <a:pPr marL="0" indent="0">
              <a:buNone/>
            </a:pPr>
            <a:r>
              <a:rPr lang="en-US" b="0" i="0" dirty="0">
                <a:effectLst/>
                <a:latin typeface="system-ui"/>
              </a:rPr>
              <a:t>They won't be a very good representation, because the data we have is clearly not normal. </a:t>
            </a:r>
          </a:p>
          <a:p>
            <a:pPr marL="0" indent="0">
              <a:buNone/>
            </a:pPr>
            <a:r>
              <a:rPr lang="en-US" b="0" i="0" dirty="0">
                <a:effectLst/>
                <a:latin typeface="system-ui"/>
              </a:rPr>
              <a:t>But they show what our tame mysterious entity is producing, and let us assess our </a:t>
            </a:r>
            <a:r>
              <a:rPr lang="en-US" b="1" i="0" dirty="0">
                <a:effectLst/>
                <a:latin typeface="system-ui"/>
              </a:rPr>
              <a:t>modelling assumptions</a:t>
            </a:r>
            <a:r>
              <a:rPr lang="en-US" b="0" i="0" dirty="0">
                <a:effectLst/>
                <a:latin typeface="system-ui"/>
              </a:rPr>
              <a:t> -- that the app ratings were </a:t>
            </a:r>
            <a:r>
              <a:rPr lang="en-US" b="0" i="0" dirty="0" err="1">
                <a:effectLst/>
                <a:latin typeface="system-ui"/>
              </a:rPr>
              <a:t>characterised</a:t>
            </a:r>
            <a:r>
              <a:rPr lang="en-US" b="0" i="0" dirty="0">
                <a:effectLst/>
                <a:latin typeface="system-ui"/>
              </a:rPr>
              <a:t> by just a mean and standard deviation.</a:t>
            </a:r>
            <a:endParaRPr lang="en-GB" dirty="0"/>
          </a:p>
        </p:txBody>
      </p:sp>
      <p:pic>
        <p:nvPicPr>
          <p:cNvPr id="6" name="Content Placeholder 5">
            <a:extLst>
              <a:ext uri="{FF2B5EF4-FFF2-40B4-BE49-F238E27FC236}">
                <a16:creationId xmlns:a16="http://schemas.microsoft.com/office/drawing/2014/main" id="{D23A3386-F691-440C-D4FA-E9DC43833924}"/>
              </a:ext>
            </a:extLst>
          </p:cNvPr>
          <p:cNvPicPr>
            <a:picLocks noGrp="1" noChangeAspect="1"/>
          </p:cNvPicPr>
          <p:nvPr>
            <p:ph sz="half" idx="2"/>
          </p:nvPr>
        </p:nvPicPr>
        <p:blipFill>
          <a:blip r:embed="rId2"/>
          <a:stretch>
            <a:fillRect/>
          </a:stretch>
        </p:blipFill>
        <p:spPr>
          <a:xfrm>
            <a:off x="914400" y="4010060"/>
            <a:ext cx="10567772" cy="2527473"/>
          </a:xfrm>
        </p:spPr>
      </p:pic>
      <p:sp>
        <p:nvSpPr>
          <p:cNvPr id="4" name="Title 3">
            <a:extLst>
              <a:ext uri="{FF2B5EF4-FFF2-40B4-BE49-F238E27FC236}">
                <a16:creationId xmlns:a16="http://schemas.microsoft.com/office/drawing/2014/main" id="{28D29F77-F90E-AEC8-3836-71A7B1EC9585}"/>
              </a:ext>
            </a:extLst>
          </p:cNvPr>
          <p:cNvSpPr>
            <a:spLocks noGrp="1"/>
          </p:cNvSpPr>
          <p:nvPr>
            <p:ph type="title"/>
          </p:nvPr>
        </p:nvSpPr>
        <p:spPr/>
        <p:txBody>
          <a:bodyPr/>
          <a:lstStyle/>
          <a:p>
            <a:r>
              <a:rPr lang="en-GB" dirty="0"/>
              <a:t>Sampling from the model</a:t>
            </a:r>
          </a:p>
        </p:txBody>
      </p:sp>
    </p:spTree>
    <p:extLst>
      <p:ext uri="{BB962C8B-B14F-4D97-AF65-F5344CB8AC3E}">
        <p14:creationId xmlns:p14="http://schemas.microsoft.com/office/powerpoint/2010/main" val="18360686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10DBC9-B8E5-0214-53FF-6D74E82A8C7C}"/>
              </a:ext>
            </a:extLst>
          </p:cNvPr>
          <p:cNvSpPr>
            <a:spLocks noGrp="1"/>
          </p:cNvSpPr>
          <p:nvPr>
            <p:ph type="title"/>
          </p:nvPr>
        </p:nvSpPr>
        <p:spPr/>
        <p:txBody>
          <a:bodyPr/>
          <a:lstStyle/>
          <a:p>
            <a:r>
              <a:rPr lang="en-GB" dirty="0"/>
              <a:t>B. Maximum Likelihood</a:t>
            </a:r>
          </a:p>
        </p:txBody>
      </p:sp>
      <p:pic>
        <p:nvPicPr>
          <p:cNvPr id="6" name="Content Placeholder 5">
            <a:extLst>
              <a:ext uri="{FF2B5EF4-FFF2-40B4-BE49-F238E27FC236}">
                <a16:creationId xmlns:a16="http://schemas.microsoft.com/office/drawing/2014/main" id="{C1CD2ECD-D69C-CC33-8FE4-C18B58F17F50}"/>
              </a:ext>
            </a:extLst>
          </p:cNvPr>
          <p:cNvPicPr>
            <a:picLocks noGrp="1" noChangeAspect="1"/>
          </p:cNvPicPr>
          <p:nvPr>
            <p:ph sz="quarter" idx="13"/>
          </p:nvPr>
        </p:nvPicPr>
        <p:blipFill>
          <a:blip r:embed="rId2"/>
          <a:stretch>
            <a:fillRect/>
          </a:stretch>
        </p:blipFill>
        <p:spPr>
          <a:xfrm>
            <a:off x="285750" y="1697074"/>
            <a:ext cx="11474450" cy="4467152"/>
          </a:xfrm>
        </p:spPr>
      </p:pic>
    </p:spTree>
    <p:extLst>
      <p:ext uri="{BB962C8B-B14F-4D97-AF65-F5344CB8AC3E}">
        <p14:creationId xmlns:p14="http://schemas.microsoft.com/office/powerpoint/2010/main" val="96970688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50FD8AC-D22A-C461-6578-C0D6F30E209C}"/>
              </a:ext>
            </a:extLst>
          </p:cNvPr>
          <p:cNvSpPr>
            <a:spLocks noGrp="1"/>
          </p:cNvSpPr>
          <p:nvPr>
            <p:ph type="title"/>
          </p:nvPr>
        </p:nvSpPr>
        <p:spPr/>
        <p:txBody>
          <a:bodyPr/>
          <a:lstStyle/>
          <a:p>
            <a:r>
              <a:rPr lang="en-US" b="1" i="0" dirty="0">
                <a:effectLst/>
                <a:latin typeface="system-ui"/>
              </a:rPr>
              <a:t>Maximum likelihood estimation: estimation by </a:t>
            </a:r>
            <a:r>
              <a:rPr lang="en-US" b="1" i="0" dirty="0" err="1">
                <a:effectLst/>
                <a:latin typeface="system-ui"/>
              </a:rPr>
              <a:t>optimisation</a:t>
            </a:r>
            <a:endParaRPr lang="en-GB" dirty="0"/>
          </a:p>
        </p:txBody>
      </p:sp>
      <p:sp>
        <p:nvSpPr>
          <p:cNvPr id="7" name="Picture Placeholder 6">
            <a:extLst>
              <a:ext uri="{FF2B5EF4-FFF2-40B4-BE49-F238E27FC236}">
                <a16:creationId xmlns:a16="http://schemas.microsoft.com/office/drawing/2014/main" id="{D7188C1D-681E-4478-033F-FE9FFD33E38D}"/>
              </a:ext>
            </a:extLst>
          </p:cNvPr>
          <p:cNvSpPr>
            <a:spLocks noGrp="1"/>
          </p:cNvSpPr>
          <p:nvPr>
            <p:ph type="pic" sz="quarter" idx="13"/>
          </p:nvPr>
        </p:nvSpPr>
        <p:spPr/>
        <p:txBody>
          <a:bodyPr/>
          <a:lstStyle/>
          <a:p>
            <a:endParaRPr lang="en-GB"/>
          </a:p>
        </p:txBody>
      </p:sp>
      <p:sp>
        <p:nvSpPr>
          <p:cNvPr id="2" name="Content Placeholder 1">
            <a:extLst>
              <a:ext uri="{FF2B5EF4-FFF2-40B4-BE49-F238E27FC236}">
                <a16:creationId xmlns:a16="http://schemas.microsoft.com/office/drawing/2014/main" id="{8D3462A3-CBEC-1253-07E7-86980E5D13BA}"/>
              </a:ext>
            </a:extLst>
          </p:cNvPr>
          <p:cNvSpPr>
            <a:spLocks noGrp="1"/>
          </p:cNvSpPr>
          <p:nvPr>
            <p:ph type="body" sz="quarter" idx="14"/>
          </p:nvPr>
        </p:nvSpPr>
        <p:spPr/>
        <p:txBody>
          <a:bodyPr>
            <a:normAutofit/>
          </a:bodyPr>
          <a:lstStyle/>
          <a:p>
            <a:pPr algn="l"/>
            <a:r>
              <a:rPr lang="en-US" b="0" i="0" dirty="0">
                <a:effectLst/>
                <a:latin typeface="system-ui"/>
              </a:rPr>
              <a:t>What if we don't have estimators, ready built to estimate the parameters that we want? How can we do inference? How can we fit distribution parameters to observations?</a:t>
            </a:r>
          </a:p>
          <a:p>
            <a:pPr algn="l"/>
            <a:r>
              <a:rPr lang="en-US" b="0" i="0" dirty="0">
                <a:effectLst/>
                <a:latin typeface="system-ui"/>
              </a:rPr>
              <a:t>In many cases, we can compute the </a:t>
            </a:r>
            <a:r>
              <a:rPr lang="en-US" b="1" i="0" dirty="0">
                <a:effectLst/>
                <a:latin typeface="system-ui"/>
              </a:rPr>
              <a:t>likelihood</a:t>
            </a:r>
            <a:r>
              <a:rPr lang="en-US" b="0" i="0" dirty="0">
                <a:effectLst/>
                <a:latin typeface="system-ui"/>
              </a:rPr>
              <a:t> of an observation being generated by a specific underlying random distribution. This is the </a:t>
            </a:r>
            <a:r>
              <a:rPr lang="en-US" b="1" i="0" dirty="0">
                <a:effectLst/>
                <a:latin typeface="system-ui"/>
              </a:rPr>
              <a:t>likelihood</a:t>
            </a:r>
            <a:r>
              <a:rPr lang="en-US" b="0" i="0" dirty="0">
                <a:effectLst/>
                <a:latin typeface="system-ui"/>
              </a:rPr>
              <a:t> that we saw earlier. </a:t>
            </a:r>
          </a:p>
          <a:p>
            <a:pPr algn="l"/>
            <a:r>
              <a:rPr lang="en-US" b="0" i="0" dirty="0">
                <a:effectLst/>
                <a:latin typeface="system-ui"/>
              </a:rPr>
              <a:t>For a PDF, the likelihood of a value x is just the value of the PDF at x: </a:t>
            </a:r>
            <a:r>
              <a:rPr lang="en-US" b="0" i="0" dirty="0" err="1">
                <a:effectLst/>
                <a:latin typeface="system-ui"/>
              </a:rPr>
              <a:t>f</a:t>
            </a:r>
            <a:r>
              <a:rPr lang="en-US" b="0" i="0" baseline="-25000" dirty="0" err="1">
                <a:effectLst/>
                <a:latin typeface="system-ui"/>
              </a:rPr>
              <a:t>X</a:t>
            </a:r>
            <a:r>
              <a:rPr lang="en-US" b="0" i="0" dirty="0">
                <a:effectLst/>
                <a:latin typeface="system-ui"/>
              </a:rPr>
              <a:t>(x). </a:t>
            </a:r>
          </a:p>
          <a:p>
            <a:pPr algn="l"/>
            <a:r>
              <a:rPr lang="en-US" b="0" i="0" dirty="0">
                <a:effectLst/>
                <a:latin typeface="system-ui"/>
              </a:rPr>
              <a:t>The likelihood is a function of the data, under the assumption of some particular parameters.</a:t>
            </a:r>
          </a:p>
          <a:p>
            <a:endParaRPr lang="en-GB" dirty="0"/>
          </a:p>
        </p:txBody>
      </p:sp>
    </p:spTree>
    <p:extLst>
      <p:ext uri="{BB962C8B-B14F-4D97-AF65-F5344CB8AC3E}">
        <p14:creationId xmlns:p14="http://schemas.microsoft.com/office/powerpoint/2010/main" val="11757690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B517B50-2A11-EF58-A5F4-0437461D1E8F}"/>
              </a:ext>
            </a:extLst>
          </p:cNvPr>
          <p:cNvSpPr>
            <a:spLocks noGrp="1"/>
          </p:cNvSpPr>
          <p:nvPr>
            <p:ph sz="half" idx="1"/>
          </p:nvPr>
        </p:nvSpPr>
        <p:spPr>
          <a:xfrm>
            <a:off x="838200" y="1608667"/>
            <a:ext cx="7126480" cy="4568296"/>
          </a:xfrm>
        </p:spPr>
        <p:txBody>
          <a:bodyPr>
            <a:normAutofit/>
          </a:bodyPr>
          <a:lstStyle/>
          <a:p>
            <a:pPr marL="0" indent="0">
              <a:buNone/>
            </a:pPr>
            <a:r>
              <a:rPr lang="en-US" sz="2000" b="0" i="0" dirty="0">
                <a:effectLst/>
              </a:rPr>
              <a:t>The likelihood of many </a:t>
            </a:r>
            <a:r>
              <a:rPr lang="en-US" sz="2000" b="0" i="1" dirty="0">
                <a:effectLst/>
              </a:rPr>
              <a:t>independent</a:t>
            </a:r>
            <a:r>
              <a:rPr lang="en-US" sz="2000" b="0" i="0" dirty="0">
                <a:effectLst/>
              </a:rPr>
              <a:t> observations is the product of the individual likelihoods, and the log-likelihood is the sum of the individual log-likelihoods.</a:t>
            </a:r>
          </a:p>
          <a:p>
            <a:pPr marL="0" indent="0">
              <a:buNone/>
            </a:pPr>
            <a:endParaRPr lang="en-US" sz="2000" b="0" i="0" dirty="0">
              <a:effectLst/>
            </a:endParaRPr>
          </a:p>
          <a:p>
            <a:pPr marL="0" indent="0">
              <a:buNone/>
            </a:pPr>
            <a:endParaRPr lang="en-US" sz="2000" b="0" i="0" dirty="0">
              <a:effectLst/>
            </a:endParaRPr>
          </a:p>
          <a:p>
            <a:pPr marL="0" indent="0">
              <a:buNone/>
            </a:pPr>
            <a:endParaRPr lang="en-US" sz="2000" dirty="0"/>
          </a:p>
          <a:p>
            <a:pPr marL="0" indent="0">
              <a:buNone/>
            </a:pPr>
            <a:endParaRPr lang="en-US" sz="2000" b="0" i="0" dirty="0">
              <a:effectLst/>
            </a:endParaRPr>
          </a:p>
          <a:p>
            <a:pPr marL="0" indent="0">
              <a:buNone/>
            </a:pPr>
            <a:r>
              <a:rPr lang="en-US" sz="2000" b="0" i="0" dirty="0">
                <a:effectLst/>
              </a:rPr>
              <a:t>Imagine we have a distribution which we </a:t>
            </a:r>
            <a:r>
              <a:rPr lang="en-US" sz="2000" b="0" i="1" dirty="0">
                <a:effectLst/>
              </a:rPr>
              <a:t>don't</a:t>
            </a:r>
            <a:r>
              <a:rPr lang="en-US" sz="2000" b="0" i="0" dirty="0">
                <a:effectLst/>
              </a:rPr>
              <a:t> know any </a:t>
            </a:r>
            <a:r>
              <a:rPr lang="en-US" sz="2000" b="1" i="0" dirty="0">
                <a:effectLst/>
              </a:rPr>
              <a:t>estimators</a:t>
            </a:r>
            <a:r>
              <a:rPr lang="en-US" sz="2000" b="0" i="0" dirty="0">
                <a:effectLst/>
              </a:rPr>
              <a:t> for the parameters. </a:t>
            </a:r>
          </a:p>
          <a:p>
            <a:pPr marL="0" indent="0">
              <a:buNone/>
            </a:pPr>
            <a:r>
              <a:rPr lang="en-US" sz="2000" b="0" i="0" dirty="0">
                <a:effectLst/>
              </a:rPr>
              <a:t>How could we estimate what they might be, given some data? </a:t>
            </a:r>
          </a:p>
          <a:p>
            <a:pPr marL="0" indent="0">
              <a:buNone/>
            </a:pPr>
            <a:r>
              <a:rPr lang="en-US" sz="2000" b="0" i="0" dirty="0">
                <a:effectLst/>
              </a:rPr>
              <a:t>We could write all of our parameters as vector θ; for example a normal distribution would have θ=[</a:t>
            </a:r>
            <a:r>
              <a:rPr lang="en-US" sz="2000" b="0" i="0" dirty="0" err="1">
                <a:effectLst/>
              </a:rPr>
              <a:t>μ,σ</a:t>
            </a:r>
            <a:r>
              <a:rPr lang="en-US" sz="2000" b="0" i="0" dirty="0">
                <a:effectLst/>
              </a:rPr>
              <a:t>].</a:t>
            </a:r>
          </a:p>
          <a:p>
            <a:endParaRPr lang="en-GB" sz="2000" dirty="0"/>
          </a:p>
        </p:txBody>
      </p:sp>
      <p:pic>
        <p:nvPicPr>
          <p:cNvPr id="7" name="Picture 6">
            <a:extLst>
              <a:ext uri="{FF2B5EF4-FFF2-40B4-BE49-F238E27FC236}">
                <a16:creationId xmlns:a16="http://schemas.microsoft.com/office/drawing/2014/main" id="{6E37DC0A-DFC7-9BB6-FCBF-6243BF5DB183}"/>
              </a:ext>
            </a:extLst>
          </p:cNvPr>
          <p:cNvPicPr>
            <a:picLocks noChangeAspect="1"/>
          </p:cNvPicPr>
          <p:nvPr/>
        </p:nvPicPr>
        <p:blipFill>
          <a:blip r:embed="rId3"/>
          <a:srcRect l="3105" r="19765" b="-1"/>
          <a:stretch/>
        </p:blipFill>
        <p:spPr>
          <a:xfrm>
            <a:off x="8152687" y="2020018"/>
            <a:ext cx="3431851" cy="3493584"/>
          </a:xfrm>
          <a:prstGeom prst="rect">
            <a:avLst/>
          </a:prstGeom>
          <a:noFill/>
        </p:spPr>
      </p:pic>
      <p:sp>
        <p:nvSpPr>
          <p:cNvPr id="14" name="Title 3">
            <a:extLst>
              <a:ext uri="{FF2B5EF4-FFF2-40B4-BE49-F238E27FC236}">
                <a16:creationId xmlns:a16="http://schemas.microsoft.com/office/drawing/2014/main" id="{D687C8A9-E6B6-31D8-9D87-42194A4FAF4D}"/>
              </a:ext>
            </a:extLst>
          </p:cNvPr>
          <p:cNvSpPr>
            <a:spLocks noGrp="1"/>
          </p:cNvSpPr>
          <p:nvPr>
            <p:ph type="title"/>
          </p:nvPr>
        </p:nvSpPr>
        <p:spPr>
          <a:xfrm>
            <a:off x="2549236" y="533614"/>
            <a:ext cx="9210963" cy="888786"/>
          </a:xfrm>
        </p:spPr>
        <p:txBody>
          <a:bodyPr/>
          <a:lstStyle/>
          <a:p>
            <a:r>
              <a:rPr lang="en-US" b="1" i="0" dirty="0">
                <a:effectLst/>
                <a:latin typeface="system-ui"/>
              </a:rPr>
              <a:t>Maximum likelihood estimation: estimation by </a:t>
            </a:r>
            <a:r>
              <a:rPr lang="en-US" b="1" i="0" dirty="0" err="1">
                <a:effectLst/>
                <a:latin typeface="system-ui"/>
              </a:rPr>
              <a:t>optimisation</a:t>
            </a:r>
            <a:endParaRPr lang="en-US" dirty="0"/>
          </a:p>
        </p:txBody>
      </p:sp>
      <p:pic>
        <p:nvPicPr>
          <p:cNvPr id="8" name="Picture 7">
            <a:extLst>
              <a:ext uri="{FF2B5EF4-FFF2-40B4-BE49-F238E27FC236}">
                <a16:creationId xmlns:a16="http://schemas.microsoft.com/office/drawing/2014/main" id="{26711F79-B1DA-FA0C-4E26-D557D441DE8A}"/>
              </a:ext>
            </a:extLst>
          </p:cNvPr>
          <p:cNvPicPr>
            <a:picLocks noChangeAspect="1"/>
          </p:cNvPicPr>
          <p:nvPr/>
        </p:nvPicPr>
        <p:blipFill>
          <a:blip r:embed="rId4"/>
          <a:stretch>
            <a:fillRect/>
          </a:stretch>
        </p:blipFill>
        <p:spPr>
          <a:xfrm>
            <a:off x="1128757" y="2833359"/>
            <a:ext cx="5112767" cy="933451"/>
          </a:xfrm>
          <a:prstGeom prst="rect">
            <a:avLst/>
          </a:prstGeom>
        </p:spPr>
      </p:pic>
    </p:spTree>
    <p:extLst>
      <p:ext uri="{BB962C8B-B14F-4D97-AF65-F5344CB8AC3E}">
        <p14:creationId xmlns:p14="http://schemas.microsoft.com/office/powerpoint/2010/main" val="39682074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9AF186-1362-A0B5-52DB-1F0A93B3AA7B}"/>
              </a:ext>
            </a:extLst>
          </p:cNvPr>
          <p:cNvSpPr>
            <a:spLocks noGrp="1"/>
          </p:cNvSpPr>
          <p:nvPr>
            <p:ph sz="half" idx="1"/>
          </p:nvPr>
        </p:nvSpPr>
        <p:spPr>
          <a:xfrm>
            <a:off x="838200" y="1608667"/>
            <a:ext cx="9265920" cy="4568296"/>
          </a:xfrm>
        </p:spPr>
        <p:txBody>
          <a:bodyPr>
            <a:normAutofit/>
          </a:bodyPr>
          <a:lstStyle/>
          <a:p>
            <a:pPr marL="0" indent="0" algn="l">
              <a:buNone/>
            </a:pPr>
            <a:r>
              <a:rPr lang="en-US" b="0" i="0" dirty="0">
                <a:effectLst/>
                <a:latin typeface="system-ui"/>
              </a:rPr>
              <a:t>Even though we don't have a fixed, closed form function to estimate the parameters, with a likelihood function we can apply </a:t>
            </a:r>
            <a:r>
              <a:rPr lang="en-US" b="0" i="0" dirty="0" err="1">
                <a:effectLst/>
                <a:latin typeface="system-ui"/>
              </a:rPr>
              <a:t>optimisation</a:t>
            </a:r>
            <a:r>
              <a:rPr lang="en-US" b="0" i="0" dirty="0">
                <a:effectLst/>
                <a:latin typeface="system-ui"/>
              </a:rPr>
              <a:t> to work out a parameter setting under which the data we </a:t>
            </a:r>
            <a:r>
              <a:rPr lang="en-US" b="0" i="1" dirty="0">
                <a:effectLst/>
                <a:latin typeface="system-ui"/>
              </a:rPr>
              <a:t>actually</a:t>
            </a:r>
            <a:r>
              <a:rPr lang="en-US" b="0" i="0" dirty="0">
                <a:effectLst/>
                <a:latin typeface="system-ui"/>
              </a:rPr>
              <a:t> observed was most likely.</a:t>
            </a:r>
          </a:p>
          <a:p>
            <a:pPr marL="0" indent="0" algn="l">
              <a:buNone/>
            </a:pPr>
            <a:r>
              <a:rPr lang="en-US" b="0" i="0" dirty="0">
                <a:effectLst/>
                <a:latin typeface="system-ui"/>
              </a:rPr>
              <a:t>This corresponds to twiddling the knobs on our "mysterious entity" machine, until we find one that outputs the largest likelihood values when we feed in samples to it.</a:t>
            </a:r>
          </a:p>
          <a:p>
            <a:pPr algn="l"/>
            <a:r>
              <a:rPr lang="en-US" b="0" i="0" dirty="0">
                <a:effectLst/>
                <a:latin typeface="system-ui"/>
              </a:rPr>
              <a:t>If the likelihood depends on some parameters of a distribution θ, then we write:</a:t>
            </a:r>
          </a:p>
          <a:p>
            <a:endParaRPr lang="en-GB" dirty="0"/>
          </a:p>
        </p:txBody>
      </p:sp>
      <p:sp>
        <p:nvSpPr>
          <p:cNvPr id="4" name="Title 3">
            <a:extLst>
              <a:ext uri="{FF2B5EF4-FFF2-40B4-BE49-F238E27FC236}">
                <a16:creationId xmlns:a16="http://schemas.microsoft.com/office/drawing/2014/main" id="{3350E4B0-B7B0-C02D-55E5-E982FFE2B4D5}"/>
              </a:ext>
            </a:extLst>
          </p:cNvPr>
          <p:cNvSpPr>
            <a:spLocks noGrp="1"/>
          </p:cNvSpPr>
          <p:nvPr>
            <p:ph type="title"/>
          </p:nvPr>
        </p:nvSpPr>
        <p:spPr/>
        <p:txBody>
          <a:bodyPr/>
          <a:lstStyle/>
          <a:p>
            <a:r>
              <a:rPr lang="en-GB" b="1" i="0" dirty="0">
                <a:effectLst/>
                <a:latin typeface="system-ui"/>
              </a:rPr>
              <a:t>Optimisation solves all problems!</a:t>
            </a:r>
            <a:br>
              <a:rPr lang="en-GB" b="1" i="0" dirty="0">
                <a:effectLst/>
                <a:latin typeface="system-ui"/>
              </a:rPr>
            </a:br>
            <a:endParaRPr lang="en-GB" dirty="0"/>
          </a:p>
        </p:txBody>
      </p:sp>
      <p:pic>
        <p:nvPicPr>
          <p:cNvPr id="5" name="Content Placeholder 5">
            <a:extLst>
              <a:ext uri="{FF2B5EF4-FFF2-40B4-BE49-F238E27FC236}">
                <a16:creationId xmlns:a16="http://schemas.microsoft.com/office/drawing/2014/main" id="{94F45C12-C0C9-6E5B-5A18-DC0378C162D6}"/>
              </a:ext>
            </a:extLst>
          </p:cNvPr>
          <p:cNvPicPr>
            <a:picLocks noGrp="1" noChangeAspect="1"/>
          </p:cNvPicPr>
          <p:nvPr>
            <p:ph sz="half" idx="2"/>
          </p:nvPr>
        </p:nvPicPr>
        <p:blipFill>
          <a:blip r:embed="rId2"/>
          <a:stretch>
            <a:fillRect/>
          </a:stretch>
        </p:blipFill>
        <p:spPr>
          <a:xfrm>
            <a:off x="6578599" y="4600995"/>
            <a:ext cx="5181600" cy="2118791"/>
          </a:xfrm>
          <a:prstGeom prst="rect">
            <a:avLst/>
          </a:prstGeom>
          <a:noFill/>
        </p:spPr>
      </p:pic>
      <p:pic>
        <p:nvPicPr>
          <p:cNvPr id="7" name="Picture 6">
            <a:extLst>
              <a:ext uri="{FF2B5EF4-FFF2-40B4-BE49-F238E27FC236}">
                <a16:creationId xmlns:a16="http://schemas.microsoft.com/office/drawing/2014/main" id="{C15845D2-A02B-273C-2805-1ABA35C03B41}"/>
              </a:ext>
            </a:extLst>
          </p:cNvPr>
          <p:cNvPicPr>
            <a:picLocks noChangeAspect="1"/>
          </p:cNvPicPr>
          <p:nvPr/>
        </p:nvPicPr>
        <p:blipFill>
          <a:blip r:embed="rId3"/>
          <a:stretch>
            <a:fillRect/>
          </a:stretch>
        </p:blipFill>
        <p:spPr>
          <a:xfrm>
            <a:off x="3083348" y="4941541"/>
            <a:ext cx="1044629" cy="615584"/>
          </a:xfrm>
          <a:prstGeom prst="rect">
            <a:avLst/>
          </a:prstGeom>
        </p:spPr>
      </p:pic>
    </p:spTree>
    <p:extLst>
      <p:ext uri="{BB962C8B-B14F-4D97-AF65-F5344CB8AC3E}">
        <p14:creationId xmlns:p14="http://schemas.microsoft.com/office/powerpoint/2010/main" val="36569891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CE16C-CEAA-0A1F-F104-99A916786FD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ED66D4-BB35-820A-5E2F-78C15ACCE44F}"/>
              </a:ext>
            </a:extLst>
          </p:cNvPr>
          <p:cNvSpPr>
            <a:spLocks noGrp="1"/>
          </p:cNvSpPr>
          <p:nvPr>
            <p:ph sz="half" idx="1"/>
          </p:nvPr>
        </p:nvSpPr>
        <p:spPr>
          <a:xfrm>
            <a:off x="838200" y="1608667"/>
            <a:ext cx="6964680" cy="4568296"/>
          </a:xfrm>
        </p:spPr>
        <p:txBody>
          <a:bodyPr>
            <a:normAutofit/>
          </a:bodyPr>
          <a:lstStyle/>
          <a:p>
            <a:pPr marL="0" indent="0" algn="l">
              <a:buNone/>
            </a:pPr>
            <a:r>
              <a:rPr lang="en-US" b="0" i="0" dirty="0">
                <a:effectLst/>
                <a:latin typeface="system-ui"/>
              </a:rPr>
              <a:t>Then, we could define an </a:t>
            </a:r>
            <a:r>
              <a:rPr lang="en-US" b="1" i="0" dirty="0">
                <a:effectLst/>
                <a:latin typeface="system-ui"/>
              </a:rPr>
              <a:t>objective function</a:t>
            </a:r>
            <a:r>
              <a:rPr lang="en-US" b="0" i="0" dirty="0">
                <a:effectLst/>
                <a:latin typeface="system-ui"/>
              </a:rPr>
              <a:t>; to </a:t>
            </a:r>
            <a:r>
              <a:rPr lang="en-US" b="0" i="0" dirty="0" err="1">
                <a:effectLst/>
                <a:latin typeface="system-ui"/>
              </a:rPr>
              <a:t>maximise</a:t>
            </a:r>
            <a:r>
              <a:rPr lang="en-US" b="0" i="0" dirty="0">
                <a:effectLst/>
                <a:latin typeface="system-ui"/>
              </a:rPr>
              <a:t> the log-likelihood, or equivalently to </a:t>
            </a:r>
            <a:r>
              <a:rPr lang="en-US" b="0" i="0" dirty="0" err="1">
                <a:effectLst/>
                <a:latin typeface="system-ui"/>
              </a:rPr>
              <a:t>minimise</a:t>
            </a:r>
            <a:r>
              <a:rPr lang="en-US" b="0" i="0" dirty="0">
                <a:effectLst/>
                <a:latin typeface="system-ui"/>
              </a:rPr>
              <a:t> the negative log-likelihood.</a:t>
            </a:r>
          </a:p>
          <a:p>
            <a:pPr marL="0" indent="0" algn="l">
              <a:buNone/>
            </a:pPr>
            <a:endParaRPr lang="en-US" dirty="0">
              <a:latin typeface="system-ui"/>
            </a:endParaRPr>
          </a:p>
          <a:p>
            <a:pPr marL="0" indent="0" algn="l">
              <a:buNone/>
            </a:pPr>
            <a:endParaRPr lang="en-US" b="0" i="0" dirty="0">
              <a:effectLst/>
              <a:latin typeface="system-ui"/>
            </a:endParaRPr>
          </a:p>
          <a:p>
            <a:pPr marL="0" indent="0" algn="l">
              <a:buNone/>
            </a:pPr>
            <a:r>
              <a:rPr lang="en-US" b="0" i="0" dirty="0">
                <a:effectLst/>
                <a:latin typeface="system-ui"/>
              </a:rPr>
              <a:t>assuming our </a:t>
            </a:r>
            <a:r>
              <a:rPr lang="en-US" b="0" i="0" dirty="0" err="1">
                <a:solidFill>
                  <a:schemeClr val="accent4"/>
                </a:solidFill>
                <a:effectLst/>
                <a:latin typeface="system-ui"/>
              </a:rPr>
              <a:t>f</a:t>
            </a:r>
            <a:r>
              <a:rPr lang="en-US" b="0" i="0" baseline="-25000" dirty="0" err="1">
                <a:solidFill>
                  <a:schemeClr val="accent4"/>
                </a:solidFill>
                <a:effectLst/>
                <a:latin typeface="system-ui"/>
              </a:rPr>
              <a:t>X</a:t>
            </a:r>
            <a:r>
              <a:rPr lang="en-US" b="0" i="0" dirty="0">
                <a:solidFill>
                  <a:schemeClr val="accent4"/>
                </a:solidFill>
                <a:effectLst/>
                <a:latin typeface="system-ui"/>
              </a:rPr>
              <a:t>(x</a:t>
            </a:r>
            <a:r>
              <a:rPr lang="en-US" b="0" i="0" baseline="-25000" dirty="0">
                <a:solidFill>
                  <a:schemeClr val="accent4"/>
                </a:solidFill>
                <a:effectLst/>
                <a:latin typeface="system-ui"/>
              </a:rPr>
              <a:t>i</a:t>
            </a:r>
            <a:r>
              <a:rPr lang="en-US" b="0" i="0" dirty="0">
                <a:solidFill>
                  <a:schemeClr val="accent4"/>
                </a:solidFill>
                <a:effectLst/>
                <a:latin typeface="system-ui"/>
              </a:rPr>
              <a:t>)</a:t>
            </a:r>
            <a:r>
              <a:rPr lang="en-US" b="0" i="0" dirty="0">
                <a:effectLst/>
                <a:latin typeface="system-ui"/>
              </a:rPr>
              <a:t> can be written as </a:t>
            </a:r>
            <a:r>
              <a:rPr lang="en-US" b="0" i="0" dirty="0">
                <a:solidFill>
                  <a:schemeClr val="accent4"/>
                </a:solidFill>
                <a:effectLst/>
                <a:latin typeface="system-ui"/>
              </a:rPr>
              <a:t>f(</a:t>
            </a:r>
            <a:r>
              <a:rPr lang="en-US" b="0" i="0" dirty="0" err="1">
                <a:solidFill>
                  <a:schemeClr val="accent4"/>
                </a:solidFill>
                <a:effectLst/>
                <a:latin typeface="system-ui"/>
              </a:rPr>
              <a:t>x</a:t>
            </a:r>
            <a:r>
              <a:rPr lang="en-US" b="0" i="0" baseline="-25000" dirty="0" err="1">
                <a:solidFill>
                  <a:schemeClr val="accent4"/>
                </a:solidFill>
                <a:effectLst/>
                <a:latin typeface="system-ui"/>
              </a:rPr>
              <a:t>i</a:t>
            </a:r>
            <a:r>
              <a:rPr lang="en-US" b="0" i="0" dirty="0" err="1">
                <a:solidFill>
                  <a:schemeClr val="accent4"/>
                </a:solidFill>
                <a:effectLst/>
                <a:latin typeface="system-ui"/>
              </a:rPr>
              <a:t>;θ</a:t>
            </a:r>
            <a:r>
              <a:rPr lang="en-US" b="0" i="0" dirty="0">
                <a:solidFill>
                  <a:schemeClr val="accent4"/>
                </a:solidFill>
                <a:effectLst/>
                <a:latin typeface="system-ui"/>
              </a:rPr>
              <a:t>)</a:t>
            </a:r>
            <a:r>
              <a:rPr lang="en-US" b="0" i="0" dirty="0">
                <a:effectLst/>
                <a:latin typeface="system-ui"/>
              </a:rPr>
              <a:t> to represent the PDF of </a:t>
            </a:r>
            <a:r>
              <a:rPr lang="en-US" b="0" i="0" dirty="0">
                <a:solidFill>
                  <a:schemeClr val="accent4"/>
                </a:solidFill>
                <a:effectLst/>
                <a:latin typeface="system-ui"/>
              </a:rPr>
              <a:t>f</a:t>
            </a:r>
            <a:r>
              <a:rPr lang="en-US" b="0" i="0" dirty="0">
                <a:effectLst/>
                <a:latin typeface="system-ui"/>
              </a:rPr>
              <a:t> with some specific choice of parameters given by </a:t>
            </a:r>
            <a:r>
              <a:rPr lang="en-US" b="0" i="0" dirty="0">
                <a:solidFill>
                  <a:schemeClr val="accent4"/>
                </a:solidFill>
                <a:effectLst/>
                <a:latin typeface="system-ui"/>
              </a:rPr>
              <a:t>θ</a:t>
            </a:r>
            <a:r>
              <a:rPr lang="en-US" b="0" i="0" dirty="0">
                <a:effectLst/>
                <a:latin typeface="system-ui"/>
              </a:rPr>
              <a:t>.</a:t>
            </a:r>
          </a:p>
          <a:p>
            <a:endParaRPr lang="en-GB" dirty="0"/>
          </a:p>
        </p:txBody>
      </p:sp>
      <p:sp>
        <p:nvSpPr>
          <p:cNvPr id="4" name="Title 3">
            <a:extLst>
              <a:ext uri="{FF2B5EF4-FFF2-40B4-BE49-F238E27FC236}">
                <a16:creationId xmlns:a16="http://schemas.microsoft.com/office/drawing/2014/main" id="{9295B07F-60C9-C642-8997-C65A2C28FFCB}"/>
              </a:ext>
            </a:extLst>
          </p:cNvPr>
          <p:cNvSpPr>
            <a:spLocks noGrp="1"/>
          </p:cNvSpPr>
          <p:nvPr>
            <p:ph type="title"/>
          </p:nvPr>
        </p:nvSpPr>
        <p:spPr/>
        <p:txBody>
          <a:bodyPr/>
          <a:lstStyle/>
          <a:p>
            <a:r>
              <a:rPr lang="en-GB" b="1" i="0" dirty="0">
                <a:effectLst/>
                <a:latin typeface="system-ui"/>
              </a:rPr>
              <a:t>Optimisation solves all problems!</a:t>
            </a:r>
            <a:br>
              <a:rPr lang="en-GB" b="1" i="0" dirty="0">
                <a:effectLst/>
                <a:latin typeface="system-ui"/>
              </a:rPr>
            </a:br>
            <a:endParaRPr lang="en-GB" dirty="0"/>
          </a:p>
        </p:txBody>
      </p:sp>
      <p:pic>
        <p:nvPicPr>
          <p:cNvPr id="5" name="Content Placeholder 5">
            <a:extLst>
              <a:ext uri="{FF2B5EF4-FFF2-40B4-BE49-F238E27FC236}">
                <a16:creationId xmlns:a16="http://schemas.microsoft.com/office/drawing/2014/main" id="{30FA698F-B00D-E4A2-E918-C5E2AB995B48}"/>
              </a:ext>
            </a:extLst>
          </p:cNvPr>
          <p:cNvPicPr>
            <a:picLocks noGrp="1" noChangeAspect="1"/>
          </p:cNvPicPr>
          <p:nvPr>
            <p:ph sz="half" idx="2"/>
          </p:nvPr>
        </p:nvPicPr>
        <p:blipFill>
          <a:blip r:embed="rId2"/>
          <a:stretch>
            <a:fillRect/>
          </a:stretch>
        </p:blipFill>
        <p:spPr>
          <a:xfrm>
            <a:off x="6554406" y="4511040"/>
            <a:ext cx="5111814" cy="2090255"/>
          </a:xfrm>
          <a:prstGeom prst="rect">
            <a:avLst/>
          </a:prstGeom>
          <a:noFill/>
        </p:spPr>
      </p:pic>
      <p:pic>
        <p:nvPicPr>
          <p:cNvPr id="6" name="Picture 5">
            <a:extLst>
              <a:ext uri="{FF2B5EF4-FFF2-40B4-BE49-F238E27FC236}">
                <a16:creationId xmlns:a16="http://schemas.microsoft.com/office/drawing/2014/main" id="{9542C9B0-8FCA-4AC3-9BAF-C5E6F22AF921}"/>
              </a:ext>
            </a:extLst>
          </p:cNvPr>
          <p:cNvPicPr>
            <a:picLocks noChangeAspect="1"/>
          </p:cNvPicPr>
          <p:nvPr/>
        </p:nvPicPr>
        <p:blipFill>
          <a:blip r:embed="rId3"/>
          <a:stretch>
            <a:fillRect/>
          </a:stretch>
        </p:blipFill>
        <p:spPr>
          <a:xfrm>
            <a:off x="298116" y="2837896"/>
            <a:ext cx="7994620" cy="522524"/>
          </a:xfrm>
          <a:prstGeom prst="rect">
            <a:avLst/>
          </a:prstGeom>
        </p:spPr>
      </p:pic>
    </p:spTree>
    <p:extLst>
      <p:ext uri="{BB962C8B-B14F-4D97-AF65-F5344CB8AC3E}">
        <p14:creationId xmlns:p14="http://schemas.microsoft.com/office/powerpoint/2010/main" val="32839444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CA50CA-8586-5DBD-91BE-D1F12B077EF7}"/>
              </a:ext>
            </a:extLst>
          </p:cNvPr>
          <p:cNvSpPr>
            <a:spLocks noGrp="1"/>
          </p:cNvSpPr>
          <p:nvPr>
            <p:ph type="title"/>
          </p:nvPr>
        </p:nvSpPr>
        <p:spPr/>
        <p:txBody>
          <a:bodyPr/>
          <a:lstStyle/>
          <a:p>
            <a:r>
              <a:rPr lang="en-GB" dirty="0"/>
              <a:t>Maximum Likelihood estimation</a:t>
            </a:r>
          </a:p>
        </p:txBody>
      </p:sp>
      <p:sp>
        <p:nvSpPr>
          <p:cNvPr id="2" name="Content Placeholder 1">
            <a:extLst>
              <a:ext uri="{FF2B5EF4-FFF2-40B4-BE49-F238E27FC236}">
                <a16:creationId xmlns:a16="http://schemas.microsoft.com/office/drawing/2014/main" id="{F3C86E27-2D70-4CE4-2F69-7EA93F49E8DB}"/>
              </a:ext>
            </a:extLst>
          </p:cNvPr>
          <p:cNvSpPr>
            <a:spLocks noGrp="1"/>
          </p:cNvSpPr>
          <p:nvPr>
            <p:ph sz="quarter" idx="13"/>
          </p:nvPr>
        </p:nvSpPr>
        <p:spPr>
          <a:xfrm>
            <a:off x="285750" y="2621280"/>
            <a:ext cx="11474450" cy="3612833"/>
          </a:xfrm>
        </p:spPr>
        <p:txBody>
          <a:bodyPr>
            <a:normAutofit/>
          </a:bodyPr>
          <a:lstStyle/>
          <a:p>
            <a:pPr marL="0" indent="0">
              <a:buNone/>
            </a:pPr>
            <a:r>
              <a:rPr lang="en-US" b="0" i="0" dirty="0">
                <a:effectLst/>
                <a:latin typeface="system-ui"/>
              </a:rPr>
              <a:t>This is </a:t>
            </a:r>
            <a:r>
              <a:rPr lang="en-US" b="0" i="1" dirty="0">
                <a:effectLst/>
                <a:latin typeface="system-ui"/>
              </a:rPr>
              <a:t>very</a:t>
            </a:r>
            <a:r>
              <a:rPr lang="en-US" b="0" i="0" dirty="0">
                <a:effectLst/>
                <a:latin typeface="system-ui"/>
              </a:rPr>
              <a:t> similar to the approximation objective function we saw before, </a:t>
            </a:r>
            <a:r>
              <a:rPr lang="en-US" dirty="0">
                <a:solidFill>
                  <a:schemeClr val="accent4"/>
                </a:solidFill>
              </a:rPr>
              <a:t>∥f(</a:t>
            </a:r>
            <a:r>
              <a:rPr lang="en-US" dirty="0" err="1">
                <a:solidFill>
                  <a:schemeClr val="accent4"/>
                </a:solidFill>
              </a:rPr>
              <a:t>x;θ</a:t>
            </a:r>
            <a:r>
              <a:rPr lang="en-US" dirty="0">
                <a:solidFill>
                  <a:schemeClr val="accent4"/>
                </a:solidFill>
              </a:rPr>
              <a:t>)−y∥</a:t>
            </a:r>
            <a:r>
              <a:rPr lang="en-US" b="0" i="0" dirty="0">
                <a:effectLst/>
                <a:latin typeface="system-ui"/>
              </a:rPr>
              <a:t>, but </a:t>
            </a:r>
          </a:p>
          <a:p>
            <a:r>
              <a:rPr lang="en-US" b="0" i="0" dirty="0">
                <a:effectLst/>
                <a:latin typeface="system-ui"/>
              </a:rPr>
              <a:t>we have </a:t>
            </a:r>
            <a:r>
              <a:rPr lang="en-US" dirty="0">
                <a:solidFill>
                  <a:schemeClr val="accent4"/>
                </a:solidFill>
              </a:rPr>
              <a:t>y=0</a:t>
            </a:r>
            <a:r>
              <a:rPr lang="en-US" dirty="0"/>
              <a:t>,</a:t>
            </a:r>
            <a:r>
              <a:rPr lang="en-US" b="0" i="0" dirty="0">
                <a:effectLst/>
                <a:latin typeface="system-ui"/>
              </a:rPr>
              <a:t> and </a:t>
            </a:r>
          </a:p>
          <a:p>
            <a:r>
              <a:rPr lang="en-US" b="0" i="0" dirty="0">
                <a:effectLst/>
                <a:latin typeface="system-ui"/>
              </a:rPr>
              <a:t>we only have a scalar output from </a:t>
            </a:r>
            <a:r>
              <a:rPr lang="en-US" dirty="0">
                <a:solidFill>
                  <a:schemeClr val="accent4"/>
                </a:solidFill>
              </a:rPr>
              <a:t>f</a:t>
            </a:r>
            <a:r>
              <a:rPr lang="en-US" b="0" i="0" dirty="0">
                <a:effectLst/>
                <a:latin typeface="system-ui"/>
              </a:rPr>
              <a:t> so the norm is unnecessary. </a:t>
            </a:r>
          </a:p>
          <a:p>
            <a:pPr marL="0" indent="0">
              <a:buNone/>
            </a:pPr>
            <a:r>
              <a:rPr lang="en-US" b="0" i="0" dirty="0">
                <a:effectLst/>
                <a:latin typeface="system-ui"/>
              </a:rPr>
              <a:t>We already know how to solve this kind of problem; </a:t>
            </a:r>
            <a:r>
              <a:rPr lang="en-US" b="0" i="1" dirty="0">
                <a:solidFill>
                  <a:schemeClr val="accent4"/>
                </a:solidFill>
                <a:effectLst/>
                <a:latin typeface="system-ui"/>
              </a:rPr>
              <a:t>just </a:t>
            </a:r>
            <a:r>
              <a:rPr lang="en-US" b="0" i="1" dirty="0" err="1">
                <a:solidFill>
                  <a:schemeClr val="accent4"/>
                </a:solidFill>
                <a:effectLst/>
                <a:latin typeface="system-ui"/>
              </a:rPr>
              <a:t>optimise</a:t>
            </a:r>
            <a:r>
              <a:rPr lang="en-US" i="1" dirty="0">
                <a:solidFill>
                  <a:schemeClr val="accent4"/>
                </a:solidFill>
                <a:latin typeface="system-ui"/>
              </a:rPr>
              <a:t>!</a:t>
            </a:r>
            <a:endParaRPr lang="en-US" b="0" i="1" dirty="0">
              <a:solidFill>
                <a:schemeClr val="accent4"/>
              </a:solidFill>
              <a:effectLst/>
              <a:latin typeface="system-ui"/>
            </a:endParaRPr>
          </a:p>
          <a:p>
            <a:pPr marL="0" indent="0">
              <a:buNone/>
            </a:pPr>
            <a:r>
              <a:rPr lang="en-US" b="0" i="0" dirty="0">
                <a:effectLst/>
                <a:latin typeface="system-ui"/>
              </a:rPr>
              <a:t>This is called </a:t>
            </a:r>
            <a:r>
              <a:rPr lang="en-US" b="1" i="0" dirty="0">
                <a:solidFill>
                  <a:schemeClr val="accent5"/>
                </a:solidFill>
                <a:effectLst/>
                <a:latin typeface="system-ui"/>
              </a:rPr>
              <a:t>maximum likelihood estimation</a:t>
            </a:r>
            <a:r>
              <a:rPr lang="en-US" b="0" i="0" dirty="0">
                <a:solidFill>
                  <a:schemeClr val="accent5"/>
                </a:solidFill>
                <a:effectLst/>
                <a:latin typeface="system-ui"/>
              </a:rPr>
              <a:t> </a:t>
            </a:r>
            <a:r>
              <a:rPr lang="en-US" b="0" i="0" dirty="0">
                <a:effectLst/>
                <a:latin typeface="system-ui"/>
              </a:rPr>
              <a:t>and is a general technique for determining parameters of a distribution which we don't know given some observations. </a:t>
            </a:r>
          </a:p>
          <a:p>
            <a:pPr marL="0" indent="0">
              <a:buNone/>
            </a:pPr>
            <a:r>
              <a:rPr lang="en-US" b="0" i="0" dirty="0">
                <a:effectLst/>
                <a:latin typeface="system-ui"/>
              </a:rPr>
              <a:t>It will find the </a:t>
            </a:r>
            <a:r>
              <a:rPr lang="en-US" b="1" i="0" dirty="0">
                <a:solidFill>
                  <a:schemeClr val="accent5"/>
                </a:solidFill>
                <a:effectLst/>
                <a:latin typeface="system-ui"/>
              </a:rPr>
              <a:t>best</a:t>
            </a:r>
            <a:r>
              <a:rPr lang="en-US" b="0" i="0" dirty="0">
                <a:effectLst/>
                <a:latin typeface="system-ui"/>
              </a:rPr>
              <a:t> setting of parameters that would explain how the observations came to be.</a:t>
            </a:r>
            <a:endParaRPr lang="en-GB" dirty="0"/>
          </a:p>
        </p:txBody>
      </p:sp>
      <p:pic>
        <p:nvPicPr>
          <p:cNvPr id="5" name="Picture 4">
            <a:extLst>
              <a:ext uri="{FF2B5EF4-FFF2-40B4-BE49-F238E27FC236}">
                <a16:creationId xmlns:a16="http://schemas.microsoft.com/office/drawing/2014/main" id="{43311E5B-ADF1-6E1A-0887-99D94818D839}"/>
              </a:ext>
            </a:extLst>
          </p:cNvPr>
          <p:cNvPicPr>
            <a:picLocks noChangeAspect="1"/>
          </p:cNvPicPr>
          <p:nvPr/>
        </p:nvPicPr>
        <p:blipFill>
          <a:blip r:embed="rId2"/>
          <a:stretch>
            <a:fillRect/>
          </a:stretch>
        </p:blipFill>
        <p:spPr>
          <a:xfrm>
            <a:off x="1463976" y="1760578"/>
            <a:ext cx="7994620" cy="522524"/>
          </a:xfrm>
          <a:prstGeom prst="rect">
            <a:avLst/>
          </a:prstGeom>
        </p:spPr>
      </p:pic>
    </p:spTree>
    <p:extLst>
      <p:ext uri="{BB962C8B-B14F-4D97-AF65-F5344CB8AC3E}">
        <p14:creationId xmlns:p14="http://schemas.microsoft.com/office/powerpoint/2010/main" val="193620335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6BF0C-2953-DB8A-B917-F53492DAB36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F02CF4-1835-955B-62AC-D8741B3D377B}"/>
              </a:ext>
            </a:extLst>
          </p:cNvPr>
          <p:cNvSpPr>
            <a:spLocks noGrp="1"/>
          </p:cNvSpPr>
          <p:nvPr>
            <p:ph type="title"/>
          </p:nvPr>
        </p:nvSpPr>
        <p:spPr/>
        <p:txBody>
          <a:bodyPr/>
          <a:lstStyle/>
          <a:p>
            <a:r>
              <a:rPr lang="en-GB" dirty="0"/>
              <a:t>Maximum Likelihood estimation</a:t>
            </a:r>
          </a:p>
        </p:txBody>
      </p:sp>
      <p:sp>
        <p:nvSpPr>
          <p:cNvPr id="2" name="Content Placeholder 1">
            <a:extLst>
              <a:ext uri="{FF2B5EF4-FFF2-40B4-BE49-F238E27FC236}">
                <a16:creationId xmlns:a16="http://schemas.microsoft.com/office/drawing/2014/main" id="{0F48EE13-C2E8-7CE5-FE12-72E555A5053A}"/>
              </a:ext>
            </a:extLst>
          </p:cNvPr>
          <p:cNvSpPr>
            <a:spLocks noGrp="1"/>
          </p:cNvSpPr>
          <p:nvPr>
            <p:ph sz="quarter" idx="13"/>
          </p:nvPr>
        </p:nvSpPr>
        <p:spPr>
          <a:xfrm>
            <a:off x="285750" y="2621280"/>
            <a:ext cx="11474450" cy="3612833"/>
          </a:xfrm>
        </p:spPr>
        <p:txBody>
          <a:bodyPr>
            <a:normAutofit/>
          </a:bodyPr>
          <a:lstStyle/>
          <a:p>
            <a:r>
              <a:rPr lang="en-US" b="0" i="0" dirty="0">
                <a:effectLst/>
                <a:latin typeface="system-ui"/>
              </a:rPr>
              <a:t>If we're lucky, this will be differentiable and we can use gradient descent (or stochastic gradient descent</a:t>
            </a:r>
          </a:p>
          <a:p>
            <a:pPr lvl="1"/>
            <a:r>
              <a:rPr lang="en-US" b="0" i="0" dirty="0">
                <a:effectLst/>
                <a:latin typeface="system-ui"/>
              </a:rPr>
              <a:t>note that the objective function is a sum of simple sub-objective functions). </a:t>
            </a:r>
          </a:p>
          <a:p>
            <a:r>
              <a:rPr lang="en-US" b="0" i="0" dirty="0">
                <a:effectLst/>
                <a:latin typeface="system-ui"/>
              </a:rPr>
              <a:t>If we're not, we can fall back on less efficient </a:t>
            </a:r>
            <a:r>
              <a:rPr lang="en-US" b="0" i="0" dirty="0" err="1">
                <a:effectLst/>
                <a:latin typeface="system-ui"/>
              </a:rPr>
              <a:t>optimisers</a:t>
            </a:r>
            <a:r>
              <a:rPr lang="en-US" b="0" i="0" dirty="0">
                <a:effectLst/>
                <a:latin typeface="system-ui"/>
              </a:rPr>
              <a:t>. </a:t>
            </a:r>
          </a:p>
          <a:p>
            <a:pPr marL="0" indent="0">
              <a:buNone/>
            </a:pPr>
            <a:r>
              <a:rPr lang="en-US" b="0" i="0" dirty="0">
                <a:effectLst/>
                <a:latin typeface="system-ui"/>
              </a:rPr>
              <a:t>We don't need special estimators in this case, as long as we can evaluate the PDF </a:t>
            </a:r>
            <a:r>
              <a:rPr lang="en-US" dirty="0"/>
              <a:t>f(</a:t>
            </a:r>
            <a:r>
              <a:rPr lang="en-US" dirty="0" err="1"/>
              <a:t>x;θ</a:t>
            </a:r>
            <a:r>
              <a:rPr lang="en-US" dirty="0"/>
              <a:t>)</a:t>
            </a:r>
            <a:r>
              <a:rPr lang="en-US" b="0" i="0" dirty="0">
                <a:effectLst/>
                <a:latin typeface="system-ui"/>
              </a:rPr>
              <a:t> for any setting of parameters </a:t>
            </a:r>
            <a:r>
              <a:rPr lang="en-US" dirty="0"/>
              <a:t>θ</a:t>
            </a:r>
            <a:r>
              <a:rPr lang="en-US" b="0" i="0" dirty="0">
                <a:effectLst/>
                <a:latin typeface="system-ui"/>
              </a:rPr>
              <a:t>. </a:t>
            </a:r>
          </a:p>
          <a:p>
            <a:pPr marL="0" indent="0" algn="ctr">
              <a:buNone/>
            </a:pPr>
            <a:r>
              <a:rPr lang="en-US" b="0" i="1" dirty="0">
                <a:solidFill>
                  <a:schemeClr val="accent4"/>
                </a:solidFill>
                <a:effectLst/>
                <a:latin typeface="system-ui"/>
              </a:rPr>
              <a:t>This works for a much wider class of probability distributions</a:t>
            </a:r>
            <a:r>
              <a:rPr lang="en-US" b="0" i="0" dirty="0">
                <a:solidFill>
                  <a:schemeClr val="accent4"/>
                </a:solidFill>
                <a:effectLst/>
                <a:latin typeface="system-ui"/>
              </a:rPr>
              <a:t>.</a:t>
            </a:r>
            <a:endParaRPr lang="en-GB" dirty="0">
              <a:solidFill>
                <a:schemeClr val="accent4"/>
              </a:solidFill>
            </a:endParaRPr>
          </a:p>
        </p:txBody>
      </p:sp>
      <p:pic>
        <p:nvPicPr>
          <p:cNvPr id="5" name="Picture 4">
            <a:extLst>
              <a:ext uri="{FF2B5EF4-FFF2-40B4-BE49-F238E27FC236}">
                <a16:creationId xmlns:a16="http://schemas.microsoft.com/office/drawing/2014/main" id="{7FC0F290-64D7-EE0B-0701-A27F06E1F3E2}"/>
              </a:ext>
            </a:extLst>
          </p:cNvPr>
          <p:cNvPicPr>
            <a:picLocks noChangeAspect="1"/>
          </p:cNvPicPr>
          <p:nvPr/>
        </p:nvPicPr>
        <p:blipFill>
          <a:blip r:embed="rId2"/>
          <a:stretch>
            <a:fillRect/>
          </a:stretch>
        </p:blipFill>
        <p:spPr>
          <a:xfrm>
            <a:off x="1463976" y="1760578"/>
            <a:ext cx="7994620" cy="522524"/>
          </a:xfrm>
          <a:prstGeom prst="rect">
            <a:avLst/>
          </a:prstGeom>
        </p:spPr>
      </p:pic>
    </p:spTree>
    <p:extLst>
      <p:ext uri="{BB962C8B-B14F-4D97-AF65-F5344CB8AC3E}">
        <p14:creationId xmlns:p14="http://schemas.microsoft.com/office/powerpoint/2010/main" val="379247682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08A831-53A2-DD87-BBF6-5F8030C1B1D4}"/>
              </a:ext>
            </a:extLst>
          </p:cNvPr>
          <p:cNvSpPr>
            <a:spLocks noGrp="1"/>
          </p:cNvSpPr>
          <p:nvPr>
            <p:ph type="title"/>
          </p:nvPr>
        </p:nvSpPr>
        <p:spPr/>
        <p:txBody>
          <a:bodyPr/>
          <a:lstStyle/>
          <a:p>
            <a:r>
              <a:rPr lang="en-US" b="1" i="0" dirty="0">
                <a:effectLst/>
                <a:latin typeface="system-ui"/>
              </a:rPr>
              <a:t>Fitting a normal with MLE</a:t>
            </a:r>
            <a:br>
              <a:rPr lang="en-US" b="1" i="0" dirty="0">
                <a:effectLst/>
                <a:latin typeface="system-ui"/>
              </a:rPr>
            </a:br>
            <a:endParaRPr lang="en-GB" dirty="0"/>
          </a:p>
        </p:txBody>
      </p:sp>
      <p:sp>
        <p:nvSpPr>
          <p:cNvPr id="3" name="Content Placeholder 2">
            <a:extLst>
              <a:ext uri="{FF2B5EF4-FFF2-40B4-BE49-F238E27FC236}">
                <a16:creationId xmlns:a16="http://schemas.microsoft.com/office/drawing/2014/main" id="{13C589C5-3B2B-2300-A326-B3352B42AE8D}"/>
              </a:ext>
            </a:extLst>
          </p:cNvPr>
          <p:cNvSpPr>
            <a:spLocks noGrp="1"/>
          </p:cNvSpPr>
          <p:nvPr>
            <p:ph sz="quarter" idx="13"/>
          </p:nvPr>
        </p:nvSpPr>
        <p:spPr/>
        <p:txBody>
          <a:bodyPr/>
          <a:lstStyle/>
          <a:p>
            <a:pPr algn="l"/>
            <a:r>
              <a:rPr lang="en-US" b="0" i="0" dirty="0">
                <a:effectLst/>
                <a:latin typeface="system-ui"/>
              </a:rPr>
              <a:t>We can for example look at the problem of estimating the mean and variance of a normal distribution from a set of (assumed to be independent) samples </a:t>
            </a:r>
            <a:r>
              <a:rPr lang="en-US" b="0" i="1" dirty="0">
                <a:effectLst/>
                <a:latin typeface="system-ui"/>
              </a:rPr>
              <a:t>without</a:t>
            </a:r>
            <a:r>
              <a:rPr lang="en-US" b="0" i="0" dirty="0">
                <a:effectLst/>
                <a:latin typeface="system-ui"/>
              </a:rPr>
              <a:t> using estimators; for example our app ratings. </a:t>
            </a:r>
          </a:p>
          <a:p>
            <a:pPr algn="l"/>
            <a:r>
              <a:rPr lang="en-US" b="0" i="0" dirty="0">
                <a:effectLst/>
                <a:latin typeface="system-ui"/>
              </a:rPr>
              <a:t>To do this, we need to be able to compute the likelihood for any given sample, and take the product (or rather sum of log likelihoods) for all of those samples.</a:t>
            </a:r>
          </a:p>
          <a:p>
            <a:pPr algn="l"/>
            <a:r>
              <a:rPr lang="en-US" b="0" i="0" dirty="0">
                <a:effectLst/>
                <a:latin typeface="system-ui"/>
              </a:rPr>
              <a:t>This gives us our objective function. If we flip the sign, so that we </a:t>
            </a:r>
            <a:r>
              <a:rPr lang="en-US" b="0" i="0" dirty="0" err="1">
                <a:effectLst/>
                <a:latin typeface="system-ui"/>
              </a:rPr>
              <a:t>minimise</a:t>
            </a:r>
            <a:r>
              <a:rPr lang="en-US" b="0" i="0" dirty="0">
                <a:effectLst/>
                <a:latin typeface="system-ui"/>
              </a:rPr>
              <a:t> the negative log-likelihood, we will then search for the parameter vector that makes the data most likely.</a:t>
            </a:r>
          </a:p>
          <a:p>
            <a:pPr algn="l"/>
            <a:r>
              <a:rPr lang="en-US" b="0" i="0" dirty="0">
                <a:effectLst/>
                <a:latin typeface="system-ui"/>
              </a:rPr>
              <a:t>For a univariate normal distribution, the parameters are just μ and σ, so θ=[</a:t>
            </a:r>
            <a:r>
              <a:rPr lang="en-US" b="0" i="0" dirty="0" err="1">
                <a:effectLst/>
                <a:latin typeface="system-ui"/>
              </a:rPr>
              <a:t>μ,σ</a:t>
            </a:r>
            <a:r>
              <a:rPr lang="en-US" b="0" i="0" dirty="0">
                <a:effectLst/>
                <a:latin typeface="system-ui"/>
              </a:rPr>
              <a:t>].</a:t>
            </a:r>
          </a:p>
          <a:p>
            <a:pPr algn="l"/>
            <a:r>
              <a:rPr lang="en-US" b="0" i="0" dirty="0">
                <a:effectLst/>
                <a:latin typeface="system-ui"/>
              </a:rPr>
              <a:t>In this case, of course, we </a:t>
            </a:r>
            <a:r>
              <a:rPr lang="en-US" b="0" i="1" dirty="0">
                <a:effectLst/>
                <a:latin typeface="system-ui"/>
              </a:rPr>
              <a:t>do</a:t>
            </a:r>
            <a:r>
              <a:rPr lang="en-US" b="0" i="0" dirty="0">
                <a:effectLst/>
                <a:latin typeface="system-ui"/>
              </a:rPr>
              <a:t> have estimators; but the procedure works just as well when we only have a likelihood function.</a:t>
            </a:r>
          </a:p>
          <a:p>
            <a:endParaRPr lang="en-GB" dirty="0"/>
          </a:p>
        </p:txBody>
      </p:sp>
    </p:spTree>
    <p:extLst>
      <p:ext uri="{BB962C8B-B14F-4D97-AF65-F5344CB8AC3E}">
        <p14:creationId xmlns:p14="http://schemas.microsoft.com/office/powerpoint/2010/main" val="162613624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Placeholder 13">
            <a:extLst>
              <a:ext uri="{FF2B5EF4-FFF2-40B4-BE49-F238E27FC236}">
                <a16:creationId xmlns:a16="http://schemas.microsoft.com/office/drawing/2014/main" id="{6C7FA2B1-23A7-8840-983B-C80C4BBB4E03}"/>
              </a:ext>
            </a:extLst>
          </p:cNvPr>
          <p:cNvSpPr>
            <a:spLocks noGrp="1"/>
          </p:cNvSpPr>
          <p:nvPr>
            <p:ph type="body" idx="1"/>
          </p:nvPr>
        </p:nvSpPr>
        <p:spPr/>
        <p:txBody>
          <a:bodyPr/>
          <a:lstStyle/>
          <a:p>
            <a:r>
              <a:rPr lang="en-GB" dirty="0"/>
              <a:t>code</a:t>
            </a:r>
          </a:p>
        </p:txBody>
      </p:sp>
      <p:pic>
        <p:nvPicPr>
          <p:cNvPr id="5" name="Content Placeholder 4">
            <a:extLst>
              <a:ext uri="{FF2B5EF4-FFF2-40B4-BE49-F238E27FC236}">
                <a16:creationId xmlns:a16="http://schemas.microsoft.com/office/drawing/2014/main" id="{F8DA737D-7BF6-B11D-3C61-5E3FB72C56D2}"/>
              </a:ext>
            </a:extLst>
          </p:cNvPr>
          <p:cNvPicPr>
            <a:picLocks noGrp="1" noChangeAspect="1"/>
          </p:cNvPicPr>
          <p:nvPr>
            <p:ph sz="half" idx="2"/>
          </p:nvPr>
        </p:nvPicPr>
        <p:blipFill>
          <a:blip r:embed="rId2"/>
          <a:stretch>
            <a:fillRect/>
          </a:stretch>
        </p:blipFill>
        <p:spPr>
          <a:xfrm>
            <a:off x="1160668" y="2505075"/>
            <a:ext cx="4516027" cy="3684588"/>
          </a:xfrm>
          <a:noFill/>
        </p:spPr>
      </p:pic>
      <p:sp>
        <p:nvSpPr>
          <p:cNvPr id="15" name="Text Placeholder 14">
            <a:extLst>
              <a:ext uri="{FF2B5EF4-FFF2-40B4-BE49-F238E27FC236}">
                <a16:creationId xmlns:a16="http://schemas.microsoft.com/office/drawing/2014/main" id="{A1BA44FB-EF15-5195-7566-17DBF3514870}"/>
              </a:ext>
            </a:extLst>
          </p:cNvPr>
          <p:cNvSpPr>
            <a:spLocks noGrp="1"/>
          </p:cNvSpPr>
          <p:nvPr>
            <p:ph type="body" sz="quarter" idx="3"/>
          </p:nvPr>
        </p:nvSpPr>
        <p:spPr/>
        <p:txBody>
          <a:bodyPr/>
          <a:lstStyle/>
          <a:p>
            <a:r>
              <a:rPr lang="en-GB" dirty="0"/>
              <a:t>output</a:t>
            </a:r>
          </a:p>
        </p:txBody>
      </p:sp>
      <p:sp>
        <p:nvSpPr>
          <p:cNvPr id="13" name="Title 12">
            <a:extLst>
              <a:ext uri="{FF2B5EF4-FFF2-40B4-BE49-F238E27FC236}">
                <a16:creationId xmlns:a16="http://schemas.microsoft.com/office/drawing/2014/main" id="{38EE81B9-A1DF-6881-F834-92125F7490CC}"/>
              </a:ext>
            </a:extLst>
          </p:cNvPr>
          <p:cNvSpPr>
            <a:spLocks noGrp="1"/>
          </p:cNvSpPr>
          <p:nvPr>
            <p:ph type="title"/>
          </p:nvPr>
        </p:nvSpPr>
        <p:spPr/>
        <p:txBody>
          <a:bodyPr/>
          <a:lstStyle/>
          <a:p>
            <a:r>
              <a:rPr lang="en-US" b="1" i="0" dirty="0">
                <a:effectLst/>
                <a:latin typeface="system-ui"/>
              </a:rPr>
              <a:t>Fitting a normal with MLE</a:t>
            </a:r>
            <a:br>
              <a:rPr lang="en-US" b="1" i="0" dirty="0">
                <a:effectLst/>
                <a:latin typeface="system-ui"/>
              </a:rPr>
            </a:br>
            <a:endParaRPr lang="en-GB" dirty="0"/>
          </a:p>
        </p:txBody>
      </p:sp>
      <p:pic>
        <p:nvPicPr>
          <p:cNvPr id="17" name="Content Placeholder 7">
            <a:extLst>
              <a:ext uri="{FF2B5EF4-FFF2-40B4-BE49-F238E27FC236}">
                <a16:creationId xmlns:a16="http://schemas.microsoft.com/office/drawing/2014/main" id="{C079143D-C837-3386-ED59-1C914F93AF90}"/>
              </a:ext>
            </a:extLst>
          </p:cNvPr>
          <p:cNvPicPr>
            <a:picLocks noGrp="1" noChangeAspect="1"/>
          </p:cNvPicPr>
          <p:nvPr>
            <p:ph sz="quarter" idx="4"/>
          </p:nvPr>
        </p:nvPicPr>
        <p:blipFill>
          <a:blip r:embed="rId3"/>
          <a:stretch>
            <a:fillRect/>
          </a:stretch>
        </p:blipFill>
        <p:spPr>
          <a:xfrm>
            <a:off x="7544585" y="3147210"/>
            <a:ext cx="2438418" cy="2400318"/>
          </a:xfrm>
          <a:prstGeom prst="rect">
            <a:avLst/>
          </a:prstGeom>
        </p:spPr>
      </p:pic>
    </p:spTree>
    <p:extLst>
      <p:ext uri="{BB962C8B-B14F-4D97-AF65-F5344CB8AC3E}">
        <p14:creationId xmlns:p14="http://schemas.microsoft.com/office/powerpoint/2010/main" val="17781256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16DFDB-996B-B8CE-E23A-1EB676B7A7D1}"/>
              </a:ext>
            </a:extLst>
          </p:cNvPr>
          <p:cNvSpPr>
            <a:spLocks noGrp="1"/>
          </p:cNvSpPr>
          <p:nvPr>
            <p:ph type="title"/>
          </p:nvPr>
        </p:nvSpPr>
        <p:spPr/>
        <p:txBody>
          <a:bodyPr/>
          <a:lstStyle/>
          <a:p>
            <a:r>
              <a:rPr lang="en-US" b="1" i="0" dirty="0">
                <a:effectLst/>
                <a:latin typeface="system-ui"/>
              </a:rPr>
              <a:t>Fitting a normal with MLE</a:t>
            </a:r>
            <a:br>
              <a:rPr lang="en-US" b="1" i="0" dirty="0">
                <a:effectLst/>
                <a:latin typeface="system-ui"/>
              </a:rPr>
            </a:br>
            <a:endParaRPr lang="en-GB" dirty="0"/>
          </a:p>
        </p:txBody>
      </p:sp>
      <p:pic>
        <p:nvPicPr>
          <p:cNvPr id="10" name="Content Placeholder 9">
            <a:extLst>
              <a:ext uri="{FF2B5EF4-FFF2-40B4-BE49-F238E27FC236}">
                <a16:creationId xmlns:a16="http://schemas.microsoft.com/office/drawing/2014/main" id="{FFF73843-3CE3-222D-1769-0F3420D5B690}"/>
              </a:ext>
            </a:extLst>
          </p:cNvPr>
          <p:cNvPicPr>
            <a:picLocks noGrp="1" noChangeAspect="1"/>
          </p:cNvPicPr>
          <p:nvPr>
            <p:ph sz="quarter" idx="13"/>
          </p:nvPr>
        </p:nvPicPr>
        <p:blipFill>
          <a:blip r:embed="rId2"/>
          <a:stretch>
            <a:fillRect/>
          </a:stretch>
        </p:blipFill>
        <p:spPr>
          <a:xfrm>
            <a:off x="2221224" y="1627188"/>
            <a:ext cx="7603501" cy="4606925"/>
          </a:xfrm>
        </p:spPr>
      </p:pic>
    </p:spTree>
    <p:extLst>
      <p:ext uri="{BB962C8B-B14F-4D97-AF65-F5344CB8AC3E}">
        <p14:creationId xmlns:p14="http://schemas.microsoft.com/office/powerpoint/2010/main" val="37775831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E46DD-BCCB-D47C-B2DD-E62709CFFA21}"/>
              </a:ext>
            </a:extLst>
          </p:cNvPr>
          <p:cNvSpPr>
            <a:spLocks noGrp="1"/>
          </p:cNvSpPr>
          <p:nvPr>
            <p:ph type="title"/>
          </p:nvPr>
        </p:nvSpPr>
        <p:spPr/>
        <p:txBody>
          <a:bodyPr/>
          <a:lstStyle/>
          <a:p>
            <a:r>
              <a:rPr lang="en-GB" b="1" i="0" dirty="0">
                <a:effectLst/>
                <a:latin typeface="system-ui"/>
              </a:rPr>
              <a:t>A mixture model</a:t>
            </a:r>
            <a:endParaRPr lang="en-GB" dirty="0"/>
          </a:p>
        </p:txBody>
      </p:sp>
      <p:sp>
        <p:nvSpPr>
          <p:cNvPr id="3" name="Content Placeholder 2">
            <a:extLst>
              <a:ext uri="{FF2B5EF4-FFF2-40B4-BE49-F238E27FC236}">
                <a16:creationId xmlns:a16="http://schemas.microsoft.com/office/drawing/2014/main" id="{643BB17B-7687-258E-7DFA-B93AD1441BA7}"/>
              </a:ext>
            </a:extLst>
          </p:cNvPr>
          <p:cNvSpPr>
            <a:spLocks noGrp="1"/>
          </p:cNvSpPr>
          <p:nvPr>
            <p:ph sz="quarter" idx="13"/>
          </p:nvPr>
        </p:nvSpPr>
        <p:spPr/>
        <p:txBody>
          <a:bodyPr/>
          <a:lstStyle/>
          <a:p>
            <a:pPr marL="0" indent="0">
              <a:buNone/>
            </a:pPr>
            <a:r>
              <a:rPr lang="en-US" b="0" i="0" dirty="0">
                <a:effectLst/>
                <a:latin typeface="system-ui"/>
              </a:rPr>
              <a:t>But what if our model was more complicated than just a normal distribution? </a:t>
            </a:r>
          </a:p>
          <a:p>
            <a:pPr marL="0" indent="0">
              <a:buNone/>
            </a:pPr>
            <a:r>
              <a:rPr lang="en-US" b="0" i="0" dirty="0">
                <a:effectLst/>
                <a:latin typeface="system-ui"/>
              </a:rPr>
              <a:t>We could imagine that we model in some other way, perhaps that might be able to capture the fact that app B seems to have two "humps" on either side. </a:t>
            </a:r>
          </a:p>
          <a:p>
            <a:pPr marL="0" indent="0">
              <a:buNone/>
            </a:pPr>
            <a:r>
              <a:rPr lang="en-US" b="0" i="0" dirty="0">
                <a:effectLst/>
                <a:latin typeface="system-ui"/>
              </a:rPr>
              <a:t>One very simple model is a </a:t>
            </a:r>
            <a:r>
              <a:rPr lang="en-US" b="1" i="0" dirty="0">
                <a:effectLst/>
                <a:latin typeface="system-ui"/>
              </a:rPr>
              <a:t>mixture of Gaussians</a:t>
            </a:r>
            <a:r>
              <a:rPr lang="en-US" b="0" i="0" dirty="0">
                <a:effectLst/>
                <a:latin typeface="system-ui"/>
              </a:rPr>
              <a:t>, where we just say that we expect the PDF of the distribution we are trying to fit is a weighted combination (convex sum) of </a:t>
            </a:r>
            <a:r>
              <a:rPr lang="en-US" dirty="0"/>
              <a:t>N</a:t>
            </a:r>
            <a:r>
              <a:rPr lang="en-US" b="0" i="0" dirty="0">
                <a:effectLst/>
                <a:latin typeface="system-ui"/>
              </a:rPr>
              <a:t> different normal distributions ("components") </a:t>
            </a:r>
            <a:r>
              <a:rPr lang="en-US" dirty="0">
                <a:solidFill>
                  <a:schemeClr val="accent4"/>
                </a:solidFill>
              </a:rPr>
              <a:t>N</a:t>
            </a:r>
            <a:r>
              <a:rPr lang="en-US" baseline="-25000" dirty="0">
                <a:solidFill>
                  <a:schemeClr val="accent4"/>
                </a:solidFill>
              </a:rPr>
              <a:t>i</a:t>
            </a:r>
            <a:r>
              <a:rPr lang="en-US" dirty="0">
                <a:solidFill>
                  <a:schemeClr val="accent4"/>
                </a:solidFill>
              </a:rPr>
              <a:t>(</a:t>
            </a:r>
            <a:r>
              <a:rPr lang="en-US" dirty="0" err="1">
                <a:solidFill>
                  <a:schemeClr val="accent4"/>
                </a:solidFill>
              </a:rPr>
              <a:t>μ</a:t>
            </a:r>
            <a:r>
              <a:rPr lang="en-US" baseline="-25000" dirty="0" err="1">
                <a:solidFill>
                  <a:schemeClr val="accent4"/>
                </a:solidFill>
              </a:rPr>
              <a:t>i</a:t>
            </a:r>
            <a:r>
              <a:rPr lang="en-US" dirty="0" err="1">
                <a:solidFill>
                  <a:schemeClr val="accent4"/>
                </a:solidFill>
              </a:rPr>
              <a:t>,σ</a:t>
            </a:r>
            <a:r>
              <a:rPr lang="en-US" baseline="-25000" dirty="0" err="1">
                <a:solidFill>
                  <a:schemeClr val="accent4"/>
                </a:solidFill>
              </a:rPr>
              <a:t>i</a:t>
            </a:r>
            <a:r>
              <a:rPr lang="en-US" dirty="0">
                <a:solidFill>
                  <a:schemeClr val="accent4"/>
                </a:solidFill>
              </a:rPr>
              <a:t>)</a:t>
            </a:r>
            <a:r>
              <a:rPr lang="en-US" b="0" i="0" dirty="0">
                <a:effectLst/>
                <a:latin typeface="system-ui"/>
              </a:rPr>
              <a:t>, each with its </a:t>
            </a:r>
            <a:r>
              <a:rPr lang="en-US" b="0" i="1" dirty="0">
                <a:effectLst/>
                <a:latin typeface="system-ui"/>
              </a:rPr>
              <a:t>own</a:t>
            </a:r>
            <a:r>
              <a:rPr lang="en-US" b="0" i="0" dirty="0">
                <a:effectLst/>
                <a:latin typeface="system-ui"/>
              </a:rPr>
              <a:t> </a:t>
            </a:r>
            <a:r>
              <a:rPr lang="en-US" dirty="0" err="1">
                <a:solidFill>
                  <a:schemeClr val="accent4"/>
                </a:solidFill>
              </a:rPr>
              <a:t>μ</a:t>
            </a:r>
            <a:r>
              <a:rPr lang="en-US" baseline="-25000" dirty="0" err="1">
                <a:solidFill>
                  <a:schemeClr val="accent4"/>
                </a:solidFill>
              </a:rPr>
              <a:t>i</a:t>
            </a:r>
            <a:r>
              <a:rPr lang="en-US" dirty="0" err="1">
                <a:solidFill>
                  <a:schemeClr val="accent4"/>
                </a:solidFill>
              </a:rPr>
              <a:t>,σ</a:t>
            </a:r>
            <a:r>
              <a:rPr lang="en-US" baseline="-25000" dirty="0" err="1">
                <a:solidFill>
                  <a:schemeClr val="accent4"/>
                </a:solidFill>
              </a:rPr>
              <a:t>i</a:t>
            </a:r>
            <a:r>
              <a:rPr lang="en-US" b="0" i="0" dirty="0">
                <a:effectLst/>
                <a:latin typeface="system-ui"/>
              </a:rPr>
              <a:t>, and with a weighting factor </a:t>
            </a:r>
            <a:r>
              <a:rPr lang="en-US" dirty="0" err="1">
                <a:solidFill>
                  <a:schemeClr val="accent4"/>
                </a:solidFill>
              </a:rPr>
              <a:t>λ</a:t>
            </a:r>
            <a:r>
              <a:rPr lang="en-US" baseline="-25000" dirty="0" err="1">
                <a:solidFill>
                  <a:schemeClr val="accent4"/>
                </a:solidFill>
              </a:rPr>
              <a:t>i</a:t>
            </a:r>
            <a:r>
              <a:rPr lang="en-US" b="0" i="0" dirty="0">
                <a:effectLst/>
                <a:latin typeface="system-ui"/>
              </a:rPr>
              <a:t> that says how important this "component" is, where </a:t>
            </a:r>
            <a:r>
              <a:rPr lang="en-US" dirty="0">
                <a:solidFill>
                  <a:schemeClr val="accent4"/>
                </a:solidFill>
              </a:rPr>
              <a:t>∑</a:t>
            </a:r>
            <a:r>
              <a:rPr lang="en-US" baseline="-25000" dirty="0" err="1">
                <a:solidFill>
                  <a:schemeClr val="accent4"/>
                </a:solidFill>
              </a:rPr>
              <a:t>i</a:t>
            </a:r>
            <a:r>
              <a:rPr lang="en-US" dirty="0" err="1">
                <a:solidFill>
                  <a:schemeClr val="accent4"/>
                </a:solidFill>
              </a:rPr>
              <a:t>λ</a:t>
            </a:r>
            <a:r>
              <a:rPr lang="en-US" baseline="-25000" dirty="0" err="1">
                <a:solidFill>
                  <a:schemeClr val="accent4"/>
                </a:solidFill>
              </a:rPr>
              <a:t>i</a:t>
            </a:r>
            <a:r>
              <a:rPr lang="en-US" dirty="0">
                <a:solidFill>
                  <a:schemeClr val="accent4"/>
                </a:solidFill>
              </a:rPr>
              <a:t>=1</a:t>
            </a:r>
            <a:r>
              <a:rPr lang="en-US" b="0" i="0" dirty="0">
                <a:solidFill>
                  <a:schemeClr val="accent4"/>
                </a:solidFill>
                <a:effectLst/>
                <a:latin typeface="system-ui"/>
              </a:rPr>
              <a:t>.</a:t>
            </a:r>
            <a:r>
              <a:rPr lang="en-US" b="0" i="0" dirty="0">
                <a:effectLst/>
                <a:latin typeface="system-ui"/>
              </a:rPr>
              <a:t> </a:t>
            </a:r>
          </a:p>
          <a:p>
            <a:pPr marL="0" indent="0">
              <a:buNone/>
            </a:pPr>
            <a:r>
              <a:rPr lang="en-US" b="0" i="0" dirty="0">
                <a:effectLst/>
                <a:latin typeface="system-ui"/>
              </a:rPr>
              <a:t>This lets us represent </a:t>
            </a:r>
            <a:r>
              <a:rPr lang="en-US" dirty="0">
                <a:latin typeface="system-ui"/>
              </a:rPr>
              <a:t>“</a:t>
            </a:r>
            <a:r>
              <a:rPr lang="en-US" b="0" i="0" dirty="0">
                <a:effectLst/>
                <a:latin typeface="system-ui"/>
              </a:rPr>
              <a:t>humpy” distributions.</a:t>
            </a:r>
            <a:endParaRPr lang="en-GB" dirty="0"/>
          </a:p>
        </p:txBody>
      </p:sp>
    </p:spTree>
    <p:extLst>
      <p:ext uri="{BB962C8B-B14F-4D97-AF65-F5344CB8AC3E}">
        <p14:creationId xmlns:p14="http://schemas.microsoft.com/office/powerpoint/2010/main" val="22341522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C2693-E1F2-0973-BA48-7DD6CBAF8CFC}"/>
              </a:ext>
            </a:extLst>
          </p:cNvPr>
          <p:cNvSpPr>
            <a:spLocks noGrp="1"/>
          </p:cNvSpPr>
          <p:nvPr>
            <p:ph type="title"/>
          </p:nvPr>
        </p:nvSpPr>
        <p:spPr/>
        <p:txBody>
          <a:bodyPr/>
          <a:lstStyle/>
          <a:p>
            <a:r>
              <a:rPr lang="en-GB" b="1" i="0" dirty="0">
                <a:effectLst/>
                <a:latin typeface="system-ui"/>
              </a:rPr>
              <a:t>A mixture model</a:t>
            </a:r>
            <a:endParaRPr lang="en-GB" dirty="0"/>
          </a:p>
        </p:txBody>
      </p:sp>
      <p:sp>
        <p:nvSpPr>
          <p:cNvPr id="3" name="Content Placeholder 2">
            <a:extLst>
              <a:ext uri="{FF2B5EF4-FFF2-40B4-BE49-F238E27FC236}">
                <a16:creationId xmlns:a16="http://schemas.microsoft.com/office/drawing/2014/main" id="{71EBBBE0-0CF6-FAA7-9596-98EA7836F55B}"/>
              </a:ext>
            </a:extLst>
          </p:cNvPr>
          <p:cNvSpPr>
            <a:spLocks noGrp="1"/>
          </p:cNvSpPr>
          <p:nvPr>
            <p:ph sz="quarter" idx="13"/>
          </p:nvPr>
        </p:nvSpPr>
        <p:spPr/>
        <p:txBody>
          <a:bodyPr>
            <a:normAutofit lnSpcReduction="10000"/>
          </a:bodyPr>
          <a:lstStyle/>
          <a:p>
            <a:pPr marL="0" indent="0" algn="l">
              <a:buNone/>
            </a:pPr>
            <a:r>
              <a:rPr lang="en-US" b="0" i="0" dirty="0">
                <a:effectLst/>
                <a:latin typeface="system-ui"/>
              </a:rPr>
              <a:t>This model lets us imagine that ratings might belong to one "cluster" or another. </a:t>
            </a:r>
          </a:p>
          <a:p>
            <a:pPr marL="0" indent="0" algn="l">
              <a:buNone/>
            </a:pPr>
            <a:r>
              <a:rPr lang="en-US" b="0" i="0" dirty="0">
                <a:effectLst/>
                <a:latin typeface="system-ui"/>
              </a:rPr>
              <a:t> placement and size of each cluster is given by the </a:t>
            </a:r>
            <a:r>
              <a:rPr lang="en-US" b="0" i="0" dirty="0" err="1">
                <a:solidFill>
                  <a:schemeClr val="accent4"/>
                </a:solidFill>
                <a:effectLst/>
                <a:latin typeface="system-ui"/>
              </a:rPr>
              <a:t>μ</a:t>
            </a:r>
            <a:r>
              <a:rPr lang="en-US" b="0" i="0" baseline="-25000" dirty="0" err="1">
                <a:solidFill>
                  <a:schemeClr val="accent4"/>
                </a:solidFill>
                <a:effectLst/>
                <a:latin typeface="system-ui"/>
              </a:rPr>
              <a:t>i</a:t>
            </a:r>
            <a:r>
              <a:rPr lang="en-US" b="0" i="0" dirty="0">
                <a:effectLst/>
                <a:latin typeface="system-ui"/>
              </a:rPr>
              <a:t> and </a:t>
            </a:r>
            <a:r>
              <a:rPr lang="en-US" b="0" i="0" dirty="0" err="1">
                <a:solidFill>
                  <a:schemeClr val="accent4"/>
                </a:solidFill>
                <a:effectLst/>
                <a:latin typeface="system-ui"/>
              </a:rPr>
              <a:t>σ</a:t>
            </a:r>
            <a:r>
              <a:rPr lang="en-US" b="0" i="0" baseline="-25000" dirty="0" err="1">
                <a:solidFill>
                  <a:schemeClr val="accent4"/>
                </a:solidFill>
                <a:effectLst/>
                <a:latin typeface="system-ui"/>
              </a:rPr>
              <a:t>i</a:t>
            </a:r>
            <a:r>
              <a:rPr lang="en-US" b="0" i="0" dirty="0">
                <a:effectLst/>
                <a:latin typeface="system-ui"/>
              </a:rPr>
              <a:t> for that component and </a:t>
            </a:r>
            <a:r>
              <a:rPr lang="en-US" b="0" i="0" dirty="0" err="1">
                <a:solidFill>
                  <a:schemeClr val="accent4"/>
                </a:solidFill>
                <a:effectLst/>
                <a:latin typeface="system-ui"/>
              </a:rPr>
              <a:t>λ</a:t>
            </a:r>
            <a:r>
              <a:rPr lang="en-US" b="0" i="0" baseline="-25000" dirty="0" err="1">
                <a:solidFill>
                  <a:schemeClr val="accent4"/>
                </a:solidFill>
                <a:effectLst/>
                <a:latin typeface="system-ui"/>
              </a:rPr>
              <a:t>i</a:t>
            </a:r>
            <a:r>
              <a:rPr lang="en-US" b="0" i="0" dirty="0">
                <a:effectLst/>
                <a:latin typeface="system-ui"/>
              </a:rPr>
              <a:t> gives an idea of how likely data is to fall into that cluster.</a:t>
            </a:r>
          </a:p>
          <a:p>
            <a:pPr marL="0" indent="0" algn="l">
              <a:buNone/>
            </a:pPr>
            <a:r>
              <a:rPr lang="en-US" b="0" i="0" dirty="0">
                <a:effectLst/>
                <a:latin typeface="system-ui"/>
              </a:rPr>
              <a:t>We can easily plot the PDF of this function; it's just:</a:t>
            </a:r>
          </a:p>
          <a:p>
            <a:pPr marL="0" indent="0" algn="l">
              <a:buNone/>
            </a:pPr>
            <a:endParaRPr lang="en-US" dirty="0">
              <a:latin typeface="system-ui"/>
            </a:endParaRPr>
          </a:p>
          <a:p>
            <a:pPr marL="0" indent="0" algn="l">
              <a:buNone/>
            </a:pPr>
            <a:endParaRPr lang="en-US" b="0" i="0" dirty="0">
              <a:effectLst/>
              <a:latin typeface="system-ui"/>
            </a:endParaRPr>
          </a:p>
          <a:p>
            <a:pPr marL="0" indent="0" algn="l">
              <a:buNone/>
            </a:pPr>
            <a:r>
              <a:rPr lang="en-US" dirty="0">
                <a:latin typeface="system-ui"/>
              </a:rPr>
              <a:t>where</a:t>
            </a:r>
          </a:p>
          <a:p>
            <a:pPr marL="0" indent="0" algn="l">
              <a:buNone/>
            </a:pPr>
            <a:endParaRPr lang="en-US" b="0" i="0" dirty="0">
              <a:effectLst/>
              <a:latin typeface="system-ui"/>
            </a:endParaRPr>
          </a:p>
          <a:p>
            <a:pPr marL="0" indent="0" algn="l">
              <a:buNone/>
            </a:pPr>
            <a:endParaRPr lang="en-US" dirty="0">
              <a:latin typeface="system-ui"/>
            </a:endParaRPr>
          </a:p>
          <a:p>
            <a:pPr marL="0" indent="0" algn="l">
              <a:buNone/>
            </a:pPr>
            <a:endParaRPr lang="en-US" b="0" i="0" dirty="0">
              <a:effectLst/>
              <a:latin typeface="system-ui"/>
            </a:endParaRPr>
          </a:p>
          <a:p>
            <a:pPr marL="0" indent="0" algn="l">
              <a:buNone/>
            </a:pPr>
            <a:r>
              <a:rPr lang="en-US" b="0" i="0" dirty="0">
                <a:effectLst/>
                <a:latin typeface="system-ui"/>
              </a:rPr>
              <a:t>is the standard normal PDF function</a:t>
            </a:r>
          </a:p>
          <a:p>
            <a:endParaRPr lang="en-GB" dirty="0"/>
          </a:p>
        </p:txBody>
      </p:sp>
      <p:pic>
        <p:nvPicPr>
          <p:cNvPr id="5" name="Picture 4">
            <a:extLst>
              <a:ext uri="{FF2B5EF4-FFF2-40B4-BE49-F238E27FC236}">
                <a16:creationId xmlns:a16="http://schemas.microsoft.com/office/drawing/2014/main" id="{CCF38574-5923-6B83-ADFB-128F03DF166F}"/>
              </a:ext>
            </a:extLst>
          </p:cNvPr>
          <p:cNvPicPr>
            <a:picLocks noChangeAspect="1"/>
          </p:cNvPicPr>
          <p:nvPr/>
        </p:nvPicPr>
        <p:blipFill>
          <a:blip r:embed="rId2"/>
          <a:stretch>
            <a:fillRect/>
          </a:stretch>
        </p:blipFill>
        <p:spPr>
          <a:xfrm>
            <a:off x="3557692" y="3314700"/>
            <a:ext cx="3382229" cy="801054"/>
          </a:xfrm>
          <a:prstGeom prst="rect">
            <a:avLst/>
          </a:prstGeom>
        </p:spPr>
      </p:pic>
      <p:pic>
        <p:nvPicPr>
          <p:cNvPr id="7" name="Picture 6">
            <a:extLst>
              <a:ext uri="{FF2B5EF4-FFF2-40B4-BE49-F238E27FC236}">
                <a16:creationId xmlns:a16="http://schemas.microsoft.com/office/drawing/2014/main" id="{202FA77C-C95D-8CB6-0E25-230C16FA12C3}"/>
              </a:ext>
            </a:extLst>
          </p:cNvPr>
          <p:cNvPicPr>
            <a:picLocks noChangeAspect="1"/>
          </p:cNvPicPr>
          <p:nvPr/>
        </p:nvPicPr>
        <p:blipFill>
          <a:blip r:embed="rId3"/>
          <a:stretch>
            <a:fillRect/>
          </a:stretch>
        </p:blipFill>
        <p:spPr>
          <a:xfrm>
            <a:off x="3557692" y="4419601"/>
            <a:ext cx="3302248" cy="954406"/>
          </a:xfrm>
          <a:prstGeom prst="rect">
            <a:avLst/>
          </a:prstGeom>
        </p:spPr>
      </p:pic>
    </p:spTree>
    <p:extLst>
      <p:ext uri="{BB962C8B-B14F-4D97-AF65-F5344CB8AC3E}">
        <p14:creationId xmlns:p14="http://schemas.microsoft.com/office/powerpoint/2010/main" val="13155996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BB89035-B7A4-2199-3269-457A14C6E066}"/>
              </a:ext>
            </a:extLst>
          </p:cNvPr>
          <p:cNvPicPr>
            <a:picLocks noGrp="1" noChangeAspect="1"/>
          </p:cNvPicPr>
          <p:nvPr>
            <p:ph sz="half" idx="1"/>
          </p:nvPr>
        </p:nvPicPr>
        <p:blipFill>
          <a:blip r:embed="rId2"/>
          <a:stretch>
            <a:fillRect/>
          </a:stretch>
        </p:blipFill>
        <p:spPr>
          <a:xfrm>
            <a:off x="848041" y="1608667"/>
            <a:ext cx="5161917" cy="4568296"/>
          </a:xfrm>
          <a:noFill/>
        </p:spPr>
      </p:pic>
      <p:pic>
        <p:nvPicPr>
          <p:cNvPr id="7" name="Content Placeholder 6">
            <a:extLst>
              <a:ext uri="{FF2B5EF4-FFF2-40B4-BE49-F238E27FC236}">
                <a16:creationId xmlns:a16="http://schemas.microsoft.com/office/drawing/2014/main" id="{F5DB2E34-6731-4F0B-B9E8-FEC0233E7D8C}"/>
              </a:ext>
            </a:extLst>
          </p:cNvPr>
          <p:cNvPicPr>
            <a:picLocks noGrp="1" noChangeAspect="1"/>
          </p:cNvPicPr>
          <p:nvPr>
            <p:ph sz="half" idx="2"/>
          </p:nvPr>
        </p:nvPicPr>
        <p:blipFill>
          <a:blip r:embed="rId3"/>
          <a:stretch>
            <a:fillRect/>
          </a:stretch>
        </p:blipFill>
        <p:spPr>
          <a:xfrm>
            <a:off x="6172200" y="2552020"/>
            <a:ext cx="5181600" cy="2681060"/>
          </a:xfrm>
        </p:spPr>
      </p:pic>
      <p:sp>
        <p:nvSpPr>
          <p:cNvPr id="15" name="Title 3">
            <a:extLst>
              <a:ext uri="{FF2B5EF4-FFF2-40B4-BE49-F238E27FC236}">
                <a16:creationId xmlns:a16="http://schemas.microsoft.com/office/drawing/2014/main" id="{6D421DA6-9CC3-6E6B-CB7B-6B816A693ADC}"/>
              </a:ext>
            </a:extLst>
          </p:cNvPr>
          <p:cNvSpPr>
            <a:spLocks noGrp="1"/>
          </p:cNvSpPr>
          <p:nvPr>
            <p:ph type="title"/>
          </p:nvPr>
        </p:nvSpPr>
        <p:spPr>
          <a:xfrm>
            <a:off x="2549236" y="533614"/>
            <a:ext cx="9210963" cy="888786"/>
          </a:xfrm>
        </p:spPr>
        <p:txBody>
          <a:bodyPr/>
          <a:lstStyle/>
          <a:p>
            <a:r>
              <a:rPr lang="en-GB" b="1" i="0" dirty="0">
                <a:effectLst/>
                <a:latin typeface="system-ui"/>
              </a:rPr>
              <a:t>Mixture model: Two components</a:t>
            </a:r>
            <a:endParaRPr lang="en-US" dirty="0"/>
          </a:p>
        </p:txBody>
      </p:sp>
    </p:spTree>
    <p:extLst>
      <p:ext uri="{BB962C8B-B14F-4D97-AF65-F5344CB8AC3E}">
        <p14:creationId xmlns:p14="http://schemas.microsoft.com/office/powerpoint/2010/main" val="291477206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94DAE-27B9-000E-5873-EAB28300F582}"/>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C545078-07AA-9851-94F0-943A343FEA5A}"/>
              </a:ext>
            </a:extLst>
          </p:cNvPr>
          <p:cNvPicPr>
            <a:picLocks noGrp="1" noChangeAspect="1"/>
          </p:cNvPicPr>
          <p:nvPr>
            <p:ph sz="half" idx="1"/>
          </p:nvPr>
        </p:nvPicPr>
        <p:blipFill>
          <a:blip r:embed="rId2"/>
          <a:srcRect b="20091"/>
          <a:stretch/>
        </p:blipFill>
        <p:spPr>
          <a:xfrm>
            <a:off x="848041" y="1608667"/>
            <a:ext cx="5161917" cy="3650496"/>
          </a:xfrm>
          <a:noFill/>
        </p:spPr>
      </p:pic>
      <p:sp>
        <p:nvSpPr>
          <p:cNvPr id="22" name="Title 3">
            <a:extLst>
              <a:ext uri="{FF2B5EF4-FFF2-40B4-BE49-F238E27FC236}">
                <a16:creationId xmlns:a16="http://schemas.microsoft.com/office/drawing/2014/main" id="{0C3FD19E-B80D-B776-9604-39ACCEA1937B}"/>
              </a:ext>
            </a:extLst>
          </p:cNvPr>
          <p:cNvSpPr>
            <a:spLocks noGrp="1"/>
          </p:cNvSpPr>
          <p:nvPr>
            <p:ph type="title"/>
          </p:nvPr>
        </p:nvSpPr>
        <p:spPr>
          <a:xfrm>
            <a:off x="2549236" y="533614"/>
            <a:ext cx="9210963" cy="888786"/>
          </a:xfrm>
        </p:spPr>
        <p:txBody>
          <a:bodyPr/>
          <a:lstStyle/>
          <a:p>
            <a:r>
              <a:rPr lang="en-GB" b="1" i="0" dirty="0">
                <a:effectLst/>
                <a:latin typeface="system-ui"/>
              </a:rPr>
              <a:t>Mixture model: Three components</a:t>
            </a:r>
            <a:endParaRPr lang="en-US" dirty="0"/>
          </a:p>
        </p:txBody>
      </p:sp>
      <p:pic>
        <p:nvPicPr>
          <p:cNvPr id="8" name="Content Placeholder 7">
            <a:extLst>
              <a:ext uri="{FF2B5EF4-FFF2-40B4-BE49-F238E27FC236}">
                <a16:creationId xmlns:a16="http://schemas.microsoft.com/office/drawing/2014/main" id="{7B360781-9807-13C2-C693-0E5237C005FD}"/>
              </a:ext>
            </a:extLst>
          </p:cNvPr>
          <p:cNvPicPr>
            <a:picLocks noGrp="1" noChangeAspect="1"/>
          </p:cNvPicPr>
          <p:nvPr>
            <p:ph sz="half" idx="2"/>
          </p:nvPr>
        </p:nvPicPr>
        <p:blipFill>
          <a:blip r:embed="rId3"/>
          <a:stretch>
            <a:fillRect/>
          </a:stretch>
        </p:blipFill>
        <p:spPr>
          <a:xfrm>
            <a:off x="6172200" y="2525937"/>
            <a:ext cx="5181600" cy="2733226"/>
          </a:xfrm>
          <a:prstGeom prst="rect">
            <a:avLst/>
          </a:prstGeom>
        </p:spPr>
      </p:pic>
      <p:pic>
        <p:nvPicPr>
          <p:cNvPr id="10" name="Picture 9">
            <a:extLst>
              <a:ext uri="{FF2B5EF4-FFF2-40B4-BE49-F238E27FC236}">
                <a16:creationId xmlns:a16="http://schemas.microsoft.com/office/drawing/2014/main" id="{C39DDFDC-5967-56AE-FB3A-1818A6BC6102}"/>
              </a:ext>
            </a:extLst>
          </p:cNvPr>
          <p:cNvPicPr>
            <a:picLocks noChangeAspect="1"/>
          </p:cNvPicPr>
          <p:nvPr/>
        </p:nvPicPr>
        <p:blipFill>
          <a:blip r:embed="rId4"/>
          <a:stretch>
            <a:fillRect/>
          </a:stretch>
        </p:blipFill>
        <p:spPr>
          <a:xfrm>
            <a:off x="1050091" y="5259163"/>
            <a:ext cx="3429025" cy="971557"/>
          </a:xfrm>
          <a:prstGeom prst="rect">
            <a:avLst/>
          </a:prstGeom>
        </p:spPr>
      </p:pic>
    </p:spTree>
    <p:extLst>
      <p:ext uri="{BB962C8B-B14F-4D97-AF65-F5344CB8AC3E}">
        <p14:creationId xmlns:p14="http://schemas.microsoft.com/office/powerpoint/2010/main" val="21562496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1863703-B6A5-941A-48C6-88FF8ED35BD1}"/>
              </a:ext>
            </a:extLst>
          </p:cNvPr>
          <p:cNvSpPr>
            <a:spLocks noGrp="1"/>
          </p:cNvSpPr>
          <p:nvPr>
            <p:ph sz="half" idx="1"/>
          </p:nvPr>
        </p:nvSpPr>
        <p:spPr/>
        <p:txBody>
          <a:bodyPr>
            <a:normAutofit fontScale="85000" lnSpcReduction="20000"/>
          </a:bodyPr>
          <a:lstStyle/>
          <a:p>
            <a:pPr marL="0" indent="0" algn="l">
              <a:buNone/>
            </a:pPr>
            <a:r>
              <a:rPr lang="en-US" b="0" i="0" dirty="0">
                <a:effectLst/>
                <a:latin typeface="system-ui"/>
              </a:rPr>
              <a:t>This is a much more plausible model of our app ratings, and might be a much better model. </a:t>
            </a:r>
          </a:p>
          <a:p>
            <a:pPr marL="0" indent="0" algn="ctr">
              <a:buNone/>
            </a:pPr>
            <a:r>
              <a:rPr lang="en-US" b="0" i="1" dirty="0">
                <a:solidFill>
                  <a:schemeClr val="accent4"/>
                </a:solidFill>
                <a:effectLst/>
                <a:latin typeface="system-ui"/>
              </a:rPr>
              <a:t>But how do we fit it? </a:t>
            </a:r>
          </a:p>
          <a:p>
            <a:pPr marL="0" indent="0" algn="l">
              <a:buNone/>
            </a:pPr>
            <a:r>
              <a:rPr lang="en-US" b="0" i="0" dirty="0">
                <a:effectLst/>
                <a:latin typeface="system-ui"/>
              </a:rPr>
              <a:t>Even if we fix </a:t>
            </a:r>
            <a:r>
              <a:rPr lang="en-US" b="0" i="0" dirty="0">
                <a:solidFill>
                  <a:schemeClr val="accent4"/>
                </a:solidFill>
                <a:effectLst/>
                <a:latin typeface="system-ui"/>
              </a:rPr>
              <a:t>N</a:t>
            </a:r>
            <a:r>
              <a:rPr lang="en-US" b="0" i="0" dirty="0">
                <a:effectLst/>
                <a:latin typeface="system-ui"/>
              </a:rPr>
              <a:t> in advance, we definitely don't have any direct estimators that can estimate the mean and standard deviation (and weighting) of a sum of normal PDFs.</a:t>
            </a:r>
          </a:p>
          <a:p>
            <a:pPr marL="0" indent="0" algn="l">
              <a:buNone/>
            </a:pPr>
            <a:r>
              <a:rPr lang="en-US" b="0" i="0" dirty="0">
                <a:effectLst/>
                <a:latin typeface="system-ui"/>
              </a:rPr>
              <a:t>This simply isn't something we know how to do.</a:t>
            </a:r>
          </a:p>
          <a:p>
            <a:pPr marL="0" indent="0" algn="l">
              <a:buNone/>
            </a:pPr>
            <a:endParaRPr lang="en-US" b="0" i="0" dirty="0">
              <a:effectLst/>
              <a:latin typeface="system-ui"/>
            </a:endParaRPr>
          </a:p>
          <a:p>
            <a:pPr marL="0" indent="0" algn="l">
              <a:buNone/>
            </a:pPr>
            <a:r>
              <a:rPr lang="en-US" b="1" i="0" dirty="0">
                <a:solidFill>
                  <a:schemeClr val="accent5"/>
                </a:solidFill>
                <a:effectLst/>
                <a:latin typeface="system-ui"/>
              </a:rPr>
              <a:t>But</a:t>
            </a:r>
            <a:r>
              <a:rPr lang="en-US" b="0" i="0" dirty="0">
                <a:solidFill>
                  <a:schemeClr val="accent5"/>
                </a:solidFill>
                <a:effectLst/>
                <a:latin typeface="system-ui"/>
              </a:rPr>
              <a:t> the (log) likelihood is trivial to write in code:</a:t>
            </a:r>
          </a:p>
          <a:p>
            <a:pPr lvl="1"/>
            <a:r>
              <a:rPr lang="en-US" b="0" i="0" dirty="0">
                <a:effectLst/>
                <a:latin typeface="system-ui"/>
              </a:rPr>
              <a:t>For each observation x, we just compute the sum of the weighted PDFs for each component, and the result is likelihood for that observation. </a:t>
            </a:r>
          </a:p>
          <a:p>
            <a:pPr lvl="1"/>
            <a:r>
              <a:rPr lang="en-US" b="0" i="0" dirty="0">
                <a:effectLst/>
                <a:latin typeface="system-ui"/>
              </a:rPr>
              <a:t>This is a function of the data </a:t>
            </a:r>
            <a:r>
              <a:rPr lang="en-US" b="0" i="0" dirty="0">
                <a:solidFill>
                  <a:schemeClr val="accent4"/>
                </a:solidFill>
                <a:effectLst/>
                <a:latin typeface="system-ui"/>
              </a:rPr>
              <a:t>L(</a:t>
            </a:r>
            <a:r>
              <a:rPr lang="en-US" b="0" i="0" dirty="0" err="1">
                <a:solidFill>
                  <a:schemeClr val="accent4"/>
                </a:solidFill>
                <a:effectLst/>
                <a:latin typeface="system-ui"/>
              </a:rPr>
              <a:t>θ|x</a:t>
            </a:r>
            <a:r>
              <a:rPr lang="en-US" b="0" i="0" dirty="0">
                <a:solidFill>
                  <a:schemeClr val="accent4"/>
                </a:solidFill>
                <a:effectLst/>
                <a:latin typeface="system-ui"/>
              </a:rPr>
              <a:t>)</a:t>
            </a:r>
            <a:r>
              <a:rPr lang="en-US" b="0" i="0" dirty="0">
                <a:effectLst/>
                <a:latin typeface="system-ui"/>
              </a:rPr>
              <a:t> , and our parameter vector is </a:t>
            </a:r>
            <a:r>
              <a:rPr lang="en-US" b="0" i="0" dirty="0">
                <a:solidFill>
                  <a:schemeClr val="accent4"/>
                </a:solidFill>
                <a:effectLst/>
                <a:latin typeface="system-ui"/>
              </a:rPr>
              <a:t>θ=[μ1,σ1,λ1,μ2,σ2,λ2,…]</a:t>
            </a:r>
            <a:r>
              <a:rPr lang="en-US" b="0" i="0" dirty="0">
                <a:effectLst/>
                <a:latin typeface="system-ui"/>
              </a:rPr>
              <a:t>.</a:t>
            </a:r>
          </a:p>
          <a:p>
            <a:endParaRPr lang="en-GB" dirty="0"/>
          </a:p>
        </p:txBody>
      </p:sp>
      <p:pic>
        <p:nvPicPr>
          <p:cNvPr id="6" name="Content Placeholder 5">
            <a:extLst>
              <a:ext uri="{FF2B5EF4-FFF2-40B4-BE49-F238E27FC236}">
                <a16:creationId xmlns:a16="http://schemas.microsoft.com/office/drawing/2014/main" id="{24F0B1E9-3B2D-008A-ECAE-028B40234810}"/>
              </a:ext>
            </a:extLst>
          </p:cNvPr>
          <p:cNvPicPr>
            <a:picLocks noGrp="1" noChangeAspect="1"/>
          </p:cNvPicPr>
          <p:nvPr>
            <p:ph sz="half" idx="2"/>
          </p:nvPr>
        </p:nvPicPr>
        <p:blipFill>
          <a:blip r:embed="rId2"/>
          <a:stretch>
            <a:fillRect/>
          </a:stretch>
        </p:blipFill>
        <p:spPr>
          <a:xfrm>
            <a:off x="6822175" y="1608667"/>
            <a:ext cx="4095961" cy="1676486"/>
          </a:xfrm>
        </p:spPr>
      </p:pic>
      <p:sp>
        <p:nvSpPr>
          <p:cNvPr id="4" name="Title 3">
            <a:extLst>
              <a:ext uri="{FF2B5EF4-FFF2-40B4-BE49-F238E27FC236}">
                <a16:creationId xmlns:a16="http://schemas.microsoft.com/office/drawing/2014/main" id="{D80E069F-7500-998C-D62B-D4965F51903E}"/>
              </a:ext>
            </a:extLst>
          </p:cNvPr>
          <p:cNvSpPr>
            <a:spLocks noGrp="1"/>
          </p:cNvSpPr>
          <p:nvPr>
            <p:ph type="title"/>
          </p:nvPr>
        </p:nvSpPr>
        <p:spPr/>
        <p:txBody>
          <a:bodyPr/>
          <a:lstStyle/>
          <a:p>
            <a:r>
              <a:rPr lang="en-GB" dirty="0"/>
              <a:t>Fitting mixtures</a:t>
            </a:r>
          </a:p>
        </p:txBody>
      </p:sp>
      <p:pic>
        <p:nvPicPr>
          <p:cNvPr id="7" name="Content Placeholder 5">
            <a:extLst>
              <a:ext uri="{FF2B5EF4-FFF2-40B4-BE49-F238E27FC236}">
                <a16:creationId xmlns:a16="http://schemas.microsoft.com/office/drawing/2014/main" id="{BEA55C98-E8E5-980C-3328-938BB15BA994}"/>
              </a:ext>
            </a:extLst>
          </p:cNvPr>
          <p:cNvPicPr>
            <a:picLocks noChangeAspect="1"/>
          </p:cNvPicPr>
          <p:nvPr/>
        </p:nvPicPr>
        <p:blipFill>
          <a:blip r:embed="rId3"/>
          <a:stretch>
            <a:fillRect/>
          </a:stretch>
        </p:blipFill>
        <p:spPr>
          <a:xfrm>
            <a:off x="6279355" y="4209408"/>
            <a:ext cx="5181600" cy="1823735"/>
          </a:xfrm>
          <a:prstGeom prst="rect">
            <a:avLst/>
          </a:prstGeom>
        </p:spPr>
      </p:pic>
    </p:spTree>
    <p:extLst>
      <p:ext uri="{BB962C8B-B14F-4D97-AF65-F5344CB8AC3E}">
        <p14:creationId xmlns:p14="http://schemas.microsoft.com/office/powerpoint/2010/main" val="3424463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2EDA0B-4C24-000C-1488-8E5A2E7E59B8}"/>
              </a:ext>
            </a:extLst>
          </p:cNvPr>
          <p:cNvSpPr>
            <a:spLocks noGrp="1"/>
          </p:cNvSpPr>
          <p:nvPr>
            <p:ph sz="half" idx="1"/>
          </p:nvPr>
        </p:nvSpPr>
        <p:spPr/>
        <p:txBody>
          <a:bodyPr/>
          <a:lstStyle/>
          <a:p>
            <a:pPr marL="0" indent="0">
              <a:buNone/>
            </a:pPr>
            <a:r>
              <a:rPr lang="en-US" b="0" i="0" dirty="0">
                <a:effectLst/>
                <a:latin typeface="system-ui"/>
              </a:rPr>
              <a:t>This means we can also fit it with maximum likelihood. </a:t>
            </a:r>
          </a:p>
          <a:p>
            <a:pPr marL="0" indent="0">
              <a:buNone/>
            </a:pPr>
            <a:r>
              <a:rPr lang="en-US" b="0" i="0" dirty="0">
                <a:effectLst/>
                <a:latin typeface="system-ui"/>
              </a:rPr>
              <a:t>We do not require an explicit estimator for the parameters; we can just </a:t>
            </a:r>
            <a:r>
              <a:rPr lang="en-US" b="0" i="0" dirty="0" err="1">
                <a:effectLst/>
                <a:latin typeface="system-ui"/>
              </a:rPr>
              <a:t>optimise</a:t>
            </a:r>
            <a:r>
              <a:rPr lang="en-US" b="0" i="0" dirty="0">
                <a:effectLst/>
                <a:latin typeface="system-ui"/>
              </a:rPr>
              <a:t>. </a:t>
            </a:r>
          </a:p>
          <a:p>
            <a:pPr marL="0" indent="0">
              <a:buNone/>
            </a:pPr>
            <a:r>
              <a:rPr lang="en-US" b="0" i="0" dirty="0">
                <a:effectLst/>
                <a:latin typeface="system-ui"/>
              </a:rPr>
              <a:t>In this case, we fix </a:t>
            </a:r>
            <a:r>
              <a:rPr lang="en-US" dirty="0"/>
              <a:t>N</a:t>
            </a:r>
            <a:r>
              <a:rPr lang="en-US" b="0" i="0" dirty="0">
                <a:effectLst/>
                <a:latin typeface="system-ui"/>
              </a:rPr>
              <a:t> to 2, and then find the parameters that best fit the data. </a:t>
            </a:r>
          </a:p>
          <a:p>
            <a:pPr marL="0" indent="0">
              <a:buNone/>
            </a:pPr>
            <a:r>
              <a:rPr lang="en-US" b="0" i="0" dirty="0">
                <a:effectLst/>
                <a:latin typeface="system-ui"/>
              </a:rPr>
              <a:t>This is a point in the vector space </a:t>
            </a:r>
            <a:r>
              <a:rPr lang="en-US" dirty="0"/>
              <a:t>R</a:t>
            </a:r>
            <a:r>
              <a:rPr lang="en-US" baseline="30000" dirty="0"/>
              <a:t>6</a:t>
            </a:r>
            <a:r>
              <a:rPr lang="en-US" b="0" i="0" dirty="0">
                <a:effectLst/>
                <a:latin typeface="system-ui"/>
              </a:rPr>
              <a:t>; we need three parameters </a:t>
            </a:r>
            <a:r>
              <a:rPr lang="en-US" dirty="0" err="1"/>
              <a:t>μ</a:t>
            </a:r>
            <a:r>
              <a:rPr lang="en-US" baseline="-25000" dirty="0" err="1"/>
              <a:t>i</a:t>
            </a:r>
            <a:r>
              <a:rPr lang="en-US" dirty="0" err="1"/>
              <a:t>,σ</a:t>
            </a:r>
            <a:r>
              <a:rPr lang="en-US" baseline="-25000" dirty="0" err="1"/>
              <a:t>i</a:t>
            </a:r>
            <a:r>
              <a:rPr lang="en-US" dirty="0" err="1"/>
              <a:t>,λ</a:t>
            </a:r>
            <a:r>
              <a:rPr lang="en-US" baseline="-25000" dirty="0" err="1"/>
              <a:t>i</a:t>
            </a:r>
            <a:r>
              <a:rPr lang="en-US" b="0" i="0" dirty="0">
                <a:effectLst/>
                <a:latin typeface="system-ui"/>
              </a:rPr>
              <a:t> for each component </a:t>
            </a:r>
            <a:r>
              <a:rPr lang="en-US" dirty="0" err="1"/>
              <a:t>i</a:t>
            </a:r>
            <a:r>
              <a:rPr lang="en-US" b="0" i="0" dirty="0">
                <a:effectLst/>
                <a:latin typeface="system-ui"/>
              </a:rPr>
              <a:t>.</a:t>
            </a:r>
            <a:endParaRPr lang="en-GB" dirty="0"/>
          </a:p>
        </p:txBody>
      </p:sp>
      <p:pic>
        <p:nvPicPr>
          <p:cNvPr id="6" name="Content Placeholder 5">
            <a:extLst>
              <a:ext uri="{FF2B5EF4-FFF2-40B4-BE49-F238E27FC236}">
                <a16:creationId xmlns:a16="http://schemas.microsoft.com/office/drawing/2014/main" id="{CE2656C2-7E90-467E-8AEB-C1A8E52F66A7}"/>
              </a:ext>
            </a:extLst>
          </p:cNvPr>
          <p:cNvPicPr>
            <a:picLocks noGrp="1" noChangeAspect="1"/>
          </p:cNvPicPr>
          <p:nvPr>
            <p:ph sz="half" idx="2"/>
          </p:nvPr>
        </p:nvPicPr>
        <p:blipFill>
          <a:blip r:embed="rId2"/>
          <a:stretch>
            <a:fillRect/>
          </a:stretch>
        </p:blipFill>
        <p:spPr>
          <a:xfrm>
            <a:off x="6172200" y="2980683"/>
            <a:ext cx="5181600" cy="1823735"/>
          </a:xfrm>
        </p:spPr>
      </p:pic>
      <p:sp>
        <p:nvSpPr>
          <p:cNvPr id="4" name="Title 3">
            <a:extLst>
              <a:ext uri="{FF2B5EF4-FFF2-40B4-BE49-F238E27FC236}">
                <a16:creationId xmlns:a16="http://schemas.microsoft.com/office/drawing/2014/main" id="{46F63682-E2F7-C1FC-DC61-DE1513CA2215}"/>
              </a:ext>
            </a:extLst>
          </p:cNvPr>
          <p:cNvSpPr>
            <a:spLocks noGrp="1"/>
          </p:cNvSpPr>
          <p:nvPr>
            <p:ph type="title"/>
          </p:nvPr>
        </p:nvSpPr>
        <p:spPr/>
        <p:txBody>
          <a:bodyPr/>
          <a:lstStyle/>
          <a:p>
            <a:r>
              <a:rPr lang="en-GB" dirty="0"/>
              <a:t>Fitting mixtures</a:t>
            </a:r>
          </a:p>
        </p:txBody>
      </p:sp>
    </p:spTree>
    <p:extLst>
      <p:ext uri="{BB962C8B-B14F-4D97-AF65-F5344CB8AC3E}">
        <p14:creationId xmlns:p14="http://schemas.microsoft.com/office/powerpoint/2010/main" val="294701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DCF8B24-F1FE-DA75-023D-4FA0E6E9B7BD}"/>
              </a:ext>
            </a:extLst>
          </p:cNvPr>
          <p:cNvSpPr>
            <a:spLocks noGrp="1"/>
          </p:cNvSpPr>
          <p:nvPr>
            <p:ph type="title"/>
          </p:nvPr>
        </p:nvSpPr>
        <p:spPr/>
        <p:txBody>
          <a:bodyPr/>
          <a:lstStyle/>
          <a:p>
            <a:r>
              <a:rPr lang="en-GB" dirty="0"/>
              <a:t>C. Bayesian Inference</a:t>
            </a:r>
          </a:p>
        </p:txBody>
      </p:sp>
      <p:pic>
        <p:nvPicPr>
          <p:cNvPr id="6" name="Content Placeholder 5">
            <a:extLst>
              <a:ext uri="{FF2B5EF4-FFF2-40B4-BE49-F238E27FC236}">
                <a16:creationId xmlns:a16="http://schemas.microsoft.com/office/drawing/2014/main" id="{C65EE746-0EB3-3381-8E16-338755477C1C}"/>
              </a:ext>
            </a:extLst>
          </p:cNvPr>
          <p:cNvPicPr>
            <a:picLocks noGrp="1" noChangeAspect="1"/>
          </p:cNvPicPr>
          <p:nvPr>
            <p:ph sz="quarter" idx="13"/>
          </p:nvPr>
        </p:nvPicPr>
        <p:blipFill>
          <a:blip r:embed="rId2"/>
          <a:stretch>
            <a:fillRect/>
          </a:stretch>
        </p:blipFill>
        <p:spPr>
          <a:xfrm>
            <a:off x="285750" y="1695141"/>
            <a:ext cx="11474450" cy="4471018"/>
          </a:xfrm>
        </p:spPr>
      </p:pic>
    </p:spTree>
    <p:extLst>
      <p:ext uri="{BB962C8B-B14F-4D97-AF65-F5344CB8AC3E}">
        <p14:creationId xmlns:p14="http://schemas.microsoft.com/office/powerpoint/2010/main" val="19094018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DA8B2-3D44-528B-DEB7-EE3765B80D49}"/>
              </a:ext>
            </a:extLst>
          </p:cNvPr>
          <p:cNvSpPr>
            <a:spLocks noGrp="1"/>
          </p:cNvSpPr>
          <p:nvPr>
            <p:ph type="title"/>
          </p:nvPr>
        </p:nvSpPr>
        <p:spPr/>
        <p:txBody>
          <a:bodyPr/>
          <a:lstStyle/>
          <a:p>
            <a:r>
              <a:rPr lang="en-GB" dirty="0"/>
              <a:t>Bayesian Inference</a:t>
            </a:r>
          </a:p>
        </p:txBody>
      </p:sp>
      <p:sp>
        <p:nvSpPr>
          <p:cNvPr id="3" name="Content Placeholder 2">
            <a:extLst>
              <a:ext uri="{FF2B5EF4-FFF2-40B4-BE49-F238E27FC236}">
                <a16:creationId xmlns:a16="http://schemas.microsoft.com/office/drawing/2014/main" id="{07FB80C1-1CC9-A00D-2D73-377C7572EE4D}"/>
              </a:ext>
            </a:extLst>
          </p:cNvPr>
          <p:cNvSpPr>
            <a:spLocks noGrp="1"/>
          </p:cNvSpPr>
          <p:nvPr>
            <p:ph sz="quarter" idx="13"/>
          </p:nvPr>
        </p:nvSpPr>
        <p:spPr/>
        <p:txBody>
          <a:bodyPr>
            <a:normAutofit lnSpcReduction="10000"/>
          </a:bodyPr>
          <a:lstStyle/>
          <a:p>
            <a:pPr marL="0" indent="0" algn="l">
              <a:buNone/>
            </a:pPr>
            <a:r>
              <a:rPr lang="en-US" b="0" i="0" dirty="0">
                <a:effectLst/>
                <a:latin typeface="system-ui"/>
              </a:rPr>
              <a:t>Bayesian inference involves thinking about the problem quite differently. Bayesians represent the </a:t>
            </a:r>
            <a:r>
              <a:rPr lang="en-US" b="0" i="1" dirty="0">
                <a:effectLst/>
                <a:latin typeface="system-ui"/>
              </a:rPr>
              <a:t>parameters</a:t>
            </a:r>
            <a:r>
              <a:rPr lang="en-US" b="0" i="0" dirty="0">
                <a:effectLst/>
                <a:latin typeface="system-ui"/>
              </a:rPr>
              <a:t> of the distribution they are estimating as random variables </a:t>
            </a:r>
            <a:r>
              <a:rPr lang="en-US" b="0" i="1" dirty="0">
                <a:effectLst/>
                <a:latin typeface="system-ui"/>
              </a:rPr>
              <a:t>themselves</a:t>
            </a:r>
            <a:r>
              <a:rPr lang="en-US" b="0" i="0" dirty="0">
                <a:effectLst/>
                <a:latin typeface="system-ui"/>
              </a:rPr>
              <a:t>, with distributions of their own.</a:t>
            </a:r>
          </a:p>
          <a:p>
            <a:pPr marL="0" indent="0" algn="l">
              <a:buNone/>
            </a:pPr>
            <a:r>
              <a:rPr lang="en-US" b="0" i="0" dirty="0">
                <a:effectLst/>
                <a:latin typeface="system-ui"/>
              </a:rPr>
              <a:t>Prior distributions are defined over these parameters (e.g. we might believe that the mean app rating could be any value 1.0-5.0 with equal probability) and evidence arriving as updates is combined using Bayes' Rule to refine our belief about the distribution of the parameters. We again consider our distribution to be </a:t>
            </a:r>
            <a:r>
              <a:rPr lang="en-US" b="0" i="0" dirty="0" err="1">
                <a:effectLst/>
                <a:latin typeface="system-ui"/>
              </a:rPr>
              <a:t>characterised</a:t>
            </a:r>
            <a:r>
              <a:rPr lang="en-US" b="0" i="0" dirty="0">
                <a:effectLst/>
                <a:latin typeface="system-ui"/>
              </a:rPr>
              <a:t> by some parameter vector θ and we want to refine a distribution over possible </a:t>
            </a:r>
            <a:r>
              <a:rPr lang="en-US" b="0" i="0" dirty="0" err="1">
                <a:effectLst/>
                <a:latin typeface="system-ui"/>
              </a:rPr>
              <a:t>θs</a:t>
            </a:r>
            <a:r>
              <a:rPr lang="en-US" b="0" i="0" dirty="0">
                <a:effectLst/>
                <a:latin typeface="system-ui"/>
              </a:rPr>
              <a:t>.</a:t>
            </a:r>
          </a:p>
          <a:p>
            <a:pPr marL="0" indent="0" algn="l">
              <a:buNone/>
            </a:pPr>
            <a:r>
              <a:rPr lang="en-US" b="0" i="0" dirty="0">
                <a:effectLst/>
                <a:latin typeface="system-ui"/>
              </a:rPr>
              <a:t>We don't think about estimators, or their sampling distributions, and it doesn't make sense to talk about finding the best parameter setting; we can only have </a:t>
            </a:r>
            <a:r>
              <a:rPr lang="en-US" b="0" i="1" dirty="0">
                <a:effectLst/>
                <a:latin typeface="system-ui"/>
              </a:rPr>
              <a:t>beliefs</a:t>
            </a:r>
            <a:r>
              <a:rPr lang="en-US" b="0" i="0" dirty="0">
                <a:effectLst/>
                <a:latin typeface="system-ui"/>
              </a:rPr>
              <a:t> in parameter settings which must be represented probabilistically. We do not seek to find the most likely parameter setting (as in direct estimation or MLE), but to infer a distribution over possible parameter settings </a:t>
            </a:r>
            <a:r>
              <a:rPr lang="en-US" b="0" i="1" dirty="0">
                <a:effectLst/>
                <a:latin typeface="system-ui"/>
              </a:rPr>
              <a:t>compatible with the data</a:t>
            </a:r>
            <a:r>
              <a:rPr lang="en-US" b="0" i="0" dirty="0">
                <a:effectLst/>
                <a:latin typeface="system-ui"/>
              </a:rPr>
              <a:t>.</a:t>
            </a:r>
          </a:p>
          <a:p>
            <a:endParaRPr lang="en-GB" dirty="0"/>
          </a:p>
        </p:txBody>
      </p:sp>
    </p:spTree>
    <p:extLst>
      <p:ext uri="{BB962C8B-B14F-4D97-AF65-F5344CB8AC3E}">
        <p14:creationId xmlns:p14="http://schemas.microsoft.com/office/powerpoint/2010/main" val="283738595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D158FE-1A7C-C7EF-4FF0-460949BCED22}"/>
              </a:ext>
            </a:extLst>
          </p:cNvPr>
          <p:cNvSpPr>
            <a:spLocks noGrp="1"/>
          </p:cNvSpPr>
          <p:nvPr>
            <p:ph sz="half" idx="1"/>
          </p:nvPr>
        </p:nvSpPr>
        <p:spPr>
          <a:xfrm>
            <a:off x="838200" y="1608667"/>
            <a:ext cx="5181600" cy="4568296"/>
          </a:xfrm>
        </p:spPr>
        <p:txBody>
          <a:bodyPr>
            <a:normAutofit/>
          </a:bodyPr>
          <a:lstStyle/>
          <a:p>
            <a:pPr marL="0" indent="0">
              <a:buNone/>
            </a:pPr>
            <a:r>
              <a:rPr lang="en-US" sz="1900" b="0" i="0" dirty="0">
                <a:effectLst/>
              </a:rPr>
              <a:t>We talk about inferring a </a:t>
            </a:r>
            <a:r>
              <a:rPr lang="en-US" sz="1900" b="1" i="0" dirty="0">
                <a:effectLst/>
              </a:rPr>
              <a:t>posterior</a:t>
            </a:r>
            <a:r>
              <a:rPr lang="en-US" sz="1900" b="0" i="0" dirty="0">
                <a:effectLst/>
              </a:rPr>
              <a:t> distribution over the parameters, given some </a:t>
            </a:r>
            <a:r>
              <a:rPr lang="en-US" sz="1900" b="1" i="0" dirty="0">
                <a:effectLst/>
              </a:rPr>
              <a:t>prior</a:t>
            </a:r>
            <a:r>
              <a:rPr lang="en-US" sz="1900" dirty="0"/>
              <a:t> </a:t>
            </a:r>
            <a:r>
              <a:rPr lang="en-US" sz="1900" b="0" i="0" dirty="0">
                <a:effectLst/>
              </a:rPr>
              <a:t>belief and some </a:t>
            </a:r>
            <a:r>
              <a:rPr lang="en-US" sz="1900" b="1" i="0" dirty="0">
                <a:effectLst/>
              </a:rPr>
              <a:t>evidence</a:t>
            </a:r>
            <a:r>
              <a:rPr lang="en-US" sz="1900" b="0" i="0" dirty="0">
                <a:effectLst/>
              </a:rPr>
              <a:t>. </a:t>
            </a:r>
          </a:p>
          <a:p>
            <a:pPr marL="0" indent="0">
              <a:buNone/>
            </a:pPr>
            <a:r>
              <a:rPr lang="en-US" sz="1900" b="0" i="0" dirty="0">
                <a:effectLst/>
              </a:rPr>
              <a:t>We assume that we have a </a:t>
            </a:r>
            <a:r>
              <a:rPr lang="en-US" sz="1900" b="1" i="0" dirty="0">
                <a:effectLst/>
              </a:rPr>
              <a:t>likelihood function</a:t>
            </a:r>
            <a:r>
              <a:rPr lang="en-US" sz="1900" b="0" i="0" dirty="0">
                <a:effectLst/>
              </a:rPr>
              <a:t> P(</a:t>
            </a:r>
            <a:r>
              <a:rPr lang="en-US" sz="1900" b="0" i="0" dirty="0" err="1">
                <a:effectLst/>
              </a:rPr>
              <a:t>D|θ</a:t>
            </a:r>
            <a:r>
              <a:rPr lang="en-US" sz="1900" b="0" i="0" dirty="0">
                <a:effectLst/>
              </a:rPr>
              <a:t>), and a prior over parameters P(θ) and we can then use Bayes Rule in the form:</a:t>
            </a:r>
          </a:p>
          <a:p>
            <a:pPr marL="0" indent="0">
              <a:buNone/>
            </a:pPr>
            <a:endParaRPr lang="en-US" sz="1900" b="0" i="0" dirty="0">
              <a:effectLst/>
            </a:endParaRPr>
          </a:p>
          <a:p>
            <a:pPr marL="0" indent="0">
              <a:buNone/>
            </a:pPr>
            <a:endParaRPr lang="en-US" sz="1900" b="0" i="0" dirty="0">
              <a:effectLst/>
            </a:endParaRPr>
          </a:p>
          <a:p>
            <a:pPr marL="0" indent="0">
              <a:buNone/>
            </a:pPr>
            <a:r>
              <a:rPr lang="en-US" sz="1900" b="0" i="0" dirty="0">
                <a:effectLst/>
              </a:rPr>
              <a:t>which gives us a new distribution over θ given some observations. </a:t>
            </a:r>
            <a:br>
              <a:rPr lang="en-US" sz="1900" dirty="0"/>
            </a:br>
            <a:endParaRPr lang="en-GB" sz="1900" dirty="0"/>
          </a:p>
        </p:txBody>
      </p:sp>
      <p:pic>
        <p:nvPicPr>
          <p:cNvPr id="7" name="Picture 6">
            <a:extLst>
              <a:ext uri="{FF2B5EF4-FFF2-40B4-BE49-F238E27FC236}">
                <a16:creationId xmlns:a16="http://schemas.microsoft.com/office/drawing/2014/main" id="{658F1FD4-BD89-C475-16B6-B5C85F03B04D}"/>
              </a:ext>
            </a:extLst>
          </p:cNvPr>
          <p:cNvPicPr>
            <a:picLocks noChangeAspect="1"/>
          </p:cNvPicPr>
          <p:nvPr/>
        </p:nvPicPr>
        <p:blipFill>
          <a:blip r:embed="rId3"/>
          <a:stretch>
            <a:fillRect/>
          </a:stretch>
        </p:blipFill>
        <p:spPr>
          <a:xfrm>
            <a:off x="6172200" y="2921265"/>
            <a:ext cx="5181600" cy="1943099"/>
          </a:xfrm>
          <a:prstGeom prst="rect">
            <a:avLst/>
          </a:prstGeom>
          <a:noFill/>
        </p:spPr>
      </p:pic>
      <p:sp>
        <p:nvSpPr>
          <p:cNvPr id="12" name="Title 3">
            <a:extLst>
              <a:ext uri="{FF2B5EF4-FFF2-40B4-BE49-F238E27FC236}">
                <a16:creationId xmlns:a16="http://schemas.microsoft.com/office/drawing/2014/main" id="{D1A997C9-C7CF-58B1-3D7F-78676B9952EF}"/>
              </a:ext>
            </a:extLst>
          </p:cNvPr>
          <p:cNvSpPr>
            <a:spLocks noGrp="1"/>
          </p:cNvSpPr>
          <p:nvPr>
            <p:ph type="title"/>
          </p:nvPr>
        </p:nvSpPr>
        <p:spPr>
          <a:xfrm>
            <a:off x="2549236" y="533614"/>
            <a:ext cx="9210963" cy="888786"/>
          </a:xfrm>
        </p:spPr>
        <p:txBody>
          <a:bodyPr/>
          <a:lstStyle/>
          <a:p>
            <a:r>
              <a:rPr lang="en-GB" dirty="0"/>
              <a:t>Bayesian Inference</a:t>
            </a:r>
            <a:endParaRPr lang="en-US" dirty="0"/>
          </a:p>
        </p:txBody>
      </p:sp>
      <p:pic>
        <p:nvPicPr>
          <p:cNvPr id="8" name="Picture 7">
            <a:extLst>
              <a:ext uri="{FF2B5EF4-FFF2-40B4-BE49-F238E27FC236}">
                <a16:creationId xmlns:a16="http://schemas.microsoft.com/office/drawing/2014/main" id="{971C9896-6AF3-7723-B790-5DDA37677B17}"/>
              </a:ext>
            </a:extLst>
          </p:cNvPr>
          <p:cNvPicPr>
            <a:picLocks noChangeAspect="1"/>
          </p:cNvPicPr>
          <p:nvPr/>
        </p:nvPicPr>
        <p:blipFill>
          <a:blip r:embed="rId4"/>
          <a:stretch>
            <a:fillRect/>
          </a:stretch>
        </p:blipFill>
        <p:spPr>
          <a:xfrm>
            <a:off x="2271936" y="3768916"/>
            <a:ext cx="1676634" cy="523948"/>
          </a:xfrm>
          <a:prstGeom prst="rect">
            <a:avLst/>
          </a:prstGeom>
        </p:spPr>
      </p:pic>
    </p:spTree>
    <p:extLst>
      <p:ext uri="{BB962C8B-B14F-4D97-AF65-F5344CB8AC3E}">
        <p14:creationId xmlns:p14="http://schemas.microsoft.com/office/powerpoint/2010/main" val="36695314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6F81F5-D8DB-34C3-4C19-F31F872FC23C}"/>
              </a:ext>
            </a:extLst>
          </p:cNvPr>
          <p:cNvSpPr>
            <a:spLocks noGrp="1"/>
          </p:cNvSpPr>
          <p:nvPr>
            <p:ph type="title"/>
          </p:nvPr>
        </p:nvSpPr>
        <p:spPr/>
        <p:txBody>
          <a:bodyPr/>
          <a:lstStyle/>
          <a:p>
            <a:r>
              <a:rPr lang="en-GB" dirty="0"/>
              <a:t>Example</a:t>
            </a:r>
          </a:p>
        </p:txBody>
      </p:sp>
      <p:sp>
        <p:nvSpPr>
          <p:cNvPr id="2" name="Content Placeholder 1">
            <a:extLst>
              <a:ext uri="{FF2B5EF4-FFF2-40B4-BE49-F238E27FC236}">
                <a16:creationId xmlns:a16="http://schemas.microsoft.com/office/drawing/2014/main" id="{089BCB1D-2D37-DA18-1237-174837F4EEFC}"/>
              </a:ext>
            </a:extLst>
          </p:cNvPr>
          <p:cNvSpPr>
            <a:spLocks noGrp="1"/>
          </p:cNvSpPr>
          <p:nvPr>
            <p:ph sz="quarter" idx="13"/>
          </p:nvPr>
        </p:nvSpPr>
        <p:spPr/>
        <p:txBody>
          <a:bodyPr>
            <a:normAutofit/>
          </a:bodyPr>
          <a:lstStyle/>
          <a:p>
            <a:pPr marL="0" indent="0">
              <a:buNone/>
            </a:pPr>
            <a:r>
              <a:rPr lang="en-US" b="0" i="0" dirty="0">
                <a:effectLst/>
                <a:latin typeface="system-ui"/>
              </a:rPr>
              <a:t>Remember, we are assuming that app ratings are generated by this function:</a:t>
            </a:r>
          </a:p>
          <a:p>
            <a:pPr marL="0" indent="0">
              <a:buNone/>
            </a:pPr>
            <a:endParaRPr lang="en-US" dirty="0">
              <a:latin typeface="system-ui"/>
            </a:endParaRPr>
          </a:p>
          <a:p>
            <a:pPr marL="0" indent="0">
              <a:buNone/>
            </a:pPr>
            <a:endParaRPr lang="en-US" b="0" i="0" dirty="0">
              <a:effectLst/>
              <a:latin typeface="system-ui"/>
            </a:endParaRPr>
          </a:p>
          <a:p>
            <a:pPr marL="0" indent="0">
              <a:buNone/>
            </a:pPr>
            <a:endParaRPr lang="en-US" dirty="0">
              <a:latin typeface="system-ui"/>
            </a:endParaRPr>
          </a:p>
          <a:p>
            <a:pPr marL="0" indent="0">
              <a:buNone/>
            </a:pPr>
            <a:endParaRPr lang="en-US" b="0" i="0" dirty="0">
              <a:effectLst/>
              <a:latin typeface="system-ui"/>
            </a:endParaRPr>
          </a:p>
          <a:p>
            <a:pPr marL="0" indent="0">
              <a:buNone/>
            </a:pPr>
            <a:r>
              <a:rPr lang="en-US" b="0" i="0" dirty="0">
                <a:effectLst/>
                <a:latin typeface="system-ui"/>
              </a:rPr>
              <a:t>We want to </a:t>
            </a:r>
            <a:r>
              <a:rPr lang="en-US" b="0" i="1" dirty="0">
                <a:effectLst/>
                <a:latin typeface="system-ui"/>
              </a:rPr>
              <a:t>infer a distribution</a:t>
            </a:r>
            <a:r>
              <a:rPr lang="en-US" b="0" i="0" dirty="0">
                <a:effectLst/>
                <a:latin typeface="system-ui"/>
              </a:rPr>
              <a:t> over </a:t>
            </a:r>
            <a:r>
              <a:rPr lang="en-US" dirty="0"/>
              <a:t>μ</a:t>
            </a:r>
            <a:r>
              <a:rPr lang="en-US" b="0" i="0" dirty="0">
                <a:effectLst/>
                <a:latin typeface="system-ui"/>
              </a:rPr>
              <a:t> and </a:t>
            </a:r>
            <a:r>
              <a:rPr lang="en-US" dirty="0"/>
              <a:t>σ</a:t>
            </a:r>
            <a:r>
              <a:rPr lang="en-US" b="0" i="0" dirty="0">
                <a:effectLst/>
                <a:latin typeface="system-ui"/>
              </a:rPr>
              <a:t> (</a:t>
            </a:r>
            <a:r>
              <a:rPr lang="en-US" b="1" i="0" dirty="0">
                <a:effectLst/>
                <a:latin typeface="system-ui"/>
              </a:rPr>
              <a:t>NOT</a:t>
            </a:r>
            <a:r>
              <a:rPr lang="en-US" b="0" i="0" dirty="0">
                <a:effectLst/>
                <a:latin typeface="system-ui"/>
              </a:rPr>
              <a:t> a distribution over the observations!). </a:t>
            </a:r>
          </a:p>
          <a:p>
            <a:pPr marL="0" indent="0">
              <a:buNone/>
            </a:pPr>
            <a:r>
              <a:rPr lang="en-US" b="0" i="0" dirty="0">
                <a:effectLst/>
                <a:latin typeface="system-ui"/>
              </a:rPr>
              <a:t>That is, we will treat the parameters themselves as random variables, with their own distributions, and use Bayesian reasoning (i.e. applying Bayes Rule) to infer a posterior distribution over the parameters given some prior, and some evidence observed.</a:t>
            </a:r>
            <a:endParaRPr lang="en-GB" dirty="0"/>
          </a:p>
        </p:txBody>
      </p:sp>
      <p:pic>
        <p:nvPicPr>
          <p:cNvPr id="6" name="Picture 5">
            <a:extLst>
              <a:ext uri="{FF2B5EF4-FFF2-40B4-BE49-F238E27FC236}">
                <a16:creationId xmlns:a16="http://schemas.microsoft.com/office/drawing/2014/main" id="{DD5029C1-1EC7-85F6-8692-C40EC33AFC3F}"/>
              </a:ext>
            </a:extLst>
          </p:cNvPr>
          <p:cNvPicPr>
            <a:picLocks noChangeAspect="1"/>
          </p:cNvPicPr>
          <p:nvPr/>
        </p:nvPicPr>
        <p:blipFill>
          <a:blip r:embed="rId2"/>
          <a:stretch>
            <a:fillRect/>
          </a:stretch>
        </p:blipFill>
        <p:spPr>
          <a:xfrm>
            <a:off x="2824162" y="2621715"/>
            <a:ext cx="4505954" cy="600159"/>
          </a:xfrm>
          <a:prstGeom prst="rect">
            <a:avLst/>
          </a:prstGeom>
        </p:spPr>
      </p:pic>
    </p:spTree>
    <p:extLst>
      <p:ext uri="{BB962C8B-B14F-4D97-AF65-F5344CB8AC3E}">
        <p14:creationId xmlns:p14="http://schemas.microsoft.com/office/powerpoint/2010/main" val="37314845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287D7-5E1D-2089-0A2E-21E467FE756F}"/>
              </a:ext>
            </a:extLst>
          </p:cNvPr>
          <p:cNvSpPr>
            <a:spLocks noGrp="1"/>
          </p:cNvSpPr>
          <p:nvPr>
            <p:ph type="title"/>
          </p:nvPr>
        </p:nvSpPr>
        <p:spPr/>
        <p:txBody>
          <a:bodyPr/>
          <a:lstStyle/>
          <a:p>
            <a:r>
              <a:rPr lang="en-GB" dirty="0"/>
              <a:t>Example</a:t>
            </a:r>
          </a:p>
        </p:txBody>
      </p:sp>
      <p:sp>
        <p:nvSpPr>
          <p:cNvPr id="3" name="Content Placeholder 2">
            <a:extLst>
              <a:ext uri="{FF2B5EF4-FFF2-40B4-BE49-F238E27FC236}">
                <a16:creationId xmlns:a16="http://schemas.microsoft.com/office/drawing/2014/main" id="{0004A1B6-3218-8F38-688C-C8A7724D9B22}"/>
              </a:ext>
            </a:extLst>
          </p:cNvPr>
          <p:cNvSpPr>
            <a:spLocks noGrp="1"/>
          </p:cNvSpPr>
          <p:nvPr>
            <p:ph sz="quarter" idx="13"/>
          </p:nvPr>
        </p:nvSpPr>
        <p:spPr/>
        <p:txBody>
          <a:bodyPr>
            <a:normAutofit lnSpcReduction="10000"/>
          </a:bodyPr>
          <a:lstStyle/>
          <a:p>
            <a:pPr marL="0" indent="0" algn="l">
              <a:buNone/>
            </a:pPr>
            <a:r>
              <a:rPr lang="en-US" b="1" i="0" dirty="0">
                <a:effectLst/>
                <a:latin typeface="system-ui"/>
              </a:rPr>
              <a:t>Parameters and samples</a:t>
            </a:r>
          </a:p>
          <a:p>
            <a:pPr algn="l"/>
            <a:r>
              <a:rPr lang="en-US" b="0" i="0" dirty="0">
                <a:effectLst/>
                <a:latin typeface="system-ui"/>
              </a:rPr>
              <a:t>We have a collection of observations </a:t>
            </a:r>
            <a:r>
              <a:rPr lang="en-US" b="0" i="0" dirty="0">
                <a:solidFill>
                  <a:schemeClr val="accent4"/>
                </a:solidFill>
                <a:effectLst/>
                <a:latin typeface="system-ui"/>
              </a:rPr>
              <a:t>D=x1,x2,…,</a:t>
            </a:r>
            <a:r>
              <a:rPr lang="en-US" b="0" i="0" dirty="0">
                <a:effectLst/>
                <a:latin typeface="system-ui"/>
              </a:rPr>
              <a:t> which represent actual app ratings. </a:t>
            </a:r>
          </a:p>
          <a:p>
            <a:pPr algn="l"/>
            <a:r>
              <a:rPr lang="en-US" b="0" i="0" dirty="0">
                <a:effectLst/>
                <a:latin typeface="system-ui"/>
              </a:rPr>
              <a:t>We're not sure how much those ratings really tell us about the unseen population of potential users. </a:t>
            </a:r>
          </a:p>
          <a:p>
            <a:pPr algn="l"/>
            <a:r>
              <a:rPr lang="en-US" b="0" i="0" dirty="0">
                <a:effectLst/>
                <a:latin typeface="system-ui"/>
              </a:rPr>
              <a:t>We represent the distribution parameters as </a:t>
            </a:r>
            <a:r>
              <a:rPr lang="en-US" b="0" i="0" dirty="0">
                <a:solidFill>
                  <a:schemeClr val="accent4"/>
                </a:solidFill>
                <a:effectLst/>
                <a:latin typeface="system-ui"/>
              </a:rPr>
              <a:t>θ=[</a:t>
            </a:r>
            <a:r>
              <a:rPr lang="en-US" b="0" i="0" dirty="0" err="1">
                <a:solidFill>
                  <a:schemeClr val="accent4"/>
                </a:solidFill>
                <a:effectLst/>
                <a:latin typeface="system-ui"/>
              </a:rPr>
              <a:t>μ,σ</a:t>
            </a:r>
            <a:r>
              <a:rPr lang="en-US" b="0" i="0" dirty="0">
                <a:solidFill>
                  <a:schemeClr val="accent4"/>
                </a:solidFill>
                <a:effectLst/>
                <a:latin typeface="system-ui"/>
              </a:rPr>
              <a:t>]</a:t>
            </a:r>
            <a:r>
              <a:rPr lang="en-US" b="0" i="0" dirty="0">
                <a:effectLst/>
                <a:latin typeface="system-ui"/>
              </a:rPr>
              <a:t>, and can talk about </a:t>
            </a:r>
            <a:r>
              <a:rPr lang="en-US" b="0" i="0" dirty="0">
                <a:solidFill>
                  <a:schemeClr val="accent4"/>
                </a:solidFill>
                <a:effectLst/>
                <a:latin typeface="system-ui"/>
              </a:rPr>
              <a:t>P(θ)</a:t>
            </a:r>
            <a:r>
              <a:rPr lang="en-US" b="0" i="0" dirty="0">
                <a:effectLst/>
                <a:latin typeface="system-ui"/>
              </a:rPr>
              <a:t>, a distribution over the parameter vectors.</a:t>
            </a:r>
          </a:p>
          <a:p>
            <a:pPr marL="0" indent="0" algn="l">
              <a:buNone/>
            </a:pPr>
            <a:r>
              <a:rPr lang="en-US" b="1" i="0" dirty="0">
                <a:effectLst/>
                <a:latin typeface="system-ui"/>
              </a:rPr>
              <a:t>Priors</a:t>
            </a:r>
          </a:p>
          <a:p>
            <a:pPr algn="l"/>
            <a:r>
              <a:rPr lang="en-US" b="0" i="0" dirty="0">
                <a:effectLst/>
                <a:latin typeface="system-ui"/>
              </a:rPr>
              <a:t>Assume we have some prior belief </a:t>
            </a:r>
            <a:r>
              <a:rPr lang="en-US" b="0" i="0" dirty="0">
                <a:solidFill>
                  <a:schemeClr val="accent4"/>
                </a:solidFill>
                <a:effectLst/>
                <a:latin typeface="system-ui"/>
              </a:rPr>
              <a:t>θ</a:t>
            </a:r>
            <a:r>
              <a:rPr lang="en-US" b="0" i="0" dirty="0">
                <a:effectLst/>
                <a:latin typeface="system-ui"/>
              </a:rPr>
              <a:t>, </a:t>
            </a:r>
            <a:r>
              <a:rPr lang="en-US" b="0" i="0" dirty="0">
                <a:solidFill>
                  <a:schemeClr val="accent4"/>
                </a:solidFill>
                <a:effectLst/>
                <a:latin typeface="system-ui"/>
              </a:rPr>
              <a:t>P(θ)</a:t>
            </a:r>
            <a:r>
              <a:rPr lang="en-US" b="0" i="0" dirty="0">
                <a:effectLst/>
                <a:latin typeface="system-ui"/>
              </a:rPr>
              <a:t>: for example this might be a very simple assumption that our prior is that μ and σ are uniformly distributed</a:t>
            </a:r>
          </a:p>
          <a:p>
            <a:pPr lvl="1"/>
            <a:r>
              <a:rPr lang="en-US" b="0" i="0" dirty="0" err="1">
                <a:solidFill>
                  <a:schemeClr val="accent4"/>
                </a:solidFill>
                <a:effectLst/>
                <a:latin typeface="system-ui"/>
              </a:rPr>
              <a:t>μ∼U</a:t>
            </a:r>
            <a:r>
              <a:rPr lang="en-US" b="0" i="0" dirty="0">
                <a:solidFill>
                  <a:schemeClr val="accent4"/>
                </a:solidFill>
                <a:effectLst/>
                <a:latin typeface="system-ui"/>
              </a:rPr>
              <a:t>(1,5)</a:t>
            </a:r>
          </a:p>
          <a:p>
            <a:pPr lvl="1"/>
            <a:r>
              <a:rPr lang="en-US" b="0" i="0" dirty="0" err="1">
                <a:solidFill>
                  <a:schemeClr val="accent4"/>
                </a:solidFill>
                <a:effectLst/>
                <a:latin typeface="system-ui"/>
              </a:rPr>
              <a:t>σ∼U</a:t>
            </a:r>
            <a:r>
              <a:rPr lang="en-US" b="0" i="0" dirty="0">
                <a:solidFill>
                  <a:schemeClr val="accent4"/>
                </a:solidFill>
                <a:effectLst/>
                <a:latin typeface="system-ui"/>
              </a:rPr>
              <a:t>(0,10)</a:t>
            </a:r>
          </a:p>
          <a:p>
            <a:pPr algn="l"/>
            <a:r>
              <a:rPr lang="en-US" b="0" i="0" dirty="0">
                <a:effectLst/>
                <a:latin typeface="system-ui"/>
              </a:rPr>
              <a:t>This gives us a form for </a:t>
            </a:r>
            <a:r>
              <a:rPr lang="en-US" b="0" i="0" dirty="0">
                <a:solidFill>
                  <a:schemeClr val="accent4"/>
                </a:solidFill>
                <a:effectLst/>
                <a:latin typeface="system-ui"/>
              </a:rPr>
              <a:t>P(θ)</a:t>
            </a:r>
            <a:r>
              <a:rPr lang="en-US" b="0" i="0" dirty="0">
                <a:effectLst/>
                <a:latin typeface="system-ui"/>
              </a:rPr>
              <a:t>. </a:t>
            </a:r>
            <a:endParaRPr lang="en-GB" b="1" dirty="0"/>
          </a:p>
        </p:txBody>
      </p:sp>
    </p:spTree>
    <p:extLst>
      <p:ext uri="{BB962C8B-B14F-4D97-AF65-F5344CB8AC3E}">
        <p14:creationId xmlns:p14="http://schemas.microsoft.com/office/powerpoint/2010/main" val="39636628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3F551-F3E3-6B86-C869-2165A3F4F31F}"/>
              </a:ext>
            </a:extLst>
          </p:cNvPr>
          <p:cNvSpPr>
            <a:spLocks noGrp="1"/>
          </p:cNvSpPr>
          <p:nvPr>
            <p:ph type="title"/>
          </p:nvPr>
        </p:nvSpPr>
        <p:spPr/>
        <p:txBody>
          <a:bodyPr/>
          <a:lstStyle/>
          <a:p>
            <a:r>
              <a:rPr lang="en-GB" dirty="0"/>
              <a:t>Likelihood</a:t>
            </a:r>
          </a:p>
        </p:txBody>
      </p:sp>
      <p:sp>
        <p:nvSpPr>
          <p:cNvPr id="3" name="Content Placeholder 2">
            <a:extLst>
              <a:ext uri="{FF2B5EF4-FFF2-40B4-BE49-F238E27FC236}">
                <a16:creationId xmlns:a16="http://schemas.microsoft.com/office/drawing/2014/main" id="{60B2F908-0B4E-832E-E7D8-3C77A0BAB7A3}"/>
              </a:ext>
            </a:extLst>
          </p:cNvPr>
          <p:cNvSpPr>
            <a:spLocks noGrp="1"/>
          </p:cNvSpPr>
          <p:nvPr>
            <p:ph sz="quarter" idx="13"/>
          </p:nvPr>
        </p:nvSpPr>
        <p:spPr/>
        <p:txBody>
          <a:bodyPr>
            <a:normAutofit lnSpcReduction="10000"/>
          </a:bodyPr>
          <a:lstStyle/>
          <a:p>
            <a:pPr marL="0" indent="0">
              <a:buNone/>
            </a:pPr>
            <a:r>
              <a:rPr lang="en-US" b="0" i="0" dirty="0">
                <a:effectLst/>
                <a:latin typeface="system-ui"/>
              </a:rPr>
              <a:t>We need to be able to define a </a:t>
            </a:r>
            <a:r>
              <a:rPr lang="en-US" b="1" i="0" dirty="0">
                <a:effectLst/>
                <a:latin typeface="system-ui"/>
              </a:rPr>
              <a:t>likelihood function</a:t>
            </a:r>
            <a:r>
              <a:rPr lang="en-US" b="0" i="0" dirty="0">
                <a:effectLst/>
                <a:latin typeface="system-ui"/>
              </a:rPr>
              <a:t>. This is a function of data given some parameter setting, and in this case it is the same as the likelihood function used for MLE: the likelihood of one sample is just the normal PDF evaluated at that point, and the likelihood of all samples is the product of these likelihoods.</a:t>
            </a:r>
          </a:p>
          <a:p>
            <a:pPr marL="0" indent="0">
              <a:buNone/>
            </a:pPr>
            <a:endParaRPr lang="en-US" dirty="0">
              <a:latin typeface="system-ui"/>
            </a:endParaRPr>
          </a:p>
          <a:p>
            <a:pPr marL="0" indent="0">
              <a:buNone/>
            </a:pPr>
            <a:endParaRPr lang="en-US" b="0" i="0" dirty="0">
              <a:effectLst/>
              <a:latin typeface="system-ui"/>
            </a:endParaRPr>
          </a:p>
          <a:p>
            <a:pPr marL="0" indent="0">
              <a:buNone/>
            </a:pPr>
            <a:endParaRPr lang="en-US" dirty="0">
              <a:latin typeface="system-ui"/>
            </a:endParaRPr>
          </a:p>
          <a:p>
            <a:pPr marL="0" indent="0">
              <a:buNone/>
            </a:pPr>
            <a:endParaRPr lang="en-US" b="0" i="0" dirty="0">
              <a:effectLst/>
              <a:latin typeface="system-ui"/>
            </a:endParaRPr>
          </a:p>
          <a:p>
            <a:pPr marL="0" indent="0">
              <a:buNone/>
            </a:pPr>
            <a:endParaRPr lang="en-US" dirty="0">
              <a:latin typeface="system-ui"/>
            </a:endParaRPr>
          </a:p>
          <a:p>
            <a:pPr marL="0" indent="0">
              <a:buNone/>
            </a:pPr>
            <a:r>
              <a:rPr lang="en-US" b="1" i="0" dirty="0">
                <a:effectLst/>
                <a:latin typeface="system-ui"/>
              </a:rPr>
              <a:t>Note carefully:</a:t>
            </a:r>
            <a:r>
              <a:rPr lang="en-US" b="0" i="0" dirty="0">
                <a:effectLst/>
                <a:latin typeface="system-ui"/>
              </a:rPr>
              <a:t> in many cases we can only evaluate this likelihood function directly for a </a:t>
            </a:r>
            <a:r>
              <a:rPr lang="en-US" b="0" i="1" dirty="0">
                <a:solidFill>
                  <a:schemeClr val="accent4"/>
                </a:solidFill>
                <a:effectLst/>
                <a:latin typeface="system-ui"/>
              </a:rPr>
              <a:t>specific</a:t>
            </a:r>
            <a:r>
              <a:rPr lang="en-US" b="0" i="0" dirty="0">
                <a:effectLst/>
                <a:latin typeface="system-ui"/>
              </a:rPr>
              <a:t> setting of </a:t>
            </a:r>
            <a:r>
              <a:rPr lang="en-US" dirty="0">
                <a:solidFill>
                  <a:schemeClr val="accent4"/>
                </a:solidFill>
              </a:rPr>
              <a:t>θ</a:t>
            </a:r>
            <a:r>
              <a:rPr lang="en-US" b="0" i="0" dirty="0">
                <a:effectLst/>
                <a:latin typeface="system-ui"/>
              </a:rPr>
              <a:t>; but we have a </a:t>
            </a:r>
            <a:r>
              <a:rPr lang="en-US" b="1" i="0" dirty="0">
                <a:effectLst/>
                <a:latin typeface="system-ui"/>
              </a:rPr>
              <a:t>distribution</a:t>
            </a:r>
            <a:r>
              <a:rPr lang="en-US" b="0" i="0" dirty="0">
                <a:effectLst/>
                <a:latin typeface="system-ui"/>
              </a:rPr>
              <a:t> over </a:t>
            </a:r>
            <a:r>
              <a:rPr lang="en-US" dirty="0">
                <a:solidFill>
                  <a:schemeClr val="accent4"/>
                </a:solidFill>
              </a:rPr>
              <a:t>θ</a:t>
            </a:r>
            <a:r>
              <a:rPr lang="en-US" b="0" i="0" dirty="0">
                <a:effectLst/>
                <a:latin typeface="system-ui"/>
              </a:rPr>
              <a:t> to deal with when doing Bayesian inference.</a:t>
            </a:r>
            <a:endParaRPr lang="en-GB" dirty="0"/>
          </a:p>
        </p:txBody>
      </p:sp>
      <p:pic>
        <p:nvPicPr>
          <p:cNvPr id="5" name="Picture 4">
            <a:extLst>
              <a:ext uri="{FF2B5EF4-FFF2-40B4-BE49-F238E27FC236}">
                <a16:creationId xmlns:a16="http://schemas.microsoft.com/office/drawing/2014/main" id="{4D58A1AB-2903-7682-5D50-B5B61A278C9B}"/>
              </a:ext>
            </a:extLst>
          </p:cNvPr>
          <p:cNvPicPr>
            <a:picLocks noChangeAspect="1"/>
          </p:cNvPicPr>
          <p:nvPr/>
        </p:nvPicPr>
        <p:blipFill>
          <a:blip r:embed="rId2"/>
          <a:stretch>
            <a:fillRect/>
          </a:stretch>
        </p:blipFill>
        <p:spPr>
          <a:xfrm>
            <a:off x="2628493" y="3166975"/>
            <a:ext cx="5820587" cy="1238423"/>
          </a:xfrm>
          <a:prstGeom prst="rect">
            <a:avLst/>
          </a:prstGeom>
        </p:spPr>
      </p:pic>
    </p:spTree>
    <p:extLst>
      <p:ext uri="{BB962C8B-B14F-4D97-AF65-F5344CB8AC3E}">
        <p14:creationId xmlns:p14="http://schemas.microsoft.com/office/powerpoint/2010/main" val="253064332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4D971-37EF-3343-E963-E069F5562362}"/>
              </a:ext>
            </a:extLst>
          </p:cNvPr>
          <p:cNvSpPr>
            <a:spLocks noGrp="1"/>
          </p:cNvSpPr>
          <p:nvPr>
            <p:ph type="title"/>
          </p:nvPr>
        </p:nvSpPr>
        <p:spPr/>
        <p:txBody>
          <a:bodyPr/>
          <a:lstStyle/>
          <a:p>
            <a:r>
              <a:rPr lang="en-GB" dirty="0"/>
              <a:t>Inference</a:t>
            </a:r>
          </a:p>
        </p:txBody>
      </p:sp>
      <p:sp>
        <p:nvSpPr>
          <p:cNvPr id="3" name="Content Placeholder 2">
            <a:extLst>
              <a:ext uri="{FF2B5EF4-FFF2-40B4-BE49-F238E27FC236}">
                <a16:creationId xmlns:a16="http://schemas.microsoft.com/office/drawing/2014/main" id="{ED4D867C-E7FC-2014-1C78-F69088EB0404}"/>
              </a:ext>
            </a:extLst>
          </p:cNvPr>
          <p:cNvSpPr>
            <a:spLocks noGrp="1"/>
          </p:cNvSpPr>
          <p:nvPr>
            <p:ph sz="quarter" idx="13"/>
          </p:nvPr>
        </p:nvSpPr>
        <p:spPr/>
        <p:txBody>
          <a:bodyPr/>
          <a:lstStyle/>
          <a:p>
            <a:pPr marL="0" indent="0" algn="ctr">
              <a:buNone/>
            </a:pPr>
            <a:r>
              <a:rPr lang="en-US" b="0" i="1" dirty="0">
                <a:solidFill>
                  <a:schemeClr val="accent4"/>
                </a:solidFill>
                <a:effectLst/>
                <a:latin typeface="system-ui"/>
              </a:rPr>
              <a:t>How can we compute the posterior distribution P(</a:t>
            </a:r>
            <a:r>
              <a:rPr lang="en-US" b="0" i="1" dirty="0" err="1">
                <a:solidFill>
                  <a:schemeClr val="accent4"/>
                </a:solidFill>
                <a:effectLst/>
                <a:latin typeface="system-ui"/>
              </a:rPr>
              <a:t>θ|D</a:t>
            </a:r>
            <a:r>
              <a:rPr lang="en-US" b="0" i="1" dirty="0">
                <a:solidFill>
                  <a:schemeClr val="accent4"/>
                </a:solidFill>
                <a:effectLst/>
                <a:latin typeface="system-ui"/>
              </a:rPr>
              <a:t>)? </a:t>
            </a:r>
          </a:p>
          <a:p>
            <a:pPr marL="0" indent="0" algn="l">
              <a:buNone/>
            </a:pPr>
            <a:endParaRPr lang="en-US" b="0" i="0" dirty="0">
              <a:effectLst/>
              <a:latin typeface="system-ui"/>
            </a:endParaRPr>
          </a:p>
          <a:p>
            <a:pPr marL="0" indent="0" algn="l">
              <a:buNone/>
            </a:pPr>
            <a:r>
              <a:rPr lang="en-US" b="0" i="0" dirty="0">
                <a:effectLst/>
                <a:latin typeface="system-ui"/>
              </a:rPr>
              <a:t>We won't discuss how to find this in closed form (as a function) but rather how to draw samples from this posterior, given a prior and a likelihood and some observations.</a:t>
            </a:r>
          </a:p>
          <a:p>
            <a:pPr marL="0" indent="0" algn="l">
              <a:buNone/>
            </a:pPr>
            <a:endParaRPr lang="en-US" b="0" i="0" dirty="0">
              <a:effectLst/>
              <a:latin typeface="system-ui"/>
            </a:endParaRPr>
          </a:p>
          <a:p>
            <a:pPr marL="0" indent="0" algn="l">
              <a:buNone/>
            </a:pPr>
            <a:r>
              <a:rPr lang="en-US" b="0" i="0" dirty="0">
                <a:effectLst/>
                <a:latin typeface="system-ui"/>
              </a:rPr>
              <a:t>There is a huge literature on how to solve this problem, which has a few nasty parts:</a:t>
            </a:r>
          </a:p>
          <a:p>
            <a:pPr algn="l">
              <a:buFont typeface="Arial" panose="020B0604020202020204" pitchFamily="34" charset="0"/>
              <a:buChar char="•"/>
            </a:pPr>
            <a:r>
              <a:rPr lang="en-US" b="0" i="0" dirty="0">
                <a:solidFill>
                  <a:schemeClr val="accent4"/>
                </a:solidFill>
                <a:effectLst/>
                <a:latin typeface="system-ui"/>
              </a:rPr>
              <a:t>P(</a:t>
            </a:r>
            <a:r>
              <a:rPr lang="en-US" b="0" i="0" dirty="0" err="1">
                <a:solidFill>
                  <a:schemeClr val="accent4"/>
                </a:solidFill>
                <a:effectLst/>
                <a:latin typeface="system-ui"/>
              </a:rPr>
              <a:t>D|θ</a:t>
            </a:r>
            <a:r>
              <a:rPr lang="en-US" b="0" i="0" dirty="0">
                <a:solidFill>
                  <a:schemeClr val="accent4"/>
                </a:solidFill>
                <a:effectLst/>
                <a:latin typeface="system-ui"/>
              </a:rPr>
              <a:t>)</a:t>
            </a:r>
            <a:r>
              <a:rPr lang="en-US" b="0" i="0" dirty="0">
                <a:effectLst/>
                <a:latin typeface="system-ui"/>
              </a:rPr>
              <a:t> needs to be computed for a </a:t>
            </a:r>
            <a:r>
              <a:rPr lang="en-US" b="1" i="0" dirty="0">
                <a:effectLst/>
                <a:latin typeface="system-ui"/>
              </a:rPr>
              <a:t>distribution</a:t>
            </a:r>
            <a:r>
              <a:rPr lang="en-US" b="0" i="0" dirty="0">
                <a:effectLst/>
                <a:latin typeface="system-ui"/>
              </a:rPr>
              <a:t> over θ, not just some numbers. </a:t>
            </a:r>
          </a:p>
          <a:p>
            <a:pPr algn="l">
              <a:buFont typeface="Arial" panose="020B0604020202020204" pitchFamily="34" charset="0"/>
              <a:buChar char="•"/>
            </a:pPr>
            <a:r>
              <a:rPr lang="en-US" b="0" i="0" dirty="0">
                <a:effectLst/>
                <a:latin typeface="system-ui"/>
              </a:rPr>
              <a:t>                                     which is likely intractable.</a:t>
            </a:r>
          </a:p>
          <a:p>
            <a:endParaRPr lang="en-GB" dirty="0"/>
          </a:p>
        </p:txBody>
      </p:sp>
      <p:pic>
        <p:nvPicPr>
          <p:cNvPr id="5" name="Picture 4">
            <a:extLst>
              <a:ext uri="{FF2B5EF4-FFF2-40B4-BE49-F238E27FC236}">
                <a16:creationId xmlns:a16="http://schemas.microsoft.com/office/drawing/2014/main" id="{E92BCCDF-82A9-AB91-2E5D-6E69E9B290A4}"/>
              </a:ext>
            </a:extLst>
          </p:cNvPr>
          <p:cNvPicPr>
            <a:picLocks noChangeAspect="1"/>
          </p:cNvPicPr>
          <p:nvPr/>
        </p:nvPicPr>
        <p:blipFill>
          <a:blip r:embed="rId2"/>
          <a:stretch>
            <a:fillRect/>
          </a:stretch>
        </p:blipFill>
        <p:spPr>
          <a:xfrm>
            <a:off x="545128" y="4633881"/>
            <a:ext cx="2543530" cy="447737"/>
          </a:xfrm>
          <a:prstGeom prst="rect">
            <a:avLst/>
          </a:prstGeom>
        </p:spPr>
      </p:pic>
    </p:spTree>
    <p:extLst>
      <p:ext uri="{BB962C8B-B14F-4D97-AF65-F5344CB8AC3E}">
        <p14:creationId xmlns:p14="http://schemas.microsoft.com/office/powerpoint/2010/main" val="227613361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AB95F-9B98-D24D-5228-AF39D85250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406CD4-04C7-E510-00D5-222245ED297D}"/>
              </a:ext>
            </a:extLst>
          </p:cNvPr>
          <p:cNvSpPr>
            <a:spLocks noGrp="1"/>
          </p:cNvSpPr>
          <p:nvPr>
            <p:ph type="title"/>
          </p:nvPr>
        </p:nvSpPr>
        <p:spPr/>
        <p:txBody>
          <a:bodyPr/>
          <a:lstStyle/>
          <a:p>
            <a:r>
              <a:rPr lang="en-GB" b="1" i="0" dirty="0">
                <a:effectLst/>
                <a:latin typeface="system-ui"/>
              </a:rPr>
              <a:t>Making it tractable: two simplifications</a:t>
            </a:r>
            <a:br>
              <a:rPr lang="en-GB" b="1" i="0" dirty="0">
                <a:effectLst/>
                <a:latin typeface="system-ui"/>
              </a:rPr>
            </a:br>
            <a:endParaRPr lang="en-GB" dirty="0"/>
          </a:p>
        </p:txBody>
      </p:sp>
      <p:sp>
        <p:nvSpPr>
          <p:cNvPr id="3" name="Content Placeholder 2">
            <a:extLst>
              <a:ext uri="{FF2B5EF4-FFF2-40B4-BE49-F238E27FC236}">
                <a16:creationId xmlns:a16="http://schemas.microsoft.com/office/drawing/2014/main" id="{A5331C7F-EFA1-E88E-67D5-41FCD66F8190}"/>
              </a:ext>
            </a:extLst>
          </p:cNvPr>
          <p:cNvSpPr>
            <a:spLocks noGrp="1"/>
          </p:cNvSpPr>
          <p:nvPr>
            <p:ph sz="quarter" idx="13"/>
          </p:nvPr>
        </p:nvSpPr>
        <p:spPr/>
        <p:txBody>
          <a:bodyPr>
            <a:normAutofit/>
          </a:bodyPr>
          <a:lstStyle/>
          <a:p>
            <a:pPr marL="0" indent="0" algn="l">
              <a:buNone/>
            </a:pPr>
            <a:r>
              <a:rPr lang="en-US" b="1" i="0" dirty="0">
                <a:effectLst/>
                <a:latin typeface="system-ui"/>
              </a:rPr>
              <a:t>Samples will do</a:t>
            </a:r>
          </a:p>
          <a:p>
            <a:pPr algn="l"/>
            <a:r>
              <a:rPr lang="en-US" b="0" i="0" dirty="0">
                <a:effectLst/>
                <a:latin typeface="system-ui"/>
              </a:rPr>
              <a:t>We often can't compute </a:t>
            </a:r>
            <a:r>
              <a:rPr lang="en-US" b="0" i="0" dirty="0">
                <a:solidFill>
                  <a:schemeClr val="accent4"/>
                </a:solidFill>
                <a:effectLst/>
                <a:latin typeface="system-ui"/>
              </a:rPr>
              <a:t>P(</a:t>
            </a:r>
            <a:r>
              <a:rPr lang="en-US" b="0" i="0" dirty="0" err="1">
                <a:solidFill>
                  <a:schemeClr val="accent4"/>
                </a:solidFill>
                <a:effectLst/>
                <a:latin typeface="system-ui"/>
              </a:rPr>
              <a:t>θ|D</a:t>
            </a:r>
            <a:r>
              <a:rPr lang="en-US" b="0" i="0" dirty="0">
                <a:solidFill>
                  <a:schemeClr val="accent4"/>
                </a:solidFill>
                <a:effectLst/>
                <a:latin typeface="system-ui"/>
              </a:rPr>
              <a:t>)</a:t>
            </a:r>
            <a:r>
              <a:rPr lang="en-US" b="0" i="0" dirty="0">
                <a:effectLst/>
                <a:latin typeface="system-ui"/>
              </a:rPr>
              <a:t> because we don't know how to do operations on products of functions. But it's often trivial for </a:t>
            </a:r>
            <a:r>
              <a:rPr lang="en-US" b="0" i="1" dirty="0">
                <a:effectLst/>
                <a:latin typeface="system-ui"/>
              </a:rPr>
              <a:t>specific, concrete</a:t>
            </a:r>
            <a:r>
              <a:rPr lang="en-US" b="0" i="0" dirty="0">
                <a:effectLst/>
                <a:latin typeface="system-ui"/>
              </a:rPr>
              <a:t> values of </a:t>
            </a:r>
            <a:r>
              <a:rPr lang="en-US" b="0" i="0" dirty="0">
                <a:solidFill>
                  <a:schemeClr val="accent4"/>
                </a:solidFill>
                <a:effectLst/>
                <a:latin typeface="system-ui"/>
              </a:rPr>
              <a:t>θ</a:t>
            </a:r>
            <a:r>
              <a:rPr lang="en-US" b="0" i="0" dirty="0">
                <a:effectLst/>
                <a:latin typeface="system-ui"/>
              </a:rPr>
              <a:t>. </a:t>
            </a:r>
          </a:p>
          <a:p>
            <a:pPr algn="l"/>
            <a:r>
              <a:rPr lang="en-US" b="0" i="0" dirty="0">
                <a:effectLst/>
                <a:latin typeface="system-ui"/>
              </a:rPr>
              <a:t>This leads us to the idea of </a:t>
            </a:r>
            <a:r>
              <a:rPr lang="en-US" b="1" i="0" dirty="0">
                <a:solidFill>
                  <a:schemeClr val="accent5"/>
                </a:solidFill>
                <a:effectLst/>
                <a:latin typeface="system-ui"/>
              </a:rPr>
              <a:t>drawing samples</a:t>
            </a:r>
            <a:r>
              <a:rPr lang="en-US" b="0" i="0" dirty="0">
                <a:effectLst/>
                <a:latin typeface="system-ui"/>
              </a:rPr>
              <a:t> from the posterior distribution </a:t>
            </a:r>
            <a:r>
              <a:rPr lang="en-US" b="0" i="0" dirty="0">
                <a:solidFill>
                  <a:schemeClr val="accent4"/>
                </a:solidFill>
                <a:effectLst/>
                <a:latin typeface="system-ui"/>
              </a:rPr>
              <a:t>P(</a:t>
            </a:r>
            <a:r>
              <a:rPr lang="en-US" b="0" i="0" dirty="0" err="1">
                <a:solidFill>
                  <a:schemeClr val="accent4"/>
                </a:solidFill>
                <a:effectLst/>
                <a:latin typeface="system-ui"/>
              </a:rPr>
              <a:t>θ|D</a:t>
            </a:r>
            <a:r>
              <a:rPr lang="en-US" b="0" i="0" dirty="0">
                <a:solidFill>
                  <a:schemeClr val="accent4"/>
                </a:solidFill>
                <a:effectLst/>
                <a:latin typeface="system-ui"/>
              </a:rPr>
              <a:t>)</a:t>
            </a:r>
            <a:r>
              <a:rPr lang="en-US" b="0" i="0" dirty="0">
                <a:effectLst/>
                <a:latin typeface="system-ui"/>
              </a:rPr>
              <a:t>, instead of trying to compute the distribution exactly.</a:t>
            </a:r>
          </a:p>
          <a:p>
            <a:pPr marL="0" indent="0" algn="l">
              <a:buNone/>
            </a:pPr>
            <a:endParaRPr lang="en-US" b="0" i="0" dirty="0">
              <a:effectLst/>
              <a:latin typeface="system-ui"/>
            </a:endParaRPr>
          </a:p>
          <a:p>
            <a:pPr marL="0" indent="0" algn="l">
              <a:buNone/>
            </a:pPr>
            <a:endParaRPr lang="en-US" b="0" i="0" dirty="0">
              <a:effectLst/>
              <a:latin typeface="system-ui"/>
            </a:endParaRPr>
          </a:p>
          <a:p>
            <a:endParaRPr lang="en-GB" dirty="0"/>
          </a:p>
        </p:txBody>
      </p:sp>
    </p:spTree>
    <p:extLst>
      <p:ext uri="{BB962C8B-B14F-4D97-AF65-F5344CB8AC3E}">
        <p14:creationId xmlns:p14="http://schemas.microsoft.com/office/powerpoint/2010/main" val="302328508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23ABA-3A68-C9FC-FD12-048DEEFD5347}"/>
              </a:ext>
            </a:extLst>
          </p:cNvPr>
          <p:cNvSpPr>
            <a:spLocks noGrp="1"/>
          </p:cNvSpPr>
          <p:nvPr>
            <p:ph type="title"/>
          </p:nvPr>
        </p:nvSpPr>
        <p:spPr/>
        <p:txBody>
          <a:bodyPr/>
          <a:lstStyle/>
          <a:p>
            <a:r>
              <a:rPr lang="en-GB" b="1" i="0" dirty="0">
                <a:effectLst/>
                <a:latin typeface="system-ui"/>
              </a:rPr>
              <a:t>Making it tractable: two simplifications</a:t>
            </a:r>
            <a:br>
              <a:rPr lang="en-GB" b="1" i="0" dirty="0">
                <a:effectLst/>
                <a:latin typeface="system-ui"/>
              </a:rPr>
            </a:br>
            <a:endParaRPr lang="en-GB" dirty="0"/>
          </a:p>
        </p:txBody>
      </p:sp>
      <p:sp>
        <p:nvSpPr>
          <p:cNvPr id="3" name="Content Placeholder 2">
            <a:extLst>
              <a:ext uri="{FF2B5EF4-FFF2-40B4-BE49-F238E27FC236}">
                <a16:creationId xmlns:a16="http://schemas.microsoft.com/office/drawing/2014/main" id="{DAB98BFF-D259-4D21-800F-2EBA80C86488}"/>
              </a:ext>
            </a:extLst>
          </p:cNvPr>
          <p:cNvSpPr>
            <a:spLocks noGrp="1"/>
          </p:cNvSpPr>
          <p:nvPr>
            <p:ph sz="quarter" idx="13"/>
          </p:nvPr>
        </p:nvSpPr>
        <p:spPr/>
        <p:txBody>
          <a:bodyPr>
            <a:normAutofit lnSpcReduction="10000"/>
          </a:bodyPr>
          <a:lstStyle/>
          <a:p>
            <a:pPr marL="0" indent="0" algn="l">
              <a:buNone/>
            </a:pPr>
            <a:r>
              <a:rPr lang="en-US" b="1" i="0" dirty="0">
                <a:effectLst/>
                <a:latin typeface="system-ui"/>
              </a:rPr>
              <a:t>Samples will do</a:t>
            </a:r>
          </a:p>
          <a:p>
            <a:pPr algn="l"/>
            <a:r>
              <a:rPr lang="en-US" b="0" i="0" dirty="0">
                <a:effectLst/>
                <a:latin typeface="system-ui"/>
              </a:rPr>
              <a:t>We often can't compute P(</a:t>
            </a:r>
            <a:r>
              <a:rPr lang="en-US" b="0" i="0" dirty="0" err="1">
                <a:effectLst/>
                <a:latin typeface="system-ui"/>
              </a:rPr>
              <a:t>θ|D</a:t>
            </a:r>
            <a:r>
              <a:rPr lang="en-US" b="0" i="0" dirty="0">
                <a:effectLst/>
                <a:latin typeface="system-ui"/>
              </a:rPr>
              <a:t>) because we don't know how to do operations on products of functions. But it's often trivial for </a:t>
            </a:r>
            <a:r>
              <a:rPr lang="en-US" b="0" i="1" dirty="0">
                <a:effectLst/>
                <a:latin typeface="system-ui"/>
              </a:rPr>
              <a:t>specific, concrete</a:t>
            </a:r>
            <a:r>
              <a:rPr lang="en-US" b="0" i="0" dirty="0">
                <a:effectLst/>
                <a:latin typeface="system-ui"/>
              </a:rPr>
              <a:t> values of θ. </a:t>
            </a:r>
          </a:p>
          <a:p>
            <a:pPr algn="l"/>
            <a:r>
              <a:rPr lang="en-US" b="0" i="0" dirty="0">
                <a:effectLst/>
                <a:latin typeface="system-ui"/>
              </a:rPr>
              <a:t>This leads us to the idea of </a:t>
            </a:r>
            <a:r>
              <a:rPr lang="en-US" b="1" i="0" dirty="0">
                <a:effectLst/>
                <a:latin typeface="system-ui"/>
              </a:rPr>
              <a:t>drawing samples</a:t>
            </a:r>
            <a:r>
              <a:rPr lang="en-US" b="0" i="0" dirty="0">
                <a:effectLst/>
                <a:latin typeface="system-ui"/>
              </a:rPr>
              <a:t> from the posterior distribution P(</a:t>
            </a:r>
            <a:r>
              <a:rPr lang="en-US" b="0" i="0" dirty="0" err="1">
                <a:effectLst/>
                <a:latin typeface="system-ui"/>
              </a:rPr>
              <a:t>θ|D</a:t>
            </a:r>
            <a:r>
              <a:rPr lang="en-US" b="0" i="0" dirty="0">
                <a:effectLst/>
                <a:latin typeface="system-ui"/>
              </a:rPr>
              <a:t>), instead of trying to compute the distribution exactly.</a:t>
            </a:r>
          </a:p>
          <a:p>
            <a:pPr marL="0" indent="0" algn="l">
              <a:buNone/>
            </a:pPr>
            <a:r>
              <a:rPr lang="en-US" b="1" i="0" dirty="0">
                <a:effectLst/>
                <a:latin typeface="system-ui"/>
              </a:rPr>
              <a:t>Relative probability only</a:t>
            </a:r>
          </a:p>
          <a:p>
            <a:pPr algn="l"/>
            <a:r>
              <a:rPr lang="en-US" b="0" i="0" dirty="0">
                <a:effectLst/>
                <a:latin typeface="system-ui"/>
              </a:rPr>
              <a:t>We can make a simplifying assumption: we only care about the </a:t>
            </a:r>
            <a:r>
              <a:rPr lang="en-US" b="0" i="1" dirty="0">
                <a:solidFill>
                  <a:schemeClr val="accent5"/>
                </a:solidFill>
                <a:effectLst/>
                <a:latin typeface="system-ui"/>
              </a:rPr>
              <a:t>relative</a:t>
            </a:r>
            <a:r>
              <a:rPr lang="en-US" b="0" i="0" dirty="0">
                <a:effectLst/>
                <a:latin typeface="system-ui"/>
              </a:rPr>
              <a:t> probability of different parameter settings with the data that we actually have, D. </a:t>
            </a:r>
          </a:p>
          <a:p>
            <a:pPr marL="457200" lvl="1" indent="0">
              <a:buNone/>
            </a:pPr>
            <a:r>
              <a:rPr lang="en-US" b="0" i="0" dirty="0">
                <a:effectLst/>
                <a:latin typeface="system-ui"/>
              </a:rPr>
              <a:t>That is we have </a:t>
            </a:r>
          </a:p>
          <a:p>
            <a:pPr marL="457200" lvl="1" indent="0">
              <a:buNone/>
            </a:pPr>
            <a:r>
              <a:rPr lang="en-US" b="0" i="0" dirty="0">
                <a:effectLst/>
                <a:latin typeface="system-ui"/>
              </a:rPr>
              <a:t>and ignore the fact that this is the posterior scaled by some unknown constant </a:t>
            </a:r>
          </a:p>
          <a:p>
            <a:r>
              <a:rPr lang="en-US" b="0" i="0" dirty="0">
                <a:effectLst/>
                <a:latin typeface="system-ui"/>
              </a:rPr>
              <a:t>This only makes sense because we are only considering one model with one set of data in this example.</a:t>
            </a:r>
          </a:p>
          <a:p>
            <a:pPr marL="0" indent="0" algn="l">
              <a:buNone/>
            </a:pPr>
            <a:endParaRPr lang="en-US" b="0" i="0" dirty="0">
              <a:effectLst/>
              <a:latin typeface="system-ui"/>
            </a:endParaRPr>
          </a:p>
          <a:p>
            <a:endParaRPr lang="en-GB" dirty="0"/>
          </a:p>
        </p:txBody>
      </p:sp>
      <p:pic>
        <p:nvPicPr>
          <p:cNvPr id="5" name="Picture 4">
            <a:extLst>
              <a:ext uri="{FF2B5EF4-FFF2-40B4-BE49-F238E27FC236}">
                <a16:creationId xmlns:a16="http://schemas.microsoft.com/office/drawing/2014/main" id="{61199B3D-4152-3F03-3CE0-DC2B84A643EC}"/>
              </a:ext>
            </a:extLst>
          </p:cNvPr>
          <p:cNvPicPr>
            <a:picLocks noChangeAspect="1"/>
          </p:cNvPicPr>
          <p:nvPr/>
        </p:nvPicPr>
        <p:blipFill>
          <a:blip r:embed="rId3"/>
          <a:stretch>
            <a:fillRect/>
          </a:stretch>
        </p:blipFill>
        <p:spPr>
          <a:xfrm>
            <a:off x="2980944" y="4488621"/>
            <a:ext cx="2486372" cy="495369"/>
          </a:xfrm>
          <a:prstGeom prst="rect">
            <a:avLst/>
          </a:prstGeom>
        </p:spPr>
      </p:pic>
      <p:pic>
        <p:nvPicPr>
          <p:cNvPr id="7" name="Picture 6">
            <a:extLst>
              <a:ext uri="{FF2B5EF4-FFF2-40B4-BE49-F238E27FC236}">
                <a16:creationId xmlns:a16="http://schemas.microsoft.com/office/drawing/2014/main" id="{D713440A-525F-1459-C3F8-DBCAAD672F85}"/>
              </a:ext>
            </a:extLst>
          </p:cNvPr>
          <p:cNvPicPr>
            <a:picLocks noChangeAspect="1"/>
          </p:cNvPicPr>
          <p:nvPr/>
        </p:nvPicPr>
        <p:blipFill>
          <a:blip r:embed="rId4"/>
          <a:stretch>
            <a:fillRect/>
          </a:stretch>
        </p:blipFill>
        <p:spPr>
          <a:xfrm>
            <a:off x="10648882" y="4845808"/>
            <a:ext cx="981212" cy="495369"/>
          </a:xfrm>
          <a:prstGeom prst="rect">
            <a:avLst/>
          </a:prstGeom>
        </p:spPr>
      </p:pic>
    </p:spTree>
    <p:extLst>
      <p:ext uri="{BB962C8B-B14F-4D97-AF65-F5344CB8AC3E}">
        <p14:creationId xmlns:p14="http://schemas.microsoft.com/office/powerpoint/2010/main" val="274935221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C7533-30FC-FB31-5BF3-AAE3CF96AA50}"/>
              </a:ext>
            </a:extLst>
          </p:cNvPr>
          <p:cNvSpPr>
            <a:spLocks noGrp="1"/>
          </p:cNvSpPr>
          <p:nvPr>
            <p:ph type="title"/>
          </p:nvPr>
        </p:nvSpPr>
        <p:spPr/>
        <p:txBody>
          <a:bodyPr/>
          <a:lstStyle/>
          <a:p>
            <a:r>
              <a:rPr lang="en-GB" dirty="0"/>
              <a:t>Markov Chain Monte Carlo</a:t>
            </a:r>
          </a:p>
        </p:txBody>
      </p:sp>
      <p:sp>
        <p:nvSpPr>
          <p:cNvPr id="3" name="Content Placeholder 2">
            <a:extLst>
              <a:ext uri="{FF2B5EF4-FFF2-40B4-BE49-F238E27FC236}">
                <a16:creationId xmlns:a16="http://schemas.microsoft.com/office/drawing/2014/main" id="{06BD8A22-F2B8-C93C-7E52-11497959E913}"/>
              </a:ext>
            </a:extLst>
          </p:cNvPr>
          <p:cNvSpPr>
            <a:spLocks noGrp="1"/>
          </p:cNvSpPr>
          <p:nvPr>
            <p:ph sz="quarter" idx="13"/>
          </p:nvPr>
        </p:nvSpPr>
        <p:spPr/>
        <p:txBody>
          <a:bodyPr/>
          <a:lstStyle/>
          <a:p>
            <a:pPr marL="0" indent="0" algn="l">
              <a:buNone/>
            </a:pPr>
            <a:r>
              <a:rPr lang="en-US" b="0" i="0" dirty="0">
                <a:effectLst/>
                <a:latin typeface="system-ui"/>
              </a:rPr>
              <a:t>We can implement a procedure to sample from the (relative) posterior distribution via a very simple modification of the </a:t>
            </a:r>
            <a:r>
              <a:rPr lang="en-US" b="0" i="1" dirty="0">
                <a:solidFill>
                  <a:schemeClr val="accent5"/>
                </a:solidFill>
                <a:effectLst/>
                <a:latin typeface="system-ui"/>
              </a:rPr>
              <a:t>simulated annealing</a:t>
            </a:r>
            <a:r>
              <a:rPr lang="en-US" b="0" i="0" dirty="0">
                <a:solidFill>
                  <a:schemeClr val="accent5"/>
                </a:solidFill>
                <a:effectLst/>
                <a:latin typeface="system-ui"/>
              </a:rPr>
              <a:t> </a:t>
            </a:r>
            <a:r>
              <a:rPr lang="en-US" b="0" i="0" dirty="0">
                <a:effectLst/>
                <a:latin typeface="system-ui"/>
              </a:rPr>
              <a:t>algorithm.</a:t>
            </a:r>
          </a:p>
          <a:p>
            <a:pPr marL="0" indent="0" algn="l">
              <a:buNone/>
            </a:pPr>
            <a:r>
              <a:rPr lang="en-US" b="0" i="0" dirty="0">
                <a:effectLst/>
                <a:latin typeface="system-ui"/>
              </a:rPr>
              <a:t>This defines a random walk through the space of parameter settings, proposing small random tweaks to the parameter settings, and accepting "jumps" if they make the estimate more likely, or with a probability proportional to the change in </a:t>
            </a:r>
            <a:r>
              <a:rPr lang="en-US" b="0" i="0" dirty="0">
                <a:solidFill>
                  <a:schemeClr val="accent4"/>
                </a:solidFill>
                <a:effectLst/>
                <a:latin typeface="system-ui"/>
              </a:rPr>
              <a:t>P(</a:t>
            </a:r>
            <a:r>
              <a:rPr lang="en-US" b="0" i="0" dirty="0" err="1">
                <a:solidFill>
                  <a:schemeClr val="accent4"/>
                </a:solidFill>
                <a:effectLst/>
                <a:latin typeface="system-ui"/>
              </a:rPr>
              <a:t>D|θ</a:t>
            </a:r>
            <a:r>
              <a:rPr lang="en-US" b="0" i="0" dirty="0">
                <a:solidFill>
                  <a:schemeClr val="accent4"/>
                </a:solidFill>
                <a:effectLst/>
                <a:latin typeface="system-ui"/>
              </a:rPr>
              <a:t>)P(θ) </a:t>
            </a:r>
            <a:r>
              <a:rPr lang="en-US" b="0" i="0" dirty="0">
                <a:effectLst/>
                <a:latin typeface="system-ui"/>
              </a:rPr>
              <a:t>if not. </a:t>
            </a:r>
          </a:p>
          <a:p>
            <a:pPr marL="0" indent="0" algn="l">
              <a:buNone/>
            </a:pPr>
            <a:r>
              <a:rPr lang="en-US" b="0" i="0" dirty="0">
                <a:effectLst/>
                <a:latin typeface="system-ui"/>
              </a:rPr>
              <a:t>The advantage of this approach is that we can work with</a:t>
            </a:r>
            <a:r>
              <a:rPr lang="en-US" b="0" i="0" dirty="0">
                <a:solidFill>
                  <a:schemeClr val="accent5"/>
                </a:solidFill>
                <a:effectLst/>
                <a:latin typeface="system-ui"/>
              </a:rPr>
              <a:t> </a:t>
            </a:r>
            <a:r>
              <a:rPr lang="en-US" b="0" i="1" dirty="0">
                <a:solidFill>
                  <a:schemeClr val="accent5"/>
                </a:solidFill>
                <a:effectLst/>
                <a:latin typeface="system-ui"/>
              </a:rPr>
              <a:t>definite samples</a:t>
            </a:r>
            <a:r>
              <a:rPr lang="en-US" b="0" i="0" dirty="0">
                <a:solidFill>
                  <a:schemeClr val="accent5"/>
                </a:solidFill>
                <a:effectLst/>
                <a:latin typeface="system-ui"/>
              </a:rPr>
              <a:t> </a:t>
            </a:r>
            <a:r>
              <a:rPr lang="en-US" b="0" i="0" dirty="0">
                <a:effectLst/>
                <a:latin typeface="system-ui"/>
              </a:rPr>
              <a:t>from </a:t>
            </a:r>
            <a:r>
              <a:rPr lang="en-US" b="0" i="0" dirty="0">
                <a:solidFill>
                  <a:schemeClr val="accent4"/>
                </a:solidFill>
                <a:effectLst/>
                <a:latin typeface="system-ui"/>
              </a:rPr>
              <a:t>θ</a:t>
            </a:r>
            <a:r>
              <a:rPr lang="en-US" b="0" i="0" dirty="0">
                <a:effectLst/>
                <a:latin typeface="system-ui"/>
              </a:rPr>
              <a:t> and we don't have to do any tricky integrals. </a:t>
            </a:r>
          </a:p>
          <a:p>
            <a:pPr marL="0" indent="0" algn="ctr">
              <a:buNone/>
            </a:pPr>
            <a:r>
              <a:rPr lang="en-US" b="0" i="0" dirty="0">
                <a:solidFill>
                  <a:schemeClr val="accent4"/>
                </a:solidFill>
                <a:effectLst/>
                <a:latin typeface="system-ui"/>
              </a:rPr>
              <a:t>This approach is called </a:t>
            </a:r>
            <a:r>
              <a:rPr lang="en-US" b="1" i="0" dirty="0">
                <a:solidFill>
                  <a:schemeClr val="accent4"/>
                </a:solidFill>
                <a:effectLst/>
                <a:latin typeface="system-ui"/>
              </a:rPr>
              <a:t>Markov Chain Monte Carlo</a:t>
            </a:r>
            <a:endParaRPr lang="en-US" b="0" i="0" dirty="0">
              <a:solidFill>
                <a:schemeClr val="accent4"/>
              </a:solidFill>
              <a:effectLst/>
              <a:latin typeface="system-ui"/>
            </a:endParaRPr>
          </a:p>
          <a:p>
            <a:pPr marL="0" indent="0" algn="l">
              <a:buNone/>
            </a:pPr>
            <a:r>
              <a:rPr lang="en-US" b="0" i="0" dirty="0">
                <a:effectLst/>
                <a:latin typeface="system-ui"/>
              </a:rPr>
              <a:t>All we require is a way of evaluating </a:t>
            </a:r>
            <a:r>
              <a:rPr lang="en-US" b="0" i="0" dirty="0">
                <a:solidFill>
                  <a:schemeClr val="accent4"/>
                </a:solidFill>
                <a:effectLst/>
                <a:latin typeface="system-ui"/>
              </a:rPr>
              <a:t>P(θ)</a:t>
            </a:r>
            <a:r>
              <a:rPr lang="en-US" b="0" i="0" dirty="0">
                <a:effectLst/>
                <a:latin typeface="system-ui"/>
              </a:rPr>
              <a:t> (prior) and </a:t>
            </a:r>
            <a:r>
              <a:rPr lang="en-US" b="0" i="0" dirty="0">
                <a:solidFill>
                  <a:schemeClr val="accent4"/>
                </a:solidFill>
                <a:effectLst/>
                <a:latin typeface="system-ui"/>
              </a:rPr>
              <a:t>P(</a:t>
            </a:r>
            <a:r>
              <a:rPr lang="en-US" b="0" i="0" dirty="0" err="1">
                <a:solidFill>
                  <a:schemeClr val="accent4"/>
                </a:solidFill>
                <a:effectLst/>
                <a:latin typeface="system-ui"/>
              </a:rPr>
              <a:t>D|θ</a:t>
            </a:r>
            <a:r>
              <a:rPr lang="en-US" b="0" i="0" dirty="0">
                <a:solidFill>
                  <a:schemeClr val="accent4"/>
                </a:solidFill>
                <a:effectLst/>
                <a:latin typeface="system-ui"/>
              </a:rPr>
              <a:t>)</a:t>
            </a:r>
            <a:r>
              <a:rPr lang="en-US" b="0" i="0" dirty="0">
                <a:effectLst/>
                <a:latin typeface="system-ui"/>
              </a:rPr>
              <a:t> (likelihood) for any specific </a:t>
            </a:r>
            <a:r>
              <a:rPr lang="en-US" b="0" i="0" dirty="0">
                <a:solidFill>
                  <a:schemeClr val="accent4"/>
                </a:solidFill>
                <a:effectLst/>
                <a:latin typeface="system-ui"/>
              </a:rPr>
              <a:t>θ</a:t>
            </a:r>
            <a:r>
              <a:rPr lang="en-US" b="0" i="0" dirty="0">
                <a:effectLst/>
                <a:latin typeface="system-ui"/>
              </a:rPr>
              <a:t>.</a:t>
            </a:r>
          </a:p>
          <a:p>
            <a:endParaRPr lang="en-GB" dirty="0"/>
          </a:p>
        </p:txBody>
      </p:sp>
    </p:spTree>
    <p:extLst>
      <p:ext uri="{BB962C8B-B14F-4D97-AF65-F5344CB8AC3E}">
        <p14:creationId xmlns:p14="http://schemas.microsoft.com/office/powerpoint/2010/main" val="80131542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E1896-6BE4-6143-4604-8BA31A1D0183}"/>
              </a:ext>
            </a:extLst>
          </p:cNvPr>
          <p:cNvSpPr>
            <a:spLocks noGrp="1"/>
          </p:cNvSpPr>
          <p:nvPr>
            <p:ph type="title"/>
          </p:nvPr>
        </p:nvSpPr>
        <p:spPr/>
        <p:txBody>
          <a:bodyPr/>
          <a:lstStyle/>
          <a:p>
            <a:r>
              <a:rPr lang="en-US" b="1" i="0" dirty="0">
                <a:effectLst/>
                <a:latin typeface="system-ui"/>
              </a:rPr>
              <a:t>MCMC in practice: sampling issues</a:t>
            </a:r>
            <a:br>
              <a:rPr lang="en-US" b="1" i="0" dirty="0">
                <a:effectLst/>
                <a:latin typeface="system-ui"/>
              </a:rPr>
            </a:br>
            <a:endParaRPr lang="en-GB" dirty="0"/>
          </a:p>
        </p:txBody>
      </p:sp>
      <p:sp>
        <p:nvSpPr>
          <p:cNvPr id="3" name="Content Placeholder 2">
            <a:extLst>
              <a:ext uri="{FF2B5EF4-FFF2-40B4-BE49-F238E27FC236}">
                <a16:creationId xmlns:a16="http://schemas.microsoft.com/office/drawing/2014/main" id="{D6EBFBA7-DE1C-778D-67D2-F29B74B4667C}"/>
              </a:ext>
            </a:extLst>
          </p:cNvPr>
          <p:cNvSpPr>
            <a:spLocks noGrp="1"/>
          </p:cNvSpPr>
          <p:nvPr>
            <p:ph sz="quarter" idx="13"/>
          </p:nvPr>
        </p:nvSpPr>
        <p:spPr/>
        <p:txBody>
          <a:bodyPr>
            <a:normAutofit lnSpcReduction="10000"/>
          </a:bodyPr>
          <a:lstStyle/>
          <a:p>
            <a:pPr marL="0" indent="0" algn="l">
              <a:buNone/>
            </a:pPr>
            <a:r>
              <a:rPr lang="en-US" b="0" i="0" dirty="0">
                <a:effectLst/>
                <a:latin typeface="system-ui"/>
              </a:rPr>
              <a:t>We will use Markov Chain Monte Carlo to solve the Bayesian inference problem. The </a:t>
            </a:r>
            <a:r>
              <a:rPr lang="en-US" b="1" i="0" dirty="0">
                <a:solidFill>
                  <a:schemeClr val="accent5"/>
                </a:solidFill>
                <a:effectLst/>
                <a:latin typeface="system-ui"/>
              </a:rPr>
              <a:t>great thing</a:t>
            </a:r>
            <a:r>
              <a:rPr lang="en-US" b="0" i="0" dirty="0">
                <a:effectLst/>
                <a:latin typeface="system-ui"/>
              </a:rPr>
              <a:t> about MCMC approaches is that you can basically write down your model and then run inference directly. There is no need to derive complex approximations, or to restrict ourselves to limited models for which we can compute answers analytically. Essentially, no </a:t>
            </a:r>
            <a:r>
              <a:rPr lang="en-US" b="0" i="0" dirty="0" err="1">
                <a:effectLst/>
                <a:latin typeface="system-ui"/>
              </a:rPr>
              <a:t>maths</a:t>
            </a:r>
            <a:r>
              <a:rPr lang="en-US" b="0" i="0" dirty="0">
                <a:effectLst/>
                <a:latin typeface="system-ui"/>
              </a:rPr>
              <a:t> by hand; everything is done algorithmically.</a:t>
            </a:r>
          </a:p>
          <a:p>
            <a:pPr marL="0" indent="0" algn="l">
              <a:buNone/>
            </a:pPr>
            <a:r>
              <a:rPr lang="en-US" b="0" i="0" dirty="0">
                <a:effectLst/>
                <a:latin typeface="system-ui"/>
              </a:rPr>
              <a:t>MCMC allows us to draw samples from any distribution P(X=x) </a:t>
            </a:r>
            <a:r>
              <a:rPr lang="en-US" b="0" i="1" dirty="0">
                <a:solidFill>
                  <a:schemeClr val="accent5"/>
                </a:solidFill>
                <a:effectLst/>
                <a:latin typeface="system-ui"/>
              </a:rPr>
              <a:t>that we can't sample from directly</a:t>
            </a:r>
            <a:r>
              <a:rPr lang="en-US" b="0" i="0" dirty="0">
                <a:effectLst/>
                <a:latin typeface="system-ui"/>
              </a:rPr>
              <a:t>. In particular, we will be able to sample from the posterior distribution over parameters.</a:t>
            </a:r>
          </a:p>
          <a:p>
            <a:pPr marL="0" indent="0" algn="l">
              <a:buNone/>
            </a:pPr>
            <a:r>
              <a:rPr lang="en-US" b="0" i="0" dirty="0">
                <a:effectLst/>
                <a:latin typeface="system-ui"/>
              </a:rPr>
              <a:t>The </a:t>
            </a:r>
            <a:r>
              <a:rPr lang="en-US" b="1" i="0" dirty="0">
                <a:solidFill>
                  <a:schemeClr val="accent5"/>
                </a:solidFill>
                <a:effectLst/>
                <a:latin typeface="system-ui"/>
              </a:rPr>
              <a:t>bad thing</a:t>
            </a:r>
            <a:r>
              <a:rPr lang="en-US" b="0" i="0" dirty="0">
                <a:solidFill>
                  <a:schemeClr val="accent5"/>
                </a:solidFill>
                <a:effectLst/>
                <a:latin typeface="system-ui"/>
              </a:rPr>
              <a:t> </a:t>
            </a:r>
            <a:r>
              <a:rPr lang="en-US" b="0" i="0" dirty="0">
                <a:effectLst/>
                <a:latin typeface="system-ui"/>
              </a:rPr>
              <a:t>about MCMC approaches is that, even though it will do the "right thing" </a:t>
            </a:r>
            <a:r>
              <a:rPr lang="en-US" b="0" i="1" dirty="0">
                <a:solidFill>
                  <a:schemeClr val="accent5"/>
                </a:solidFill>
                <a:effectLst/>
                <a:latin typeface="system-ui"/>
              </a:rPr>
              <a:t>asymptotically</a:t>
            </a:r>
            <a:r>
              <a:rPr lang="en-US" b="0" i="0" dirty="0">
                <a:effectLst/>
                <a:latin typeface="system-ui"/>
              </a:rPr>
              <a:t>, the choice of sampling strategy has a very large influence for the kind of sample runs that are practical to execute. Bayesian inference should depend only on the priors and the evidence observed; but MCMC approaches also depend on the sampling strategy used to approximate the posterior.</a:t>
            </a:r>
          </a:p>
          <a:p>
            <a:endParaRPr lang="en-GB" dirty="0"/>
          </a:p>
        </p:txBody>
      </p:sp>
    </p:spTree>
    <p:extLst>
      <p:ext uri="{BB962C8B-B14F-4D97-AF65-F5344CB8AC3E}">
        <p14:creationId xmlns:p14="http://schemas.microsoft.com/office/powerpoint/2010/main" val="40066648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C8068-3C6A-3563-55EB-551338CE9423}"/>
              </a:ext>
            </a:extLst>
          </p:cNvPr>
          <p:cNvSpPr>
            <a:spLocks noGrp="1"/>
          </p:cNvSpPr>
          <p:nvPr>
            <p:ph type="title"/>
          </p:nvPr>
        </p:nvSpPr>
        <p:spPr/>
        <p:txBody>
          <a:bodyPr/>
          <a:lstStyle/>
          <a:p>
            <a:r>
              <a:rPr lang="en-GB" dirty="0"/>
              <a:t>What distribution are we sampling from?</a:t>
            </a:r>
          </a:p>
        </p:txBody>
      </p:sp>
      <p:sp>
        <p:nvSpPr>
          <p:cNvPr id="3" name="Content Placeholder 2">
            <a:extLst>
              <a:ext uri="{FF2B5EF4-FFF2-40B4-BE49-F238E27FC236}">
                <a16:creationId xmlns:a16="http://schemas.microsoft.com/office/drawing/2014/main" id="{7C2AB65C-5A0B-1E45-DB57-FC2A44096FC4}"/>
              </a:ext>
            </a:extLst>
          </p:cNvPr>
          <p:cNvSpPr>
            <a:spLocks noGrp="1"/>
          </p:cNvSpPr>
          <p:nvPr>
            <p:ph sz="quarter" idx="13"/>
          </p:nvPr>
        </p:nvSpPr>
        <p:spPr/>
        <p:txBody>
          <a:bodyPr>
            <a:normAutofit lnSpcReduction="10000"/>
          </a:bodyPr>
          <a:lstStyle/>
          <a:p>
            <a:pPr marL="0" indent="0" algn="l">
              <a:buNone/>
            </a:pPr>
            <a:r>
              <a:rPr lang="en-US" b="0" i="0" dirty="0">
                <a:effectLst/>
                <a:latin typeface="system-ui"/>
              </a:rPr>
              <a:t>In the case of Bayesian inference </a:t>
            </a:r>
          </a:p>
          <a:p>
            <a:pPr marL="0" indent="0" algn="l">
              <a:buNone/>
            </a:pPr>
            <a:endParaRPr lang="en-US" b="0" i="0" dirty="0">
              <a:effectLst/>
              <a:latin typeface="system-ui"/>
            </a:endParaRPr>
          </a:p>
          <a:p>
            <a:pPr algn="l">
              <a:buFont typeface="Arial" panose="020B0604020202020204" pitchFamily="34" charset="0"/>
              <a:buChar char="•"/>
            </a:pPr>
            <a:r>
              <a:rPr lang="en-US" b="0" i="0" dirty="0">
                <a:solidFill>
                  <a:schemeClr val="accent4"/>
                </a:solidFill>
                <a:effectLst/>
                <a:latin typeface="system-ui"/>
              </a:rPr>
              <a:t>P(</a:t>
            </a:r>
            <a:r>
              <a:rPr lang="en-US" b="0" i="0" dirty="0" err="1">
                <a:solidFill>
                  <a:schemeClr val="accent4"/>
                </a:solidFill>
                <a:effectLst/>
                <a:latin typeface="system-ui"/>
              </a:rPr>
              <a:t>θ|D</a:t>
            </a:r>
            <a:r>
              <a:rPr lang="en-US" b="0" i="0" dirty="0">
                <a:solidFill>
                  <a:schemeClr val="accent4"/>
                </a:solidFill>
                <a:effectLst/>
                <a:latin typeface="system-ui"/>
              </a:rPr>
              <a:t>)</a:t>
            </a:r>
            <a:r>
              <a:rPr lang="en-US" b="0" i="0" dirty="0">
                <a:effectLst/>
                <a:latin typeface="system-ui"/>
              </a:rPr>
              <a:t> is the posterior, the distribution over the parameters </a:t>
            </a:r>
            <a:r>
              <a:rPr lang="en-US" b="0" i="0" dirty="0">
                <a:solidFill>
                  <a:schemeClr val="accent4"/>
                </a:solidFill>
                <a:effectLst/>
                <a:latin typeface="system-ui"/>
              </a:rPr>
              <a:t>θ</a:t>
            </a:r>
            <a:r>
              <a:rPr lang="en-US" b="0" i="0" dirty="0">
                <a:effectLst/>
                <a:latin typeface="system-ui"/>
              </a:rPr>
              <a:t> given the data (observations) </a:t>
            </a:r>
            <a:r>
              <a:rPr lang="en-US" b="0" i="0" dirty="0">
                <a:solidFill>
                  <a:schemeClr val="accent4"/>
                </a:solidFill>
                <a:effectLst/>
                <a:latin typeface="system-ui"/>
              </a:rPr>
              <a:t>D</a:t>
            </a:r>
            <a:r>
              <a:rPr lang="en-US" b="0" i="0" dirty="0">
                <a:effectLst/>
                <a:latin typeface="system-ui"/>
              </a:rPr>
              <a:t>, using:</a:t>
            </a:r>
          </a:p>
          <a:p>
            <a:pPr algn="l">
              <a:buFont typeface="Arial" panose="020B0604020202020204" pitchFamily="34" charset="0"/>
              <a:buChar char="•"/>
            </a:pPr>
            <a:r>
              <a:rPr lang="en-US" b="0" i="0" dirty="0">
                <a:effectLst/>
                <a:latin typeface="system-ui"/>
              </a:rPr>
              <a:t>the likelihood </a:t>
            </a:r>
            <a:r>
              <a:rPr lang="en-US" b="0" i="0" dirty="0">
                <a:solidFill>
                  <a:schemeClr val="accent4"/>
                </a:solidFill>
                <a:effectLst/>
                <a:latin typeface="system-ui"/>
              </a:rPr>
              <a:t>P(</a:t>
            </a:r>
            <a:r>
              <a:rPr lang="en-US" b="0" i="0" dirty="0" err="1">
                <a:solidFill>
                  <a:schemeClr val="accent4"/>
                </a:solidFill>
                <a:effectLst/>
                <a:latin typeface="system-ui"/>
              </a:rPr>
              <a:t>D|θ</a:t>
            </a:r>
            <a:r>
              <a:rPr lang="en-US" b="0" i="0" dirty="0">
                <a:solidFill>
                  <a:schemeClr val="accent4"/>
                </a:solidFill>
                <a:effectLst/>
                <a:latin typeface="system-ui"/>
              </a:rPr>
              <a:t>)</a:t>
            </a:r>
            <a:r>
              <a:rPr lang="en-US" b="0" i="0" dirty="0">
                <a:effectLst/>
                <a:latin typeface="system-ui"/>
              </a:rPr>
              <a:t>,</a:t>
            </a:r>
          </a:p>
          <a:p>
            <a:pPr algn="l">
              <a:buFont typeface="Arial" panose="020B0604020202020204" pitchFamily="34" charset="0"/>
              <a:buChar char="•"/>
            </a:pPr>
            <a:r>
              <a:rPr lang="en-US" b="0" i="0" dirty="0">
                <a:effectLst/>
                <a:latin typeface="system-ui"/>
              </a:rPr>
              <a:t>prior </a:t>
            </a:r>
            <a:r>
              <a:rPr lang="en-US" b="0" i="0" dirty="0">
                <a:solidFill>
                  <a:schemeClr val="accent4"/>
                </a:solidFill>
                <a:effectLst/>
                <a:latin typeface="system-ui"/>
              </a:rPr>
              <a:t>P(θ)</a:t>
            </a:r>
            <a:r>
              <a:rPr lang="en-US" b="0" i="0" dirty="0">
                <a:effectLst/>
                <a:latin typeface="system-ui"/>
              </a:rPr>
              <a:t> and</a:t>
            </a:r>
          </a:p>
          <a:p>
            <a:pPr algn="l">
              <a:buFont typeface="Arial" panose="020B0604020202020204" pitchFamily="34" charset="0"/>
              <a:buChar char="•"/>
            </a:pPr>
            <a:r>
              <a:rPr lang="en-US" b="0" i="0" dirty="0">
                <a:effectLst/>
                <a:latin typeface="system-ui"/>
              </a:rPr>
              <a:t>evidence </a:t>
            </a:r>
            <a:r>
              <a:rPr lang="en-US" b="0" i="0" dirty="0">
                <a:solidFill>
                  <a:schemeClr val="accent4"/>
                </a:solidFill>
                <a:effectLst/>
                <a:latin typeface="system-ui"/>
              </a:rPr>
              <a:t>P(D)</a:t>
            </a:r>
            <a:r>
              <a:rPr lang="en-US" b="0" i="0" dirty="0">
                <a:effectLst/>
                <a:latin typeface="system-ui"/>
              </a:rPr>
              <a:t>.</a:t>
            </a:r>
          </a:p>
          <a:p>
            <a:pPr marL="0" indent="0" algn="l">
              <a:buNone/>
            </a:pPr>
            <a:r>
              <a:rPr lang="en-US" b="0" i="0" dirty="0">
                <a:effectLst/>
                <a:latin typeface="system-ui"/>
              </a:rPr>
              <a:t>In other words, </a:t>
            </a:r>
            <a:r>
              <a:rPr lang="en-US" b="0" i="1" dirty="0">
                <a:solidFill>
                  <a:schemeClr val="accent4"/>
                </a:solidFill>
                <a:effectLst/>
                <a:latin typeface="system-ui"/>
              </a:rPr>
              <a:t>what is the distribution over the parameters given the observations and the prior?</a:t>
            </a:r>
            <a:r>
              <a:rPr lang="en-US" b="0" i="0" dirty="0">
                <a:effectLst/>
                <a:latin typeface="system-ui"/>
              </a:rPr>
              <a:t> </a:t>
            </a:r>
          </a:p>
          <a:p>
            <a:pPr marL="0" indent="0" algn="l">
              <a:buNone/>
            </a:pPr>
            <a:r>
              <a:rPr lang="en-US" b="0" i="0" dirty="0">
                <a:effectLst/>
                <a:latin typeface="system-ui"/>
              </a:rPr>
              <a:t>If we assume, as above, that we don't care about </a:t>
            </a:r>
            <a:r>
              <a:rPr lang="en-US" b="0" i="0" dirty="0">
                <a:solidFill>
                  <a:schemeClr val="accent4"/>
                </a:solidFill>
                <a:effectLst/>
                <a:latin typeface="system-ui"/>
              </a:rPr>
              <a:t>P(D)</a:t>
            </a:r>
            <a:r>
              <a:rPr lang="en-US" b="0" i="0" dirty="0">
                <a:effectLst/>
                <a:latin typeface="system-ui"/>
              </a:rPr>
              <a:t>, because we are only comparing different possible values of </a:t>
            </a:r>
            <a:r>
              <a:rPr lang="en-US" b="0" i="0" dirty="0">
                <a:solidFill>
                  <a:schemeClr val="accent4"/>
                </a:solidFill>
                <a:effectLst/>
                <a:latin typeface="system-ui"/>
              </a:rPr>
              <a:t>θ</a:t>
            </a:r>
            <a:r>
              <a:rPr lang="en-US" b="0" i="0" dirty="0">
                <a:effectLst/>
                <a:latin typeface="system-ui"/>
              </a:rPr>
              <a:t> then we can draw samples from a distribution proportional to </a:t>
            </a:r>
            <a:r>
              <a:rPr lang="en-US" b="0" i="0" dirty="0">
                <a:solidFill>
                  <a:schemeClr val="accent4"/>
                </a:solidFill>
                <a:effectLst/>
                <a:latin typeface="system-ui"/>
              </a:rPr>
              <a:t>P(</a:t>
            </a:r>
            <a:r>
              <a:rPr lang="en-US" b="0" i="0" dirty="0" err="1">
                <a:solidFill>
                  <a:schemeClr val="accent4"/>
                </a:solidFill>
                <a:effectLst/>
                <a:latin typeface="system-ui"/>
              </a:rPr>
              <a:t>D|θ</a:t>
            </a:r>
            <a:r>
              <a:rPr lang="en-US" b="0" i="0" dirty="0">
                <a:solidFill>
                  <a:schemeClr val="accent4"/>
                </a:solidFill>
                <a:effectLst/>
                <a:latin typeface="system-ui"/>
              </a:rPr>
              <a:t>)P(θ)</a:t>
            </a:r>
            <a:r>
              <a:rPr lang="en-US" b="0" i="0" dirty="0">
                <a:effectLst/>
                <a:latin typeface="system-ui"/>
              </a:rPr>
              <a:t>.</a:t>
            </a:r>
          </a:p>
          <a:p>
            <a:endParaRPr lang="en-GB" dirty="0"/>
          </a:p>
        </p:txBody>
      </p:sp>
      <p:pic>
        <p:nvPicPr>
          <p:cNvPr id="5" name="Picture 4">
            <a:extLst>
              <a:ext uri="{FF2B5EF4-FFF2-40B4-BE49-F238E27FC236}">
                <a16:creationId xmlns:a16="http://schemas.microsoft.com/office/drawing/2014/main" id="{AEA3AA5C-C9EC-8FEC-6D54-02A978FFE25C}"/>
              </a:ext>
            </a:extLst>
          </p:cNvPr>
          <p:cNvPicPr>
            <a:picLocks noChangeAspect="1"/>
          </p:cNvPicPr>
          <p:nvPr/>
        </p:nvPicPr>
        <p:blipFill>
          <a:blip r:embed="rId2"/>
          <a:stretch>
            <a:fillRect/>
          </a:stretch>
        </p:blipFill>
        <p:spPr>
          <a:xfrm>
            <a:off x="5190863" y="1627188"/>
            <a:ext cx="3753374" cy="657317"/>
          </a:xfrm>
          <a:prstGeom prst="rect">
            <a:avLst/>
          </a:prstGeom>
        </p:spPr>
      </p:pic>
    </p:spTree>
    <p:extLst>
      <p:ext uri="{BB962C8B-B14F-4D97-AF65-F5344CB8AC3E}">
        <p14:creationId xmlns:p14="http://schemas.microsoft.com/office/powerpoint/2010/main" val="20433544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1A4F5-2534-74C7-5158-F9DAB98FF771}"/>
              </a:ext>
            </a:extLst>
          </p:cNvPr>
          <p:cNvSpPr>
            <a:spLocks noGrp="1"/>
          </p:cNvSpPr>
          <p:nvPr>
            <p:ph type="title"/>
          </p:nvPr>
        </p:nvSpPr>
        <p:spPr/>
        <p:txBody>
          <a:bodyPr/>
          <a:lstStyle/>
          <a:p>
            <a:r>
              <a:rPr lang="en-GB" dirty="0"/>
              <a:t>Metropolis-Hastings</a:t>
            </a:r>
          </a:p>
        </p:txBody>
      </p:sp>
      <p:sp>
        <p:nvSpPr>
          <p:cNvPr id="3" name="Content Placeholder 2">
            <a:extLst>
              <a:ext uri="{FF2B5EF4-FFF2-40B4-BE49-F238E27FC236}">
                <a16:creationId xmlns:a16="http://schemas.microsoft.com/office/drawing/2014/main" id="{D78E5E61-3B72-CA6D-6BDA-1EBD58AE4D78}"/>
              </a:ext>
            </a:extLst>
          </p:cNvPr>
          <p:cNvSpPr>
            <a:spLocks noGrp="1"/>
          </p:cNvSpPr>
          <p:nvPr>
            <p:ph sz="quarter" idx="13"/>
          </p:nvPr>
        </p:nvSpPr>
        <p:spPr/>
        <p:txBody>
          <a:bodyPr/>
          <a:lstStyle/>
          <a:p>
            <a:pPr marL="0" indent="0" algn="l">
              <a:buNone/>
            </a:pPr>
            <a:r>
              <a:rPr lang="en-US" b="0" i="0" dirty="0">
                <a:effectLst/>
                <a:latin typeface="system-ui"/>
              </a:rPr>
              <a:t>Metropolis-Hastings (or just plain Metropolis) is a wonderfully elegant and relatively effective way of doing this MCMC algorithm, and is able to work in high-dimensional spaces (i.e. when </a:t>
            </a:r>
            <a:r>
              <a:rPr lang="en-US" b="0" i="0" dirty="0">
                <a:solidFill>
                  <a:schemeClr val="accent4"/>
                </a:solidFill>
                <a:effectLst/>
                <a:latin typeface="system-ui"/>
              </a:rPr>
              <a:t>θ</a:t>
            </a:r>
            <a:r>
              <a:rPr lang="en-US" b="0" i="0" dirty="0">
                <a:effectLst/>
                <a:latin typeface="system-ui"/>
              </a:rPr>
              <a:t> is complicated).</a:t>
            </a:r>
          </a:p>
          <a:p>
            <a:pPr algn="l"/>
            <a:r>
              <a:rPr lang="en-US" b="0" i="0" dirty="0">
                <a:effectLst/>
                <a:latin typeface="system-ui"/>
              </a:rPr>
              <a:t>Metropolis sampling uses a simple auxiliary distribution called the </a:t>
            </a:r>
            <a:r>
              <a:rPr lang="en-US" b="1" i="0" dirty="0">
                <a:solidFill>
                  <a:schemeClr val="accent5"/>
                </a:solidFill>
                <a:effectLst/>
                <a:latin typeface="system-ui"/>
              </a:rPr>
              <a:t>proposal distribution</a:t>
            </a:r>
            <a:r>
              <a:rPr lang="en-US" b="0" i="0" dirty="0">
                <a:solidFill>
                  <a:schemeClr val="accent5"/>
                </a:solidFill>
                <a:effectLst/>
                <a:latin typeface="system-ui"/>
              </a:rPr>
              <a:t> </a:t>
            </a:r>
            <a:r>
              <a:rPr lang="en-US" b="0" i="0" dirty="0">
                <a:solidFill>
                  <a:schemeClr val="accent4"/>
                </a:solidFill>
                <a:effectLst/>
                <a:latin typeface="system-ui"/>
              </a:rPr>
              <a:t>Q(</a:t>
            </a:r>
            <a:r>
              <a:rPr lang="en-US" b="0" i="0" dirty="0" err="1">
                <a:solidFill>
                  <a:schemeClr val="accent4"/>
                </a:solidFill>
                <a:effectLst/>
                <a:latin typeface="system-ui"/>
              </a:rPr>
              <a:t>θ′|θ</a:t>
            </a:r>
            <a:r>
              <a:rPr lang="en-US" b="0" i="0" dirty="0">
                <a:solidFill>
                  <a:schemeClr val="accent4"/>
                </a:solidFill>
                <a:effectLst/>
                <a:latin typeface="system-ui"/>
              </a:rPr>
              <a:t>)</a:t>
            </a:r>
            <a:r>
              <a:rPr lang="en-US" b="0" i="0" dirty="0">
                <a:effectLst/>
                <a:latin typeface="system-ui"/>
              </a:rPr>
              <a:t> to help draw samples from an intractable posterior distribution </a:t>
            </a:r>
            <a:r>
              <a:rPr lang="en-US" b="0" i="0" dirty="0">
                <a:solidFill>
                  <a:schemeClr val="accent4"/>
                </a:solidFill>
                <a:effectLst/>
                <a:latin typeface="system-ui"/>
              </a:rPr>
              <a:t>P(</a:t>
            </a:r>
            <a:r>
              <a:rPr lang="en-US" b="0" i="0" dirty="0" err="1">
                <a:solidFill>
                  <a:schemeClr val="accent4"/>
                </a:solidFill>
                <a:effectLst/>
                <a:latin typeface="system-ui"/>
              </a:rPr>
              <a:t>θ|D</a:t>
            </a:r>
            <a:r>
              <a:rPr lang="en-US" b="0" i="0" dirty="0">
                <a:solidFill>
                  <a:schemeClr val="accent4"/>
                </a:solidFill>
                <a:effectLst/>
                <a:latin typeface="system-ui"/>
              </a:rPr>
              <a:t>)</a:t>
            </a:r>
            <a:r>
              <a:rPr lang="en-US" b="0" i="0" dirty="0">
                <a:effectLst/>
                <a:latin typeface="system-ui"/>
              </a:rPr>
              <a:t>. </a:t>
            </a:r>
          </a:p>
          <a:p>
            <a:pPr algn="l"/>
            <a:r>
              <a:rPr lang="en-US" b="0" i="0" dirty="0">
                <a:effectLst/>
                <a:latin typeface="system-ui"/>
              </a:rPr>
              <a:t>This is analogous to what we called the </a:t>
            </a:r>
            <a:r>
              <a:rPr lang="en-US" b="1" i="0" dirty="0" err="1">
                <a:solidFill>
                  <a:schemeClr val="accent5"/>
                </a:solidFill>
                <a:effectLst/>
                <a:latin typeface="system-ui"/>
              </a:rPr>
              <a:t>neighbourhood</a:t>
            </a:r>
            <a:r>
              <a:rPr lang="en-US" b="1" i="0" dirty="0">
                <a:solidFill>
                  <a:schemeClr val="accent5"/>
                </a:solidFill>
                <a:effectLst/>
                <a:latin typeface="system-ui"/>
              </a:rPr>
              <a:t> function</a:t>
            </a:r>
            <a:r>
              <a:rPr lang="en-US" b="0" i="0" dirty="0">
                <a:effectLst/>
                <a:latin typeface="system-ui"/>
              </a:rPr>
              <a:t> in the </a:t>
            </a:r>
            <a:r>
              <a:rPr lang="en-US" b="0" i="0" dirty="0" err="1">
                <a:effectLst/>
                <a:latin typeface="system-ui"/>
              </a:rPr>
              <a:t>optimisation</a:t>
            </a:r>
            <a:r>
              <a:rPr lang="en-US" b="0" i="0" dirty="0">
                <a:effectLst/>
                <a:latin typeface="system-ui"/>
              </a:rPr>
              <a:t> section.</a:t>
            </a:r>
          </a:p>
          <a:p>
            <a:pPr algn="l"/>
            <a:r>
              <a:rPr lang="en-US" b="0" i="0" dirty="0">
                <a:effectLst/>
                <a:latin typeface="system-ui"/>
              </a:rPr>
              <a:t>Metropolis-Hastings uses this to </a:t>
            </a:r>
            <a:r>
              <a:rPr lang="en-US" b="1" i="0" dirty="0">
                <a:solidFill>
                  <a:schemeClr val="accent5"/>
                </a:solidFill>
                <a:effectLst/>
                <a:latin typeface="system-ui"/>
              </a:rPr>
              <a:t>wander around</a:t>
            </a:r>
            <a:r>
              <a:rPr lang="en-US" b="0" i="0" dirty="0">
                <a:effectLst/>
                <a:latin typeface="system-ui"/>
              </a:rPr>
              <a:t> in the distribution space, accepting jumps to new positions using </a:t>
            </a:r>
            <a:r>
              <a:rPr lang="en-US" dirty="0">
                <a:solidFill>
                  <a:schemeClr val="accent4"/>
                </a:solidFill>
              </a:rPr>
              <a:t>Q(</a:t>
            </a:r>
            <a:r>
              <a:rPr lang="en-US" dirty="0" err="1">
                <a:solidFill>
                  <a:schemeClr val="accent4"/>
                </a:solidFill>
              </a:rPr>
              <a:t>θ′|θ</a:t>
            </a:r>
            <a:r>
              <a:rPr lang="en-US" dirty="0">
                <a:solidFill>
                  <a:schemeClr val="accent4"/>
                </a:solidFill>
              </a:rPr>
              <a:t>)</a:t>
            </a:r>
            <a:r>
              <a:rPr lang="en-US" b="0" i="0" dirty="0">
                <a:solidFill>
                  <a:schemeClr val="accent4"/>
                </a:solidFill>
                <a:effectLst/>
                <a:latin typeface="system-ui"/>
              </a:rPr>
              <a:t> </a:t>
            </a:r>
            <a:r>
              <a:rPr lang="en-US" b="0" i="0" dirty="0">
                <a:effectLst/>
                <a:latin typeface="system-ui"/>
              </a:rPr>
              <a:t>to randomly sample the space of </a:t>
            </a:r>
            <a:r>
              <a:rPr lang="en-US" dirty="0">
                <a:solidFill>
                  <a:schemeClr val="accent4"/>
                </a:solidFill>
              </a:rPr>
              <a:t>P(</a:t>
            </a:r>
            <a:r>
              <a:rPr lang="en-US" dirty="0" err="1">
                <a:solidFill>
                  <a:schemeClr val="accent4"/>
                </a:solidFill>
              </a:rPr>
              <a:t>θ|D</a:t>
            </a:r>
            <a:r>
              <a:rPr lang="en-US" dirty="0">
                <a:solidFill>
                  <a:schemeClr val="accent4"/>
                </a:solidFill>
              </a:rPr>
              <a:t>)</a:t>
            </a:r>
            <a:r>
              <a:rPr lang="en-US" b="0" i="0" dirty="0">
                <a:effectLst/>
                <a:latin typeface="system-ui"/>
              </a:rPr>
              <a:t>. This random walk (a </a:t>
            </a:r>
            <a:r>
              <a:rPr lang="en-US" b="1" i="0" dirty="0">
                <a:solidFill>
                  <a:schemeClr val="accent5"/>
                </a:solidFill>
                <a:effectLst/>
                <a:latin typeface="system-ui"/>
              </a:rPr>
              <a:t>Markov chain</a:t>
            </a:r>
            <a:r>
              <a:rPr lang="en-US" b="0" i="0" dirty="0">
                <a:effectLst/>
                <a:latin typeface="system-ui"/>
              </a:rPr>
              <a:t>, because we make a random jump conditioned only on where we currently are) is a the "Markov Chain" bit of "Markov Chain Monte Carlo".</a:t>
            </a:r>
          </a:p>
          <a:p>
            <a:endParaRPr lang="en-GB" dirty="0"/>
          </a:p>
        </p:txBody>
      </p:sp>
    </p:spTree>
    <p:extLst>
      <p:ext uri="{BB962C8B-B14F-4D97-AF65-F5344CB8AC3E}">
        <p14:creationId xmlns:p14="http://schemas.microsoft.com/office/powerpoint/2010/main" val="24811954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BE1E80-A25A-547C-D50A-0902F9EADAAA}"/>
              </a:ext>
            </a:extLst>
          </p:cNvPr>
          <p:cNvSpPr>
            <a:spLocks noGrp="1"/>
          </p:cNvSpPr>
          <p:nvPr>
            <p:ph sz="half" idx="1"/>
          </p:nvPr>
        </p:nvSpPr>
        <p:spPr>
          <a:xfrm>
            <a:off x="838200" y="1608667"/>
            <a:ext cx="5181600" cy="4568296"/>
          </a:xfrm>
        </p:spPr>
        <p:txBody>
          <a:bodyPr>
            <a:normAutofit/>
          </a:bodyPr>
          <a:lstStyle/>
          <a:p>
            <a:pPr marL="0" indent="0">
              <a:buNone/>
            </a:pPr>
            <a:r>
              <a:rPr lang="en-US" b="0" i="0" dirty="0">
                <a:effectLst/>
              </a:rPr>
              <a:t>This is just like the simulated annealing algorithm, except now there is a function </a:t>
            </a:r>
            <a:r>
              <a:rPr lang="en-US" dirty="0" err="1">
                <a:solidFill>
                  <a:schemeClr val="accent4"/>
                </a:solidFill>
              </a:rPr>
              <a:t>f</a:t>
            </a:r>
            <a:r>
              <a:rPr lang="en-US" baseline="-25000" dirty="0" err="1">
                <a:solidFill>
                  <a:schemeClr val="accent4"/>
                </a:solidFill>
              </a:rPr>
              <a:t>X</a:t>
            </a:r>
            <a:r>
              <a:rPr lang="en-US" dirty="0">
                <a:solidFill>
                  <a:schemeClr val="accent4"/>
                </a:solidFill>
              </a:rPr>
              <a:t>(θ)</a:t>
            </a:r>
            <a:r>
              <a:rPr lang="en-US" b="0" i="0" dirty="0">
                <a:effectLst/>
              </a:rPr>
              <a:t> which makes some steps more likely than others instead of a likelihood function. </a:t>
            </a:r>
          </a:p>
          <a:p>
            <a:pPr marL="0" indent="0">
              <a:buNone/>
            </a:pPr>
            <a:r>
              <a:rPr lang="en-US" b="0" i="0" dirty="0">
                <a:effectLst/>
              </a:rPr>
              <a:t>We just take our current position </a:t>
            </a:r>
            <a:r>
              <a:rPr lang="en-US" dirty="0">
                <a:solidFill>
                  <a:schemeClr val="accent4"/>
                </a:solidFill>
              </a:rPr>
              <a:t>θ</a:t>
            </a:r>
            <a:r>
              <a:rPr lang="en-US" b="0" i="0" dirty="0">
                <a:effectLst/>
              </a:rPr>
              <a:t>, and propose a new position </a:t>
            </a:r>
            <a:r>
              <a:rPr lang="en-US" dirty="0">
                <a:solidFill>
                  <a:schemeClr val="accent4"/>
                </a:solidFill>
              </a:rPr>
              <a:t>θ′</a:t>
            </a:r>
            <a:r>
              <a:rPr lang="en-US" b="0" i="0" dirty="0">
                <a:effectLst/>
              </a:rPr>
              <a:t>, that is a random sample drawn from </a:t>
            </a:r>
            <a:r>
              <a:rPr lang="en-US" dirty="0">
                <a:solidFill>
                  <a:schemeClr val="accent4"/>
                </a:solidFill>
              </a:rPr>
              <a:t>Q(</a:t>
            </a:r>
            <a:r>
              <a:rPr lang="en-US" dirty="0" err="1">
                <a:solidFill>
                  <a:schemeClr val="accent4"/>
                </a:solidFill>
              </a:rPr>
              <a:t>θ′|θ</a:t>
            </a:r>
            <a:r>
              <a:rPr lang="en-US" dirty="0">
                <a:solidFill>
                  <a:schemeClr val="accent4"/>
                </a:solidFill>
              </a:rPr>
              <a:t>)</a:t>
            </a:r>
            <a:r>
              <a:rPr lang="en-US" b="0" i="0" dirty="0">
                <a:effectLst/>
              </a:rPr>
              <a:t>. </a:t>
            </a:r>
          </a:p>
          <a:p>
            <a:pPr marL="0" indent="0">
              <a:buNone/>
            </a:pPr>
            <a:r>
              <a:rPr lang="en-US" b="0" i="0" dirty="0">
                <a:effectLst/>
              </a:rPr>
              <a:t>Often this is something simple like a normal distribution with mean </a:t>
            </a:r>
            <a:r>
              <a:rPr lang="en-US" dirty="0">
                <a:solidFill>
                  <a:schemeClr val="accent4"/>
                </a:solidFill>
              </a:rPr>
              <a:t>x</a:t>
            </a:r>
            <a:r>
              <a:rPr lang="en-US" b="0" i="0" dirty="0">
                <a:effectLst/>
              </a:rPr>
              <a:t> and some preset </a:t>
            </a:r>
            <a:r>
              <a:rPr lang="en-US" dirty="0">
                <a:solidFill>
                  <a:schemeClr val="accent4"/>
                </a:solidFill>
              </a:rPr>
              <a:t>σ</a:t>
            </a:r>
            <a:r>
              <a:rPr lang="en-US" b="0" i="0" dirty="0">
                <a:effectLst/>
              </a:rPr>
              <a:t>: </a:t>
            </a:r>
            <a:endParaRPr lang="en-GB" dirty="0"/>
          </a:p>
        </p:txBody>
      </p:sp>
      <p:pic>
        <p:nvPicPr>
          <p:cNvPr id="8" name="Picture 7" descr="A graph with colorful dots and numbers&#10;&#10;Description automatically generated">
            <a:extLst>
              <a:ext uri="{FF2B5EF4-FFF2-40B4-BE49-F238E27FC236}">
                <a16:creationId xmlns:a16="http://schemas.microsoft.com/office/drawing/2014/main" id="{D69FF81A-4A94-AC23-48CD-3ABA0F55BC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78852" y="1608667"/>
            <a:ext cx="4568296" cy="4568296"/>
          </a:xfrm>
          <a:prstGeom prst="rect">
            <a:avLst/>
          </a:prstGeom>
          <a:noFill/>
        </p:spPr>
      </p:pic>
      <p:sp>
        <p:nvSpPr>
          <p:cNvPr id="2" name="Title 1">
            <a:extLst>
              <a:ext uri="{FF2B5EF4-FFF2-40B4-BE49-F238E27FC236}">
                <a16:creationId xmlns:a16="http://schemas.microsoft.com/office/drawing/2014/main" id="{1F6AC4ED-DCC6-B32C-06F7-D022F88B4E0E}"/>
              </a:ext>
            </a:extLst>
          </p:cNvPr>
          <p:cNvSpPr>
            <a:spLocks noGrp="1"/>
          </p:cNvSpPr>
          <p:nvPr>
            <p:ph type="title"/>
          </p:nvPr>
        </p:nvSpPr>
        <p:spPr>
          <a:xfrm>
            <a:off x="2549236" y="533614"/>
            <a:ext cx="9210963" cy="888786"/>
          </a:xfrm>
        </p:spPr>
        <p:txBody>
          <a:bodyPr anchor="t">
            <a:normAutofit/>
          </a:bodyPr>
          <a:lstStyle/>
          <a:p>
            <a:r>
              <a:rPr lang="en-GB" dirty="0"/>
              <a:t>Metropolis-Hastings</a:t>
            </a:r>
          </a:p>
        </p:txBody>
      </p:sp>
      <p:pic>
        <p:nvPicPr>
          <p:cNvPr id="9" name="Picture 8">
            <a:extLst>
              <a:ext uri="{FF2B5EF4-FFF2-40B4-BE49-F238E27FC236}">
                <a16:creationId xmlns:a16="http://schemas.microsoft.com/office/drawing/2014/main" id="{5AEFE2F4-BD7D-69CA-31D3-E8A18653A40D}"/>
              </a:ext>
            </a:extLst>
          </p:cNvPr>
          <p:cNvPicPr>
            <a:picLocks noChangeAspect="1"/>
          </p:cNvPicPr>
          <p:nvPr/>
        </p:nvPicPr>
        <p:blipFill>
          <a:blip r:embed="rId3"/>
          <a:stretch>
            <a:fillRect/>
          </a:stretch>
        </p:blipFill>
        <p:spPr>
          <a:xfrm>
            <a:off x="2122801" y="5997769"/>
            <a:ext cx="2010056" cy="466790"/>
          </a:xfrm>
          <a:prstGeom prst="rect">
            <a:avLst/>
          </a:prstGeom>
        </p:spPr>
      </p:pic>
    </p:spTree>
    <p:extLst>
      <p:ext uri="{BB962C8B-B14F-4D97-AF65-F5344CB8AC3E}">
        <p14:creationId xmlns:p14="http://schemas.microsoft.com/office/powerpoint/2010/main" val="14957116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C02F71-78F0-1253-8F22-5C9A16098C8B}"/>
              </a:ext>
            </a:extLst>
          </p:cNvPr>
          <p:cNvSpPr>
            <a:spLocks noGrp="1"/>
          </p:cNvSpPr>
          <p:nvPr>
            <p:ph sz="half" idx="1"/>
          </p:nvPr>
        </p:nvSpPr>
        <p:spPr/>
        <p:txBody>
          <a:bodyPr/>
          <a:lstStyle/>
          <a:p>
            <a:r>
              <a:rPr lang="en-US" b="0" i="0" dirty="0">
                <a:effectLst/>
                <a:latin typeface="system-ui"/>
              </a:rPr>
              <a:t>The history of accepted samples of an MCMC process is called the </a:t>
            </a:r>
            <a:r>
              <a:rPr lang="en-US" b="1" i="0" dirty="0">
                <a:effectLst/>
                <a:latin typeface="system-ui"/>
              </a:rPr>
              <a:t>trace</a:t>
            </a:r>
            <a:r>
              <a:rPr lang="en-US" b="0" i="0" dirty="0">
                <a:effectLst/>
                <a:latin typeface="system-ui"/>
              </a:rPr>
              <a:t>. </a:t>
            </a:r>
          </a:p>
          <a:p>
            <a:r>
              <a:rPr lang="en-US" b="0" i="0" dirty="0">
                <a:effectLst/>
                <a:latin typeface="system-ui"/>
              </a:rPr>
              <a:t>We can estimate model parameters by looking at the histogram of the </a:t>
            </a:r>
            <a:r>
              <a:rPr lang="en-US" b="1" i="0" dirty="0">
                <a:effectLst/>
                <a:latin typeface="system-ui"/>
              </a:rPr>
              <a:t>trace</a:t>
            </a:r>
            <a:r>
              <a:rPr lang="en-US" b="0" i="0" dirty="0">
                <a:effectLst/>
                <a:latin typeface="system-ui"/>
              </a:rPr>
              <a:t>, for example. </a:t>
            </a:r>
          </a:p>
          <a:p>
            <a:r>
              <a:rPr lang="en-US" b="0" i="0" dirty="0">
                <a:effectLst/>
                <a:latin typeface="system-ui"/>
              </a:rPr>
              <a:t>The trace is the sequence of samples </a:t>
            </a:r>
            <a:r>
              <a:rPr lang="en-US" dirty="0"/>
              <a:t>[x(1),x(2),x(3),…x(n)]</a:t>
            </a:r>
            <a:r>
              <a:rPr lang="en-US" b="0" i="0" dirty="0">
                <a:effectLst/>
                <a:latin typeface="system-ui"/>
              </a:rPr>
              <a:t>, (approximately) drawn from the </a:t>
            </a:r>
            <a:r>
              <a:rPr lang="en-US" b="1" i="0" dirty="0">
                <a:effectLst/>
                <a:latin typeface="system-ui"/>
              </a:rPr>
              <a:t>posterior</a:t>
            </a:r>
            <a:r>
              <a:rPr lang="en-US" b="0" i="0" dirty="0">
                <a:effectLst/>
                <a:latin typeface="system-ui"/>
              </a:rPr>
              <a:t> distribution </a:t>
            </a:r>
            <a:r>
              <a:rPr lang="en-US" dirty="0"/>
              <a:t>P(</a:t>
            </a:r>
            <a:r>
              <a:rPr lang="en-US" dirty="0" err="1"/>
              <a:t>θ|D</a:t>
            </a:r>
            <a:r>
              <a:rPr lang="en-US" dirty="0"/>
              <a:t>)</a:t>
            </a:r>
            <a:r>
              <a:rPr lang="en-US" b="0" i="0" dirty="0">
                <a:effectLst/>
                <a:latin typeface="system-ui"/>
              </a:rPr>
              <a:t> via MCMC.</a:t>
            </a:r>
            <a:endParaRPr lang="en-GB" dirty="0"/>
          </a:p>
        </p:txBody>
      </p:sp>
      <p:sp>
        <p:nvSpPr>
          <p:cNvPr id="4" name="Title 3">
            <a:extLst>
              <a:ext uri="{FF2B5EF4-FFF2-40B4-BE49-F238E27FC236}">
                <a16:creationId xmlns:a16="http://schemas.microsoft.com/office/drawing/2014/main" id="{68731A31-B4D8-3F00-5E24-67FA91B6DADF}"/>
              </a:ext>
            </a:extLst>
          </p:cNvPr>
          <p:cNvSpPr>
            <a:spLocks noGrp="1"/>
          </p:cNvSpPr>
          <p:nvPr>
            <p:ph type="title"/>
          </p:nvPr>
        </p:nvSpPr>
        <p:spPr/>
        <p:txBody>
          <a:bodyPr/>
          <a:lstStyle/>
          <a:p>
            <a:r>
              <a:rPr lang="en-GB" dirty="0"/>
              <a:t>Trace</a:t>
            </a:r>
          </a:p>
        </p:txBody>
      </p:sp>
      <p:pic>
        <p:nvPicPr>
          <p:cNvPr id="5" name="Content Placeholder 4" descr="A graph with colorful dots and numbers&#10;&#10;Description automatically generated">
            <a:extLst>
              <a:ext uri="{FF2B5EF4-FFF2-40B4-BE49-F238E27FC236}">
                <a16:creationId xmlns:a16="http://schemas.microsoft.com/office/drawing/2014/main" id="{45862C9B-9B58-A3D2-95E1-0081C106949C}"/>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478587" y="1608138"/>
            <a:ext cx="4568825" cy="4568825"/>
          </a:xfrm>
          <a:prstGeom prst="rect">
            <a:avLst/>
          </a:prstGeom>
          <a:noFill/>
        </p:spPr>
      </p:pic>
    </p:spTree>
    <p:extLst>
      <p:ext uri="{BB962C8B-B14F-4D97-AF65-F5344CB8AC3E}">
        <p14:creationId xmlns:p14="http://schemas.microsoft.com/office/powerpoint/2010/main" val="159987629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B950BF4B-4440-C384-6CAC-3813D8664D31}"/>
              </a:ext>
            </a:extLst>
          </p:cNvPr>
          <p:cNvPicPr>
            <a:picLocks noGrp="1" noChangeAspect="1"/>
          </p:cNvPicPr>
          <p:nvPr>
            <p:ph sz="half" idx="1"/>
          </p:nvPr>
        </p:nvPicPr>
        <p:blipFill>
          <a:blip r:embed="rId3"/>
          <a:stretch>
            <a:fillRect/>
          </a:stretch>
        </p:blipFill>
        <p:spPr>
          <a:xfrm>
            <a:off x="838200" y="2852001"/>
            <a:ext cx="5181600" cy="2081099"/>
          </a:xfrm>
        </p:spPr>
      </p:pic>
      <p:pic>
        <p:nvPicPr>
          <p:cNvPr id="8" name="Content Placeholder 7">
            <a:extLst>
              <a:ext uri="{FF2B5EF4-FFF2-40B4-BE49-F238E27FC236}">
                <a16:creationId xmlns:a16="http://schemas.microsoft.com/office/drawing/2014/main" id="{F344BEF9-3AB3-3E2D-20AD-AD84E0DCC947}"/>
              </a:ext>
            </a:extLst>
          </p:cNvPr>
          <p:cNvPicPr>
            <a:picLocks noGrp="1" noChangeAspect="1"/>
          </p:cNvPicPr>
          <p:nvPr>
            <p:ph sz="half" idx="2"/>
          </p:nvPr>
        </p:nvPicPr>
        <p:blipFill>
          <a:blip r:embed="rId4"/>
          <a:stretch>
            <a:fillRect/>
          </a:stretch>
        </p:blipFill>
        <p:spPr>
          <a:xfrm>
            <a:off x="6950274" y="1608138"/>
            <a:ext cx="3625452" cy="4568825"/>
          </a:xfrm>
        </p:spPr>
      </p:pic>
      <p:sp>
        <p:nvSpPr>
          <p:cNvPr id="4" name="Title 3">
            <a:extLst>
              <a:ext uri="{FF2B5EF4-FFF2-40B4-BE49-F238E27FC236}">
                <a16:creationId xmlns:a16="http://schemas.microsoft.com/office/drawing/2014/main" id="{EE90DEA5-012C-F978-022E-E7547E2A71C9}"/>
              </a:ext>
            </a:extLst>
          </p:cNvPr>
          <p:cNvSpPr>
            <a:spLocks noGrp="1"/>
          </p:cNvSpPr>
          <p:nvPr>
            <p:ph type="title"/>
          </p:nvPr>
        </p:nvSpPr>
        <p:spPr/>
        <p:txBody>
          <a:bodyPr/>
          <a:lstStyle/>
          <a:p>
            <a:r>
              <a:rPr lang="en-GB" dirty="0"/>
              <a:t>Applying MCMC</a:t>
            </a:r>
          </a:p>
        </p:txBody>
      </p:sp>
    </p:spTree>
    <p:extLst>
      <p:ext uri="{BB962C8B-B14F-4D97-AF65-F5344CB8AC3E}">
        <p14:creationId xmlns:p14="http://schemas.microsoft.com/office/powerpoint/2010/main" val="49368569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9CDE52-8E5B-E16F-041F-9E3290F6E6D9}"/>
              </a:ext>
            </a:extLst>
          </p:cNvPr>
          <p:cNvSpPr>
            <a:spLocks noGrp="1"/>
          </p:cNvSpPr>
          <p:nvPr>
            <p:ph sz="half" idx="1"/>
          </p:nvPr>
        </p:nvSpPr>
        <p:spPr>
          <a:xfrm>
            <a:off x="838200" y="1608667"/>
            <a:ext cx="5181600" cy="4568296"/>
          </a:xfrm>
        </p:spPr>
        <p:txBody>
          <a:bodyPr>
            <a:normAutofit/>
          </a:bodyPr>
          <a:lstStyle/>
          <a:p>
            <a:pPr marL="0" indent="0">
              <a:buNone/>
            </a:pPr>
            <a:r>
              <a:rPr lang="en-US" sz="1500" b="0" i="0" dirty="0">
                <a:effectLst/>
              </a:rPr>
              <a:t>What we have plotted is samples from the </a:t>
            </a:r>
            <a:r>
              <a:rPr lang="en-US" sz="1500" b="1" i="0" dirty="0">
                <a:solidFill>
                  <a:schemeClr val="accent5"/>
                </a:solidFill>
                <a:effectLst/>
              </a:rPr>
              <a:t>posterior distribution of the model parameters</a:t>
            </a:r>
            <a:r>
              <a:rPr lang="en-US" sz="1500" b="0" i="0" dirty="0">
                <a:effectLst/>
              </a:rPr>
              <a:t>; i.e. the values we expect the model parameters to take on given the data we observed and our prior.</a:t>
            </a:r>
          </a:p>
          <a:p>
            <a:pPr marL="0" indent="0">
              <a:buNone/>
            </a:pPr>
            <a:r>
              <a:rPr lang="en-US" sz="1500" b="0" i="0" dirty="0">
                <a:effectLst/>
              </a:rPr>
              <a:t>The </a:t>
            </a:r>
            <a:r>
              <a:rPr lang="en-US" sz="1500" b="1" i="0" dirty="0">
                <a:effectLst/>
              </a:rPr>
              <a:t>predictive posterior</a:t>
            </a:r>
            <a:r>
              <a:rPr lang="en-US" sz="1500" b="0" i="0" dirty="0">
                <a:effectLst/>
              </a:rPr>
              <a:t> is the </a:t>
            </a:r>
            <a:r>
              <a:rPr lang="en-US" sz="1500" b="0" i="1" dirty="0">
                <a:solidFill>
                  <a:schemeClr val="accent5"/>
                </a:solidFill>
                <a:effectLst/>
              </a:rPr>
              <a:t>distribution over observations</a:t>
            </a:r>
            <a:r>
              <a:rPr lang="en-US" sz="1500" b="0" i="0" dirty="0">
                <a:solidFill>
                  <a:schemeClr val="accent5"/>
                </a:solidFill>
                <a:effectLst/>
              </a:rPr>
              <a:t> </a:t>
            </a:r>
            <a:r>
              <a:rPr lang="en-US" sz="1500" b="0" i="0" dirty="0">
                <a:effectLst/>
              </a:rPr>
              <a:t>we would expect to see; predictions of future samples. This means drawing samples from the model, while integrating over parameters from the posterior. </a:t>
            </a:r>
          </a:p>
          <a:p>
            <a:pPr marL="0" indent="0">
              <a:buNone/>
            </a:pPr>
            <a:r>
              <a:rPr lang="en-US" sz="1500" b="0" i="0" dirty="0">
                <a:effectLst/>
              </a:rPr>
              <a:t>We can do this with a two-step, nested process:</a:t>
            </a:r>
          </a:p>
          <a:p>
            <a:pPr>
              <a:buFont typeface="Arial" panose="020B0604020202020204" pitchFamily="34" charset="0"/>
              <a:buChar char="•"/>
            </a:pPr>
            <a:r>
              <a:rPr lang="en-US" sz="1500" b="0" i="0" dirty="0">
                <a:effectLst/>
              </a:rPr>
              <a:t>for n repetitions</a:t>
            </a:r>
          </a:p>
          <a:p>
            <a:pPr marL="742950" lvl="1" indent="-285750">
              <a:buFont typeface="Arial" panose="020B0604020202020204" pitchFamily="34" charset="0"/>
              <a:buChar char="•"/>
            </a:pPr>
            <a:r>
              <a:rPr lang="en-US" sz="1500" b="0" i="0" dirty="0">
                <a:effectLst/>
              </a:rPr>
              <a:t>draw samples from our posterior distribution over parameters to give us a concrete distribution</a:t>
            </a:r>
          </a:p>
          <a:p>
            <a:pPr marL="742950" lvl="1" indent="-285750">
              <a:buFont typeface="Arial" panose="020B0604020202020204" pitchFamily="34" charset="0"/>
              <a:buChar char="•"/>
            </a:pPr>
            <a:r>
              <a:rPr lang="en-US" sz="1500" b="0" i="0" dirty="0">
                <a:effectLst/>
              </a:rPr>
              <a:t>for m repetitions</a:t>
            </a:r>
          </a:p>
          <a:p>
            <a:pPr marL="1143000" lvl="2" indent="-228600">
              <a:buFont typeface="Arial" panose="020B0604020202020204" pitchFamily="34" charset="0"/>
              <a:buChar char="•"/>
            </a:pPr>
            <a:r>
              <a:rPr lang="en-US" sz="1500" b="0" i="0" dirty="0">
                <a:effectLst/>
              </a:rPr>
              <a:t>draw samples from this concrete distribution</a:t>
            </a:r>
          </a:p>
          <a:p>
            <a:endParaRPr lang="en-GB" sz="1500" dirty="0"/>
          </a:p>
        </p:txBody>
      </p:sp>
      <p:pic>
        <p:nvPicPr>
          <p:cNvPr id="6" name="Content Placeholder 5" descr="A group of blue graphs&#10;&#10;Description automatically generated">
            <a:extLst>
              <a:ext uri="{FF2B5EF4-FFF2-40B4-BE49-F238E27FC236}">
                <a16:creationId xmlns:a16="http://schemas.microsoft.com/office/drawing/2014/main" id="{EE3414BD-7405-3510-2047-FE0D3A6F72E1}"/>
              </a:ext>
            </a:extLst>
          </p:cNvPr>
          <p:cNvPicPr>
            <a:picLocks noGrp="1" noChangeAspect="1"/>
          </p:cNvPicPr>
          <p:nvPr>
            <p:ph sz="half" idx="2"/>
          </p:nvPr>
        </p:nvPicPr>
        <p:blipFill>
          <a:blip r:embed="rId2"/>
          <a:stretch>
            <a:fillRect/>
          </a:stretch>
        </p:blipFill>
        <p:spPr>
          <a:xfrm>
            <a:off x="6901420" y="1608667"/>
            <a:ext cx="3723160" cy="4568296"/>
          </a:xfrm>
          <a:noFill/>
        </p:spPr>
      </p:pic>
      <p:sp>
        <p:nvSpPr>
          <p:cNvPr id="4" name="Title 3">
            <a:extLst>
              <a:ext uri="{FF2B5EF4-FFF2-40B4-BE49-F238E27FC236}">
                <a16:creationId xmlns:a16="http://schemas.microsoft.com/office/drawing/2014/main" id="{420F595D-2565-42D6-78D3-78A94719C9B0}"/>
              </a:ext>
            </a:extLst>
          </p:cNvPr>
          <p:cNvSpPr>
            <a:spLocks noGrp="1"/>
          </p:cNvSpPr>
          <p:nvPr>
            <p:ph type="title"/>
          </p:nvPr>
        </p:nvSpPr>
        <p:spPr>
          <a:xfrm>
            <a:off x="2549236" y="533614"/>
            <a:ext cx="9210963" cy="888786"/>
          </a:xfrm>
        </p:spPr>
        <p:txBody>
          <a:bodyPr anchor="t">
            <a:normAutofit/>
          </a:bodyPr>
          <a:lstStyle/>
          <a:p>
            <a:r>
              <a:rPr lang="en-US" b="1" i="0">
                <a:effectLst/>
              </a:rPr>
              <a:t>Predictive posterior: sampling from the model</a:t>
            </a:r>
            <a:br>
              <a:rPr lang="en-US" b="1" i="0">
                <a:effectLst/>
              </a:rPr>
            </a:br>
            <a:endParaRPr lang="en-GB" dirty="0"/>
          </a:p>
        </p:txBody>
      </p:sp>
    </p:spTree>
    <p:extLst>
      <p:ext uri="{BB962C8B-B14F-4D97-AF65-F5344CB8AC3E}">
        <p14:creationId xmlns:p14="http://schemas.microsoft.com/office/powerpoint/2010/main" val="10125252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4B9256B-2D76-517B-8F02-7A140F1ED991}"/>
              </a:ext>
            </a:extLst>
          </p:cNvPr>
          <p:cNvSpPr>
            <a:spLocks noGrp="1"/>
          </p:cNvSpPr>
          <p:nvPr>
            <p:ph type="ctrTitle"/>
          </p:nvPr>
        </p:nvSpPr>
        <p:spPr/>
        <p:txBody>
          <a:bodyPr/>
          <a:lstStyle/>
          <a:p>
            <a:r>
              <a:rPr lang="en-GB" dirty="0"/>
              <a:t>Inference summary</a:t>
            </a:r>
          </a:p>
        </p:txBody>
      </p:sp>
      <p:sp>
        <p:nvSpPr>
          <p:cNvPr id="6" name="Subtitle 5">
            <a:extLst>
              <a:ext uri="{FF2B5EF4-FFF2-40B4-BE49-F238E27FC236}">
                <a16:creationId xmlns:a16="http://schemas.microsoft.com/office/drawing/2014/main" id="{D35AE8F3-14A7-A0A0-7D13-EFE6FE45E886}"/>
              </a:ext>
            </a:extLst>
          </p:cNvPr>
          <p:cNvSpPr>
            <a:spLocks noGrp="1"/>
          </p:cNvSpPr>
          <p:nvPr>
            <p:ph type="subTitle" idx="1"/>
          </p:nvPr>
        </p:nvSpPr>
        <p:spPr/>
        <p:txBody>
          <a:bodyPr/>
          <a:lstStyle/>
          <a:p>
            <a:r>
              <a:rPr lang="en-GB" dirty="0"/>
              <a:t>A linear regression example</a:t>
            </a:r>
          </a:p>
        </p:txBody>
      </p:sp>
      <p:pic>
        <p:nvPicPr>
          <p:cNvPr id="7" name="Content Placeholder 5">
            <a:extLst>
              <a:ext uri="{FF2B5EF4-FFF2-40B4-BE49-F238E27FC236}">
                <a16:creationId xmlns:a16="http://schemas.microsoft.com/office/drawing/2014/main" id="{8F1E9A2D-A079-B6B7-48CD-0459B809AF1A}"/>
              </a:ext>
            </a:extLst>
          </p:cNvPr>
          <p:cNvPicPr>
            <a:picLocks noChangeAspect="1"/>
          </p:cNvPicPr>
          <p:nvPr/>
        </p:nvPicPr>
        <p:blipFill>
          <a:blip r:embed="rId2"/>
          <a:stretch>
            <a:fillRect/>
          </a:stretch>
        </p:blipFill>
        <p:spPr>
          <a:xfrm>
            <a:off x="8024750" y="6415"/>
            <a:ext cx="4150096" cy="2199960"/>
          </a:xfrm>
          <a:prstGeom prst="rect">
            <a:avLst/>
          </a:prstGeom>
        </p:spPr>
      </p:pic>
      <p:pic>
        <p:nvPicPr>
          <p:cNvPr id="8" name="Picture 7" descr="A graph of a graph showing the maximum likelihood of a number of individuals&#10;&#10;Description automatically generated with medium confidence">
            <a:extLst>
              <a:ext uri="{FF2B5EF4-FFF2-40B4-BE49-F238E27FC236}">
                <a16:creationId xmlns:a16="http://schemas.microsoft.com/office/drawing/2014/main" id="{EF1ED32F-A146-60BE-1891-80052B96BB49}"/>
              </a:ext>
            </a:extLst>
          </p:cNvPr>
          <p:cNvPicPr>
            <a:picLocks noChangeAspect="1"/>
          </p:cNvPicPr>
          <p:nvPr/>
        </p:nvPicPr>
        <p:blipFill>
          <a:blip r:embed="rId3"/>
          <a:stretch>
            <a:fillRect/>
          </a:stretch>
        </p:blipFill>
        <p:spPr>
          <a:xfrm>
            <a:off x="8024750" y="2206375"/>
            <a:ext cx="4150096" cy="2126924"/>
          </a:xfrm>
          <a:prstGeom prst="rect">
            <a:avLst/>
          </a:prstGeom>
          <a:noFill/>
        </p:spPr>
      </p:pic>
      <p:pic>
        <p:nvPicPr>
          <p:cNvPr id="9" name="Content Placeholder 3" descr="A graph of lines and dots&#10;&#10;Description automatically generated">
            <a:extLst>
              <a:ext uri="{FF2B5EF4-FFF2-40B4-BE49-F238E27FC236}">
                <a16:creationId xmlns:a16="http://schemas.microsoft.com/office/drawing/2014/main" id="{985FC4B7-5250-1420-79A5-F3CAD662DD63}"/>
              </a:ext>
            </a:extLst>
          </p:cNvPr>
          <p:cNvPicPr>
            <a:picLocks noChangeAspect="1"/>
          </p:cNvPicPr>
          <p:nvPr/>
        </p:nvPicPr>
        <p:blipFill>
          <a:blip r:embed="rId4"/>
          <a:stretch>
            <a:fillRect/>
          </a:stretch>
        </p:blipFill>
        <p:spPr>
          <a:xfrm>
            <a:off x="8007596" y="4406335"/>
            <a:ext cx="4167250" cy="2255146"/>
          </a:xfrm>
          <a:prstGeom prst="rect">
            <a:avLst/>
          </a:prstGeom>
          <a:noFill/>
        </p:spPr>
      </p:pic>
    </p:spTree>
    <p:extLst>
      <p:ext uri="{BB962C8B-B14F-4D97-AF65-F5344CB8AC3E}">
        <p14:creationId xmlns:p14="http://schemas.microsoft.com/office/powerpoint/2010/main" val="296088682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671B3DE-48A8-F6C3-93B7-3B6FBE03C3F1}"/>
              </a:ext>
            </a:extLst>
          </p:cNvPr>
          <p:cNvSpPr>
            <a:spLocks noGrp="1"/>
          </p:cNvSpPr>
          <p:nvPr>
            <p:ph sz="half" idx="1"/>
          </p:nvPr>
        </p:nvSpPr>
        <p:spPr/>
        <p:txBody>
          <a:bodyPr>
            <a:normAutofit fontScale="92500" lnSpcReduction="10000"/>
          </a:bodyPr>
          <a:lstStyle/>
          <a:p>
            <a:pPr algn="l"/>
            <a:r>
              <a:rPr lang="en-US" b="1" i="0" dirty="0">
                <a:effectLst/>
                <a:latin typeface="system-ui"/>
              </a:rPr>
              <a:t>Linear regression</a:t>
            </a:r>
            <a:r>
              <a:rPr lang="en-US" b="0" i="0" dirty="0">
                <a:effectLst/>
                <a:latin typeface="system-ui"/>
              </a:rPr>
              <a:t> is the fitting of a line to observed data. It assumes the mysterious entity generates data where one of the observed variables is scaled and shifted version of another observed variable, corrupted by some noise; a linear relationship. </a:t>
            </a:r>
          </a:p>
          <a:p>
            <a:pPr algn="l"/>
            <a:r>
              <a:rPr lang="en-US" b="0" i="0" dirty="0">
                <a:effectLst/>
                <a:latin typeface="system-ui"/>
              </a:rPr>
              <a:t>The problem is to estimate what that scaling and shifting is. </a:t>
            </a:r>
          </a:p>
          <a:p>
            <a:pPr algn="l"/>
            <a:r>
              <a:rPr lang="en-US" b="0" i="0" dirty="0">
                <a:effectLst/>
                <a:latin typeface="system-ui"/>
              </a:rPr>
              <a:t>In a simple 2D case, this is the gradient </a:t>
            </a:r>
            <a:r>
              <a:rPr lang="en-US" b="0" i="0" dirty="0">
                <a:solidFill>
                  <a:schemeClr val="accent4"/>
                </a:solidFill>
                <a:effectLst/>
                <a:latin typeface="system-ui"/>
              </a:rPr>
              <a:t>m</a:t>
            </a:r>
            <a:r>
              <a:rPr lang="en-US" b="0" i="0" dirty="0">
                <a:effectLst/>
                <a:latin typeface="system-ui"/>
              </a:rPr>
              <a:t> and offset </a:t>
            </a:r>
            <a:r>
              <a:rPr lang="en-US" b="0" i="0" dirty="0">
                <a:solidFill>
                  <a:schemeClr val="accent4"/>
                </a:solidFill>
                <a:effectLst/>
                <a:latin typeface="system-ui"/>
              </a:rPr>
              <a:t>c</a:t>
            </a:r>
            <a:r>
              <a:rPr lang="en-US" b="0" i="0" dirty="0">
                <a:effectLst/>
                <a:latin typeface="system-ui"/>
              </a:rPr>
              <a:t> in the equation </a:t>
            </a:r>
            <a:r>
              <a:rPr lang="en-US" b="0" i="0" dirty="0">
                <a:solidFill>
                  <a:schemeClr val="accent4"/>
                </a:solidFill>
                <a:effectLst/>
                <a:latin typeface="system-ui"/>
              </a:rPr>
              <a:t>y=</a:t>
            </a:r>
            <a:r>
              <a:rPr lang="en-US" b="0" i="0" dirty="0" err="1">
                <a:solidFill>
                  <a:schemeClr val="accent4"/>
                </a:solidFill>
                <a:effectLst/>
                <a:latin typeface="system-ui"/>
              </a:rPr>
              <a:t>mx+c</a:t>
            </a:r>
            <a:r>
              <a:rPr lang="en-US" b="0" i="0" dirty="0">
                <a:effectLst/>
                <a:latin typeface="system-ui"/>
              </a:rPr>
              <a:t>. </a:t>
            </a:r>
          </a:p>
          <a:p>
            <a:pPr algn="l"/>
            <a:r>
              <a:rPr lang="en-US" b="0" i="0" dirty="0">
                <a:effectLst/>
                <a:latin typeface="system-ui"/>
              </a:rPr>
              <a:t>It can be directly </a:t>
            </a:r>
            <a:r>
              <a:rPr lang="en-US" b="0" i="0" dirty="0" err="1">
                <a:effectLst/>
                <a:latin typeface="system-ui"/>
              </a:rPr>
              <a:t>generalised</a:t>
            </a:r>
            <a:r>
              <a:rPr lang="en-US" b="0" i="0" dirty="0">
                <a:effectLst/>
                <a:latin typeface="system-ui"/>
              </a:rPr>
              <a:t> to higher dimensions to find </a:t>
            </a:r>
            <a:r>
              <a:rPr lang="en-US" b="0" i="0" dirty="0">
                <a:solidFill>
                  <a:schemeClr val="accent4"/>
                </a:solidFill>
                <a:effectLst/>
                <a:latin typeface="system-ui"/>
              </a:rPr>
              <a:t>A</a:t>
            </a:r>
            <a:r>
              <a:rPr lang="en-US" b="0" i="0" dirty="0">
                <a:effectLst/>
                <a:latin typeface="system-ui"/>
              </a:rPr>
              <a:t> and </a:t>
            </a:r>
            <a:r>
              <a:rPr lang="en-US" b="0" i="0" dirty="0">
                <a:solidFill>
                  <a:schemeClr val="accent4"/>
                </a:solidFill>
                <a:effectLst/>
                <a:latin typeface="system-ui"/>
              </a:rPr>
              <a:t>b</a:t>
            </a:r>
            <a:r>
              <a:rPr lang="en-US" b="0" i="0" dirty="0">
                <a:effectLst/>
                <a:latin typeface="system-ui"/>
              </a:rPr>
              <a:t> in </a:t>
            </a:r>
            <a:r>
              <a:rPr lang="en-US" b="0" i="0" dirty="0">
                <a:solidFill>
                  <a:schemeClr val="accent4"/>
                </a:solidFill>
                <a:effectLst/>
                <a:latin typeface="system-ui"/>
              </a:rPr>
              <a:t>y=</a:t>
            </a:r>
            <a:r>
              <a:rPr lang="en-US" b="0" i="0" dirty="0" err="1">
                <a:solidFill>
                  <a:schemeClr val="accent4"/>
                </a:solidFill>
                <a:effectLst/>
                <a:latin typeface="system-ui"/>
              </a:rPr>
              <a:t>Ax+b</a:t>
            </a:r>
            <a:r>
              <a:rPr lang="en-US" b="0" i="0" dirty="0">
                <a:effectLst/>
                <a:latin typeface="system-ui"/>
              </a:rPr>
              <a:t>, but we'll use the simple "high school“ </a:t>
            </a:r>
            <a:r>
              <a:rPr lang="en-US" b="0" i="0" dirty="0">
                <a:solidFill>
                  <a:schemeClr val="accent4"/>
                </a:solidFill>
                <a:effectLst/>
                <a:latin typeface="system-ui"/>
              </a:rPr>
              <a:t>y=</a:t>
            </a:r>
            <a:r>
              <a:rPr lang="en-US" b="0" i="0" dirty="0" err="1">
                <a:solidFill>
                  <a:schemeClr val="accent4"/>
                </a:solidFill>
                <a:effectLst/>
                <a:latin typeface="system-ui"/>
              </a:rPr>
              <a:t>mx+c</a:t>
            </a:r>
            <a:r>
              <a:rPr lang="en-US" dirty="0">
                <a:solidFill>
                  <a:schemeClr val="accent4"/>
                </a:solidFill>
                <a:latin typeface="system-ui"/>
              </a:rPr>
              <a:t> </a:t>
            </a:r>
            <a:r>
              <a:rPr lang="en-US" b="0" i="0" dirty="0">
                <a:effectLst/>
                <a:latin typeface="system-ui"/>
              </a:rPr>
              <a:t>case for simplicity.</a:t>
            </a:r>
          </a:p>
          <a:p>
            <a:endParaRPr lang="en-GB" dirty="0"/>
          </a:p>
        </p:txBody>
      </p:sp>
      <p:pic>
        <p:nvPicPr>
          <p:cNvPr id="6" name="Content Placeholder 5">
            <a:extLst>
              <a:ext uri="{FF2B5EF4-FFF2-40B4-BE49-F238E27FC236}">
                <a16:creationId xmlns:a16="http://schemas.microsoft.com/office/drawing/2014/main" id="{F028D513-2305-BF00-D495-7F9273608A29}"/>
              </a:ext>
            </a:extLst>
          </p:cNvPr>
          <p:cNvPicPr>
            <a:picLocks noGrp="1" noChangeAspect="1"/>
          </p:cNvPicPr>
          <p:nvPr>
            <p:ph sz="half" idx="2"/>
          </p:nvPr>
        </p:nvPicPr>
        <p:blipFill>
          <a:blip r:embed="rId3"/>
          <a:stretch>
            <a:fillRect/>
          </a:stretch>
        </p:blipFill>
        <p:spPr>
          <a:xfrm>
            <a:off x="6172200" y="2519171"/>
            <a:ext cx="5181600" cy="2746759"/>
          </a:xfrm>
        </p:spPr>
      </p:pic>
      <p:sp>
        <p:nvSpPr>
          <p:cNvPr id="4" name="Title 3">
            <a:extLst>
              <a:ext uri="{FF2B5EF4-FFF2-40B4-BE49-F238E27FC236}">
                <a16:creationId xmlns:a16="http://schemas.microsoft.com/office/drawing/2014/main" id="{D28B471F-CBEA-9FA7-10F2-56B6DE768491}"/>
              </a:ext>
            </a:extLst>
          </p:cNvPr>
          <p:cNvSpPr>
            <a:spLocks noGrp="1"/>
          </p:cNvSpPr>
          <p:nvPr>
            <p:ph type="title"/>
          </p:nvPr>
        </p:nvSpPr>
        <p:spPr/>
        <p:txBody>
          <a:bodyPr/>
          <a:lstStyle/>
          <a:p>
            <a:r>
              <a:rPr lang="en-GB" dirty="0"/>
              <a:t>Linear regression</a:t>
            </a:r>
          </a:p>
        </p:txBody>
      </p:sp>
      <p:sp>
        <p:nvSpPr>
          <p:cNvPr id="8" name="TextBox 7">
            <a:extLst>
              <a:ext uri="{FF2B5EF4-FFF2-40B4-BE49-F238E27FC236}">
                <a16:creationId xmlns:a16="http://schemas.microsoft.com/office/drawing/2014/main" id="{2BE98C1C-91E1-A695-E593-63B955A00694}"/>
              </a:ext>
            </a:extLst>
          </p:cNvPr>
          <p:cNvSpPr txBox="1"/>
          <p:nvPr/>
        </p:nvSpPr>
        <p:spPr>
          <a:xfrm>
            <a:off x="6019800" y="5265930"/>
            <a:ext cx="6097190" cy="840230"/>
          </a:xfrm>
          <a:prstGeom prst="rect">
            <a:avLst/>
          </a:prstGeom>
          <a:noFill/>
        </p:spPr>
        <p:txBody>
          <a:bodyPr wrap="square">
            <a:spAutoFit/>
          </a:bodyPr>
          <a:lstStyle/>
          <a:p>
            <a:pPr algn="ctr">
              <a:lnSpc>
                <a:spcPct val="90000"/>
              </a:lnSpc>
              <a:spcBef>
                <a:spcPts val="1000"/>
              </a:spcBef>
            </a:pPr>
            <a:r>
              <a:rPr lang="en-GB" sz="1800" b="0" i="1" dirty="0">
                <a:solidFill>
                  <a:schemeClr val="accent1"/>
                </a:solidFill>
                <a:effectLst/>
                <a:latin typeface="Arial" panose="020B0604020202020204" pitchFamily="34" charset="0"/>
                <a:cs typeface="Arial" panose="020B0604020202020204" pitchFamily="34" charset="0"/>
              </a:rPr>
              <a:t>Linear least squares tried to make the size of the squares nestled between the line and data points as small as possible</a:t>
            </a:r>
            <a:endParaRPr lang="en-GB" sz="1800" b="0" i="0" dirty="0">
              <a:solidFill>
                <a:schemeClr val="accent1"/>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3967370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8E6B5A-8D01-C072-295A-6529105C2606}"/>
              </a:ext>
            </a:extLst>
          </p:cNvPr>
          <p:cNvSpPr>
            <a:spLocks noGrp="1"/>
          </p:cNvSpPr>
          <p:nvPr>
            <p:ph sz="half" idx="1"/>
          </p:nvPr>
        </p:nvSpPr>
        <p:spPr/>
        <p:txBody>
          <a:bodyPr>
            <a:normAutofit fontScale="70000" lnSpcReduction="20000"/>
          </a:bodyPr>
          <a:lstStyle/>
          <a:p>
            <a:pPr marL="0" indent="0" algn="l">
              <a:buNone/>
            </a:pPr>
            <a:r>
              <a:rPr lang="en-US" b="0" i="0" dirty="0">
                <a:effectLst/>
                <a:latin typeface="system-ui"/>
              </a:rPr>
              <a:t>We assume that we will fit a line to </a:t>
            </a:r>
            <a:r>
              <a:rPr lang="en-US" b="0" i="1" dirty="0">
                <a:effectLst/>
                <a:latin typeface="system-ui"/>
              </a:rPr>
              <a:t>noisy</a:t>
            </a:r>
            <a:r>
              <a:rPr lang="en-US" b="0" i="0" dirty="0">
                <a:effectLst/>
                <a:latin typeface="system-ui"/>
              </a:rPr>
              <a:t> data. That is the process that we assume that is generating the data is </a:t>
            </a:r>
          </a:p>
          <a:p>
            <a:pPr marL="0" indent="0" algn="l">
              <a:buNone/>
            </a:pPr>
            <a:r>
              <a:rPr lang="en-US" b="0" i="0" dirty="0">
                <a:effectLst/>
                <a:latin typeface="system-ui"/>
              </a:rPr>
              <a:t>where ϵ is some noise term. </a:t>
            </a:r>
          </a:p>
          <a:p>
            <a:pPr marL="0" indent="0" algn="l">
              <a:buNone/>
            </a:pPr>
            <a:r>
              <a:rPr lang="en-US" b="0" i="0" dirty="0">
                <a:effectLst/>
                <a:latin typeface="system-ui"/>
              </a:rPr>
              <a:t>We have to make assumptions about the distribution of ϵ in order to make inferences about the parameters.</a:t>
            </a:r>
          </a:p>
          <a:p>
            <a:pPr marL="0" indent="0" algn="l">
              <a:buNone/>
            </a:pPr>
            <a:r>
              <a:rPr lang="en-US" b="0" i="0" dirty="0">
                <a:effectLst/>
                <a:latin typeface="system-ui"/>
              </a:rPr>
              <a:t>One simple assumption is that ϵ∼N(0,σ</a:t>
            </a:r>
            <a:r>
              <a:rPr lang="en-US" b="0" i="0" baseline="30000" dirty="0">
                <a:effectLst/>
                <a:latin typeface="system-ui"/>
              </a:rPr>
              <a:t>2</a:t>
            </a:r>
            <a:r>
              <a:rPr lang="en-US" b="0" i="0" dirty="0">
                <a:effectLst/>
                <a:latin typeface="system-ui"/>
              </a:rPr>
              <a:t>), i.e. that we have normally distributed variations in our measurements. </a:t>
            </a:r>
          </a:p>
          <a:p>
            <a:pPr marL="0" indent="0" algn="l">
              <a:buNone/>
            </a:pPr>
            <a:r>
              <a:rPr lang="en-US" b="0" i="0" dirty="0">
                <a:effectLst/>
                <a:latin typeface="system-ui"/>
              </a:rPr>
              <a:t>So our full equation is:</a:t>
            </a:r>
          </a:p>
          <a:p>
            <a:pPr marL="0" indent="0" algn="l">
              <a:buNone/>
            </a:pPr>
            <a:r>
              <a:rPr lang="en-US" b="0" i="0" dirty="0">
                <a:effectLst/>
                <a:latin typeface="system-ui"/>
              </a:rPr>
              <a:t>or equivalently, putting the </a:t>
            </a:r>
            <a:r>
              <a:rPr lang="en-US" b="0" i="0" dirty="0" err="1">
                <a:effectLst/>
                <a:latin typeface="system-ui"/>
              </a:rPr>
              <a:t>mx+c</a:t>
            </a:r>
            <a:r>
              <a:rPr lang="en-US" b="0" i="0" dirty="0">
                <a:effectLst/>
                <a:latin typeface="system-ui"/>
              </a:rPr>
              <a:t> as the mean of the normal distribution:</a:t>
            </a:r>
          </a:p>
          <a:p>
            <a:pPr algn="l"/>
            <a:endParaRPr lang="en-US" dirty="0">
              <a:latin typeface="system-ui"/>
            </a:endParaRPr>
          </a:p>
          <a:p>
            <a:pPr algn="l"/>
            <a:endParaRPr lang="en-US" b="0" i="0" dirty="0">
              <a:effectLst/>
              <a:latin typeface="system-ui"/>
            </a:endParaRPr>
          </a:p>
          <a:p>
            <a:pPr algn="l"/>
            <a:r>
              <a:rPr lang="en-US" b="0" i="0" dirty="0">
                <a:effectLst/>
                <a:latin typeface="system-ui"/>
              </a:rPr>
              <a:t>Note that we assume that y is a random variable, x is known, and that </a:t>
            </a:r>
            <a:r>
              <a:rPr lang="en-US" b="0" i="0" dirty="0" err="1">
                <a:effectLst/>
                <a:latin typeface="system-ui"/>
              </a:rPr>
              <a:t>m,c,σ</a:t>
            </a:r>
            <a:r>
              <a:rPr lang="en-US" b="0" i="0" dirty="0">
                <a:effectLst/>
                <a:latin typeface="system-ui"/>
              </a:rPr>
              <a:t> are parameters that we wish to infer from a collection of observations:</a:t>
            </a:r>
          </a:p>
          <a:p>
            <a:endParaRPr lang="en-GB" b="1" dirty="0"/>
          </a:p>
        </p:txBody>
      </p:sp>
      <p:sp>
        <p:nvSpPr>
          <p:cNvPr id="3" name="Content Placeholder 2">
            <a:extLst>
              <a:ext uri="{FF2B5EF4-FFF2-40B4-BE49-F238E27FC236}">
                <a16:creationId xmlns:a16="http://schemas.microsoft.com/office/drawing/2014/main" id="{D0C3FD38-0D22-56B5-47C6-F3CEC6916F4E}"/>
              </a:ext>
            </a:extLst>
          </p:cNvPr>
          <p:cNvSpPr>
            <a:spLocks noGrp="1"/>
          </p:cNvSpPr>
          <p:nvPr>
            <p:ph sz="half" idx="2"/>
          </p:nvPr>
        </p:nvSpPr>
        <p:spPr/>
        <p:txBody>
          <a:bodyPr>
            <a:normAutofit/>
          </a:bodyPr>
          <a:lstStyle/>
          <a:p>
            <a:pPr marL="0" indent="0">
              <a:buNone/>
            </a:pPr>
            <a:r>
              <a:rPr lang="en-US" sz="2000" b="0" i="0" dirty="0">
                <a:effectLst/>
                <a:latin typeface="system-ui"/>
              </a:rPr>
              <a:t>In code, we could write down what we </a:t>
            </a:r>
            <a:r>
              <a:rPr lang="en-US" sz="2000" b="0" i="1" dirty="0">
                <a:effectLst/>
                <a:latin typeface="system-ui"/>
              </a:rPr>
              <a:t>assume</a:t>
            </a:r>
            <a:r>
              <a:rPr lang="en-US" sz="2000" b="0" i="0" dirty="0">
                <a:effectLst/>
                <a:latin typeface="system-ui"/>
              </a:rPr>
              <a:t> is generating data, our tame mysterious entity:</a:t>
            </a:r>
          </a:p>
          <a:p>
            <a:pPr marL="0" indent="0">
              <a:buNone/>
            </a:pPr>
            <a:endParaRPr lang="en-US" sz="2000" dirty="0">
              <a:latin typeface="system-ui"/>
            </a:endParaRPr>
          </a:p>
          <a:p>
            <a:pPr marL="0" indent="0">
              <a:buNone/>
            </a:pPr>
            <a:endParaRPr lang="en-US" sz="2000" dirty="0">
              <a:latin typeface="system-ui"/>
            </a:endParaRPr>
          </a:p>
          <a:p>
            <a:pPr marL="0" indent="0">
              <a:buNone/>
            </a:pPr>
            <a:endParaRPr lang="en-US" sz="2000" dirty="0">
              <a:latin typeface="system-ui"/>
            </a:endParaRPr>
          </a:p>
          <a:p>
            <a:pPr marL="0" indent="0">
              <a:buNone/>
            </a:pPr>
            <a:endParaRPr lang="en-US" sz="2000" dirty="0">
              <a:latin typeface="system-ui"/>
            </a:endParaRPr>
          </a:p>
          <a:p>
            <a:pPr marL="0" indent="0">
              <a:buNone/>
            </a:pPr>
            <a:r>
              <a:rPr lang="en-US" sz="2000" b="0" i="0" dirty="0">
                <a:effectLst/>
                <a:latin typeface="system-ui"/>
              </a:rPr>
              <a:t>Our problem is: given just the inputs </a:t>
            </a:r>
            <a:r>
              <a:rPr lang="en-US" sz="2000" dirty="0"/>
              <a:t>x</a:t>
            </a:r>
            <a:r>
              <a:rPr lang="en-US" sz="2000" b="0" i="0" dirty="0">
                <a:effectLst/>
                <a:latin typeface="system-ui"/>
              </a:rPr>
              <a:t> and return values </a:t>
            </a:r>
            <a:r>
              <a:rPr lang="en-US" sz="2000" dirty="0"/>
              <a:t>y</a:t>
            </a:r>
            <a:r>
              <a:rPr lang="en-US" sz="2000" b="0" i="0" dirty="0">
                <a:effectLst/>
                <a:latin typeface="system-ui"/>
              </a:rPr>
              <a:t>, what are the values of the </a:t>
            </a:r>
            <a:r>
              <a:rPr lang="en-US" sz="2000" b="0" i="1" dirty="0">
                <a:effectLst/>
                <a:latin typeface="system-ui"/>
              </a:rPr>
              <a:t>other</a:t>
            </a:r>
            <a:r>
              <a:rPr lang="en-US" sz="2000" b="0" i="0" dirty="0">
                <a:effectLst/>
                <a:latin typeface="system-ui"/>
              </a:rPr>
              <a:t> argument </a:t>
            </a:r>
            <a:r>
              <a:rPr lang="en-US" sz="2000" dirty="0"/>
              <a:t>θ</a:t>
            </a:r>
            <a:r>
              <a:rPr lang="en-US" sz="2000" b="0" i="0" dirty="0">
                <a:effectLst/>
                <a:latin typeface="system-ui"/>
              </a:rPr>
              <a:t>.</a:t>
            </a:r>
            <a:endParaRPr lang="en-GB" sz="2000" dirty="0"/>
          </a:p>
        </p:txBody>
      </p:sp>
      <p:sp>
        <p:nvSpPr>
          <p:cNvPr id="4" name="Title 3">
            <a:extLst>
              <a:ext uri="{FF2B5EF4-FFF2-40B4-BE49-F238E27FC236}">
                <a16:creationId xmlns:a16="http://schemas.microsoft.com/office/drawing/2014/main" id="{C3E57B4F-710A-7132-6AC5-B8A6AB7393EC}"/>
              </a:ext>
            </a:extLst>
          </p:cNvPr>
          <p:cNvSpPr>
            <a:spLocks noGrp="1"/>
          </p:cNvSpPr>
          <p:nvPr>
            <p:ph type="title"/>
          </p:nvPr>
        </p:nvSpPr>
        <p:spPr/>
        <p:txBody>
          <a:bodyPr/>
          <a:lstStyle/>
          <a:p>
            <a:r>
              <a:rPr lang="en-GB" dirty="0"/>
              <a:t>Linear regression (cont’d)</a:t>
            </a:r>
          </a:p>
        </p:txBody>
      </p:sp>
      <p:pic>
        <p:nvPicPr>
          <p:cNvPr id="6" name="Picture 5">
            <a:extLst>
              <a:ext uri="{FF2B5EF4-FFF2-40B4-BE49-F238E27FC236}">
                <a16:creationId xmlns:a16="http://schemas.microsoft.com/office/drawing/2014/main" id="{554D5AEA-CBF9-5BD3-18DB-E1609C9D0979}"/>
              </a:ext>
            </a:extLst>
          </p:cNvPr>
          <p:cNvPicPr>
            <a:picLocks noChangeAspect="1"/>
          </p:cNvPicPr>
          <p:nvPr/>
        </p:nvPicPr>
        <p:blipFill>
          <a:blip r:embed="rId2"/>
          <a:stretch>
            <a:fillRect/>
          </a:stretch>
        </p:blipFill>
        <p:spPr>
          <a:xfrm>
            <a:off x="1221581" y="1991063"/>
            <a:ext cx="1116970" cy="249729"/>
          </a:xfrm>
          <a:prstGeom prst="rect">
            <a:avLst/>
          </a:prstGeom>
        </p:spPr>
      </p:pic>
      <p:pic>
        <p:nvPicPr>
          <p:cNvPr id="8" name="Picture 7">
            <a:extLst>
              <a:ext uri="{FF2B5EF4-FFF2-40B4-BE49-F238E27FC236}">
                <a16:creationId xmlns:a16="http://schemas.microsoft.com/office/drawing/2014/main" id="{96F786DC-2891-2006-3AFE-6AA312282187}"/>
              </a:ext>
            </a:extLst>
          </p:cNvPr>
          <p:cNvPicPr>
            <a:picLocks noChangeAspect="1"/>
          </p:cNvPicPr>
          <p:nvPr/>
        </p:nvPicPr>
        <p:blipFill>
          <a:blip r:embed="rId3"/>
          <a:stretch>
            <a:fillRect/>
          </a:stretch>
        </p:blipFill>
        <p:spPr>
          <a:xfrm>
            <a:off x="2971800" y="3682767"/>
            <a:ext cx="2633925" cy="420095"/>
          </a:xfrm>
          <a:prstGeom prst="rect">
            <a:avLst/>
          </a:prstGeom>
        </p:spPr>
      </p:pic>
      <p:pic>
        <p:nvPicPr>
          <p:cNvPr id="10" name="Picture 9">
            <a:extLst>
              <a:ext uri="{FF2B5EF4-FFF2-40B4-BE49-F238E27FC236}">
                <a16:creationId xmlns:a16="http://schemas.microsoft.com/office/drawing/2014/main" id="{C284B5FA-580A-2186-1549-11BE2E888CE8}"/>
              </a:ext>
            </a:extLst>
          </p:cNvPr>
          <p:cNvPicPr>
            <a:picLocks noChangeAspect="1"/>
          </p:cNvPicPr>
          <p:nvPr/>
        </p:nvPicPr>
        <p:blipFill>
          <a:blip r:embed="rId4"/>
          <a:stretch>
            <a:fillRect/>
          </a:stretch>
        </p:blipFill>
        <p:spPr>
          <a:xfrm>
            <a:off x="2164556" y="4617209"/>
            <a:ext cx="1952833" cy="410468"/>
          </a:xfrm>
          <a:prstGeom prst="rect">
            <a:avLst/>
          </a:prstGeom>
        </p:spPr>
      </p:pic>
      <p:pic>
        <p:nvPicPr>
          <p:cNvPr id="12" name="Picture 11">
            <a:extLst>
              <a:ext uri="{FF2B5EF4-FFF2-40B4-BE49-F238E27FC236}">
                <a16:creationId xmlns:a16="http://schemas.microsoft.com/office/drawing/2014/main" id="{BC0DF03F-B460-427F-ABB3-261B0813E334}"/>
              </a:ext>
            </a:extLst>
          </p:cNvPr>
          <p:cNvPicPr>
            <a:picLocks noChangeAspect="1"/>
          </p:cNvPicPr>
          <p:nvPr/>
        </p:nvPicPr>
        <p:blipFill>
          <a:blip r:embed="rId5"/>
          <a:stretch>
            <a:fillRect/>
          </a:stretch>
        </p:blipFill>
        <p:spPr>
          <a:xfrm>
            <a:off x="1834274" y="5805066"/>
            <a:ext cx="2841151" cy="419380"/>
          </a:xfrm>
          <a:prstGeom prst="rect">
            <a:avLst/>
          </a:prstGeom>
        </p:spPr>
      </p:pic>
      <p:pic>
        <p:nvPicPr>
          <p:cNvPr id="14" name="Picture 13">
            <a:extLst>
              <a:ext uri="{FF2B5EF4-FFF2-40B4-BE49-F238E27FC236}">
                <a16:creationId xmlns:a16="http://schemas.microsoft.com/office/drawing/2014/main" id="{C3CFA5F0-B2F0-C4B2-BB5B-945546E7E707}"/>
              </a:ext>
            </a:extLst>
          </p:cNvPr>
          <p:cNvPicPr>
            <a:picLocks noChangeAspect="1"/>
          </p:cNvPicPr>
          <p:nvPr/>
        </p:nvPicPr>
        <p:blipFill>
          <a:blip r:embed="rId6"/>
          <a:stretch>
            <a:fillRect/>
          </a:stretch>
        </p:blipFill>
        <p:spPr>
          <a:xfrm>
            <a:off x="6172200" y="2686049"/>
            <a:ext cx="5256870" cy="1100275"/>
          </a:xfrm>
          <a:prstGeom prst="rect">
            <a:avLst/>
          </a:prstGeom>
        </p:spPr>
      </p:pic>
    </p:spTree>
    <p:extLst>
      <p:ext uri="{BB962C8B-B14F-4D97-AF65-F5344CB8AC3E}">
        <p14:creationId xmlns:p14="http://schemas.microsoft.com/office/powerpoint/2010/main" val="327438105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929D96-A392-F847-8894-8C3DBF03532C}"/>
              </a:ext>
            </a:extLst>
          </p:cNvPr>
          <p:cNvSpPr>
            <a:spLocks noGrp="1"/>
          </p:cNvSpPr>
          <p:nvPr>
            <p:ph type="title"/>
          </p:nvPr>
        </p:nvSpPr>
        <p:spPr/>
        <p:txBody>
          <a:bodyPr/>
          <a:lstStyle/>
          <a:p>
            <a:r>
              <a:rPr lang="en-GB" b="1" i="0" dirty="0">
                <a:effectLst/>
                <a:latin typeface="system-ui"/>
              </a:rPr>
              <a:t>Linear regression via direct optimisation</a:t>
            </a:r>
            <a:endParaRPr lang="en-GB" dirty="0"/>
          </a:p>
        </p:txBody>
      </p:sp>
      <p:sp>
        <p:nvSpPr>
          <p:cNvPr id="2" name="Content Placeholder 1">
            <a:extLst>
              <a:ext uri="{FF2B5EF4-FFF2-40B4-BE49-F238E27FC236}">
                <a16:creationId xmlns:a16="http://schemas.microsoft.com/office/drawing/2014/main" id="{CAE6DED5-00DB-EC4E-C094-39ACF0C218FF}"/>
              </a:ext>
            </a:extLst>
          </p:cNvPr>
          <p:cNvSpPr>
            <a:spLocks noGrp="1"/>
          </p:cNvSpPr>
          <p:nvPr>
            <p:ph sz="quarter" idx="13"/>
          </p:nvPr>
        </p:nvSpPr>
        <p:spPr/>
        <p:txBody>
          <a:bodyPr/>
          <a:lstStyle/>
          <a:p>
            <a:pPr marL="0" indent="0">
              <a:buNone/>
            </a:pPr>
            <a:r>
              <a:rPr lang="en-US" b="0" i="0" dirty="0">
                <a:effectLst/>
                <a:latin typeface="system-ui"/>
              </a:rPr>
              <a:t>We saw how this problem could be solved as a </a:t>
            </a:r>
            <a:r>
              <a:rPr lang="en-US" b="1" i="0" dirty="0">
                <a:solidFill>
                  <a:schemeClr val="accent5"/>
                </a:solidFill>
                <a:effectLst/>
                <a:latin typeface="system-ui"/>
              </a:rPr>
              <a:t>function approximation</a:t>
            </a:r>
            <a:r>
              <a:rPr lang="en-US" b="0" i="0" dirty="0">
                <a:effectLst/>
                <a:latin typeface="system-ui"/>
              </a:rPr>
              <a:t> problem using </a:t>
            </a:r>
            <a:r>
              <a:rPr lang="en-US" b="0" i="0" dirty="0" err="1">
                <a:effectLst/>
                <a:latin typeface="system-ui"/>
              </a:rPr>
              <a:t>optimisation</a:t>
            </a:r>
            <a:r>
              <a:rPr lang="en-US" b="0" i="0" dirty="0">
                <a:effectLst/>
                <a:latin typeface="system-ui"/>
              </a:rPr>
              <a:t>. We can write an objective function:</a:t>
            </a:r>
          </a:p>
          <a:p>
            <a:pPr marL="0" indent="0">
              <a:buNone/>
            </a:pPr>
            <a:endParaRPr lang="en-US" dirty="0">
              <a:latin typeface="system-ui"/>
            </a:endParaRPr>
          </a:p>
          <a:p>
            <a:pPr marL="0" indent="0">
              <a:buNone/>
            </a:pPr>
            <a:r>
              <a:rPr lang="en-US" dirty="0">
                <a:latin typeface="system-ui"/>
              </a:rPr>
              <a:t>where </a:t>
            </a:r>
          </a:p>
          <a:p>
            <a:pPr marL="0" indent="0">
              <a:buNone/>
            </a:pPr>
            <a:r>
              <a:rPr lang="en-US" b="0" i="0" dirty="0">
                <a:effectLst/>
                <a:latin typeface="system-ui"/>
              </a:rPr>
              <a:t>If we choose the squared Euclidean norm, then we have, for the simple </a:t>
            </a:r>
            <a:r>
              <a:rPr lang="en-US" dirty="0">
                <a:solidFill>
                  <a:schemeClr val="accent4"/>
                </a:solidFill>
              </a:rPr>
              <a:t>y=</a:t>
            </a:r>
            <a:r>
              <a:rPr lang="en-US" dirty="0" err="1">
                <a:solidFill>
                  <a:schemeClr val="accent4"/>
                </a:solidFill>
              </a:rPr>
              <a:t>mx+c</a:t>
            </a:r>
            <a:r>
              <a:rPr lang="en-US" b="0" i="0" dirty="0">
                <a:effectLst/>
                <a:latin typeface="system-ui"/>
              </a:rPr>
              <a:t> case :</a:t>
            </a:r>
          </a:p>
          <a:p>
            <a:pPr marL="0" indent="0">
              <a:buNone/>
            </a:pPr>
            <a:endParaRPr lang="en-US" dirty="0">
              <a:latin typeface="system-ui"/>
            </a:endParaRPr>
          </a:p>
          <a:p>
            <a:pPr marL="0" indent="0">
              <a:buNone/>
            </a:pPr>
            <a:endParaRPr lang="en-US" dirty="0">
              <a:latin typeface="system-ui"/>
            </a:endParaRPr>
          </a:p>
          <a:p>
            <a:pPr marL="0" indent="0">
              <a:buNone/>
            </a:pPr>
            <a:r>
              <a:rPr lang="en-US" b="0" i="0" dirty="0">
                <a:effectLst/>
                <a:latin typeface="system-ui"/>
              </a:rPr>
              <a:t>which we can easily </a:t>
            </a:r>
            <a:r>
              <a:rPr lang="en-US" b="0" i="0" dirty="0" err="1">
                <a:effectLst/>
                <a:latin typeface="system-ui"/>
              </a:rPr>
              <a:t>minimise</a:t>
            </a:r>
            <a:r>
              <a:rPr lang="en-US" b="0" i="0" dirty="0">
                <a:effectLst/>
                <a:latin typeface="system-ui"/>
              </a:rPr>
              <a:t>, e.g. by gradient descent, since computing </a:t>
            </a:r>
            <a:r>
              <a:rPr lang="en-US" dirty="0">
                <a:solidFill>
                  <a:schemeClr val="accent4"/>
                </a:solidFill>
              </a:rPr>
              <a:t>∇L(θ)</a:t>
            </a:r>
            <a:r>
              <a:rPr lang="en-US" b="0" i="0" dirty="0">
                <a:effectLst/>
                <a:latin typeface="system-ui"/>
              </a:rPr>
              <a:t> turns out to be easy. </a:t>
            </a:r>
          </a:p>
          <a:p>
            <a:pPr marL="0" indent="0" algn="ctr">
              <a:buNone/>
            </a:pPr>
            <a:r>
              <a:rPr lang="en-US" b="0" i="0" dirty="0">
                <a:solidFill>
                  <a:schemeClr val="accent4"/>
                </a:solidFill>
                <a:effectLst/>
                <a:latin typeface="system-ui"/>
              </a:rPr>
              <a:t>This is </a:t>
            </a:r>
            <a:r>
              <a:rPr lang="en-US" b="1" i="0" dirty="0">
                <a:solidFill>
                  <a:schemeClr val="accent4"/>
                </a:solidFill>
                <a:effectLst/>
                <a:latin typeface="system-ui"/>
              </a:rPr>
              <a:t>ordinary linear least-squares</a:t>
            </a:r>
            <a:r>
              <a:rPr lang="en-US" b="0" i="0" dirty="0">
                <a:solidFill>
                  <a:schemeClr val="accent4"/>
                </a:solidFill>
                <a:effectLst/>
                <a:latin typeface="system-ui"/>
              </a:rPr>
              <a:t>.</a:t>
            </a:r>
            <a:endParaRPr lang="en-US" dirty="0">
              <a:solidFill>
                <a:schemeClr val="accent4"/>
              </a:solidFill>
              <a:latin typeface="system-ui"/>
            </a:endParaRPr>
          </a:p>
        </p:txBody>
      </p:sp>
      <p:pic>
        <p:nvPicPr>
          <p:cNvPr id="6" name="Picture 5">
            <a:extLst>
              <a:ext uri="{FF2B5EF4-FFF2-40B4-BE49-F238E27FC236}">
                <a16:creationId xmlns:a16="http://schemas.microsoft.com/office/drawing/2014/main" id="{75FA8143-DC39-CA0F-960A-7371862F496F}"/>
              </a:ext>
            </a:extLst>
          </p:cNvPr>
          <p:cNvPicPr>
            <a:picLocks noChangeAspect="1"/>
          </p:cNvPicPr>
          <p:nvPr/>
        </p:nvPicPr>
        <p:blipFill>
          <a:blip r:embed="rId2"/>
          <a:stretch>
            <a:fillRect/>
          </a:stretch>
        </p:blipFill>
        <p:spPr>
          <a:xfrm>
            <a:off x="5050518" y="2294453"/>
            <a:ext cx="2243364" cy="529774"/>
          </a:xfrm>
          <a:prstGeom prst="rect">
            <a:avLst/>
          </a:prstGeom>
        </p:spPr>
      </p:pic>
      <p:pic>
        <p:nvPicPr>
          <p:cNvPr id="8" name="Picture 7">
            <a:extLst>
              <a:ext uri="{FF2B5EF4-FFF2-40B4-BE49-F238E27FC236}">
                <a16:creationId xmlns:a16="http://schemas.microsoft.com/office/drawing/2014/main" id="{B04CC63C-B294-7EC6-EFAF-EC7E4730F2B7}"/>
              </a:ext>
            </a:extLst>
          </p:cNvPr>
          <p:cNvPicPr>
            <a:picLocks noChangeAspect="1"/>
          </p:cNvPicPr>
          <p:nvPr/>
        </p:nvPicPr>
        <p:blipFill>
          <a:blip r:embed="rId3"/>
          <a:stretch>
            <a:fillRect/>
          </a:stretch>
        </p:blipFill>
        <p:spPr>
          <a:xfrm>
            <a:off x="1316732" y="2876937"/>
            <a:ext cx="3267531" cy="424355"/>
          </a:xfrm>
          <a:prstGeom prst="rect">
            <a:avLst/>
          </a:prstGeom>
        </p:spPr>
      </p:pic>
      <p:pic>
        <p:nvPicPr>
          <p:cNvPr id="10" name="Picture 9">
            <a:extLst>
              <a:ext uri="{FF2B5EF4-FFF2-40B4-BE49-F238E27FC236}">
                <a16:creationId xmlns:a16="http://schemas.microsoft.com/office/drawing/2014/main" id="{3C2475BB-E7F3-9AA3-E918-B7D11A7A1867}"/>
              </a:ext>
            </a:extLst>
          </p:cNvPr>
          <p:cNvPicPr>
            <a:picLocks noChangeAspect="1"/>
          </p:cNvPicPr>
          <p:nvPr/>
        </p:nvPicPr>
        <p:blipFill>
          <a:blip r:embed="rId4"/>
          <a:stretch>
            <a:fillRect/>
          </a:stretch>
        </p:blipFill>
        <p:spPr>
          <a:xfrm>
            <a:off x="4167749" y="3748342"/>
            <a:ext cx="3710451" cy="781427"/>
          </a:xfrm>
          <a:prstGeom prst="rect">
            <a:avLst/>
          </a:prstGeom>
        </p:spPr>
      </p:pic>
    </p:spTree>
    <p:extLst>
      <p:ext uri="{BB962C8B-B14F-4D97-AF65-F5344CB8AC3E}">
        <p14:creationId xmlns:p14="http://schemas.microsoft.com/office/powerpoint/2010/main" val="21416978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EB9B9-EBB1-A567-7DE1-B66856AE8648}"/>
              </a:ext>
            </a:extLst>
          </p:cNvPr>
          <p:cNvSpPr>
            <a:spLocks noGrp="1"/>
          </p:cNvSpPr>
          <p:nvPr>
            <p:ph type="title"/>
          </p:nvPr>
        </p:nvSpPr>
        <p:spPr/>
        <p:txBody>
          <a:bodyPr/>
          <a:lstStyle/>
          <a:p>
            <a:r>
              <a:rPr lang="en-GB" b="1" i="0" dirty="0">
                <a:effectLst/>
                <a:latin typeface="system-ui"/>
              </a:rPr>
              <a:t>Linear regression via direct optimisation</a:t>
            </a:r>
            <a:endParaRPr lang="en-GB" dirty="0"/>
          </a:p>
        </p:txBody>
      </p:sp>
      <p:pic>
        <p:nvPicPr>
          <p:cNvPr id="4" name="Content Placeholder 5" descr="A graph of a number of squares&#10;&#10;Description automatically generated">
            <a:extLst>
              <a:ext uri="{FF2B5EF4-FFF2-40B4-BE49-F238E27FC236}">
                <a16:creationId xmlns:a16="http://schemas.microsoft.com/office/drawing/2014/main" id="{557AE481-D897-82E8-C250-89CDFBE1679B}"/>
              </a:ext>
            </a:extLst>
          </p:cNvPr>
          <p:cNvPicPr>
            <a:picLocks noGrp="1" noChangeAspect="1"/>
          </p:cNvPicPr>
          <p:nvPr>
            <p:ph sz="quarter" idx="13"/>
          </p:nvPr>
        </p:nvPicPr>
        <p:blipFill>
          <a:blip r:embed="rId2"/>
          <a:stretch>
            <a:fillRect/>
          </a:stretch>
        </p:blipFill>
        <p:spPr>
          <a:xfrm>
            <a:off x="1677629" y="1627188"/>
            <a:ext cx="8690691" cy="4606925"/>
          </a:xfrm>
          <a:noFill/>
        </p:spPr>
      </p:pic>
    </p:spTree>
    <p:extLst>
      <p:ext uri="{BB962C8B-B14F-4D97-AF65-F5344CB8AC3E}">
        <p14:creationId xmlns:p14="http://schemas.microsoft.com/office/powerpoint/2010/main" val="38651923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CF1E9D5-9C07-1E09-7082-90120E0E2E9B}"/>
              </a:ext>
            </a:extLst>
          </p:cNvPr>
          <p:cNvSpPr txBox="1"/>
          <p:nvPr/>
        </p:nvSpPr>
        <p:spPr>
          <a:xfrm>
            <a:off x="838200" y="1608667"/>
            <a:ext cx="5181600" cy="4568296"/>
          </a:xfrm>
          <a:prstGeom prst="rect">
            <a:avLst/>
          </a:prstGeom>
        </p:spPr>
        <p:txBody>
          <a:bodyPr vert="horz" lIns="91440" tIns="45720" rIns="91440" bIns="45720" rtlCol="0">
            <a:normAutofit lnSpcReduction="10000"/>
          </a:bodyPr>
          <a:lstStyle/>
          <a:p>
            <a:pPr>
              <a:lnSpc>
                <a:spcPct val="90000"/>
              </a:lnSpc>
              <a:spcBef>
                <a:spcPts val="1000"/>
              </a:spcBef>
            </a:pPr>
            <a:r>
              <a:rPr lang="en-GB" sz="2000" b="0" i="1" dirty="0">
                <a:solidFill>
                  <a:schemeClr val="accent4"/>
                </a:solidFill>
                <a:effectLst/>
                <a:latin typeface="Arial" panose="020B0604020202020204" pitchFamily="34" charset="0"/>
                <a:cs typeface="Arial" panose="020B0604020202020204" pitchFamily="34" charset="0"/>
              </a:rPr>
              <a:t>Linear least squares tried to make the size of the squares nestled between the line and data points as small as possible</a:t>
            </a:r>
            <a:endParaRPr lang="en-GB" sz="2000" b="0" i="0" dirty="0">
              <a:solidFill>
                <a:schemeClr val="accent4"/>
              </a:solidFill>
              <a:effectLst/>
              <a:latin typeface="Arial" panose="020B0604020202020204" pitchFamily="34" charset="0"/>
              <a:cs typeface="Arial" panose="020B0604020202020204" pitchFamily="34" charset="0"/>
            </a:endParaRPr>
          </a:p>
          <a:p>
            <a:pPr marL="228600" indent="-228600">
              <a:lnSpc>
                <a:spcPct val="90000"/>
              </a:lnSpc>
              <a:spcBef>
                <a:spcPts val="1000"/>
              </a:spcBef>
              <a:buFont typeface="Arial" panose="020B0604020202020204" pitchFamily="34" charset="0"/>
              <a:buChar char="•"/>
            </a:pPr>
            <a:endParaRPr lang="en-GB" sz="2000" dirty="0">
              <a:solidFill>
                <a:schemeClr val="accent1">
                  <a:lumMod val="50000"/>
                </a:schemeClr>
              </a:solidFill>
              <a:latin typeface="Arial" panose="020B0604020202020204" pitchFamily="34" charset="0"/>
              <a:cs typeface="Arial" panose="020B0604020202020204" pitchFamily="34" charset="0"/>
            </a:endParaRPr>
          </a:p>
          <a:p>
            <a:pPr>
              <a:lnSpc>
                <a:spcPct val="90000"/>
              </a:lnSpc>
              <a:spcBef>
                <a:spcPts val="1000"/>
              </a:spcBef>
            </a:pPr>
            <a:r>
              <a:rPr lang="en-GB" sz="2000" b="0" i="0" dirty="0">
                <a:solidFill>
                  <a:schemeClr val="accent1">
                    <a:lumMod val="50000"/>
                  </a:schemeClr>
                </a:solidFill>
                <a:effectLst/>
                <a:latin typeface="Arial" panose="020B0604020202020204" pitchFamily="34" charset="0"/>
                <a:cs typeface="Arial" panose="020B0604020202020204" pitchFamily="34" charset="0"/>
              </a:rPr>
              <a:t>In fact, we can find a closed form solution to this problem, without doing any iterative optimisation. </a:t>
            </a:r>
            <a:br>
              <a:rPr lang="en-GB" sz="2000" b="0" i="0" dirty="0">
                <a:solidFill>
                  <a:schemeClr val="accent1">
                    <a:lumMod val="50000"/>
                  </a:schemeClr>
                </a:solidFill>
                <a:effectLst/>
                <a:latin typeface="Arial" panose="020B0604020202020204" pitchFamily="34" charset="0"/>
                <a:cs typeface="Arial" panose="020B0604020202020204" pitchFamily="34" charset="0"/>
              </a:rPr>
            </a:br>
            <a:endParaRPr lang="en-GB" sz="2000" b="0" i="0" dirty="0">
              <a:solidFill>
                <a:schemeClr val="accent1">
                  <a:lumMod val="50000"/>
                </a:schemeClr>
              </a:solidFill>
              <a:effectLst/>
              <a:latin typeface="Arial" panose="020B0604020202020204" pitchFamily="34" charset="0"/>
              <a:cs typeface="Arial" panose="020B0604020202020204" pitchFamily="34" charset="0"/>
            </a:endParaRPr>
          </a:p>
          <a:p>
            <a:pPr>
              <a:lnSpc>
                <a:spcPct val="90000"/>
              </a:lnSpc>
              <a:spcBef>
                <a:spcPts val="1000"/>
              </a:spcBef>
            </a:pPr>
            <a:r>
              <a:rPr lang="en-GB" sz="2000" b="0" i="0" dirty="0">
                <a:solidFill>
                  <a:schemeClr val="accent1">
                    <a:lumMod val="50000"/>
                  </a:schemeClr>
                </a:solidFill>
                <a:effectLst/>
                <a:latin typeface="Arial" panose="020B0604020202020204" pitchFamily="34" charset="0"/>
                <a:cs typeface="Arial" panose="020B0604020202020204" pitchFamily="34" charset="0"/>
              </a:rPr>
              <a:t>This is because we have an </a:t>
            </a:r>
            <a:r>
              <a:rPr lang="en-GB" sz="2000" b="1" i="0" dirty="0">
                <a:solidFill>
                  <a:schemeClr val="accent5"/>
                </a:solidFill>
                <a:effectLst/>
                <a:latin typeface="Arial" panose="020B0604020202020204" pitchFamily="34" charset="0"/>
                <a:cs typeface="Arial" panose="020B0604020202020204" pitchFamily="34" charset="0"/>
              </a:rPr>
              <a:t>estimator</a:t>
            </a:r>
            <a:r>
              <a:rPr lang="en-GB" sz="2000" dirty="0">
                <a:solidFill>
                  <a:schemeClr val="accent1">
                    <a:lumMod val="50000"/>
                  </a:schemeClr>
                </a:solidFill>
                <a:latin typeface="Arial" panose="020B0604020202020204" pitchFamily="34" charset="0"/>
                <a:cs typeface="Arial" panose="020B0604020202020204" pitchFamily="34" charset="0"/>
              </a:rPr>
              <a:t> </a:t>
            </a:r>
            <a:r>
              <a:rPr lang="en-GB" sz="2000" b="0" i="0" dirty="0">
                <a:solidFill>
                  <a:schemeClr val="accent1">
                    <a:lumMod val="50000"/>
                  </a:schemeClr>
                </a:solidFill>
                <a:effectLst/>
                <a:latin typeface="Arial" panose="020B0604020202020204" pitchFamily="34" charset="0"/>
                <a:cs typeface="Arial" panose="020B0604020202020204" pitchFamily="34" charset="0"/>
              </a:rPr>
              <a:t>that gives us an estimate of the parameters of the line fit directly from observations. </a:t>
            </a:r>
            <a:br>
              <a:rPr lang="en-GB" sz="2000" b="0" i="0" dirty="0">
                <a:solidFill>
                  <a:schemeClr val="accent1">
                    <a:lumMod val="50000"/>
                  </a:schemeClr>
                </a:solidFill>
                <a:effectLst/>
                <a:latin typeface="Arial" panose="020B0604020202020204" pitchFamily="34" charset="0"/>
                <a:cs typeface="Arial" panose="020B0604020202020204" pitchFamily="34" charset="0"/>
              </a:rPr>
            </a:br>
            <a:endParaRPr lang="en-GB" sz="2000" b="0" i="0" dirty="0">
              <a:solidFill>
                <a:schemeClr val="accent1">
                  <a:lumMod val="50000"/>
                </a:schemeClr>
              </a:solidFill>
              <a:effectLst/>
              <a:latin typeface="Arial" panose="020B0604020202020204" pitchFamily="34" charset="0"/>
              <a:cs typeface="Arial" panose="020B0604020202020204" pitchFamily="34" charset="0"/>
            </a:endParaRPr>
          </a:p>
          <a:p>
            <a:pPr>
              <a:lnSpc>
                <a:spcPct val="90000"/>
              </a:lnSpc>
              <a:spcBef>
                <a:spcPts val="1000"/>
              </a:spcBef>
            </a:pPr>
            <a:r>
              <a:rPr lang="en-GB" sz="2000" b="0" i="0" dirty="0">
                <a:solidFill>
                  <a:schemeClr val="accent1">
                    <a:lumMod val="50000"/>
                  </a:schemeClr>
                </a:solidFill>
                <a:effectLst/>
                <a:latin typeface="Arial" panose="020B0604020202020204" pitchFamily="34" charset="0"/>
                <a:cs typeface="Arial" panose="020B0604020202020204" pitchFamily="34" charset="0"/>
              </a:rPr>
              <a:t>We can derive this, for example, by setting </a:t>
            </a:r>
            <a:r>
              <a:rPr lang="en-GB" sz="2000" dirty="0">
                <a:solidFill>
                  <a:schemeClr val="accent4"/>
                </a:solidFill>
                <a:latin typeface="Arial" panose="020B0604020202020204" pitchFamily="34" charset="0"/>
                <a:cs typeface="Arial" panose="020B0604020202020204" pitchFamily="34" charset="0"/>
              </a:rPr>
              <a:t>∇L(θ)=0</a:t>
            </a:r>
            <a:r>
              <a:rPr lang="en-GB" sz="2000" b="0" i="0" dirty="0">
                <a:solidFill>
                  <a:schemeClr val="accent1">
                    <a:lumMod val="50000"/>
                  </a:schemeClr>
                </a:solidFill>
                <a:effectLst/>
                <a:latin typeface="Arial" panose="020B0604020202020204" pitchFamily="34" charset="0"/>
                <a:cs typeface="Arial" panose="020B0604020202020204" pitchFamily="34" charset="0"/>
              </a:rPr>
              <a:t> and solving directly (high-school optimisation).</a:t>
            </a:r>
            <a:endParaRPr lang="en-GB" sz="2000" dirty="0">
              <a:solidFill>
                <a:schemeClr val="accent1">
                  <a:lumMod val="50000"/>
                </a:schemeClr>
              </a:solidFill>
              <a:latin typeface="Arial" panose="020B0604020202020204" pitchFamily="34" charset="0"/>
              <a:cs typeface="Arial" panose="020B0604020202020204" pitchFamily="34" charset="0"/>
            </a:endParaRPr>
          </a:p>
        </p:txBody>
      </p:sp>
      <p:pic>
        <p:nvPicPr>
          <p:cNvPr id="4" name="Content Placeholder 5" descr="A graph of a number of squares&#10;&#10;Description automatically generated">
            <a:extLst>
              <a:ext uri="{FF2B5EF4-FFF2-40B4-BE49-F238E27FC236}">
                <a16:creationId xmlns:a16="http://schemas.microsoft.com/office/drawing/2014/main" id="{90209BED-9B90-D715-35EF-102271657DA9}"/>
              </a:ext>
            </a:extLst>
          </p:cNvPr>
          <p:cNvPicPr>
            <a:picLocks noGrp="1" noChangeAspect="1"/>
          </p:cNvPicPr>
          <p:nvPr>
            <p:ph sz="half" idx="2"/>
          </p:nvPr>
        </p:nvPicPr>
        <p:blipFill>
          <a:blip r:embed="rId3"/>
          <a:stretch>
            <a:fillRect/>
          </a:stretch>
        </p:blipFill>
        <p:spPr>
          <a:xfrm>
            <a:off x="6172200" y="2519691"/>
            <a:ext cx="5181600" cy="2746248"/>
          </a:xfrm>
          <a:noFill/>
        </p:spPr>
      </p:pic>
      <p:sp>
        <p:nvSpPr>
          <p:cNvPr id="13" name="Title 3">
            <a:extLst>
              <a:ext uri="{FF2B5EF4-FFF2-40B4-BE49-F238E27FC236}">
                <a16:creationId xmlns:a16="http://schemas.microsoft.com/office/drawing/2014/main" id="{456B68DC-6C8D-68D1-BFEE-B06152318CA0}"/>
              </a:ext>
            </a:extLst>
          </p:cNvPr>
          <p:cNvSpPr>
            <a:spLocks noGrp="1"/>
          </p:cNvSpPr>
          <p:nvPr>
            <p:ph type="title"/>
          </p:nvPr>
        </p:nvSpPr>
        <p:spPr>
          <a:xfrm>
            <a:off x="2549236" y="533614"/>
            <a:ext cx="9210963" cy="888786"/>
          </a:xfrm>
        </p:spPr>
        <p:txBody>
          <a:bodyPr/>
          <a:lstStyle/>
          <a:p>
            <a:r>
              <a:rPr lang="en-GB" b="1" i="0" dirty="0">
                <a:effectLst/>
                <a:latin typeface="system-ui"/>
              </a:rPr>
              <a:t>Linear regression via direct optimisation</a:t>
            </a:r>
            <a:endParaRPr lang="en-US" dirty="0"/>
          </a:p>
        </p:txBody>
      </p:sp>
    </p:spTree>
    <p:extLst>
      <p:ext uri="{BB962C8B-B14F-4D97-AF65-F5344CB8AC3E}">
        <p14:creationId xmlns:p14="http://schemas.microsoft.com/office/powerpoint/2010/main" val="336461988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71D4695-0AB4-6D32-B009-DEC6CF98357D}"/>
              </a:ext>
            </a:extLst>
          </p:cNvPr>
          <p:cNvSpPr>
            <a:spLocks noGrp="1"/>
          </p:cNvSpPr>
          <p:nvPr>
            <p:ph sz="half" idx="1"/>
          </p:nvPr>
        </p:nvSpPr>
        <p:spPr>
          <a:xfrm>
            <a:off x="838200" y="1608667"/>
            <a:ext cx="5181600" cy="4568296"/>
          </a:xfrm>
        </p:spPr>
        <p:txBody>
          <a:bodyPr>
            <a:normAutofit/>
          </a:bodyPr>
          <a:lstStyle/>
          <a:p>
            <a:pPr marL="0" indent="0">
              <a:buNone/>
            </a:pPr>
            <a:r>
              <a:rPr lang="en-US" sz="2000" b="0" i="0" dirty="0">
                <a:effectLst/>
              </a:rPr>
              <a:t>We could also consider this to be a problem of inference. We could explicitly assume that we are observing samples from a distribution whose parameters we wish to estimate. This is a </a:t>
            </a:r>
            <a:r>
              <a:rPr lang="en-US" sz="2000" b="1" i="0" dirty="0">
                <a:solidFill>
                  <a:schemeClr val="accent5"/>
                </a:solidFill>
                <a:effectLst/>
              </a:rPr>
              <a:t>maximum likelihood approach</a:t>
            </a:r>
            <a:r>
              <a:rPr lang="en-US" sz="2000" b="0" i="0" dirty="0">
                <a:solidFill>
                  <a:schemeClr val="accent5"/>
                </a:solidFill>
                <a:effectLst/>
              </a:rPr>
              <a:t>.</a:t>
            </a:r>
            <a:r>
              <a:rPr lang="en-US" sz="2000" b="0" i="0" dirty="0">
                <a:effectLst/>
              </a:rPr>
              <a:t> This requires that we can write down the problem in terms of the distribution of random variables.</a:t>
            </a:r>
          </a:p>
          <a:p>
            <a:pPr marL="0" indent="0">
              <a:buNone/>
            </a:pPr>
            <a:r>
              <a:rPr lang="en-US" sz="2000" b="0" i="0" dirty="0">
                <a:effectLst/>
              </a:rPr>
              <a:t>If we assume that "errors" are normally distributed values which are corrupting a perfect </a:t>
            </a:r>
            <a:r>
              <a:rPr lang="en-US" sz="2000" dirty="0">
                <a:solidFill>
                  <a:schemeClr val="accent4"/>
                </a:solidFill>
              </a:rPr>
              <a:t>y=</a:t>
            </a:r>
            <a:r>
              <a:rPr lang="en-US" sz="2000" dirty="0" err="1">
                <a:solidFill>
                  <a:schemeClr val="accent4"/>
                </a:solidFill>
              </a:rPr>
              <a:t>mx+c</a:t>
            </a:r>
            <a:r>
              <a:rPr lang="en-US" sz="2000" b="0" i="0" dirty="0">
                <a:solidFill>
                  <a:schemeClr val="accent4"/>
                </a:solidFill>
                <a:effectLst/>
              </a:rPr>
              <a:t> </a:t>
            </a:r>
            <a:r>
              <a:rPr lang="en-US" sz="2000" b="0" i="0" dirty="0">
                <a:effectLst/>
              </a:rPr>
              <a:t>relationship, we might have a model </a:t>
            </a:r>
            <a:r>
              <a:rPr lang="en-US" sz="2000" dirty="0">
                <a:solidFill>
                  <a:schemeClr val="accent4"/>
                </a:solidFill>
              </a:rPr>
              <a:t>Y∼N(mx+c,σ2)</a:t>
            </a:r>
            <a:r>
              <a:rPr lang="en-US" sz="2000" b="0" i="0" dirty="0">
                <a:effectLst/>
              </a:rPr>
              <a:t>; </a:t>
            </a:r>
            <a:r>
              <a:rPr lang="en-US" sz="2000" dirty="0">
                <a:solidFill>
                  <a:schemeClr val="accent4"/>
                </a:solidFill>
              </a:rPr>
              <a:t>Y</a:t>
            </a:r>
            <a:r>
              <a:rPr lang="en-US" sz="2000" b="0" i="0" dirty="0">
                <a:effectLst/>
              </a:rPr>
              <a:t> has mean </a:t>
            </a:r>
            <a:r>
              <a:rPr lang="en-US" sz="2000" dirty="0" err="1">
                <a:solidFill>
                  <a:schemeClr val="accent4"/>
                </a:solidFill>
              </a:rPr>
              <a:t>mx+c</a:t>
            </a:r>
            <a:r>
              <a:rPr lang="en-US" sz="2000" b="0" i="0" dirty="0">
                <a:effectLst/>
              </a:rPr>
              <a:t> and some standard deviation </a:t>
            </a:r>
            <a:r>
              <a:rPr lang="en-US" sz="2000" dirty="0">
                <a:solidFill>
                  <a:schemeClr val="accent4"/>
                </a:solidFill>
              </a:rPr>
              <a:t>σ</a:t>
            </a:r>
            <a:r>
              <a:rPr lang="en-US" sz="2000" b="0" i="0" dirty="0">
                <a:effectLst/>
              </a:rPr>
              <a:t>.</a:t>
            </a:r>
            <a:endParaRPr lang="en-GB" sz="2000" dirty="0"/>
          </a:p>
        </p:txBody>
      </p:sp>
      <p:pic>
        <p:nvPicPr>
          <p:cNvPr id="6" name="Picture 5" descr="A graph of a graph showing the maximum likelihood of a number of individuals&#10;&#10;Description automatically generated with medium confidence">
            <a:extLst>
              <a:ext uri="{FF2B5EF4-FFF2-40B4-BE49-F238E27FC236}">
                <a16:creationId xmlns:a16="http://schemas.microsoft.com/office/drawing/2014/main" id="{C847BF9C-C5B1-61D2-4649-EED6ACDA7AF3}"/>
              </a:ext>
            </a:extLst>
          </p:cNvPr>
          <p:cNvPicPr>
            <a:picLocks noChangeAspect="1"/>
          </p:cNvPicPr>
          <p:nvPr/>
        </p:nvPicPr>
        <p:blipFill>
          <a:blip r:embed="rId2"/>
          <a:stretch>
            <a:fillRect/>
          </a:stretch>
        </p:blipFill>
        <p:spPr>
          <a:xfrm>
            <a:off x="6172200" y="2565030"/>
            <a:ext cx="5181600" cy="2655570"/>
          </a:xfrm>
          <a:prstGeom prst="rect">
            <a:avLst/>
          </a:prstGeom>
          <a:noFill/>
        </p:spPr>
      </p:pic>
      <p:sp>
        <p:nvSpPr>
          <p:cNvPr id="4" name="Title 3">
            <a:extLst>
              <a:ext uri="{FF2B5EF4-FFF2-40B4-BE49-F238E27FC236}">
                <a16:creationId xmlns:a16="http://schemas.microsoft.com/office/drawing/2014/main" id="{EF8B1EA3-5280-3537-C263-09F281297250}"/>
              </a:ext>
            </a:extLst>
          </p:cNvPr>
          <p:cNvSpPr>
            <a:spLocks noGrp="1"/>
          </p:cNvSpPr>
          <p:nvPr>
            <p:ph type="title"/>
          </p:nvPr>
        </p:nvSpPr>
        <p:spPr>
          <a:xfrm>
            <a:off x="2549236" y="533614"/>
            <a:ext cx="9210963" cy="888786"/>
          </a:xfrm>
        </p:spPr>
        <p:txBody>
          <a:bodyPr anchor="t">
            <a:normAutofit/>
          </a:bodyPr>
          <a:lstStyle/>
          <a:p>
            <a:r>
              <a:rPr lang="en-GB" dirty="0"/>
              <a:t>Linear regression via maximum likelihood estimation</a:t>
            </a:r>
          </a:p>
        </p:txBody>
      </p:sp>
      <p:sp>
        <p:nvSpPr>
          <p:cNvPr id="8" name="TextBox 7">
            <a:extLst>
              <a:ext uri="{FF2B5EF4-FFF2-40B4-BE49-F238E27FC236}">
                <a16:creationId xmlns:a16="http://schemas.microsoft.com/office/drawing/2014/main" id="{B3D31C15-33E1-E0D2-59C1-2B81B8ECC058}"/>
              </a:ext>
            </a:extLst>
          </p:cNvPr>
          <p:cNvSpPr txBox="1"/>
          <p:nvPr/>
        </p:nvSpPr>
        <p:spPr>
          <a:xfrm>
            <a:off x="6019800" y="5120373"/>
            <a:ext cx="6097190" cy="646331"/>
          </a:xfrm>
          <a:prstGeom prst="rect">
            <a:avLst/>
          </a:prstGeom>
          <a:noFill/>
        </p:spPr>
        <p:txBody>
          <a:bodyPr wrap="square">
            <a:spAutoFit/>
          </a:bodyPr>
          <a:lstStyle/>
          <a:p>
            <a:pPr algn="ctr"/>
            <a:r>
              <a:rPr lang="en-US" b="0" i="1" dirty="0">
                <a:solidFill>
                  <a:schemeClr val="accent1"/>
                </a:solidFill>
                <a:effectLst/>
                <a:latin typeface="system-ui"/>
              </a:rPr>
              <a:t>Maximum likelihood estimation tried to find parameters of a line that made the observations likely</a:t>
            </a:r>
            <a:endParaRPr lang="en-GB" dirty="0">
              <a:solidFill>
                <a:schemeClr val="accent1"/>
              </a:solidFill>
            </a:endParaRPr>
          </a:p>
        </p:txBody>
      </p:sp>
    </p:spTree>
    <p:extLst>
      <p:ext uri="{BB962C8B-B14F-4D97-AF65-F5344CB8AC3E}">
        <p14:creationId xmlns:p14="http://schemas.microsoft.com/office/powerpoint/2010/main" val="312998264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51103A-133A-7164-EB2B-14CC11AF38E3}"/>
              </a:ext>
            </a:extLst>
          </p:cNvPr>
          <p:cNvSpPr>
            <a:spLocks noGrp="1"/>
          </p:cNvSpPr>
          <p:nvPr>
            <p:ph type="title"/>
          </p:nvPr>
        </p:nvSpPr>
        <p:spPr/>
        <p:txBody>
          <a:bodyPr/>
          <a:lstStyle/>
          <a:p>
            <a:r>
              <a:rPr lang="en-GB" dirty="0"/>
              <a:t>Linear regression via maximum likelihood estimation</a:t>
            </a:r>
          </a:p>
        </p:txBody>
      </p:sp>
      <p:sp>
        <p:nvSpPr>
          <p:cNvPr id="3" name="Content Placeholder 2">
            <a:extLst>
              <a:ext uri="{FF2B5EF4-FFF2-40B4-BE49-F238E27FC236}">
                <a16:creationId xmlns:a16="http://schemas.microsoft.com/office/drawing/2014/main" id="{3EE55EA8-E346-3EBF-D526-ECF792F5FD9B}"/>
              </a:ext>
            </a:extLst>
          </p:cNvPr>
          <p:cNvSpPr>
            <a:spLocks noGrp="1"/>
          </p:cNvSpPr>
          <p:nvPr>
            <p:ph sz="quarter" idx="13"/>
          </p:nvPr>
        </p:nvSpPr>
        <p:spPr/>
        <p:txBody>
          <a:bodyPr/>
          <a:lstStyle/>
          <a:p>
            <a:pPr marL="0" indent="0">
              <a:buNone/>
            </a:pPr>
            <a:r>
              <a:rPr lang="en-US" b="0" i="0" dirty="0">
                <a:effectLst/>
                <a:latin typeface="system-ui"/>
              </a:rPr>
              <a:t>We can write this as a maximum likelihood problem (MLE), where we </a:t>
            </a:r>
            <a:r>
              <a:rPr lang="en-US" b="0" i="0" dirty="0" err="1">
                <a:effectLst/>
                <a:latin typeface="system-ui"/>
              </a:rPr>
              <a:t>maximise</a:t>
            </a:r>
            <a:r>
              <a:rPr lang="en-US" dirty="0">
                <a:latin typeface="system-ui"/>
              </a:rPr>
              <a:t> </a:t>
            </a:r>
          </a:p>
          <a:p>
            <a:pPr marL="0" indent="0">
              <a:buNone/>
            </a:pPr>
            <a:endParaRPr lang="en-US" dirty="0">
              <a:latin typeface="system-ui"/>
            </a:endParaRPr>
          </a:p>
          <a:p>
            <a:pPr marL="0" indent="0">
              <a:buNone/>
            </a:pPr>
            <a:r>
              <a:rPr lang="en-US" dirty="0">
                <a:latin typeface="system-ui"/>
              </a:rPr>
              <a:t>T</a:t>
            </a:r>
            <a:r>
              <a:rPr lang="en-US" b="0" i="0" dirty="0">
                <a:effectLst/>
                <a:latin typeface="system-ui"/>
              </a:rPr>
              <a:t>o avoid underflow, we work with the log of the likelihood and </a:t>
            </a:r>
            <a:r>
              <a:rPr lang="en-US" b="0" i="0" dirty="0" err="1">
                <a:effectLst/>
                <a:latin typeface="system-ui"/>
              </a:rPr>
              <a:t>minimise</a:t>
            </a:r>
            <a:r>
              <a:rPr lang="en-US" b="0" i="0" dirty="0">
                <a:effectLst/>
                <a:latin typeface="system-ui"/>
              </a:rPr>
              <a:t> the negative log-likelihood. </a:t>
            </a:r>
          </a:p>
          <a:p>
            <a:pPr marL="0" indent="0">
              <a:buNone/>
            </a:pPr>
            <a:r>
              <a:rPr lang="en-US" b="0" i="0" dirty="0">
                <a:effectLst/>
                <a:latin typeface="system-ui"/>
              </a:rPr>
              <a:t>The log-likelihood of independent samples </a:t>
            </a:r>
            <a:r>
              <a:rPr lang="en-US" dirty="0"/>
              <a:t>xi</a:t>
            </a:r>
            <a:r>
              <a:rPr lang="en-US" b="0" i="0" dirty="0">
                <a:effectLst/>
                <a:latin typeface="system-ui"/>
              </a:rPr>
              <a:t> is given by:</a:t>
            </a:r>
            <a:endParaRPr lang="en-GB" dirty="0"/>
          </a:p>
        </p:txBody>
      </p:sp>
      <p:pic>
        <p:nvPicPr>
          <p:cNvPr id="5" name="Picture 4">
            <a:extLst>
              <a:ext uri="{FF2B5EF4-FFF2-40B4-BE49-F238E27FC236}">
                <a16:creationId xmlns:a16="http://schemas.microsoft.com/office/drawing/2014/main" id="{3176D51C-D75E-9545-593B-7996AE3BAA31}"/>
              </a:ext>
            </a:extLst>
          </p:cNvPr>
          <p:cNvPicPr>
            <a:picLocks noChangeAspect="1"/>
          </p:cNvPicPr>
          <p:nvPr/>
        </p:nvPicPr>
        <p:blipFill>
          <a:blip r:embed="rId2"/>
          <a:stretch>
            <a:fillRect/>
          </a:stretch>
        </p:blipFill>
        <p:spPr>
          <a:xfrm>
            <a:off x="4062158" y="2012123"/>
            <a:ext cx="3639058" cy="476316"/>
          </a:xfrm>
          <a:prstGeom prst="rect">
            <a:avLst/>
          </a:prstGeom>
        </p:spPr>
      </p:pic>
      <p:pic>
        <p:nvPicPr>
          <p:cNvPr id="7" name="Picture 6">
            <a:extLst>
              <a:ext uri="{FF2B5EF4-FFF2-40B4-BE49-F238E27FC236}">
                <a16:creationId xmlns:a16="http://schemas.microsoft.com/office/drawing/2014/main" id="{B58C2363-1BCE-B7CB-7643-459BE245072B}"/>
              </a:ext>
            </a:extLst>
          </p:cNvPr>
          <p:cNvPicPr>
            <a:picLocks noChangeAspect="1"/>
          </p:cNvPicPr>
          <p:nvPr/>
        </p:nvPicPr>
        <p:blipFill>
          <a:blip r:embed="rId3"/>
          <a:stretch>
            <a:fillRect/>
          </a:stretch>
        </p:blipFill>
        <p:spPr>
          <a:xfrm>
            <a:off x="1702784" y="3930650"/>
            <a:ext cx="8640381" cy="1886213"/>
          </a:xfrm>
          <a:prstGeom prst="rect">
            <a:avLst/>
          </a:prstGeom>
        </p:spPr>
      </p:pic>
    </p:spTree>
    <p:extLst>
      <p:ext uri="{BB962C8B-B14F-4D97-AF65-F5344CB8AC3E}">
        <p14:creationId xmlns:p14="http://schemas.microsoft.com/office/powerpoint/2010/main" val="220136697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B2E43-1C94-8DFB-47D5-CF105BA4CBC7}"/>
              </a:ext>
            </a:extLst>
          </p:cNvPr>
          <p:cNvSpPr>
            <a:spLocks noGrp="1"/>
          </p:cNvSpPr>
          <p:nvPr>
            <p:ph type="title"/>
          </p:nvPr>
        </p:nvSpPr>
        <p:spPr/>
        <p:txBody>
          <a:bodyPr/>
          <a:lstStyle/>
          <a:p>
            <a:r>
              <a:rPr lang="en-GB" dirty="0"/>
              <a:t>Linear regression via maximum likelihood estimation</a:t>
            </a:r>
          </a:p>
        </p:txBody>
      </p:sp>
      <p:sp>
        <p:nvSpPr>
          <p:cNvPr id="3" name="Content Placeholder 2">
            <a:extLst>
              <a:ext uri="{FF2B5EF4-FFF2-40B4-BE49-F238E27FC236}">
                <a16:creationId xmlns:a16="http://schemas.microsoft.com/office/drawing/2014/main" id="{33FF3050-354C-7BAC-743A-D4FD4973D5D6}"/>
              </a:ext>
            </a:extLst>
          </p:cNvPr>
          <p:cNvSpPr>
            <a:spLocks noGrp="1"/>
          </p:cNvSpPr>
          <p:nvPr>
            <p:ph sz="quarter" idx="13"/>
          </p:nvPr>
        </p:nvSpPr>
        <p:spPr/>
        <p:txBody>
          <a:bodyPr/>
          <a:lstStyle/>
          <a:p>
            <a:pPr marL="0" indent="0">
              <a:buNone/>
            </a:pPr>
            <a:r>
              <a:rPr lang="en-US" b="0" i="0" dirty="0">
                <a:effectLst/>
                <a:latin typeface="system-ui"/>
              </a:rPr>
              <a:t>We can then </a:t>
            </a:r>
            <a:r>
              <a:rPr lang="en-US" b="0" i="0" dirty="0" err="1">
                <a:effectLst/>
                <a:latin typeface="system-ui"/>
              </a:rPr>
              <a:t>minimise</a:t>
            </a:r>
            <a:r>
              <a:rPr lang="en-US" b="0" i="0" dirty="0">
                <a:effectLst/>
                <a:latin typeface="system-ui"/>
              </a:rPr>
              <a:t> the negative log-likelihood to find the "most likely" setting for </a:t>
            </a:r>
            <a:r>
              <a:rPr lang="en-US" dirty="0">
                <a:solidFill>
                  <a:schemeClr val="accent4"/>
                </a:solidFill>
              </a:rPr>
              <a:t>θ=[</a:t>
            </a:r>
            <a:r>
              <a:rPr lang="en-US" dirty="0" err="1">
                <a:solidFill>
                  <a:schemeClr val="accent4"/>
                </a:solidFill>
              </a:rPr>
              <a:t>m,c,σ</a:t>
            </a:r>
            <a:r>
              <a:rPr lang="en-US" dirty="0">
                <a:solidFill>
                  <a:schemeClr val="accent4"/>
                </a:solidFill>
              </a:rPr>
              <a:t>]</a:t>
            </a:r>
            <a:r>
              <a:rPr lang="en-US" b="0" i="0" dirty="0">
                <a:effectLst/>
                <a:latin typeface="system-ui"/>
              </a:rPr>
              <a:t>, which (if we feel like writing out long equations in LaTeX), we could write as an objective function:</a:t>
            </a: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r>
              <a:rPr lang="en-US" b="0" i="0" dirty="0">
                <a:effectLst/>
                <a:latin typeface="system-ui"/>
              </a:rPr>
              <a:t>In the case where we have normally distributed noise for linear regression, this turns out to be </a:t>
            </a:r>
            <a:r>
              <a:rPr lang="en-US" b="0" i="1" dirty="0">
                <a:effectLst/>
                <a:latin typeface="system-ui"/>
              </a:rPr>
              <a:t>exactly</a:t>
            </a:r>
            <a:r>
              <a:rPr lang="en-US" b="0" i="0" dirty="0">
                <a:effectLst/>
                <a:latin typeface="system-ui"/>
              </a:rPr>
              <a:t> equivalent to the direct </a:t>
            </a:r>
            <a:r>
              <a:rPr lang="en-US" b="0" i="0" dirty="0" err="1">
                <a:effectLst/>
                <a:latin typeface="system-ui"/>
              </a:rPr>
              <a:t>optimisation</a:t>
            </a:r>
            <a:r>
              <a:rPr lang="en-US" b="0" i="0" dirty="0">
                <a:effectLst/>
                <a:latin typeface="system-ui"/>
              </a:rPr>
              <a:t> with linear least-squares, although we will also find the standard deviation of the error </a:t>
            </a:r>
            <a:r>
              <a:rPr lang="en-US" dirty="0"/>
              <a:t>σ</a:t>
            </a:r>
            <a:r>
              <a:rPr lang="en-US" b="0" i="0" dirty="0">
                <a:effectLst/>
                <a:latin typeface="system-ui"/>
              </a:rPr>
              <a:t> in addition to </a:t>
            </a:r>
            <a:r>
              <a:rPr lang="en-US" dirty="0"/>
              <a:t>m</a:t>
            </a:r>
            <a:r>
              <a:rPr lang="en-US" b="0" i="0" dirty="0">
                <a:effectLst/>
                <a:latin typeface="system-ui"/>
              </a:rPr>
              <a:t> and </a:t>
            </a:r>
            <a:r>
              <a:rPr lang="en-US" dirty="0"/>
              <a:t>c</a:t>
            </a:r>
            <a:r>
              <a:rPr lang="en-US" b="0" i="0" dirty="0">
                <a:effectLst/>
                <a:latin typeface="system-ui"/>
              </a:rPr>
              <a:t>. This is </a:t>
            </a:r>
            <a:r>
              <a:rPr lang="en-US" b="1" i="0" dirty="0">
                <a:solidFill>
                  <a:schemeClr val="accent5"/>
                </a:solidFill>
                <a:effectLst/>
                <a:latin typeface="system-ui"/>
              </a:rPr>
              <a:t>maximum likelihood linear regression</a:t>
            </a:r>
            <a:r>
              <a:rPr lang="en-US" b="0" i="0" dirty="0">
                <a:effectLst/>
                <a:latin typeface="system-ui"/>
              </a:rPr>
              <a:t>.</a:t>
            </a:r>
            <a:endParaRPr lang="en-GB" dirty="0"/>
          </a:p>
        </p:txBody>
      </p:sp>
      <p:pic>
        <p:nvPicPr>
          <p:cNvPr id="5" name="Picture 4">
            <a:extLst>
              <a:ext uri="{FF2B5EF4-FFF2-40B4-BE49-F238E27FC236}">
                <a16:creationId xmlns:a16="http://schemas.microsoft.com/office/drawing/2014/main" id="{CAA6D7F9-C6F0-D0CE-CA3C-84C60D5AB0C3}"/>
              </a:ext>
            </a:extLst>
          </p:cNvPr>
          <p:cNvPicPr>
            <a:picLocks noChangeAspect="1"/>
          </p:cNvPicPr>
          <p:nvPr/>
        </p:nvPicPr>
        <p:blipFill>
          <a:blip r:embed="rId2"/>
          <a:stretch>
            <a:fillRect/>
          </a:stretch>
        </p:blipFill>
        <p:spPr>
          <a:xfrm>
            <a:off x="3154817" y="2625543"/>
            <a:ext cx="4867954" cy="1305107"/>
          </a:xfrm>
          <a:prstGeom prst="rect">
            <a:avLst/>
          </a:prstGeom>
        </p:spPr>
      </p:pic>
    </p:spTree>
    <p:extLst>
      <p:ext uri="{BB962C8B-B14F-4D97-AF65-F5344CB8AC3E}">
        <p14:creationId xmlns:p14="http://schemas.microsoft.com/office/powerpoint/2010/main" val="400600569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48368-0452-AA8E-9861-184E97A5C2B7}"/>
              </a:ext>
            </a:extLst>
          </p:cNvPr>
          <p:cNvSpPr>
            <a:spLocks noGrp="1"/>
          </p:cNvSpPr>
          <p:nvPr>
            <p:ph type="title"/>
          </p:nvPr>
        </p:nvSpPr>
        <p:spPr/>
        <p:txBody>
          <a:bodyPr/>
          <a:lstStyle/>
          <a:p>
            <a:endParaRPr lang="en-GB"/>
          </a:p>
        </p:txBody>
      </p:sp>
      <p:pic>
        <p:nvPicPr>
          <p:cNvPr id="4" name="Content Placeholder 3" descr="A graph of a graph showing the maximum likelihood of a number of individuals&#10;&#10;Description automatically generated with medium confidence">
            <a:extLst>
              <a:ext uri="{FF2B5EF4-FFF2-40B4-BE49-F238E27FC236}">
                <a16:creationId xmlns:a16="http://schemas.microsoft.com/office/drawing/2014/main" id="{15D0D47B-D52B-6164-FCDB-0F4AF0E96ABC}"/>
              </a:ext>
            </a:extLst>
          </p:cNvPr>
          <p:cNvPicPr>
            <a:picLocks noGrp="1" noChangeAspect="1"/>
          </p:cNvPicPr>
          <p:nvPr>
            <p:ph sz="quarter" idx="13"/>
          </p:nvPr>
        </p:nvPicPr>
        <p:blipFill>
          <a:blip r:embed="rId3"/>
          <a:stretch>
            <a:fillRect/>
          </a:stretch>
        </p:blipFill>
        <p:spPr>
          <a:xfrm>
            <a:off x="1518089" y="1627188"/>
            <a:ext cx="9009772" cy="4606925"/>
          </a:xfrm>
          <a:prstGeom prst="rect">
            <a:avLst/>
          </a:prstGeom>
          <a:noFill/>
        </p:spPr>
      </p:pic>
    </p:spTree>
    <p:extLst>
      <p:ext uri="{BB962C8B-B14F-4D97-AF65-F5344CB8AC3E}">
        <p14:creationId xmlns:p14="http://schemas.microsoft.com/office/powerpoint/2010/main" val="83397560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31929E-7D7B-8398-253B-86406C70C44E}"/>
              </a:ext>
            </a:extLst>
          </p:cNvPr>
          <p:cNvSpPr>
            <a:spLocks noGrp="1"/>
          </p:cNvSpPr>
          <p:nvPr>
            <p:ph sz="half" idx="1"/>
          </p:nvPr>
        </p:nvSpPr>
        <p:spPr>
          <a:xfrm>
            <a:off x="838200" y="1608667"/>
            <a:ext cx="5181600" cy="4568296"/>
          </a:xfrm>
        </p:spPr>
        <p:txBody>
          <a:bodyPr>
            <a:normAutofit fontScale="92500"/>
          </a:bodyPr>
          <a:lstStyle/>
          <a:p>
            <a:pPr marL="0" indent="0">
              <a:buNone/>
            </a:pPr>
            <a:r>
              <a:rPr lang="en-US" sz="2000" b="0" i="0" dirty="0">
                <a:effectLst/>
              </a:rPr>
              <a:t>What if we wanted to know how sure our estimates of </a:t>
            </a:r>
            <a:r>
              <a:rPr lang="en-US" sz="2000" b="0" i="0" dirty="0">
                <a:solidFill>
                  <a:schemeClr val="accent4"/>
                </a:solidFill>
                <a:effectLst/>
              </a:rPr>
              <a:t>m</a:t>
            </a:r>
            <a:r>
              <a:rPr lang="en-US" sz="2000" b="0" i="0" dirty="0">
                <a:effectLst/>
              </a:rPr>
              <a:t> and </a:t>
            </a:r>
            <a:r>
              <a:rPr lang="en-US" sz="2000" b="0" i="0" dirty="0">
                <a:solidFill>
                  <a:schemeClr val="accent4"/>
                </a:solidFill>
                <a:effectLst/>
              </a:rPr>
              <a:t>c</a:t>
            </a:r>
            <a:r>
              <a:rPr lang="en-US" sz="2000" b="0" i="0" dirty="0">
                <a:effectLst/>
              </a:rPr>
              <a:t> (and </a:t>
            </a:r>
            <a:r>
              <a:rPr lang="en-US" sz="2000" b="0" i="0" dirty="0">
                <a:solidFill>
                  <a:schemeClr val="accent4"/>
                </a:solidFill>
                <a:effectLst/>
              </a:rPr>
              <a:t>σ</a:t>
            </a:r>
            <a:r>
              <a:rPr lang="en-US" sz="2000" b="0" i="0" dirty="0">
                <a:effectLst/>
              </a:rPr>
              <a:t>) were? </a:t>
            </a:r>
          </a:p>
          <a:p>
            <a:pPr marL="0" indent="0">
              <a:buNone/>
            </a:pPr>
            <a:r>
              <a:rPr lang="en-US" sz="2000" b="0" i="0" dirty="0">
                <a:effectLst/>
              </a:rPr>
              <a:t>MLE will tell us the </a:t>
            </a:r>
            <a:r>
              <a:rPr lang="en-US" sz="2000" b="0" i="1" dirty="0">
                <a:solidFill>
                  <a:schemeClr val="accent5"/>
                </a:solidFill>
                <a:effectLst/>
              </a:rPr>
              <a:t>most likely setting</a:t>
            </a:r>
            <a:r>
              <a:rPr lang="en-US" sz="2000" b="0" i="0" dirty="0">
                <a:effectLst/>
              </a:rPr>
              <a:t>, but it won't tell us the possible settings that are compatible with the data.</a:t>
            </a:r>
          </a:p>
          <a:p>
            <a:pPr marL="0" indent="0">
              <a:buNone/>
            </a:pPr>
            <a:r>
              <a:rPr lang="en-US" sz="2000" b="0" i="0" dirty="0">
                <a:effectLst/>
              </a:rPr>
              <a:t>The Bayesian approach is to let the parameters themselves by random variables. </a:t>
            </a:r>
          </a:p>
          <a:p>
            <a:r>
              <a:rPr lang="en-US" sz="2000" b="0" i="0" dirty="0">
                <a:effectLst/>
              </a:rPr>
              <a:t>We don't want to </a:t>
            </a:r>
            <a:r>
              <a:rPr lang="en-US" sz="2000" b="0" i="0" dirty="0" err="1">
                <a:effectLst/>
              </a:rPr>
              <a:t>optimise</a:t>
            </a:r>
            <a:r>
              <a:rPr lang="en-US" sz="2000" b="0" i="0" dirty="0">
                <a:effectLst/>
              </a:rPr>
              <a:t>. </a:t>
            </a:r>
          </a:p>
          <a:p>
            <a:r>
              <a:rPr lang="en-US" sz="2000" b="0" i="0" dirty="0">
                <a:effectLst/>
              </a:rPr>
              <a:t>We don't want to find the most likely parameters. </a:t>
            </a:r>
          </a:p>
          <a:p>
            <a:r>
              <a:rPr lang="en-US" sz="2000" b="0" i="0" dirty="0">
                <a:effectLst/>
              </a:rPr>
              <a:t>We instead want to derive a belief about the parameters as a probability distribution. </a:t>
            </a:r>
          </a:p>
          <a:p>
            <a:pPr marL="0" indent="0">
              <a:buNone/>
            </a:pPr>
            <a:r>
              <a:rPr lang="en-US" sz="2000" b="0" i="0" dirty="0">
                <a:effectLst/>
              </a:rPr>
              <a:t>This is what Bayesians do; they represent belief with probability.</a:t>
            </a:r>
          </a:p>
          <a:p>
            <a:endParaRPr lang="en-GB" sz="2000" dirty="0"/>
          </a:p>
        </p:txBody>
      </p:sp>
      <p:pic>
        <p:nvPicPr>
          <p:cNvPr id="5" name="Picture 4" descr="A graph of lines and dots&#10;&#10;Description automatically generated">
            <a:extLst>
              <a:ext uri="{FF2B5EF4-FFF2-40B4-BE49-F238E27FC236}">
                <a16:creationId xmlns:a16="http://schemas.microsoft.com/office/drawing/2014/main" id="{2601B169-10CA-7B9F-146D-F892C86FFABD}"/>
              </a:ext>
            </a:extLst>
          </p:cNvPr>
          <p:cNvPicPr>
            <a:picLocks noChangeAspect="1"/>
          </p:cNvPicPr>
          <p:nvPr/>
        </p:nvPicPr>
        <p:blipFill>
          <a:blip r:embed="rId3"/>
          <a:stretch>
            <a:fillRect/>
          </a:stretch>
        </p:blipFill>
        <p:spPr>
          <a:xfrm>
            <a:off x="6172200" y="2493783"/>
            <a:ext cx="5181600" cy="2798063"/>
          </a:xfrm>
          <a:prstGeom prst="rect">
            <a:avLst/>
          </a:prstGeom>
          <a:noFill/>
        </p:spPr>
      </p:pic>
      <p:sp>
        <p:nvSpPr>
          <p:cNvPr id="2" name="Title 1">
            <a:extLst>
              <a:ext uri="{FF2B5EF4-FFF2-40B4-BE49-F238E27FC236}">
                <a16:creationId xmlns:a16="http://schemas.microsoft.com/office/drawing/2014/main" id="{7BF07561-9AE1-B9F7-83ED-3EFB4FB716D2}"/>
              </a:ext>
            </a:extLst>
          </p:cNvPr>
          <p:cNvSpPr>
            <a:spLocks noGrp="1"/>
          </p:cNvSpPr>
          <p:nvPr>
            <p:ph type="title"/>
          </p:nvPr>
        </p:nvSpPr>
        <p:spPr>
          <a:xfrm>
            <a:off x="2549236" y="533614"/>
            <a:ext cx="9210963" cy="888786"/>
          </a:xfrm>
        </p:spPr>
        <p:txBody>
          <a:bodyPr anchor="t">
            <a:normAutofit/>
          </a:bodyPr>
          <a:lstStyle/>
          <a:p>
            <a:r>
              <a:rPr lang="en-GB" dirty="0"/>
              <a:t>Bayesian linear regression</a:t>
            </a:r>
          </a:p>
        </p:txBody>
      </p:sp>
      <p:sp>
        <p:nvSpPr>
          <p:cNvPr id="7" name="TextBox 6">
            <a:extLst>
              <a:ext uri="{FF2B5EF4-FFF2-40B4-BE49-F238E27FC236}">
                <a16:creationId xmlns:a16="http://schemas.microsoft.com/office/drawing/2014/main" id="{E6BCB16B-DBBC-FE5A-F848-39FFF5C81DFC}"/>
              </a:ext>
            </a:extLst>
          </p:cNvPr>
          <p:cNvSpPr txBox="1"/>
          <p:nvPr/>
        </p:nvSpPr>
        <p:spPr>
          <a:xfrm>
            <a:off x="6096000" y="5148947"/>
            <a:ext cx="6096000" cy="646331"/>
          </a:xfrm>
          <a:prstGeom prst="rect">
            <a:avLst/>
          </a:prstGeom>
          <a:noFill/>
        </p:spPr>
        <p:txBody>
          <a:bodyPr wrap="square">
            <a:spAutoFit/>
          </a:bodyPr>
          <a:lstStyle/>
          <a:p>
            <a:pPr algn="ctr"/>
            <a:r>
              <a:rPr lang="en-US" b="0" i="1" dirty="0">
                <a:solidFill>
                  <a:schemeClr val="accent1"/>
                </a:solidFill>
                <a:effectLst/>
                <a:latin typeface="system-ui"/>
              </a:rPr>
              <a:t>Bayesian regression tries to update a distribution over line parameters given evidence</a:t>
            </a:r>
            <a:endParaRPr lang="en-GB" dirty="0">
              <a:solidFill>
                <a:schemeClr val="accent1"/>
              </a:solidFill>
            </a:endParaRPr>
          </a:p>
        </p:txBody>
      </p:sp>
    </p:spTree>
    <p:extLst>
      <p:ext uri="{BB962C8B-B14F-4D97-AF65-F5344CB8AC3E}">
        <p14:creationId xmlns:p14="http://schemas.microsoft.com/office/powerpoint/2010/main" val="41083793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AA60B08-4806-AC40-B668-CB8493CFD511}"/>
              </a:ext>
            </a:extLst>
          </p:cNvPr>
          <p:cNvSpPr>
            <a:spLocks noGrp="1"/>
          </p:cNvSpPr>
          <p:nvPr>
            <p:ph type="title"/>
          </p:nvPr>
        </p:nvSpPr>
        <p:spPr/>
        <p:txBody>
          <a:bodyPr/>
          <a:lstStyle/>
          <a:p>
            <a:r>
              <a:rPr lang="en-GB" dirty="0"/>
              <a:t>Bayesian linear regression</a:t>
            </a:r>
          </a:p>
        </p:txBody>
      </p:sp>
      <p:sp>
        <p:nvSpPr>
          <p:cNvPr id="2" name="Content Placeholder 1">
            <a:extLst>
              <a:ext uri="{FF2B5EF4-FFF2-40B4-BE49-F238E27FC236}">
                <a16:creationId xmlns:a16="http://schemas.microsoft.com/office/drawing/2014/main" id="{CB87D1A4-CC24-B045-3A2E-4FD8C4BD2829}"/>
              </a:ext>
            </a:extLst>
          </p:cNvPr>
          <p:cNvSpPr>
            <a:spLocks noGrp="1"/>
          </p:cNvSpPr>
          <p:nvPr>
            <p:ph sz="quarter" idx="13"/>
          </p:nvPr>
        </p:nvSpPr>
        <p:spPr/>
        <p:txBody>
          <a:bodyPr/>
          <a:lstStyle/>
          <a:p>
            <a:pPr marL="0" indent="0">
              <a:buNone/>
            </a:pPr>
            <a:r>
              <a:rPr lang="en-US" b="0" i="0" dirty="0">
                <a:effectLst/>
                <a:latin typeface="system-ui"/>
              </a:rPr>
              <a:t>So we can write </a:t>
            </a:r>
            <a:r>
              <a:rPr lang="en-US" dirty="0"/>
              <a:t>θ=[</a:t>
            </a:r>
            <a:r>
              <a:rPr lang="en-US" dirty="0" err="1"/>
              <a:t>m,c,σ</a:t>
            </a:r>
            <a:r>
              <a:rPr lang="en-US" dirty="0"/>
              <a:t>]</a:t>
            </a:r>
            <a:r>
              <a:rPr lang="en-US" b="0" i="0" dirty="0">
                <a:effectLst/>
                <a:latin typeface="system-ui"/>
              </a:rPr>
              <a:t> as a random variable, and try and infer the distribution over it. We can do this using Bayes' rule. Writing in the form (</a:t>
            </a:r>
            <a:r>
              <a:rPr lang="en-US" dirty="0"/>
              <a:t>D</a:t>
            </a:r>
            <a:r>
              <a:rPr lang="en-US" b="0" i="0" dirty="0">
                <a:effectLst/>
                <a:latin typeface="system-ui"/>
              </a:rPr>
              <a:t>=data, </a:t>
            </a:r>
            <a:r>
              <a:rPr lang="en-US" dirty="0"/>
              <a:t>H</a:t>
            </a:r>
            <a:r>
              <a:rPr lang="en-US" b="0" i="0" dirty="0">
                <a:effectLst/>
                <a:latin typeface="system-ui"/>
              </a:rPr>
              <a:t>=hypothesis; </a:t>
            </a:r>
            <a:r>
              <a:rPr lang="en-US" b="0" i="0" dirty="0" err="1">
                <a:effectLst/>
                <a:latin typeface="system-ui"/>
              </a:rPr>
              <a:t>hypothesised</a:t>
            </a:r>
            <a:r>
              <a:rPr lang="en-US" b="0" i="0" dirty="0">
                <a:effectLst/>
                <a:latin typeface="system-ui"/>
              </a:rPr>
              <a:t> parameter settings):</a:t>
            </a:r>
          </a:p>
          <a:p>
            <a:pPr marL="0" indent="0">
              <a:buNone/>
            </a:pPr>
            <a:endParaRPr lang="en-US" dirty="0">
              <a:latin typeface="system-ui"/>
            </a:endParaRPr>
          </a:p>
          <a:p>
            <a:pPr marL="0" indent="0">
              <a:buNone/>
            </a:pPr>
            <a:endParaRPr lang="en-US" dirty="0">
              <a:latin typeface="system-ui"/>
            </a:endParaRPr>
          </a:p>
          <a:p>
            <a:pPr marL="0" indent="0">
              <a:buNone/>
            </a:pPr>
            <a:r>
              <a:rPr lang="en-US" b="0" i="0" dirty="0">
                <a:effectLst/>
                <a:latin typeface="system-ui"/>
              </a:rPr>
              <a:t>Assuming our hypotheses </a:t>
            </a:r>
            <a:r>
              <a:rPr lang="en-US" dirty="0"/>
              <a:t>H</a:t>
            </a:r>
            <a:r>
              <a:rPr lang="en-US" b="0" i="0" dirty="0">
                <a:effectLst/>
                <a:latin typeface="system-ui"/>
              </a:rPr>
              <a:t> are </a:t>
            </a:r>
            <a:r>
              <a:rPr lang="en-US" b="0" i="0" dirty="0" err="1">
                <a:effectLst/>
                <a:latin typeface="system-ui"/>
              </a:rPr>
              <a:t>parameterised</a:t>
            </a:r>
            <a:r>
              <a:rPr lang="en-US" b="0" i="0" dirty="0">
                <a:effectLst/>
                <a:latin typeface="system-ui"/>
              </a:rPr>
              <a:t> by </a:t>
            </a:r>
            <a:r>
              <a:rPr lang="en-US" dirty="0"/>
              <a:t>θ</a:t>
            </a:r>
            <a:r>
              <a:rPr lang="en-US" b="0" i="0" dirty="0">
                <a:effectLst/>
                <a:latin typeface="system-ui"/>
              </a:rPr>
              <a:t>, then we want to know</a:t>
            </a:r>
          </a:p>
          <a:p>
            <a:pPr marL="0" indent="0">
              <a:buNone/>
            </a:pPr>
            <a:endParaRPr lang="en-US" dirty="0">
              <a:latin typeface="system-ui"/>
            </a:endParaRPr>
          </a:p>
          <a:p>
            <a:pPr marL="0" indent="0">
              <a:buNone/>
            </a:pPr>
            <a:endParaRPr lang="en-US" dirty="0">
              <a:latin typeface="system-ui"/>
            </a:endParaRPr>
          </a:p>
          <a:p>
            <a:pPr marL="0" indent="0">
              <a:buNone/>
            </a:pPr>
            <a:r>
              <a:rPr lang="en-US" b="0" i="0" dirty="0">
                <a:effectLst/>
                <a:latin typeface="system-ui"/>
              </a:rPr>
              <a:t>where </a:t>
            </a:r>
            <a:r>
              <a:rPr lang="en-US" dirty="0"/>
              <a:t>D</a:t>
            </a:r>
            <a:r>
              <a:rPr lang="en-US" b="0" i="0" dirty="0">
                <a:effectLst/>
                <a:latin typeface="system-ui"/>
              </a:rPr>
              <a:t> stands for the data                                                         . In linear regression </a:t>
            </a:r>
            <a:r>
              <a:rPr lang="en-US" dirty="0"/>
              <a:t>θ</a:t>
            </a:r>
            <a:r>
              <a:rPr lang="en-US" b="0" i="0" dirty="0">
                <a:effectLst/>
                <a:latin typeface="system-ui"/>
              </a:rPr>
              <a:t> can be seen as the hypothesis that the data was generated by a line with parameters specified by </a:t>
            </a:r>
            <a:r>
              <a:rPr lang="en-US" dirty="0"/>
              <a:t>θ</a:t>
            </a:r>
            <a:r>
              <a:rPr lang="en-US" b="0" i="0" dirty="0">
                <a:effectLst/>
                <a:latin typeface="system-ui"/>
              </a:rPr>
              <a:t>.</a:t>
            </a:r>
            <a:endParaRPr lang="en-GB" dirty="0"/>
          </a:p>
        </p:txBody>
      </p:sp>
      <p:pic>
        <p:nvPicPr>
          <p:cNvPr id="7" name="Picture 6">
            <a:extLst>
              <a:ext uri="{FF2B5EF4-FFF2-40B4-BE49-F238E27FC236}">
                <a16:creationId xmlns:a16="http://schemas.microsoft.com/office/drawing/2014/main" id="{648DE06A-7284-FAD7-B84D-DCF4BD8BF700}"/>
              </a:ext>
            </a:extLst>
          </p:cNvPr>
          <p:cNvPicPr>
            <a:picLocks noChangeAspect="1"/>
          </p:cNvPicPr>
          <p:nvPr/>
        </p:nvPicPr>
        <p:blipFill>
          <a:blip r:embed="rId2"/>
          <a:stretch>
            <a:fillRect/>
          </a:stretch>
        </p:blipFill>
        <p:spPr>
          <a:xfrm>
            <a:off x="4284420" y="2495420"/>
            <a:ext cx="3477110" cy="933580"/>
          </a:xfrm>
          <a:prstGeom prst="rect">
            <a:avLst/>
          </a:prstGeom>
        </p:spPr>
      </p:pic>
      <p:pic>
        <p:nvPicPr>
          <p:cNvPr id="9" name="Picture 8">
            <a:extLst>
              <a:ext uri="{FF2B5EF4-FFF2-40B4-BE49-F238E27FC236}">
                <a16:creationId xmlns:a16="http://schemas.microsoft.com/office/drawing/2014/main" id="{49447372-5FF8-1549-F5B6-56B3920DCF43}"/>
              </a:ext>
            </a:extLst>
          </p:cNvPr>
          <p:cNvPicPr>
            <a:picLocks noChangeAspect="1"/>
          </p:cNvPicPr>
          <p:nvPr/>
        </p:nvPicPr>
        <p:blipFill>
          <a:blip r:embed="rId3"/>
          <a:stretch>
            <a:fillRect/>
          </a:stretch>
        </p:blipFill>
        <p:spPr>
          <a:xfrm>
            <a:off x="4490863" y="4033790"/>
            <a:ext cx="2495898" cy="676369"/>
          </a:xfrm>
          <a:prstGeom prst="rect">
            <a:avLst/>
          </a:prstGeom>
        </p:spPr>
      </p:pic>
      <p:pic>
        <p:nvPicPr>
          <p:cNvPr id="11" name="Picture 10">
            <a:extLst>
              <a:ext uri="{FF2B5EF4-FFF2-40B4-BE49-F238E27FC236}">
                <a16:creationId xmlns:a16="http://schemas.microsoft.com/office/drawing/2014/main" id="{A7958766-F37E-1CD9-AF86-2122FAD83509}"/>
              </a:ext>
            </a:extLst>
          </p:cNvPr>
          <p:cNvPicPr>
            <a:picLocks noChangeAspect="1"/>
          </p:cNvPicPr>
          <p:nvPr/>
        </p:nvPicPr>
        <p:blipFill>
          <a:blip r:embed="rId4"/>
          <a:stretch>
            <a:fillRect/>
          </a:stretch>
        </p:blipFill>
        <p:spPr>
          <a:xfrm>
            <a:off x="3893840" y="4914947"/>
            <a:ext cx="3867690" cy="457264"/>
          </a:xfrm>
          <a:prstGeom prst="rect">
            <a:avLst/>
          </a:prstGeom>
        </p:spPr>
      </p:pic>
    </p:spTree>
    <p:extLst>
      <p:ext uri="{BB962C8B-B14F-4D97-AF65-F5344CB8AC3E}">
        <p14:creationId xmlns:p14="http://schemas.microsoft.com/office/powerpoint/2010/main" val="90068029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747AC-666A-DA99-ED92-00B984504768}"/>
              </a:ext>
            </a:extLst>
          </p:cNvPr>
          <p:cNvSpPr>
            <a:spLocks noGrp="1"/>
          </p:cNvSpPr>
          <p:nvPr>
            <p:ph type="title"/>
          </p:nvPr>
        </p:nvSpPr>
        <p:spPr/>
        <p:txBody>
          <a:bodyPr/>
          <a:lstStyle/>
          <a:p>
            <a:r>
              <a:rPr lang="en-GB" dirty="0"/>
              <a:t>Bayesian linear regression</a:t>
            </a:r>
          </a:p>
        </p:txBody>
      </p:sp>
      <p:sp>
        <p:nvSpPr>
          <p:cNvPr id="3" name="Content Placeholder 2">
            <a:extLst>
              <a:ext uri="{FF2B5EF4-FFF2-40B4-BE49-F238E27FC236}">
                <a16:creationId xmlns:a16="http://schemas.microsoft.com/office/drawing/2014/main" id="{D403812B-A997-2552-3B35-7D37CBCD6672}"/>
              </a:ext>
            </a:extLst>
          </p:cNvPr>
          <p:cNvSpPr>
            <a:spLocks noGrp="1"/>
          </p:cNvSpPr>
          <p:nvPr>
            <p:ph sz="quarter" idx="13"/>
          </p:nvPr>
        </p:nvSpPr>
        <p:spPr/>
        <p:txBody>
          <a:bodyPr/>
          <a:lstStyle/>
          <a:p>
            <a:pPr marL="0" indent="0" algn="l">
              <a:buNone/>
            </a:pPr>
            <a:r>
              <a:rPr lang="en-US" b="0" i="0" dirty="0">
                <a:effectLst/>
                <a:latin typeface="system-ui"/>
              </a:rPr>
              <a:t>We need:</a:t>
            </a:r>
          </a:p>
          <a:p>
            <a:pPr algn="l">
              <a:buFont typeface="Arial" panose="020B0604020202020204" pitchFamily="34" charset="0"/>
              <a:buChar char="•"/>
            </a:pPr>
            <a:r>
              <a:rPr lang="en-US" b="0" i="0" dirty="0">
                <a:effectLst/>
                <a:latin typeface="system-ui"/>
              </a:rPr>
              <a:t>a </a:t>
            </a:r>
            <a:r>
              <a:rPr lang="en-US" b="1" i="0" dirty="0">
                <a:effectLst/>
                <a:latin typeface="system-ui"/>
              </a:rPr>
              <a:t>prior</a:t>
            </a:r>
            <a:r>
              <a:rPr lang="en-US" b="0" i="0" dirty="0">
                <a:effectLst/>
                <a:latin typeface="system-ui"/>
              </a:rPr>
              <a:t> over the parameters P(θ). An initial belief about the possible gradient m, offset c and noise level σ, in the linear regression case.</a:t>
            </a:r>
          </a:p>
          <a:p>
            <a:pPr algn="l">
              <a:buFont typeface="Arial" panose="020B0604020202020204" pitchFamily="34" charset="0"/>
              <a:buChar char="•"/>
            </a:pPr>
            <a:r>
              <a:rPr lang="en-US" b="0" i="0" dirty="0">
                <a:effectLst/>
                <a:latin typeface="system-ui"/>
              </a:rPr>
              <a:t>a way of calculating the </a:t>
            </a:r>
            <a:r>
              <a:rPr lang="en-US" b="1" i="0" dirty="0">
                <a:effectLst/>
                <a:latin typeface="system-ui"/>
              </a:rPr>
              <a:t>likelihood</a:t>
            </a:r>
            <a:r>
              <a:rPr lang="en-US" b="0" i="0" dirty="0">
                <a:effectLst/>
                <a:latin typeface="system-ui"/>
              </a:rPr>
              <a:t> P(</a:t>
            </a:r>
            <a:r>
              <a:rPr lang="en-US" b="0" i="0" dirty="0" err="1">
                <a:effectLst/>
                <a:latin typeface="system-ui"/>
              </a:rPr>
              <a:t>D|θ</a:t>
            </a:r>
            <a:r>
              <a:rPr lang="en-US" b="0" i="0" dirty="0">
                <a:effectLst/>
                <a:latin typeface="system-ui"/>
              </a:rPr>
              <a:t>).</a:t>
            </a:r>
          </a:p>
          <a:p>
            <a:pPr algn="l">
              <a:buFont typeface="Arial" panose="020B0604020202020204" pitchFamily="34" charset="0"/>
              <a:buChar char="•"/>
            </a:pPr>
            <a:r>
              <a:rPr lang="en-US" b="0" i="0" dirty="0">
                <a:effectLst/>
                <a:latin typeface="system-ui"/>
              </a:rPr>
              <a:t>a way of combining these using Bayes Rule. In general this is impossible to compute exactly (in particular the P(D) term is often intractable), but we could sample from it using </a:t>
            </a:r>
            <a:r>
              <a:rPr lang="en-US" b="1" i="0" dirty="0">
                <a:effectLst/>
                <a:latin typeface="system-ui"/>
              </a:rPr>
              <a:t>Markov Chain Monte Carlo</a:t>
            </a:r>
            <a:r>
              <a:rPr lang="en-US" b="0" i="0" dirty="0">
                <a:effectLst/>
                <a:latin typeface="system-ui"/>
              </a:rPr>
              <a:t>, for example.</a:t>
            </a:r>
          </a:p>
          <a:p>
            <a:pPr marL="0" indent="0" algn="l">
              <a:buNone/>
            </a:pPr>
            <a:r>
              <a:rPr lang="en-US" b="0" i="0" dirty="0">
                <a:effectLst/>
                <a:latin typeface="system-ui"/>
              </a:rPr>
              <a:t>This will give us samples from the posterior distribution of P(</a:t>
            </a:r>
            <a:r>
              <a:rPr lang="en-US" b="0" i="0" dirty="0" err="1">
                <a:effectLst/>
                <a:latin typeface="system-ui"/>
              </a:rPr>
              <a:t>θ|D</a:t>
            </a:r>
            <a:r>
              <a:rPr lang="en-US" b="0" i="0" dirty="0">
                <a:effectLst/>
                <a:latin typeface="system-ui"/>
              </a:rPr>
              <a:t>), so we can see how sure we should be about our beliefs about the parameters of the mysterious entity.</a:t>
            </a:r>
          </a:p>
          <a:p>
            <a:endParaRPr lang="en-GB" dirty="0"/>
          </a:p>
        </p:txBody>
      </p:sp>
    </p:spTree>
    <p:extLst>
      <p:ext uri="{BB962C8B-B14F-4D97-AF65-F5344CB8AC3E}">
        <p14:creationId xmlns:p14="http://schemas.microsoft.com/office/powerpoint/2010/main" val="305818535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D326B-A1B0-3EDE-06EF-C546FAE82A5A}"/>
              </a:ext>
            </a:extLst>
          </p:cNvPr>
          <p:cNvSpPr>
            <a:spLocks noGrp="1"/>
          </p:cNvSpPr>
          <p:nvPr>
            <p:ph type="title"/>
          </p:nvPr>
        </p:nvSpPr>
        <p:spPr/>
        <p:txBody>
          <a:bodyPr/>
          <a:lstStyle/>
          <a:p>
            <a:r>
              <a:rPr lang="en-GB" dirty="0"/>
              <a:t>Bayesian linear regression</a:t>
            </a:r>
          </a:p>
        </p:txBody>
      </p:sp>
      <p:pic>
        <p:nvPicPr>
          <p:cNvPr id="4" name="Content Placeholder 3" descr="A graph of lines and dots&#10;&#10;Description automatically generated">
            <a:extLst>
              <a:ext uri="{FF2B5EF4-FFF2-40B4-BE49-F238E27FC236}">
                <a16:creationId xmlns:a16="http://schemas.microsoft.com/office/drawing/2014/main" id="{C03798B0-3092-CAF0-FD2B-3A0617E6BEC0}"/>
              </a:ext>
            </a:extLst>
          </p:cNvPr>
          <p:cNvPicPr>
            <a:picLocks noGrp="1" noChangeAspect="1"/>
          </p:cNvPicPr>
          <p:nvPr>
            <p:ph sz="quarter" idx="13"/>
          </p:nvPr>
        </p:nvPicPr>
        <p:blipFill>
          <a:blip r:embed="rId2"/>
          <a:stretch>
            <a:fillRect/>
          </a:stretch>
        </p:blipFill>
        <p:spPr>
          <a:xfrm>
            <a:off x="1766442" y="1627188"/>
            <a:ext cx="8513066" cy="4606925"/>
          </a:xfrm>
          <a:prstGeom prst="rect">
            <a:avLst/>
          </a:prstGeom>
          <a:noFill/>
        </p:spPr>
      </p:pic>
      <p:sp>
        <p:nvSpPr>
          <p:cNvPr id="5" name="TextBox 4">
            <a:extLst>
              <a:ext uri="{FF2B5EF4-FFF2-40B4-BE49-F238E27FC236}">
                <a16:creationId xmlns:a16="http://schemas.microsoft.com/office/drawing/2014/main" id="{5AD04A01-7B3F-BAFD-5BEE-C4A776D68BBE}"/>
              </a:ext>
            </a:extLst>
          </p:cNvPr>
          <p:cNvSpPr txBox="1"/>
          <p:nvPr/>
        </p:nvSpPr>
        <p:spPr>
          <a:xfrm>
            <a:off x="3131344" y="6211669"/>
            <a:ext cx="6096000" cy="646331"/>
          </a:xfrm>
          <a:prstGeom prst="rect">
            <a:avLst/>
          </a:prstGeom>
          <a:noFill/>
        </p:spPr>
        <p:txBody>
          <a:bodyPr wrap="square">
            <a:spAutoFit/>
          </a:bodyPr>
          <a:lstStyle/>
          <a:p>
            <a:pPr algn="ctr"/>
            <a:r>
              <a:rPr lang="en-US" b="0" i="1" dirty="0">
                <a:solidFill>
                  <a:schemeClr val="accent1"/>
                </a:solidFill>
                <a:effectLst/>
                <a:latin typeface="system-ui"/>
              </a:rPr>
              <a:t>Bayesian regression tries to update a distribution over line parameters given evidence</a:t>
            </a:r>
            <a:endParaRPr lang="en-GB" dirty="0">
              <a:solidFill>
                <a:schemeClr val="accent1"/>
              </a:solidFill>
            </a:endParaRPr>
          </a:p>
        </p:txBody>
      </p:sp>
    </p:spTree>
    <p:extLst>
      <p:ext uri="{BB962C8B-B14F-4D97-AF65-F5344CB8AC3E}">
        <p14:creationId xmlns:p14="http://schemas.microsoft.com/office/powerpoint/2010/main" val="23601458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University at sunset">
            <a:extLst>
              <a:ext uri="{FF2B5EF4-FFF2-40B4-BE49-F238E27FC236}">
                <a16:creationId xmlns:a16="http://schemas.microsoft.com/office/drawing/2014/main" id="{11FDCD37-95D4-D94F-8143-5384ADC6A6C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175F20C-468E-F742-9149-B8A5FEBC2911}"/>
              </a:ext>
            </a:extLst>
          </p:cNvPr>
          <p:cNvSpPr>
            <a:spLocks noGrp="1"/>
          </p:cNvSpPr>
          <p:nvPr>
            <p:ph type="title" idx="4294967295"/>
          </p:nvPr>
        </p:nvSpPr>
        <p:spPr>
          <a:xfrm>
            <a:off x="645886" y="1889351"/>
            <a:ext cx="6546024" cy="1931535"/>
          </a:xfrm>
        </p:spPr>
        <p:txBody>
          <a:bodyPr>
            <a:noAutofit/>
          </a:bodyPr>
          <a:lstStyle/>
          <a:p>
            <a:pPr algn="l"/>
            <a:r>
              <a:rPr lang="en-US" altLang="zh-CN" dirty="0">
                <a:solidFill>
                  <a:schemeClr val="bg1"/>
                </a:solidFill>
              </a:rPr>
              <a:t>Thank</a:t>
            </a:r>
            <a:r>
              <a:rPr lang="zh-CN" altLang="en-US" dirty="0">
                <a:solidFill>
                  <a:schemeClr val="bg1"/>
                </a:solidFill>
              </a:rPr>
              <a:t> </a:t>
            </a:r>
            <a:r>
              <a:rPr lang="en-US" altLang="zh-CN" dirty="0">
                <a:solidFill>
                  <a:schemeClr val="bg1"/>
                </a:solidFill>
              </a:rPr>
              <a:t>you</a:t>
            </a:r>
            <a:br>
              <a:rPr lang="en-US" altLang="zh-CN" dirty="0">
                <a:solidFill>
                  <a:schemeClr val="bg1"/>
                </a:solidFill>
              </a:rPr>
            </a:br>
            <a:br>
              <a:rPr lang="en-US" altLang="zh-CN" dirty="0">
                <a:solidFill>
                  <a:schemeClr val="bg1"/>
                </a:solidFill>
              </a:rPr>
            </a:br>
            <a:r>
              <a:rPr lang="en-US" altLang="zh-CN" dirty="0">
                <a:solidFill>
                  <a:schemeClr val="bg1"/>
                </a:solidFill>
              </a:rPr>
              <a:t>Contact:</a:t>
            </a:r>
            <a:r>
              <a:rPr lang="zh-CN" altLang="en-US" dirty="0">
                <a:solidFill>
                  <a:schemeClr val="bg1"/>
                </a:solidFill>
              </a:rPr>
              <a:t> </a:t>
            </a:r>
            <a:r>
              <a:rPr lang="en-US" altLang="zh-CN" dirty="0">
                <a:solidFill>
                  <a:schemeClr val="bg1"/>
                </a:solidFill>
              </a:rPr>
              <a:t>Nicolas.Pugeault@Glasgow.ac.uk</a:t>
            </a:r>
            <a:endParaRPr lang="en-US" dirty="0">
              <a:solidFill>
                <a:schemeClr val="bg1"/>
              </a:solidFill>
            </a:endParaRPr>
          </a:p>
        </p:txBody>
      </p:sp>
    </p:spTree>
    <p:extLst>
      <p:ext uri="{BB962C8B-B14F-4D97-AF65-F5344CB8AC3E}">
        <p14:creationId xmlns:p14="http://schemas.microsoft.com/office/powerpoint/2010/main" val="300637870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ENTIMETER_SERIES_ID_KEY" val="algz48g2dsco13y5kyjhge5kwum51i84"/>
</p:tagLst>
</file>

<file path=ppt/theme/theme1.xml><?xml version="1.0" encoding="utf-8"?>
<a:theme xmlns:a="http://schemas.openxmlformats.org/drawingml/2006/main" name="Office Theme">
  <a:themeElements>
    <a:clrScheme name="UofG colours">
      <a:dk1>
        <a:srgbClr val="003865"/>
      </a:dk1>
      <a:lt1>
        <a:srgbClr val="FFFFFE"/>
      </a:lt1>
      <a:dk2>
        <a:srgbClr val="000000"/>
      </a:dk2>
      <a:lt2>
        <a:srgbClr val="7D2238"/>
      </a:lt2>
      <a:accent1>
        <a:srgbClr val="0075B0"/>
      </a:accent1>
      <a:accent2>
        <a:srgbClr val="5B4D93"/>
      </a:accent2>
      <a:accent3>
        <a:srgbClr val="CF1C20"/>
      </a:accent3>
      <a:accent4>
        <a:srgbClr val="00833C"/>
      </a:accent4>
      <a:accent5>
        <a:srgbClr val="BE4D00"/>
      </a:accent5>
      <a:accent6>
        <a:srgbClr val="951271"/>
      </a:accent6>
      <a:hlink>
        <a:srgbClr val="584B3D"/>
      </a:hlink>
      <a:folHlink>
        <a:srgbClr val="0068A9"/>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A61AF5F2-503D-2641-86A1-09AD8919EA9C}" vid="{A816E7D6-9491-074F-A4D5-6596497DAC1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6938</TotalTime>
  <Words>9892</Words>
  <Application>Microsoft Office PowerPoint</Application>
  <PresentationFormat>Widescreen</PresentationFormat>
  <Paragraphs>564</Paragraphs>
  <Slides>105</Slides>
  <Notes>22</Notes>
  <HiddenSlides>15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105</vt:i4>
      </vt:variant>
    </vt:vector>
  </HeadingPairs>
  <TitlesOfParts>
    <vt:vector size="110" baseType="lpstr">
      <vt:lpstr>-apple-system</vt:lpstr>
      <vt:lpstr>Arial</vt:lpstr>
      <vt:lpstr>Calibri</vt:lpstr>
      <vt:lpstr>system-ui</vt:lpstr>
      <vt:lpstr>Office Theme</vt:lpstr>
      <vt:lpstr>Introduction to Data Science and Systems</vt:lpstr>
      <vt:lpstr>Today’s learning outcomes</vt:lpstr>
      <vt:lpstr>Continuous random variables</vt:lpstr>
      <vt:lpstr>Problems with continuous variables</vt:lpstr>
      <vt:lpstr>Probability distribution functions</vt:lpstr>
      <vt:lpstr>Probability distribution functions</vt:lpstr>
      <vt:lpstr>Support</vt:lpstr>
      <vt:lpstr>Cumulative distribution function (CDF)</vt:lpstr>
      <vt:lpstr>Example: The Normal Distribution</vt:lpstr>
      <vt:lpstr>Example: The Normal Distribution (cont’d)</vt:lpstr>
      <vt:lpstr>Location and scale</vt:lpstr>
      <vt:lpstr>Normal modelling</vt:lpstr>
      <vt:lpstr>PowerPoint Presentation</vt:lpstr>
      <vt:lpstr>Central limit theorem</vt:lpstr>
      <vt:lpstr>Central limit theorem</vt:lpstr>
      <vt:lpstr>Central limit theorem</vt:lpstr>
      <vt:lpstr>Central limit theorem</vt:lpstr>
      <vt:lpstr>Central limit theorem</vt:lpstr>
      <vt:lpstr>Central limit theorem</vt:lpstr>
      <vt:lpstr>Central limit theorem</vt:lpstr>
      <vt:lpstr>Multivariate distributions over Rn</vt:lpstr>
      <vt:lpstr>Multivariate Uniform</vt:lpstr>
      <vt:lpstr>Transformed uniform distribution</vt:lpstr>
      <vt:lpstr>Normal distribution</vt:lpstr>
      <vt:lpstr>Normal distribution</vt:lpstr>
      <vt:lpstr>Normal distribution</vt:lpstr>
      <vt:lpstr>Normal distribution</vt:lpstr>
      <vt:lpstr>Joint and marginal PDFs</vt:lpstr>
      <vt:lpstr>Joint PDF</vt:lpstr>
      <vt:lpstr>Marginal PDF</vt:lpstr>
      <vt:lpstr>Conditional PDF</vt:lpstr>
      <vt:lpstr>Monte Carlo</vt:lpstr>
      <vt:lpstr>Monte Carlo</vt:lpstr>
      <vt:lpstr>Monte Carlo</vt:lpstr>
      <vt:lpstr>Monte Carlo</vt:lpstr>
      <vt:lpstr>Throwing darts</vt:lpstr>
      <vt:lpstr>Throwing darts</vt:lpstr>
      <vt:lpstr>Bullseye example</vt:lpstr>
      <vt:lpstr>Inference</vt:lpstr>
      <vt:lpstr>Inference</vt:lpstr>
      <vt:lpstr>PowerPoint Presentation</vt:lpstr>
      <vt:lpstr>PowerPoint Presentation</vt:lpstr>
      <vt:lpstr>PowerPoint Presentation</vt:lpstr>
      <vt:lpstr>PowerPoint Presentation</vt:lpstr>
      <vt:lpstr>An inference scenario: The app rating problem</vt:lpstr>
      <vt:lpstr>An inference scenario: The app rating problem</vt:lpstr>
      <vt:lpstr>An inference scenario: The app rating problem</vt:lpstr>
      <vt:lpstr>A. Direct estimates</vt:lpstr>
      <vt:lpstr>Direct estimation</vt:lpstr>
      <vt:lpstr>Example: mean and variance</vt:lpstr>
      <vt:lpstr>Standard estimators</vt:lpstr>
      <vt:lpstr>Sample mean</vt:lpstr>
      <vt:lpstr>Sample mean example</vt:lpstr>
      <vt:lpstr>Variance and standard deviation</vt:lpstr>
      <vt:lpstr>Relation to normal distribution</vt:lpstr>
      <vt:lpstr>Fitting</vt:lpstr>
      <vt:lpstr>Sampling from the model</vt:lpstr>
      <vt:lpstr>B. Maximum Likelihood</vt:lpstr>
      <vt:lpstr>Maximum likelihood estimation: estimation by optimisation</vt:lpstr>
      <vt:lpstr>Maximum likelihood estimation: estimation by optimisation</vt:lpstr>
      <vt:lpstr>Optimisation solves all problems! </vt:lpstr>
      <vt:lpstr>Optimisation solves all problems! </vt:lpstr>
      <vt:lpstr>Maximum Likelihood estimation</vt:lpstr>
      <vt:lpstr>Maximum Likelihood estimation</vt:lpstr>
      <vt:lpstr>Fitting a normal with MLE </vt:lpstr>
      <vt:lpstr>Fitting a normal with MLE </vt:lpstr>
      <vt:lpstr>Fitting a normal with MLE </vt:lpstr>
      <vt:lpstr>A mixture model</vt:lpstr>
      <vt:lpstr>A mixture model</vt:lpstr>
      <vt:lpstr>Mixture model: Two components</vt:lpstr>
      <vt:lpstr>Mixture model: Three components</vt:lpstr>
      <vt:lpstr>Fitting mixtures</vt:lpstr>
      <vt:lpstr>Fitting mixtures</vt:lpstr>
      <vt:lpstr>C. Bayesian Inference</vt:lpstr>
      <vt:lpstr>Bayesian Inference</vt:lpstr>
      <vt:lpstr>Bayesian Inference</vt:lpstr>
      <vt:lpstr>Example</vt:lpstr>
      <vt:lpstr>Example</vt:lpstr>
      <vt:lpstr>Likelihood</vt:lpstr>
      <vt:lpstr>Inference</vt:lpstr>
      <vt:lpstr>Making it tractable: two simplifications </vt:lpstr>
      <vt:lpstr>Making it tractable: two simplifications </vt:lpstr>
      <vt:lpstr>Markov Chain Monte Carlo</vt:lpstr>
      <vt:lpstr>MCMC in practice: sampling issues </vt:lpstr>
      <vt:lpstr>What distribution are we sampling from?</vt:lpstr>
      <vt:lpstr>Metropolis-Hastings</vt:lpstr>
      <vt:lpstr>Metropolis-Hastings</vt:lpstr>
      <vt:lpstr>Trace</vt:lpstr>
      <vt:lpstr>Applying MCMC</vt:lpstr>
      <vt:lpstr>Predictive posterior: sampling from the model </vt:lpstr>
      <vt:lpstr>Inference summary</vt:lpstr>
      <vt:lpstr>Linear regression</vt:lpstr>
      <vt:lpstr>Linear regression (cont’d)</vt:lpstr>
      <vt:lpstr>Linear regression via direct optimisation</vt:lpstr>
      <vt:lpstr>Linear regression via direct optimisation</vt:lpstr>
      <vt:lpstr>Linear regression via direct optimisation</vt:lpstr>
      <vt:lpstr>Linear regression via maximum likelihood estimation</vt:lpstr>
      <vt:lpstr>Linear regression via maximum likelihood estimation</vt:lpstr>
      <vt:lpstr>Linear regression via maximum likelihood estimation</vt:lpstr>
      <vt:lpstr>PowerPoint Presentation</vt:lpstr>
      <vt:lpstr>Bayesian linear regression</vt:lpstr>
      <vt:lpstr>Bayesian linear regression</vt:lpstr>
      <vt:lpstr>Bayesian linear regression</vt:lpstr>
      <vt:lpstr>Bayesian linear regression</vt:lpstr>
      <vt:lpstr>Thank you  Contact: Nicolas.Pugeault@Glasgow.ac.uk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Nicolas Pugeault</cp:lastModifiedBy>
  <cp:revision>1241</cp:revision>
  <dcterms:created xsi:type="dcterms:W3CDTF">2021-01-06T14:22:07Z</dcterms:created>
  <dcterms:modified xsi:type="dcterms:W3CDTF">2025-11-19T14:18:06Z</dcterms:modified>
  <cp:category/>
</cp:coreProperties>
</file>