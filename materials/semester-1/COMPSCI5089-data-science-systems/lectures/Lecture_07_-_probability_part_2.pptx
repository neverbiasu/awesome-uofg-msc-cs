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webextensions/webextension1.xml" ContentType="application/vnd.ms-office.webextension+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sldIdLst>
    <p:sldId id="256" r:id="rId2"/>
    <p:sldId id="487" r:id="rId3"/>
    <p:sldId id="559" r:id="rId4"/>
    <p:sldId id="539" r:id="rId5"/>
    <p:sldId id="540" r:id="rId6"/>
    <p:sldId id="541" r:id="rId7"/>
    <p:sldId id="542" r:id="rId8"/>
    <p:sldId id="521" r:id="rId9"/>
    <p:sldId id="522" r:id="rId10"/>
    <p:sldId id="523" r:id="rId11"/>
    <p:sldId id="545" r:id="rId12"/>
    <p:sldId id="524" r:id="rId13"/>
    <p:sldId id="543" r:id="rId14"/>
    <p:sldId id="544" r:id="rId15"/>
    <p:sldId id="546" r:id="rId16"/>
    <p:sldId id="547" r:id="rId17"/>
    <p:sldId id="548" r:id="rId18"/>
    <p:sldId id="549" r:id="rId19"/>
    <p:sldId id="586" r:id="rId20"/>
    <p:sldId id="587" r:id="rId21"/>
    <p:sldId id="588" r:id="rId22"/>
    <p:sldId id="590" r:id="rId23"/>
    <p:sldId id="591" r:id="rId24"/>
    <p:sldId id="592" r:id="rId25"/>
    <p:sldId id="593" r:id="rId26"/>
    <p:sldId id="594" r:id="rId27"/>
    <p:sldId id="550" r:id="rId28"/>
    <p:sldId id="551" r:id="rId29"/>
    <p:sldId id="560" r:id="rId30"/>
    <p:sldId id="553" r:id="rId31"/>
    <p:sldId id="561" r:id="rId32"/>
    <p:sldId id="554" r:id="rId33"/>
    <p:sldId id="556" r:id="rId34"/>
    <p:sldId id="557" r:id="rId35"/>
    <p:sldId id="555" r:id="rId36"/>
    <p:sldId id="584" r:id="rId37"/>
    <p:sldId id="585" r:id="rId38"/>
    <p:sldId id="558" r:id="rId39"/>
    <p:sldId id="562" r:id="rId40"/>
    <p:sldId id="563" r:id="rId41"/>
    <p:sldId id="564" r:id="rId42"/>
    <p:sldId id="565" r:id="rId43"/>
    <p:sldId id="566" r:id="rId44"/>
    <p:sldId id="567" r:id="rId45"/>
    <p:sldId id="568" r:id="rId46"/>
    <p:sldId id="569" r:id="rId47"/>
    <p:sldId id="570" r:id="rId48"/>
    <p:sldId id="571" r:id="rId49"/>
    <p:sldId id="595" r:id="rId50"/>
    <p:sldId id="572" r:id="rId51"/>
    <p:sldId id="573" r:id="rId52"/>
    <p:sldId id="574" r:id="rId53"/>
    <p:sldId id="576" r:id="rId54"/>
    <p:sldId id="575" r:id="rId55"/>
    <p:sldId id="577" r:id="rId56"/>
    <p:sldId id="578" r:id="rId57"/>
    <p:sldId id="579" r:id="rId58"/>
    <p:sldId id="580" r:id="rId59"/>
    <p:sldId id="581" r:id="rId60"/>
    <p:sldId id="582" r:id="rId61"/>
    <p:sldId id="583" r:id="rId62"/>
    <p:sldId id="273" r:id="rId63"/>
  </p:sldIdLst>
  <p:sldSz cx="12192000" cy="6858000"/>
  <p:notesSz cx="6858000" cy="9144000"/>
  <p:custDataLst>
    <p:tags r:id="rId6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ABA4E2-358E-4AD7-8D53-D27606785252}" v="9" dt="2025-11-12T16:20:49.2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742" autoAdjust="0"/>
    <p:restoredTop sz="84570"/>
  </p:normalViewPr>
  <p:slideViewPr>
    <p:cSldViewPr snapToGrid="0">
      <p:cViewPr varScale="1">
        <p:scale>
          <a:sx n="58" d="100"/>
          <a:sy n="58" d="100"/>
        </p:scale>
        <p:origin x="54" y="144"/>
      </p:cViewPr>
      <p:guideLst/>
    </p:cSldViewPr>
  </p:slideViewPr>
  <p:outlineViewPr>
    <p:cViewPr>
      <p:scale>
        <a:sx n="30" d="100"/>
        <a:sy n="30" d="100"/>
      </p:scale>
      <p:origin x="0" y="0"/>
    </p:cViewPr>
  </p:outlin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gs" Target="tags/tag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olas Pugeault" userId="1fb198ab-7f77-45c5-8863-126c823efc0f" providerId="ADAL" clId="{B9431C29-5306-416B-8A97-11F556A012F7}"/>
    <pc:docChg chg="undo custSel modSld">
      <pc:chgData name="Nicolas Pugeault" userId="1fb198ab-7f77-45c5-8863-126c823efc0f" providerId="ADAL" clId="{B9431C29-5306-416B-8A97-11F556A012F7}" dt="2025-11-12T16:25:39.596" v="1228" actId="962"/>
      <pc:docMkLst>
        <pc:docMk/>
      </pc:docMkLst>
      <pc:sldChg chg="addSp modSp">
        <pc:chgData name="Nicolas Pugeault" userId="1fb198ab-7f77-45c5-8863-126c823efc0f" providerId="ADAL" clId="{B9431C29-5306-416B-8A97-11F556A012F7}" dt="2025-11-12T16:19:49.447" v="95" actId="164"/>
        <pc:sldMkLst>
          <pc:docMk/>
          <pc:sldMk cId="295434202" sldId="549"/>
        </pc:sldMkLst>
        <pc:spChg chg="mod">
          <ac:chgData name="Nicolas Pugeault" userId="1fb198ab-7f77-45c5-8863-126c823efc0f" providerId="ADAL" clId="{B9431C29-5306-416B-8A97-11F556A012F7}" dt="2025-11-12T16:19:49.447" v="95" actId="164"/>
          <ac:spMkLst>
            <pc:docMk/>
            <pc:sldMk cId="295434202" sldId="549"/>
            <ac:spMk id="4" creationId="{0B7DDCC5-BF98-148E-96ED-66FE2DD29710}"/>
          </ac:spMkLst>
        </pc:spChg>
        <pc:spChg chg="mod">
          <ac:chgData name="Nicolas Pugeault" userId="1fb198ab-7f77-45c5-8863-126c823efc0f" providerId="ADAL" clId="{B9431C29-5306-416B-8A97-11F556A012F7}" dt="2025-11-12T16:19:49.447" v="95" actId="164"/>
          <ac:spMkLst>
            <pc:docMk/>
            <pc:sldMk cId="295434202" sldId="549"/>
            <ac:spMk id="5" creationId="{C4F86A63-D9E1-22C0-D2AF-7D9E84EF0939}"/>
          </ac:spMkLst>
        </pc:spChg>
        <pc:spChg chg="mod">
          <ac:chgData name="Nicolas Pugeault" userId="1fb198ab-7f77-45c5-8863-126c823efc0f" providerId="ADAL" clId="{B9431C29-5306-416B-8A97-11F556A012F7}" dt="2025-11-12T16:19:49.447" v="95" actId="164"/>
          <ac:spMkLst>
            <pc:docMk/>
            <pc:sldMk cId="295434202" sldId="549"/>
            <ac:spMk id="6" creationId="{20DF213A-AF86-95B7-3637-B2BFF1D89EBE}"/>
          </ac:spMkLst>
        </pc:spChg>
        <pc:spChg chg="mod">
          <ac:chgData name="Nicolas Pugeault" userId="1fb198ab-7f77-45c5-8863-126c823efc0f" providerId="ADAL" clId="{B9431C29-5306-416B-8A97-11F556A012F7}" dt="2025-11-12T16:19:49.447" v="95" actId="164"/>
          <ac:spMkLst>
            <pc:docMk/>
            <pc:sldMk cId="295434202" sldId="549"/>
            <ac:spMk id="7" creationId="{00F9E7FE-C620-BE20-5D6D-82896161F116}"/>
          </ac:spMkLst>
        </pc:spChg>
        <pc:spChg chg="mod">
          <ac:chgData name="Nicolas Pugeault" userId="1fb198ab-7f77-45c5-8863-126c823efc0f" providerId="ADAL" clId="{B9431C29-5306-416B-8A97-11F556A012F7}" dt="2025-11-12T16:19:49.447" v="95" actId="164"/>
          <ac:spMkLst>
            <pc:docMk/>
            <pc:sldMk cId="295434202" sldId="549"/>
            <ac:spMk id="8" creationId="{CD67166E-5EF3-AA8F-F88C-6443D3FF336B}"/>
          </ac:spMkLst>
        </pc:spChg>
        <pc:grpChg chg="add mod">
          <ac:chgData name="Nicolas Pugeault" userId="1fb198ab-7f77-45c5-8863-126c823efc0f" providerId="ADAL" clId="{B9431C29-5306-416B-8A97-11F556A012F7}" dt="2025-11-12T16:19:49.447" v="95" actId="164"/>
          <ac:grpSpMkLst>
            <pc:docMk/>
            <pc:sldMk cId="295434202" sldId="549"/>
            <ac:grpSpMk id="3" creationId="{595F16C3-C6BD-97D1-B629-1897A91E65C3}"/>
          </ac:grpSpMkLst>
        </pc:grpChg>
      </pc:sldChg>
      <pc:sldChg chg="modSp mod">
        <pc:chgData name="Nicolas Pugeault" userId="1fb198ab-7f77-45c5-8863-126c823efc0f" providerId="ADAL" clId="{B9431C29-5306-416B-8A97-11F556A012F7}" dt="2025-11-12T16:11:24.036" v="94" actId="20577"/>
        <pc:sldMkLst>
          <pc:docMk/>
          <pc:sldMk cId="4237851446" sldId="550"/>
        </pc:sldMkLst>
        <pc:spChg chg="mod">
          <ac:chgData name="Nicolas Pugeault" userId="1fb198ab-7f77-45c5-8863-126c823efc0f" providerId="ADAL" clId="{B9431C29-5306-416B-8A97-11F556A012F7}" dt="2025-11-12T16:11:24.036" v="94" actId="20577"/>
          <ac:spMkLst>
            <pc:docMk/>
            <pc:sldMk cId="4237851446" sldId="550"/>
            <ac:spMk id="3" creationId="{B1C77831-4AF2-44EF-24BF-9A6E57671046}"/>
          </ac:spMkLst>
        </pc:spChg>
      </pc:sldChg>
      <pc:sldChg chg="modSp mod">
        <pc:chgData name="Nicolas Pugeault" userId="1fb198ab-7f77-45c5-8863-126c823efc0f" providerId="ADAL" clId="{B9431C29-5306-416B-8A97-11F556A012F7}" dt="2025-11-12T16:25:39.596" v="1228" actId="962"/>
        <pc:sldMkLst>
          <pc:docMk/>
          <pc:sldMk cId="2437604273" sldId="570"/>
        </pc:sldMkLst>
        <pc:picChg chg="mod">
          <ac:chgData name="Nicolas Pugeault" userId="1fb198ab-7f77-45c5-8863-126c823efc0f" providerId="ADAL" clId="{B9431C29-5306-416B-8A97-11F556A012F7}" dt="2025-11-12T16:25:39.596" v="1228" actId="962"/>
          <ac:picMkLst>
            <pc:docMk/>
            <pc:sldMk cId="2437604273" sldId="570"/>
            <ac:picMk id="7" creationId="{EFD3CA14-ED41-F359-A3FB-0529C90F33E6}"/>
          </ac:picMkLst>
        </pc:picChg>
      </pc:sldChg>
      <pc:sldChg chg="modSp mod">
        <pc:chgData name="Nicolas Pugeault" userId="1fb198ab-7f77-45c5-8863-126c823efc0f" providerId="ADAL" clId="{B9431C29-5306-416B-8A97-11F556A012F7}" dt="2025-11-12T16:25:32.350" v="1227" actId="962"/>
        <pc:sldMkLst>
          <pc:docMk/>
          <pc:sldMk cId="2285510362" sldId="571"/>
        </pc:sldMkLst>
        <pc:picChg chg="mod">
          <ac:chgData name="Nicolas Pugeault" userId="1fb198ab-7f77-45c5-8863-126c823efc0f" providerId="ADAL" clId="{B9431C29-5306-416B-8A97-11F556A012F7}" dt="2025-11-12T16:25:32.350" v="1227" actId="962"/>
          <ac:picMkLst>
            <pc:docMk/>
            <pc:sldMk cId="2285510362" sldId="571"/>
            <ac:picMk id="5" creationId="{6F73C134-B133-4E78-C3FE-EFB703CEC8E8}"/>
          </ac:picMkLst>
        </pc:picChg>
      </pc:sldChg>
      <pc:sldChg chg="modSp mod">
        <pc:chgData name="Nicolas Pugeault" userId="1fb198ab-7f77-45c5-8863-126c823efc0f" providerId="ADAL" clId="{B9431C29-5306-416B-8A97-11F556A012F7}" dt="2025-11-12T16:24:10.310" v="997" actId="962"/>
        <pc:sldMkLst>
          <pc:docMk/>
          <pc:sldMk cId="3051401926" sldId="572"/>
        </pc:sldMkLst>
        <pc:picChg chg="mod">
          <ac:chgData name="Nicolas Pugeault" userId="1fb198ab-7f77-45c5-8863-126c823efc0f" providerId="ADAL" clId="{B9431C29-5306-416B-8A97-11F556A012F7}" dt="2025-11-12T16:24:10.310" v="997" actId="962"/>
          <ac:picMkLst>
            <pc:docMk/>
            <pc:sldMk cId="3051401926" sldId="572"/>
            <ac:picMk id="5" creationId="{CA6AD2DA-260B-604A-6A27-5C4D3EBAC65B}"/>
          </ac:picMkLst>
        </pc:picChg>
      </pc:sldChg>
      <pc:sldChg chg="addSp modSp">
        <pc:chgData name="Nicolas Pugeault" userId="1fb198ab-7f77-45c5-8863-126c823efc0f" providerId="ADAL" clId="{B9431C29-5306-416B-8A97-11F556A012F7}" dt="2025-11-12T16:20:01.918" v="96" actId="164"/>
        <pc:sldMkLst>
          <pc:docMk/>
          <pc:sldMk cId="3662369605" sldId="586"/>
        </pc:sldMkLst>
        <pc:spChg chg="mod">
          <ac:chgData name="Nicolas Pugeault" userId="1fb198ab-7f77-45c5-8863-126c823efc0f" providerId="ADAL" clId="{B9431C29-5306-416B-8A97-11F556A012F7}" dt="2025-11-12T16:20:01.918" v="96" actId="164"/>
          <ac:spMkLst>
            <pc:docMk/>
            <pc:sldMk cId="3662369605" sldId="586"/>
            <ac:spMk id="5" creationId="{239000EA-9367-CDA0-84D5-D0258A53BA27}"/>
          </ac:spMkLst>
        </pc:spChg>
        <pc:grpChg chg="add mod">
          <ac:chgData name="Nicolas Pugeault" userId="1fb198ab-7f77-45c5-8863-126c823efc0f" providerId="ADAL" clId="{B9431C29-5306-416B-8A97-11F556A012F7}" dt="2025-11-12T16:20:01.918" v="96" actId="164"/>
          <ac:grpSpMkLst>
            <pc:docMk/>
            <pc:sldMk cId="3662369605" sldId="586"/>
            <ac:grpSpMk id="3" creationId="{B6ECA3CE-D5E2-EFEA-CC52-3F8509B23513}"/>
          </ac:grpSpMkLst>
        </pc:grpChg>
        <pc:cxnChg chg="mod">
          <ac:chgData name="Nicolas Pugeault" userId="1fb198ab-7f77-45c5-8863-126c823efc0f" providerId="ADAL" clId="{B9431C29-5306-416B-8A97-11F556A012F7}" dt="2025-11-12T16:20:01.918" v="96" actId="164"/>
          <ac:cxnSpMkLst>
            <pc:docMk/>
            <pc:sldMk cId="3662369605" sldId="586"/>
            <ac:cxnSpMk id="9" creationId="{97547F9B-9ECC-9D1B-2392-07A2C121F3A7}"/>
          </ac:cxnSpMkLst>
        </pc:cxnChg>
        <pc:cxnChg chg="mod">
          <ac:chgData name="Nicolas Pugeault" userId="1fb198ab-7f77-45c5-8863-126c823efc0f" providerId="ADAL" clId="{B9431C29-5306-416B-8A97-11F556A012F7}" dt="2025-11-12T16:20:01.918" v="96" actId="164"/>
          <ac:cxnSpMkLst>
            <pc:docMk/>
            <pc:sldMk cId="3662369605" sldId="586"/>
            <ac:cxnSpMk id="10" creationId="{45E121E0-4C98-686C-697E-23ED66FAE66E}"/>
          </ac:cxnSpMkLst>
        </pc:cxnChg>
        <pc:cxnChg chg="mod">
          <ac:chgData name="Nicolas Pugeault" userId="1fb198ab-7f77-45c5-8863-126c823efc0f" providerId="ADAL" clId="{B9431C29-5306-416B-8A97-11F556A012F7}" dt="2025-11-12T16:20:01.918" v="96" actId="164"/>
          <ac:cxnSpMkLst>
            <pc:docMk/>
            <pc:sldMk cId="3662369605" sldId="586"/>
            <ac:cxnSpMk id="11" creationId="{2110307A-79C9-DD22-4172-6B0D9EEEC0E0}"/>
          </ac:cxnSpMkLst>
        </pc:cxnChg>
        <pc:cxnChg chg="mod">
          <ac:chgData name="Nicolas Pugeault" userId="1fb198ab-7f77-45c5-8863-126c823efc0f" providerId="ADAL" clId="{B9431C29-5306-416B-8A97-11F556A012F7}" dt="2025-11-12T16:20:01.918" v="96" actId="164"/>
          <ac:cxnSpMkLst>
            <pc:docMk/>
            <pc:sldMk cId="3662369605" sldId="586"/>
            <ac:cxnSpMk id="12" creationId="{2BC5ED58-0BA6-E197-94B6-13648C149B5C}"/>
          </ac:cxnSpMkLst>
        </pc:cxnChg>
        <pc:cxnChg chg="mod">
          <ac:chgData name="Nicolas Pugeault" userId="1fb198ab-7f77-45c5-8863-126c823efc0f" providerId="ADAL" clId="{B9431C29-5306-416B-8A97-11F556A012F7}" dt="2025-11-12T16:20:01.918" v="96" actId="164"/>
          <ac:cxnSpMkLst>
            <pc:docMk/>
            <pc:sldMk cId="3662369605" sldId="586"/>
            <ac:cxnSpMk id="13" creationId="{1C970499-F026-394B-319E-91C15024140C}"/>
          </ac:cxnSpMkLst>
        </pc:cxnChg>
        <pc:cxnChg chg="mod">
          <ac:chgData name="Nicolas Pugeault" userId="1fb198ab-7f77-45c5-8863-126c823efc0f" providerId="ADAL" clId="{B9431C29-5306-416B-8A97-11F556A012F7}" dt="2025-11-12T16:20:01.918" v="96" actId="164"/>
          <ac:cxnSpMkLst>
            <pc:docMk/>
            <pc:sldMk cId="3662369605" sldId="586"/>
            <ac:cxnSpMk id="14" creationId="{46C48F1E-CC61-D58A-B125-5BB32E4F6056}"/>
          </ac:cxnSpMkLst>
        </pc:cxnChg>
        <pc:cxnChg chg="mod">
          <ac:chgData name="Nicolas Pugeault" userId="1fb198ab-7f77-45c5-8863-126c823efc0f" providerId="ADAL" clId="{B9431C29-5306-416B-8A97-11F556A012F7}" dt="2025-11-12T16:20:01.918" v="96" actId="164"/>
          <ac:cxnSpMkLst>
            <pc:docMk/>
            <pc:sldMk cId="3662369605" sldId="586"/>
            <ac:cxnSpMk id="18" creationId="{D721AEBE-B7B2-232A-BFDB-4A94AF0DB988}"/>
          </ac:cxnSpMkLst>
        </pc:cxnChg>
        <pc:cxnChg chg="mod">
          <ac:chgData name="Nicolas Pugeault" userId="1fb198ab-7f77-45c5-8863-126c823efc0f" providerId="ADAL" clId="{B9431C29-5306-416B-8A97-11F556A012F7}" dt="2025-11-12T16:20:01.918" v="96" actId="164"/>
          <ac:cxnSpMkLst>
            <pc:docMk/>
            <pc:sldMk cId="3662369605" sldId="586"/>
            <ac:cxnSpMk id="19" creationId="{62E38E4D-2FD0-0639-1552-88159AB432C0}"/>
          </ac:cxnSpMkLst>
        </pc:cxnChg>
      </pc:sldChg>
      <pc:sldChg chg="addSp modSp">
        <pc:chgData name="Nicolas Pugeault" userId="1fb198ab-7f77-45c5-8863-126c823efc0f" providerId="ADAL" clId="{B9431C29-5306-416B-8A97-11F556A012F7}" dt="2025-11-12T16:20:11.975" v="97" actId="164"/>
        <pc:sldMkLst>
          <pc:docMk/>
          <pc:sldMk cId="1768550288" sldId="587"/>
        </pc:sldMkLst>
        <pc:spChg chg="mod">
          <ac:chgData name="Nicolas Pugeault" userId="1fb198ab-7f77-45c5-8863-126c823efc0f" providerId="ADAL" clId="{B9431C29-5306-416B-8A97-11F556A012F7}" dt="2025-11-12T16:20:11.975" v="97" actId="164"/>
          <ac:spMkLst>
            <pc:docMk/>
            <pc:sldMk cId="1768550288" sldId="587"/>
            <ac:spMk id="3" creationId="{7335832F-FC1B-ED11-7134-3F5A1ECE27D8}"/>
          </ac:spMkLst>
        </pc:spChg>
        <pc:spChg chg="mod">
          <ac:chgData name="Nicolas Pugeault" userId="1fb198ab-7f77-45c5-8863-126c823efc0f" providerId="ADAL" clId="{B9431C29-5306-416B-8A97-11F556A012F7}" dt="2025-11-12T16:20:11.975" v="97" actId="164"/>
          <ac:spMkLst>
            <pc:docMk/>
            <pc:sldMk cId="1768550288" sldId="587"/>
            <ac:spMk id="5" creationId="{5B05B6AF-83B4-EB58-3B44-BD1B68DD1C48}"/>
          </ac:spMkLst>
        </pc:spChg>
        <pc:grpChg chg="add mod">
          <ac:chgData name="Nicolas Pugeault" userId="1fb198ab-7f77-45c5-8863-126c823efc0f" providerId="ADAL" clId="{B9431C29-5306-416B-8A97-11F556A012F7}" dt="2025-11-12T16:20:11.975" v="97" actId="164"/>
          <ac:grpSpMkLst>
            <pc:docMk/>
            <pc:sldMk cId="1768550288" sldId="587"/>
            <ac:grpSpMk id="6" creationId="{C1CE5763-2AA4-498A-2B5D-84C541CBF2A1}"/>
          </ac:grpSpMkLst>
        </pc:grpChg>
        <pc:cxnChg chg="mod">
          <ac:chgData name="Nicolas Pugeault" userId="1fb198ab-7f77-45c5-8863-126c823efc0f" providerId="ADAL" clId="{B9431C29-5306-416B-8A97-11F556A012F7}" dt="2025-11-12T16:20:11.975" v="97" actId="164"/>
          <ac:cxnSpMkLst>
            <pc:docMk/>
            <pc:sldMk cId="1768550288" sldId="587"/>
            <ac:cxnSpMk id="8" creationId="{D7DADC7C-DB3B-3004-4683-78C8618266C2}"/>
          </ac:cxnSpMkLst>
        </pc:cxnChg>
        <pc:cxnChg chg="mod">
          <ac:chgData name="Nicolas Pugeault" userId="1fb198ab-7f77-45c5-8863-126c823efc0f" providerId="ADAL" clId="{B9431C29-5306-416B-8A97-11F556A012F7}" dt="2025-11-12T16:20:11.975" v="97" actId="164"/>
          <ac:cxnSpMkLst>
            <pc:docMk/>
            <pc:sldMk cId="1768550288" sldId="587"/>
            <ac:cxnSpMk id="12" creationId="{D0A0A057-DD9A-AAD9-EB73-5C4365F88772}"/>
          </ac:cxnSpMkLst>
        </pc:cxnChg>
        <pc:cxnChg chg="mod">
          <ac:chgData name="Nicolas Pugeault" userId="1fb198ab-7f77-45c5-8863-126c823efc0f" providerId="ADAL" clId="{B9431C29-5306-416B-8A97-11F556A012F7}" dt="2025-11-12T16:20:11.975" v="97" actId="164"/>
          <ac:cxnSpMkLst>
            <pc:docMk/>
            <pc:sldMk cId="1768550288" sldId="587"/>
            <ac:cxnSpMk id="13" creationId="{BDE78BA6-FA11-296E-4A76-FE77CFAAFC78}"/>
          </ac:cxnSpMkLst>
        </pc:cxnChg>
        <pc:cxnChg chg="mod">
          <ac:chgData name="Nicolas Pugeault" userId="1fb198ab-7f77-45c5-8863-126c823efc0f" providerId="ADAL" clId="{B9431C29-5306-416B-8A97-11F556A012F7}" dt="2025-11-12T16:20:11.975" v="97" actId="164"/>
          <ac:cxnSpMkLst>
            <pc:docMk/>
            <pc:sldMk cId="1768550288" sldId="587"/>
            <ac:cxnSpMk id="18" creationId="{9680AD15-23D1-E4DA-4844-DB6BC0B0E307}"/>
          </ac:cxnSpMkLst>
        </pc:cxnChg>
        <pc:cxnChg chg="mod">
          <ac:chgData name="Nicolas Pugeault" userId="1fb198ab-7f77-45c5-8863-126c823efc0f" providerId="ADAL" clId="{B9431C29-5306-416B-8A97-11F556A012F7}" dt="2025-11-12T16:20:11.975" v="97" actId="164"/>
          <ac:cxnSpMkLst>
            <pc:docMk/>
            <pc:sldMk cId="1768550288" sldId="587"/>
            <ac:cxnSpMk id="19" creationId="{0B9638CB-B38D-4E29-70B9-721B90A98DAF}"/>
          </ac:cxnSpMkLst>
        </pc:cxnChg>
        <pc:cxnChg chg="mod">
          <ac:chgData name="Nicolas Pugeault" userId="1fb198ab-7f77-45c5-8863-126c823efc0f" providerId="ADAL" clId="{B9431C29-5306-416B-8A97-11F556A012F7}" dt="2025-11-12T16:20:11.975" v="97" actId="164"/>
          <ac:cxnSpMkLst>
            <pc:docMk/>
            <pc:sldMk cId="1768550288" sldId="587"/>
            <ac:cxnSpMk id="20" creationId="{35799EDE-9D38-9B9D-AF9A-AD2D0A9B0B2B}"/>
          </ac:cxnSpMkLst>
        </pc:cxnChg>
        <pc:cxnChg chg="mod">
          <ac:chgData name="Nicolas Pugeault" userId="1fb198ab-7f77-45c5-8863-126c823efc0f" providerId="ADAL" clId="{B9431C29-5306-416B-8A97-11F556A012F7}" dt="2025-11-12T16:20:11.975" v="97" actId="164"/>
          <ac:cxnSpMkLst>
            <pc:docMk/>
            <pc:sldMk cId="1768550288" sldId="587"/>
            <ac:cxnSpMk id="22" creationId="{8AD77305-4C21-4C9A-50F0-60A39F10BA00}"/>
          </ac:cxnSpMkLst>
        </pc:cxnChg>
      </pc:sldChg>
      <pc:sldChg chg="addSp modSp">
        <pc:chgData name="Nicolas Pugeault" userId="1fb198ab-7f77-45c5-8863-126c823efc0f" providerId="ADAL" clId="{B9431C29-5306-416B-8A97-11F556A012F7}" dt="2025-11-12T16:20:22.321" v="98" actId="164"/>
        <pc:sldMkLst>
          <pc:docMk/>
          <pc:sldMk cId="971268999" sldId="588"/>
        </pc:sldMkLst>
        <pc:spChg chg="mod">
          <ac:chgData name="Nicolas Pugeault" userId="1fb198ab-7f77-45c5-8863-126c823efc0f" providerId="ADAL" clId="{B9431C29-5306-416B-8A97-11F556A012F7}" dt="2025-11-12T16:20:22.321" v="98" actId="164"/>
          <ac:spMkLst>
            <pc:docMk/>
            <pc:sldMk cId="971268999" sldId="588"/>
            <ac:spMk id="3" creationId="{442E990A-D1C2-7910-3F39-3CF3E33B7E3A}"/>
          </ac:spMkLst>
        </pc:spChg>
        <pc:spChg chg="mod">
          <ac:chgData name="Nicolas Pugeault" userId="1fb198ab-7f77-45c5-8863-126c823efc0f" providerId="ADAL" clId="{B9431C29-5306-416B-8A97-11F556A012F7}" dt="2025-11-12T16:20:22.321" v="98" actId="164"/>
          <ac:spMkLst>
            <pc:docMk/>
            <pc:sldMk cId="971268999" sldId="588"/>
            <ac:spMk id="5" creationId="{914689EA-D3BB-D556-0003-C92AF8EB30D0}"/>
          </ac:spMkLst>
        </pc:spChg>
        <pc:spChg chg="mod">
          <ac:chgData name="Nicolas Pugeault" userId="1fb198ab-7f77-45c5-8863-126c823efc0f" providerId="ADAL" clId="{B9431C29-5306-416B-8A97-11F556A012F7}" dt="2025-11-12T16:20:22.321" v="98" actId="164"/>
          <ac:spMkLst>
            <pc:docMk/>
            <pc:sldMk cId="971268999" sldId="588"/>
            <ac:spMk id="6" creationId="{EFD8594E-C928-82EE-98AE-810374EA5DCA}"/>
          </ac:spMkLst>
        </pc:spChg>
        <pc:grpChg chg="add mod">
          <ac:chgData name="Nicolas Pugeault" userId="1fb198ab-7f77-45c5-8863-126c823efc0f" providerId="ADAL" clId="{B9431C29-5306-416B-8A97-11F556A012F7}" dt="2025-11-12T16:20:22.321" v="98" actId="164"/>
          <ac:grpSpMkLst>
            <pc:docMk/>
            <pc:sldMk cId="971268999" sldId="588"/>
            <ac:grpSpMk id="4" creationId="{D9A9A886-1DC7-92DB-DBE5-D4EC13345BB0}"/>
          </ac:grpSpMkLst>
        </pc:grpChg>
        <pc:cxnChg chg="mod">
          <ac:chgData name="Nicolas Pugeault" userId="1fb198ab-7f77-45c5-8863-126c823efc0f" providerId="ADAL" clId="{B9431C29-5306-416B-8A97-11F556A012F7}" dt="2025-11-12T16:20:22.321" v="98" actId="164"/>
          <ac:cxnSpMkLst>
            <pc:docMk/>
            <pc:sldMk cId="971268999" sldId="588"/>
            <ac:cxnSpMk id="10" creationId="{0DB06680-3965-7109-9867-588AF2AA7E40}"/>
          </ac:cxnSpMkLst>
        </pc:cxnChg>
        <pc:cxnChg chg="mod">
          <ac:chgData name="Nicolas Pugeault" userId="1fb198ab-7f77-45c5-8863-126c823efc0f" providerId="ADAL" clId="{B9431C29-5306-416B-8A97-11F556A012F7}" dt="2025-11-12T16:20:22.321" v="98" actId="164"/>
          <ac:cxnSpMkLst>
            <pc:docMk/>
            <pc:sldMk cId="971268999" sldId="588"/>
            <ac:cxnSpMk id="11" creationId="{BAC6D2A6-C29E-6A39-4FFC-3564320E2F1E}"/>
          </ac:cxnSpMkLst>
        </pc:cxnChg>
        <pc:cxnChg chg="mod">
          <ac:chgData name="Nicolas Pugeault" userId="1fb198ab-7f77-45c5-8863-126c823efc0f" providerId="ADAL" clId="{B9431C29-5306-416B-8A97-11F556A012F7}" dt="2025-11-12T16:20:22.321" v="98" actId="164"/>
          <ac:cxnSpMkLst>
            <pc:docMk/>
            <pc:sldMk cId="971268999" sldId="588"/>
            <ac:cxnSpMk id="12" creationId="{F8131F9C-DAA4-1DD5-BC92-DB52C544384A}"/>
          </ac:cxnSpMkLst>
        </pc:cxnChg>
        <pc:cxnChg chg="mod">
          <ac:chgData name="Nicolas Pugeault" userId="1fb198ab-7f77-45c5-8863-126c823efc0f" providerId="ADAL" clId="{B9431C29-5306-416B-8A97-11F556A012F7}" dt="2025-11-12T16:20:22.321" v="98" actId="164"/>
          <ac:cxnSpMkLst>
            <pc:docMk/>
            <pc:sldMk cId="971268999" sldId="588"/>
            <ac:cxnSpMk id="13" creationId="{0B2F248C-B688-B687-F381-953BB5B4E0C8}"/>
          </ac:cxnSpMkLst>
        </pc:cxnChg>
        <pc:cxnChg chg="mod">
          <ac:chgData name="Nicolas Pugeault" userId="1fb198ab-7f77-45c5-8863-126c823efc0f" providerId="ADAL" clId="{B9431C29-5306-416B-8A97-11F556A012F7}" dt="2025-11-12T16:20:22.321" v="98" actId="164"/>
          <ac:cxnSpMkLst>
            <pc:docMk/>
            <pc:sldMk cId="971268999" sldId="588"/>
            <ac:cxnSpMk id="19" creationId="{13B438E6-9A61-2289-A0D3-60AFA3A6DEE2}"/>
          </ac:cxnSpMkLst>
        </pc:cxnChg>
        <pc:cxnChg chg="mod">
          <ac:chgData name="Nicolas Pugeault" userId="1fb198ab-7f77-45c5-8863-126c823efc0f" providerId="ADAL" clId="{B9431C29-5306-416B-8A97-11F556A012F7}" dt="2025-11-12T16:20:22.321" v="98" actId="164"/>
          <ac:cxnSpMkLst>
            <pc:docMk/>
            <pc:sldMk cId="971268999" sldId="588"/>
            <ac:cxnSpMk id="20" creationId="{9AA380C7-6316-6A90-CDEC-8171801758CF}"/>
          </ac:cxnSpMkLst>
        </pc:cxnChg>
      </pc:sldChg>
      <pc:sldChg chg="addSp modSp">
        <pc:chgData name="Nicolas Pugeault" userId="1fb198ab-7f77-45c5-8863-126c823efc0f" providerId="ADAL" clId="{B9431C29-5306-416B-8A97-11F556A012F7}" dt="2025-11-12T16:20:29.822" v="99" actId="164"/>
        <pc:sldMkLst>
          <pc:docMk/>
          <pc:sldMk cId="1461200070" sldId="590"/>
        </pc:sldMkLst>
        <pc:spChg chg="mod">
          <ac:chgData name="Nicolas Pugeault" userId="1fb198ab-7f77-45c5-8863-126c823efc0f" providerId="ADAL" clId="{B9431C29-5306-416B-8A97-11F556A012F7}" dt="2025-11-12T16:20:29.822" v="99" actId="164"/>
          <ac:spMkLst>
            <pc:docMk/>
            <pc:sldMk cId="1461200070" sldId="590"/>
            <ac:spMk id="3" creationId="{915F10F9-E855-C164-C25C-00C497FD195D}"/>
          </ac:spMkLst>
        </pc:spChg>
        <pc:spChg chg="mod">
          <ac:chgData name="Nicolas Pugeault" userId="1fb198ab-7f77-45c5-8863-126c823efc0f" providerId="ADAL" clId="{B9431C29-5306-416B-8A97-11F556A012F7}" dt="2025-11-12T16:20:29.822" v="99" actId="164"/>
          <ac:spMkLst>
            <pc:docMk/>
            <pc:sldMk cId="1461200070" sldId="590"/>
            <ac:spMk id="5" creationId="{FF6664E1-E94D-C3FB-A4E8-E4B0027CE3AE}"/>
          </ac:spMkLst>
        </pc:spChg>
        <pc:spChg chg="mod">
          <ac:chgData name="Nicolas Pugeault" userId="1fb198ab-7f77-45c5-8863-126c823efc0f" providerId="ADAL" clId="{B9431C29-5306-416B-8A97-11F556A012F7}" dt="2025-11-12T16:20:29.822" v="99" actId="164"/>
          <ac:spMkLst>
            <pc:docMk/>
            <pc:sldMk cId="1461200070" sldId="590"/>
            <ac:spMk id="6" creationId="{73BBE6C4-0DBB-E952-B713-AF5BFA9D7BF8}"/>
          </ac:spMkLst>
        </pc:spChg>
        <pc:grpChg chg="add mod">
          <ac:chgData name="Nicolas Pugeault" userId="1fb198ab-7f77-45c5-8863-126c823efc0f" providerId="ADAL" clId="{B9431C29-5306-416B-8A97-11F556A012F7}" dt="2025-11-12T16:20:29.822" v="99" actId="164"/>
          <ac:grpSpMkLst>
            <pc:docMk/>
            <pc:sldMk cId="1461200070" sldId="590"/>
            <ac:grpSpMk id="4" creationId="{E34A309A-B809-9D40-0569-EF679720030B}"/>
          </ac:grpSpMkLst>
        </pc:grpChg>
        <pc:cxnChg chg="mod">
          <ac:chgData name="Nicolas Pugeault" userId="1fb198ab-7f77-45c5-8863-126c823efc0f" providerId="ADAL" clId="{B9431C29-5306-416B-8A97-11F556A012F7}" dt="2025-11-12T16:20:29.822" v="99" actId="164"/>
          <ac:cxnSpMkLst>
            <pc:docMk/>
            <pc:sldMk cId="1461200070" sldId="590"/>
            <ac:cxnSpMk id="8" creationId="{3826E46B-493B-5250-1D5C-6D3993DF851E}"/>
          </ac:cxnSpMkLst>
        </pc:cxnChg>
        <pc:cxnChg chg="mod">
          <ac:chgData name="Nicolas Pugeault" userId="1fb198ab-7f77-45c5-8863-126c823efc0f" providerId="ADAL" clId="{B9431C29-5306-416B-8A97-11F556A012F7}" dt="2025-11-12T16:20:29.822" v="99" actId="164"/>
          <ac:cxnSpMkLst>
            <pc:docMk/>
            <pc:sldMk cId="1461200070" sldId="590"/>
            <ac:cxnSpMk id="12" creationId="{B8AE7884-8D9D-E942-79A2-706C9B41C8C9}"/>
          </ac:cxnSpMkLst>
        </pc:cxnChg>
        <pc:cxnChg chg="mod">
          <ac:chgData name="Nicolas Pugeault" userId="1fb198ab-7f77-45c5-8863-126c823efc0f" providerId="ADAL" clId="{B9431C29-5306-416B-8A97-11F556A012F7}" dt="2025-11-12T16:20:29.822" v="99" actId="164"/>
          <ac:cxnSpMkLst>
            <pc:docMk/>
            <pc:sldMk cId="1461200070" sldId="590"/>
            <ac:cxnSpMk id="19" creationId="{23182A4B-C6C1-EF9F-3DD8-4D85A6DBDE2D}"/>
          </ac:cxnSpMkLst>
        </pc:cxnChg>
        <pc:cxnChg chg="mod">
          <ac:chgData name="Nicolas Pugeault" userId="1fb198ab-7f77-45c5-8863-126c823efc0f" providerId="ADAL" clId="{B9431C29-5306-416B-8A97-11F556A012F7}" dt="2025-11-12T16:20:29.822" v="99" actId="164"/>
          <ac:cxnSpMkLst>
            <pc:docMk/>
            <pc:sldMk cId="1461200070" sldId="590"/>
            <ac:cxnSpMk id="20" creationId="{F0DBCEC7-0A28-3FEE-A115-04A99346D6E0}"/>
          </ac:cxnSpMkLst>
        </pc:cxnChg>
        <pc:cxnChg chg="mod">
          <ac:chgData name="Nicolas Pugeault" userId="1fb198ab-7f77-45c5-8863-126c823efc0f" providerId="ADAL" clId="{B9431C29-5306-416B-8A97-11F556A012F7}" dt="2025-11-12T16:20:29.822" v="99" actId="164"/>
          <ac:cxnSpMkLst>
            <pc:docMk/>
            <pc:sldMk cId="1461200070" sldId="590"/>
            <ac:cxnSpMk id="21" creationId="{34DC9894-D3EA-81D1-9CFF-01DDEB5B7F26}"/>
          </ac:cxnSpMkLst>
        </pc:cxnChg>
        <pc:cxnChg chg="mod">
          <ac:chgData name="Nicolas Pugeault" userId="1fb198ab-7f77-45c5-8863-126c823efc0f" providerId="ADAL" clId="{B9431C29-5306-416B-8A97-11F556A012F7}" dt="2025-11-12T16:20:29.822" v="99" actId="164"/>
          <ac:cxnSpMkLst>
            <pc:docMk/>
            <pc:sldMk cId="1461200070" sldId="590"/>
            <ac:cxnSpMk id="22" creationId="{E1E984B3-604A-7B46-770B-43B2AFB34A2B}"/>
          </ac:cxnSpMkLst>
        </pc:cxnChg>
      </pc:sldChg>
      <pc:sldChg chg="addSp modSp">
        <pc:chgData name="Nicolas Pugeault" userId="1fb198ab-7f77-45c5-8863-126c823efc0f" providerId="ADAL" clId="{B9431C29-5306-416B-8A97-11F556A012F7}" dt="2025-11-12T16:20:34.035" v="100" actId="164"/>
        <pc:sldMkLst>
          <pc:docMk/>
          <pc:sldMk cId="3126582958" sldId="591"/>
        </pc:sldMkLst>
        <pc:spChg chg="mod">
          <ac:chgData name="Nicolas Pugeault" userId="1fb198ab-7f77-45c5-8863-126c823efc0f" providerId="ADAL" clId="{B9431C29-5306-416B-8A97-11F556A012F7}" dt="2025-11-12T16:20:34.035" v="100" actId="164"/>
          <ac:spMkLst>
            <pc:docMk/>
            <pc:sldMk cId="3126582958" sldId="591"/>
            <ac:spMk id="3" creationId="{5F58C92C-3E4B-8110-3DB4-113AEBF7B7A6}"/>
          </ac:spMkLst>
        </pc:spChg>
        <pc:spChg chg="mod">
          <ac:chgData name="Nicolas Pugeault" userId="1fb198ab-7f77-45c5-8863-126c823efc0f" providerId="ADAL" clId="{B9431C29-5306-416B-8A97-11F556A012F7}" dt="2025-11-12T16:20:34.035" v="100" actId="164"/>
          <ac:spMkLst>
            <pc:docMk/>
            <pc:sldMk cId="3126582958" sldId="591"/>
            <ac:spMk id="5" creationId="{02B5CC73-8178-4675-1A35-9FB9EB755CA3}"/>
          </ac:spMkLst>
        </pc:spChg>
        <pc:spChg chg="mod">
          <ac:chgData name="Nicolas Pugeault" userId="1fb198ab-7f77-45c5-8863-126c823efc0f" providerId="ADAL" clId="{B9431C29-5306-416B-8A97-11F556A012F7}" dt="2025-11-12T16:20:34.035" v="100" actId="164"/>
          <ac:spMkLst>
            <pc:docMk/>
            <pc:sldMk cId="3126582958" sldId="591"/>
            <ac:spMk id="6" creationId="{B51E6B15-FAC7-758B-50C4-2B021BE76A63}"/>
          </ac:spMkLst>
        </pc:spChg>
        <pc:grpChg chg="add mod">
          <ac:chgData name="Nicolas Pugeault" userId="1fb198ab-7f77-45c5-8863-126c823efc0f" providerId="ADAL" clId="{B9431C29-5306-416B-8A97-11F556A012F7}" dt="2025-11-12T16:20:34.035" v="100" actId="164"/>
          <ac:grpSpMkLst>
            <pc:docMk/>
            <pc:sldMk cId="3126582958" sldId="591"/>
            <ac:grpSpMk id="4" creationId="{96EFCDB8-B09E-5DEF-E432-1AAB61EE473E}"/>
          </ac:grpSpMkLst>
        </pc:grpChg>
        <pc:cxnChg chg="mod">
          <ac:chgData name="Nicolas Pugeault" userId="1fb198ab-7f77-45c5-8863-126c823efc0f" providerId="ADAL" clId="{B9431C29-5306-416B-8A97-11F556A012F7}" dt="2025-11-12T16:20:34.035" v="100" actId="164"/>
          <ac:cxnSpMkLst>
            <pc:docMk/>
            <pc:sldMk cId="3126582958" sldId="591"/>
            <ac:cxnSpMk id="9" creationId="{448F1FDA-B8E6-3900-EB00-44AF59B6620D}"/>
          </ac:cxnSpMkLst>
        </pc:cxnChg>
        <pc:cxnChg chg="mod">
          <ac:chgData name="Nicolas Pugeault" userId="1fb198ab-7f77-45c5-8863-126c823efc0f" providerId="ADAL" clId="{B9431C29-5306-416B-8A97-11F556A012F7}" dt="2025-11-12T16:20:34.035" v="100" actId="164"/>
          <ac:cxnSpMkLst>
            <pc:docMk/>
            <pc:sldMk cId="3126582958" sldId="591"/>
            <ac:cxnSpMk id="10" creationId="{3DEB7B1A-30D8-F06F-EBEA-7AEACD2FAC38}"/>
          </ac:cxnSpMkLst>
        </pc:cxnChg>
        <pc:cxnChg chg="mod">
          <ac:chgData name="Nicolas Pugeault" userId="1fb198ab-7f77-45c5-8863-126c823efc0f" providerId="ADAL" clId="{B9431C29-5306-416B-8A97-11F556A012F7}" dt="2025-11-12T16:20:34.035" v="100" actId="164"/>
          <ac:cxnSpMkLst>
            <pc:docMk/>
            <pc:sldMk cId="3126582958" sldId="591"/>
            <ac:cxnSpMk id="11" creationId="{E04C3435-43CF-A2F8-20AA-72BC897381E3}"/>
          </ac:cxnSpMkLst>
        </pc:cxnChg>
        <pc:cxnChg chg="mod">
          <ac:chgData name="Nicolas Pugeault" userId="1fb198ab-7f77-45c5-8863-126c823efc0f" providerId="ADAL" clId="{B9431C29-5306-416B-8A97-11F556A012F7}" dt="2025-11-12T16:20:34.035" v="100" actId="164"/>
          <ac:cxnSpMkLst>
            <pc:docMk/>
            <pc:sldMk cId="3126582958" sldId="591"/>
            <ac:cxnSpMk id="12" creationId="{5F551022-12AB-9FC0-C468-8D526EABEC72}"/>
          </ac:cxnSpMkLst>
        </pc:cxnChg>
        <pc:cxnChg chg="mod">
          <ac:chgData name="Nicolas Pugeault" userId="1fb198ab-7f77-45c5-8863-126c823efc0f" providerId="ADAL" clId="{B9431C29-5306-416B-8A97-11F556A012F7}" dt="2025-11-12T16:20:34.035" v="100" actId="164"/>
          <ac:cxnSpMkLst>
            <pc:docMk/>
            <pc:sldMk cId="3126582958" sldId="591"/>
            <ac:cxnSpMk id="14" creationId="{293BFF6D-38A4-4533-EE40-50AF51F86255}"/>
          </ac:cxnSpMkLst>
        </pc:cxnChg>
        <pc:cxnChg chg="mod">
          <ac:chgData name="Nicolas Pugeault" userId="1fb198ab-7f77-45c5-8863-126c823efc0f" providerId="ADAL" clId="{B9431C29-5306-416B-8A97-11F556A012F7}" dt="2025-11-12T16:20:34.035" v="100" actId="164"/>
          <ac:cxnSpMkLst>
            <pc:docMk/>
            <pc:sldMk cId="3126582958" sldId="591"/>
            <ac:cxnSpMk id="21" creationId="{E3DAF7AA-EB05-3AF0-F2B1-8514676162D5}"/>
          </ac:cxnSpMkLst>
        </pc:cxnChg>
      </pc:sldChg>
      <pc:sldChg chg="addSp modSp">
        <pc:chgData name="Nicolas Pugeault" userId="1fb198ab-7f77-45c5-8863-126c823efc0f" providerId="ADAL" clId="{B9431C29-5306-416B-8A97-11F556A012F7}" dt="2025-11-12T16:20:38.173" v="101" actId="164"/>
        <pc:sldMkLst>
          <pc:docMk/>
          <pc:sldMk cId="4142100481" sldId="592"/>
        </pc:sldMkLst>
        <pc:spChg chg="mod">
          <ac:chgData name="Nicolas Pugeault" userId="1fb198ab-7f77-45c5-8863-126c823efc0f" providerId="ADAL" clId="{B9431C29-5306-416B-8A97-11F556A012F7}" dt="2025-11-12T16:20:38.173" v="101" actId="164"/>
          <ac:spMkLst>
            <pc:docMk/>
            <pc:sldMk cId="4142100481" sldId="592"/>
            <ac:spMk id="3" creationId="{3E0E0A76-D2C2-3935-9B1D-94B611B6A95F}"/>
          </ac:spMkLst>
        </pc:spChg>
        <pc:spChg chg="mod">
          <ac:chgData name="Nicolas Pugeault" userId="1fb198ab-7f77-45c5-8863-126c823efc0f" providerId="ADAL" clId="{B9431C29-5306-416B-8A97-11F556A012F7}" dt="2025-11-12T16:20:38.173" v="101" actId="164"/>
          <ac:spMkLst>
            <pc:docMk/>
            <pc:sldMk cId="4142100481" sldId="592"/>
            <ac:spMk id="5" creationId="{FA96ED50-2DF7-BDD5-5E62-52687580D0AB}"/>
          </ac:spMkLst>
        </pc:spChg>
        <pc:spChg chg="mod">
          <ac:chgData name="Nicolas Pugeault" userId="1fb198ab-7f77-45c5-8863-126c823efc0f" providerId="ADAL" clId="{B9431C29-5306-416B-8A97-11F556A012F7}" dt="2025-11-12T16:20:38.173" v="101" actId="164"/>
          <ac:spMkLst>
            <pc:docMk/>
            <pc:sldMk cId="4142100481" sldId="592"/>
            <ac:spMk id="6" creationId="{A2E9645B-4ECA-3888-3482-FFB08F205E33}"/>
          </ac:spMkLst>
        </pc:spChg>
        <pc:grpChg chg="add mod">
          <ac:chgData name="Nicolas Pugeault" userId="1fb198ab-7f77-45c5-8863-126c823efc0f" providerId="ADAL" clId="{B9431C29-5306-416B-8A97-11F556A012F7}" dt="2025-11-12T16:20:38.173" v="101" actId="164"/>
          <ac:grpSpMkLst>
            <pc:docMk/>
            <pc:sldMk cId="4142100481" sldId="592"/>
            <ac:grpSpMk id="4" creationId="{B097C217-8812-4811-B10B-0471084A6FB2}"/>
          </ac:grpSpMkLst>
        </pc:grpChg>
        <pc:cxnChg chg="mod">
          <ac:chgData name="Nicolas Pugeault" userId="1fb198ab-7f77-45c5-8863-126c823efc0f" providerId="ADAL" clId="{B9431C29-5306-416B-8A97-11F556A012F7}" dt="2025-11-12T16:20:38.173" v="101" actId="164"/>
          <ac:cxnSpMkLst>
            <pc:docMk/>
            <pc:sldMk cId="4142100481" sldId="592"/>
            <ac:cxnSpMk id="14" creationId="{CE1E0610-DBFC-D32A-D209-C862336A69E2}"/>
          </ac:cxnSpMkLst>
        </pc:cxnChg>
        <pc:cxnChg chg="mod">
          <ac:chgData name="Nicolas Pugeault" userId="1fb198ab-7f77-45c5-8863-126c823efc0f" providerId="ADAL" clId="{B9431C29-5306-416B-8A97-11F556A012F7}" dt="2025-11-12T16:20:38.173" v="101" actId="164"/>
          <ac:cxnSpMkLst>
            <pc:docMk/>
            <pc:sldMk cId="4142100481" sldId="592"/>
            <ac:cxnSpMk id="18" creationId="{DEB6C314-ACBB-F173-4444-CF9EC52CA28D}"/>
          </ac:cxnSpMkLst>
        </pc:cxnChg>
        <pc:cxnChg chg="mod">
          <ac:chgData name="Nicolas Pugeault" userId="1fb198ab-7f77-45c5-8863-126c823efc0f" providerId="ADAL" clId="{B9431C29-5306-416B-8A97-11F556A012F7}" dt="2025-11-12T16:20:38.173" v="101" actId="164"/>
          <ac:cxnSpMkLst>
            <pc:docMk/>
            <pc:sldMk cId="4142100481" sldId="592"/>
            <ac:cxnSpMk id="19" creationId="{3074306C-5E10-2C52-AF20-66DB91BE1959}"/>
          </ac:cxnSpMkLst>
        </pc:cxnChg>
        <pc:cxnChg chg="mod">
          <ac:chgData name="Nicolas Pugeault" userId="1fb198ab-7f77-45c5-8863-126c823efc0f" providerId="ADAL" clId="{B9431C29-5306-416B-8A97-11F556A012F7}" dt="2025-11-12T16:20:38.173" v="101" actId="164"/>
          <ac:cxnSpMkLst>
            <pc:docMk/>
            <pc:sldMk cId="4142100481" sldId="592"/>
            <ac:cxnSpMk id="20" creationId="{DBAEBB2F-722C-D970-1248-79C7B1362ADC}"/>
          </ac:cxnSpMkLst>
        </pc:cxnChg>
        <pc:cxnChg chg="mod">
          <ac:chgData name="Nicolas Pugeault" userId="1fb198ab-7f77-45c5-8863-126c823efc0f" providerId="ADAL" clId="{B9431C29-5306-416B-8A97-11F556A012F7}" dt="2025-11-12T16:20:38.173" v="101" actId="164"/>
          <ac:cxnSpMkLst>
            <pc:docMk/>
            <pc:sldMk cId="4142100481" sldId="592"/>
            <ac:cxnSpMk id="22" creationId="{E5D0AFF3-57BF-B8EA-5966-FF81C8CFB282}"/>
          </ac:cxnSpMkLst>
        </pc:cxnChg>
        <pc:cxnChg chg="mod">
          <ac:chgData name="Nicolas Pugeault" userId="1fb198ab-7f77-45c5-8863-126c823efc0f" providerId="ADAL" clId="{B9431C29-5306-416B-8A97-11F556A012F7}" dt="2025-11-12T16:20:38.173" v="101" actId="164"/>
          <ac:cxnSpMkLst>
            <pc:docMk/>
            <pc:sldMk cId="4142100481" sldId="592"/>
            <ac:cxnSpMk id="23" creationId="{83FADE1E-B809-C935-DFE2-0629C4F7C948}"/>
          </ac:cxnSpMkLst>
        </pc:cxnChg>
      </pc:sldChg>
      <pc:sldChg chg="addSp modSp">
        <pc:chgData name="Nicolas Pugeault" userId="1fb198ab-7f77-45c5-8863-126c823efc0f" providerId="ADAL" clId="{B9431C29-5306-416B-8A97-11F556A012F7}" dt="2025-11-12T16:20:42.458" v="102" actId="164"/>
        <pc:sldMkLst>
          <pc:docMk/>
          <pc:sldMk cId="1634675548" sldId="593"/>
        </pc:sldMkLst>
        <pc:spChg chg="mod">
          <ac:chgData name="Nicolas Pugeault" userId="1fb198ab-7f77-45c5-8863-126c823efc0f" providerId="ADAL" clId="{B9431C29-5306-416B-8A97-11F556A012F7}" dt="2025-11-12T16:20:42.458" v="102" actId="164"/>
          <ac:spMkLst>
            <pc:docMk/>
            <pc:sldMk cId="1634675548" sldId="593"/>
            <ac:spMk id="3" creationId="{EB7CDBAA-EE5C-7094-910B-A0B14E5367D0}"/>
          </ac:spMkLst>
        </pc:spChg>
        <pc:spChg chg="mod">
          <ac:chgData name="Nicolas Pugeault" userId="1fb198ab-7f77-45c5-8863-126c823efc0f" providerId="ADAL" clId="{B9431C29-5306-416B-8A97-11F556A012F7}" dt="2025-11-12T16:20:42.458" v="102" actId="164"/>
          <ac:spMkLst>
            <pc:docMk/>
            <pc:sldMk cId="1634675548" sldId="593"/>
            <ac:spMk id="5" creationId="{28A7D4BE-9948-42A1-397E-877AF7E98418}"/>
          </ac:spMkLst>
        </pc:spChg>
        <pc:spChg chg="mod">
          <ac:chgData name="Nicolas Pugeault" userId="1fb198ab-7f77-45c5-8863-126c823efc0f" providerId="ADAL" clId="{B9431C29-5306-416B-8A97-11F556A012F7}" dt="2025-11-12T16:20:42.458" v="102" actId="164"/>
          <ac:spMkLst>
            <pc:docMk/>
            <pc:sldMk cId="1634675548" sldId="593"/>
            <ac:spMk id="6" creationId="{CAA282EE-8B5C-4BF4-948C-5BCF268996C6}"/>
          </ac:spMkLst>
        </pc:spChg>
        <pc:grpChg chg="add mod">
          <ac:chgData name="Nicolas Pugeault" userId="1fb198ab-7f77-45c5-8863-126c823efc0f" providerId="ADAL" clId="{B9431C29-5306-416B-8A97-11F556A012F7}" dt="2025-11-12T16:20:42.458" v="102" actId="164"/>
          <ac:grpSpMkLst>
            <pc:docMk/>
            <pc:sldMk cId="1634675548" sldId="593"/>
            <ac:grpSpMk id="15" creationId="{51004E3C-BC03-02A6-C931-9824274CE373}"/>
          </ac:grpSpMkLst>
        </pc:grpChg>
        <pc:cxnChg chg="mod">
          <ac:chgData name="Nicolas Pugeault" userId="1fb198ab-7f77-45c5-8863-126c823efc0f" providerId="ADAL" clId="{B9431C29-5306-416B-8A97-11F556A012F7}" dt="2025-11-12T16:20:42.458" v="102" actId="164"/>
          <ac:cxnSpMkLst>
            <pc:docMk/>
            <pc:sldMk cId="1634675548" sldId="593"/>
            <ac:cxnSpMk id="8" creationId="{171526D1-3716-6203-45C9-87BB4EA37D83}"/>
          </ac:cxnSpMkLst>
        </pc:cxnChg>
        <pc:cxnChg chg="mod">
          <ac:chgData name="Nicolas Pugeault" userId="1fb198ab-7f77-45c5-8863-126c823efc0f" providerId="ADAL" clId="{B9431C29-5306-416B-8A97-11F556A012F7}" dt="2025-11-12T16:20:42.458" v="102" actId="164"/>
          <ac:cxnSpMkLst>
            <pc:docMk/>
            <pc:sldMk cId="1634675548" sldId="593"/>
            <ac:cxnSpMk id="13" creationId="{41AF7356-796E-9FC4-77BB-ED3CD74B44BE}"/>
          </ac:cxnSpMkLst>
        </pc:cxnChg>
        <pc:cxnChg chg="mod">
          <ac:chgData name="Nicolas Pugeault" userId="1fb198ab-7f77-45c5-8863-126c823efc0f" providerId="ADAL" clId="{B9431C29-5306-416B-8A97-11F556A012F7}" dt="2025-11-12T16:20:42.458" v="102" actId="164"/>
          <ac:cxnSpMkLst>
            <pc:docMk/>
            <pc:sldMk cId="1634675548" sldId="593"/>
            <ac:cxnSpMk id="14" creationId="{82AEA0A1-1D76-9A9A-C4A1-75A1D8BDF8B6}"/>
          </ac:cxnSpMkLst>
        </pc:cxnChg>
        <pc:cxnChg chg="mod">
          <ac:chgData name="Nicolas Pugeault" userId="1fb198ab-7f77-45c5-8863-126c823efc0f" providerId="ADAL" clId="{B9431C29-5306-416B-8A97-11F556A012F7}" dt="2025-11-12T16:20:42.458" v="102" actId="164"/>
          <ac:cxnSpMkLst>
            <pc:docMk/>
            <pc:sldMk cId="1634675548" sldId="593"/>
            <ac:cxnSpMk id="20" creationId="{D19E3F33-7AD7-656B-18E0-FA44C498EA27}"/>
          </ac:cxnSpMkLst>
        </pc:cxnChg>
        <pc:cxnChg chg="mod">
          <ac:chgData name="Nicolas Pugeault" userId="1fb198ab-7f77-45c5-8863-126c823efc0f" providerId="ADAL" clId="{B9431C29-5306-416B-8A97-11F556A012F7}" dt="2025-11-12T16:20:42.458" v="102" actId="164"/>
          <ac:cxnSpMkLst>
            <pc:docMk/>
            <pc:sldMk cId="1634675548" sldId="593"/>
            <ac:cxnSpMk id="21" creationId="{DD2081DC-3FB5-B2EB-0AF4-982E28E092A2}"/>
          </ac:cxnSpMkLst>
        </pc:cxnChg>
        <pc:cxnChg chg="mod">
          <ac:chgData name="Nicolas Pugeault" userId="1fb198ab-7f77-45c5-8863-126c823efc0f" providerId="ADAL" clId="{B9431C29-5306-416B-8A97-11F556A012F7}" dt="2025-11-12T16:20:42.458" v="102" actId="164"/>
          <ac:cxnSpMkLst>
            <pc:docMk/>
            <pc:sldMk cId="1634675548" sldId="593"/>
            <ac:cxnSpMk id="23" creationId="{78006513-06E9-B4F3-0E32-8EDC6C0028DB}"/>
          </ac:cxnSpMkLst>
        </pc:cxnChg>
      </pc:sldChg>
      <pc:sldChg chg="addSp modSp">
        <pc:chgData name="Nicolas Pugeault" userId="1fb198ab-7f77-45c5-8863-126c823efc0f" providerId="ADAL" clId="{B9431C29-5306-416B-8A97-11F556A012F7}" dt="2025-11-12T16:20:49.264" v="103" actId="164"/>
        <pc:sldMkLst>
          <pc:docMk/>
          <pc:sldMk cId="4057224121" sldId="594"/>
        </pc:sldMkLst>
        <pc:spChg chg="mod">
          <ac:chgData name="Nicolas Pugeault" userId="1fb198ab-7f77-45c5-8863-126c823efc0f" providerId="ADAL" clId="{B9431C29-5306-416B-8A97-11F556A012F7}" dt="2025-11-12T16:20:49.264" v="103" actId="164"/>
          <ac:spMkLst>
            <pc:docMk/>
            <pc:sldMk cId="4057224121" sldId="594"/>
            <ac:spMk id="3" creationId="{6B3ED9F0-B24B-16F0-B4B6-08D35A923244}"/>
          </ac:spMkLst>
        </pc:spChg>
        <pc:spChg chg="mod">
          <ac:chgData name="Nicolas Pugeault" userId="1fb198ab-7f77-45c5-8863-126c823efc0f" providerId="ADAL" clId="{B9431C29-5306-416B-8A97-11F556A012F7}" dt="2025-11-12T16:20:49.264" v="103" actId="164"/>
          <ac:spMkLst>
            <pc:docMk/>
            <pc:sldMk cId="4057224121" sldId="594"/>
            <ac:spMk id="5" creationId="{155B6661-4E4B-94FD-0C24-CF0558FCC5C0}"/>
          </ac:spMkLst>
        </pc:spChg>
        <pc:spChg chg="mod">
          <ac:chgData name="Nicolas Pugeault" userId="1fb198ab-7f77-45c5-8863-126c823efc0f" providerId="ADAL" clId="{B9431C29-5306-416B-8A97-11F556A012F7}" dt="2025-11-12T16:20:49.264" v="103" actId="164"/>
          <ac:spMkLst>
            <pc:docMk/>
            <pc:sldMk cId="4057224121" sldId="594"/>
            <ac:spMk id="6" creationId="{4296D7EA-C4AA-0DF9-5DB4-5E65B098F533}"/>
          </ac:spMkLst>
        </pc:spChg>
        <pc:grpChg chg="add mod">
          <ac:chgData name="Nicolas Pugeault" userId="1fb198ab-7f77-45c5-8863-126c823efc0f" providerId="ADAL" clId="{B9431C29-5306-416B-8A97-11F556A012F7}" dt="2025-11-12T16:20:49.264" v="103" actId="164"/>
          <ac:grpSpMkLst>
            <pc:docMk/>
            <pc:sldMk cId="4057224121" sldId="594"/>
            <ac:grpSpMk id="16" creationId="{29573257-3704-2D00-B77F-C7E7D9040A0B}"/>
          </ac:grpSpMkLst>
        </pc:grpChg>
        <pc:cxnChg chg="mod">
          <ac:chgData name="Nicolas Pugeault" userId="1fb198ab-7f77-45c5-8863-126c823efc0f" providerId="ADAL" clId="{B9431C29-5306-416B-8A97-11F556A012F7}" dt="2025-11-12T16:20:49.264" v="103" actId="164"/>
          <ac:cxnSpMkLst>
            <pc:docMk/>
            <pc:sldMk cId="4057224121" sldId="594"/>
            <ac:cxnSpMk id="8" creationId="{DB21CA66-1123-5C26-8CD0-6A552E19F299}"/>
          </ac:cxnSpMkLst>
        </pc:cxnChg>
        <pc:cxnChg chg="mod">
          <ac:chgData name="Nicolas Pugeault" userId="1fb198ab-7f77-45c5-8863-126c823efc0f" providerId="ADAL" clId="{B9431C29-5306-416B-8A97-11F556A012F7}" dt="2025-11-12T16:20:49.264" v="103" actId="164"/>
          <ac:cxnSpMkLst>
            <pc:docMk/>
            <pc:sldMk cId="4057224121" sldId="594"/>
            <ac:cxnSpMk id="9" creationId="{20E4F69C-5072-A384-0216-091CB9B0119A}"/>
          </ac:cxnSpMkLst>
        </pc:cxnChg>
        <pc:cxnChg chg="mod">
          <ac:chgData name="Nicolas Pugeault" userId="1fb198ab-7f77-45c5-8863-126c823efc0f" providerId="ADAL" clId="{B9431C29-5306-416B-8A97-11F556A012F7}" dt="2025-11-12T16:20:49.264" v="103" actId="164"/>
          <ac:cxnSpMkLst>
            <pc:docMk/>
            <pc:sldMk cId="4057224121" sldId="594"/>
            <ac:cxnSpMk id="18" creationId="{F0EBFD06-B82C-0501-72DB-257FB4BB6179}"/>
          </ac:cxnSpMkLst>
        </pc:cxnChg>
        <pc:cxnChg chg="mod">
          <ac:chgData name="Nicolas Pugeault" userId="1fb198ab-7f77-45c5-8863-126c823efc0f" providerId="ADAL" clId="{B9431C29-5306-416B-8A97-11F556A012F7}" dt="2025-11-12T16:20:49.264" v="103" actId="164"/>
          <ac:cxnSpMkLst>
            <pc:docMk/>
            <pc:sldMk cId="4057224121" sldId="594"/>
            <ac:cxnSpMk id="20" creationId="{BCDB5950-3B7A-F832-621D-E0692E57F3B3}"/>
          </ac:cxnSpMkLst>
        </pc:cxnChg>
        <pc:cxnChg chg="mod">
          <ac:chgData name="Nicolas Pugeault" userId="1fb198ab-7f77-45c5-8863-126c823efc0f" providerId="ADAL" clId="{B9431C29-5306-416B-8A97-11F556A012F7}" dt="2025-11-12T16:20:49.264" v="103" actId="164"/>
          <ac:cxnSpMkLst>
            <pc:docMk/>
            <pc:sldMk cId="4057224121" sldId="594"/>
            <ac:cxnSpMk id="21" creationId="{70713F62-254A-0874-9F55-38A499EE1754}"/>
          </ac:cxnSpMkLst>
        </pc:cxnChg>
        <pc:cxnChg chg="mod">
          <ac:chgData name="Nicolas Pugeault" userId="1fb198ab-7f77-45c5-8863-126c823efc0f" providerId="ADAL" clId="{B9431C29-5306-416B-8A97-11F556A012F7}" dt="2025-11-12T16:20:49.264" v="103" actId="164"/>
          <ac:cxnSpMkLst>
            <pc:docMk/>
            <pc:sldMk cId="4057224121" sldId="594"/>
            <ac:cxnSpMk id="22" creationId="{FEFA9377-E706-B54B-F0EB-469562CA01B5}"/>
          </ac:cxnSpMkLst>
        </pc:cxnChg>
      </pc:sldChg>
      <pc:sldChg chg="modSp mod">
        <pc:chgData name="Nicolas Pugeault" userId="1fb198ab-7f77-45c5-8863-126c823efc0f" providerId="ADAL" clId="{B9431C29-5306-416B-8A97-11F556A012F7}" dt="2025-11-12T16:25:06.314" v="1151" actId="962"/>
        <pc:sldMkLst>
          <pc:docMk/>
          <pc:sldMk cId="3887908109" sldId="595"/>
        </pc:sldMkLst>
        <pc:graphicFrameChg chg="mod">
          <ac:chgData name="Nicolas Pugeault" userId="1fb198ab-7f77-45c5-8863-126c823efc0f" providerId="ADAL" clId="{B9431C29-5306-416B-8A97-11F556A012F7}" dt="2025-11-12T16:25:06.314" v="1151" actId="962"/>
          <ac:graphicFrameMkLst>
            <pc:docMk/>
            <pc:sldMk cId="3887908109" sldId="595"/>
            <ac:graphicFrameMk id="4" creationId="{E50BA04B-2BAB-E417-BD02-FCE6C9C94912}"/>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B83024D-D66F-4535-B97B-DFE2FE313131}" type="doc">
      <dgm:prSet loTypeId="urn:microsoft.com/office/officeart/2008/layout/LinedList" loCatId="list" qsTypeId="urn:microsoft.com/office/officeart/2005/8/quickstyle/simple1" qsCatId="simple" csTypeId="urn:microsoft.com/office/officeart/2005/8/colors/accent2_2" csCatId="accent2" phldr="1"/>
      <dgm:spPr/>
      <dgm:t>
        <a:bodyPr/>
        <a:lstStyle/>
        <a:p>
          <a:endParaRPr lang="en-US"/>
        </a:p>
      </dgm:t>
    </dgm:pt>
    <dgm:pt modelId="{081D73C6-E137-4435-8ABB-D9E8808716ED}">
      <dgm:prSet/>
      <dgm:spPr/>
      <dgm:t>
        <a:bodyPr/>
        <a:lstStyle/>
        <a:p>
          <a:r>
            <a:rPr lang="en-GB" dirty="0"/>
            <a:t>We can represent probabilities between multiple random variables using </a:t>
          </a:r>
          <a:r>
            <a:rPr lang="en-GB" dirty="0">
              <a:solidFill>
                <a:schemeClr val="accent5"/>
              </a:solidFill>
            </a:rPr>
            <a:t>joint</a:t>
          </a:r>
          <a:r>
            <a:rPr lang="en-GB" dirty="0"/>
            <a:t>, </a:t>
          </a:r>
          <a:r>
            <a:rPr lang="en-GB" dirty="0">
              <a:solidFill>
                <a:schemeClr val="accent5"/>
              </a:solidFill>
            </a:rPr>
            <a:t>marginal</a:t>
          </a:r>
          <a:r>
            <a:rPr lang="en-GB" dirty="0"/>
            <a:t> and </a:t>
          </a:r>
          <a:r>
            <a:rPr lang="en-GB" dirty="0">
              <a:solidFill>
                <a:schemeClr val="accent5"/>
              </a:solidFill>
            </a:rPr>
            <a:t>conditional</a:t>
          </a:r>
          <a:r>
            <a:rPr lang="en-GB" dirty="0"/>
            <a:t> probabilities</a:t>
          </a:r>
          <a:endParaRPr lang="en-US" dirty="0"/>
        </a:p>
      </dgm:t>
    </dgm:pt>
    <dgm:pt modelId="{77B50D50-612A-4BEC-9484-6499C9929A63}" type="parTrans" cxnId="{C2BCBBDA-6809-4B64-9BAD-0EB29F2E8241}">
      <dgm:prSet/>
      <dgm:spPr/>
      <dgm:t>
        <a:bodyPr/>
        <a:lstStyle/>
        <a:p>
          <a:endParaRPr lang="en-US"/>
        </a:p>
      </dgm:t>
    </dgm:pt>
    <dgm:pt modelId="{9739626E-41FD-4FD7-94ED-E05C451B9B55}" type="sibTrans" cxnId="{C2BCBBDA-6809-4B64-9BAD-0EB29F2E8241}">
      <dgm:prSet/>
      <dgm:spPr/>
      <dgm:t>
        <a:bodyPr/>
        <a:lstStyle/>
        <a:p>
          <a:endParaRPr lang="en-US"/>
        </a:p>
      </dgm:t>
    </dgm:pt>
    <dgm:pt modelId="{944AAD77-8A46-4079-BD6C-AB53AFE80EAE}">
      <dgm:prSet/>
      <dgm:spPr/>
      <dgm:t>
        <a:bodyPr/>
        <a:lstStyle/>
        <a:p>
          <a:r>
            <a:rPr lang="en-GB" dirty="0">
              <a:solidFill>
                <a:schemeClr val="accent5"/>
              </a:solidFill>
            </a:rPr>
            <a:t>Bayes’ rule</a:t>
          </a:r>
          <a:r>
            <a:rPr lang="en-GB" dirty="0"/>
            <a:t> allows to invert a conditional probabilities, and crucially to </a:t>
          </a:r>
          <a:r>
            <a:rPr lang="en-GB" dirty="0">
              <a:solidFill>
                <a:schemeClr val="accent5"/>
              </a:solidFill>
            </a:rPr>
            <a:t>update our belief</a:t>
          </a:r>
          <a:r>
            <a:rPr lang="en-GB" dirty="0"/>
            <a:t> (posterior) when new evidence is available. </a:t>
          </a:r>
          <a:endParaRPr lang="en-US" dirty="0"/>
        </a:p>
      </dgm:t>
    </dgm:pt>
    <dgm:pt modelId="{15816450-2334-497C-BAA5-9B0F16C9141B}" type="parTrans" cxnId="{FC65C617-0FEF-4697-8C0D-CC1E63309F32}">
      <dgm:prSet/>
      <dgm:spPr/>
      <dgm:t>
        <a:bodyPr/>
        <a:lstStyle/>
        <a:p>
          <a:endParaRPr lang="en-US"/>
        </a:p>
      </dgm:t>
    </dgm:pt>
    <dgm:pt modelId="{7FBF0596-7384-4FC9-9093-CBFE7816BB4F}" type="sibTrans" cxnId="{FC65C617-0FEF-4697-8C0D-CC1E63309F32}">
      <dgm:prSet/>
      <dgm:spPr/>
      <dgm:t>
        <a:bodyPr/>
        <a:lstStyle/>
        <a:p>
          <a:endParaRPr lang="en-US"/>
        </a:p>
      </dgm:t>
    </dgm:pt>
    <dgm:pt modelId="{25A20D76-6F38-43E4-99DF-ACB6E19CBE00}">
      <dgm:prSet/>
      <dgm:spPr/>
      <dgm:t>
        <a:bodyPr/>
        <a:lstStyle/>
        <a:p>
          <a:r>
            <a:rPr lang="en-GB" dirty="0">
              <a:solidFill>
                <a:schemeClr val="accent5"/>
              </a:solidFill>
            </a:rPr>
            <a:t>Entropy</a:t>
          </a:r>
          <a:r>
            <a:rPr lang="en-GB" dirty="0"/>
            <a:t> allows to model </a:t>
          </a:r>
          <a:r>
            <a:rPr lang="en-GB" dirty="0">
              <a:solidFill>
                <a:schemeClr val="accent5"/>
              </a:solidFill>
            </a:rPr>
            <a:t>uncertainty</a:t>
          </a:r>
          <a:r>
            <a:rPr lang="en-GB" dirty="0"/>
            <a:t> and will be useful to assess how effective a Bayesian update was at increasing our knowledge. </a:t>
          </a:r>
          <a:endParaRPr lang="en-US" dirty="0"/>
        </a:p>
      </dgm:t>
    </dgm:pt>
    <dgm:pt modelId="{F33ED365-1FBA-461F-AC83-D26199AE8D49}" type="parTrans" cxnId="{3D9976F6-B75E-47D6-8AC5-6CADB0574EFF}">
      <dgm:prSet/>
      <dgm:spPr/>
      <dgm:t>
        <a:bodyPr/>
        <a:lstStyle/>
        <a:p>
          <a:endParaRPr lang="en-US"/>
        </a:p>
      </dgm:t>
    </dgm:pt>
    <dgm:pt modelId="{7CC747C3-8A40-469B-9C57-835E75385188}" type="sibTrans" cxnId="{3D9976F6-B75E-47D6-8AC5-6CADB0574EFF}">
      <dgm:prSet/>
      <dgm:spPr/>
      <dgm:t>
        <a:bodyPr/>
        <a:lstStyle/>
        <a:p>
          <a:endParaRPr lang="en-US"/>
        </a:p>
      </dgm:t>
    </dgm:pt>
    <dgm:pt modelId="{7E27DCD5-6F6B-466F-B87C-796FCAC6702F}" type="pres">
      <dgm:prSet presAssocID="{BB83024D-D66F-4535-B97B-DFE2FE313131}" presName="vert0" presStyleCnt="0">
        <dgm:presLayoutVars>
          <dgm:dir/>
          <dgm:animOne val="branch"/>
          <dgm:animLvl val="lvl"/>
        </dgm:presLayoutVars>
      </dgm:prSet>
      <dgm:spPr/>
    </dgm:pt>
    <dgm:pt modelId="{E17C7C4B-3CC6-4450-AFED-DE5A6E89BC26}" type="pres">
      <dgm:prSet presAssocID="{081D73C6-E137-4435-8ABB-D9E8808716ED}" presName="thickLine" presStyleLbl="alignNode1" presStyleIdx="0" presStyleCnt="3"/>
      <dgm:spPr/>
    </dgm:pt>
    <dgm:pt modelId="{4ACB3109-4B74-4062-A36C-C56409ADFC00}" type="pres">
      <dgm:prSet presAssocID="{081D73C6-E137-4435-8ABB-D9E8808716ED}" presName="horz1" presStyleCnt="0"/>
      <dgm:spPr/>
    </dgm:pt>
    <dgm:pt modelId="{0132CC50-43A8-4C1C-B5EE-86C59147E59D}" type="pres">
      <dgm:prSet presAssocID="{081D73C6-E137-4435-8ABB-D9E8808716ED}" presName="tx1" presStyleLbl="revTx" presStyleIdx="0" presStyleCnt="3"/>
      <dgm:spPr/>
    </dgm:pt>
    <dgm:pt modelId="{5CCAAE7F-C189-444A-81D9-1B06733C80B3}" type="pres">
      <dgm:prSet presAssocID="{081D73C6-E137-4435-8ABB-D9E8808716ED}" presName="vert1" presStyleCnt="0"/>
      <dgm:spPr/>
    </dgm:pt>
    <dgm:pt modelId="{3128ADDA-69DF-478F-8F3B-76507F7EDC01}" type="pres">
      <dgm:prSet presAssocID="{944AAD77-8A46-4079-BD6C-AB53AFE80EAE}" presName="thickLine" presStyleLbl="alignNode1" presStyleIdx="1" presStyleCnt="3"/>
      <dgm:spPr/>
    </dgm:pt>
    <dgm:pt modelId="{FFECA459-FAA3-465E-96C2-B83AC99D1757}" type="pres">
      <dgm:prSet presAssocID="{944AAD77-8A46-4079-BD6C-AB53AFE80EAE}" presName="horz1" presStyleCnt="0"/>
      <dgm:spPr/>
    </dgm:pt>
    <dgm:pt modelId="{A6455F3A-314A-478D-A451-635E9B5844CB}" type="pres">
      <dgm:prSet presAssocID="{944AAD77-8A46-4079-BD6C-AB53AFE80EAE}" presName="tx1" presStyleLbl="revTx" presStyleIdx="1" presStyleCnt="3"/>
      <dgm:spPr/>
    </dgm:pt>
    <dgm:pt modelId="{67D2EB02-50D7-4B0F-BE5B-7495737E1643}" type="pres">
      <dgm:prSet presAssocID="{944AAD77-8A46-4079-BD6C-AB53AFE80EAE}" presName="vert1" presStyleCnt="0"/>
      <dgm:spPr/>
    </dgm:pt>
    <dgm:pt modelId="{FFE6CE94-435C-4670-894C-5FE2A9620746}" type="pres">
      <dgm:prSet presAssocID="{25A20D76-6F38-43E4-99DF-ACB6E19CBE00}" presName="thickLine" presStyleLbl="alignNode1" presStyleIdx="2" presStyleCnt="3"/>
      <dgm:spPr/>
    </dgm:pt>
    <dgm:pt modelId="{0521A3B1-F17A-4F4A-8720-55F1601A2560}" type="pres">
      <dgm:prSet presAssocID="{25A20D76-6F38-43E4-99DF-ACB6E19CBE00}" presName="horz1" presStyleCnt="0"/>
      <dgm:spPr/>
    </dgm:pt>
    <dgm:pt modelId="{D72E52AD-4D78-4A43-9AC8-0D0328FE9298}" type="pres">
      <dgm:prSet presAssocID="{25A20D76-6F38-43E4-99DF-ACB6E19CBE00}" presName="tx1" presStyleLbl="revTx" presStyleIdx="2" presStyleCnt="3"/>
      <dgm:spPr/>
    </dgm:pt>
    <dgm:pt modelId="{4FA46892-E631-429B-812B-2B7A4F494AA6}" type="pres">
      <dgm:prSet presAssocID="{25A20D76-6F38-43E4-99DF-ACB6E19CBE00}" presName="vert1" presStyleCnt="0"/>
      <dgm:spPr/>
    </dgm:pt>
  </dgm:ptLst>
  <dgm:cxnLst>
    <dgm:cxn modelId="{FC65C617-0FEF-4697-8C0D-CC1E63309F32}" srcId="{BB83024D-D66F-4535-B97B-DFE2FE313131}" destId="{944AAD77-8A46-4079-BD6C-AB53AFE80EAE}" srcOrd="1" destOrd="0" parTransId="{15816450-2334-497C-BAA5-9B0F16C9141B}" sibTransId="{7FBF0596-7384-4FC9-9093-CBFE7816BB4F}"/>
    <dgm:cxn modelId="{E1205118-5494-4774-A9D9-772AE60BDDA0}" type="presOf" srcId="{081D73C6-E137-4435-8ABB-D9E8808716ED}" destId="{0132CC50-43A8-4C1C-B5EE-86C59147E59D}" srcOrd="0" destOrd="0" presId="urn:microsoft.com/office/officeart/2008/layout/LinedList"/>
    <dgm:cxn modelId="{75095D63-A7B1-40FE-8C20-A4403BB874D6}" type="presOf" srcId="{944AAD77-8A46-4079-BD6C-AB53AFE80EAE}" destId="{A6455F3A-314A-478D-A451-635E9B5844CB}" srcOrd="0" destOrd="0" presId="urn:microsoft.com/office/officeart/2008/layout/LinedList"/>
    <dgm:cxn modelId="{83D5C866-DE35-4444-8964-ED6EBA51975F}" type="presOf" srcId="{25A20D76-6F38-43E4-99DF-ACB6E19CBE00}" destId="{D72E52AD-4D78-4A43-9AC8-0D0328FE9298}" srcOrd="0" destOrd="0" presId="urn:microsoft.com/office/officeart/2008/layout/LinedList"/>
    <dgm:cxn modelId="{5CE25696-7F5F-4CB4-B3F9-09C406BC19CD}" type="presOf" srcId="{BB83024D-D66F-4535-B97B-DFE2FE313131}" destId="{7E27DCD5-6F6B-466F-B87C-796FCAC6702F}" srcOrd="0" destOrd="0" presId="urn:microsoft.com/office/officeart/2008/layout/LinedList"/>
    <dgm:cxn modelId="{C2BCBBDA-6809-4B64-9BAD-0EB29F2E8241}" srcId="{BB83024D-D66F-4535-B97B-DFE2FE313131}" destId="{081D73C6-E137-4435-8ABB-D9E8808716ED}" srcOrd="0" destOrd="0" parTransId="{77B50D50-612A-4BEC-9484-6499C9929A63}" sibTransId="{9739626E-41FD-4FD7-94ED-E05C451B9B55}"/>
    <dgm:cxn modelId="{3D9976F6-B75E-47D6-8AC5-6CADB0574EFF}" srcId="{BB83024D-D66F-4535-B97B-DFE2FE313131}" destId="{25A20D76-6F38-43E4-99DF-ACB6E19CBE00}" srcOrd="2" destOrd="0" parTransId="{F33ED365-1FBA-461F-AC83-D26199AE8D49}" sibTransId="{7CC747C3-8A40-469B-9C57-835E75385188}"/>
    <dgm:cxn modelId="{900D5D48-54F9-4316-9C07-B37316ADA836}" type="presParOf" srcId="{7E27DCD5-6F6B-466F-B87C-796FCAC6702F}" destId="{E17C7C4B-3CC6-4450-AFED-DE5A6E89BC26}" srcOrd="0" destOrd="0" presId="urn:microsoft.com/office/officeart/2008/layout/LinedList"/>
    <dgm:cxn modelId="{F8E879B0-6B0A-42DF-942F-2CCCD9A0078B}" type="presParOf" srcId="{7E27DCD5-6F6B-466F-B87C-796FCAC6702F}" destId="{4ACB3109-4B74-4062-A36C-C56409ADFC00}" srcOrd="1" destOrd="0" presId="urn:microsoft.com/office/officeart/2008/layout/LinedList"/>
    <dgm:cxn modelId="{4E6030F6-8C3B-4FD3-8726-C70C51D68D35}" type="presParOf" srcId="{4ACB3109-4B74-4062-A36C-C56409ADFC00}" destId="{0132CC50-43A8-4C1C-B5EE-86C59147E59D}" srcOrd="0" destOrd="0" presId="urn:microsoft.com/office/officeart/2008/layout/LinedList"/>
    <dgm:cxn modelId="{7B9B0ABA-14EC-4F8C-BE77-005E6FD18994}" type="presParOf" srcId="{4ACB3109-4B74-4062-A36C-C56409ADFC00}" destId="{5CCAAE7F-C189-444A-81D9-1B06733C80B3}" srcOrd="1" destOrd="0" presId="urn:microsoft.com/office/officeart/2008/layout/LinedList"/>
    <dgm:cxn modelId="{1B97F5C5-9178-4EF4-A8C6-317F9705C930}" type="presParOf" srcId="{7E27DCD5-6F6B-466F-B87C-796FCAC6702F}" destId="{3128ADDA-69DF-478F-8F3B-76507F7EDC01}" srcOrd="2" destOrd="0" presId="urn:microsoft.com/office/officeart/2008/layout/LinedList"/>
    <dgm:cxn modelId="{156D0868-96D0-41C5-9997-C03DD44729E0}" type="presParOf" srcId="{7E27DCD5-6F6B-466F-B87C-796FCAC6702F}" destId="{FFECA459-FAA3-465E-96C2-B83AC99D1757}" srcOrd="3" destOrd="0" presId="urn:microsoft.com/office/officeart/2008/layout/LinedList"/>
    <dgm:cxn modelId="{E4176C13-F2A3-4237-B0D8-4209E7A5BCE6}" type="presParOf" srcId="{FFECA459-FAA3-465E-96C2-B83AC99D1757}" destId="{A6455F3A-314A-478D-A451-635E9B5844CB}" srcOrd="0" destOrd="0" presId="urn:microsoft.com/office/officeart/2008/layout/LinedList"/>
    <dgm:cxn modelId="{6BCCFD71-5AC5-4FD6-895C-F7BCACDA5CCF}" type="presParOf" srcId="{FFECA459-FAA3-465E-96C2-B83AC99D1757}" destId="{67D2EB02-50D7-4B0F-BE5B-7495737E1643}" srcOrd="1" destOrd="0" presId="urn:microsoft.com/office/officeart/2008/layout/LinedList"/>
    <dgm:cxn modelId="{A9BB79DF-9CBD-48D6-B3D7-90149FB4D253}" type="presParOf" srcId="{7E27DCD5-6F6B-466F-B87C-796FCAC6702F}" destId="{FFE6CE94-435C-4670-894C-5FE2A9620746}" srcOrd="4" destOrd="0" presId="urn:microsoft.com/office/officeart/2008/layout/LinedList"/>
    <dgm:cxn modelId="{6303B341-3C5F-4287-B5FF-33C5987D0766}" type="presParOf" srcId="{7E27DCD5-6F6B-466F-B87C-796FCAC6702F}" destId="{0521A3B1-F17A-4F4A-8720-55F1601A2560}" srcOrd="5" destOrd="0" presId="urn:microsoft.com/office/officeart/2008/layout/LinedList"/>
    <dgm:cxn modelId="{575A425D-002C-43C6-AFD7-180680535CDF}" type="presParOf" srcId="{0521A3B1-F17A-4F4A-8720-55F1601A2560}" destId="{D72E52AD-4D78-4A43-9AC8-0D0328FE9298}" srcOrd="0" destOrd="0" presId="urn:microsoft.com/office/officeart/2008/layout/LinedList"/>
    <dgm:cxn modelId="{853BF20B-CFAF-4838-A257-F2B26BB1EFA0}" type="presParOf" srcId="{0521A3B1-F17A-4F4A-8720-55F1601A2560}" destId="{4FA46892-E631-429B-812B-2B7A4F494AA6}"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7C7C4B-3CC6-4450-AFED-DE5A6E89BC26}">
      <dsp:nvSpPr>
        <dsp:cNvPr id="0" name=""/>
        <dsp:cNvSpPr/>
      </dsp:nvSpPr>
      <dsp:spPr>
        <a:xfrm>
          <a:off x="0" y="2249"/>
          <a:ext cx="114744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132CC50-43A8-4C1C-B5EE-86C59147E59D}">
      <dsp:nvSpPr>
        <dsp:cNvPr id="0" name=""/>
        <dsp:cNvSpPr/>
      </dsp:nvSpPr>
      <dsp:spPr>
        <a:xfrm>
          <a:off x="0" y="2249"/>
          <a:ext cx="11474450"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en-GB" sz="3200" kern="1200" dirty="0"/>
            <a:t>We can represent probabilities between multiple random variables using </a:t>
          </a:r>
          <a:r>
            <a:rPr lang="en-GB" sz="3200" kern="1200" dirty="0">
              <a:solidFill>
                <a:schemeClr val="accent5"/>
              </a:solidFill>
            </a:rPr>
            <a:t>joint</a:t>
          </a:r>
          <a:r>
            <a:rPr lang="en-GB" sz="3200" kern="1200" dirty="0"/>
            <a:t>, </a:t>
          </a:r>
          <a:r>
            <a:rPr lang="en-GB" sz="3200" kern="1200" dirty="0">
              <a:solidFill>
                <a:schemeClr val="accent5"/>
              </a:solidFill>
            </a:rPr>
            <a:t>marginal</a:t>
          </a:r>
          <a:r>
            <a:rPr lang="en-GB" sz="3200" kern="1200" dirty="0"/>
            <a:t> and </a:t>
          </a:r>
          <a:r>
            <a:rPr lang="en-GB" sz="3200" kern="1200" dirty="0">
              <a:solidFill>
                <a:schemeClr val="accent5"/>
              </a:solidFill>
            </a:rPr>
            <a:t>conditional</a:t>
          </a:r>
          <a:r>
            <a:rPr lang="en-GB" sz="3200" kern="1200" dirty="0"/>
            <a:t> probabilities</a:t>
          </a:r>
          <a:endParaRPr lang="en-US" sz="3200" kern="1200" dirty="0"/>
        </a:p>
      </dsp:txBody>
      <dsp:txXfrm>
        <a:off x="0" y="2249"/>
        <a:ext cx="11474450" cy="1534142"/>
      </dsp:txXfrm>
    </dsp:sp>
    <dsp:sp modelId="{3128ADDA-69DF-478F-8F3B-76507F7EDC01}">
      <dsp:nvSpPr>
        <dsp:cNvPr id="0" name=""/>
        <dsp:cNvSpPr/>
      </dsp:nvSpPr>
      <dsp:spPr>
        <a:xfrm>
          <a:off x="0" y="1536391"/>
          <a:ext cx="114744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455F3A-314A-478D-A451-635E9B5844CB}">
      <dsp:nvSpPr>
        <dsp:cNvPr id="0" name=""/>
        <dsp:cNvSpPr/>
      </dsp:nvSpPr>
      <dsp:spPr>
        <a:xfrm>
          <a:off x="0" y="1536391"/>
          <a:ext cx="11474450"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en-GB" sz="3200" kern="1200" dirty="0">
              <a:solidFill>
                <a:schemeClr val="accent5"/>
              </a:solidFill>
            </a:rPr>
            <a:t>Bayes’ rule</a:t>
          </a:r>
          <a:r>
            <a:rPr lang="en-GB" sz="3200" kern="1200" dirty="0"/>
            <a:t> allows to invert a conditional probabilities, and crucially to </a:t>
          </a:r>
          <a:r>
            <a:rPr lang="en-GB" sz="3200" kern="1200" dirty="0">
              <a:solidFill>
                <a:schemeClr val="accent5"/>
              </a:solidFill>
            </a:rPr>
            <a:t>update our belief</a:t>
          </a:r>
          <a:r>
            <a:rPr lang="en-GB" sz="3200" kern="1200" dirty="0"/>
            <a:t> (posterior) when new evidence is available. </a:t>
          </a:r>
          <a:endParaRPr lang="en-US" sz="3200" kern="1200" dirty="0"/>
        </a:p>
      </dsp:txBody>
      <dsp:txXfrm>
        <a:off x="0" y="1536391"/>
        <a:ext cx="11474450" cy="1534142"/>
      </dsp:txXfrm>
    </dsp:sp>
    <dsp:sp modelId="{FFE6CE94-435C-4670-894C-5FE2A9620746}">
      <dsp:nvSpPr>
        <dsp:cNvPr id="0" name=""/>
        <dsp:cNvSpPr/>
      </dsp:nvSpPr>
      <dsp:spPr>
        <a:xfrm>
          <a:off x="0" y="3070533"/>
          <a:ext cx="1147445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2E52AD-4D78-4A43-9AC8-0D0328FE9298}">
      <dsp:nvSpPr>
        <dsp:cNvPr id="0" name=""/>
        <dsp:cNvSpPr/>
      </dsp:nvSpPr>
      <dsp:spPr>
        <a:xfrm>
          <a:off x="0" y="3070533"/>
          <a:ext cx="11474450"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en-GB" sz="3200" kern="1200" dirty="0">
              <a:solidFill>
                <a:schemeClr val="accent5"/>
              </a:solidFill>
            </a:rPr>
            <a:t>Entropy</a:t>
          </a:r>
          <a:r>
            <a:rPr lang="en-GB" sz="3200" kern="1200" dirty="0"/>
            <a:t> allows to model </a:t>
          </a:r>
          <a:r>
            <a:rPr lang="en-GB" sz="3200" kern="1200" dirty="0">
              <a:solidFill>
                <a:schemeClr val="accent5"/>
              </a:solidFill>
            </a:rPr>
            <a:t>uncertainty</a:t>
          </a:r>
          <a:r>
            <a:rPr lang="en-GB" sz="3200" kern="1200" dirty="0"/>
            <a:t> and will be useful to assess how effective a Bayesian update was at increasing our knowledge. </a:t>
          </a:r>
          <a:endParaRPr lang="en-US" sz="3200" kern="1200" dirty="0"/>
        </a:p>
      </dsp:txBody>
      <dsp:txXfrm>
        <a:off x="0" y="3070533"/>
        <a:ext cx="11474450" cy="153414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295AE2-43AC-144B-AE88-DCB376799F11}" type="datetimeFigureOut">
              <a:rPr lang="en-US" smtClean="0"/>
              <a:t>11/12/2025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4E5BB-E6B0-B84A-ABCD-9A3E9C2D78CB}" type="slidenum">
              <a:rPr lang="en-US" smtClean="0"/>
              <a:t>‹#›</a:t>
            </a:fld>
            <a:endParaRPr lang="en-US"/>
          </a:p>
        </p:txBody>
      </p:sp>
    </p:spTree>
    <p:extLst>
      <p:ext uri="{BB962C8B-B14F-4D97-AF65-F5344CB8AC3E}">
        <p14:creationId xmlns:p14="http://schemas.microsoft.com/office/powerpoint/2010/main" val="2372742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F24E5BB-E6B0-B84A-ABCD-9A3E9C2D78CB}" type="slidenum">
              <a:rPr lang="en-US" smtClean="0"/>
              <a:t>1</a:t>
            </a:fld>
            <a:endParaRPr lang="en-US"/>
          </a:p>
        </p:txBody>
      </p:sp>
    </p:spTree>
    <p:extLst>
      <p:ext uri="{BB962C8B-B14F-4D97-AF65-F5344CB8AC3E}">
        <p14:creationId xmlns:p14="http://schemas.microsoft.com/office/powerpoint/2010/main" val="176595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By the end of this unit you should know:</a:t>
            </a:r>
          </a:p>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2</a:t>
            </a:fld>
            <a:endParaRPr lang="en-US"/>
          </a:p>
        </p:txBody>
      </p:sp>
    </p:spTree>
    <p:extLst>
      <p:ext uri="{BB962C8B-B14F-4D97-AF65-F5344CB8AC3E}">
        <p14:creationId xmlns:p14="http://schemas.microsoft.com/office/powerpoint/2010/main" val="3826514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4</a:t>
            </a:fld>
            <a:endParaRPr lang="en-US"/>
          </a:p>
        </p:txBody>
      </p:sp>
    </p:spTree>
    <p:extLst>
      <p:ext uri="{BB962C8B-B14F-4D97-AF65-F5344CB8AC3E}">
        <p14:creationId xmlns:p14="http://schemas.microsoft.com/office/powerpoint/2010/main" val="1498889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None/>
            </a:pPr>
            <a:r>
              <a:rPr lang="en-US" b="0" i="0" dirty="0">
                <a:effectLst/>
                <a:latin typeface="system-ui"/>
              </a:rPr>
              <a:t>We could imagine that writing plays and novels is an activity that mysterious entities do by generating random characters according to a PMF. Under this (very simplified!) assumption, we could now take an "unknown" text (in this case </a:t>
            </a:r>
            <a:r>
              <a:rPr lang="en-US" b="0" i="1" dirty="0">
                <a:effectLst/>
                <a:latin typeface="system-ui"/>
              </a:rPr>
              <a:t>Macbeth</a:t>
            </a:r>
            <a:r>
              <a:rPr lang="en-US" b="0" i="0" dirty="0">
                <a:effectLst/>
                <a:latin typeface="system-ui"/>
              </a:rPr>
              <a:t>) and then look at how likely it would have been to have been generated under two models:</a:t>
            </a:r>
          </a:p>
          <a:p>
            <a:pPr algn="l">
              <a:buFont typeface="Arial" panose="020B0604020202020204" pitchFamily="34" charset="0"/>
              <a:buChar char="•"/>
            </a:pPr>
            <a:r>
              <a:rPr lang="en-US" b="0" i="1" dirty="0">
                <a:effectLst/>
                <a:latin typeface="system-ui"/>
              </a:rPr>
              <a:t>A</a:t>
            </a:r>
            <a:r>
              <a:rPr lang="en-US" b="0" i="0" dirty="0">
                <a:effectLst/>
                <a:latin typeface="system-ui"/>
              </a:rPr>
              <a:t> It was generated by a mysterious entity using the PMF for </a:t>
            </a:r>
            <a:r>
              <a:rPr lang="en-US" b="0" i="1" dirty="0">
                <a:effectLst/>
                <a:latin typeface="system-ui"/>
              </a:rPr>
              <a:t>Romeo and Juliet</a:t>
            </a:r>
            <a:endParaRPr lang="en-US" b="0" i="0" dirty="0">
              <a:effectLst/>
              <a:latin typeface="system-ui"/>
            </a:endParaRPr>
          </a:p>
          <a:p>
            <a:pPr algn="l">
              <a:buFont typeface="Arial" panose="020B0604020202020204" pitchFamily="34" charset="0"/>
              <a:buChar char="•"/>
            </a:pPr>
            <a:r>
              <a:rPr lang="en-US" b="0" i="1" dirty="0">
                <a:effectLst/>
                <a:latin typeface="system-ui"/>
              </a:rPr>
              <a:t>B</a:t>
            </a:r>
            <a:r>
              <a:rPr lang="en-US" b="0" i="0" dirty="0">
                <a:effectLst/>
                <a:latin typeface="system-ui"/>
              </a:rPr>
              <a:t> It was generated by a mysterious entity using the PMF for </a:t>
            </a:r>
            <a:r>
              <a:rPr lang="en-US" b="0" i="1" dirty="0">
                <a:effectLst/>
                <a:latin typeface="system-ui"/>
              </a:rPr>
              <a:t>Metamorphosis</a:t>
            </a:r>
            <a:endParaRPr lang="en-US" b="0" i="0" dirty="0">
              <a:effectLst/>
              <a:latin typeface="system-ui"/>
            </a:endParaRPr>
          </a:p>
          <a:p>
            <a:pPr marL="0" indent="0" algn="l">
              <a:buNone/>
            </a:pPr>
            <a:r>
              <a:rPr lang="en-US" b="0" i="0" dirty="0">
                <a:effectLst/>
                <a:latin typeface="system-ui"/>
              </a:rPr>
              <a:t>Neither of these will be exactly true, but we can precisely quantify to what extent </a:t>
            </a:r>
            <a:r>
              <a:rPr lang="en-US" b="0" i="1" dirty="0">
                <a:effectLst/>
                <a:latin typeface="system-ui"/>
              </a:rPr>
              <a:t>Macbeth</a:t>
            </a:r>
            <a:r>
              <a:rPr lang="en-US" b="0" i="0" dirty="0">
                <a:effectLst/>
                <a:latin typeface="system-ui"/>
              </a:rPr>
              <a:t> appears to have been generated by a similar process to these two reference texts.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effectLst/>
              <a:latin typeface="system-ui"/>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effectLst/>
              <a:latin typeface="system-u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effectLst/>
                <a:latin typeface="system-ui"/>
              </a:rPr>
              <a:t>This is a very rough proxy for whether or not they were generated by the same mysterious entity -- i.e. author. Our model is just the distribution of characters, so is a fairly weak model of different styles. However, it is sufficient to do the comparison here.</a:t>
            </a:r>
          </a:p>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12</a:t>
            </a:fld>
            <a:endParaRPr lang="en-US"/>
          </a:p>
        </p:txBody>
      </p:sp>
    </p:spTree>
    <p:extLst>
      <p:ext uri="{BB962C8B-B14F-4D97-AF65-F5344CB8AC3E}">
        <p14:creationId xmlns:p14="http://schemas.microsoft.com/office/powerpoint/2010/main" val="18546436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25</a:t>
            </a:fld>
            <a:endParaRPr lang="en-US"/>
          </a:p>
        </p:txBody>
      </p:sp>
    </p:spTree>
    <p:extLst>
      <p:ext uri="{BB962C8B-B14F-4D97-AF65-F5344CB8AC3E}">
        <p14:creationId xmlns:p14="http://schemas.microsoft.com/office/powerpoint/2010/main" val="307563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F24E5BB-E6B0-B84A-ABCD-9A3E9C2D78CB}" type="slidenum">
              <a:rPr lang="en-US" smtClean="0"/>
              <a:t>26</a:t>
            </a:fld>
            <a:endParaRPr lang="en-US"/>
          </a:p>
        </p:txBody>
      </p:sp>
    </p:spTree>
    <p:extLst>
      <p:ext uri="{BB962C8B-B14F-4D97-AF65-F5344CB8AC3E}">
        <p14:creationId xmlns:p14="http://schemas.microsoft.com/office/powerpoint/2010/main" val="31050658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62</a:t>
            </a:fld>
            <a:endParaRPr lang="en-US"/>
          </a:p>
        </p:txBody>
      </p:sp>
    </p:spTree>
    <p:extLst>
      <p:ext uri="{BB962C8B-B14F-4D97-AF65-F5344CB8AC3E}">
        <p14:creationId xmlns:p14="http://schemas.microsoft.com/office/powerpoint/2010/main" val="1727494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Standar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2559E32-3873-7D45-B9C6-C4F839B303D0}"/>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
        <p:nvSpPr>
          <p:cNvPr id="11" name="Picture Placeholder 2">
            <a:extLst>
              <a:ext uri="{FF2B5EF4-FFF2-40B4-BE49-F238E27FC236}">
                <a16:creationId xmlns:a16="http://schemas.microsoft.com/office/drawing/2014/main" id="{81BC6CA5-FB54-8746-B1B1-0D09602CEAEC}"/>
              </a:ext>
            </a:extLst>
          </p:cNvPr>
          <p:cNvSpPr>
            <a:spLocks noGrp="1"/>
          </p:cNvSpPr>
          <p:nvPr>
            <p:ph type="pic" sz="quarter" idx="13"/>
          </p:nvPr>
        </p:nvSpPr>
        <p:spPr>
          <a:xfrm>
            <a:off x="-1" y="1699336"/>
            <a:ext cx="2452283" cy="4575733"/>
          </a:xfrm>
          <a:prstGeom prst="rect">
            <a:avLst/>
          </a:prstGeom>
        </p:spPr>
        <p:txBody>
          <a:bodyPr/>
          <a:lstStyle>
            <a:lvl1pPr>
              <a:defRPr>
                <a:solidFill>
                  <a:srgbClr val="003560"/>
                </a:solidFill>
                <a:latin typeface="Arial" panose="020B0604020202020204" pitchFamily="34" charset="0"/>
                <a:cs typeface="Arial" panose="020B0604020202020204" pitchFamily="34" charset="0"/>
              </a:defRPr>
            </a:lvl1pPr>
          </a:lstStyle>
          <a:p>
            <a:r>
              <a:rPr lang="en-GB"/>
              <a:t>Click icon to add picture</a:t>
            </a:r>
            <a:endParaRPr lang="en-US" dirty="0"/>
          </a:p>
        </p:txBody>
      </p:sp>
      <p:sp>
        <p:nvSpPr>
          <p:cNvPr id="12" name="Text Placeholder 6">
            <a:extLst>
              <a:ext uri="{FF2B5EF4-FFF2-40B4-BE49-F238E27FC236}">
                <a16:creationId xmlns:a16="http://schemas.microsoft.com/office/drawing/2014/main" id="{1DECEF87-946C-834D-8550-61FE3D91A5E9}"/>
              </a:ext>
            </a:extLst>
          </p:cNvPr>
          <p:cNvSpPr>
            <a:spLocks noGrp="1"/>
          </p:cNvSpPr>
          <p:nvPr>
            <p:ph type="body" sz="quarter" idx="14" hasCustomPrompt="1"/>
          </p:nvPr>
        </p:nvSpPr>
        <p:spPr>
          <a:xfrm>
            <a:off x="2549235" y="1705343"/>
            <a:ext cx="9210963" cy="4526124"/>
          </a:xfrm>
          <a:prstGeom prst="rect">
            <a:avLst/>
          </a:prstGeom>
        </p:spPr>
        <p:txBody>
          <a:bodyPr/>
          <a:lstStyle>
            <a:lvl1pPr>
              <a:defRPr sz="2400">
                <a:solidFill>
                  <a:srgbClr val="003560"/>
                </a:solidFill>
                <a:latin typeface="Arial" panose="020B0604020202020204" pitchFamily="34" charset="0"/>
                <a:cs typeface="Arial" panose="020B0604020202020204" pitchFamily="34" charset="0"/>
              </a:defRPr>
            </a:lvl1pPr>
            <a:lvl2pPr>
              <a:defRPr sz="2400">
                <a:solidFill>
                  <a:srgbClr val="003560"/>
                </a:solidFill>
                <a:latin typeface="Arial" panose="020B0604020202020204" pitchFamily="34" charset="0"/>
                <a:cs typeface="Arial" panose="020B0604020202020204" pitchFamily="34" charset="0"/>
              </a:defRPr>
            </a:lvl2pPr>
            <a:lvl3pPr>
              <a:defRPr sz="2400" b="0">
                <a:solidFill>
                  <a:srgbClr val="003560"/>
                </a:solidFill>
                <a:latin typeface="Arial" panose="020B0604020202020204" pitchFamily="34" charset="0"/>
                <a:cs typeface="Arial" panose="020B0604020202020204" pitchFamily="34" charset="0"/>
              </a:defRPr>
            </a:lvl3pPr>
            <a:lvl4pPr>
              <a:defRPr sz="2400">
                <a:solidFill>
                  <a:srgbClr val="003560"/>
                </a:solidFill>
                <a:latin typeface="Arial" panose="020B0604020202020204" pitchFamily="34" charset="0"/>
                <a:cs typeface="Arial" panose="020B0604020202020204" pitchFamily="34" charset="0"/>
              </a:defRPr>
            </a:lvl4pPr>
            <a:lvl5pPr>
              <a:defRPr sz="2400">
                <a:solidFill>
                  <a:srgbClr val="003560"/>
                </a:solidFill>
                <a:latin typeface="Arial" panose="020B0604020202020204" pitchFamily="34" charset="0"/>
                <a:cs typeface="Arial" panose="020B0604020202020204" pitchFamily="34" charset="0"/>
              </a:defRPr>
            </a:lvl5pPr>
          </a:lstStyle>
          <a:p>
            <a:pPr lvl="0"/>
            <a:r>
              <a:rPr lang="en-GB" dirty="0"/>
              <a:t>Body text Arial 24pt</a:t>
            </a:r>
            <a:endParaRPr lang="en-US" dirty="0"/>
          </a:p>
        </p:txBody>
      </p:sp>
    </p:spTree>
    <p:extLst>
      <p:ext uri="{BB962C8B-B14F-4D97-AF65-F5344CB8AC3E}">
        <p14:creationId xmlns:p14="http://schemas.microsoft.com/office/powerpoint/2010/main" val="28108165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BB4406-02B4-284F-84C5-A21F22E6BA49}"/>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
        <p:nvSpPr>
          <p:cNvPr id="11" name="Content Placeholder 7">
            <a:extLst>
              <a:ext uri="{FF2B5EF4-FFF2-40B4-BE49-F238E27FC236}">
                <a16:creationId xmlns:a16="http://schemas.microsoft.com/office/drawing/2014/main" id="{5FEA054A-F191-E34B-8C26-BA11F3F0C090}"/>
              </a:ext>
            </a:extLst>
          </p:cNvPr>
          <p:cNvSpPr>
            <a:spLocks noGrp="1"/>
          </p:cNvSpPr>
          <p:nvPr>
            <p:ph sz="quarter" idx="13"/>
          </p:nvPr>
        </p:nvSpPr>
        <p:spPr>
          <a:xfrm>
            <a:off x="285750" y="1627188"/>
            <a:ext cx="11474450" cy="46069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76892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ual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838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itle 1">
            <a:extLst>
              <a:ext uri="{FF2B5EF4-FFF2-40B4-BE49-F238E27FC236}">
                <a16:creationId xmlns:a16="http://schemas.microsoft.com/office/drawing/2014/main" id="{3EE31514-F8EA-5D4E-B45D-65DD78DBE34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341252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Title 1">
            <a:extLst>
              <a:ext uri="{FF2B5EF4-FFF2-40B4-BE49-F238E27FC236}">
                <a16:creationId xmlns:a16="http://schemas.microsoft.com/office/drawing/2014/main" id="{191D55F9-A3F2-1242-A5F3-5AAACC9DB3A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22494081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90418" y="1657926"/>
            <a:ext cx="6629400" cy="789709"/>
          </a:xfrm>
        </p:spPr>
        <p:txBody>
          <a:bodyPr anchor="t">
            <a:normAutofit/>
          </a:bodyPr>
          <a:lstStyle>
            <a:lvl1pPr algn="l">
              <a:defRPr sz="2800">
                <a:solidFill>
                  <a:schemeClr val="accent1">
                    <a:lumMod val="50000"/>
                  </a:schemeClr>
                </a:solidFill>
                <a:latin typeface="Arial" panose="020B0604020202020204" pitchFamily="34" charset="0"/>
                <a:cs typeface="Arial" panose="020B0604020202020204" pitchFamily="34" charset="0"/>
              </a:defRPr>
            </a:lvl1pPr>
          </a:lstStyle>
          <a:p>
            <a:r>
              <a:rPr lang="en-GB"/>
              <a:t>Click to edit Master title style</a:t>
            </a:r>
            <a:endParaRPr lang="en-GB" dirty="0"/>
          </a:p>
        </p:txBody>
      </p:sp>
      <p:sp>
        <p:nvSpPr>
          <p:cNvPr id="3" name="Subtitle 2"/>
          <p:cNvSpPr>
            <a:spLocks noGrp="1"/>
          </p:cNvSpPr>
          <p:nvPr>
            <p:ph type="subTitle" idx="1"/>
          </p:nvPr>
        </p:nvSpPr>
        <p:spPr>
          <a:xfrm>
            <a:off x="690418" y="3015529"/>
            <a:ext cx="5680364" cy="623598"/>
          </a:xfrm>
        </p:spPr>
        <p:txBody>
          <a:bodyPr>
            <a:normAutofit/>
          </a:bodyPr>
          <a:lstStyle>
            <a:lvl1pPr marL="0" indent="0" algn="l">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Tree>
    <p:extLst>
      <p:ext uri="{BB962C8B-B14F-4D97-AF65-F5344CB8AC3E}">
        <p14:creationId xmlns:p14="http://schemas.microsoft.com/office/powerpoint/2010/main" val="11842734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97420DD-2415-454D-AA0F-DBDA719CBDF3}"/>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11012830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41680" y="2123676"/>
            <a:ext cx="4027169" cy="1600200"/>
          </a:xfrm>
        </p:spPr>
        <p:txBody>
          <a:bodyPr anchor="t">
            <a:normAutofit/>
          </a:bodyPr>
          <a:lstStyle>
            <a:lvl1pPr algn="l">
              <a:defRPr sz="2800"/>
            </a:lvl1pPr>
          </a:lstStyle>
          <a:p>
            <a:r>
              <a:rPr lang="en-GB" dirty="0"/>
              <a:t>Click to edit Master title style</a:t>
            </a:r>
          </a:p>
        </p:txBody>
      </p:sp>
      <p:sp>
        <p:nvSpPr>
          <p:cNvPr id="4" name="Text Placeholder 3"/>
          <p:cNvSpPr>
            <a:spLocks noGrp="1"/>
          </p:cNvSpPr>
          <p:nvPr>
            <p:ph type="body" sz="half" idx="2"/>
          </p:nvPr>
        </p:nvSpPr>
        <p:spPr>
          <a:xfrm>
            <a:off x="741680" y="3934224"/>
            <a:ext cx="4030345" cy="1934763"/>
          </a:xfrm>
        </p:spPr>
        <p:txBody>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3" name="Content Placeholder 2"/>
          <p:cNvSpPr>
            <a:spLocks noGrp="1"/>
          </p:cNvSpPr>
          <p:nvPr>
            <p:ph idx="1"/>
          </p:nvPr>
        </p:nvSpPr>
        <p:spPr>
          <a:xfrm>
            <a:off x="5183188" y="987425"/>
            <a:ext cx="6172200" cy="4873625"/>
          </a:xfrm>
        </p:spPr>
        <p:txBody>
          <a:bodyPr/>
          <a:lstStyle>
            <a:lvl1pPr>
              <a:defRPr sz="2400"/>
            </a:lvl1pPr>
            <a:lvl2pPr>
              <a:defRPr sz="24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Tree>
    <p:extLst>
      <p:ext uri="{BB962C8B-B14F-4D97-AF65-F5344CB8AC3E}">
        <p14:creationId xmlns:p14="http://schemas.microsoft.com/office/powerpoint/2010/main" val="2328039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A65B24-645B-1746-9651-55C209C5E25D}"/>
              </a:ext>
            </a:extLst>
          </p:cNvPr>
          <p:cNvSpPr/>
          <p:nvPr userDrawn="1"/>
        </p:nvSpPr>
        <p:spPr>
          <a:xfrm>
            <a:off x="0" y="0"/>
            <a:ext cx="12192000"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3810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511800" y="681037"/>
            <a:ext cx="5842000" cy="1009651"/>
          </a:xfrm>
          <a:prstGeom prst="rect">
            <a:avLst/>
          </a:prstGeom>
        </p:spPr>
        <p:txBody>
          <a:bodyPr vert="horz" lIns="91440" tIns="45720" rIns="91440" bIns="45720" rtlCol="0" anchor="t">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624FB1-CB24-4B4C-BFD4-AD276D9A4059}" type="datetimeFigureOut">
              <a:rPr lang="en-GB" smtClean="0"/>
              <a:t>12/11/2025</a:t>
            </a:fld>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19F3F6-C255-4AC5-91C2-3F61B6509B36}" type="slidenum">
              <a:rPr lang="en-GB" smtClean="0"/>
              <a:t>‹#›</a:t>
            </a:fld>
            <a:endParaRPr lang="en-GB"/>
          </a:p>
        </p:txBody>
      </p:sp>
      <p:pic>
        <p:nvPicPr>
          <p:cNvPr id="9" name="Picture 8">
            <a:extLst>
              <a:ext uri="{FF2B5EF4-FFF2-40B4-BE49-F238E27FC236}">
                <a16:creationId xmlns:a16="http://schemas.microsoft.com/office/drawing/2014/main" id="{46262A0F-9E49-6B4D-94F3-647B33A25AE7}"/>
              </a:ext>
              <a:ext uri="{C183D7F6-B498-43B3-948B-1728B52AA6E4}">
                <adec:decorative xmlns:adec="http://schemas.microsoft.com/office/drawing/2017/decorative" val="1"/>
              </a:ext>
            </a:extLst>
          </p:cNvPr>
          <p:cNvPicPr>
            <a:picLocks noChangeAspect="1"/>
          </p:cNvPicPr>
          <p:nvPr userDrawn="1"/>
        </p:nvPicPr>
        <p:blipFill>
          <a:blip r:embed="rId10">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635699181"/>
      </p:ext>
    </p:extLst>
  </p:cSld>
  <p:clrMap bg1="lt1" tx1="dk1" bg2="lt2" tx2="dk2" accent1="accent1" accent2="accent2" accent3="accent3" accent4="accent4" accent5="accent5" accent6="accent6" hlink="hlink" folHlink="folHlink"/>
  <p:sldLayoutIdLst>
    <p:sldLayoutId id="2147483688" r:id="rId1"/>
    <p:sldLayoutId id="2147483683" r:id="rId2"/>
    <p:sldLayoutId id="2147483652" r:id="rId3"/>
    <p:sldLayoutId id="2147483653" r:id="rId4"/>
    <p:sldLayoutId id="2147483649" r:id="rId5"/>
    <p:sldLayoutId id="2147483654" r:id="rId6"/>
    <p:sldLayoutId id="2147483656" r:id="rId7"/>
    <p:sldLayoutId id="2147483684" r:id="rId8"/>
  </p:sldLayoutIdLst>
  <p:txStyles>
    <p:titleStyle>
      <a:lvl1pPr algn="r" defTabSz="914400" rtl="0" eaLnBrk="1" latinLnBrk="0" hangingPunct="1">
        <a:lnSpc>
          <a:spcPct val="90000"/>
        </a:lnSpc>
        <a:spcBef>
          <a:spcPct val="0"/>
        </a:spcBef>
        <a:buNone/>
        <a:defRPr sz="2800" b="1" kern="1200">
          <a:solidFill>
            <a:schemeClr val="accent1">
              <a:lumMod val="50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29.png"/><Relationship Id="rId1" Type="http://schemas.openxmlformats.org/officeDocument/2006/relationships/slideLayout" Target="../slideLayouts/slideLayout1.xml"/><Relationship Id="rId4" Type="http://schemas.openxmlformats.org/officeDocument/2006/relationships/hyperlink" Target="https://www.menti.com/alquw5aa3w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microsoft.com/office/2011/relationships/webextension" Target="../webextensions/webextension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2.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he Gilbert Scott Building">
            <a:extLst>
              <a:ext uri="{FF2B5EF4-FFF2-40B4-BE49-F238E27FC236}">
                <a16:creationId xmlns:a16="http://schemas.microsoft.com/office/drawing/2014/main" id="{BAB3C4BD-A67A-4D47-6D5C-637F167E7C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p:txBody>
          <a:bodyPr>
            <a:normAutofit/>
          </a:bodyPr>
          <a:lstStyle/>
          <a:p>
            <a:r>
              <a:rPr lang="en-GB" b="1" i="0" dirty="0">
                <a:effectLst/>
                <a:latin typeface="-apple-system"/>
              </a:rPr>
              <a:t>Introduction to Data Science and Systems</a:t>
            </a:r>
            <a:endParaRPr lang="en-GB" dirty="0">
              <a:solidFill>
                <a:schemeClr val="tx1"/>
              </a:solidFill>
            </a:endParaRPr>
          </a:p>
        </p:txBody>
      </p:sp>
      <p:sp>
        <p:nvSpPr>
          <p:cNvPr id="3" name="Subtitle 2"/>
          <p:cNvSpPr>
            <a:spLocks noGrp="1"/>
          </p:cNvSpPr>
          <p:nvPr>
            <p:ph type="subTitle" idx="1"/>
          </p:nvPr>
        </p:nvSpPr>
        <p:spPr>
          <a:xfrm>
            <a:off x="690417" y="2576945"/>
            <a:ext cx="6352640" cy="1062182"/>
          </a:xfrm>
        </p:spPr>
        <p:txBody>
          <a:bodyPr/>
          <a:lstStyle/>
          <a:p>
            <a:r>
              <a:rPr lang="en-GB" dirty="0">
                <a:solidFill>
                  <a:schemeClr val="tx1"/>
                </a:solidFill>
              </a:rPr>
              <a:t>Probabilities II – Bayes’ Rule</a:t>
            </a:r>
          </a:p>
          <a:p>
            <a:endParaRPr lang="en-GB" dirty="0">
              <a:solidFill>
                <a:schemeClr val="tx1"/>
              </a:solidFill>
            </a:endParaRPr>
          </a:p>
        </p:txBody>
      </p:sp>
      <p:sp>
        <p:nvSpPr>
          <p:cNvPr id="5" name="TextBox 4">
            <a:extLst>
              <a:ext uri="{FF2B5EF4-FFF2-40B4-BE49-F238E27FC236}">
                <a16:creationId xmlns:a16="http://schemas.microsoft.com/office/drawing/2014/main" id="{8751FC6E-FCE7-8227-A3BF-138CAED1187D}"/>
              </a:ext>
            </a:extLst>
          </p:cNvPr>
          <p:cNvSpPr txBox="1"/>
          <p:nvPr/>
        </p:nvSpPr>
        <p:spPr>
          <a:xfrm>
            <a:off x="690417" y="3269795"/>
            <a:ext cx="6183086" cy="369332"/>
          </a:xfrm>
          <a:prstGeom prst="rect">
            <a:avLst/>
          </a:prstGeom>
          <a:noFill/>
        </p:spPr>
        <p:txBody>
          <a:bodyPr wrap="square">
            <a:spAutoFit/>
          </a:bodyPr>
          <a:lstStyle/>
          <a:p>
            <a:r>
              <a:rPr lang="en-US" altLang="zh-CN" dirty="0">
                <a:solidFill>
                  <a:schemeClr val="tx1"/>
                </a:solidFill>
              </a:rPr>
              <a:t>Dr</a:t>
            </a:r>
            <a:r>
              <a:rPr lang="zh-CN" altLang="en-US" dirty="0">
                <a:solidFill>
                  <a:schemeClr val="tx1"/>
                </a:solidFill>
              </a:rPr>
              <a:t> </a:t>
            </a:r>
            <a:r>
              <a:rPr lang="en-GB" altLang="zh-CN" dirty="0">
                <a:solidFill>
                  <a:schemeClr val="tx1"/>
                </a:solidFill>
              </a:rPr>
              <a:t>Nicolas Pugeault</a:t>
            </a:r>
            <a:endParaRPr lang="en-GB" dirty="0">
              <a:solidFill>
                <a:schemeClr val="tx1"/>
              </a:solidFill>
            </a:endParaRPr>
          </a:p>
        </p:txBody>
      </p:sp>
    </p:spTree>
    <p:extLst>
      <p:ext uri="{BB962C8B-B14F-4D97-AF65-F5344CB8AC3E}">
        <p14:creationId xmlns:p14="http://schemas.microsoft.com/office/powerpoint/2010/main" val="4244171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A5424-B679-554A-935B-2CF2EFD17240}"/>
              </a:ext>
            </a:extLst>
          </p:cNvPr>
          <p:cNvSpPr>
            <a:spLocks noGrp="1"/>
          </p:cNvSpPr>
          <p:nvPr>
            <p:ph type="title"/>
          </p:nvPr>
        </p:nvSpPr>
        <p:spPr>
          <a:xfrm>
            <a:off x="2549236" y="533614"/>
            <a:ext cx="9210963" cy="888786"/>
          </a:xfrm>
        </p:spPr>
        <p:txBody>
          <a:bodyPr anchor="t">
            <a:normAutofit/>
          </a:bodyPr>
          <a:lstStyle/>
          <a:p>
            <a:r>
              <a:rPr lang="en-US" dirty="0"/>
              <a:t>Today’s learning outcomes</a:t>
            </a:r>
          </a:p>
        </p:txBody>
      </p:sp>
      <p:sp>
        <p:nvSpPr>
          <p:cNvPr id="8" name="Picture Placeholder 2">
            <a:extLst>
              <a:ext uri="{FF2B5EF4-FFF2-40B4-BE49-F238E27FC236}">
                <a16:creationId xmlns:a16="http://schemas.microsoft.com/office/drawing/2014/main" id="{25585006-BCAE-529E-80CC-A539A29D7C53}"/>
              </a:ext>
            </a:extLst>
          </p:cNvPr>
          <p:cNvSpPr>
            <a:spLocks noGrp="1"/>
          </p:cNvSpPr>
          <p:nvPr>
            <p:ph type="pic" sz="quarter" idx="13"/>
          </p:nvPr>
        </p:nvSpPr>
        <p:spPr>
          <a:xfrm>
            <a:off x="-1" y="1699336"/>
            <a:ext cx="2452283" cy="4575733"/>
          </a:xfrm>
        </p:spPr>
        <p:txBody>
          <a:bodyPr/>
          <a:lstStyle/>
          <a:p>
            <a:endParaRPr lang="en-GB"/>
          </a:p>
        </p:txBody>
      </p:sp>
      <p:sp>
        <p:nvSpPr>
          <p:cNvPr id="3" name="Content Placeholder 2">
            <a:extLst>
              <a:ext uri="{FF2B5EF4-FFF2-40B4-BE49-F238E27FC236}">
                <a16:creationId xmlns:a16="http://schemas.microsoft.com/office/drawing/2014/main" id="{32FF7AE7-790E-374F-98D3-31609964D7B4}"/>
              </a:ext>
            </a:extLst>
          </p:cNvPr>
          <p:cNvSpPr>
            <a:spLocks noGrp="1"/>
          </p:cNvSpPr>
          <p:nvPr>
            <p:ph type="body" sz="quarter" idx="14"/>
          </p:nvPr>
        </p:nvSpPr>
        <p:spPr>
          <a:xfrm>
            <a:off x="2549235" y="1705343"/>
            <a:ext cx="9210963" cy="4526124"/>
          </a:xfrm>
        </p:spPr>
        <p:txBody>
          <a:bodyPr>
            <a:normAutofit/>
          </a:bodyPr>
          <a:lstStyle/>
          <a:p>
            <a:pPr>
              <a:buFont typeface="Arial" panose="020B0604020202020204" pitchFamily="34" charset="0"/>
              <a:buChar char="•"/>
            </a:pPr>
            <a:r>
              <a:rPr lang="en-US" b="0" i="0" dirty="0">
                <a:effectLst/>
              </a:rPr>
              <a:t>conditional, marginal and joint distribution</a:t>
            </a:r>
          </a:p>
          <a:p>
            <a:pPr>
              <a:buFont typeface="Arial" panose="020B0604020202020204" pitchFamily="34" charset="0"/>
              <a:buChar char="•"/>
            </a:pPr>
            <a:r>
              <a:rPr lang="en-US" b="0" i="0" dirty="0">
                <a:effectLst/>
              </a:rPr>
              <a:t>what entropy is and how it can be computed</a:t>
            </a:r>
          </a:p>
          <a:p>
            <a:pPr>
              <a:buFont typeface="Arial" panose="020B0604020202020204" pitchFamily="34" charset="0"/>
              <a:buChar char="•"/>
            </a:pPr>
            <a:r>
              <a:rPr lang="en-US" b="0" i="0" dirty="0">
                <a:effectLst/>
              </a:rPr>
              <a:t>Bayes' rule and how to apply it problems</a:t>
            </a:r>
          </a:p>
          <a:p>
            <a:pPr>
              <a:buFont typeface="Arial" panose="020B0604020202020204" pitchFamily="34" charset="0"/>
              <a:buChar char="•"/>
            </a:pPr>
            <a:r>
              <a:rPr lang="en-US" b="0" i="0" dirty="0">
                <a:effectLst/>
              </a:rPr>
              <a:t>what bigrams are and how they can be used</a:t>
            </a:r>
          </a:p>
          <a:p>
            <a:pPr marL="0" indent="0" rtl="0">
              <a:buNone/>
            </a:pPr>
            <a:endParaRPr lang="en-GB" b="1" dirty="0"/>
          </a:p>
        </p:txBody>
      </p:sp>
    </p:spTree>
    <p:extLst>
      <p:ext uri="{BB962C8B-B14F-4D97-AF65-F5344CB8AC3E}">
        <p14:creationId xmlns:p14="http://schemas.microsoft.com/office/powerpoint/2010/main" val="294217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CAC83B-1A2B-1E95-7B9F-A87DB7040886}"/>
              </a:ext>
            </a:extLst>
          </p:cNvPr>
          <p:cNvSpPr>
            <a:spLocks noGrp="1"/>
          </p:cNvSpPr>
          <p:nvPr>
            <p:ph type="title"/>
          </p:nvPr>
        </p:nvSpPr>
        <p:spPr>
          <a:xfrm>
            <a:off x="741680" y="2123676"/>
            <a:ext cx="4027169" cy="1600200"/>
          </a:xfrm>
        </p:spPr>
        <p:txBody>
          <a:bodyPr anchor="t">
            <a:normAutofit/>
          </a:bodyPr>
          <a:lstStyle/>
          <a:p>
            <a:r>
              <a:rPr lang="en-GB" dirty="0"/>
              <a:t>Part 1 - Joint, marginal and conditional probabilities</a:t>
            </a:r>
          </a:p>
        </p:txBody>
      </p:sp>
      <p:sp>
        <p:nvSpPr>
          <p:cNvPr id="2055" name="Text Placeholder 2">
            <a:extLst>
              <a:ext uri="{FF2B5EF4-FFF2-40B4-BE49-F238E27FC236}">
                <a16:creationId xmlns:a16="http://schemas.microsoft.com/office/drawing/2014/main" id="{D7CECC1C-BB78-7E91-E746-229032231CFF}"/>
              </a:ext>
            </a:extLst>
          </p:cNvPr>
          <p:cNvSpPr>
            <a:spLocks noGrp="1"/>
          </p:cNvSpPr>
          <p:nvPr>
            <p:ph type="body" sz="half" idx="2"/>
          </p:nvPr>
        </p:nvSpPr>
        <p:spPr>
          <a:xfrm>
            <a:off x="741680" y="3934224"/>
            <a:ext cx="4030345" cy="1934763"/>
          </a:xfrm>
        </p:spPr>
        <p:txBody>
          <a:bodyPr/>
          <a:lstStyle/>
          <a:p>
            <a:endParaRPr lang="en-US"/>
          </a:p>
        </p:txBody>
      </p:sp>
      <p:pic>
        <p:nvPicPr>
          <p:cNvPr id="2050" name="Picture 2" descr="Romeo + Juliet (1996) | Romeo And Juliet Wiki | Fandom">
            <a:extLst>
              <a:ext uri="{FF2B5EF4-FFF2-40B4-BE49-F238E27FC236}">
                <a16:creationId xmlns:a16="http://schemas.microsoft.com/office/drawing/2014/main" id="{E5E251DA-715B-93D5-CABA-093B4DA18A0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624440" y="987425"/>
            <a:ext cx="3289696" cy="4873625"/>
          </a:xfrm>
          <a:prstGeom prst="rect">
            <a:avLst/>
          </a:prstGeom>
          <a:solidFill>
            <a:srgbClr val="FFFFFF"/>
          </a:solidFill>
        </p:spPr>
      </p:pic>
    </p:spTree>
    <p:extLst>
      <p:ext uri="{BB962C8B-B14F-4D97-AF65-F5344CB8AC3E}">
        <p14:creationId xmlns:p14="http://schemas.microsoft.com/office/powerpoint/2010/main" val="2812396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Romeo + Juliet (1996) - IMDb">
            <a:extLst>
              <a:ext uri="{FF2B5EF4-FFF2-40B4-BE49-F238E27FC236}">
                <a16:creationId xmlns:a16="http://schemas.microsoft.com/office/drawing/2014/main" id="{0DB39E29-9136-574F-E4F6-094168C6D42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r="26556" b="-1"/>
          <a:stretch/>
        </p:blipFill>
        <p:spPr bwMode="auto">
          <a:xfrm>
            <a:off x="838200" y="1608667"/>
            <a:ext cx="5181600" cy="4568296"/>
          </a:xfrm>
          <a:prstGeom prst="rect">
            <a:avLst/>
          </a:prstGeom>
          <a:solidFill>
            <a:srgbClr val="FFFFFF"/>
          </a:solidFill>
        </p:spPr>
      </p:pic>
      <p:sp>
        <p:nvSpPr>
          <p:cNvPr id="3" name="Content Placeholder 2">
            <a:extLst>
              <a:ext uri="{FF2B5EF4-FFF2-40B4-BE49-F238E27FC236}">
                <a16:creationId xmlns:a16="http://schemas.microsoft.com/office/drawing/2014/main" id="{82BE2076-D19B-CD85-07CE-89738AAF6B2E}"/>
              </a:ext>
            </a:extLst>
          </p:cNvPr>
          <p:cNvSpPr>
            <a:spLocks noGrp="1"/>
          </p:cNvSpPr>
          <p:nvPr>
            <p:ph sz="half" idx="2"/>
          </p:nvPr>
        </p:nvSpPr>
        <p:spPr>
          <a:xfrm>
            <a:off x="6172200" y="1608667"/>
            <a:ext cx="5181600" cy="4568296"/>
          </a:xfrm>
        </p:spPr>
        <p:txBody>
          <a:bodyPr>
            <a:normAutofit/>
          </a:bodyPr>
          <a:lstStyle/>
          <a:p>
            <a:pPr marL="0" indent="0">
              <a:buNone/>
            </a:pPr>
            <a:r>
              <a:rPr lang="en-US" sz="1700" dirty="0"/>
              <a:t>The code in the lecture notes loads a text file (in this case, Romeo and Juliet), and converts into a vector of numerical codes. It keeps only letters and spaces and converts everything to lowercase.</a:t>
            </a:r>
          </a:p>
          <a:p>
            <a:endParaRPr lang="en-US" sz="1700" dirty="0"/>
          </a:p>
          <a:p>
            <a:pPr marL="457200" lvl="1" indent="0">
              <a:buNone/>
            </a:pPr>
            <a:r>
              <a:rPr lang="en-US" sz="1400" i="1" dirty="0">
                <a:solidFill>
                  <a:schemeClr val="accent1"/>
                </a:solidFill>
              </a:rPr>
              <a:t>Rom. Give me a torch. I am not for this ambling. </a:t>
            </a:r>
          </a:p>
          <a:p>
            <a:pPr marL="457200" lvl="1" indent="0">
              <a:buNone/>
            </a:pPr>
            <a:r>
              <a:rPr lang="en-US" sz="1400" i="1" dirty="0">
                <a:solidFill>
                  <a:schemeClr val="accent1"/>
                </a:solidFill>
              </a:rPr>
              <a:t>Being but heavy, I will bear the light.</a:t>
            </a:r>
          </a:p>
          <a:p>
            <a:pPr marL="457200" lvl="1" indent="0">
              <a:buNone/>
            </a:pPr>
            <a:endParaRPr lang="en-US" sz="1400" i="1" dirty="0">
              <a:solidFill>
                <a:schemeClr val="accent1"/>
              </a:solidFill>
            </a:endParaRPr>
          </a:p>
          <a:p>
            <a:pPr marL="457200" lvl="1" indent="0">
              <a:buNone/>
            </a:pPr>
            <a:r>
              <a:rPr lang="en-US" sz="1400" i="1" dirty="0">
                <a:solidFill>
                  <a:schemeClr val="accent1"/>
                </a:solidFill>
              </a:rPr>
              <a:t>Mer. Nay, gentle Romeo, we must have you dance.</a:t>
            </a:r>
          </a:p>
          <a:p>
            <a:pPr marL="457200" lvl="1" indent="0">
              <a:buNone/>
            </a:pPr>
            <a:endParaRPr lang="en-US" sz="1400" i="1" dirty="0">
              <a:solidFill>
                <a:schemeClr val="accent1"/>
              </a:solidFill>
            </a:endParaRPr>
          </a:p>
          <a:p>
            <a:pPr marL="457200" lvl="1" indent="0">
              <a:buNone/>
            </a:pPr>
            <a:r>
              <a:rPr lang="en-US" sz="1400" i="1" dirty="0">
                <a:solidFill>
                  <a:schemeClr val="accent1"/>
                </a:solidFill>
              </a:rPr>
              <a:t>Rom. Not I, believe me. You have dancing shoes</a:t>
            </a:r>
          </a:p>
          <a:p>
            <a:pPr marL="457200" lvl="1" indent="0">
              <a:buNone/>
            </a:pPr>
            <a:r>
              <a:rPr lang="en-US" sz="1400" i="1" dirty="0">
                <a:solidFill>
                  <a:schemeClr val="accent1"/>
                </a:solidFill>
              </a:rPr>
              <a:t>With nimble soles; I have a soul of lead</a:t>
            </a:r>
          </a:p>
          <a:p>
            <a:pPr marL="457200" lvl="1" indent="0">
              <a:buNone/>
            </a:pPr>
            <a:r>
              <a:rPr lang="en-US" sz="1400" i="1" dirty="0">
                <a:solidFill>
                  <a:schemeClr val="accent1"/>
                </a:solidFill>
              </a:rPr>
              <a:t>So stakes me to the ground I cannot move.</a:t>
            </a:r>
            <a:endParaRPr lang="en-GB" sz="1400" i="1" dirty="0">
              <a:solidFill>
                <a:schemeClr val="accent1"/>
              </a:solidFill>
            </a:endParaRPr>
          </a:p>
        </p:txBody>
      </p:sp>
      <p:sp>
        <p:nvSpPr>
          <p:cNvPr id="10247" name="Title 3">
            <a:extLst>
              <a:ext uri="{FF2B5EF4-FFF2-40B4-BE49-F238E27FC236}">
                <a16:creationId xmlns:a16="http://schemas.microsoft.com/office/drawing/2014/main" id="{B91B9E8F-3764-D5C1-093F-3A3902E3419B}"/>
              </a:ext>
            </a:extLst>
          </p:cNvPr>
          <p:cNvSpPr>
            <a:spLocks noGrp="1"/>
          </p:cNvSpPr>
          <p:nvPr>
            <p:ph type="title"/>
          </p:nvPr>
        </p:nvSpPr>
        <p:spPr>
          <a:xfrm>
            <a:off x="2549236" y="533614"/>
            <a:ext cx="9210963" cy="888786"/>
          </a:xfrm>
        </p:spPr>
        <p:txBody>
          <a:bodyPr/>
          <a:lstStyle/>
          <a:p>
            <a:r>
              <a:rPr lang="en-US" dirty="0"/>
              <a:t>Last week: Romeo &amp; Juliet in letters</a:t>
            </a:r>
          </a:p>
        </p:txBody>
      </p:sp>
    </p:spTree>
    <p:extLst>
      <p:ext uri="{BB962C8B-B14F-4D97-AF65-F5344CB8AC3E}">
        <p14:creationId xmlns:p14="http://schemas.microsoft.com/office/powerpoint/2010/main" val="3614271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94AFA-2F7A-D772-53CE-4D5BB7518B2B}"/>
              </a:ext>
            </a:extLst>
          </p:cNvPr>
          <p:cNvSpPr>
            <a:spLocks noGrp="1"/>
          </p:cNvSpPr>
          <p:nvPr>
            <p:ph type="title"/>
          </p:nvPr>
        </p:nvSpPr>
        <p:spPr/>
        <p:txBody>
          <a:bodyPr/>
          <a:lstStyle/>
          <a:p>
            <a:r>
              <a:rPr lang="en-GB" dirty="0"/>
              <a:t>Letters PMF in Romeo &amp; Juliet</a:t>
            </a:r>
          </a:p>
        </p:txBody>
      </p:sp>
      <p:pic>
        <p:nvPicPr>
          <p:cNvPr id="5" name="Content Placeholder 4">
            <a:extLst>
              <a:ext uri="{FF2B5EF4-FFF2-40B4-BE49-F238E27FC236}">
                <a16:creationId xmlns:a16="http://schemas.microsoft.com/office/drawing/2014/main" id="{B40B1DFB-C22A-BF18-6940-108375DBA97D}"/>
              </a:ext>
            </a:extLst>
          </p:cNvPr>
          <p:cNvPicPr>
            <a:picLocks noGrp="1" noChangeAspect="1"/>
          </p:cNvPicPr>
          <p:nvPr>
            <p:ph sz="quarter" idx="13"/>
          </p:nvPr>
        </p:nvPicPr>
        <p:blipFill>
          <a:blip r:embed="rId2"/>
          <a:stretch>
            <a:fillRect/>
          </a:stretch>
        </p:blipFill>
        <p:spPr>
          <a:xfrm>
            <a:off x="1729210" y="1627188"/>
            <a:ext cx="8587530" cy="4606925"/>
          </a:xfrm>
        </p:spPr>
      </p:pic>
      <p:pic>
        <p:nvPicPr>
          <p:cNvPr id="11266" name="Picture 2" descr="Romeo + Juliet (1996) - IMDb">
            <a:extLst>
              <a:ext uri="{FF2B5EF4-FFF2-40B4-BE49-F238E27FC236}">
                <a16:creationId xmlns:a16="http://schemas.microsoft.com/office/drawing/2014/main" id="{B6B13494-B7D5-38BD-F9F0-5ED55AE864A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71319" y="117702"/>
            <a:ext cx="2331667" cy="15094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56125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08B13-BA0B-3286-E15F-2F8FA13AF369}"/>
              </a:ext>
            </a:extLst>
          </p:cNvPr>
          <p:cNvSpPr>
            <a:spLocks noGrp="1"/>
          </p:cNvSpPr>
          <p:nvPr>
            <p:ph type="title"/>
          </p:nvPr>
        </p:nvSpPr>
        <p:spPr/>
        <p:txBody>
          <a:bodyPr/>
          <a:lstStyle/>
          <a:p>
            <a:r>
              <a:rPr lang="en-GB" dirty="0"/>
              <a:t>Letters PMF in Metamorphosis</a:t>
            </a:r>
          </a:p>
        </p:txBody>
      </p:sp>
      <p:pic>
        <p:nvPicPr>
          <p:cNvPr id="5" name="Content Placeholder 4">
            <a:extLst>
              <a:ext uri="{FF2B5EF4-FFF2-40B4-BE49-F238E27FC236}">
                <a16:creationId xmlns:a16="http://schemas.microsoft.com/office/drawing/2014/main" id="{AC8C6F00-3774-1757-4469-5C68F75A14BB}"/>
              </a:ext>
            </a:extLst>
          </p:cNvPr>
          <p:cNvPicPr>
            <a:picLocks noGrp="1" noChangeAspect="1"/>
          </p:cNvPicPr>
          <p:nvPr>
            <p:ph sz="quarter" idx="13"/>
          </p:nvPr>
        </p:nvPicPr>
        <p:blipFill>
          <a:blip r:embed="rId2"/>
          <a:stretch>
            <a:fillRect/>
          </a:stretch>
        </p:blipFill>
        <p:spPr>
          <a:xfrm>
            <a:off x="1739830" y="1627188"/>
            <a:ext cx="8566290" cy="4606925"/>
          </a:xfrm>
        </p:spPr>
      </p:pic>
      <p:pic>
        <p:nvPicPr>
          <p:cNvPr id="12290" name="Picture 2" descr="The Metamorphosis">
            <a:extLst>
              <a:ext uri="{FF2B5EF4-FFF2-40B4-BE49-F238E27FC236}">
                <a16:creationId xmlns:a16="http://schemas.microsoft.com/office/drawing/2014/main" id="{E89FC867-AA48-5E43-461F-1092E045716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51239" y="65313"/>
            <a:ext cx="1374086" cy="2075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3464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68BFC-B96B-EF04-DB19-53D15D198D55}"/>
              </a:ext>
            </a:extLst>
          </p:cNvPr>
          <p:cNvSpPr>
            <a:spLocks noGrp="1"/>
          </p:cNvSpPr>
          <p:nvPr>
            <p:ph type="title"/>
          </p:nvPr>
        </p:nvSpPr>
        <p:spPr/>
        <p:txBody>
          <a:bodyPr/>
          <a:lstStyle/>
          <a:p>
            <a:r>
              <a:rPr lang="en-GB" dirty="0"/>
              <a:t>Text generation from letter distribution</a:t>
            </a:r>
          </a:p>
        </p:txBody>
      </p:sp>
      <p:sp>
        <p:nvSpPr>
          <p:cNvPr id="3" name="Content Placeholder 2">
            <a:extLst>
              <a:ext uri="{FF2B5EF4-FFF2-40B4-BE49-F238E27FC236}">
                <a16:creationId xmlns:a16="http://schemas.microsoft.com/office/drawing/2014/main" id="{797A3406-22FF-4AC3-B23D-B0891BC6D25E}"/>
              </a:ext>
            </a:extLst>
          </p:cNvPr>
          <p:cNvSpPr>
            <a:spLocks noGrp="1"/>
          </p:cNvSpPr>
          <p:nvPr>
            <p:ph sz="quarter" idx="13"/>
          </p:nvPr>
        </p:nvSpPr>
        <p:spPr>
          <a:xfrm>
            <a:off x="285750" y="1627188"/>
            <a:ext cx="6636544" cy="4606925"/>
          </a:xfrm>
        </p:spPr>
        <p:txBody>
          <a:bodyPr/>
          <a:lstStyle/>
          <a:p>
            <a:pPr marL="0" indent="0">
              <a:buNone/>
            </a:pPr>
            <a:r>
              <a:rPr lang="en-US" dirty="0"/>
              <a:t>The results are similar (both are English texts), but there are some subtle differences; there slightly more q characters in Kafka compared to Shakespeare; the frequencies of h and </a:t>
            </a:r>
            <a:r>
              <a:rPr lang="en-US" dirty="0" err="1"/>
              <a:t>i</a:t>
            </a:r>
            <a:r>
              <a:rPr lang="en-US" dirty="0"/>
              <a:t> are reversed.</a:t>
            </a:r>
          </a:p>
          <a:p>
            <a:pPr marL="0" indent="0">
              <a:buNone/>
            </a:pPr>
            <a:r>
              <a:rPr lang="en-US" b="0" i="0" dirty="0">
                <a:effectLst/>
                <a:latin typeface="system-ui"/>
              </a:rPr>
              <a:t>As always, given a PMF, we can draw samples from it with our standard procedure, though the results aren't very exciting:</a:t>
            </a:r>
            <a:endParaRPr lang="en-GB" dirty="0"/>
          </a:p>
        </p:txBody>
      </p:sp>
      <p:pic>
        <p:nvPicPr>
          <p:cNvPr id="5" name="Picture 4">
            <a:extLst>
              <a:ext uri="{FF2B5EF4-FFF2-40B4-BE49-F238E27FC236}">
                <a16:creationId xmlns:a16="http://schemas.microsoft.com/office/drawing/2014/main" id="{3DF0F2A7-226A-A741-243B-39DDA66CA180}"/>
              </a:ext>
            </a:extLst>
          </p:cNvPr>
          <p:cNvPicPr>
            <a:picLocks noChangeAspect="1"/>
          </p:cNvPicPr>
          <p:nvPr/>
        </p:nvPicPr>
        <p:blipFill>
          <a:blip r:embed="rId2"/>
          <a:stretch>
            <a:fillRect/>
          </a:stretch>
        </p:blipFill>
        <p:spPr>
          <a:xfrm>
            <a:off x="71438" y="5766490"/>
            <a:ext cx="12192000" cy="935246"/>
          </a:xfrm>
          <a:prstGeom prst="rect">
            <a:avLst/>
          </a:prstGeom>
        </p:spPr>
      </p:pic>
      <p:pic>
        <p:nvPicPr>
          <p:cNvPr id="2050" name="Picture 2" descr="Shakespeare typing monkeys ...">
            <a:extLst>
              <a:ext uri="{FF2B5EF4-FFF2-40B4-BE49-F238E27FC236}">
                <a16:creationId xmlns:a16="http://schemas.microsoft.com/office/drawing/2014/main" id="{7FFDE7E2-E299-D955-EF89-B0012F6122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71856" y="2066304"/>
            <a:ext cx="4388343" cy="272539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14BFCA7-A309-0E74-68EC-CAC20B3F912B}"/>
              </a:ext>
            </a:extLst>
          </p:cNvPr>
          <p:cNvSpPr txBox="1"/>
          <p:nvPr/>
        </p:nvSpPr>
        <p:spPr>
          <a:xfrm>
            <a:off x="6824067" y="4791696"/>
            <a:ext cx="6132908" cy="369332"/>
          </a:xfrm>
          <a:prstGeom prst="rect">
            <a:avLst/>
          </a:prstGeom>
          <a:noFill/>
        </p:spPr>
        <p:txBody>
          <a:bodyPr wrap="square">
            <a:spAutoFit/>
          </a:bodyPr>
          <a:lstStyle/>
          <a:p>
            <a:r>
              <a:rPr lang="en-GB" dirty="0"/>
              <a:t>https://en.wikipedia.org/wiki/Infinite_monkey_theorem</a:t>
            </a:r>
          </a:p>
        </p:txBody>
      </p:sp>
    </p:spTree>
    <p:extLst>
      <p:ext uri="{BB962C8B-B14F-4D97-AF65-F5344CB8AC3E}">
        <p14:creationId xmlns:p14="http://schemas.microsoft.com/office/powerpoint/2010/main" val="1722921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E49BA-6B7D-F896-E77F-4B0D36FA6F8C}"/>
              </a:ext>
            </a:extLst>
          </p:cNvPr>
          <p:cNvSpPr>
            <a:spLocks noGrp="1"/>
          </p:cNvSpPr>
          <p:nvPr>
            <p:ph type="title"/>
          </p:nvPr>
        </p:nvSpPr>
        <p:spPr/>
        <p:txBody>
          <a:bodyPr/>
          <a:lstStyle/>
          <a:p>
            <a:r>
              <a:rPr lang="en-US" dirty="0"/>
              <a:t>Likelihood function</a:t>
            </a:r>
            <a:endParaRPr lang="en-GB" dirty="0"/>
          </a:p>
        </p:txBody>
      </p:sp>
      <p:sp>
        <p:nvSpPr>
          <p:cNvPr id="3" name="Content Placeholder 2">
            <a:extLst>
              <a:ext uri="{FF2B5EF4-FFF2-40B4-BE49-F238E27FC236}">
                <a16:creationId xmlns:a16="http://schemas.microsoft.com/office/drawing/2014/main" id="{DDC92AC5-806E-906C-7BCE-024E709DD62A}"/>
              </a:ext>
            </a:extLst>
          </p:cNvPr>
          <p:cNvSpPr>
            <a:spLocks noGrp="1"/>
          </p:cNvSpPr>
          <p:nvPr>
            <p:ph sz="quarter" idx="13"/>
          </p:nvPr>
        </p:nvSpPr>
        <p:spPr>
          <a:xfrm>
            <a:off x="285749" y="1604328"/>
            <a:ext cx="11474450" cy="4606925"/>
          </a:xfrm>
        </p:spPr>
        <p:txBody>
          <a:bodyPr/>
          <a:lstStyle/>
          <a:p>
            <a:pPr algn="l"/>
            <a:r>
              <a:rPr lang="en-US" b="0" i="0" dirty="0">
                <a:effectLst/>
                <a:latin typeface="system-ui"/>
              </a:rPr>
              <a:t>When talking about </a:t>
            </a:r>
            <a:r>
              <a:rPr lang="en-US" b="1" i="0" dirty="0">
                <a:effectLst/>
                <a:latin typeface="system-ui"/>
              </a:rPr>
              <a:t>likelihood</a:t>
            </a:r>
            <a:r>
              <a:rPr lang="en-US" b="0" i="0" dirty="0">
                <a:effectLst/>
                <a:latin typeface="system-ui"/>
              </a:rPr>
              <a:t>, we often write </a:t>
            </a:r>
            <a:r>
              <a:rPr lang="en-US" b="0" i="0" dirty="0">
                <a:solidFill>
                  <a:schemeClr val="accent4"/>
                </a:solidFill>
                <a:effectLst/>
                <a:latin typeface="Century Schoolbook" panose="02040604050505020304" pitchFamily="18" charset="0"/>
              </a:rPr>
              <a:t>L(x</a:t>
            </a:r>
            <a:r>
              <a:rPr lang="en-US" b="0" i="0" baseline="-25000" dirty="0">
                <a:solidFill>
                  <a:schemeClr val="accent4"/>
                </a:solidFill>
                <a:effectLst/>
                <a:latin typeface="Century Schoolbook" panose="02040604050505020304" pitchFamily="18" charset="0"/>
              </a:rPr>
              <a:t>i</a:t>
            </a:r>
            <a:r>
              <a:rPr lang="en-US" b="0" i="0" dirty="0">
                <a:solidFill>
                  <a:schemeClr val="accent4"/>
                </a:solidFill>
                <a:effectLst/>
                <a:latin typeface="Century Schoolbook" panose="02040604050505020304" pitchFamily="18" charset="0"/>
              </a:rPr>
              <a:t>)</a:t>
            </a:r>
            <a:r>
              <a:rPr lang="en-US" b="0" i="0" dirty="0">
                <a:effectLst/>
                <a:latin typeface="system-ui"/>
              </a:rPr>
              <a:t> to mean the likelihood of xi. The likelihood is not a probability. It is a function of data, and </a:t>
            </a:r>
            <a:r>
              <a:rPr lang="en-US" b="0" i="0" dirty="0">
                <a:solidFill>
                  <a:schemeClr val="accent4"/>
                </a:solidFill>
                <a:effectLst/>
                <a:latin typeface="Century Schoolbook" panose="02040604050505020304" pitchFamily="18" charset="0"/>
              </a:rPr>
              <a:t>L(x</a:t>
            </a:r>
            <a:r>
              <a:rPr lang="en-US" b="0" i="0" baseline="-25000" dirty="0">
                <a:solidFill>
                  <a:schemeClr val="accent4"/>
                </a:solidFill>
                <a:effectLst/>
                <a:latin typeface="Century Schoolbook" panose="02040604050505020304" pitchFamily="18" charset="0"/>
              </a:rPr>
              <a:t>i</a:t>
            </a:r>
            <a:r>
              <a:rPr lang="en-US" b="0" i="0" dirty="0">
                <a:solidFill>
                  <a:schemeClr val="accent4"/>
                </a:solidFill>
                <a:effectLst/>
                <a:latin typeface="Century Schoolbook" panose="02040604050505020304" pitchFamily="18" charset="0"/>
              </a:rPr>
              <a:t>)=</a:t>
            </a:r>
            <a:r>
              <a:rPr lang="en-US" b="0" i="0" dirty="0" err="1">
                <a:solidFill>
                  <a:schemeClr val="accent4"/>
                </a:solidFill>
                <a:effectLst/>
                <a:latin typeface="Century Schoolbook" panose="02040604050505020304" pitchFamily="18" charset="0"/>
              </a:rPr>
              <a:t>f</a:t>
            </a:r>
            <a:r>
              <a:rPr lang="en-US" b="0" i="0" baseline="-25000" dirty="0" err="1">
                <a:solidFill>
                  <a:schemeClr val="accent4"/>
                </a:solidFill>
                <a:effectLst/>
                <a:latin typeface="Century Schoolbook" panose="02040604050505020304" pitchFamily="18" charset="0"/>
              </a:rPr>
              <a:t>X</a:t>
            </a:r>
            <a:r>
              <a:rPr lang="en-US" b="0" i="0" dirty="0">
                <a:solidFill>
                  <a:schemeClr val="accent4"/>
                </a:solidFill>
                <a:effectLst/>
                <a:latin typeface="Century Schoolbook" panose="02040604050505020304" pitchFamily="18" charset="0"/>
              </a:rPr>
              <a:t>(x</a:t>
            </a:r>
            <a:r>
              <a:rPr lang="en-US" b="0" i="0" baseline="-25000" dirty="0">
                <a:solidFill>
                  <a:schemeClr val="accent4"/>
                </a:solidFill>
                <a:effectLst/>
                <a:latin typeface="Century Schoolbook" panose="02040604050505020304" pitchFamily="18" charset="0"/>
              </a:rPr>
              <a:t>i</a:t>
            </a:r>
            <a:r>
              <a:rPr lang="en-US" b="0" i="0" dirty="0">
                <a:solidFill>
                  <a:schemeClr val="accent4"/>
                </a:solidFill>
                <a:effectLst/>
                <a:latin typeface="Century Schoolbook" panose="02040604050505020304" pitchFamily="18" charset="0"/>
              </a:rPr>
              <a:t>)</a:t>
            </a:r>
          </a:p>
          <a:p>
            <a:pPr algn="l"/>
            <a:r>
              <a:rPr lang="en-US" b="0" i="0" dirty="0">
                <a:effectLst/>
                <a:latin typeface="system-ui"/>
              </a:rPr>
              <a:t>For example, consider the empirical PMF of Romeo and Juliet. This gives the probability of seeing any given character. The likelihood of seeing all of the characters, given our per-character probability model, is:</a:t>
            </a:r>
            <a:br>
              <a:rPr lang="en-US" dirty="0"/>
            </a:br>
            <a:endParaRPr lang="en-GB" dirty="0"/>
          </a:p>
        </p:txBody>
      </p:sp>
      <p:pic>
        <p:nvPicPr>
          <p:cNvPr id="5" name="Picture 4">
            <a:extLst>
              <a:ext uri="{FF2B5EF4-FFF2-40B4-BE49-F238E27FC236}">
                <a16:creationId xmlns:a16="http://schemas.microsoft.com/office/drawing/2014/main" id="{20E073A0-3BFC-A5BE-FBAF-C184700A889B}"/>
              </a:ext>
            </a:extLst>
          </p:cNvPr>
          <p:cNvPicPr>
            <a:picLocks noChangeAspect="1"/>
          </p:cNvPicPr>
          <p:nvPr/>
        </p:nvPicPr>
        <p:blipFill>
          <a:blip r:embed="rId2"/>
          <a:stretch>
            <a:fillRect/>
          </a:stretch>
        </p:blipFill>
        <p:spPr>
          <a:xfrm>
            <a:off x="4214157" y="3525898"/>
            <a:ext cx="2741293" cy="733586"/>
          </a:xfrm>
          <a:prstGeom prst="rect">
            <a:avLst/>
          </a:prstGeom>
        </p:spPr>
      </p:pic>
      <p:sp>
        <p:nvSpPr>
          <p:cNvPr id="6" name="TextBox 5">
            <a:extLst>
              <a:ext uri="{FF2B5EF4-FFF2-40B4-BE49-F238E27FC236}">
                <a16:creationId xmlns:a16="http://schemas.microsoft.com/office/drawing/2014/main" id="{AFA59728-EBC4-9B99-D345-A4548EDF0B64}"/>
              </a:ext>
            </a:extLst>
          </p:cNvPr>
          <p:cNvSpPr txBox="1"/>
          <p:nvPr/>
        </p:nvSpPr>
        <p:spPr>
          <a:xfrm>
            <a:off x="-218326" y="4350448"/>
            <a:ext cx="6097712" cy="2308324"/>
          </a:xfrm>
          <a:prstGeom prst="rect">
            <a:avLst/>
          </a:prstGeom>
          <a:noFill/>
        </p:spPr>
        <p:txBody>
          <a:bodyPr wrap="square">
            <a:spAutoFit/>
          </a:bodyPr>
          <a:lstStyle/>
          <a:p>
            <a:pPr marL="457200" lvl="1" indent="0">
              <a:buNone/>
            </a:pPr>
            <a:r>
              <a:rPr lang="en-US" sz="1800" i="1" dirty="0">
                <a:solidFill>
                  <a:schemeClr val="accent1"/>
                </a:solidFill>
              </a:rPr>
              <a:t>Rom. Give me a torch. I am not for this ambling. </a:t>
            </a:r>
          </a:p>
          <a:p>
            <a:pPr marL="457200" lvl="1" indent="0">
              <a:buNone/>
            </a:pPr>
            <a:r>
              <a:rPr lang="en-US" sz="1800" i="1" dirty="0">
                <a:solidFill>
                  <a:schemeClr val="accent1"/>
                </a:solidFill>
              </a:rPr>
              <a:t>Being but heavy, I will bear the light.</a:t>
            </a:r>
          </a:p>
          <a:p>
            <a:pPr marL="457200" lvl="1" indent="0">
              <a:buNone/>
            </a:pPr>
            <a:endParaRPr lang="en-US" sz="1800" i="1" dirty="0">
              <a:solidFill>
                <a:schemeClr val="accent1"/>
              </a:solidFill>
            </a:endParaRPr>
          </a:p>
          <a:p>
            <a:pPr marL="457200" lvl="1" indent="0">
              <a:buNone/>
            </a:pPr>
            <a:r>
              <a:rPr lang="en-US" sz="1800" i="1" dirty="0">
                <a:solidFill>
                  <a:schemeClr val="accent1"/>
                </a:solidFill>
              </a:rPr>
              <a:t>Mer. Nay, gentle Romeo, we must have you dance.</a:t>
            </a:r>
          </a:p>
          <a:p>
            <a:pPr marL="457200" lvl="1" indent="0">
              <a:buNone/>
            </a:pPr>
            <a:endParaRPr lang="en-US" sz="1800" i="1" dirty="0">
              <a:solidFill>
                <a:schemeClr val="accent1"/>
              </a:solidFill>
            </a:endParaRPr>
          </a:p>
          <a:p>
            <a:pPr marL="457200" lvl="1" indent="0">
              <a:buNone/>
            </a:pPr>
            <a:r>
              <a:rPr lang="en-US" sz="1800" i="1" dirty="0">
                <a:solidFill>
                  <a:schemeClr val="accent1"/>
                </a:solidFill>
              </a:rPr>
              <a:t>Rom. Not I, believe me. You have dancing shoes</a:t>
            </a:r>
          </a:p>
          <a:p>
            <a:pPr marL="457200" lvl="1" indent="0">
              <a:buNone/>
            </a:pPr>
            <a:r>
              <a:rPr lang="en-US" sz="1800" i="1" dirty="0">
                <a:solidFill>
                  <a:schemeClr val="accent1"/>
                </a:solidFill>
              </a:rPr>
              <a:t>With nimble soles; I have a soul of lead</a:t>
            </a:r>
          </a:p>
          <a:p>
            <a:pPr marL="457200" lvl="1" indent="0">
              <a:buNone/>
            </a:pPr>
            <a:r>
              <a:rPr lang="en-US" sz="1800" i="1" dirty="0">
                <a:solidFill>
                  <a:schemeClr val="accent1"/>
                </a:solidFill>
              </a:rPr>
              <a:t>So stakes me to the ground I cannot move.</a:t>
            </a:r>
            <a:endParaRPr lang="en-GB" dirty="0"/>
          </a:p>
        </p:txBody>
      </p:sp>
      <p:pic>
        <p:nvPicPr>
          <p:cNvPr id="7" name="Content Placeholder 4">
            <a:extLst>
              <a:ext uri="{FF2B5EF4-FFF2-40B4-BE49-F238E27FC236}">
                <a16:creationId xmlns:a16="http://schemas.microsoft.com/office/drawing/2014/main" id="{C8848802-2604-D6DE-DD5E-0163072F579C}"/>
              </a:ext>
            </a:extLst>
          </p:cNvPr>
          <p:cNvPicPr>
            <a:picLocks noChangeAspect="1"/>
          </p:cNvPicPr>
          <p:nvPr/>
        </p:nvPicPr>
        <p:blipFill>
          <a:blip r:embed="rId3"/>
          <a:stretch>
            <a:fillRect/>
          </a:stretch>
        </p:blipFill>
        <p:spPr>
          <a:xfrm>
            <a:off x="7154717" y="4259484"/>
            <a:ext cx="4726137" cy="2535416"/>
          </a:xfrm>
          <a:prstGeom prst="rect">
            <a:avLst/>
          </a:prstGeom>
        </p:spPr>
      </p:pic>
    </p:spTree>
    <p:extLst>
      <p:ext uri="{BB962C8B-B14F-4D97-AF65-F5344CB8AC3E}">
        <p14:creationId xmlns:p14="http://schemas.microsoft.com/office/powerpoint/2010/main" val="3839185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FD086AE-B054-F4CE-8747-4B0F048C421D}"/>
              </a:ext>
            </a:extLst>
          </p:cNvPr>
          <p:cNvSpPr>
            <a:spLocks noGrp="1"/>
          </p:cNvSpPr>
          <p:nvPr>
            <p:ph type="title"/>
          </p:nvPr>
        </p:nvSpPr>
        <p:spPr>
          <a:xfrm>
            <a:off x="2549236" y="533614"/>
            <a:ext cx="9210963" cy="888786"/>
          </a:xfrm>
        </p:spPr>
        <p:txBody>
          <a:bodyPr/>
          <a:lstStyle/>
          <a:p>
            <a:r>
              <a:rPr lang="en-US" dirty="0"/>
              <a:t>Romeo &amp; Juliet: Text likelihood with underflow error!</a:t>
            </a:r>
          </a:p>
        </p:txBody>
      </p:sp>
      <p:pic>
        <p:nvPicPr>
          <p:cNvPr id="5" name="Content Placeholder 4">
            <a:extLst>
              <a:ext uri="{FF2B5EF4-FFF2-40B4-BE49-F238E27FC236}">
                <a16:creationId xmlns:a16="http://schemas.microsoft.com/office/drawing/2014/main" id="{D1B7F7BF-58A4-4535-842A-8D778108AF04}"/>
              </a:ext>
            </a:extLst>
          </p:cNvPr>
          <p:cNvPicPr>
            <a:picLocks noGrp="1" noChangeAspect="1"/>
          </p:cNvPicPr>
          <p:nvPr>
            <p:ph sz="quarter" idx="13"/>
          </p:nvPr>
        </p:nvPicPr>
        <p:blipFill>
          <a:blip r:embed="rId2"/>
          <a:stretch>
            <a:fillRect/>
          </a:stretch>
        </p:blipFill>
        <p:spPr>
          <a:xfrm>
            <a:off x="285750" y="2525032"/>
            <a:ext cx="11474450" cy="2811237"/>
          </a:xfrm>
          <a:noFill/>
        </p:spPr>
      </p:pic>
    </p:spTree>
    <p:extLst>
      <p:ext uri="{BB962C8B-B14F-4D97-AF65-F5344CB8AC3E}">
        <p14:creationId xmlns:p14="http://schemas.microsoft.com/office/powerpoint/2010/main" val="2205809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DA58970-313F-4EF3-EA81-FC17268DE5CA}"/>
              </a:ext>
            </a:extLst>
          </p:cNvPr>
          <p:cNvSpPr>
            <a:spLocks noGrp="1"/>
          </p:cNvSpPr>
          <p:nvPr>
            <p:ph type="title"/>
          </p:nvPr>
        </p:nvSpPr>
        <p:spPr>
          <a:xfrm>
            <a:off x="2549236" y="533614"/>
            <a:ext cx="9210963" cy="888786"/>
          </a:xfrm>
        </p:spPr>
        <p:txBody>
          <a:bodyPr/>
          <a:lstStyle/>
          <a:p>
            <a:r>
              <a:rPr lang="en-US" dirty="0"/>
              <a:t>Romeo &amp; Juliet: Text log-likelihood</a:t>
            </a:r>
          </a:p>
        </p:txBody>
      </p:sp>
      <p:pic>
        <p:nvPicPr>
          <p:cNvPr id="5" name="Content Placeholder 4">
            <a:extLst>
              <a:ext uri="{FF2B5EF4-FFF2-40B4-BE49-F238E27FC236}">
                <a16:creationId xmlns:a16="http://schemas.microsoft.com/office/drawing/2014/main" id="{A917132E-25AE-8ADA-45A5-DADE91B388F4}"/>
              </a:ext>
            </a:extLst>
          </p:cNvPr>
          <p:cNvPicPr>
            <a:picLocks noGrp="1" noChangeAspect="1"/>
          </p:cNvPicPr>
          <p:nvPr>
            <p:ph sz="quarter" idx="13"/>
          </p:nvPr>
        </p:nvPicPr>
        <p:blipFill>
          <a:blip r:embed="rId2"/>
          <a:stretch>
            <a:fillRect/>
          </a:stretch>
        </p:blipFill>
        <p:spPr>
          <a:xfrm>
            <a:off x="285750" y="2367258"/>
            <a:ext cx="11474450" cy="3126785"/>
          </a:xfrm>
          <a:noFill/>
        </p:spPr>
      </p:pic>
    </p:spTree>
    <p:extLst>
      <p:ext uri="{BB962C8B-B14F-4D97-AF65-F5344CB8AC3E}">
        <p14:creationId xmlns:p14="http://schemas.microsoft.com/office/powerpoint/2010/main" val="35086854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1128D55D-CBF2-7A34-20A4-1D930EDF4729}"/>
              </a:ext>
            </a:extLst>
          </p:cNvPr>
          <p:cNvSpPr/>
          <p:nvPr/>
        </p:nvSpPr>
        <p:spPr>
          <a:xfrm>
            <a:off x="756289" y="2571749"/>
            <a:ext cx="6144574" cy="1735931"/>
          </a:xfrm>
          <a:prstGeom prst="roundRect">
            <a:avLst/>
          </a:prstGeom>
          <a:solidFill>
            <a:schemeClr val="accent5">
              <a:alpha val="25000"/>
            </a:schemeClr>
          </a:solidFill>
          <a:ln w="25400">
            <a:solidFill>
              <a:schemeClr val="accent5"/>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DD1C9558-D71E-9F7E-D3DC-8FEB09A9C776}"/>
              </a:ext>
            </a:extLst>
          </p:cNvPr>
          <p:cNvSpPr>
            <a:spLocks noGrp="1"/>
          </p:cNvSpPr>
          <p:nvPr>
            <p:ph sz="half" idx="1"/>
          </p:nvPr>
        </p:nvSpPr>
        <p:spPr>
          <a:xfrm>
            <a:off x="838200" y="1608667"/>
            <a:ext cx="5969000" cy="4973562"/>
          </a:xfrm>
        </p:spPr>
        <p:txBody>
          <a:bodyPr>
            <a:normAutofit fontScale="92500" lnSpcReduction="20000"/>
          </a:bodyPr>
          <a:lstStyle/>
          <a:p>
            <a:pPr marL="0" indent="0">
              <a:buNone/>
            </a:pPr>
            <a:r>
              <a:rPr lang="en-US" dirty="0"/>
              <a:t>We could imagine that writing plays and novels is an activity that mysterious entities do by generating random characters according to a PMF. </a:t>
            </a:r>
          </a:p>
          <a:p>
            <a:pPr marL="0" indent="0">
              <a:buNone/>
            </a:pPr>
            <a:r>
              <a:rPr lang="en-US" dirty="0"/>
              <a:t>Given an "unknown" text (in this case </a:t>
            </a:r>
            <a:r>
              <a:rPr lang="en-US" i="1" dirty="0"/>
              <a:t>Macbeth</a:t>
            </a:r>
            <a:r>
              <a:rPr lang="en-US" dirty="0"/>
              <a:t>), how likely is it that: </a:t>
            </a:r>
          </a:p>
          <a:p>
            <a:pPr marL="914400" lvl="1" indent="-457200">
              <a:buFont typeface="+mj-lt"/>
              <a:buAutoNum type="alphaUcPeriod"/>
            </a:pPr>
            <a:r>
              <a:rPr lang="en-US" dirty="0"/>
              <a:t>It was generated by a mysterious entity using the PMF for </a:t>
            </a:r>
            <a:r>
              <a:rPr lang="en-US" i="1" dirty="0"/>
              <a:t>Romeo and Juliet</a:t>
            </a:r>
            <a:endParaRPr lang="en-US" dirty="0"/>
          </a:p>
          <a:p>
            <a:pPr marL="914400" lvl="1" indent="-457200">
              <a:buFont typeface="+mj-lt"/>
              <a:buAutoNum type="alphaUcPeriod"/>
            </a:pPr>
            <a:r>
              <a:rPr lang="en-US" dirty="0"/>
              <a:t>It was generated by a mysterious entity using the PMF for </a:t>
            </a:r>
            <a:r>
              <a:rPr lang="en-US" i="1" dirty="0"/>
              <a:t>Metamorphosis</a:t>
            </a:r>
            <a:endParaRPr lang="en-US" dirty="0"/>
          </a:p>
          <a:p>
            <a:pPr marL="0" indent="0">
              <a:buNone/>
            </a:pPr>
            <a:r>
              <a:rPr lang="en-US" dirty="0"/>
              <a:t>Neither of these will be exactly true, but </a:t>
            </a:r>
            <a:r>
              <a:rPr lang="en-US" dirty="0">
                <a:solidFill>
                  <a:schemeClr val="accent5"/>
                </a:solidFill>
              </a:rPr>
              <a:t>we can precisely quantify to what extent </a:t>
            </a:r>
            <a:r>
              <a:rPr lang="en-US" i="1" dirty="0">
                <a:solidFill>
                  <a:schemeClr val="accent5"/>
                </a:solidFill>
              </a:rPr>
              <a:t>Macbeth</a:t>
            </a:r>
            <a:r>
              <a:rPr lang="en-US" dirty="0">
                <a:solidFill>
                  <a:schemeClr val="accent5"/>
                </a:solidFill>
              </a:rPr>
              <a:t> appears to have been generated by a similar process to these two reference texts</a:t>
            </a:r>
            <a:r>
              <a:rPr lang="en-US" dirty="0"/>
              <a:t>.</a:t>
            </a:r>
          </a:p>
          <a:p>
            <a:pPr marL="0" indent="0">
              <a:buNone/>
            </a:pPr>
            <a:r>
              <a:rPr lang="en-US" dirty="0"/>
              <a:t>Of course, our model is just the distribution of characters, so is a fairly weak model of different styles.</a:t>
            </a:r>
            <a:endParaRPr lang="en-GB" dirty="0"/>
          </a:p>
        </p:txBody>
      </p:sp>
      <p:sp>
        <p:nvSpPr>
          <p:cNvPr id="2" name="Title 1">
            <a:extLst>
              <a:ext uri="{FF2B5EF4-FFF2-40B4-BE49-F238E27FC236}">
                <a16:creationId xmlns:a16="http://schemas.microsoft.com/office/drawing/2014/main" id="{CCCA32EE-2B85-0ADF-E00B-1714DDA020DA}"/>
              </a:ext>
            </a:extLst>
          </p:cNvPr>
          <p:cNvSpPr>
            <a:spLocks noGrp="1"/>
          </p:cNvSpPr>
          <p:nvPr>
            <p:ph type="title"/>
          </p:nvPr>
        </p:nvSpPr>
        <p:spPr/>
        <p:txBody>
          <a:bodyPr/>
          <a:lstStyle/>
          <a:p>
            <a:r>
              <a:rPr lang="en-GB" dirty="0"/>
              <a:t>Who wrote Romeo &amp; Juliet: A statistical approach</a:t>
            </a:r>
          </a:p>
        </p:txBody>
      </p:sp>
      <p:pic>
        <p:nvPicPr>
          <p:cNvPr id="1026" name="Picture 2" descr="Franz Kafka - Wikipedia">
            <a:extLst>
              <a:ext uri="{FF2B5EF4-FFF2-40B4-BE49-F238E27FC236}">
                <a16:creationId xmlns:a16="http://schemas.microsoft.com/office/drawing/2014/main" id="{0BD7F07B-EA75-4572-57FB-DCF08CF1DC0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03643" y="2086214"/>
            <a:ext cx="2122060" cy="283028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illiam Shakespeare - Wikipedia">
            <a:extLst>
              <a:ext uri="{FF2B5EF4-FFF2-40B4-BE49-F238E27FC236}">
                <a16:creationId xmlns:a16="http://schemas.microsoft.com/office/drawing/2014/main" id="{90D1D4C7-A6D6-0A4E-9FA2-0970DFC299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3943" y="2074083"/>
            <a:ext cx="2235735" cy="2842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8017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91856-106E-3556-8E1F-753A9142BA5C}"/>
              </a:ext>
            </a:extLst>
          </p:cNvPr>
          <p:cNvSpPr>
            <a:spLocks noGrp="1"/>
          </p:cNvSpPr>
          <p:nvPr>
            <p:ph type="title"/>
          </p:nvPr>
        </p:nvSpPr>
        <p:spPr>
          <a:xfrm>
            <a:off x="2549236" y="533614"/>
            <a:ext cx="9210963" cy="888786"/>
          </a:xfrm>
        </p:spPr>
        <p:txBody>
          <a:bodyPr anchor="t">
            <a:normAutofit/>
          </a:bodyPr>
          <a:lstStyle/>
          <a:p>
            <a:r>
              <a:rPr lang="en-GB" dirty="0"/>
              <a:t>Comparing Log-Likelihoods</a:t>
            </a:r>
          </a:p>
        </p:txBody>
      </p:sp>
      <p:pic>
        <p:nvPicPr>
          <p:cNvPr id="5" name="Picture 4">
            <a:extLst>
              <a:ext uri="{FF2B5EF4-FFF2-40B4-BE49-F238E27FC236}">
                <a16:creationId xmlns:a16="http://schemas.microsoft.com/office/drawing/2014/main" id="{AB370CD4-ADEF-28F7-0F89-5602544F87ED}"/>
              </a:ext>
            </a:extLst>
          </p:cNvPr>
          <p:cNvPicPr>
            <a:picLocks noChangeAspect="1"/>
          </p:cNvPicPr>
          <p:nvPr/>
        </p:nvPicPr>
        <p:blipFill>
          <a:blip r:embed="rId3"/>
          <a:stretch>
            <a:fillRect/>
          </a:stretch>
        </p:blipFill>
        <p:spPr>
          <a:xfrm>
            <a:off x="285750" y="2266855"/>
            <a:ext cx="11474450" cy="3327590"/>
          </a:xfrm>
          <a:prstGeom prst="rect">
            <a:avLst/>
          </a:prstGeom>
          <a:noFill/>
        </p:spPr>
      </p:pic>
    </p:spTree>
    <p:extLst>
      <p:ext uri="{BB962C8B-B14F-4D97-AF65-F5344CB8AC3E}">
        <p14:creationId xmlns:p14="http://schemas.microsoft.com/office/powerpoint/2010/main" val="1804264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1338FB42-862F-1B0E-BF0B-4038059B05B5}"/>
              </a:ext>
            </a:extLst>
          </p:cNvPr>
          <p:cNvGrpSpPr/>
          <p:nvPr/>
        </p:nvGrpSpPr>
        <p:grpSpPr>
          <a:xfrm>
            <a:off x="9824115" y="3431956"/>
            <a:ext cx="348697" cy="333064"/>
            <a:chOff x="8519532" y="2610858"/>
            <a:chExt cx="348697" cy="333064"/>
          </a:xfrm>
        </p:grpSpPr>
        <p:sp>
          <p:nvSpPr>
            <p:cNvPr id="10" name="Rectangle 9">
              <a:extLst>
                <a:ext uri="{FF2B5EF4-FFF2-40B4-BE49-F238E27FC236}">
                  <a16:creationId xmlns:a16="http://schemas.microsoft.com/office/drawing/2014/main" id="{24C02734-7B07-8EB0-0093-39C86A29DBB8}"/>
                </a:ext>
              </a:extLst>
            </p:cNvPr>
            <p:cNvSpPr/>
            <p:nvPr/>
          </p:nvSpPr>
          <p:spPr>
            <a:xfrm>
              <a:off x="8727688" y="2610858"/>
              <a:ext cx="140541" cy="333064"/>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11" name="Rectangle 10">
              <a:extLst>
                <a:ext uri="{FF2B5EF4-FFF2-40B4-BE49-F238E27FC236}">
                  <a16:creationId xmlns:a16="http://schemas.microsoft.com/office/drawing/2014/main" id="{47A0B7C8-5BE8-CBC9-0AE0-187CC0612D3F}"/>
                </a:ext>
              </a:extLst>
            </p:cNvPr>
            <p:cNvSpPr/>
            <p:nvPr/>
          </p:nvSpPr>
          <p:spPr>
            <a:xfrm>
              <a:off x="8519532" y="2610858"/>
              <a:ext cx="208156" cy="33306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GB"/>
            </a:p>
          </p:txBody>
        </p:sp>
      </p:grpSp>
      <p:grpSp>
        <p:nvGrpSpPr>
          <p:cNvPr id="8" name="Group 7">
            <a:extLst>
              <a:ext uri="{FF2B5EF4-FFF2-40B4-BE49-F238E27FC236}">
                <a16:creationId xmlns:a16="http://schemas.microsoft.com/office/drawing/2014/main" id="{05F3F0A1-4814-6856-A461-5800A510A01A}"/>
              </a:ext>
            </a:extLst>
          </p:cNvPr>
          <p:cNvGrpSpPr/>
          <p:nvPr/>
        </p:nvGrpSpPr>
        <p:grpSpPr>
          <a:xfrm>
            <a:off x="8519532" y="2610858"/>
            <a:ext cx="348697" cy="333064"/>
            <a:chOff x="8519532" y="2610858"/>
            <a:chExt cx="348697" cy="333064"/>
          </a:xfrm>
        </p:grpSpPr>
        <p:sp>
          <p:nvSpPr>
            <p:cNvPr id="7" name="Rectangle 6">
              <a:extLst>
                <a:ext uri="{FF2B5EF4-FFF2-40B4-BE49-F238E27FC236}">
                  <a16:creationId xmlns:a16="http://schemas.microsoft.com/office/drawing/2014/main" id="{1D3506C1-394D-7773-2338-2B2721E188B1}"/>
                </a:ext>
              </a:extLst>
            </p:cNvPr>
            <p:cNvSpPr/>
            <p:nvPr/>
          </p:nvSpPr>
          <p:spPr>
            <a:xfrm>
              <a:off x="8727688" y="2610858"/>
              <a:ext cx="140541" cy="333064"/>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5" name="Rectangle 4">
              <a:extLst>
                <a:ext uri="{FF2B5EF4-FFF2-40B4-BE49-F238E27FC236}">
                  <a16:creationId xmlns:a16="http://schemas.microsoft.com/office/drawing/2014/main" id="{DF1A046C-6258-6AB3-9D1B-5CA7A312A10C}"/>
                </a:ext>
              </a:extLst>
            </p:cNvPr>
            <p:cNvSpPr/>
            <p:nvPr/>
          </p:nvSpPr>
          <p:spPr>
            <a:xfrm>
              <a:off x="8519532" y="2610858"/>
              <a:ext cx="208156" cy="33306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GB"/>
            </a:p>
          </p:txBody>
        </p:sp>
      </p:grpSp>
      <p:sp>
        <p:nvSpPr>
          <p:cNvPr id="2" name="Title 1">
            <a:extLst>
              <a:ext uri="{FF2B5EF4-FFF2-40B4-BE49-F238E27FC236}">
                <a16:creationId xmlns:a16="http://schemas.microsoft.com/office/drawing/2014/main" id="{3E22A442-2BFA-F9DC-0FFB-43BBB4794BFB}"/>
              </a:ext>
            </a:extLst>
          </p:cNvPr>
          <p:cNvSpPr>
            <a:spLocks noGrp="1"/>
          </p:cNvSpPr>
          <p:nvPr>
            <p:ph type="title"/>
          </p:nvPr>
        </p:nvSpPr>
        <p:spPr/>
        <p:txBody>
          <a:bodyPr/>
          <a:lstStyle/>
          <a:p>
            <a:r>
              <a:rPr lang="en-GB"/>
              <a:t>Better text representation: bigrams</a:t>
            </a:r>
            <a:endParaRPr lang="en-GB" dirty="0"/>
          </a:p>
        </p:txBody>
      </p:sp>
      <p:sp>
        <p:nvSpPr>
          <p:cNvPr id="3" name="Content Placeholder 2">
            <a:extLst>
              <a:ext uri="{FF2B5EF4-FFF2-40B4-BE49-F238E27FC236}">
                <a16:creationId xmlns:a16="http://schemas.microsoft.com/office/drawing/2014/main" id="{C3F6CDD7-2421-1306-013B-BCE06CA3E932}"/>
              </a:ext>
            </a:extLst>
          </p:cNvPr>
          <p:cNvSpPr>
            <a:spLocks noGrp="1"/>
          </p:cNvSpPr>
          <p:nvPr>
            <p:ph sz="quarter" idx="13"/>
          </p:nvPr>
        </p:nvSpPr>
        <p:spPr>
          <a:xfrm>
            <a:off x="285750" y="1627188"/>
            <a:ext cx="6798991" cy="4606925"/>
          </a:xfrm>
        </p:spPr>
        <p:txBody>
          <a:bodyPr/>
          <a:lstStyle/>
          <a:p>
            <a:r>
              <a:rPr lang="en-US" dirty="0"/>
              <a:t>We can look at these in the case of the character model of text we saw earlier. From the vector of character codes that make up "Metamorphosis" we can take every </a:t>
            </a:r>
            <a:r>
              <a:rPr lang="en-US" i="1" dirty="0">
                <a:solidFill>
                  <a:schemeClr val="accent5"/>
                </a:solidFill>
              </a:rPr>
              <a:t>pair of characters</a:t>
            </a:r>
            <a:r>
              <a:rPr lang="en-US" dirty="0"/>
              <a:t>, in the order they appear. </a:t>
            </a:r>
          </a:p>
          <a:p>
            <a:r>
              <a:rPr lang="en-US" dirty="0"/>
              <a:t>That is, we consider two characters c</a:t>
            </a:r>
            <a:r>
              <a:rPr lang="en-US" baseline="-25000" dirty="0"/>
              <a:t>i-1</a:t>
            </a:r>
            <a:r>
              <a:rPr lang="en-US" dirty="0"/>
              <a:t> and c</a:t>
            </a:r>
            <a:r>
              <a:rPr lang="en-US" baseline="-25000" dirty="0"/>
              <a:t>i</a:t>
            </a:r>
            <a:r>
              <a:rPr lang="en-US" dirty="0"/>
              <a:t> at some index </a:t>
            </a:r>
            <a:r>
              <a:rPr lang="en-US" dirty="0" err="1"/>
              <a:t>i</a:t>
            </a:r>
            <a:r>
              <a:rPr lang="en-US" dirty="0"/>
              <a:t>. This is called a </a:t>
            </a:r>
            <a:r>
              <a:rPr lang="en-US" b="1" dirty="0">
                <a:solidFill>
                  <a:schemeClr val="accent5"/>
                </a:solidFill>
              </a:rPr>
              <a:t>bigram</a:t>
            </a:r>
            <a:r>
              <a:rPr lang="en-US" dirty="0"/>
              <a:t> model, and there are </a:t>
            </a:r>
            <a:r>
              <a:rPr lang="en-US" i="1" dirty="0">
                <a:solidFill>
                  <a:schemeClr val="accent5"/>
                </a:solidFill>
              </a:rPr>
              <a:t>unigram</a:t>
            </a:r>
            <a:r>
              <a:rPr lang="en-US" dirty="0"/>
              <a:t>, </a:t>
            </a:r>
            <a:r>
              <a:rPr lang="en-US" i="1" dirty="0">
                <a:solidFill>
                  <a:schemeClr val="accent5"/>
                </a:solidFill>
              </a:rPr>
              <a:t>trigram</a:t>
            </a:r>
            <a:r>
              <a:rPr lang="en-US" dirty="0"/>
              <a:t>, </a:t>
            </a:r>
            <a:r>
              <a:rPr lang="en-US" i="1" dirty="0">
                <a:solidFill>
                  <a:schemeClr val="accent5"/>
                </a:solidFill>
              </a:rPr>
              <a:t>n-gram</a:t>
            </a:r>
            <a:r>
              <a:rPr lang="en-US" i="1" dirty="0"/>
              <a:t> </a:t>
            </a:r>
            <a:r>
              <a:rPr lang="en-US" dirty="0" err="1"/>
              <a:t>generalisations</a:t>
            </a:r>
            <a:r>
              <a:rPr lang="en-US" dirty="0"/>
              <a:t> of the idea. </a:t>
            </a:r>
          </a:p>
          <a:p>
            <a:r>
              <a:rPr lang="en-US" dirty="0"/>
              <a:t>A "gram" refers to a unit like a character or word, and we are discussing a </a:t>
            </a:r>
            <a:r>
              <a:rPr lang="en-US" b="1" dirty="0">
                <a:solidFill>
                  <a:schemeClr val="accent5"/>
                </a:solidFill>
              </a:rPr>
              <a:t>character</a:t>
            </a:r>
            <a:r>
              <a:rPr lang="en-US" dirty="0">
                <a:solidFill>
                  <a:schemeClr val="accent5"/>
                </a:solidFill>
              </a:rPr>
              <a:t> </a:t>
            </a:r>
            <a:r>
              <a:rPr lang="en-US" b="1" dirty="0">
                <a:solidFill>
                  <a:schemeClr val="accent5"/>
                </a:solidFill>
              </a:rPr>
              <a:t>bigram model</a:t>
            </a:r>
            <a:r>
              <a:rPr lang="en-US" dirty="0"/>
              <a:t>.</a:t>
            </a:r>
            <a:endParaRPr lang="en-GB" dirty="0"/>
          </a:p>
        </p:txBody>
      </p:sp>
      <p:sp>
        <p:nvSpPr>
          <p:cNvPr id="4" name="TextBox 3">
            <a:extLst>
              <a:ext uri="{FF2B5EF4-FFF2-40B4-BE49-F238E27FC236}">
                <a16:creationId xmlns:a16="http://schemas.microsoft.com/office/drawing/2014/main" id="{5CA1F907-09C7-FB46-AC58-23F206CBBA53}"/>
              </a:ext>
            </a:extLst>
          </p:cNvPr>
          <p:cNvSpPr txBox="1"/>
          <p:nvPr/>
        </p:nvSpPr>
        <p:spPr>
          <a:xfrm>
            <a:off x="7007664" y="2610858"/>
            <a:ext cx="6097712" cy="2308324"/>
          </a:xfrm>
          <a:prstGeom prst="rect">
            <a:avLst/>
          </a:prstGeom>
          <a:noFill/>
        </p:spPr>
        <p:txBody>
          <a:bodyPr wrap="square">
            <a:spAutoFit/>
          </a:bodyPr>
          <a:lstStyle/>
          <a:p>
            <a:pPr marL="457200" lvl="1" indent="0">
              <a:buNone/>
            </a:pPr>
            <a:r>
              <a:rPr lang="en-US" sz="1800" i="1" dirty="0">
                <a:solidFill>
                  <a:schemeClr val="accent1"/>
                </a:solidFill>
              </a:rPr>
              <a:t>Rom. Give me a torch. I am not for this ambling. </a:t>
            </a:r>
          </a:p>
          <a:p>
            <a:pPr marL="457200" lvl="1" indent="0">
              <a:buNone/>
            </a:pPr>
            <a:r>
              <a:rPr lang="en-US" sz="1800" i="1" dirty="0">
                <a:solidFill>
                  <a:schemeClr val="accent1"/>
                </a:solidFill>
              </a:rPr>
              <a:t>Being but heavy, I will bear the light.</a:t>
            </a:r>
          </a:p>
          <a:p>
            <a:pPr marL="457200" lvl="1" indent="0">
              <a:buNone/>
            </a:pPr>
            <a:endParaRPr lang="en-US" sz="1800" i="1" dirty="0">
              <a:solidFill>
                <a:schemeClr val="accent1"/>
              </a:solidFill>
            </a:endParaRPr>
          </a:p>
          <a:p>
            <a:pPr marL="457200" lvl="1" indent="0">
              <a:buNone/>
            </a:pPr>
            <a:r>
              <a:rPr lang="en-US" sz="1800" i="1" dirty="0">
                <a:solidFill>
                  <a:schemeClr val="accent1"/>
                </a:solidFill>
              </a:rPr>
              <a:t>Mer. Nay, gentle Romeo, we must have you dance.</a:t>
            </a:r>
          </a:p>
          <a:p>
            <a:pPr marL="457200" lvl="1" indent="0">
              <a:buNone/>
            </a:pPr>
            <a:endParaRPr lang="en-US" sz="1800" i="1" dirty="0">
              <a:solidFill>
                <a:schemeClr val="accent1"/>
              </a:solidFill>
            </a:endParaRPr>
          </a:p>
          <a:p>
            <a:pPr marL="457200" lvl="1" indent="0">
              <a:buNone/>
            </a:pPr>
            <a:r>
              <a:rPr lang="en-US" sz="1800" i="1" dirty="0">
                <a:solidFill>
                  <a:schemeClr val="accent1"/>
                </a:solidFill>
              </a:rPr>
              <a:t>Rom. Not I, believe me. You have dancing shoes</a:t>
            </a:r>
          </a:p>
          <a:p>
            <a:pPr marL="457200" lvl="1" indent="0">
              <a:buNone/>
            </a:pPr>
            <a:r>
              <a:rPr lang="en-US" sz="1800" i="1" dirty="0">
                <a:solidFill>
                  <a:schemeClr val="accent1"/>
                </a:solidFill>
              </a:rPr>
              <a:t>With nimble soles; I have a soul of lead</a:t>
            </a:r>
          </a:p>
          <a:p>
            <a:pPr marL="457200" lvl="1" indent="0">
              <a:buNone/>
            </a:pPr>
            <a:r>
              <a:rPr lang="en-US" sz="1800" i="1" dirty="0">
                <a:solidFill>
                  <a:schemeClr val="accent1"/>
                </a:solidFill>
              </a:rPr>
              <a:t>So stakes me to the ground I cannot move.</a:t>
            </a:r>
            <a:endParaRPr lang="en-GB" dirty="0"/>
          </a:p>
        </p:txBody>
      </p:sp>
      <p:sp>
        <p:nvSpPr>
          <p:cNvPr id="13" name="TextBox 12">
            <a:extLst>
              <a:ext uri="{FF2B5EF4-FFF2-40B4-BE49-F238E27FC236}">
                <a16:creationId xmlns:a16="http://schemas.microsoft.com/office/drawing/2014/main" id="{590345D0-A009-1E8A-A05F-46EFB29F6B38}"/>
              </a:ext>
            </a:extLst>
          </p:cNvPr>
          <p:cNvSpPr txBox="1"/>
          <p:nvPr/>
        </p:nvSpPr>
        <p:spPr>
          <a:xfrm>
            <a:off x="8276772" y="2221404"/>
            <a:ext cx="6553200" cy="369332"/>
          </a:xfrm>
          <a:prstGeom prst="rect">
            <a:avLst/>
          </a:prstGeom>
          <a:noFill/>
        </p:spPr>
        <p:txBody>
          <a:bodyPr wrap="square">
            <a:spAutoFit/>
          </a:bodyPr>
          <a:lstStyle/>
          <a:p>
            <a:r>
              <a:rPr lang="en-US" dirty="0">
                <a:solidFill>
                  <a:schemeClr val="accent5"/>
                </a:solidFill>
              </a:rPr>
              <a:t>c</a:t>
            </a:r>
            <a:r>
              <a:rPr lang="en-US" baseline="-25000" dirty="0">
                <a:solidFill>
                  <a:schemeClr val="accent5"/>
                </a:solidFill>
              </a:rPr>
              <a:t>i-1</a:t>
            </a:r>
            <a:endParaRPr lang="en-GB" dirty="0">
              <a:solidFill>
                <a:schemeClr val="accent5"/>
              </a:solidFill>
            </a:endParaRPr>
          </a:p>
        </p:txBody>
      </p:sp>
      <p:sp>
        <p:nvSpPr>
          <p:cNvPr id="15" name="TextBox 14">
            <a:extLst>
              <a:ext uri="{FF2B5EF4-FFF2-40B4-BE49-F238E27FC236}">
                <a16:creationId xmlns:a16="http://schemas.microsoft.com/office/drawing/2014/main" id="{40A6C530-1D33-0902-45B1-09649B9219E1}"/>
              </a:ext>
            </a:extLst>
          </p:cNvPr>
          <p:cNvSpPr txBox="1"/>
          <p:nvPr/>
        </p:nvSpPr>
        <p:spPr>
          <a:xfrm>
            <a:off x="8727688" y="2243498"/>
            <a:ext cx="7416800" cy="369332"/>
          </a:xfrm>
          <a:prstGeom prst="rect">
            <a:avLst/>
          </a:prstGeom>
          <a:noFill/>
        </p:spPr>
        <p:txBody>
          <a:bodyPr wrap="square">
            <a:spAutoFit/>
          </a:bodyPr>
          <a:lstStyle/>
          <a:p>
            <a:r>
              <a:rPr lang="en-US" dirty="0">
                <a:solidFill>
                  <a:schemeClr val="accent4"/>
                </a:solidFill>
              </a:rPr>
              <a:t>c</a:t>
            </a:r>
            <a:r>
              <a:rPr lang="en-US" baseline="-25000" dirty="0">
                <a:solidFill>
                  <a:schemeClr val="accent4"/>
                </a:solidFill>
              </a:rPr>
              <a:t>i</a:t>
            </a:r>
            <a:endParaRPr lang="en-GB" dirty="0">
              <a:solidFill>
                <a:schemeClr val="accent4"/>
              </a:solidFill>
            </a:endParaRPr>
          </a:p>
        </p:txBody>
      </p:sp>
    </p:spTree>
    <p:extLst>
      <p:ext uri="{BB962C8B-B14F-4D97-AF65-F5344CB8AC3E}">
        <p14:creationId xmlns:p14="http://schemas.microsoft.com/office/powerpoint/2010/main" val="3398304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F9A8D-4172-094E-0CC5-389925254FE0}"/>
              </a:ext>
            </a:extLst>
          </p:cNvPr>
          <p:cNvSpPr>
            <a:spLocks noGrp="1"/>
          </p:cNvSpPr>
          <p:nvPr>
            <p:ph type="title"/>
          </p:nvPr>
        </p:nvSpPr>
        <p:spPr/>
        <p:txBody>
          <a:bodyPr/>
          <a:lstStyle/>
          <a:p>
            <a:r>
              <a:rPr lang="en-GB" dirty="0"/>
              <a:t>Joint probabilities</a:t>
            </a:r>
          </a:p>
        </p:txBody>
      </p:sp>
      <p:sp>
        <p:nvSpPr>
          <p:cNvPr id="3" name="Content Placeholder 2">
            <a:extLst>
              <a:ext uri="{FF2B5EF4-FFF2-40B4-BE49-F238E27FC236}">
                <a16:creationId xmlns:a16="http://schemas.microsoft.com/office/drawing/2014/main" id="{7C6A1E17-435D-9D00-32B7-C6BB5D3FA9F2}"/>
              </a:ext>
            </a:extLst>
          </p:cNvPr>
          <p:cNvSpPr>
            <a:spLocks noGrp="1"/>
          </p:cNvSpPr>
          <p:nvPr>
            <p:ph sz="quarter" idx="13"/>
          </p:nvPr>
        </p:nvSpPr>
        <p:spPr/>
        <p:txBody>
          <a:bodyPr/>
          <a:lstStyle/>
          <a:p>
            <a:pPr marL="0" indent="0">
              <a:buNone/>
            </a:pPr>
            <a:r>
              <a:rPr lang="en-GB" dirty="0"/>
              <a:t>The Joint probability of two random variables X and Y is written: </a:t>
            </a:r>
          </a:p>
          <a:p>
            <a:pPr marL="0" indent="0" algn="ctr">
              <a:buNone/>
            </a:pPr>
            <a:r>
              <a:rPr lang="en-GB" dirty="0"/>
              <a:t>P(X,Y)</a:t>
            </a:r>
          </a:p>
          <a:p>
            <a:pPr marL="0" indent="0">
              <a:buNone/>
            </a:pPr>
            <a:r>
              <a:rPr lang="en-GB" dirty="0"/>
              <a:t>And gives the probability that X and Y take specific values </a:t>
            </a:r>
            <a:r>
              <a:rPr lang="en-GB" i="1" dirty="0"/>
              <a:t>simultaneously</a:t>
            </a:r>
          </a:p>
          <a:p>
            <a:pPr marL="0" indent="0">
              <a:buNone/>
            </a:pPr>
            <a:r>
              <a:rPr lang="en-GB" dirty="0"/>
              <a:t>E.g. </a:t>
            </a:r>
          </a:p>
          <a:p>
            <a:pPr marL="0" indent="0" algn="ctr">
              <a:buNone/>
            </a:pPr>
            <a:r>
              <a:rPr lang="en-GB" dirty="0"/>
              <a:t>P(X=x) ˄ P(Y=y)</a:t>
            </a:r>
          </a:p>
        </p:txBody>
      </p:sp>
    </p:spTree>
    <p:extLst>
      <p:ext uri="{BB962C8B-B14F-4D97-AF65-F5344CB8AC3E}">
        <p14:creationId xmlns:p14="http://schemas.microsoft.com/office/powerpoint/2010/main" val="1758867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4A457-FAE2-0060-79EA-00CB384BC443}"/>
              </a:ext>
            </a:extLst>
          </p:cNvPr>
          <p:cNvSpPr>
            <a:spLocks noGrp="1"/>
          </p:cNvSpPr>
          <p:nvPr>
            <p:ph type="title"/>
          </p:nvPr>
        </p:nvSpPr>
        <p:spPr/>
        <p:txBody>
          <a:bodyPr/>
          <a:lstStyle/>
          <a:p>
            <a:r>
              <a:rPr lang="en-GB" dirty="0"/>
              <a:t>Marginal probabilities</a:t>
            </a:r>
          </a:p>
        </p:txBody>
      </p:sp>
      <p:sp>
        <p:nvSpPr>
          <p:cNvPr id="3" name="Content Placeholder 2">
            <a:extLst>
              <a:ext uri="{FF2B5EF4-FFF2-40B4-BE49-F238E27FC236}">
                <a16:creationId xmlns:a16="http://schemas.microsoft.com/office/drawing/2014/main" id="{869006B0-C2C1-E4CF-15E2-74852920C52A}"/>
              </a:ext>
            </a:extLst>
          </p:cNvPr>
          <p:cNvSpPr>
            <a:spLocks noGrp="1"/>
          </p:cNvSpPr>
          <p:nvPr>
            <p:ph sz="quarter" idx="13"/>
          </p:nvPr>
        </p:nvSpPr>
        <p:spPr/>
        <p:txBody>
          <a:bodyPr/>
          <a:lstStyle/>
          <a:p>
            <a:pPr marL="0" indent="0">
              <a:buNone/>
            </a:pPr>
            <a:r>
              <a:rPr lang="en-US" b="0" i="0" dirty="0">
                <a:effectLst/>
                <a:latin typeface="system-ui"/>
              </a:rPr>
              <a:t>The </a:t>
            </a:r>
            <a:r>
              <a:rPr lang="en-US" b="1" i="0" dirty="0">
                <a:effectLst/>
                <a:latin typeface="system-ui"/>
              </a:rPr>
              <a:t>marginal probability</a:t>
            </a:r>
            <a:r>
              <a:rPr lang="en-US" b="0" i="0" dirty="0">
                <a:effectLst/>
                <a:latin typeface="system-ui"/>
              </a:rPr>
              <a:t> is the derivation of </a:t>
            </a:r>
            <a:r>
              <a:rPr lang="en-US" dirty="0"/>
              <a:t>P(X)</a:t>
            </a:r>
            <a:r>
              <a:rPr lang="en-US" b="0" i="0" dirty="0">
                <a:effectLst/>
                <a:latin typeface="system-ui"/>
              </a:rPr>
              <a:t> from </a:t>
            </a:r>
            <a:r>
              <a:rPr lang="en-US" dirty="0"/>
              <a:t>P(X,Y)</a:t>
            </a:r>
            <a:r>
              <a:rPr lang="en-US" b="0" i="0" dirty="0">
                <a:effectLst/>
                <a:latin typeface="system-ui"/>
              </a:rPr>
              <a:t> by integrating (summing) over all the possible outcomes of </a:t>
            </a:r>
            <a:r>
              <a:rPr lang="en-US" dirty="0"/>
              <a:t>Y</a:t>
            </a:r>
            <a:r>
              <a:rPr lang="en-US" b="0" i="0" dirty="0">
                <a:effectLst/>
                <a:latin typeface="system-ui"/>
              </a:rPr>
              <a:t>:</a:t>
            </a: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This allows us to compute a distribution over one random variable from a joint distribution by summing over all the possible outcomes of the other variable involved.</a:t>
            </a:r>
            <a:endParaRPr lang="en-GB" dirty="0"/>
          </a:p>
        </p:txBody>
      </p:sp>
      <p:pic>
        <p:nvPicPr>
          <p:cNvPr id="5" name="Picture 4">
            <a:extLst>
              <a:ext uri="{FF2B5EF4-FFF2-40B4-BE49-F238E27FC236}">
                <a16:creationId xmlns:a16="http://schemas.microsoft.com/office/drawing/2014/main" id="{FDC62DD8-0A0D-F827-2605-87E2135838A6}"/>
              </a:ext>
            </a:extLst>
          </p:cNvPr>
          <p:cNvPicPr>
            <a:picLocks noChangeAspect="1"/>
          </p:cNvPicPr>
          <p:nvPr/>
        </p:nvPicPr>
        <p:blipFill>
          <a:blip r:embed="rId2"/>
          <a:srcRect l="33418" r="32742"/>
          <a:stretch/>
        </p:blipFill>
        <p:spPr>
          <a:xfrm>
            <a:off x="3889829" y="2912723"/>
            <a:ext cx="4644572" cy="1359764"/>
          </a:xfrm>
          <a:prstGeom prst="rect">
            <a:avLst/>
          </a:prstGeom>
        </p:spPr>
      </p:pic>
    </p:spTree>
    <p:extLst>
      <p:ext uri="{BB962C8B-B14F-4D97-AF65-F5344CB8AC3E}">
        <p14:creationId xmlns:p14="http://schemas.microsoft.com/office/powerpoint/2010/main" val="2160063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7E69D-8225-0998-CDE2-3639DC90B0CB}"/>
              </a:ext>
            </a:extLst>
          </p:cNvPr>
          <p:cNvSpPr>
            <a:spLocks noGrp="1"/>
          </p:cNvSpPr>
          <p:nvPr>
            <p:ph type="title"/>
          </p:nvPr>
        </p:nvSpPr>
        <p:spPr/>
        <p:txBody>
          <a:bodyPr/>
          <a:lstStyle/>
          <a:p>
            <a:r>
              <a:rPr lang="en-GB" dirty="0"/>
              <a:t>Marginalisation</a:t>
            </a:r>
          </a:p>
        </p:txBody>
      </p:sp>
      <p:sp>
        <p:nvSpPr>
          <p:cNvPr id="3" name="Content Placeholder 2">
            <a:extLst>
              <a:ext uri="{FF2B5EF4-FFF2-40B4-BE49-F238E27FC236}">
                <a16:creationId xmlns:a16="http://schemas.microsoft.com/office/drawing/2014/main" id="{00998C93-EF93-566D-86A1-E9C98B64DC21}"/>
              </a:ext>
            </a:extLst>
          </p:cNvPr>
          <p:cNvSpPr>
            <a:spLocks noGrp="1"/>
          </p:cNvSpPr>
          <p:nvPr>
            <p:ph sz="quarter" idx="13"/>
          </p:nvPr>
        </p:nvSpPr>
        <p:spPr/>
        <p:txBody>
          <a:bodyPr/>
          <a:lstStyle/>
          <a:p>
            <a:pPr marL="0" indent="0" algn="l">
              <a:buNone/>
            </a:pPr>
            <a:r>
              <a:rPr lang="en-US" b="1" i="0" dirty="0" err="1">
                <a:effectLst/>
                <a:latin typeface="system-ui"/>
              </a:rPr>
              <a:t>Marginalisation</a:t>
            </a:r>
            <a:r>
              <a:rPr lang="en-US" b="0" i="0" dirty="0">
                <a:effectLst/>
                <a:latin typeface="system-ui"/>
              </a:rPr>
              <a:t> just means integration over one or more variables from a joint distribution: it </a:t>
            </a:r>
            <a:r>
              <a:rPr lang="en-US" b="0" i="1" dirty="0">
                <a:effectLst/>
                <a:latin typeface="system-ui"/>
              </a:rPr>
              <a:t>removes</a:t>
            </a:r>
            <a:r>
              <a:rPr lang="en-US" b="0" i="0" dirty="0">
                <a:effectLst/>
                <a:latin typeface="system-ui"/>
              </a:rPr>
              <a:t> those variables from the distribution.</a:t>
            </a:r>
          </a:p>
          <a:p>
            <a:pPr algn="l"/>
            <a:r>
              <a:rPr lang="en-US" b="0" i="0" dirty="0">
                <a:effectLst/>
                <a:latin typeface="system-ui"/>
              </a:rPr>
              <a:t>Two random variables are </a:t>
            </a:r>
            <a:r>
              <a:rPr lang="en-US" b="1" i="0" dirty="0">
                <a:effectLst/>
                <a:latin typeface="system-ui"/>
              </a:rPr>
              <a:t>independent</a:t>
            </a:r>
            <a:r>
              <a:rPr lang="en-US" b="0" i="0" dirty="0">
                <a:effectLst/>
                <a:latin typeface="system-ui"/>
              </a:rPr>
              <a:t> if they do not have any dependence on each other. If this is the case then the joint distribution is just the product of the individual distributions: P(X,Y)=P(X)P(Y). </a:t>
            </a:r>
          </a:p>
          <a:p>
            <a:pPr algn="l"/>
            <a:r>
              <a:rPr lang="en-US" b="0" i="0" dirty="0">
                <a:effectLst/>
                <a:latin typeface="system-ui"/>
              </a:rPr>
              <a:t>This is </a:t>
            </a:r>
            <a:r>
              <a:rPr lang="en-US" b="1" i="0" dirty="0">
                <a:effectLst/>
                <a:latin typeface="system-ui"/>
              </a:rPr>
              <a:t>not true in the general case where the variables have dependence</a:t>
            </a:r>
            <a:r>
              <a:rPr lang="en-US" b="0" i="0" dirty="0">
                <a:effectLst/>
                <a:latin typeface="system-ui"/>
              </a:rPr>
              <a:t>.</a:t>
            </a:r>
          </a:p>
          <a:p>
            <a:endParaRPr lang="en-GB" dirty="0"/>
          </a:p>
        </p:txBody>
      </p:sp>
    </p:spTree>
    <p:extLst>
      <p:ext uri="{BB962C8B-B14F-4D97-AF65-F5344CB8AC3E}">
        <p14:creationId xmlns:p14="http://schemas.microsoft.com/office/powerpoint/2010/main" val="3886819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972F4-CFDD-567F-2068-817819794014}"/>
              </a:ext>
            </a:extLst>
          </p:cNvPr>
          <p:cNvSpPr>
            <a:spLocks noGrp="1"/>
          </p:cNvSpPr>
          <p:nvPr>
            <p:ph type="title"/>
          </p:nvPr>
        </p:nvSpPr>
        <p:spPr/>
        <p:txBody>
          <a:bodyPr/>
          <a:lstStyle/>
          <a:p>
            <a:r>
              <a:rPr lang="en-GB" dirty="0"/>
              <a:t>Conditional probabilities</a:t>
            </a:r>
          </a:p>
        </p:txBody>
      </p:sp>
      <p:sp>
        <p:nvSpPr>
          <p:cNvPr id="3" name="Content Placeholder 2">
            <a:extLst>
              <a:ext uri="{FF2B5EF4-FFF2-40B4-BE49-F238E27FC236}">
                <a16:creationId xmlns:a16="http://schemas.microsoft.com/office/drawing/2014/main" id="{671F359A-A958-CE91-2462-9DA597A0D166}"/>
              </a:ext>
            </a:extLst>
          </p:cNvPr>
          <p:cNvSpPr>
            <a:spLocks noGrp="1"/>
          </p:cNvSpPr>
          <p:nvPr>
            <p:ph sz="quarter" idx="13"/>
          </p:nvPr>
        </p:nvSpPr>
        <p:spPr/>
        <p:txBody>
          <a:bodyPr/>
          <a:lstStyle/>
          <a:p>
            <a:pPr marL="0" indent="0">
              <a:buNone/>
            </a:pPr>
            <a:r>
              <a:rPr lang="en-US" b="0" i="0" dirty="0">
                <a:effectLst/>
                <a:latin typeface="system-ui"/>
              </a:rPr>
              <a:t>The </a:t>
            </a:r>
            <a:r>
              <a:rPr lang="en-US" b="1" i="0" dirty="0">
                <a:effectLst/>
                <a:latin typeface="system-ui"/>
              </a:rPr>
              <a:t>conditional probability</a:t>
            </a:r>
            <a:r>
              <a:rPr lang="en-US" b="0" i="0" dirty="0">
                <a:effectLst/>
                <a:latin typeface="system-ui"/>
              </a:rPr>
              <a:t> of a random variable X </a:t>
            </a:r>
            <a:r>
              <a:rPr lang="en-US" b="0" i="1" dirty="0">
                <a:effectLst/>
                <a:latin typeface="system-ui"/>
              </a:rPr>
              <a:t>given</a:t>
            </a:r>
            <a:r>
              <a:rPr lang="en-US" b="0" i="0" dirty="0">
                <a:effectLst/>
                <a:latin typeface="system-ui"/>
              </a:rPr>
              <a:t> a random variable Y is written as P(X|Y) and can be computed as:</a:t>
            </a: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This tells us how likely the outcomes of </a:t>
            </a:r>
            <a:r>
              <a:rPr lang="en-US" dirty="0"/>
              <a:t>X</a:t>
            </a:r>
            <a:r>
              <a:rPr lang="en-US" b="0" i="0" dirty="0">
                <a:effectLst/>
                <a:latin typeface="system-ui"/>
              </a:rPr>
              <a:t> are </a:t>
            </a:r>
            <a:r>
              <a:rPr lang="en-US" b="0" i="1" dirty="0">
                <a:effectLst/>
                <a:latin typeface="system-ui"/>
              </a:rPr>
              <a:t>if we already know</a:t>
            </a:r>
            <a:r>
              <a:rPr lang="en-US" b="0" i="0" dirty="0">
                <a:effectLst/>
                <a:latin typeface="system-ui"/>
              </a:rPr>
              <a:t> (or fix) the outcomes of </a:t>
            </a:r>
            <a:r>
              <a:rPr lang="en-US" dirty="0"/>
              <a:t>Y</a:t>
            </a:r>
            <a:r>
              <a:rPr lang="en-US" b="0" i="0" dirty="0">
                <a:effectLst/>
                <a:latin typeface="system-ui"/>
              </a:rPr>
              <a:t>. </a:t>
            </a:r>
          </a:p>
          <a:p>
            <a:pPr marL="0" indent="0">
              <a:buNone/>
            </a:pPr>
            <a:r>
              <a:rPr lang="en-US" b="0" i="0" dirty="0">
                <a:effectLst/>
                <a:latin typeface="system-ui"/>
              </a:rPr>
              <a:t>Read as "probability of X taking on the value x given that Y has taken on the value y". </a:t>
            </a:r>
          </a:p>
          <a:p>
            <a:pPr marL="0" indent="0">
              <a:buNone/>
            </a:pPr>
            <a:r>
              <a:rPr lang="en-US" b="0" i="0" dirty="0">
                <a:effectLst/>
                <a:latin typeface="system-ui"/>
              </a:rPr>
              <a:t>The conditional probability is </a:t>
            </a:r>
            <a:r>
              <a:rPr lang="en-US" dirty="0"/>
              <a:t>P(X|Y)=P(X)</a:t>
            </a:r>
            <a:r>
              <a:rPr lang="en-US" b="0" i="0" dirty="0">
                <a:effectLst/>
                <a:latin typeface="system-ui"/>
              </a:rPr>
              <a:t> and </a:t>
            </a:r>
            <a:r>
              <a:rPr lang="en-US" dirty="0"/>
              <a:t>P(Y|X)=P(Y)</a:t>
            </a:r>
            <a:r>
              <a:rPr lang="en-US" b="0" i="0" dirty="0">
                <a:effectLst/>
                <a:latin typeface="system-ui"/>
              </a:rPr>
              <a:t> if </a:t>
            </a:r>
            <a:r>
              <a:rPr lang="en-US" dirty="0"/>
              <a:t>X</a:t>
            </a:r>
            <a:r>
              <a:rPr lang="en-US" b="0" i="0" dirty="0">
                <a:effectLst/>
                <a:latin typeface="system-ui"/>
              </a:rPr>
              <a:t> and </a:t>
            </a:r>
            <a:r>
              <a:rPr lang="en-US" dirty="0"/>
              <a:t>Y</a:t>
            </a:r>
            <a:r>
              <a:rPr lang="en-US" b="0" i="0" dirty="0">
                <a:effectLst/>
                <a:latin typeface="system-ui"/>
              </a:rPr>
              <a:t> are independent.</a:t>
            </a:r>
            <a:endParaRPr lang="en-GB" dirty="0"/>
          </a:p>
        </p:txBody>
      </p:sp>
      <p:pic>
        <p:nvPicPr>
          <p:cNvPr id="5" name="Picture 4">
            <a:extLst>
              <a:ext uri="{FF2B5EF4-FFF2-40B4-BE49-F238E27FC236}">
                <a16:creationId xmlns:a16="http://schemas.microsoft.com/office/drawing/2014/main" id="{0936556B-6396-14A4-3B46-8E8F5E271301}"/>
              </a:ext>
            </a:extLst>
          </p:cNvPr>
          <p:cNvPicPr>
            <a:picLocks noChangeAspect="1"/>
          </p:cNvPicPr>
          <p:nvPr/>
        </p:nvPicPr>
        <p:blipFill>
          <a:blip r:embed="rId2"/>
          <a:stretch>
            <a:fillRect/>
          </a:stretch>
        </p:blipFill>
        <p:spPr>
          <a:xfrm>
            <a:off x="4056859" y="2763748"/>
            <a:ext cx="2710747" cy="884357"/>
          </a:xfrm>
          <a:prstGeom prst="rect">
            <a:avLst/>
          </a:prstGeom>
        </p:spPr>
      </p:pic>
    </p:spTree>
    <p:extLst>
      <p:ext uri="{BB962C8B-B14F-4D97-AF65-F5344CB8AC3E}">
        <p14:creationId xmlns:p14="http://schemas.microsoft.com/office/powerpoint/2010/main" val="12133471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651E6-A1FD-8CEF-EE76-1BEF318F7398}"/>
              </a:ext>
            </a:extLst>
          </p:cNvPr>
          <p:cNvSpPr>
            <a:spLocks noGrp="1"/>
          </p:cNvSpPr>
          <p:nvPr>
            <p:ph type="title"/>
          </p:nvPr>
        </p:nvSpPr>
        <p:spPr/>
        <p:txBody>
          <a:bodyPr/>
          <a:lstStyle/>
          <a:p>
            <a:r>
              <a:rPr lang="en-GB" dirty="0"/>
              <a:t>Or visually</a:t>
            </a:r>
            <a:br>
              <a:rPr lang="en-GB" dirty="0"/>
            </a:br>
            <a:endParaRPr lang="en-GB" dirty="0"/>
          </a:p>
        </p:txBody>
      </p:sp>
      <p:grpSp>
        <p:nvGrpSpPr>
          <p:cNvPr id="3" name="Group 2">
            <a:extLst>
              <a:ext uri="{FF2B5EF4-FFF2-40B4-BE49-F238E27FC236}">
                <a16:creationId xmlns:a16="http://schemas.microsoft.com/office/drawing/2014/main" id="{595F16C3-C6BD-97D1-B629-1897A91E65C3}"/>
              </a:ext>
            </a:extLst>
          </p:cNvPr>
          <p:cNvGrpSpPr/>
          <p:nvPr/>
        </p:nvGrpSpPr>
        <p:grpSpPr>
          <a:xfrm>
            <a:off x="339047" y="1694473"/>
            <a:ext cx="6061753" cy="4629913"/>
            <a:chOff x="339047" y="1694473"/>
            <a:chExt cx="6061753" cy="4629913"/>
          </a:xfrm>
        </p:grpSpPr>
        <p:sp>
          <p:nvSpPr>
            <p:cNvPr id="8" name="Rectangle 7">
              <a:extLst>
                <a:ext uri="{FF2B5EF4-FFF2-40B4-BE49-F238E27FC236}">
                  <a16:creationId xmlns:a16="http://schemas.microsoft.com/office/drawing/2014/main" id="{CD67166E-5EF3-AA8F-F88C-6443D3FF336B}"/>
                </a:ext>
              </a:extLst>
            </p:cNvPr>
            <p:cNvSpPr/>
            <p:nvPr/>
          </p:nvSpPr>
          <p:spPr>
            <a:xfrm>
              <a:off x="339047" y="1694473"/>
              <a:ext cx="6061753" cy="4629913"/>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sp>
          <p:nvSpPr>
            <p:cNvPr id="4" name="Oval 3">
              <a:extLst>
                <a:ext uri="{FF2B5EF4-FFF2-40B4-BE49-F238E27FC236}">
                  <a16:creationId xmlns:a16="http://schemas.microsoft.com/office/drawing/2014/main" id="{0B7DDCC5-BF98-148E-96ED-66FE2DD29710}"/>
                </a:ext>
              </a:extLst>
            </p:cNvPr>
            <p:cNvSpPr/>
            <p:nvPr/>
          </p:nvSpPr>
          <p:spPr>
            <a:xfrm>
              <a:off x="1130157" y="2971799"/>
              <a:ext cx="3133618" cy="3018035"/>
            </a:xfrm>
            <a:prstGeom prst="ellipse">
              <a:avLst/>
            </a:prstGeom>
            <a:solidFill>
              <a:schemeClr val="tx1">
                <a:lumMod val="50000"/>
                <a:lumOff val="5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accent3"/>
                  </a:solidFill>
                </a:rPr>
                <a:t>X</a:t>
              </a:r>
            </a:p>
          </p:txBody>
        </p:sp>
        <p:sp>
          <p:nvSpPr>
            <p:cNvPr id="5" name="Oval 4">
              <a:extLst>
                <a:ext uri="{FF2B5EF4-FFF2-40B4-BE49-F238E27FC236}">
                  <a16:creationId xmlns:a16="http://schemas.microsoft.com/office/drawing/2014/main" id="{C4F86A63-D9E1-22C0-D2AF-7D9E84EF0939}"/>
                </a:ext>
              </a:extLst>
            </p:cNvPr>
            <p:cNvSpPr/>
            <p:nvPr/>
          </p:nvSpPr>
          <p:spPr>
            <a:xfrm>
              <a:off x="3020602" y="2147300"/>
              <a:ext cx="2856216" cy="2589088"/>
            </a:xfrm>
            <a:prstGeom prst="ellipse">
              <a:avLst/>
            </a:prstGeom>
            <a:solidFill>
              <a:schemeClr val="bg1">
                <a:lumMod val="5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accent3"/>
                  </a:solidFill>
                </a:rPr>
                <a:t>Y</a:t>
              </a:r>
            </a:p>
          </p:txBody>
        </p:sp>
        <p:sp>
          <p:nvSpPr>
            <p:cNvPr id="6" name="TextBox 5">
              <a:extLst>
                <a:ext uri="{FF2B5EF4-FFF2-40B4-BE49-F238E27FC236}">
                  <a16:creationId xmlns:a16="http://schemas.microsoft.com/office/drawing/2014/main" id="{20DF213A-AF86-95B7-3637-B2BFF1D89EBE}"/>
                </a:ext>
              </a:extLst>
            </p:cNvPr>
            <p:cNvSpPr txBox="1"/>
            <p:nvPr/>
          </p:nvSpPr>
          <p:spPr>
            <a:xfrm>
              <a:off x="3328827" y="3811712"/>
              <a:ext cx="646331" cy="369332"/>
            </a:xfrm>
            <a:prstGeom prst="rect">
              <a:avLst/>
            </a:prstGeom>
            <a:noFill/>
          </p:spPr>
          <p:txBody>
            <a:bodyPr wrap="none" rtlCol="0">
              <a:spAutoFit/>
            </a:bodyPr>
            <a:lstStyle/>
            <a:p>
              <a:r>
                <a:rPr lang="en-GB" dirty="0"/>
                <a:t>X ˄ Y</a:t>
              </a:r>
            </a:p>
          </p:txBody>
        </p:sp>
        <p:sp>
          <p:nvSpPr>
            <p:cNvPr id="7" name="TextBox 6">
              <a:extLst>
                <a:ext uri="{FF2B5EF4-FFF2-40B4-BE49-F238E27FC236}">
                  <a16:creationId xmlns:a16="http://schemas.microsoft.com/office/drawing/2014/main" id="{00F9E7FE-C620-BE20-5D6D-82896161F116}"/>
                </a:ext>
              </a:extLst>
            </p:cNvPr>
            <p:cNvSpPr txBox="1"/>
            <p:nvPr/>
          </p:nvSpPr>
          <p:spPr>
            <a:xfrm>
              <a:off x="431515" y="1694473"/>
              <a:ext cx="3458639" cy="369332"/>
            </a:xfrm>
            <a:prstGeom prst="rect">
              <a:avLst/>
            </a:prstGeom>
            <a:noFill/>
          </p:spPr>
          <p:txBody>
            <a:bodyPr wrap="none" rtlCol="0">
              <a:spAutoFit/>
            </a:bodyPr>
            <a:lstStyle/>
            <a:p>
              <a:r>
                <a:rPr lang="en-GB" dirty="0"/>
                <a:t>State space (all possible outcomes)</a:t>
              </a:r>
            </a:p>
          </p:txBody>
        </p:sp>
      </p:grpSp>
      <p:sp>
        <p:nvSpPr>
          <p:cNvPr id="10" name="TextBox 9">
            <a:extLst>
              <a:ext uri="{FF2B5EF4-FFF2-40B4-BE49-F238E27FC236}">
                <a16:creationId xmlns:a16="http://schemas.microsoft.com/office/drawing/2014/main" id="{69D88C5E-0BE7-16E6-EB80-66A0EFCD8744}"/>
              </a:ext>
            </a:extLst>
          </p:cNvPr>
          <p:cNvSpPr txBox="1"/>
          <p:nvPr/>
        </p:nvSpPr>
        <p:spPr>
          <a:xfrm>
            <a:off x="7048072" y="1839074"/>
            <a:ext cx="3883631" cy="1477328"/>
          </a:xfrm>
          <a:prstGeom prst="rect">
            <a:avLst/>
          </a:prstGeom>
          <a:noFill/>
        </p:spPr>
        <p:txBody>
          <a:bodyPr wrap="square" rtlCol="0">
            <a:spAutoFit/>
          </a:bodyPr>
          <a:lstStyle/>
          <a:p>
            <a:pPr marL="285750" indent="-285750">
              <a:buFontTx/>
              <a:buChar char="-"/>
            </a:pPr>
            <a:r>
              <a:rPr lang="en-GB" dirty="0"/>
              <a:t>What is P(X)? </a:t>
            </a:r>
          </a:p>
          <a:p>
            <a:pPr marL="285750" indent="-285750">
              <a:buFontTx/>
              <a:buChar char="-"/>
            </a:pPr>
            <a:r>
              <a:rPr lang="en-GB" dirty="0"/>
              <a:t>What is P(X,Y)? </a:t>
            </a:r>
          </a:p>
          <a:p>
            <a:pPr marL="285750" indent="-285750">
              <a:buFontTx/>
              <a:buChar char="-"/>
            </a:pPr>
            <a:r>
              <a:rPr lang="en-GB" dirty="0"/>
              <a:t>What is P(X v Y)? </a:t>
            </a:r>
          </a:p>
          <a:p>
            <a:pPr marL="285750" indent="-285750">
              <a:buFontTx/>
              <a:buChar char="-"/>
            </a:pPr>
            <a:r>
              <a:rPr lang="en-GB" dirty="0"/>
              <a:t>Let us marginalise P(X,Y) over Y</a:t>
            </a:r>
          </a:p>
          <a:p>
            <a:pPr marL="285750" indent="-285750">
              <a:buFontTx/>
              <a:buChar char="-"/>
            </a:pPr>
            <a:r>
              <a:rPr lang="en-GB" dirty="0"/>
              <a:t>What is P(X| Y)?</a:t>
            </a:r>
          </a:p>
        </p:txBody>
      </p:sp>
    </p:spTree>
    <p:extLst>
      <p:ext uri="{BB962C8B-B14F-4D97-AF65-F5344CB8AC3E}">
        <p14:creationId xmlns:p14="http://schemas.microsoft.com/office/powerpoint/2010/main" val="2954342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809BF-613A-0E3A-F855-6D4EB1F3AC95}"/>
              </a:ext>
            </a:extLst>
          </p:cNvPr>
          <p:cNvSpPr>
            <a:spLocks noGrp="1"/>
          </p:cNvSpPr>
          <p:nvPr>
            <p:ph type="title"/>
          </p:nvPr>
        </p:nvSpPr>
        <p:spPr/>
        <p:txBody>
          <a:bodyPr/>
          <a:lstStyle/>
          <a:p>
            <a:r>
              <a:rPr lang="en-GB" dirty="0"/>
              <a:t>Example: Back to the Scorpion</a:t>
            </a:r>
          </a:p>
        </p:txBody>
      </p:sp>
      <p:sp>
        <p:nvSpPr>
          <p:cNvPr id="6" name="TextBox 5">
            <a:extLst>
              <a:ext uri="{FF2B5EF4-FFF2-40B4-BE49-F238E27FC236}">
                <a16:creationId xmlns:a16="http://schemas.microsoft.com/office/drawing/2014/main" id="{1F1580E5-046B-223A-FE95-BA30BD046C9E}"/>
              </a:ext>
            </a:extLst>
          </p:cNvPr>
          <p:cNvSpPr txBox="1"/>
          <p:nvPr/>
        </p:nvSpPr>
        <p:spPr>
          <a:xfrm>
            <a:off x="969425" y="6249167"/>
            <a:ext cx="4538102" cy="461665"/>
          </a:xfrm>
          <a:prstGeom prst="rect">
            <a:avLst/>
          </a:prstGeom>
          <a:noFill/>
        </p:spPr>
        <p:txBody>
          <a:bodyPr wrap="none" rtlCol="0">
            <a:spAutoFit/>
          </a:bodyPr>
          <a:lstStyle/>
          <a:p>
            <a:r>
              <a:rPr lang="en-GB" sz="2400" dirty="0"/>
              <a:t>State space (all possible outcomes)</a:t>
            </a:r>
          </a:p>
        </p:txBody>
      </p:sp>
      <p:grpSp>
        <p:nvGrpSpPr>
          <p:cNvPr id="3" name="Group 2">
            <a:extLst>
              <a:ext uri="{FF2B5EF4-FFF2-40B4-BE49-F238E27FC236}">
                <a16:creationId xmlns:a16="http://schemas.microsoft.com/office/drawing/2014/main" id="{B6ECA3CE-D5E2-EFEA-CC52-3F8509B23513}"/>
              </a:ext>
            </a:extLst>
          </p:cNvPr>
          <p:cNvGrpSpPr/>
          <p:nvPr/>
        </p:nvGrpSpPr>
        <p:grpSpPr>
          <a:xfrm>
            <a:off x="360000" y="1800000"/>
            <a:ext cx="5760000" cy="4320000"/>
            <a:chOff x="360000" y="1800000"/>
            <a:chExt cx="5760000" cy="4320000"/>
          </a:xfrm>
        </p:grpSpPr>
        <p:sp>
          <p:nvSpPr>
            <p:cNvPr id="5" name="Rectangle 4">
              <a:extLst>
                <a:ext uri="{FF2B5EF4-FFF2-40B4-BE49-F238E27FC236}">
                  <a16:creationId xmlns:a16="http://schemas.microsoft.com/office/drawing/2014/main" id="{239000EA-9367-CDA0-84D5-D0258A53BA27}"/>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16BCE047-0122-0D24-AAF2-03F45DABD708}"/>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7547F9B-9ECC-9D1B-2392-07A2C121F3A7}"/>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5E121E0-4C98-686C-697E-23ED66FAE66E}"/>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110307A-79C9-DD22-4172-6B0D9EEEC0E0}"/>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BC5ED58-0BA6-E197-94B6-13648C149B5C}"/>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C970499-F026-394B-319E-91C15024140C}"/>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C48F1E-CC61-D58A-B125-5BB32E4F6056}"/>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721AEBE-B7B2-232A-BFDB-4A94AF0DB988}"/>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2E38E4D-2FD0-0639-1552-88159AB432C0}"/>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2BFFA28-DC0C-294A-5C3E-50135E7AE2FF}"/>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83F8369-1BA4-8DEF-46DE-1CADF0C20CC9}"/>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BBCCA2C-3C1A-9845-0AC1-FCA428859281}"/>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EE7E1E9-36BF-196E-4526-17DBC1EA0BC7}"/>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2F5D50B7-ABD5-108A-AB24-DC3BC9F67E3D}"/>
              </a:ext>
            </a:extLst>
          </p:cNvPr>
          <p:cNvSpPr txBox="1"/>
          <p:nvPr/>
        </p:nvSpPr>
        <p:spPr>
          <a:xfrm>
            <a:off x="7048072" y="1839074"/>
            <a:ext cx="3883631" cy="1569660"/>
          </a:xfrm>
          <a:prstGeom prst="rect">
            <a:avLst/>
          </a:prstGeom>
          <a:noFill/>
        </p:spPr>
        <p:txBody>
          <a:bodyPr wrap="square" rtlCol="0">
            <a:spAutoFit/>
          </a:bodyPr>
          <a:lstStyle/>
          <a:p>
            <a:r>
              <a:rPr lang="en-GB" sz="2400" dirty="0"/>
              <a:t>We have a grid of outcomes with 6 rows and 8 columns, for a total of 48 possible outcomes. </a:t>
            </a:r>
          </a:p>
        </p:txBody>
      </p:sp>
    </p:spTree>
    <p:extLst>
      <p:ext uri="{BB962C8B-B14F-4D97-AF65-F5344CB8AC3E}">
        <p14:creationId xmlns:p14="http://schemas.microsoft.com/office/powerpoint/2010/main" val="36623696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733F6-655E-8BAC-FC1F-F0CC175FA1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E50B9-99AF-A9E5-436C-652F34D3A954}"/>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1F94D7A0-2079-03B3-5413-46D25E138799}"/>
              </a:ext>
            </a:extLst>
          </p:cNvPr>
          <p:cNvSpPr txBox="1"/>
          <p:nvPr/>
        </p:nvSpPr>
        <p:spPr>
          <a:xfrm>
            <a:off x="7048072" y="1839074"/>
            <a:ext cx="3883631" cy="3046988"/>
          </a:xfrm>
          <a:prstGeom prst="rect">
            <a:avLst/>
          </a:prstGeom>
          <a:noFill/>
        </p:spPr>
        <p:txBody>
          <a:bodyPr wrap="square" rtlCol="0">
            <a:spAutoFit/>
          </a:bodyPr>
          <a:lstStyle/>
          <a:p>
            <a:pPr marL="285750" indent="-285750">
              <a:buFont typeface="Arial" panose="020B0604020202020204" pitchFamily="34" charset="0"/>
              <a:buChar char="•"/>
            </a:pPr>
            <a:r>
              <a:rPr lang="en-GB" sz="2400" dirty="0"/>
              <a:t>We have a grid of outcomes with 6 rows and 8 columns, for a total of 48 possible outcomes (from (1,1) to (6,8)).</a:t>
            </a:r>
          </a:p>
          <a:p>
            <a:pPr marL="285750" indent="-285750">
              <a:buFont typeface="Arial" panose="020B0604020202020204" pitchFamily="34" charset="0"/>
              <a:buChar char="•"/>
            </a:pPr>
            <a:r>
              <a:rPr lang="en-GB" sz="2400" dirty="0">
                <a:highlight>
                  <a:srgbClr val="FFFF00"/>
                </a:highlight>
              </a:rPr>
              <a:t>Event X</a:t>
            </a:r>
            <a:r>
              <a:rPr lang="en-GB" sz="2400" dirty="0"/>
              <a:t> (“south”) is true if the  first coordinate is 4 or more.</a:t>
            </a:r>
          </a:p>
        </p:txBody>
      </p:sp>
      <p:grpSp>
        <p:nvGrpSpPr>
          <p:cNvPr id="6" name="Group 5">
            <a:extLst>
              <a:ext uri="{FF2B5EF4-FFF2-40B4-BE49-F238E27FC236}">
                <a16:creationId xmlns:a16="http://schemas.microsoft.com/office/drawing/2014/main" id="{C1CE5763-2AA4-498A-2B5D-84C541CBF2A1}"/>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5B05B6AF-83B4-EB58-3B44-BD1B68DD1C48}"/>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D7DADC7C-DB3B-3004-4683-78C8618266C2}"/>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164DFF6-C2C5-6833-CC11-CB74A9BD15C9}"/>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F4CC445-DA0C-31E7-F348-D9E65F61A70C}"/>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7DDE9E1-E6C6-88E5-6E18-0D0FBA00FE7A}"/>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0A0A057-DD9A-AAD9-EB73-5C4365F88772}"/>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DE78BA6-FA11-296E-4A76-FE77CFAAFC78}"/>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BA0A3A4-A9CE-F6F0-4E7B-213DAE18EEAF}"/>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680AD15-23D1-E4DA-4844-DB6BC0B0E307}"/>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B9638CB-B38D-4E29-70B9-721B90A98DAF}"/>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5799EDE-9D38-9B9D-AF9A-AD2D0A9B0B2B}"/>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F00F15D-4236-435F-54F8-F35AF618FDB8}"/>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AD77305-4C21-4C9A-50F0-60A39F10BA00}"/>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9129E01F-5AF7-2FBD-4A63-E6A85C61A919}"/>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7335832F-FC1B-ED11-7134-3F5A1ECE27D8}"/>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TextBox 3">
            <a:extLst>
              <a:ext uri="{FF2B5EF4-FFF2-40B4-BE49-F238E27FC236}">
                <a16:creationId xmlns:a16="http://schemas.microsoft.com/office/drawing/2014/main" id="{5C56E1AF-A78C-C89A-E6AD-2C84E028D90B}"/>
              </a:ext>
            </a:extLst>
          </p:cNvPr>
          <p:cNvSpPr txBox="1"/>
          <p:nvPr/>
        </p:nvSpPr>
        <p:spPr>
          <a:xfrm>
            <a:off x="6116953" y="4707504"/>
            <a:ext cx="1178208" cy="461665"/>
          </a:xfrm>
          <a:prstGeom prst="rect">
            <a:avLst/>
          </a:prstGeom>
          <a:noFill/>
        </p:spPr>
        <p:txBody>
          <a:bodyPr wrap="none" rtlCol="0">
            <a:spAutoFit/>
          </a:bodyPr>
          <a:lstStyle/>
          <a:p>
            <a:r>
              <a:rPr lang="en-GB" sz="2400" dirty="0">
                <a:highlight>
                  <a:srgbClr val="FFFF00"/>
                </a:highlight>
              </a:rPr>
              <a:t>Event X </a:t>
            </a:r>
          </a:p>
        </p:txBody>
      </p:sp>
    </p:spTree>
    <p:extLst>
      <p:ext uri="{BB962C8B-B14F-4D97-AF65-F5344CB8AC3E}">
        <p14:creationId xmlns:p14="http://schemas.microsoft.com/office/powerpoint/2010/main" val="176855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80C0A-3E15-D176-8184-C1F37C398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B914D-8254-BD1E-E763-970D259DA5FA}"/>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58F7593E-D724-5BEB-CAD0-840E34E91F3A}"/>
              </a:ext>
            </a:extLst>
          </p:cNvPr>
          <p:cNvSpPr txBox="1"/>
          <p:nvPr/>
        </p:nvSpPr>
        <p:spPr>
          <a:xfrm>
            <a:off x="7048072" y="1839074"/>
            <a:ext cx="3883631" cy="4154984"/>
          </a:xfrm>
          <a:prstGeom prst="rect">
            <a:avLst/>
          </a:prstGeom>
          <a:noFill/>
        </p:spPr>
        <p:txBody>
          <a:bodyPr wrap="square" rtlCol="0">
            <a:spAutoFit/>
          </a:bodyPr>
          <a:lstStyle/>
          <a:p>
            <a:pPr marL="285750" indent="-285750">
              <a:buFont typeface="Arial" panose="020B0604020202020204" pitchFamily="34" charset="0"/>
              <a:buChar char="•"/>
            </a:pPr>
            <a:r>
              <a:rPr lang="en-GB" sz="2400" dirty="0"/>
              <a:t>We have a grid of outcomes with 6 rows and 8 columns, for a total of 48 possible outcomes (from (1,1) to (6,8)).</a:t>
            </a:r>
          </a:p>
          <a:p>
            <a:pPr marL="285750" indent="-285750">
              <a:buFont typeface="Arial" panose="020B0604020202020204" pitchFamily="34" charset="0"/>
              <a:buChar char="•"/>
            </a:pPr>
            <a:r>
              <a:rPr lang="en-GB" sz="2400" dirty="0">
                <a:highlight>
                  <a:srgbClr val="FFFF00"/>
                </a:highlight>
              </a:rPr>
              <a:t>Event X</a:t>
            </a:r>
            <a:r>
              <a:rPr lang="en-GB" sz="2400" dirty="0"/>
              <a:t> (“south”) is true if the first coordinate is 4 or more.</a:t>
            </a:r>
          </a:p>
          <a:p>
            <a:pPr marL="285750" indent="-285750">
              <a:buFont typeface="Arial" panose="020B0604020202020204" pitchFamily="34" charset="0"/>
              <a:buChar char="•"/>
            </a:pPr>
            <a:r>
              <a:rPr lang="en-GB" sz="2400" dirty="0">
                <a:highlight>
                  <a:srgbClr val="FF0000"/>
                </a:highlight>
              </a:rPr>
              <a:t>Event Y</a:t>
            </a:r>
            <a:r>
              <a:rPr lang="en-GB" sz="2400" dirty="0"/>
              <a:t> (“East”) is true if the second coordinate is 6 or more.</a:t>
            </a:r>
          </a:p>
        </p:txBody>
      </p:sp>
      <p:grpSp>
        <p:nvGrpSpPr>
          <p:cNvPr id="4" name="Group 3">
            <a:extLst>
              <a:ext uri="{FF2B5EF4-FFF2-40B4-BE49-F238E27FC236}">
                <a16:creationId xmlns:a16="http://schemas.microsoft.com/office/drawing/2014/main" id="{D9A9A886-1DC7-92DB-DBE5-D4EC13345BB0}"/>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914689EA-D3BB-D556-0003-C92AF8EB30D0}"/>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345B0F6-6E42-8DDD-68F6-BA1B228FADA4}"/>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2AD354F-65AD-FEE9-B9DF-37E80B2A27B2}"/>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DB06680-3965-7109-9867-588AF2AA7E40}"/>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AC6D2A6-C29E-6A39-4FFC-3564320E2F1E}"/>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131F9C-DAA4-1DD5-BC92-DB52C544384A}"/>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B2F248C-B688-B687-F381-953BB5B4E0C8}"/>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D26A209-E440-BBA9-E289-BA5DB7CED42A}"/>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4FDD978-2413-657C-1E61-85BB3F53955B}"/>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3B438E6-9A61-2289-A0D3-60AFA3A6DEE2}"/>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AA380C7-6316-6A90-CDEC-8171801758CF}"/>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EA2DB8D-707A-F55A-8673-7C26A2871ADB}"/>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D526D0D-306F-794C-4100-3ECF89D24C20}"/>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6E1A22C-B749-C58F-C311-BC213A94B38B}"/>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442E990A-D1C2-7910-3F39-3CF3E33B7E3A}"/>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EFD8594E-C928-82EE-98AE-810374EA5DCA}"/>
                </a:ext>
              </a:extLst>
            </p:cNvPr>
            <p:cNvSpPr/>
            <p:nvPr/>
          </p:nvSpPr>
          <p:spPr>
            <a:xfrm>
              <a:off x="3960000" y="1800000"/>
              <a:ext cx="2156951" cy="4319998"/>
            </a:xfrm>
            <a:prstGeom prst="rect">
              <a:avLst/>
            </a:prstGeom>
            <a:solidFill>
              <a:srgbClr val="FF000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5" name="TextBox 14">
            <a:extLst>
              <a:ext uri="{FF2B5EF4-FFF2-40B4-BE49-F238E27FC236}">
                <a16:creationId xmlns:a16="http://schemas.microsoft.com/office/drawing/2014/main" id="{8F054C65-4B84-9081-ABEB-A09C3816CFED}"/>
              </a:ext>
            </a:extLst>
          </p:cNvPr>
          <p:cNvSpPr txBox="1"/>
          <p:nvPr/>
        </p:nvSpPr>
        <p:spPr>
          <a:xfrm>
            <a:off x="4569976" y="1311452"/>
            <a:ext cx="6097348" cy="461665"/>
          </a:xfrm>
          <a:prstGeom prst="rect">
            <a:avLst/>
          </a:prstGeom>
          <a:noFill/>
        </p:spPr>
        <p:txBody>
          <a:bodyPr wrap="square">
            <a:spAutoFit/>
          </a:bodyPr>
          <a:lstStyle/>
          <a:p>
            <a:r>
              <a:rPr lang="en-GB" sz="2400" dirty="0">
                <a:highlight>
                  <a:srgbClr val="FF0000"/>
                </a:highlight>
              </a:rPr>
              <a:t>Event Y</a:t>
            </a:r>
            <a:endParaRPr lang="en-GB" sz="2400" dirty="0"/>
          </a:p>
        </p:txBody>
      </p:sp>
    </p:spTree>
    <p:extLst>
      <p:ext uri="{BB962C8B-B14F-4D97-AF65-F5344CB8AC3E}">
        <p14:creationId xmlns:p14="http://schemas.microsoft.com/office/powerpoint/2010/main" val="9712689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43059-B215-7565-2D1E-C0E07E9EA5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8B9F6B-3CA7-8470-D99C-3D84E826DD96}"/>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5308186B-5C64-FDCF-1A5D-39060F8F057F}"/>
              </a:ext>
            </a:extLst>
          </p:cNvPr>
          <p:cNvSpPr txBox="1"/>
          <p:nvPr/>
        </p:nvSpPr>
        <p:spPr>
          <a:xfrm>
            <a:off x="7048072" y="1839074"/>
            <a:ext cx="4547815" cy="3046988"/>
          </a:xfrm>
          <a:prstGeom prst="rect">
            <a:avLst/>
          </a:prstGeom>
          <a:noFill/>
        </p:spPr>
        <p:txBody>
          <a:bodyPr wrap="square" rtlCol="0">
            <a:spAutoFit/>
          </a:bodyPr>
          <a:lstStyle/>
          <a:p>
            <a:pPr marL="285750" indent="-285750">
              <a:buFont typeface="Arial" panose="020B0604020202020204" pitchFamily="34" charset="0"/>
              <a:buChar char="•"/>
            </a:pPr>
            <a:r>
              <a:rPr lang="en-GB" sz="2400" dirty="0"/>
              <a:t>What is P(X=true)?</a:t>
            </a:r>
          </a:p>
          <a:p>
            <a:pPr marL="285750" indent="-285750">
              <a:buFont typeface="Arial" panose="020B0604020202020204" pitchFamily="34" charset="0"/>
              <a:buChar char="•"/>
            </a:pPr>
            <a:r>
              <a:rPr lang="en-GB" sz="2400" dirty="0"/>
              <a:t>What is P(Y=true)?</a:t>
            </a:r>
          </a:p>
          <a:p>
            <a:pPr marL="285750" indent="-285750">
              <a:buFont typeface="Arial" panose="020B0604020202020204" pitchFamily="34" charset="0"/>
              <a:buChar char="•"/>
            </a:pPr>
            <a:r>
              <a:rPr lang="en-GB" sz="2400" dirty="0"/>
              <a:t>What is P(X=true and Y=true)?</a:t>
            </a:r>
          </a:p>
          <a:p>
            <a:pPr marL="285750" indent="-285750">
              <a:buFont typeface="Arial" panose="020B0604020202020204" pitchFamily="34" charset="0"/>
              <a:buChar char="•"/>
            </a:pPr>
            <a:r>
              <a:rPr lang="en-GB" sz="2400" dirty="0"/>
              <a:t>What is P(X=true or Y=true)?</a:t>
            </a:r>
          </a:p>
          <a:p>
            <a:pPr marL="285750" indent="-285750">
              <a:buFont typeface="Arial" panose="020B0604020202020204" pitchFamily="34" charset="0"/>
              <a:buChar char="•"/>
            </a:pPr>
            <a:r>
              <a:rPr lang="en-GB" sz="2400" dirty="0"/>
              <a:t>What is P(X,Y)?</a:t>
            </a:r>
          </a:p>
          <a:p>
            <a:pPr marL="285750" indent="-285750">
              <a:buFont typeface="Arial" panose="020B0604020202020204" pitchFamily="34" charset="0"/>
              <a:buChar char="•"/>
            </a:pPr>
            <a:r>
              <a:rPr lang="en-GB" sz="2400" dirty="0"/>
              <a:t>Marginalise P(X,Y) over Y.</a:t>
            </a:r>
          </a:p>
          <a:p>
            <a:pPr marL="285750" indent="-285750">
              <a:buFont typeface="Arial" panose="020B0604020202020204" pitchFamily="34" charset="0"/>
              <a:buChar char="•"/>
            </a:pPr>
            <a:r>
              <a:rPr lang="en-GB" sz="2400" dirty="0"/>
              <a:t>What is P(X=true | Y=true)?</a:t>
            </a:r>
          </a:p>
          <a:p>
            <a:pPr marL="285750" indent="-285750">
              <a:buFont typeface="Arial" panose="020B0604020202020204" pitchFamily="34" charset="0"/>
              <a:buChar char="•"/>
            </a:pPr>
            <a:endParaRPr lang="en-GB" sz="2400" dirty="0"/>
          </a:p>
        </p:txBody>
      </p:sp>
      <p:grpSp>
        <p:nvGrpSpPr>
          <p:cNvPr id="4" name="Group 3">
            <a:extLst>
              <a:ext uri="{FF2B5EF4-FFF2-40B4-BE49-F238E27FC236}">
                <a16:creationId xmlns:a16="http://schemas.microsoft.com/office/drawing/2014/main" id="{E34A309A-B809-9D40-0569-EF679720030B}"/>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FF6664E1-E94D-C3FB-A4E8-E4B0027CE3AE}"/>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3826E46B-493B-5250-1D5C-6D3993DF851E}"/>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11E07EA-5779-04EF-CDAD-1E3BA1F9A67D}"/>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26623E1-48C2-B05D-74A1-91DC9C26BFA7}"/>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8690B67-42ED-C414-0C53-6B9ADBE3D2A8}"/>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8AE7884-8D9D-E942-79A2-706C9B41C8C9}"/>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F1E87BA-C818-2C71-FFFA-3B1B3E4B3AA8}"/>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4E25DA9-6065-A7ED-2448-A318E788F1FD}"/>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D1C8584-B0A1-DAA3-84C6-7EFCCF51596A}"/>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3182A4B-C6C1-EF9F-3DD8-4D85A6DBDE2D}"/>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0DBCEC7-0A28-3FEE-A115-04A99346D6E0}"/>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34DC9894-D3EA-81D1-9CFF-01DDEB5B7F26}"/>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1E984B3-604A-7B46-770B-43B2AFB34A2B}"/>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04C83B-D794-23EA-0A0C-0BBCC42AEF1E}"/>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15F10F9-E855-C164-C25C-00C497FD195D}"/>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73BBE6C4-0DBB-E952-B713-AF5BFA9D7BF8}"/>
                </a:ext>
              </a:extLst>
            </p:cNvPr>
            <p:cNvSpPr/>
            <p:nvPr/>
          </p:nvSpPr>
          <p:spPr>
            <a:xfrm>
              <a:off x="3960000" y="1800000"/>
              <a:ext cx="2156951" cy="4319998"/>
            </a:xfrm>
            <a:prstGeom prst="rect">
              <a:avLst/>
            </a:prstGeom>
            <a:solidFill>
              <a:srgbClr val="FF000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4612000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75370-7EE9-1F4A-6350-42CF3C9783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53A2AA-5D4F-6BC0-A074-0DE4EAC06574}"/>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EE11F948-0B82-3CCE-26D1-637812D67198}"/>
              </a:ext>
            </a:extLst>
          </p:cNvPr>
          <p:cNvSpPr txBox="1"/>
          <p:nvPr/>
        </p:nvSpPr>
        <p:spPr>
          <a:xfrm>
            <a:off x="7048072" y="1839074"/>
            <a:ext cx="4547815" cy="4893647"/>
          </a:xfrm>
          <a:prstGeom prst="rect">
            <a:avLst/>
          </a:prstGeom>
          <a:noFill/>
        </p:spPr>
        <p:txBody>
          <a:bodyPr wrap="square" rtlCol="0">
            <a:spAutoFit/>
          </a:bodyPr>
          <a:lstStyle/>
          <a:p>
            <a:pPr marL="285750" indent="-285750">
              <a:buFont typeface="Arial" panose="020B0604020202020204" pitchFamily="34" charset="0"/>
              <a:buChar char="•"/>
            </a:pPr>
            <a:r>
              <a:rPr lang="en-GB" sz="2400" dirty="0"/>
              <a:t>What is P(X=true)?</a:t>
            </a:r>
          </a:p>
          <a:p>
            <a:pPr marL="742950" lvl="1" indent="-285750">
              <a:buFont typeface="Arial" panose="020B0604020202020204" pitchFamily="34" charset="0"/>
              <a:buChar char="•"/>
            </a:pPr>
            <a:r>
              <a:rPr lang="en-GB" sz="2400" dirty="0"/>
              <a:t>24/48 = 0.5</a:t>
            </a:r>
            <a:br>
              <a:rPr lang="en-GB" sz="2400" dirty="0"/>
            </a:br>
            <a:endParaRPr lang="en-GB" sz="2400" dirty="0"/>
          </a:p>
          <a:p>
            <a:pPr marL="285750" indent="-285750">
              <a:buFont typeface="Arial" panose="020B0604020202020204" pitchFamily="34" charset="0"/>
              <a:buChar char="•"/>
            </a:pPr>
            <a:r>
              <a:rPr lang="en-GB" sz="2400" dirty="0"/>
              <a:t>What is P(Y=true)?</a:t>
            </a:r>
          </a:p>
          <a:p>
            <a:pPr marL="742950" lvl="1" indent="-285750">
              <a:buFont typeface="Arial" panose="020B0604020202020204" pitchFamily="34" charset="0"/>
              <a:buChar char="•"/>
            </a:pPr>
            <a:r>
              <a:rPr lang="en-GB" sz="2400" dirty="0"/>
              <a:t>18/48 = 3/8 = 0.375</a:t>
            </a:r>
            <a:br>
              <a:rPr lang="en-GB" sz="2400" dirty="0"/>
            </a:br>
            <a:endParaRPr lang="en-GB" sz="2400" dirty="0"/>
          </a:p>
          <a:p>
            <a:pPr marL="285750" indent="-285750">
              <a:buFont typeface="Arial" panose="020B0604020202020204" pitchFamily="34" charset="0"/>
              <a:buChar char="•"/>
            </a:pPr>
            <a:r>
              <a:rPr lang="en-GB" sz="2400" dirty="0"/>
              <a:t>What is P(X=true and Y=true)?</a:t>
            </a:r>
          </a:p>
          <a:p>
            <a:pPr marL="742950" lvl="1" indent="-285750">
              <a:buFont typeface="Arial" panose="020B0604020202020204" pitchFamily="34" charset="0"/>
              <a:buChar char="•"/>
            </a:pPr>
            <a:r>
              <a:rPr lang="en-GB" sz="2400" dirty="0"/>
              <a:t>9/48 = 3/16 = 0.1875</a:t>
            </a:r>
            <a:br>
              <a:rPr lang="en-GB" sz="2400" dirty="0"/>
            </a:br>
            <a:endParaRPr lang="en-GB" sz="2400" dirty="0"/>
          </a:p>
          <a:p>
            <a:pPr marL="285750" indent="-285750">
              <a:buFont typeface="Arial" panose="020B0604020202020204" pitchFamily="34" charset="0"/>
              <a:buChar char="•"/>
            </a:pPr>
            <a:r>
              <a:rPr lang="en-GB" sz="2400" dirty="0"/>
              <a:t>What is P(X=true or Y=true)?</a:t>
            </a:r>
          </a:p>
          <a:p>
            <a:pPr marL="742950" lvl="1" indent="-285750">
              <a:buFont typeface="Arial" panose="020B0604020202020204" pitchFamily="34" charset="0"/>
              <a:buChar char="•"/>
            </a:pPr>
            <a:r>
              <a:rPr lang="en-GB" sz="2400" dirty="0"/>
              <a:t>Not independent, so 0.5+0.375-01875=</a:t>
            </a:r>
            <a:r>
              <a:rPr lang="en-GB" sz="2400" dirty="0">
                <a:solidFill>
                  <a:srgbClr val="1F1F1F"/>
                </a:solidFill>
                <a:latin typeface="Arial" panose="020B0604020202020204" pitchFamily="34" charset="0"/>
              </a:rPr>
              <a:t>0.</a:t>
            </a:r>
            <a:r>
              <a:rPr lang="en-GB" sz="2400" b="0" i="0" dirty="0">
                <a:solidFill>
                  <a:srgbClr val="1F1F1F"/>
                </a:solidFill>
                <a:effectLst/>
                <a:latin typeface="Arial" panose="020B0604020202020204" pitchFamily="34" charset="0"/>
              </a:rPr>
              <a:t>6875</a:t>
            </a:r>
            <a:endParaRPr lang="en-GB" sz="2400" dirty="0"/>
          </a:p>
          <a:p>
            <a:endParaRPr lang="en-GB" sz="2400" dirty="0"/>
          </a:p>
        </p:txBody>
      </p:sp>
      <p:grpSp>
        <p:nvGrpSpPr>
          <p:cNvPr id="4" name="Group 3">
            <a:extLst>
              <a:ext uri="{FF2B5EF4-FFF2-40B4-BE49-F238E27FC236}">
                <a16:creationId xmlns:a16="http://schemas.microsoft.com/office/drawing/2014/main" id="{96EFCDB8-B09E-5DEF-E432-1AAB61EE473E}"/>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02B5CC73-8178-4675-1A35-9FB9EB755CA3}"/>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54EFB5C6-F7C5-E035-17D4-26D7DC3A3C93}"/>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48F1FDA-B8E6-3900-EB00-44AF59B6620D}"/>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EB7B1A-30D8-F06F-EBEA-7AEACD2FAC38}"/>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04C3435-43CF-A2F8-20AA-72BC897381E3}"/>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F551022-12AB-9FC0-C468-8D526EABEC72}"/>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C4FE87D-E556-2632-355C-372C9D54CFE8}"/>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93BFF6D-38A4-4533-EE40-50AF51F86255}"/>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F8D906E-F49C-3F8A-F95B-4FE8DF59F8BC}"/>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451B79B-5000-35C0-D771-B6EBBF3DC14D}"/>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AAF1699-2387-AD92-8AE2-08D27DC89E33}"/>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3DAF7AA-EB05-3AF0-F2B1-8514676162D5}"/>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02FDAC2-9B90-A742-C43D-5212978CB247}"/>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56A7B7D-5F62-AE96-A087-032ADB810C27}"/>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5F58C92C-3E4B-8110-3DB4-113AEBF7B7A6}"/>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B51E6B15-FAC7-758B-50C4-2B021BE76A63}"/>
                </a:ext>
              </a:extLst>
            </p:cNvPr>
            <p:cNvSpPr/>
            <p:nvPr/>
          </p:nvSpPr>
          <p:spPr>
            <a:xfrm>
              <a:off x="3960000" y="1800000"/>
              <a:ext cx="2156951" cy="4319998"/>
            </a:xfrm>
            <a:prstGeom prst="rect">
              <a:avLst/>
            </a:prstGeom>
            <a:solidFill>
              <a:srgbClr val="FF000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1265829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22B52-955C-4587-1294-B8E5D847D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55389-55E0-6015-A51A-06918F2792DF}"/>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5271D407-1790-12ED-0483-6DD712C720BD}"/>
              </a:ext>
            </a:extLst>
          </p:cNvPr>
          <p:cNvSpPr txBox="1"/>
          <p:nvPr/>
        </p:nvSpPr>
        <p:spPr>
          <a:xfrm>
            <a:off x="7048072" y="1839074"/>
            <a:ext cx="4547815" cy="4893647"/>
          </a:xfrm>
          <a:prstGeom prst="rect">
            <a:avLst/>
          </a:prstGeom>
          <a:noFill/>
        </p:spPr>
        <p:txBody>
          <a:bodyPr wrap="square" rtlCol="0">
            <a:spAutoFit/>
          </a:bodyPr>
          <a:lstStyle/>
          <a:p>
            <a:pPr marL="285750" indent="-285750">
              <a:buFont typeface="Arial" panose="020B0604020202020204" pitchFamily="34" charset="0"/>
              <a:buChar char="•"/>
            </a:pPr>
            <a:r>
              <a:rPr lang="en-GB" sz="2400" dirty="0"/>
              <a:t>What is P(X,Y)?</a:t>
            </a:r>
          </a:p>
          <a:p>
            <a:pPr marL="742950" lvl="1" indent="-285750">
              <a:buFont typeface="Arial" panose="020B0604020202020204" pitchFamily="34" charset="0"/>
              <a:buChar char="•"/>
            </a:pPr>
            <a:r>
              <a:rPr lang="en-GB" sz="2400" dirty="0"/>
              <a:t>A matrix of probabilities for combinations of values for X and Y: </a:t>
            </a:r>
            <a:br>
              <a:rPr lang="en-GB" sz="2400" dirty="0"/>
            </a:br>
            <a:br>
              <a:rPr lang="en-GB" sz="2400" dirty="0"/>
            </a:br>
            <a:br>
              <a:rPr lang="en-GB" sz="2400" dirty="0"/>
            </a:br>
            <a:br>
              <a:rPr lang="en-GB" sz="2400" dirty="0"/>
            </a:br>
            <a:br>
              <a:rPr lang="en-GB" sz="2400" dirty="0"/>
            </a:br>
            <a:br>
              <a:rPr lang="en-GB" sz="2400" dirty="0"/>
            </a:br>
            <a:br>
              <a:rPr lang="en-GB" sz="2400" dirty="0"/>
            </a:br>
            <a:endParaRPr lang="en-GB" sz="2400" dirty="0"/>
          </a:p>
          <a:p>
            <a:pPr lvl="1"/>
            <a:endParaRPr lang="en-GB" sz="2400" dirty="0"/>
          </a:p>
          <a:p>
            <a:endParaRPr lang="en-GB" sz="2400" dirty="0"/>
          </a:p>
        </p:txBody>
      </p:sp>
      <p:grpSp>
        <p:nvGrpSpPr>
          <p:cNvPr id="4" name="Group 3">
            <a:extLst>
              <a:ext uri="{FF2B5EF4-FFF2-40B4-BE49-F238E27FC236}">
                <a16:creationId xmlns:a16="http://schemas.microsoft.com/office/drawing/2014/main" id="{B097C217-8812-4811-B10B-0471084A6FB2}"/>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FA96ED50-2DF7-BDD5-5E62-52687580D0AB}"/>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D3E783B0-6DB0-0203-7287-534C82573B8A}"/>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3AF5093-C616-331A-9484-7E32E345FECD}"/>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8EB95EF-87FA-EACC-80FE-D498381A70A9}"/>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2262338-79E9-277F-7724-FC2D5D7105E9}"/>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E068E27-0627-85AA-3E97-F5AE2F2769A1}"/>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C2023864-E1D0-5FA9-625A-8210F6D52E58}"/>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1E0610-DBFC-D32A-D209-C862336A69E2}"/>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EB6C314-ACBB-F173-4444-CF9EC52CA28D}"/>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074306C-5E10-2C52-AF20-66DB91BE1959}"/>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BAEBB2F-722C-D970-1248-79C7B1362ADC}"/>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E26B9A8-8CB4-BE9E-5BA0-AFE141184666}"/>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5D0AFF3-57BF-B8EA-5966-FF81C8CFB282}"/>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3FADE1E-B809-C935-DFE2-0629C4F7C948}"/>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3E0E0A76-D2C2-3935-9B1D-94B611B6A95F}"/>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A2E9645B-4ECA-3888-3482-FFB08F205E33}"/>
                </a:ext>
              </a:extLst>
            </p:cNvPr>
            <p:cNvSpPr/>
            <p:nvPr/>
          </p:nvSpPr>
          <p:spPr>
            <a:xfrm>
              <a:off x="3960000" y="1800000"/>
              <a:ext cx="2156951" cy="4319998"/>
            </a:xfrm>
            <a:prstGeom prst="rect">
              <a:avLst/>
            </a:prstGeom>
            <a:solidFill>
              <a:srgbClr val="FF000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aphicFrame>
        <p:nvGraphicFramePr>
          <p:cNvPr id="7" name="Table 6">
            <a:extLst>
              <a:ext uri="{FF2B5EF4-FFF2-40B4-BE49-F238E27FC236}">
                <a16:creationId xmlns:a16="http://schemas.microsoft.com/office/drawing/2014/main" id="{8CECB59D-009F-DA4F-25CA-2A4A508DF241}"/>
              </a:ext>
            </a:extLst>
          </p:cNvPr>
          <p:cNvGraphicFramePr>
            <a:graphicFrameLocks noGrp="1"/>
          </p:cNvGraphicFramePr>
          <p:nvPr>
            <p:extLst>
              <p:ext uri="{D42A27DB-BD31-4B8C-83A1-F6EECF244321}">
                <p14:modId xmlns:p14="http://schemas.microsoft.com/office/powerpoint/2010/main" val="1478966805"/>
              </p:ext>
            </p:extLst>
          </p:nvPr>
        </p:nvGraphicFramePr>
        <p:xfrm>
          <a:off x="6836950" y="3411359"/>
          <a:ext cx="5037741" cy="1097280"/>
        </p:xfrm>
        <a:graphic>
          <a:graphicData uri="http://schemas.openxmlformats.org/drawingml/2006/table">
            <a:tbl>
              <a:tblPr firstRow="1" bandRow="1">
                <a:tableStyleId>{5C22544A-7EE6-4342-B048-85BDC9FD1C3A}</a:tableStyleId>
              </a:tblPr>
              <a:tblGrid>
                <a:gridCol w="1679247">
                  <a:extLst>
                    <a:ext uri="{9D8B030D-6E8A-4147-A177-3AD203B41FA5}">
                      <a16:colId xmlns:a16="http://schemas.microsoft.com/office/drawing/2014/main" val="1757476788"/>
                    </a:ext>
                  </a:extLst>
                </a:gridCol>
                <a:gridCol w="1679247">
                  <a:extLst>
                    <a:ext uri="{9D8B030D-6E8A-4147-A177-3AD203B41FA5}">
                      <a16:colId xmlns:a16="http://schemas.microsoft.com/office/drawing/2014/main" val="4184141510"/>
                    </a:ext>
                  </a:extLst>
                </a:gridCol>
                <a:gridCol w="1679247">
                  <a:extLst>
                    <a:ext uri="{9D8B030D-6E8A-4147-A177-3AD203B41FA5}">
                      <a16:colId xmlns:a16="http://schemas.microsoft.com/office/drawing/2014/main" val="2245039948"/>
                    </a:ext>
                  </a:extLst>
                </a:gridCol>
              </a:tblGrid>
              <a:tr h="364729">
                <a:tc>
                  <a:txBody>
                    <a:bodyPr/>
                    <a:lstStyle/>
                    <a:p>
                      <a:endParaRPr lang="en-GB"/>
                    </a:p>
                  </a:txBody>
                  <a:tcPr/>
                </a:tc>
                <a:tc>
                  <a:txBody>
                    <a:bodyPr/>
                    <a:lstStyle/>
                    <a:p>
                      <a:r>
                        <a:rPr lang="en-GB" dirty="0"/>
                        <a:t>Y = true</a:t>
                      </a:r>
                    </a:p>
                  </a:txBody>
                  <a:tcPr/>
                </a:tc>
                <a:tc>
                  <a:txBody>
                    <a:bodyPr/>
                    <a:lstStyle/>
                    <a:p>
                      <a:r>
                        <a:rPr lang="en-GB" dirty="0"/>
                        <a:t>Y = false</a:t>
                      </a:r>
                    </a:p>
                  </a:txBody>
                  <a:tcPr/>
                </a:tc>
                <a:extLst>
                  <a:ext uri="{0D108BD9-81ED-4DB2-BD59-A6C34878D82A}">
                    <a16:rowId xmlns:a16="http://schemas.microsoft.com/office/drawing/2014/main" val="3821084729"/>
                  </a:ext>
                </a:extLst>
              </a:tr>
              <a:tr h="364729">
                <a:tc>
                  <a:txBody>
                    <a:bodyPr/>
                    <a:lstStyle/>
                    <a:p>
                      <a:r>
                        <a:rPr lang="en-GB" dirty="0"/>
                        <a:t>X = true</a:t>
                      </a:r>
                    </a:p>
                  </a:txBody>
                  <a:tcPr/>
                </a:tc>
                <a:tc>
                  <a:txBody>
                    <a:bodyPr/>
                    <a:lstStyle/>
                    <a:p>
                      <a:r>
                        <a:rPr lang="en-GB" dirty="0"/>
                        <a:t>9/48</a:t>
                      </a:r>
                    </a:p>
                  </a:txBody>
                  <a:tcPr/>
                </a:tc>
                <a:tc>
                  <a:txBody>
                    <a:bodyPr/>
                    <a:lstStyle/>
                    <a:p>
                      <a:r>
                        <a:rPr lang="en-GB" dirty="0"/>
                        <a:t>15/48</a:t>
                      </a:r>
                    </a:p>
                  </a:txBody>
                  <a:tcPr/>
                </a:tc>
                <a:extLst>
                  <a:ext uri="{0D108BD9-81ED-4DB2-BD59-A6C34878D82A}">
                    <a16:rowId xmlns:a16="http://schemas.microsoft.com/office/drawing/2014/main" val="2996877250"/>
                  </a:ext>
                </a:extLst>
              </a:tr>
              <a:tr h="364729">
                <a:tc>
                  <a:txBody>
                    <a:bodyPr/>
                    <a:lstStyle/>
                    <a:p>
                      <a:r>
                        <a:rPr lang="en-GB" dirty="0"/>
                        <a:t>X = false</a:t>
                      </a:r>
                    </a:p>
                  </a:txBody>
                  <a:tcPr/>
                </a:tc>
                <a:tc>
                  <a:txBody>
                    <a:bodyPr/>
                    <a:lstStyle/>
                    <a:p>
                      <a:r>
                        <a:rPr lang="en-GB" dirty="0"/>
                        <a:t>9/48</a:t>
                      </a:r>
                    </a:p>
                  </a:txBody>
                  <a:tcPr/>
                </a:tc>
                <a:tc>
                  <a:txBody>
                    <a:bodyPr/>
                    <a:lstStyle/>
                    <a:p>
                      <a:r>
                        <a:rPr lang="en-GB" dirty="0"/>
                        <a:t>15/48</a:t>
                      </a:r>
                    </a:p>
                  </a:txBody>
                  <a:tcPr/>
                </a:tc>
                <a:extLst>
                  <a:ext uri="{0D108BD9-81ED-4DB2-BD59-A6C34878D82A}">
                    <a16:rowId xmlns:a16="http://schemas.microsoft.com/office/drawing/2014/main" val="3492839534"/>
                  </a:ext>
                </a:extLst>
              </a:tr>
            </a:tbl>
          </a:graphicData>
        </a:graphic>
      </p:graphicFrame>
    </p:spTree>
    <p:extLst>
      <p:ext uri="{BB962C8B-B14F-4D97-AF65-F5344CB8AC3E}">
        <p14:creationId xmlns:p14="http://schemas.microsoft.com/office/powerpoint/2010/main" val="4142100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227F3-EC05-EB6F-09B8-1D28E6CE2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DB1D4A-BAB6-1C9F-CA38-1315DBE3F322}"/>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5ADDCE96-F613-00DF-D93E-2C607F0EA53F}"/>
              </a:ext>
            </a:extLst>
          </p:cNvPr>
          <p:cNvSpPr txBox="1"/>
          <p:nvPr/>
        </p:nvSpPr>
        <p:spPr>
          <a:xfrm>
            <a:off x="7048072" y="1839074"/>
            <a:ext cx="4547815" cy="5262979"/>
          </a:xfrm>
          <a:prstGeom prst="rect">
            <a:avLst/>
          </a:prstGeom>
          <a:noFill/>
        </p:spPr>
        <p:txBody>
          <a:bodyPr wrap="square" rtlCol="0">
            <a:spAutoFit/>
          </a:bodyPr>
          <a:lstStyle/>
          <a:p>
            <a:pPr marL="285750" indent="-285750">
              <a:buFont typeface="Arial" panose="020B0604020202020204" pitchFamily="34" charset="0"/>
              <a:buChar char="•"/>
            </a:pPr>
            <a:r>
              <a:rPr lang="en-GB" sz="2400" dirty="0"/>
              <a:t>What is P(X,Y)?</a:t>
            </a:r>
          </a:p>
          <a:p>
            <a:pPr marL="742950" lvl="1" indent="-285750">
              <a:buFont typeface="Arial" panose="020B0604020202020204" pitchFamily="34" charset="0"/>
              <a:buChar char="•"/>
            </a:pPr>
            <a:r>
              <a:rPr lang="en-GB" sz="2400" dirty="0"/>
              <a:t>A matrix of probabilities for combinations of values for X and Y: </a:t>
            </a:r>
            <a:br>
              <a:rPr lang="en-GB" sz="2400" dirty="0"/>
            </a:br>
            <a:br>
              <a:rPr lang="en-GB" sz="2400" dirty="0"/>
            </a:br>
            <a:br>
              <a:rPr lang="en-GB" sz="2400" dirty="0"/>
            </a:br>
            <a:br>
              <a:rPr lang="en-GB" sz="2400" dirty="0"/>
            </a:br>
            <a:endParaRPr lang="en-GB" sz="2400" dirty="0"/>
          </a:p>
          <a:p>
            <a:pPr marL="285750" indent="-285750">
              <a:buFont typeface="Arial" panose="020B0604020202020204" pitchFamily="34" charset="0"/>
              <a:buChar char="•"/>
            </a:pPr>
            <a:r>
              <a:rPr lang="en-GB" sz="2400" dirty="0"/>
              <a:t>Marginalise P(X,Y) over Y.</a:t>
            </a:r>
          </a:p>
          <a:p>
            <a:pPr marL="742950" lvl="1" indent="-285750">
              <a:buFont typeface="Arial" panose="020B0604020202020204" pitchFamily="34" charset="0"/>
              <a:buChar char="•"/>
            </a:pPr>
            <a:r>
              <a:rPr lang="en-GB" sz="2400" dirty="0"/>
              <a:t>This gives P(X)</a:t>
            </a:r>
            <a:br>
              <a:rPr lang="en-GB" sz="2400" dirty="0"/>
            </a:br>
            <a:br>
              <a:rPr lang="en-GB" sz="2400" dirty="0"/>
            </a:br>
            <a:endParaRPr lang="en-GB" sz="2400" dirty="0"/>
          </a:p>
          <a:p>
            <a:pPr lvl="1"/>
            <a:endParaRPr lang="en-GB" sz="2400" dirty="0"/>
          </a:p>
          <a:p>
            <a:endParaRPr lang="en-GB" sz="2400" dirty="0"/>
          </a:p>
        </p:txBody>
      </p:sp>
      <p:grpSp>
        <p:nvGrpSpPr>
          <p:cNvPr id="15" name="Group 14">
            <a:extLst>
              <a:ext uri="{FF2B5EF4-FFF2-40B4-BE49-F238E27FC236}">
                <a16:creationId xmlns:a16="http://schemas.microsoft.com/office/drawing/2014/main" id="{51004E3C-BC03-02A6-C931-9824274CE373}"/>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28A7D4BE-9948-42A1-397E-877AF7E98418}"/>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171526D1-3716-6203-45C9-87BB4EA37D83}"/>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7D5431C-09D4-09FA-A277-DFD34AA94EBD}"/>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294A473-02F6-1DE7-A8CD-8796890DF9BE}"/>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FB2C845-39AD-C8B7-3E89-BC8492F1F771}"/>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EABAE5F-BB7B-8C7C-A549-FB83FBCAFA06}"/>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1AF7356-796E-9FC4-77BB-ED3CD74B44BE}"/>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AEA0A1-1D76-9A9A-C4A1-75A1D8BDF8B6}"/>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331159B-74AE-4F87-4D07-E0C49940A243}"/>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E67FA5C-0BEE-6CA3-FCB9-3C52FEAB5024}"/>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19E3F33-7AD7-656B-18E0-FA44C498EA27}"/>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D2081DC-3FB5-B2EB-0AF4-982E28E092A2}"/>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8F89D8C-2792-C55C-E724-F27135CC5E4B}"/>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8006513-06E9-B4F3-0E32-8EDC6C0028DB}"/>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EB7CDBAA-EE5C-7094-910B-A0B14E5367D0}"/>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CAA282EE-8B5C-4BF4-948C-5BCF268996C6}"/>
                </a:ext>
              </a:extLst>
            </p:cNvPr>
            <p:cNvSpPr/>
            <p:nvPr/>
          </p:nvSpPr>
          <p:spPr>
            <a:xfrm>
              <a:off x="3960000" y="1800000"/>
              <a:ext cx="2156951" cy="4319998"/>
            </a:xfrm>
            <a:prstGeom prst="rect">
              <a:avLst/>
            </a:prstGeom>
            <a:solidFill>
              <a:srgbClr val="FF000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aphicFrame>
        <p:nvGraphicFramePr>
          <p:cNvPr id="7" name="Table 6">
            <a:extLst>
              <a:ext uri="{FF2B5EF4-FFF2-40B4-BE49-F238E27FC236}">
                <a16:creationId xmlns:a16="http://schemas.microsoft.com/office/drawing/2014/main" id="{DA0E49C0-315F-4822-219F-FB0B06D133DF}"/>
              </a:ext>
            </a:extLst>
          </p:cNvPr>
          <p:cNvGraphicFramePr>
            <a:graphicFrameLocks noGrp="1"/>
          </p:cNvGraphicFramePr>
          <p:nvPr>
            <p:extLst>
              <p:ext uri="{D42A27DB-BD31-4B8C-83A1-F6EECF244321}">
                <p14:modId xmlns:p14="http://schemas.microsoft.com/office/powerpoint/2010/main" val="1421201186"/>
              </p:ext>
            </p:extLst>
          </p:nvPr>
        </p:nvGraphicFramePr>
        <p:xfrm>
          <a:off x="6836950" y="3411359"/>
          <a:ext cx="5037741" cy="1097280"/>
        </p:xfrm>
        <a:graphic>
          <a:graphicData uri="http://schemas.openxmlformats.org/drawingml/2006/table">
            <a:tbl>
              <a:tblPr firstRow="1" bandRow="1">
                <a:tableStyleId>{5C22544A-7EE6-4342-B048-85BDC9FD1C3A}</a:tableStyleId>
              </a:tblPr>
              <a:tblGrid>
                <a:gridCol w="1679247">
                  <a:extLst>
                    <a:ext uri="{9D8B030D-6E8A-4147-A177-3AD203B41FA5}">
                      <a16:colId xmlns:a16="http://schemas.microsoft.com/office/drawing/2014/main" val="1757476788"/>
                    </a:ext>
                  </a:extLst>
                </a:gridCol>
                <a:gridCol w="1679247">
                  <a:extLst>
                    <a:ext uri="{9D8B030D-6E8A-4147-A177-3AD203B41FA5}">
                      <a16:colId xmlns:a16="http://schemas.microsoft.com/office/drawing/2014/main" val="4184141510"/>
                    </a:ext>
                  </a:extLst>
                </a:gridCol>
                <a:gridCol w="1679247">
                  <a:extLst>
                    <a:ext uri="{9D8B030D-6E8A-4147-A177-3AD203B41FA5}">
                      <a16:colId xmlns:a16="http://schemas.microsoft.com/office/drawing/2014/main" val="2245039948"/>
                    </a:ext>
                  </a:extLst>
                </a:gridCol>
              </a:tblGrid>
              <a:tr h="364729">
                <a:tc>
                  <a:txBody>
                    <a:bodyPr/>
                    <a:lstStyle/>
                    <a:p>
                      <a:endParaRPr lang="en-GB" dirty="0"/>
                    </a:p>
                  </a:txBody>
                  <a:tcPr/>
                </a:tc>
                <a:tc>
                  <a:txBody>
                    <a:bodyPr/>
                    <a:lstStyle/>
                    <a:p>
                      <a:r>
                        <a:rPr lang="en-GB" dirty="0"/>
                        <a:t>Y = true</a:t>
                      </a:r>
                    </a:p>
                  </a:txBody>
                  <a:tcPr/>
                </a:tc>
                <a:tc>
                  <a:txBody>
                    <a:bodyPr/>
                    <a:lstStyle/>
                    <a:p>
                      <a:r>
                        <a:rPr lang="en-GB" dirty="0"/>
                        <a:t>Y = false</a:t>
                      </a:r>
                    </a:p>
                  </a:txBody>
                  <a:tcPr/>
                </a:tc>
                <a:extLst>
                  <a:ext uri="{0D108BD9-81ED-4DB2-BD59-A6C34878D82A}">
                    <a16:rowId xmlns:a16="http://schemas.microsoft.com/office/drawing/2014/main" val="3821084729"/>
                  </a:ext>
                </a:extLst>
              </a:tr>
              <a:tr h="364729">
                <a:tc>
                  <a:txBody>
                    <a:bodyPr/>
                    <a:lstStyle/>
                    <a:p>
                      <a:r>
                        <a:rPr lang="en-GB" dirty="0"/>
                        <a:t>X = true</a:t>
                      </a:r>
                    </a:p>
                  </a:txBody>
                  <a:tcPr/>
                </a:tc>
                <a:tc>
                  <a:txBody>
                    <a:bodyPr/>
                    <a:lstStyle/>
                    <a:p>
                      <a:r>
                        <a:rPr lang="en-GB" dirty="0"/>
                        <a:t>9/48</a:t>
                      </a:r>
                    </a:p>
                  </a:txBody>
                  <a:tcPr/>
                </a:tc>
                <a:tc>
                  <a:txBody>
                    <a:bodyPr/>
                    <a:lstStyle/>
                    <a:p>
                      <a:r>
                        <a:rPr lang="en-GB" dirty="0"/>
                        <a:t>15/48</a:t>
                      </a:r>
                    </a:p>
                  </a:txBody>
                  <a:tcPr/>
                </a:tc>
                <a:extLst>
                  <a:ext uri="{0D108BD9-81ED-4DB2-BD59-A6C34878D82A}">
                    <a16:rowId xmlns:a16="http://schemas.microsoft.com/office/drawing/2014/main" val="2996877250"/>
                  </a:ext>
                </a:extLst>
              </a:tr>
              <a:tr h="364729">
                <a:tc>
                  <a:txBody>
                    <a:bodyPr/>
                    <a:lstStyle/>
                    <a:p>
                      <a:r>
                        <a:rPr lang="en-GB" dirty="0"/>
                        <a:t>X = false</a:t>
                      </a:r>
                    </a:p>
                  </a:txBody>
                  <a:tcPr/>
                </a:tc>
                <a:tc>
                  <a:txBody>
                    <a:bodyPr/>
                    <a:lstStyle/>
                    <a:p>
                      <a:r>
                        <a:rPr lang="en-GB" dirty="0"/>
                        <a:t>9/48</a:t>
                      </a:r>
                    </a:p>
                  </a:txBody>
                  <a:tcPr/>
                </a:tc>
                <a:tc>
                  <a:txBody>
                    <a:bodyPr/>
                    <a:lstStyle/>
                    <a:p>
                      <a:r>
                        <a:rPr lang="en-GB" dirty="0"/>
                        <a:t>15/48</a:t>
                      </a:r>
                    </a:p>
                  </a:txBody>
                  <a:tcPr/>
                </a:tc>
                <a:extLst>
                  <a:ext uri="{0D108BD9-81ED-4DB2-BD59-A6C34878D82A}">
                    <a16:rowId xmlns:a16="http://schemas.microsoft.com/office/drawing/2014/main" val="3492839534"/>
                  </a:ext>
                </a:extLst>
              </a:tr>
            </a:tbl>
          </a:graphicData>
        </a:graphic>
      </p:graphicFrame>
      <p:graphicFrame>
        <p:nvGraphicFramePr>
          <p:cNvPr id="4" name="Table 3">
            <a:extLst>
              <a:ext uri="{FF2B5EF4-FFF2-40B4-BE49-F238E27FC236}">
                <a16:creationId xmlns:a16="http://schemas.microsoft.com/office/drawing/2014/main" id="{9A62AD2E-B112-0C25-08A3-09327171FE82}"/>
              </a:ext>
            </a:extLst>
          </p:cNvPr>
          <p:cNvGraphicFramePr>
            <a:graphicFrameLocks noGrp="1"/>
          </p:cNvGraphicFramePr>
          <p:nvPr>
            <p:extLst>
              <p:ext uri="{D42A27DB-BD31-4B8C-83A1-F6EECF244321}">
                <p14:modId xmlns:p14="http://schemas.microsoft.com/office/powerpoint/2010/main" val="3087216867"/>
              </p:ext>
            </p:extLst>
          </p:nvPr>
        </p:nvGraphicFramePr>
        <p:xfrm>
          <a:off x="6505854" y="5571358"/>
          <a:ext cx="5355054" cy="1097280"/>
        </p:xfrm>
        <a:graphic>
          <a:graphicData uri="http://schemas.openxmlformats.org/drawingml/2006/table">
            <a:tbl>
              <a:tblPr firstRow="1" bandRow="1">
                <a:tableStyleId>{5C22544A-7EE6-4342-B048-85BDC9FD1C3A}</a:tableStyleId>
              </a:tblPr>
              <a:tblGrid>
                <a:gridCol w="2677527">
                  <a:extLst>
                    <a:ext uri="{9D8B030D-6E8A-4147-A177-3AD203B41FA5}">
                      <a16:colId xmlns:a16="http://schemas.microsoft.com/office/drawing/2014/main" val="1757476788"/>
                    </a:ext>
                  </a:extLst>
                </a:gridCol>
                <a:gridCol w="2677527">
                  <a:extLst>
                    <a:ext uri="{9D8B030D-6E8A-4147-A177-3AD203B41FA5}">
                      <a16:colId xmlns:a16="http://schemas.microsoft.com/office/drawing/2014/main" val="4184141510"/>
                    </a:ext>
                  </a:extLst>
                </a:gridCol>
              </a:tblGrid>
              <a:tr h="364729">
                <a:tc>
                  <a:txBody>
                    <a:bodyPr/>
                    <a:lstStyle/>
                    <a:p>
                      <a:endParaRPr lang="en-GB" dirty="0"/>
                    </a:p>
                  </a:txBody>
                  <a:tcPr/>
                </a:tc>
                <a:tc>
                  <a:txBody>
                    <a:bodyPr/>
                    <a:lstStyle/>
                    <a:p>
                      <a:r>
                        <a:rPr lang="en-GB" dirty="0"/>
                        <a:t>P(X)</a:t>
                      </a:r>
                    </a:p>
                  </a:txBody>
                  <a:tcPr/>
                </a:tc>
                <a:extLst>
                  <a:ext uri="{0D108BD9-81ED-4DB2-BD59-A6C34878D82A}">
                    <a16:rowId xmlns:a16="http://schemas.microsoft.com/office/drawing/2014/main" val="3821084729"/>
                  </a:ext>
                </a:extLst>
              </a:tr>
              <a:tr h="364729">
                <a:tc>
                  <a:txBody>
                    <a:bodyPr/>
                    <a:lstStyle/>
                    <a:p>
                      <a:r>
                        <a:rPr lang="en-GB" dirty="0"/>
                        <a:t>X = true</a:t>
                      </a:r>
                    </a:p>
                  </a:txBody>
                  <a:tcPr/>
                </a:tc>
                <a:tc>
                  <a:txBody>
                    <a:bodyPr/>
                    <a:lstStyle/>
                    <a:p>
                      <a:r>
                        <a:rPr lang="en-GB" dirty="0"/>
                        <a:t>9/48+15/48=24/48=0.5</a:t>
                      </a:r>
                    </a:p>
                  </a:txBody>
                  <a:tcPr/>
                </a:tc>
                <a:extLst>
                  <a:ext uri="{0D108BD9-81ED-4DB2-BD59-A6C34878D82A}">
                    <a16:rowId xmlns:a16="http://schemas.microsoft.com/office/drawing/2014/main" val="2996877250"/>
                  </a:ext>
                </a:extLst>
              </a:tr>
              <a:tr h="364729">
                <a:tc>
                  <a:txBody>
                    <a:bodyPr/>
                    <a:lstStyle/>
                    <a:p>
                      <a:r>
                        <a:rPr lang="en-GB" dirty="0"/>
                        <a:t>X = false</a:t>
                      </a:r>
                    </a:p>
                  </a:txBody>
                  <a:tcPr/>
                </a:tc>
                <a:tc>
                  <a:txBody>
                    <a:bodyPr/>
                    <a:lstStyle/>
                    <a:p>
                      <a:r>
                        <a:rPr lang="en-GB" dirty="0"/>
                        <a:t>9/48+15/48=24/48=0.5</a:t>
                      </a:r>
                    </a:p>
                  </a:txBody>
                  <a:tcPr/>
                </a:tc>
                <a:extLst>
                  <a:ext uri="{0D108BD9-81ED-4DB2-BD59-A6C34878D82A}">
                    <a16:rowId xmlns:a16="http://schemas.microsoft.com/office/drawing/2014/main" val="3492839534"/>
                  </a:ext>
                </a:extLst>
              </a:tr>
            </a:tbl>
          </a:graphicData>
        </a:graphic>
      </p:graphicFrame>
    </p:spTree>
    <p:extLst>
      <p:ext uri="{BB962C8B-B14F-4D97-AF65-F5344CB8AC3E}">
        <p14:creationId xmlns:p14="http://schemas.microsoft.com/office/powerpoint/2010/main" val="16346755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ED5D-E508-59B7-17F5-A8B59430D3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05CE03-E869-BAFB-E924-C8CD9D1C9EC1}"/>
              </a:ext>
            </a:extLst>
          </p:cNvPr>
          <p:cNvSpPr>
            <a:spLocks noGrp="1"/>
          </p:cNvSpPr>
          <p:nvPr>
            <p:ph type="title"/>
          </p:nvPr>
        </p:nvSpPr>
        <p:spPr/>
        <p:txBody>
          <a:bodyPr/>
          <a:lstStyle/>
          <a:p>
            <a:r>
              <a:rPr lang="en-GB" dirty="0"/>
              <a:t>Example: Back to the Scorpion</a:t>
            </a:r>
          </a:p>
        </p:txBody>
      </p:sp>
      <p:sp>
        <p:nvSpPr>
          <p:cNvPr id="24" name="TextBox 23">
            <a:extLst>
              <a:ext uri="{FF2B5EF4-FFF2-40B4-BE49-F238E27FC236}">
                <a16:creationId xmlns:a16="http://schemas.microsoft.com/office/drawing/2014/main" id="{0152688B-EC9A-132D-0021-D1DB9CD0CCFB}"/>
              </a:ext>
            </a:extLst>
          </p:cNvPr>
          <p:cNvSpPr txBox="1"/>
          <p:nvPr/>
        </p:nvSpPr>
        <p:spPr>
          <a:xfrm>
            <a:off x="7048070" y="1195564"/>
            <a:ext cx="4547815" cy="6001643"/>
          </a:xfrm>
          <a:prstGeom prst="rect">
            <a:avLst/>
          </a:prstGeom>
          <a:noFill/>
        </p:spPr>
        <p:txBody>
          <a:bodyPr wrap="square" rtlCol="0">
            <a:spAutoFit/>
          </a:bodyPr>
          <a:lstStyle/>
          <a:p>
            <a:pPr marL="285750" indent="-285750">
              <a:buFont typeface="Arial" panose="020B0604020202020204" pitchFamily="34" charset="0"/>
              <a:buChar char="•"/>
            </a:pPr>
            <a:r>
              <a:rPr lang="en-GB" sz="2400" dirty="0"/>
              <a:t>What is P(X | Y)?</a:t>
            </a:r>
          </a:p>
          <a:p>
            <a:pPr marL="742950" lvl="1" indent="-285750">
              <a:buFont typeface="Arial" panose="020B0604020202020204" pitchFamily="34" charset="0"/>
              <a:buChar char="•"/>
            </a:pPr>
            <a:r>
              <a:rPr lang="en-GB" sz="2400" dirty="0"/>
              <a:t>P(X | Y) = P(X,Y)/P(Y)</a:t>
            </a:r>
          </a:p>
          <a:p>
            <a:pPr marL="742950" lvl="1" indent="-285750">
              <a:buFont typeface="Arial" panose="020B0604020202020204" pitchFamily="34" charset="0"/>
              <a:buChar char="•"/>
            </a:pPr>
            <a:r>
              <a:rPr lang="en-GB" sz="2400" dirty="0"/>
              <a:t>We calculated P(X,Y) before</a:t>
            </a:r>
            <a:br>
              <a:rPr lang="en-GB" sz="2400" dirty="0"/>
            </a:br>
            <a:br>
              <a:rPr lang="en-GB" sz="2400" dirty="0"/>
            </a:br>
            <a:br>
              <a:rPr lang="en-GB" sz="2400" dirty="0"/>
            </a:br>
            <a:endParaRPr lang="en-GB" sz="2400" dirty="0"/>
          </a:p>
          <a:p>
            <a:pPr marL="742950" lvl="1" indent="-285750">
              <a:buFont typeface="Arial" panose="020B0604020202020204" pitchFamily="34" charset="0"/>
              <a:buChar char="•"/>
            </a:pPr>
            <a:r>
              <a:rPr lang="en-GB" sz="2400" dirty="0"/>
              <a:t>We marginalise P(X,Y) over X</a:t>
            </a:r>
          </a:p>
          <a:p>
            <a:pPr marL="742950" lvl="1" indent="-285750">
              <a:buFont typeface="Arial" panose="020B0604020202020204" pitchFamily="34" charset="0"/>
              <a:buChar char="•"/>
            </a:pPr>
            <a:endParaRPr lang="en-GB" sz="2400" dirty="0"/>
          </a:p>
          <a:p>
            <a:pPr marL="742950" lvl="1" indent="-285750">
              <a:buFont typeface="Arial" panose="020B0604020202020204" pitchFamily="34" charset="0"/>
              <a:buChar char="•"/>
            </a:pPr>
            <a:endParaRPr lang="en-GB" sz="2400" dirty="0"/>
          </a:p>
          <a:p>
            <a:pPr marL="742950" lvl="1" indent="-285750">
              <a:buFont typeface="Arial" panose="020B0604020202020204" pitchFamily="34" charset="0"/>
              <a:buChar char="•"/>
            </a:pPr>
            <a:endParaRPr lang="en-GB" sz="2400" dirty="0"/>
          </a:p>
          <a:p>
            <a:pPr marL="742950" lvl="1" indent="-285750">
              <a:buFont typeface="Arial" panose="020B0604020202020204" pitchFamily="34" charset="0"/>
              <a:buChar char="•"/>
            </a:pPr>
            <a:endParaRPr lang="en-GB" sz="2400" dirty="0"/>
          </a:p>
          <a:p>
            <a:pPr marL="742950" lvl="1" indent="-285750">
              <a:buFont typeface="Arial" panose="020B0604020202020204" pitchFamily="34" charset="0"/>
              <a:buChar char="•"/>
            </a:pPr>
            <a:r>
              <a:rPr lang="en-GB" sz="2400" dirty="0"/>
              <a:t>And finally calculate P(X | Y)</a:t>
            </a:r>
          </a:p>
          <a:p>
            <a:pPr lvl="1"/>
            <a:br>
              <a:rPr lang="en-GB" sz="2400" dirty="0"/>
            </a:br>
            <a:endParaRPr lang="en-GB" sz="2400" dirty="0"/>
          </a:p>
          <a:p>
            <a:pPr lvl="1"/>
            <a:endParaRPr lang="en-GB" sz="2400" dirty="0"/>
          </a:p>
          <a:p>
            <a:endParaRPr lang="en-GB" sz="2400" dirty="0"/>
          </a:p>
        </p:txBody>
      </p:sp>
      <p:grpSp>
        <p:nvGrpSpPr>
          <p:cNvPr id="16" name="Group 15">
            <a:extLst>
              <a:ext uri="{FF2B5EF4-FFF2-40B4-BE49-F238E27FC236}">
                <a16:creationId xmlns:a16="http://schemas.microsoft.com/office/drawing/2014/main" id="{29573257-3704-2D00-B77F-C7E7D9040A0B}"/>
              </a:ext>
            </a:extLst>
          </p:cNvPr>
          <p:cNvGrpSpPr/>
          <p:nvPr/>
        </p:nvGrpSpPr>
        <p:grpSpPr>
          <a:xfrm>
            <a:off x="359999" y="1800000"/>
            <a:ext cx="5760001" cy="4320000"/>
            <a:chOff x="359999" y="1800000"/>
            <a:chExt cx="5760001" cy="4320000"/>
          </a:xfrm>
        </p:grpSpPr>
        <p:sp>
          <p:nvSpPr>
            <p:cNvPr id="5" name="Rectangle 4">
              <a:extLst>
                <a:ext uri="{FF2B5EF4-FFF2-40B4-BE49-F238E27FC236}">
                  <a16:creationId xmlns:a16="http://schemas.microsoft.com/office/drawing/2014/main" id="{155B6661-4E4B-94FD-0C24-CF0558FCC5C0}"/>
                </a:ext>
              </a:extLst>
            </p:cNvPr>
            <p:cNvSpPr/>
            <p:nvPr/>
          </p:nvSpPr>
          <p:spPr>
            <a:xfrm>
              <a:off x="360000" y="1800000"/>
              <a:ext cx="5760000" cy="4320000"/>
            </a:xfrm>
            <a:prstGeom prst="rect">
              <a:avLst/>
            </a:prstGeom>
            <a:solidFill>
              <a:schemeClr val="accent4">
                <a:alpha val="1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DB21CA66-1123-5C26-8CD0-6A552E19F299}"/>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0E4F69C-5072-A384-0216-091CB9B0119A}"/>
                </a:ext>
              </a:extLst>
            </p:cNvPr>
            <p:cNvCxnSpPr/>
            <p:nvPr/>
          </p:nvCxnSpPr>
          <p:spPr>
            <a:xfrm>
              <a:off x="360000" y="252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640709B-3DEA-7F43-CCC8-41C4F0A5B54F}"/>
                </a:ext>
              </a:extLst>
            </p:cNvPr>
            <p:cNvCxnSpPr/>
            <p:nvPr/>
          </p:nvCxnSpPr>
          <p:spPr>
            <a:xfrm>
              <a:off x="360000" y="396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E77E1CF-964C-1D15-C6A5-97C130A9DB9C}"/>
                </a:ext>
              </a:extLst>
            </p:cNvPr>
            <p:cNvCxnSpPr/>
            <p:nvPr/>
          </p:nvCxnSpPr>
          <p:spPr>
            <a:xfrm>
              <a:off x="360000" y="324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FCE490E-2771-BCBC-8A67-108B88122908}"/>
                </a:ext>
              </a:extLst>
            </p:cNvPr>
            <p:cNvCxnSpPr/>
            <p:nvPr/>
          </p:nvCxnSpPr>
          <p:spPr>
            <a:xfrm>
              <a:off x="360000" y="468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EE0BD9E-DACC-3BAE-B40F-84931A633AF6}"/>
                </a:ext>
              </a:extLst>
            </p:cNvPr>
            <p:cNvCxnSpPr/>
            <p:nvPr/>
          </p:nvCxnSpPr>
          <p:spPr>
            <a:xfrm>
              <a:off x="360000" y="5400000"/>
              <a:ext cx="5756953"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B7EF54-2172-2E32-7749-2651F89F8F23}"/>
                </a:ext>
              </a:extLst>
            </p:cNvPr>
            <p:cNvCxnSpPr>
              <a:cxnSpLocks/>
            </p:cNvCxnSpPr>
            <p:nvPr/>
          </p:nvCxnSpPr>
          <p:spPr>
            <a:xfrm>
              <a:off x="10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0EBFD06-B82C-0501-72DB-257FB4BB6179}"/>
                </a:ext>
              </a:extLst>
            </p:cNvPr>
            <p:cNvCxnSpPr>
              <a:cxnSpLocks/>
            </p:cNvCxnSpPr>
            <p:nvPr/>
          </p:nvCxnSpPr>
          <p:spPr>
            <a:xfrm>
              <a:off x="18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4DF06C3-F9AD-8963-A14B-9CE1B75D3CD8}"/>
                </a:ext>
              </a:extLst>
            </p:cNvPr>
            <p:cNvCxnSpPr>
              <a:cxnSpLocks/>
            </p:cNvCxnSpPr>
            <p:nvPr/>
          </p:nvCxnSpPr>
          <p:spPr>
            <a:xfrm>
              <a:off x="252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CDB5950-3B7A-F832-621D-E0692E57F3B3}"/>
                </a:ext>
              </a:extLst>
            </p:cNvPr>
            <p:cNvCxnSpPr>
              <a:cxnSpLocks/>
            </p:cNvCxnSpPr>
            <p:nvPr/>
          </p:nvCxnSpPr>
          <p:spPr>
            <a:xfrm>
              <a:off x="324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0713F62-254A-0874-9F55-38A499EE1754}"/>
                </a:ext>
              </a:extLst>
            </p:cNvPr>
            <p:cNvCxnSpPr>
              <a:cxnSpLocks/>
            </p:cNvCxnSpPr>
            <p:nvPr/>
          </p:nvCxnSpPr>
          <p:spPr>
            <a:xfrm>
              <a:off x="396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EFA9377-E706-B54B-F0EB-469562CA01B5}"/>
                </a:ext>
              </a:extLst>
            </p:cNvPr>
            <p:cNvCxnSpPr>
              <a:cxnSpLocks/>
            </p:cNvCxnSpPr>
            <p:nvPr/>
          </p:nvCxnSpPr>
          <p:spPr>
            <a:xfrm>
              <a:off x="468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2358C33-15AD-AB89-2217-A317669817C4}"/>
                </a:ext>
              </a:extLst>
            </p:cNvPr>
            <p:cNvCxnSpPr>
              <a:cxnSpLocks/>
            </p:cNvCxnSpPr>
            <p:nvPr/>
          </p:nvCxnSpPr>
          <p:spPr>
            <a:xfrm>
              <a:off x="5400000" y="1800000"/>
              <a:ext cx="0" cy="43200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6B3ED9F0-B24B-16F0-B4B6-08D35A923244}"/>
                </a:ext>
              </a:extLst>
            </p:cNvPr>
            <p:cNvSpPr/>
            <p:nvPr/>
          </p:nvSpPr>
          <p:spPr>
            <a:xfrm>
              <a:off x="359999" y="3960000"/>
              <a:ext cx="5760000" cy="2159999"/>
            </a:xfrm>
            <a:prstGeom prst="rect">
              <a:avLst/>
            </a:prstGeom>
            <a:solidFill>
              <a:schemeClr val="bg1">
                <a:lumMod val="75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4296D7EA-C4AA-0DF9-5DB4-5E65B098F533}"/>
                </a:ext>
              </a:extLst>
            </p:cNvPr>
            <p:cNvSpPr/>
            <p:nvPr/>
          </p:nvSpPr>
          <p:spPr>
            <a:xfrm>
              <a:off x="3960000" y="1800000"/>
              <a:ext cx="2156951" cy="4319998"/>
            </a:xfrm>
            <a:prstGeom prst="rect">
              <a:avLst/>
            </a:prstGeom>
            <a:solidFill>
              <a:srgbClr val="FF000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aphicFrame>
        <p:nvGraphicFramePr>
          <p:cNvPr id="7" name="Table 6">
            <a:extLst>
              <a:ext uri="{FF2B5EF4-FFF2-40B4-BE49-F238E27FC236}">
                <a16:creationId xmlns:a16="http://schemas.microsoft.com/office/drawing/2014/main" id="{71DE8560-62AE-2B57-44FE-1BF55ABF5074}"/>
              </a:ext>
            </a:extLst>
          </p:cNvPr>
          <p:cNvGraphicFramePr>
            <a:graphicFrameLocks noGrp="1"/>
          </p:cNvGraphicFramePr>
          <p:nvPr>
            <p:extLst>
              <p:ext uri="{D42A27DB-BD31-4B8C-83A1-F6EECF244321}">
                <p14:modId xmlns:p14="http://schemas.microsoft.com/office/powerpoint/2010/main" val="2841770158"/>
              </p:ext>
            </p:extLst>
          </p:nvPr>
        </p:nvGraphicFramePr>
        <p:xfrm>
          <a:off x="6895976" y="2313920"/>
          <a:ext cx="5037741" cy="1097280"/>
        </p:xfrm>
        <a:graphic>
          <a:graphicData uri="http://schemas.openxmlformats.org/drawingml/2006/table">
            <a:tbl>
              <a:tblPr firstRow="1" bandRow="1">
                <a:tableStyleId>{5C22544A-7EE6-4342-B048-85BDC9FD1C3A}</a:tableStyleId>
              </a:tblPr>
              <a:tblGrid>
                <a:gridCol w="1679247">
                  <a:extLst>
                    <a:ext uri="{9D8B030D-6E8A-4147-A177-3AD203B41FA5}">
                      <a16:colId xmlns:a16="http://schemas.microsoft.com/office/drawing/2014/main" val="1757476788"/>
                    </a:ext>
                  </a:extLst>
                </a:gridCol>
                <a:gridCol w="1679247">
                  <a:extLst>
                    <a:ext uri="{9D8B030D-6E8A-4147-A177-3AD203B41FA5}">
                      <a16:colId xmlns:a16="http://schemas.microsoft.com/office/drawing/2014/main" val="4184141510"/>
                    </a:ext>
                  </a:extLst>
                </a:gridCol>
                <a:gridCol w="1679247">
                  <a:extLst>
                    <a:ext uri="{9D8B030D-6E8A-4147-A177-3AD203B41FA5}">
                      <a16:colId xmlns:a16="http://schemas.microsoft.com/office/drawing/2014/main" val="2245039948"/>
                    </a:ext>
                  </a:extLst>
                </a:gridCol>
              </a:tblGrid>
              <a:tr h="364729">
                <a:tc>
                  <a:txBody>
                    <a:bodyPr/>
                    <a:lstStyle/>
                    <a:p>
                      <a:r>
                        <a:rPr lang="en-GB" dirty="0"/>
                        <a:t>P(X,Y)</a:t>
                      </a:r>
                    </a:p>
                  </a:txBody>
                  <a:tcPr/>
                </a:tc>
                <a:tc>
                  <a:txBody>
                    <a:bodyPr/>
                    <a:lstStyle/>
                    <a:p>
                      <a:r>
                        <a:rPr lang="en-GB" dirty="0"/>
                        <a:t>Y = true</a:t>
                      </a:r>
                    </a:p>
                  </a:txBody>
                  <a:tcPr/>
                </a:tc>
                <a:tc>
                  <a:txBody>
                    <a:bodyPr/>
                    <a:lstStyle/>
                    <a:p>
                      <a:r>
                        <a:rPr lang="en-GB" dirty="0"/>
                        <a:t>Y = false</a:t>
                      </a:r>
                    </a:p>
                  </a:txBody>
                  <a:tcPr/>
                </a:tc>
                <a:extLst>
                  <a:ext uri="{0D108BD9-81ED-4DB2-BD59-A6C34878D82A}">
                    <a16:rowId xmlns:a16="http://schemas.microsoft.com/office/drawing/2014/main" val="3821084729"/>
                  </a:ext>
                </a:extLst>
              </a:tr>
              <a:tr h="364729">
                <a:tc>
                  <a:txBody>
                    <a:bodyPr/>
                    <a:lstStyle/>
                    <a:p>
                      <a:r>
                        <a:rPr lang="en-GB" dirty="0"/>
                        <a:t>X = true</a:t>
                      </a:r>
                    </a:p>
                  </a:txBody>
                  <a:tcPr/>
                </a:tc>
                <a:tc>
                  <a:txBody>
                    <a:bodyPr/>
                    <a:lstStyle/>
                    <a:p>
                      <a:r>
                        <a:rPr lang="en-GB" dirty="0"/>
                        <a:t>9/48 = 3/16</a:t>
                      </a:r>
                    </a:p>
                  </a:txBody>
                  <a:tcPr/>
                </a:tc>
                <a:tc>
                  <a:txBody>
                    <a:bodyPr/>
                    <a:lstStyle/>
                    <a:p>
                      <a:r>
                        <a:rPr lang="en-GB" dirty="0"/>
                        <a:t>15/48 = 5/16</a:t>
                      </a:r>
                    </a:p>
                  </a:txBody>
                  <a:tcPr/>
                </a:tc>
                <a:extLst>
                  <a:ext uri="{0D108BD9-81ED-4DB2-BD59-A6C34878D82A}">
                    <a16:rowId xmlns:a16="http://schemas.microsoft.com/office/drawing/2014/main" val="2996877250"/>
                  </a:ext>
                </a:extLst>
              </a:tr>
              <a:tr h="364729">
                <a:tc>
                  <a:txBody>
                    <a:bodyPr/>
                    <a:lstStyle/>
                    <a:p>
                      <a:r>
                        <a:rPr lang="en-GB" dirty="0"/>
                        <a:t>X = false</a:t>
                      </a:r>
                    </a:p>
                  </a:txBody>
                  <a:tcPr/>
                </a:tc>
                <a:tc>
                  <a:txBody>
                    <a:bodyPr/>
                    <a:lstStyle/>
                    <a:p>
                      <a:r>
                        <a:rPr lang="en-GB" dirty="0"/>
                        <a:t>9/48 = 3/16</a:t>
                      </a:r>
                    </a:p>
                  </a:txBody>
                  <a:tcPr/>
                </a:tc>
                <a:tc>
                  <a:txBody>
                    <a:bodyPr/>
                    <a:lstStyle/>
                    <a:p>
                      <a:r>
                        <a:rPr lang="en-GB" dirty="0"/>
                        <a:t>15/48 = 5/16</a:t>
                      </a:r>
                    </a:p>
                  </a:txBody>
                  <a:tcPr/>
                </a:tc>
                <a:extLst>
                  <a:ext uri="{0D108BD9-81ED-4DB2-BD59-A6C34878D82A}">
                    <a16:rowId xmlns:a16="http://schemas.microsoft.com/office/drawing/2014/main" val="3492839534"/>
                  </a:ext>
                </a:extLst>
              </a:tr>
            </a:tbl>
          </a:graphicData>
        </a:graphic>
      </p:graphicFrame>
      <p:graphicFrame>
        <p:nvGraphicFramePr>
          <p:cNvPr id="4" name="Table 3">
            <a:extLst>
              <a:ext uri="{FF2B5EF4-FFF2-40B4-BE49-F238E27FC236}">
                <a16:creationId xmlns:a16="http://schemas.microsoft.com/office/drawing/2014/main" id="{060633CB-68CC-9C70-C3FF-26C13FEE7D47}"/>
              </a:ext>
            </a:extLst>
          </p:cNvPr>
          <p:cNvGraphicFramePr>
            <a:graphicFrameLocks noGrp="1"/>
          </p:cNvGraphicFramePr>
          <p:nvPr>
            <p:extLst>
              <p:ext uri="{D42A27DB-BD31-4B8C-83A1-F6EECF244321}">
                <p14:modId xmlns:p14="http://schemas.microsoft.com/office/powerpoint/2010/main" val="2544200638"/>
              </p:ext>
            </p:extLst>
          </p:nvPr>
        </p:nvGraphicFramePr>
        <p:xfrm>
          <a:off x="6836950" y="5665728"/>
          <a:ext cx="5037741" cy="1097280"/>
        </p:xfrm>
        <a:graphic>
          <a:graphicData uri="http://schemas.openxmlformats.org/drawingml/2006/table">
            <a:tbl>
              <a:tblPr firstRow="1" bandRow="1">
                <a:tableStyleId>{5C22544A-7EE6-4342-B048-85BDC9FD1C3A}</a:tableStyleId>
              </a:tblPr>
              <a:tblGrid>
                <a:gridCol w="1121188">
                  <a:extLst>
                    <a:ext uri="{9D8B030D-6E8A-4147-A177-3AD203B41FA5}">
                      <a16:colId xmlns:a16="http://schemas.microsoft.com/office/drawing/2014/main" val="1757476788"/>
                    </a:ext>
                  </a:extLst>
                </a:gridCol>
                <a:gridCol w="1707356">
                  <a:extLst>
                    <a:ext uri="{9D8B030D-6E8A-4147-A177-3AD203B41FA5}">
                      <a16:colId xmlns:a16="http://schemas.microsoft.com/office/drawing/2014/main" val="4184141510"/>
                    </a:ext>
                  </a:extLst>
                </a:gridCol>
                <a:gridCol w="2209197">
                  <a:extLst>
                    <a:ext uri="{9D8B030D-6E8A-4147-A177-3AD203B41FA5}">
                      <a16:colId xmlns:a16="http://schemas.microsoft.com/office/drawing/2014/main" val="2245039948"/>
                    </a:ext>
                  </a:extLst>
                </a:gridCol>
              </a:tblGrid>
              <a:tr h="364729">
                <a:tc>
                  <a:txBody>
                    <a:bodyPr/>
                    <a:lstStyle/>
                    <a:p>
                      <a:r>
                        <a:rPr lang="en-GB" dirty="0"/>
                        <a:t>P(X|Y)</a:t>
                      </a:r>
                    </a:p>
                  </a:txBody>
                  <a:tcPr/>
                </a:tc>
                <a:tc>
                  <a:txBody>
                    <a:bodyPr/>
                    <a:lstStyle/>
                    <a:p>
                      <a:r>
                        <a:rPr lang="en-GB" dirty="0"/>
                        <a:t>Y = true</a:t>
                      </a:r>
                    </a:p>
                  </a:txBody>
                  <a:tcPr/>
                </a:tc>
                <a:tc>
                  <a:txBody>
                    <a:bodyPr/>
                    <a:lstStyle/>
                    <a:p>
                      <a:r>
                        <a:rPr lang="en-GB" dirty="0"/>
                        <a:t>Y = false</a:t>
                      </a:r>
                    </a:p>
                  </a:txBody>
                  <a:tcPr/>
                </a:tc>
                <a:extLst>
                  <a:ext uri="{0D108BD9-81ED-4DB2-BD59-A6C34878D82A}">
                    <a16:rowId xmlns:a16="http://schemas.microsoft.com/office/drawing/2014/main" val="3821084729"/>
                  </a:ext>
                </a:extLst>
              </a:tr>
              <a:tr h="364729">
                <a:tc>
                  <a:txBody>
                    <a:bodyPr/>
                    <a:lstStyle/>
                    <a:p>
                      <a:r>
                        <a:rPr lang="en-GB" dirty="0"/>
                        <a:t>X = true</a:t>
                      </a:r>
                    </a:p>
                  </a:txBody>
                  <a:tcPr/>
                </a:tc>
                <a:tc>
                  <a:txBody>
                    <a:bodyPr/>
                    <a:lstStyle/>
                    <a:p>
                      <a:r>
                        <a:rPr lang="en-GB" dirty="0"/>
                        <a:t>3/16 x 8/3 = 0.5</a:t>
                      </a:r>
                    </a:p>
                  </a:txBody>
                  <a:tcPr/>
                </a:tc>
                <a:tc>
                  <a:txBody>
                    <a:bodyPr/>
                    <a:lstStyle/>
                    <a:p>
                      <a:r>
                        <a:rPr lang="en-GB" dirty="0"/>
                        <a:t>5/16 x 8/5 = 0.5</a:t>
                      </a:r>
                    </a:p>
                  </a:txBody>
                  <a:tcPr/>
                </a:tc>
                <a:extLst>
                  <a:ext uri="{0D108BD9-81ED-4DB2-BD59-A6C34878D82A}">
                    <a16:rowId xmlns:a16="http://schemas.microsoft.com/office/drawing/2014/main" val="2996877250"/>
                  </a:ext>
                </a:extLst>
              </a:tr>
              <a:tr h="364729">
                <a:tc>
                  <a:txBody>
                    <a:bodyPr/>
                    <a:lstStyle/>
                    <a:p>
                      <a:r>
                        <a:rPr lang="en-GB" dirty="0"/>
                        <a:t>X = false</a:t>
                      </a:r>
                    </a:p>
                  </a:txBody>
                  <a:tcPr/>
                </a:tc>
                <a:tc>
                  <a:txBody>
                    <a:bodyPr/>
                    <a:lstStyle/>
                    <a:p>
                      <a:r>
                        <a:rPr lang="en-GB" dirty="0"/>
                        <a:t>3/16 x 8/3 = 0.5</a:t>
                      </a:r>
                    </a:p>
                  </a:txBody>
                  <a:tcPr/>
                </a:tc>
                <a:tc>
                  <a:txBody>
                    <a:bodyPr/>
                    <a:lstStyle/>
                    <a:p>
                      <a:r>
                        <a:rPr lang="en-GB" dirty="0"/>
                        <a:t>5/16 x 8/5 = 0.5</a:t>
                      </a:r>
                    </a:p>
                  </a:txBody>
                  <a:tcPr/>
                </a:tc>
                <a:extLst>
                  <a:ext uri="{0D108BD9-81ED-4DB2-BD59-A6C34878D82A}">
                    <a16:rowId xmlns:a16="http://schemas.microsoft.com/office/drawing/2014/main" val="3492839534"/>
                  </a:ext>
                </a:extLst>
              </a:tr>
            </a:tbl>
          </a:graphicData>
        </a:graphic>
      </p:graphicFrame>
      <p:graphicFrame>
        <p:nvGraphicFramePr>
          <p:cNvPr id="15" name="Table 14">
            <a:extLst>
              <a:ext uri="{FF2B5EF4-FFF2-40B4-BE49-F238E27FC236}">
                <a16:creationId xmlns:a16="http://schemas.microsoft.com/office/drawing/2014/main" id="{954E145C-1221-8A9A-F62A-9653B6C7F4A1}"/>
              </a:ext>
            </a:extLst>
          </p:cNvPr>
          <p:cNvGraphicFramePr>
            <a:graphicFrameLocks noGrp="1"/>
          </p:cNvGraphicFramePr>
          <p:nvPr>
            <p:extLst>
              <p:ext uri="{D42A27DB-BD31-4B8C-83A1-F6EECF244321}">
                <p14:modId xmlns:p14="http://schemas.microsoft.com/office/powerpoint/2010/main" val="518738025"/>
              </p:ext>
            </p:extLst>
          </p:nvPr>
        </p:nvGraphicFramePr>
        <p:xfrm>
          <a:off x="6737319" y="3883936"/>
          <a:ext cx="5355054" cy="1097280"/>
        </p:xfrm>
        <a:graphic>
          <a:graphicData uri="http://schemas.openxmlformats.org/drawingml/2006/table">
            <a:tbl>
              <a:tblPr firstRow="1" bandRow="1">
                <a:tableStyleId>{5C22544A-7EE6-4342-B048-85BDC9FD1C3A}</a:tableStyleId>
              </a:tblPr>
              <a:tblGrid>
                <a:gridCol w="2677527">
                  <a:extLst>
                    <a:ext uri="{9D8B030D-6E8A-4147-A177-3AD203B41FA5}">
                      <a16:colId xmlns:a16="http://schemas.microsoft.com/office/drawing/2014/main" val="1757476788"/>
                    </a:ext>
                  </a:extLst>
                </a:gridCol>
                <a:gridCol w="2677527">
                  <a:extLst>
                    <a:ext uri="{9D8B030D-6E8A-4147-A177-3AD203B41FA5}">
                      <a16:colId xmlns:a16="http://schemas.microsoft.com/office/drawing/2014/main" val="4184141510"/>
                    </a:ext>
                  </a:extLst>
                </a:gridCol>
              </a:tblGrid>
              <a:tr h="364729">
                <a:tc>
                  <a:txBody>
                    <a:bodyPr/>
                    <a:lstStyle/>
                    <a:p>
                      <a:endParaRPr lang="en-GB" dirty="0"/>
                    </a:p>
                  </a:txBody>
                  <a:tcPr/>
                </a:tc>
                <a:tc>
                  <a:txBody>
                    <a:bodyPr/>
                    <a:lstStyle/>
                    <a:p>
                      <a:r>
                        <a:rPr lang="en-GB" dirty="0"/>
                        <a:t>P(Y)</a:t>
                      </a:r>
                    </a:p>
                  </a:txBody>
                  <a:tcPr/>
                </a:tc>
                <a:extLst>
                  <a:ext uri="{0D108BD9-81ED-4DB2-BD59-A6C34878D82A}">
                    <a16:rowId xmlns:a16="http://schemas.microsoft.com/office/drawing/2014/main" val="3821084729"/>
                  </a:ext>
                </a:extLst>
              </a:tr>
              <a:tr h="364729">
                <a:tc>
                  <a:txBody>
                    <a:bodyPr/>
                    <a:lstStyle/>
                    <a:p>
                      <a:r>
                        <a:rPr lang="en-GB" dirty="0"/>
                        <a:t>Y = true</a:t>
                      </a:r>
                    </a:p>
                  </a:txBody>
                  <a:tcPr/>
                </a:tc>
                <a:tc>
                  <a:txBody>
                    <a:bodyPr/>
                    <a:lstStyle/>
                    <a:p>
                      <a:r>
                        <a:rPr lang="en-GB" dirty="0"/>
                        <a:t>(3+3)/16 = 3/8</a:t>
                      </a:r>
                    </a:p>
                  </a:txBody>
                  <a:tcPr/>
                </a:tc>
                <a:extLst>
                  <a:ext uri="{0D108BD9-81ED-4DB2-BD59-A6C34878D82A}">
                    <a16:rowId xmlns:a16="http://schemas.microsoft.com/office/drawing/2014/main" val="2996877250"/>
                  </a:ext>
                </a:extLst>
              </a:tr>
              <a:tr h="364729">
                <a:tc>
                  <a:txBody>
                    <a:bodyPr/>
                    <a:lstStyle/>
                    <a:p>
                      <a:r>
                        <a:rPr lang="en-GB" dirty="0"/>
                        <a:t>Y = false</a:t>
                      </a:r>
                    </a:p>
                  </a:txBody>
                  <a:tcPr/>
                </a:tc>
                <a:tc>
                  <a:txBody>
                    <a:bodyPr/>
                    <a:lstStyle/>
                    <a:p>
                      <a:r>
                        <a:rPr lang="en-GB" dirty="0"/>
                        <a:t>(5+5)/16 = 5/8</a:t>
                      </a:r>
                    </a:p>
                  </a:txBody>
                  <a:tcPr/>
                </a:tc>
                <a:extLst>
                  <a:ext uri="{0D108BD9-81ED-4DB2-BD59-A6C34878D82A}">
                    <a16:rowId xmlns:a16="http://schemas.microsoft.com/office/drawing/2014/main" val="3492839534"/>
                  </a:ext>
                </a:extLst>
              </a:tr>
            </a:tbl>
          </a:graphicData>
        </a:graphic>
      </p:graphicFrame>
    </p:spTree>
    <p:extLst>
      <p:ext uri="{BB962C8B-B14F-4D97-AF65-F5344CB8AC3E}">
        <p14:creationId xmlns:p14="http://schemas.microsoft.com/office/powerpoint/2010/main" val="40572241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28FEA8-7FBF-9ABC-3AAF-D5D24471EBD7}"/>
              </a:ext>
            </a:extLst>
          </p:cNvPr>
          <p:cNvSpPr>
            <a:spLocks noGrp="1"/>
          </p:cNvSpPr>
          <p:nvPr>
            <p:ph type="title"/>
          </p:nvPr>
        </p:nvSpPr>
        <p:spPr>
          <a:xfrm>
            <a:off x="2549236" y="533614"/>
            <a:ext cx="9210963" cy="888786"/>
          </a:xfrm>
        </p:spPr>
        <p:txBody>
          <a:bodyPr anchor="t">
            <a:normAutofit/>
          </a:bodyPr>
          <a:lstStyle/>
          <a:p>
            <a:r>
              <a:rPr lang="en-GB" dirty="0"/>
              <a:t>Back to Bigrams</a:t>
            </a:r>
          </a:p>
        </p:txBody>
      </p:sp>
      <p:pic>
        <p:nvPicPr>
          <p:cNvPr id="4" name="Picture 2" descr="The Metamorphosis">
            <a:extLst>
              <a:ext uri="{FF2B5EF4-FFF2-40B4-BE49-F238E27FC236}">
                <a16:creationId xmlns:a16="http://schemas.microsoft.com/office/drawing/2014/main" id="{45E2870B-2212-0B79-C16A-D4EB8F482D7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l="7345" r="11757" b="-3"/>
          <a:stretch/>
        </p:blipFill>
        <p:spPr bwMode="auto">
          <a:xfrm>
            <a:off x="-1" y="1699336"/>
            <a:ext cx="2452283" cy="4575733"/>
          </a:xfrm>
          <a:prstGeom prst="rect">
            <a:avLst/>
          </a:prstGeom>
          <a:solidFill>
            <a:srgbClr val="FFFFFF"/>
          </a:solidFill>
        </p:spPr>
      </p:pic>
      <p:sp>
        <p:nvSpPr>
          <p:cNvPr id="3" name="Content Placeholder 2">
            <a:extLst>
              <a:ext uri="{FF2B5EF4-FFF2-40B4-BE49-F238E27FC236}">
                <a16:creationId xmlns:a16="http://schemas.microsoft.com/office/drawing/2014/main" id="{B1C77831-4AF2-44EF-24BF-9A6E57671046}"/>
              </a:ext>
            </a:extLst>
          </p:cNvPr>
          <p:cNvSpPr>
            <a:spLocks noGrp="1"/>
          </p:cNvSpPr>
          <p:nvPr>
            <p:ph type="body" sz="quarter" idx="14"/>
          </p:nvPr>
        </p:nvSpPr>
        <p:spPr>
          <a:xfrm>
            <a:off x="2549235" y="1705343"/>
            <a:ext cx="9210963" cy="4526124"/>
          </a:xfrm>
        </p:spPr>
        <p:txBody>
          <a:bodyPr>
            <a:normAutofit/>
          </a:bodyPr>
          <a:lstStyle/>
          <a:p>
            <a:pPr marL="0" indent="0">
              <a:buNone/>
            </a:pPr>
            <a:r>
              <a:rPr lang="en-US" b="0" i="0" dirty="0">
                <a:effectLst/>
              </a:rPr>
              <a:t>From the vector of character codes that make up "Metamorphosis" we can take every </a:t>
            </a:r>
            <a:r>
              <a:rPr lang="en-US" b="0" i="1" dirty="0">
                <a:effectLst/>
              </a:rPr>
              <a:t>pair of characters</a:t>
            </a:r>
            <a:r>
              <a:rPr lang="en-US" b="0" i="0" dirty="0">
                <a:effectLst/>
              </a:rPr>
              <a:t>, in order that they appear.</a:t>
            </a:r>
          </a:p>
          <a:p>
            <a:pPr>
              <a:buFont typeface="Arial" panose="020B0604020202020204" pitchFamily="34" charset="0"/>
              <a:buChar char="•"/>
            </a:pPr>
            <a:r>
              <a:rPr lang="en-US" b="0" i="0" dirty="0">
                <a:effectLst/>
              </a:rPr>
              <a:t>The </a:t>
            </a:r>
            <a:r>
              <a:rPr lang="en-US" b="1" i="0" dirty="0">
                <a:effectLst/>
              </a:rPr>
              <a:t>joint distribution </a:t>
            </a:r>
            <a:r>
              <a:rPr lang="en-US" b="0" i="0" dirty="0">
                <a:effectLst/>
              </a:rPr>
              <a:t>of bigrams </a:t>
            </a:r>
            <a:r>
              <a:rPr lang="en-US" b="0" dirty="0">
                <a:effectLst/>
              </a:rPr>
              <a:t>P(c</a:t>
            </a:r>
            <a:r>
              <a:rPr lang="en-US" b="0" baseline="-25000" dirty="0">
                <a:effectLst/>
              </a:rPr>
              <a:t>i</a:t>
            </a:r>
            <a:r>
              <a:rPr lang="en-US" b="0" dirty="0">
                <a:effectLst/>
              </a:rPr>
              <a:t>, c</a:t>
            </a:r>
            <a:r>
              <a:rPr lang="en-US" b="0" baseline="-25000" dirty="0">
                <a:effectLst/>
              </a:rPr>
              <a:t>i−1</a:t>
            </a:r>
            <a:r>
              <a:rPr lang="en-US" b="0" dirty="0">
                <a:effectLst/>
              </a:rPr>
              <a:t>)</a:t>
            </a:r>
            <a:r>
              <a:rPr lang="en-US" b="0" i="0" dirty="0">
                <a:effectLst/>
              </a:rPr>
              <a:t> is given by the normalized count of each character pair.</a:t>
            </a:r>
          </a:p>
          <a:p>
            <a:pPr>
              <a:buFont typeface="Arial" panose="020B0604020202020204" pitchFamily="34" charset="0"/>
              <a:buChar char="•"/>
            </a:pPr>
            <a:r>
              <a:rPr lang="en-US" b="0" i="0" dirty="0">
                <a:effectLst/>
              </a:rPr>
              <a:t>The </a:t>
            </a:r>
            <a:r>
              <a:rPr lang="en-US" b="1" i="0" dirty="0">
                <a:effectLst/>
              </a:rPr>
              <a:t>marginal distribution</a:t>
            </a:r>
            <a:r>
              <a:rPr lang="en-US" b="0" i="0" dirty="0">
                <a:effectLst/>
              </a:rPr>
              <a:t> </a:t>
            </a:r>
            <a:r>
              <a:rPr lang="en-US" b="0" dirty="0">
                <a:effectLst/>
              </a:rPr>
              <a:t>P(c</a:t>
            </a:r>
            <a:r>
              <a:rPr lang="en-US" b="0" baseline="-25000" dirty="0">
                <a:effectLst/>
              </a:rPr>
              <a:t>i</a:t>
            </a:r>
            <a:r>
              <a:rPr lang="en-US" b="0" dirty="0">
                <a:effectLst/>
              </a:rPr>
              <a:t>)</a:t>
            </a:r>
            <a:r>
              <a:rPr lang="en-US" b="0" i="0" dirty="0">
                <a:effectLst/>
              </a:rPr>
              <a:t> can be computed from </a:t>
            </a:r>
            <a:r>
              <a:rPr lang="en-US" b="0" dirty="0">
                <a:effectLst/>
              </a:rPr>
              <a:t>P(c</a:t>
            </a:r>
            <a:r>
              <a:rPr lang="en-US" b="0" baseline="-25000" dirty="0">
                <a:effectLst/>
              </a:rPr>
              <a:t>i</a:t>
            </a:r>
            <a:r>
              <a:rPr lang="en-US" b="0" dirty="0">
                <a:effectLst/>
              </a:rPr>
              <a:t>,c</a:t>
            </a:r>
            <a:r>
              <a:rPr lang="en-US" b="0" baseline="-25000" dirty="0">
                <a:effectLst/>
              </a:rPr>
              <a:t>i−1</a:t>
            </a:r>
            <a:r>
              <a:rPr lang="en-US" b="0" dirty="0">
                <a:effectLst/>
              </a:rPr>
              <a:t>) </a:t>
            </a:r>
            <a:r>
              <a:rPr lang="en-US" b="0" i="0" dirty="0">
                <a:effectLst/>
              </a:rPr>
              <a:t>by summing over every possible character </a:t>
            </a:r>
            <a:r>
              <a:rPr lang="en-US" b="0" dirty="0">
                <a:effectLst/>
              </a:rPr>
              <a:t>c</a:t>
            </a:r>
            <a:r>
              <a:rPr lang="en-US" b="0" baseline="-25000" dirty="0">
                <a:effectLst/>
              </a:rPr>
              <a:t>i−1</a:t>
            </a:r>
            <a:r>
              <a:rPr lang="en-US" b="0" i="0" dirty="0">
                <a:effectLst/>
              </a:rPr>
              <a:t>, and likewise to </a:t>
            </a:r>
            <a:r>
              <a:rPr lang="en-US" b="0" i="0" dirty="0" err="1">
                <a:effectLst/>
              </a:rPr>
              <a:t>marginalise</a:t>
            </a:r>
            <a:r>
              <a:rPr lang="en-US" b="0" i="0" dirty="0">
                <a:effectLst/>
              </a:rPr>
              <a:t> to find </a:t>
            </a:r>
            <a:r>
              <a:rPr lang="en-US" b="0" dirty="0">
                <a:effectLst/>
              </a:rPr>
              <a:t>P(c</a:t>
            </a:r>
            <a:r>
              <a:rPr lang="en-US" b="0" baseline="-25000" dirty="0">
                <a:effectLst/>
              </a:rPr>
              <a:t>i−1</a:t>
            </a:r>
            <a:r>
              <a:rPr lang="en-US" b="0" dirty="0">
                <a:effectLst/>
              </a:rPr>
              <a:t>)</a:t>
            </a:r>
          </a:p>
          <a:p>
            <a:pPr>
              <a:buFont typeface="Arial" panose="020B0604020202020204" pitchFamily="34" charset="0"/>
              <a:buChar char="•"/>
            </a:pPr>
            <a:r>
              <a:rPr lang="en-US" b="0" i="0" dirty="0">
                <a:effectLst/>
              </a:rPr>
              <a:t>The </a:t>
            </a:r>
            <a:r>
              <a:rPr lang="en-US" b="1" i="0" dirty="0">
                <a:effectLst/>
              </a:rPr>
              <a:t>conditional distribution</a:t>
            </a:r>
            <a:r>
              <a:rPr lang="en-US" b="0" i="0" dirty="0">
                <a:effectLst/>
              </a:rPr>
              <a:t> </a:t>
            </a:r>
            <a:r>
              <a:rPr lang="en-US" b="0" dirty="0">
                <a:effectLst/>
              </a:rPr>
              <a:t>P(c</a:t>
            </a:r>
            <a:r>
              <a:rPr lang="en-US" b="0" baseline="-25000" dirty="0">
                <a:effectLst/>
              </a:rPr>
              <a:t>i</a:t>
            </a:r>
            <a:r>
              <a:rPr lang="en-US" b="0" dirty="0">
                <a:effectLst/>
              </a:rPr>
              <a:t>|c</a:t>
            </a:r>
            <a:r>
              <a:rPr lang="en-US" b="0" baseline="-25000" dirty="0">
                <a:effectLst/>
              </a:rPr>
              <a:t>i−1</a:t>
            </a:r>
            <a:r>
              <a:rPr lang="en-US" b="0" dirty="0">
                <a:effectLst/>
              </a:rPr>
              <a:t>)</a:t>
            </a:r>
            <a:r>
              <a:rPr lang="en-US" b="0" i="0" dirty="0">
                <a:effectLst/>
              </a:rPr>
              <a:t> is given by the joint distribution, divided by the counts of </a:t>
            </a:r>
            <a:r>
              <a:rPr lang="en-US" b="0" dirty="0">
                <a:effectLst/>
              </a:rPr>
              <a:t>P(c</a:t>
            </a:r>
            <a:r>
              <a:rPr lang="en-US" b="0" baseline="-25000" dirty="0">
                <a:effectLst/>
              </a:rPr>
              <a:t>i−1</a:t>
            </a:r>
            <a:r>
              <a:rPr lang="en-US" b="0" dirty="0">
                <a:effectLst/>
              </a:rPr>
              <a:t>)</a:t>
            </a:r>
            <a:r>
              <a:rPr lang="en-US" b="0" i="0" dirty="0">
                <a:effectLst/>
              </a:rPr>
              <a:t>. It tells us how likely we are to observe a specific character c</a:t>
            </a:r>
            <a:r>
              <a:rPr lang="en-US" b="0" i="0" baseline="-25000" dirty="0">
                <a:effectLst/>
              </a:rPr>
              <a:t>i</a:t>
            </a:r>
            <a:r>
              <a:rPr lang="en-US" b="0" i="0" dirty="0">
                <a:effectLst/>
              </a:rPr>
              <a:t> </a:t>
            </a:r>
            <a:r>
              <a:rPr lang="en-US" b="0" i="1" dirty="0">
                <a:effectLst/>
              </a:rPr>
              <a:t>given</a:t>
            </a:r>
            <a:r>
              <a:rPr lang="en-US" b="0" i="0" dirty="0">
                <a:effectLst/>
              </a:rPr>
              <a:t> that we have observed a character </a:t>
            </a:r>
            <a:r>
              <a:rPr lang="en-US" b="0" dirty="0">
                <a:effectLst/>
              </a:rPr>
              <a:t>c</a:t>
            </a:r>
            <a:r>
              <a:rPr lang="en-US" b="0" baseline="-25000" dirty="0">
                <a:effectLst/>
              </a:rPr>
              <a:t>i−1</a:t>
            </a:r>
            <a:r>
              <a:rPr lang="en-US" b="0" i="0" dirty="0">
                <a:effectLst/>
              </a:rPr>
              <a:t> just beforehand.</a:t>
            </a:r>
          </a:p>
          <a:p>
            <a:endParaRPr lang="en-GB" dirty="0"/>
          </a:p>
        </p:txBody>
      </p:sp>
    </p:spTree>
    <p:extLst>
      <p:ext uri="{BB962C8B-B14F-4D97-AF65-F5344CB8AC3E}">
        <p14:creationId xmlns:p14="http://schemas.microsoft.com/office/powerpoint/2010/main" val="42378514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8BA75-A768-DD83-EFB4-25A831B2C2D9}"/>
              </a:ext>
            </a:extLst>
          </p:cNvPr>
          <p:cNvSpPr>
            <a:spLocks noGrp="1"/>
          </p:cNvSpPr>
          <p:nvPr>
            <p:ph type="title"/>
          </p:nvPr>
        </p:nvSpPr>
        <p:spPr>
          <a:xfrm>
            <a:off x="741680" y="2123676"/>
            <a:ext cx="4027169" cy="1600200"/>
          </a:xfrm>
        </p:spPr>
        <p:txBody>
          <a:bodyPr vert="horz" lIns="91440" tIns="45720" rIns="91440" bIns="45720" rtlCol="0" anchor="t">
            <a:normAutofit/>
          </a:bodyPr>
          <a:lstStyle/>
          <a:p>
            <a:r>
              <a:rPr lang="en-GB" b="1" kern="1200">
                <a:latin typeface="Arial" panose="020B0604020202020204" pitchFamily="34" charset="0"/>
                <a:ea typeface="+mj-ea"/>
                <a:cs typeface="Arial" panose="020B0604020202020204" pitchFamily="34" charset="0"/>
              </a:rPr>
              <a:t>Bigrams: Joint probability</a:t>
            </a:r>
          </a:p>
        </p:txBody>
      </p:sp>
      <p:sp>
        <p:nvSpPr>
          <p:cNvPr id="7" name="TextBox 6">
            <a:extLst>
              <a:ext uri="{FF2B5EF4-FFF2-40B4-BE49-F238E27FC236}">
                <a16:creationId xmlns:a16="http://schemas.microsoft.com/office/drawing/2014/main" id="{7C7EDA78-8DFB-6C35-8B64-145D9E3E7C5A}"/>
              </a:ext>
            </a:extLst>
          </p:cNvPr>
          <p:cNvSpPr txBox="1"/>
          <p:nvPr/>
        </p:nvSpPr>
        <p:spPr>
          <a:xfrm>
            <a:off x="741679" y="3934224"/>
            <a:ext cx="3686483" cy="1934763"/>
          </a:xfrm>
          <a:prstGeom prst="rect">
            <a:avLst/>
          </a:prstGeom>
        </p:spPr>
        <p:txBody>
          <a:bodyPr vert="horz" lIns="91440" tIns="45720" rIns="91440" bIns="45720" rtlCol="0">
            <a:normAutofit/>
          </a:bodyPr>
          <a:lstStyle/>
          <a:p>
            <a:pPr>
              <a:lnSpc>
                <a:spcPct val="90000"/>
              </a:lnSpc>
              <a:spcBef>
                <a:spcPts val="1000"/>
              </a:spcBef>
            </a:pPr>
            <a:r>
              <a:rPr lang="en-GB" sz="2400" b="0" i="0" kern="1200" dirty="0">
                <a:solidFill>
                  <a:schemeClr val="accent1">
                    <a:lumMod val="50000"/>
                  </a:schemeClr>
                </a:solidFill>
                <a:effectLst/>
                <a:latin typeface="Arial" panose="020B0604020202020204" pitchFamily="34" charset="0"/>
                <a:ea typeface="+mn-ea"/>
                <a:cs typeface="Arial" panose="020B0604020202020204" pitchFamily="34" charset="0"/>
              </a:rPr>
              <a:t>The joint probability for a bigram is P(c</a:t>
            </a:r>
            <a:r>
              <a:rPr lang="en-GB" sz="2400" b="0" i="0" kern="1200" baseline="-25000" dirty="0">
                <a:solidFill>
                  <a:schemeClr val="accent1">
                    <a:lumMod val="50000"/>
                  </a:schemeClr>
                </a:solidFill>
                <a:effectLst/>
                <a:latin typeface="Arial" panose="020B0604020202020204" pitchFamily="34" charset="0"/>
                <a:ea typeface="+mn-ea"/>
                <a:cs typeface="Arial" panose="020B0604020202020204" pitchFamily="34" charset="0"/>
              </a:rPr>
              <a:t>i</a:t>
            </a:r>
            <a:r>
              <a:rPr lang="en-GB" sz="2400" b="0" i="0" kern="1200" dirty="0">
                <a:solidFill>
                  <a:schemeClr val="accent1">
                    <a:lumMod val="50000"/>
                  </a:schemeClr>
                </a:solidFill>
                <a:effectLst/>
                <a:latin typeface="Arial" panose="020B0604020202020204" pitchFamily="34" charset="0"/>
                <a:ea typeface="+mn-ea"/>
                <a:cs typeface="Arial" panose="020B0604020202020204" pitchFamily="34" charset="0"/>
              </a:rPr>
              <a:t>, c</a:t>
            </a:r>
            <a:r>
              <a:rPr lang="en-GB" sz="2400" b="0" i="0" kern="1200" baseline="-25000" dirty="0">
                <a:solidFill>
                  <a:schemeClr val="accent1">
                    <a:lumMod val="50000"/>
                  </a:schemeClr>
                </a:solidFill>
                <a:effectLst/>
                <a:latin typeface="Arial" panose="020B0604020202020204" pitchFamily="34" charset="0"/>
                <a:ea typeface="+mn-ea"/>
                <a:cs typeface="Arial" panose="020B0604020202020204" pitchFamily="34" charset="0"/>
              </a:rPr>
              <a:t>i-1</a:t>
            </a:r>
            <a:r>
              <a:rPr lang="en-GB" sz="2400" b="0" kern="1200" dirty="0">
                <a:solidFill>
                  <a:schemeClr val="accent1">
                    <a:lumMod val="50000"/>
                  </a:schemeClr>
                </a:solidFill>
                <a:effectLst/>
                <a:latin typeface="Arial" panose="020B0604020202020204" pitchFamily="34" charset="0"/>
                <a:ea typeface="+mn-ea"/>
                <a:cs typeface="Arial" panose="020B0604020202020204" pitchFamily="34" charset="0"/>
              </a:rPr>
              <a:t>)</a:t>
            </a:r>
            <a:endParaRPr lang="en-GB" sz="2400" kern="1200" dirty="0">
              <a:solidFill>
                <a:schemeClr val="accent1">
                  <a:lumMod val="50000"/>
                </a:schemeClr>
              </a:solidFill>
              <a:latin typeface="Arial" panose="020B0604020202020204" pitchFamily="34" charset="0"/>
              <a:ea typeface="+mn-ea"/>
              <a:cs typeface="Arial" panose="020B0604020202020204" pitchFamily="34" charset="0"/>
            </a:endParaRPr>
          </a:p>
        </p:txBody>
      </p:sp>
      <p:pic>
        <p:nvPicPr>
          <p:cNvPr id="9" name="Picture 8">
            <a:extLst>
              <a:ext uri="{FF2B5EF4-FFF2-40B4-BE49-F238E27FC236}">
                <a16:creationId xmlns:a16="http://schemas.microsoft.com/office/drawing/2014/main" id="{6E59D3C1-BE69-D613-2F80-BAE9B1A3ED5F}"/>
              </a:ext>
            </a:extLst>
          </p:cNvPr>
          <p:cNvPicPr>
            <a:picLocks noChangeAspect="1"/>
          </p:cNvPicPr>
          <p:nvPr/>
        </p:nvPicPr>
        <p:blipFill>
          <a:blip r:embed="rId2"/>
          <a:stretch>
            <a:fillRect/>
          </a:stretch>
        </p:blipFill>
        <p:spPr>
          <a:xfrm>
            <a:off x="4428162" y="2878543"/>
            <a:ext cx="7496599" cy="1690666"/>
          </a:xfrm>
          <a:prstGeom prst="rect">
            <a:avLst/>
          </a:prstGeom>
        </p:spPr>
      </p:pic>
    </p:spTree>
    <p:extLst>
      <p:ext uri="{BB962C8B-B14F-4D97-AF65-F5344CB8AC3E}">
        <p14:creationId xmlns:p14="http://schemas.microsoft.com/office/powerpoint/2010/main" val="16028465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BA9F8-D191-98B0-EFFC-66AA4A6A88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A0143A-7E41-A71D-6FBD-7852078CB7DD}"/>
              </a:ext>
            </a:extLst>
          </p:cNvPr>
          <p:cNvSpPr>
            <a:spLocks noGrp="1"/>
          </p:cNvSpPr>
          <p:nvPr>
            <p:ph type="title"/>
          </p:nvPr>
        </p:nvSpPr>
        <p:spPr>
          <a:xfrm>
            <a:off x="741680" y="2123676"/>
            <a:ext cx="4027169" cy="1600200"/>
          </a:xfrm>
        </p:spPr>
        <p:txBody>
          <a:bodyPr vert="horz" lIns="91440" tIns="45720" rIns="91440" bIns="45720" rtlCol="0" anchor="t">
            <a:normAutofit/>
          </a:bodyPr>
          <a:lstStyle/>
          <a:p>
            <a:r>
              <a:rPr lang="en-GB" b="1" kern="1200">
                <a:latin typeface="Arial" panose="020B0604020202020204" pitchFamily="34" charset="0"/>
                <a:ea typeface="+mj-ea"/>
                <a:cs typeface="Arial" panose="020B0604020202020204" pitchFamily="34" charset="0"/>
              </a:rPr>
              <a:t>Bigrams: Joint probability</a:t>
            </a:r>
          </a:p>
        </p:txBody>
      </p:sp>
      <p:sp>
        <p:nvSpPr>
          <p:cNvPr id="7" name="TextBox 6">
            <a:extLst>
              <a:ext uri="{FF2B5EF4-FFF2-40B4-BE49-F238E27FC236}">
                <a16:creationId xmlns:a16="http://schemas.microsoft.com/office/drawing/2014/main" id="{FE8F364F-853B-140D-A69C-1607D4248BC6}"/>
              </a:ext>
            </a:extLst>
          </p:cNvPr>
          <p:cNvSpPr txBox="1"/>
          <p:nvPr/>
        </p:nvSpPr>
        <p:spPr>
          <a:xfrm>
            <a:off x="741680" y="3934224"/>
            <a:ext cx="4030345" cy="1934763"/>
          </a:xfrm>
          <a:prstGeom prst="rect">
            <a:avLst/>
          </a:prstGeom>
        </p:spPr>
        <p:txBody>
          <a:bodyPr vert="horz" lIns="91440" tIns="45720" rIns="91440" bIns="45720" rtlCol="0">
            <a:normAutofit fontScale="92500"/>
          </a:bodyPr>
          <a:lstStyle/>
          <a:p>
            <a:pPr>
              <a:lnSpc>
                <a:spcPct val="90000"/>
              </a:lnSpc>
              <a:spcBef>
                <a:spcPts val="1000"/>
              </a:spcBef>
            </a:pPr>
            <a:r>
              <a:rPr lang="en-GB" sz="2400" b="0" i="0" kern="1200" dirty="0">
                <a:solidFill>
                  <a:schemeClr val="accent1">
                    <a:lumMod val="50000"/>
                  </a:schemeClr>
                </a:solidFill>
                <a:effectLst/>
                <a:latin typeface="Arial" panose="020B0604020202020204" pitchFamily="34" charset="0"/>
                <a:ea typeface="+mn-ea"/>
                <a:cs typeface="Arial" panose="020B0604020202020204" pitchFamily="34" charset="0"/>
              </a:rPr>
              <a:t>This tells us how likely each possible </a:t>
            </a:r>
            <a:r>
              <a:rPr lang="en-GB" sz="2400" b="1" i="0" kern="1200" dirty="0">
                <a:solidFill>
                  <a:schemeClr val="accent1">
                    <a:lumMod val="50000"/>
                  </a:schemeClr>
                </a:solidFill>
                <a:effectLst/>
                <a:latin typeface="Arial" panose="020B0604020202020204" pitchFamily="34" charset="0"/>
                <a:ea typeface="+mn-ea"/>
                <a:cs typeface="Arial" panose="020B0604020202020204" pitchFamily="34" charset="0"/>
              </a:rPr>
              <a:t>pair</a:t>
            </a:r>
            <a:r>
              <a:rPr lang="en-GB" sz="2400" b="0" i="0" kern="1200" dirty="0">
                <a:solidFill>
                  <a:schemeClr val="accent1">
                    <a:lumMod val="50000"/>
                  </a:schemeClr>
                </a:solidFill>
                <a:effectLst/>
                <a:latin typeface="Arial" panose="020B0604020202020204" pitchFamily="34" charset="0"/>
                <a:ea typeface="+mn-ea"/>
                <a:cs typeface="Arial" panose="020B0604020202020204" pitchFamily="34" charset="0"/>
              </a:rPr>
              <a:t> of characters is. </a:t>
            </a:r>
          </a:p>
          <a:p>
            <a:pPr>
              <a:lnSpc>
                <a:spcPct val="90000"/>
              </a:lnSpc>
              <a:spcBef>
                <a:spcPts val="1000"/>
              </a:spcBef>
            </a:pPr>
            <a:r>
              <a:rPr lang="en-GB" sz="2400" b="0" i="0" kern="1200" dirty="0">
                <a:solidFill>
                  <a:schemeClr val="accent1">
                    <a:lumMod val="50000"/>
                  </a:schemeClr>
                </a:solidFill>
                <a:effectLst/>
                <a:latin typeface="Arial" panose="020B0604020202020204" pitchFamily="34" charset="0"/>
                <a:ea typeface="+mn-ea"/>
                <a:cs typeface="Arial" panose="020B0604020202020204" pitchFamily="34" charset="0"/>
              </a:rPr>
              <a:t>Some combinations are much more likely than others.</a:t>
            </a:r>
            <a:endParaRPr lang="en-GB" sz="2400" kern="1200" dirty="0">
              <a:solidFill>
                <a:schemeClr val="accent1">
                  <a:lumMod val="50000"/>
                </a:schemeClr>
              </a:solidFill>
              <a:latin typeface="Arial" panose="020B0604020202020204" pitchFamily="34" charset="0"/>
              <a:ea typeface="+mn-ea"/>
              <a:cs typeface="Arial" panose="020B0604020202020204" pitchFamily="34" charset="0"/>
            </a:endParaRPr>
          </a:p>
        </p:txBody>
      </p:sp>
      <p:pic>
        <p:nvPicPr>
          <p:cNvPr id="5" name="Content Placeholder 4">
            <a:extLst>
              <a:ext uri="{FF2B5EF4-FFF2-40B4-BE49-F238E27FC236}">
                <a16:creationId xmlns:a16="http://schemas.microsoft.com/office/drawing/2014/main" id="{8FE922C6-56CB-F21F-649F-8663178C1093}"/>
              </a:ext>
            </a:extLst>
          </p:cNvPr>
          <p:cNvPicPr>
            <a:picLocks noGrp="1" noChangeAspect="1"/>
          </p:cNvPicPr>
          <p:nvPr>
            <p:ph idx="1"/>
          </p:nvPr>
        </p:nvPicPr>
        <p:blipFill>
          <a:blip r:embed="rId2"/>
          <a:stretch>
            <a:fillRect/>
          </a:stretch>
        </p:blipFill>
        <p:spPr>
          <a:xfrm>
            <a:off x="5288478" y="987425"/>
            <a:ext cx="5961620" cy="4873625"/>
          </a:xfrm>
          <a:noFill/>
        </p:spPr>
      </p:pic>
    </p:spTree>
    <p:extLst>
      <p:ext uri="{BB962C8B-B14F-4D97-AF65-F5344CB8AC3E}">
        <p14:creationId xmlns:p14="http://schemas.microsoft.com/office/powerpoint/2010/main" val="6600755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C420205-995C-5C79-3FE1-E79F2CAB97B5}"/>
              </a:ext>
            </a:extLst>
          </p:cNvPr>
          <p:cNvPicPr>
            <a:picLocks noGrp="1" noChangeAspect="1"/>
          </p:cNvPicPr>
          <p:nvPr>
            <p:ph idx="1"/>
          </p:nvPr>
        </p:nvPicPr>
        <p:blipFill>
          <a:blip r:embed="rId2"/>
          <a:stretch>
            <a:fillRect/>
          </a:stretch>
        </p:blipFill>
        <p:spPr>
          <a:xfrm>
            <a:off x="6453350" y="85298"/>
            <a:ext cx="4834759" cy="3951486"/>
          </a:xfrm>
          <a:noFill/>
        </p:spPr>
      </p:pic>
      <p:sp>
        <p:nvSpPr>
          <p:cNvPr id="10" name="Title 1">
            <a:extLst>
              <a:ext uri="{FF2B5EF4-FFF2-40B4-BE49-F238E27FC236}">
                <a16:creationId xmlns:a16="http://schemas.microsoft.com/office/drawing/2014/main" id="{4FC9AF0D-8301-E4A0-8117-B15668BDC538}"/>
              </a:ext>
            </a:extLst>
          </p:cNvPr>
          <p:cNvSpPr>
            <a:spLocks noGrp="1"/>
          </p:cNvSpPr>
          <p:nvPr>
            <p:ph type="title"/>
          </p:nvPr>
        </p:nvSpPr>
        <p:spPr>
          <a:xfrm>
            <a:off x="741680" y="2123676"/>
            <a:ext cx="4027169" cy="1600200"/>
          </a:xfrm>
        </p:spPr>
        <p:txBody>
          <a:bodyPr/>
          <a:lstStyle/>
          <a:p>
            <a:r>
              <a:rPr lang="en-GB" dirty="0"/>
              <a:t>Bigrams: Marginalisation</a:t>
            </a:r>
          </a:p>
        </p:txBody>
      </p:sp>
      <p:pic>
        <p:nvPicPr>
          <p:cNvPr id="12" name="Picture 11">
            <a:extLst>
              <a:ext uri="{FF2B5EF4-FFF2-40B4-BE49-F238E27FC236}">
                <a16:creationId xmlns:a16="http://schemas.microsoft.com/office/drawing/2014/main" id="{62FC31EC-8875-C8FF-7931-4CD0AAE9ABD4}"/>
              </a:ext>
            </a:extLst>
          </p:cNvPr>
          <p:cNvPicPr>
            <a:picLocks noChangeAspect="1"/>
          </p:cNvPicPr>
          <p:nvPr/>
        </p:nvPicPr>
        <p:blipFill>
          <a:blip r:embed="rId3"/>
          <a:stretch>
            <a:fillRect/>
          </a:stretch>
        </p:blipFill>
        <p:spPr>
          <a:xfrm>
            <a:off x="781653" y="4490245"/>
            <a:ext cx="10628694" cy="1600199"/>
          </a:xfrm>
          <a:prstGeom prst="rect">
            <a:avLst/>
          </a:prstGeom>
        </p:spPr>
      </p:pic>
    </p:spTree>
    <p:extLst>
      <p:ext uri="{BB962C8B-B14F-4D97-AF65-F5344CB8AC3E}">
        <p14:creationId xmlns:p14="http://schemas.microsoft.com/office/powerpoint/2010/main" val="25792070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72478-5614-F229-9CFF-D867352D7405}"/>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E57FCF9-2B19-2F5D-FB9B-7D8B2BA94D20}"/>
              </a:ext>
            </a:extLst>
          </p:cNvPr>
          <p:cNvPicPr>
            <a:picLocks noGrp="1" noChangeAspect="1"/>
          </p:cNvPicPr>
          <p:nvPr>
            <p:ph idx="1"/>
          </p:nvPr>
        </p:nvPicPr>
        <p:blipFill>
          <a:blip r:embed="rId2"/>
          <a:stretch>
            <a:fillRect/>
          </a:stretch>
        </p:blipFill>
        <p:spPr>
          <a:xfrm>
            <a:off x="6453350" y="85298"/>
            <a:ext cx="4834759" cy="3951486"/>
          </a:xfrm>
          <a:noFill/>
        </p:spPr>
      </p:pic>
      <p:pic>
        <p:nvPicPr>
          <p:cNvPr id="7" name="Picture 6">
            <a:extLst>
              <a:ext uri="{FF2B5EF4-FFF2-40B4-BE49-F238E27FC236}">
                <a16:creationId xmlns:a16="http://schemas.microsoft.com/office/drawing/2014/main" id="{92946BFC-F928-F697-A970-21A7BC46E5C7}"/>
              </a:ext>
            </a:extLst>
          </p:cNvPr>
          <p:cNvPicPr>
            <a:picLocks noChangeAspect="1"/>
          </p:cNvPicPr>
          <p:nvPr/>
        </p:nvPicPr>
        <p:blipFill>
          <a:blip r:embed="rId3"/>
          <a:stretch>
            <a:fillRect/>
          </a:stretch>
        </p:blipFill>
        <p:spPr>
          <a:xfrm>
            <a:off x="433728" y="4391120"/>
            <a:ext cx="10507541" cy="2381582"/>
          </a:xfrm>
          <a:prstGeom prst="rect">
            <a:avLst/>
          </a:prstGeom>
        </p:spPr>
      </p:pic>
      <p:sp>
        <p:nvSpPr>
          <p:cNvPr id="10" name="Title 1">
            <a:extLst>
              <a:ext uri="{FF2B5EF4-FFF2-40B4-BE49-F238E27FC236}">
                <a16:creationId xmlns:a16="http://schemas.microsoft.com/office/drawing/2014/main" id="{A42FDD92-431A-E495-E206-7C8588FA4B0D}"/>
              </a:ext>
            </a:extLst>
          </p:cNvPr>
          <p:cNvSpPr>
            <a:spLocks noGrp="1"/>
          </p:cNvSpPr>
          <p:nvPr>
            <p:ph type="title"/>
          </p:nvPr>
        </p:nvSpPr>
        <p:spPr>
          <a:xfrm>
            <a:off x="741680" y="2123676"/>
            <a:ext cx="4027169" cy="1600200"/>
          </a:xfrm>
        </p:spPr>
        <p:txBody>
          <a:bodyPr/>
          <a:lstStyle/>
          <a:p>
            <a:r>
              <a:rPr lang="en-GB" dirty="0"/>
              <a:t>Bigrams: Marginalisation</a:t>
            </a:r>
          </a:p>
        </p:txBody>
      </p:sp>
    </p:spTree>
    <p:extLst>
      <p:ext uri="{BB962C8B-B14F-4D97-AF65-F5344CB8AC3E}">
        <p14:creationId xmlns:p14="http://schemas.microsoft.com/office/powerpoint/2010/main" val="27156273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4302A-F08A-E5BC-D070-112A0D3FBB9A}"/>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E5E5E92-8DD2-6622-4443-418A7443D3E1}"/>
              </a:ext>
            </a:extLst>
          </p:cNvPr>
          <p:cNvPicPr>
            <a:picLocks noGrp="1" noChangeAspect="1"/>
          </p:cNvPicPr>
          <p:nvPr>
            <p:ph idx="1"/>
          </p:nvPr>
        </p:nvPicPr>
        <p:blipFill>
          <a:blip r:embed="rId2"/>
          <a:stretch>
            <a:fillRect/>
          </a:stretch>
        </p:blipFill>
        <p:spPr>
          <a:xfrm>
            <a:off x="6453350" y="85298"/>
            <a:ext cx="4834759" cy="3951486"/>
          </a:xfrm>
          <a:noFill/>
        </p:spPr>
      </p:pic>
      <p:sp>
        <p:nvSpPr>
          <p:cNvPr id="10" name="Title 1">
            <a:extLst>
              <a:ext uri="{FF2B5EF4-FFF2-40B4-BE49-F238E27FC236}">
                <a16:creationId xmlns:a16="http://schemas.microsoft.com/office/drawing/2014/main" id="{72E6D952-A94B-EB2E-8C43-6093DED85C39}"/>
              </a:ext>
            </a:extLst>
          </p:cNvPr>
          <p:cNvSpPr>
            <a:spLocks noGrp="1"/>
          </p:cNvSpPr>
          <p:nvPr>
            <p:ph type="title"/>
          </p:nvPr>
        </p:nvSpPr>
        <p:spPr>
          <a:xfrm>
            <a:off x="741680" y="2123676"/>
            <a:ext cx="4027169" cy="1600200"/>
          </a:xfrm>
        </p:spPr>
        <p:txBody>
          <a:bodyPr/>
          <a:lstStyle/>
          <a:p>
            <a:r>
              <a:rPr lang="en-GB" dirty="0"/>
              <a:t>Bigrams: Marginalisation</a:t>
            </a:r>
          </a:p>
        </p:txBody>
      </p:sp>
      <p:pic>
        <p:nvPicPr>
          <p:cNvPr id="3" name="Picture 2">
            <a:extLst>
              <a:ext uri="{FF2B5EF4-FFF2-40B4-BE49-F238E27FC236}">
                <a16:creationId xmlns:a16="http://schemas.microsoft.com/office/drawing/2014/main" id="{04358CCC-EA4A-A23E-5070-21D9BAEDD305}"/>
              </a:ext>
            </a:extLst>
          </p:cNvPr>
          <p:cNvPicPr>
            <a:picLocks noChangeAspect="1"/>
          </p:cNvPicPr>
          <p:nvPr/>
        </p:nvPicPr>
        <p:blipFill>
          <a:blip r:embed="rId3"/>
          <a:stretch>
            <a:fillRect/>
          </a:stretch>
        </p:blipFill>
        <p:spPr>
          <a:xfrm>
            <a:off x="502946" y="4353014"/>
            <a:ext cx="10450383" cy="2419688"/>
          </a:xfrm>
          <a:prstGeom prst="rect">
            <a:avLst/>
          </a:prstGeom>
        </p:spPr>
      </p:pic>
    </p:spTree>
    <p:extLst>
      <p:ext uri="{BB962C8B-B14F-4D97-AF65-F5344CB8AC3E}">
        <p14:creationId xmlns:p14="http://schemas.microsoft.com/office/powerpoint/2010/main" val="23455686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595F2-736E-D79C-594D-1C19D9C1E6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1F031-47CC-4EE8-E8DE-5403FD2CC035}"/>
              </a:ext>
            </a:extLst>
          </p:cNvPr>
          <p:cNvSpPr>
            <a:spLocks noGrp="1"/>
          </p:cNvSpPr>
          <p:nvPr>
            <p:ph type="title"/>
          </p:nvPr>
        </p:nvSpPr>
        <p:spPr/>
        <p:txBody>
          <a:bodyPr/>
          <a:lstStyle/>
          <a:p>
            <a:r>
              <a:rPr lang="en-GB" dirty="0"/>
              <a:t>Bigrams: Conditional probabilities</a:t>
            </a:r>
          </a:p>
        </p:txBody>
      </p:sp>
      <p:sp>
        <p:nvSpPr>
          <p:cNvPr id="3" name="Text Placeholder 2">
            <a:extLst>
              <a:ext uri="{FF2B5EF4-FFF2-40B4-BE49-F238E27FC236}">
                <a16:creationId xmlns:a16="http://schemas.microsoft.com/office/drawing/2014/main" id="{0700BD46-B8D6-E6F3-C377-4FD8AA8BEFF6}"/>
              </a:ext>
            </a:extLst>
          </p:cNvPr>
          <p:cNvSpPr>
            <a:spLocks noGrp="1"/>
          </p:cNvSpPr>
          <p:nvPr>
            <p:ph type="body" sz="half" idx="2"/>
          </p:nvPr>
        </p:nvSpPr>
        <p:spPr>
          <a:xfrm>
            <a:off x="741680" y="3286952"/>
            <a:ext cx="4210464" cy="1934763"/>
          </a:xfrm>
        </p:spPr>
        <p:txBody>
          <a:bodyPr>
            <a:noAutofit/>
          </a:bodyPr>
          <a:lstStyle/>
          <a:p>
            <a:r>
              <a:rPr lang="en-GB" sz="2000" dirty="0"/>
              <a:t>The conditional probability P(c</a:t>
            </a:r>
            <a:r>
              <a:rPr lang="en-GB" sz="2000" baseline="-25000" dirty="0"/>
              <a:t>i</a:t>
            </a:r>
            <a:r>
              <a:rPr lang="en-GB" sz="2000" dirty="0"/>
              <a:t>|c</a:t>
            </a:r>
            <a:r>
              <a:rPr lang="en-GB" sz="2000" baseline="-25000" dirty="0"/>
              <a:t>i-1</a:t>
            </a:r>
            <a:r>
              <a:rPr lang="en-GB" sz="2000" dirty="0"/>
              <a:t>) is given by: </a:t>
            </a:r>
          </a:p>
        </p:txBody>
      </p:sp>
      <p:pic>
        <p:nvPicPr>
          <p:cNvPr id="4" name="Picture 3">
            <a:extLst>
              <a:ext uri="{FF2B5EF4-FFF2-40B4-BE49-F238E27FC236}">
                <a16:creationId xmlns:a16="http://schemas.microsoft.com/office/drawing/2014/main" id="{D8F45739-BA54-A258-8626-3E76B1914204}"/>
              </a:ext>
            </a:extLst>
          </p:cNvPr>
          <p:cNvPicPr>
            <a:picLocks noChangeAspect="1"/>
          </p:cNvPicPr>
          <p:nvPr/>
        </p:nvPicPr>
        <p:blipFill>
          <a:blip r:embed="rId2"/>
          <a:stretch>
            <a:fillRect/>
          </a:stretch>
        </p:blipFill>
        <p:spPr>
          <a:xfrm>
            <a:off x="1399890" y="4171307"/>
            <a:ext cx="2710747" cy="884357"/>
          </a:xfrm>
          <a:prstGeom prst="rect">
            <a:avLst/>
          </a:prstGeom>
        </p:spPr>
      </p:pic>
      <p:pic>
        <p:nvPicPr>
          <p:cNvPr id="9" name="Content Placeholder 8">
            <a:extLst>
              <a:ext uri="{FF2B5EF4-FFF2-40B4-BE49-F238E27FC236}">
                <a16:creationId xmlns:a16="http://schemas.microsoft.com/office/drawing/2014/main" id="{E3AE1CC4-5036-867F-4788-56E2ED378737}"/>
              </a:ext>
            </a:extLst>
          </p:cNvPr>
          <p:cNvPicPr>
            <a:picLocks noGrp="1" noChangeAspect="1"/>
          </p:cNvPicPr>
          <p:nvPr>
            <p:ph idx="1"/>
          </p:nvPr>
        </p:nvPicPr>
        <p:blipFill>
          <a:blip r:embed="rId3"/>
          <a:stretch>
            <a:fillRect/>
          </a:stretch>
        </p:blipFill>
        <p:spPr>
          <a:xfrm>
            <a:off x="5220862" y="2495420"/>
            <a:ext cx="6096851" cy="1857634"/>
          </a:xfrm>
        </p:spPr>
      </p:pic>
    </p:spTree>
    <p:extLst>
      <p:ext uri="{BB962C8B-B14F-4D97-AF65-F5344CB8AC3E}">
        <p14:creationId xmlns:p14="http://schemas.microsoft.com/office/powerpoint/2010/main" val="13367003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C6CDC-4E1A-88F4-116F-F28CFC62EA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AB86F1-06EC-71E5-BAC9-1821F393C4CB}"/>
              </a:ext>
            </a:extLst>
          </p:cNvPr>
          <p:cNvSpPr>
            <a:spLocks noGrp="1"/>
          </p:cNvSpPr>
          <p:nvPr>
            <p:ph type="title"/>
          </p:nvPr>
        </p:nvSpPr>
        <p:spPr/>
        <p:txBody>
          <a:bodyPr/>
          <a:lstStyle/>
          <a:p>
            <a:r>
              <a:rPr lang="en-GB" dirty="0"/>
              <a:t>Bigrams: Conditional probabilities</a:t>
            </a:r>
          </a:p>
        </p:txBody>
      </p:sp>
      <p:sp>
        <p:nvSpPr>
          <p:cNvPr id="3" name="Text Placeholder 2">
            <a:extLst>
              <a:ext uri="{FF2B5EF4-FFF2-40B4-BE49-F238E27FC236}">
                <a16:creationId xmlns:a16="http://schemas.microsoft.com/office/drawing/2014/main" id="{0F2F0BBE-6265-C6FB-7D5A-2F5B69C149BB}"/>
              </a:ext>
            </a:extLst>
          </p:cNvPr>
          <p:cNvSpPr>
            <a:spLocks noGrp="1"/>
          </p:cNvSpPr>
          <p:nvPr>
            <p:ph type="body" sz="half" idx="2"/>
          </p:nvPr>
        </p:nvSpPr>
        <p:spPr>
          <a:xfrm>
            <a:off x="741680" y="3286952"/>
            <a:ext cx="4210464" cy="1934763"/>
          </a:xfrm>
        </p:spPr>
        <p:txBody>
          <a:bodyPr>
            <a:noAutofit/>
          </a:bodyPr>
          <a:lstStyle/>
          <a:p>
            <a:r>
              <a:rPr lang="en-GB" sz="2000" dirty="0"/>
              <a:t>The conditional probability P(c</a:t>
            </a:r>
            <a:r>
              <a:rPr lang="en-GB" sz="2000" baseline="-25000" dirty="0"/>
              <a:t>i</a:t>
            </a:r>
            <a:r>
              <a:rPr lang="en-GB" sz="2000" dirty="0"/>
              <a:t>|c</a:t>
            </a:r>
            <a:r>
              <a:rPr lang="en-GB" sz="2000" baseline="-25000" dirty="0"/>
              <a:t>i-1</a:t>
            </a:r>
            <a:r>
              <a:rPr lang="en-GB" sz="2000" dirty="0"/>
              <a:t>) is given by: </a:t>
            </a:r>
          </a:p>
        </p:txBody>
      </p:sp>
      <p:pic>
        <p:nvPicPr>
          <p:cNvPr id="4" name="Picture 3">
            <a:extLst>
              <a:ext uri="{FF2B5EF4-FFF2-40B4-BE49-F238E27FC236}">
                <a16:creationId xmlns:a16="http://schemas.microsoft.com/office/drawing/2014/main" id="{1A25CB79-70CB-9287-3047-116F4A6C3F6C}"/>
              </a:ext>
            </a:extLst>
          </p:cNvPr>
          <p:cNvPicPr>
            <a:picLocks noChangeAspect="1"/>
          </p:cNvPicPr>
          <p:nvPr/>
        </p:nvPicPr>
        <p:blipFill>
          <a:blip r:embed="rId2"/>
          <a:stretch>
            <a:fillRect/>
          </a:stretch>
        </p:blipFill>
        <p:spPr>
          <a:xfrm>
            <a:off x="1399890" y="4171307"/>
            <a:ext cx="2710747" cy="884357"/>
          </a:xfrm>
          <a:prstGeom prst="rect">
            <a:avLst/>
          </a:prstGeom>
        </p:spPr>
      </p:pic>
      <p:pic>
        <p:nvPicPr>
          <p:cNvPr id="9" name="Content Placeholder 8">
            <a:extLst>
              <a:ext uri="{FF2B5EF4-FFF2-40B4-BE49-F238E27FC236}">
                <a16:creationId xmlns:a16="http://schemas.microsoft.com/office/drawing/2014/main" id="{1DA6027F-2323-131C-0436-534244B6420A}"/>
              </a:ext>
            </a:extLst>
          </p:cNvPr>
          <p:cNvPicPr>
            <a:picLocks noGrp="1" noChangeAspect="1"/>
          </p:cNvPicPr>
          <p:nvPr>
            <p:ph idx="1"/>
          </p:nvPr>
        </p:nvPicPr>
        <p:blipFill>
          <a:blip r:embed="rId3"/>
          <a:stretch>
            <a:fillRect/>
          </a:stretch>
        </p:blipFill>
        <p:spPr>
          <a:xfrm>
            <a:off x="5220862" y="2495420"/>
            <a:ext cx="6096851" cy="1857634"/>
          </a:xfrm>
        </p:spPr>
      </p:pic>
      <p:pic>
        <p:nvPicPr>
          <p:cNvPr id="5" name="Content Placeholder 5">
            <a:extLst>
              <a:ext uri="{FF2B5EF4-FFF2-40B4-BE49-F238E27FC236}">
                <a16:creationId xmlns:a16="http://schemas.microsoft.com/office/drawing/2014/main" id="{86CB2794-629F-A941-6610-EE3B6EF4E98C}"/>
              </a:ext>
            </a:extLst>
          </p:cNvPr>
          <p:cNvPicPr>
            <a:picLocks noChangeAspect="1"/>
          </p:cNvPicPr>
          <p:nvPr/>
        </p:nvPicPr>
        <p:blipFill>
          <a:blip r:embed="rId4"/>
          <a:stretch>
            <a:fillRect/>
          </a:stretch>
        </p:blipFill>
        <p:spPr>
          <a:xfrm>
            <a:off x="5430442" y="995023"/>
            <a:ext cx="5677692" cy="4858428"/>
          </a:xfrm>
          <a:prstGeom prst="rect">
            <a:avLst/>
          </a:prstGeom>
        </p:spPr>
      </p:pic>
    </p:spTree>
    <p:extLst>
      <p:ext uri="{BB962C8B-B14F-4D97-AF65-F5344CB8AC3E}">
        <p14:creationId xmlns:p14="http://schemas.microsoft.com/office/powerpoint/2010/main" val="37340179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EE654-D3A6-4A81-7C3E-052DFD4436B8}"/>
              </a:ext>
            </a:extLst>
          </p:cNvPr>
          <p:cNvSpPr>
            <a:spLocks noGrp="1"/>
          </p:cNvSpPr>
          <p:nvPr>
            <p:ph type="title"/>
          </p:nvPr>
        </p:nvSpPr>
        <p:spPr/>
        <p:txBody>
          <a:bodyPr/>
          <a:lstStyle/>
          <a:p>
            <a:r>
              <a:rPr lang="en-GB" dirty="0"/>
              <a:t>Bigrams: Conditional probabilities</a:t>
            </a:r>
          </a:p>
        </p:txBody>
      </p:sp>
      <p:sp>
        <p:nvSpPr>
          <p:cNvPr id="3" name="Text Placeholder 2">
            <a:extLst>
              <a:ext uri="{FF2B5EF4-FFF2-40B4-BE49-F238E27FC236}">
                <a16:creationId xmlns:a16="http://schemas.microsoft.com/office/drawing/2014/main" id="{83A90680-3E83-E5AE-9BEE-B01B89F41559}"/>
              </a:ext>
            </a:extLst>
          </p:cNvPr>
          <p:cNvSpPr>
            <a:spLocks noGrp="1"/>
          </p:cNvSpPr>
          <p:nvPr>
            <p:ph type="body" sz="half" idx="2"/>
          </p:nvPr>
        </p:nvSpPr>
        <p:spPr>
          <a:xfrm>
            <a:off x="741680" y="3286952"/>
            <a:ext cx="4030345" cy="1934763"/>
          </a:xfrm>
        </p:spPr>
        <p:txBody>
          <a:bodyPr>
            <a:noAutofit/>
          </a:bodyPr>
          <a:lstStyle/>
          <a:p>
            <a:r>
              <a:rPr lang="en-US" sz="2000" b="0" i="0" dirty="0">
                <a:effectLst/>
                <a:latin typeface="system-ui"/>
              </a:rPr>
              <a:t>This tells us what character to expect, </a:t>
            </a:r>
            <a:r>
              <a:rPr lang="en-US" sz="2000" b="0" i="1" dirty="0">
                <a:effectLst/>
                <a:latin typeface="system-ui"/>
              </a:rPr>
              <a:t>given the character we know we saw before</a:t>
            </a:r>
            <a:r>
              <a:rPr lang="en-US" sz="2000" b="0" i="0" dirty="0">
                <a:effectLst/>
                <a:latin typeface="system-ui"/>
              </a:rPr>
              <a:t>. </a:t>
            </a:r>
          </a:p>
          <a:p>
            <a:r>
              <a:rPr lang="en-US" sz="2000" b="0" i="0" dirty="0">
                <a:effectLst/>
                <a:latin typeface="system-ui"/>
              </a:rPr>
              <a:t>It lets us </a:t>
            </a:r>
            <a:r>
              <a:rPr lang="en-US" sz="2000" b="0" i="1" dirty="0">
                <a:effectLst/>
                <a:latin typeface="system-ui"/>
              </a:rPr>
              <a:t>predict</a:t>
            </a:r>
            <a:r>
              <a:rPr lang="en-US" sz="2000" b="0" i="0" dirty="0">
                <a:effectLst/>
                <a:latin typeface="system-ui"/>
              </a:rPr>
              <a:t> the next character. We can look along the rows to do this look-up: each row sums to 1.0. </a:t>
            </a:r>
          </a:p>
          <a:p>
            <a:r>
              <a:rPr lang="en-US" sz="2000" b="0" i="0" dirty="0">
                <a:effectLst/>
                <a:latin typeface="system-ui"/>
              </a:rPr>
              <a:t>For example, look at row "q": the probability is concentrated on the entry in column "u" -- "u" always follows "q" in English.</a:t>
            </a:r>
            <a:endParaRPr lang="en-GB" sz="2000" dirty="0"/>
          </a:p>
        </p:txBody>
      </p:sp>
      <p:pic>
        <p:nvPicPr>
          <p:cNvPr id="6" name="Content Placeholder 5">
            <a:extLst>
              <a:ext uri="{FF2B5EF4-FFF2-40B4-BE49-F238E27FC236}">
                <a16:creationId xmlns:a16="http://schemas.microsoft.com/office/drawing/2014/main" id="{D3873BC0-CD8D-B58D-8548-5914FAB37E95}"/>
              </a:ext>
            </a:extLst>
          </p:cNvPr>
          <p:cNvPicPr>
            <a:picLocks noGrp="1" noChangeAspect="1"/>
          </p:cNvPicPr>
          <p:nvPr>
            <p:ph idx="1"/>
          </p:nvPr>
        </p:nvPicPr>
        <p:blipFill>
          <a:blip r:embed="rId2"/>
          <a:stretch>
            <a:fillRect/>
          </a:stretch>
        </p:blipFill>
        <p:spPr>
          <a:xfrm>
            <a:off x="5430442" y="995023"/>
            <a:ext cx="5677692" cy="4858428"/>
          </a:xfrm>
        </p:spPr>
      </p:pic>
    </p:spTree>
    <p:extLst>
      <p:ext uri="{BB962C8B-B14F-4D97-AF65-F5344CB8AC3E}">
        <p14:creationId xmlns:p14="http://schemas.microsoft.com/office/powerpoint/2010/main" val="7778689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5" name="Content Placeholder 1">
            <a:extLst>
              <a:ext uri="{FF2B5EF4-FFF2-40B4-BE49-F238E27FC236}">
                <a16:creationId xmlns:a16="http://schemas.microsoft.com/office/drawing/2014/main" id="{17683792-4CCD-A3E2-3402-B589523E0269}"/>
              </a:ext>
            </a:extLst>
          </p:cNvPr>
          <p:cNvSpPr>
            <a:spLocks noGrp="1"/>
          </p:cNvSpPr>
          <p:nvPr>
            <p:ph sz="half" idx="1"/>
          </p:nvPr>
        </p:nvSpPr>
        <p:spPr>
          <a:xfrm>
            <a:off x="838200" y="1608667"/>
            <a:ext cx="5181600" cy="4568296"/>
          </a:xfrm>
        </p:spPr>
        <p:txBody>
          <a:bodyPr/>
          <a:lstStyle/>
          <a:p>
            <a:r>
              <a:rPr lang="en-US" dirty="0"/>
              <a:t>In effect, this is the same strategy used by </a:t>
            </a:r>
            <a:r>
              <a:rPr lang="en-US" b="1" dirty="0">
                <a:solidFill>
                  <a:schemeClr val="accent5"/>
                </a:solidFill>
              </a:rPr>
              <a:t>Large Language Models </a:t>
            </a:r>
            <a:r>
              <a:rPr lang="en-US" dirty="0"/>
              <a:t>(</a:t>
            </a:r>
            <a:r>
              <a:rPr lang="en-US" dirty="0" err="1"/>
              <a:t>eg</a:t>
            </a:r>
            <a:r>
              <a:rPr lang="en-US" dirty="0"/>
              <a:t>, GPT) for generating text: </a:t>
            </a:r>
          </a:p>
          <a:p>
            <a:r>
              <a:rPr lang="en-US" dirty="0"/>
              <a:t>They generate one word at a time by </a:t>
            </a:r>
            <a:r>
              <a:rPr lang="en-US" dirty="0">
                <a:solidFill>
                  <a:schemeClr val="accent5"/>
                </a:solidFill>
              </a:rPr>
              <a:t>sampling from the distribution of words conditioned to the previous text </a:t>
            </a:r>
          </a:p>
          <a:p>
            <a:r>
              <a:rPr lang="en-US" dirty="0"/>
              <a:t>This is including the user query and the previously generated words!</a:t>
            </a:r>
          </a:p>
          <a:p>
            <a:r>
              <a:rPr lang="en-US" dirty="0"/>
              <a:t>This process is called </a:t>
            </a:r>
            <a:r>
              <a:rPr lang="en-US" i="1" dirty="0">
                <a:solidFill>
                  <a:schemeClr val="accent4"/>
                </a:solidFill>
              </a:rPr>
              <a:t>autoregressive</a:t>
            </a:r>
          </a:p>
          <a:p>
            <a:endParaRPr lang="en-US" dirty="0"/>
          </a:p>
        </p:txBody>
      </p:sp>
      <p:pic>
        <p:nvPicPr>
          <p:cNvPr id="7170" name="Picture 2" descr="Fig. 1">
            <a:extLst>
              <a:ext uri="{FF2B5EF4-FFF2-40B4-BE49-F238E27FC236}">
                <a16:creationId xmlns:a16="http://schemas.microsoft.com/office/drawing/2014/main" id="{E6E1A55C-1ACD-F799-D80D-3A7AB4829860}"/>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6172200" y="2921265"/>
            <a:ext cx="5181600" cy="1943099"/>
          </a:xfrm>
          <a:prstGeom prst="rect">
            <a:avLst/>
          </a:prstGeom>
          <a:solidFill>
            <a:srgbClr val="FFFFFF"/>
          </a:solidFill>
        </p:spPr>
      </p:pic>
      <p:sp>
        <p:nvSpPr>
          <p:cNvPr id="2" name="Title 1">
            <a:extLst>
              <a:ext uri="{FF2B5EF4-FFF2-40B4-BE49-F238E27FC236}">
                <a16:creationId xmlns:a16="http://schemas.microsoft.com/office/drawing/2014/main" id="{859AE385-B2CA-C27A-C718-06B11829A5FB}"/>
              </a:ext>
            </a:extLst>
          </p:cNvPr>
          <p:cNvSpPr>
            <a:spLocks noGrp="1"/>
          </p:cNvSpPr>
          <p:nvPr>
            <p:ph type="title"/>
          </p:nvPr>
        </p:nvSpPr>
        <p:spPr>
          <a:xfrm>
            <a:off x="2549236" y="533614"/>
            <a:ext cx="9210963" cy="888786"/>
          </a:xfrm>
        </p:spPr>
        <p:txBody>
          <a:bodyPr anchor="t">
            <a:normAutofit/>
          </a:bodyPr>
          <a:lstStyle/>
          <a:p>
            <a:r>
              <a:rPr lang="en-GB" dirty="0"/>
              <a:t>Aside: Conditional probabilities and LLM </a:t>
            </a:r>
          </a:p>
        </p:txBody>
      </p:sp>
      <p:sp>
        <p:nvSpPr>
          <p:cNvPr id="6" name="TextBox 5">
            <a:extLst>
              <a:ext uri="{FF2B5EF4-FFF2-40B4-BE49-F238E27FC236}">
                <a16:creationId xmlns:a16="http://schemas.microsoft.com/office/drawing/2014/main" id="{31FFEEB8-B5D3-13F2-5777-B4D8EEDC0A55}"/>
              </a:ext>
            </a:extLst>
          </p:cNvPr>
          <p:cNvSpPr txBox="1"/>
          <p:nvPr/>
        </p:nvSpPr>
        <p:spPr>
          <a:xfrm>
            <a:off x="6019800" y="5640780"/>
            <a:ext cx="6097712" cy="369332"/>
          </a:xfrm>
          <a:prstGeom prst="rect">
            <a:avLst/>
          </a:prstGeom>
          <a:noFill/>
        </p:spPr>
        <p:txBody>
          <a:bodyPr wrap="square">
            <a:spAutoFit/>
          </a:bodyPr>
          <a:lstStyle/>
          <a:p>
            <a:r>
              <a:rPr lang="en-GB" dirty="0"/>
              <a:t>https://www.nature.com/articles/s41586-023-06647-8</a:t>
            </a:r>
          </a:p>
        </p:txBody>
      </p:sp>
    </p:spTree>
    <p:extLst>
      <p:ext uri="{BB962C8B-B14F-4D97-AF65-F5344CB8AC3E}">
        <p14:creationId xmlns:p14="http://schemas.microsoft.com/office/powerpoint/2010/main" val="18514802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D0C78-5677-8470-FC70-C692FDB1C7DA}"/>
            </a:ext>
          </a:extLst>
        </p:cNvPr>
        <p:cNvGrpSpPr/>
        <p:nvPr/>
      </p:nvGrpSpPr>
      <p:grpSpPr>
        <a:xfrm>
          <a:off x="0" y="0"/>
          <a:ext cx="0" cy="0"/>
          <a:chOff x="0" y="0"/>
          <a:chExt cx="0" cy="0"/>
        </a:xfrm>
      </p:grpSpPr>
      <p:sp>
        <p:nvSpPr>
          <p:cNvPr id="7175" name="Content Placeholder 1">
            <a:extLst>
              <a:ext uri="{FF2B5EF4-FFF2-40B4-BE49-F238E27FC236}">
                <a16:creationId xmlns:a16="http://schemas.microsoft.com/office/drawing/2014/main" id="{EEFA31B1-D638-9558-365C-54BE01398E6B}"/>
              </a:ext>
            </a:extLst>
          </p:cNvPr>
          <p:cNvSpPr>
            <a:spLocks noGrp="1"/>
          </p:cNvSpPr>
          <p:nvPr>
            <p:ph sz="half" idx="1"/>
          </p:nvPr>
        </p:nvSpPr>
        <p:spPr>
          <a:xfrm>
            <a:off x="838200" y="1608667"/>
            <a:ext cx="5181600" cy="4568296"/>
          </a:xfrm>
        </p:spPr>
        <p:txBody>
          <a:bodyPr/>
          <a:lstStyle/>
          <a:p>
            <a:r>
              <a:rPr lang="en-US" dirty="0"/>
              <a:t>In effect, this is the same strategy used by </a:t>
            </a:r>
            <a:r>
              <a:rPr lang="en-US" b="1" dirty="0">
                <a:solidFill>
                  <a:schemeClr val="accent5"/>
                </a:solidFill>
              </a:rPr>
              <a:t>Large Language Models </a:t>
            </a:r>
            <a:r>
              <a:rPr lang="en-US" dirty="0"/>
              <a:t>(</a:t>
            </a:r>
            <a:r>
              <a:rPr lang="en-US" dirty="0" err="1"/>
              <a:t>eg</a:t>
            </a:r>
            <a:r>
              <a:rPr lang="en-US" dirty="0"/>
              <a:t>, GPT) for generating text: </a:t>
            </a:r>
          </a:p>
          <a:p>
            <a:r>
              <a:rPr lang="en-US" dirty="0"/>
              <a:t>They generate one word at a time by </a:t>
            </a:r>
            <a:r>
              <a:rPr lang="en-US" dirty="0">
                <a:solidFill>
                  <a:schemeClr val="accent5"/>
                </a:solidFill>
              </a:rPr>
              <a:t>sampling from the distribution of words conditioned to the previous text </a:t>
            </a:r>
          </a:p>
          <a:p>
            <a:r>
              <a:rPr lang="en-US" dirty="0"/>
              <a:t>This is including the user query and the previously generated words!</a:t>
            </a:r>
          </a:p>
          <a:p>
            <a:r>
              <a:rPr lang="en-US" dirty="0"/>
              <a:t>This process is called </a:t>
            </a:r>
            <a:r>
              <a:rPr lang="en-US" i="1" dirty="0">
                <a:solidFill>
                  <a:schemeClr val="accent4"/>
                </a:solidFill>
              </a:rPr>
              <a:t>autoregressive</a:t>
            </a:r>
          </a:p>
          <a:p>
            <a:endParaRPr lang="en-US" dirty="0"/>
          </a:p>
        </p:txBody>
      </p:sp>
      <p:sp>
        <p:nvSpPr>
          <p:cNvPr id="2" name="Title 1">
            <a:extLst>
              <a:ext uri="{FF2B5EF4-FFF2-40B4-BE49-F238E27FC236}">
                <a16:creationId xmlns:a16="http://schemas.microsoft.com/office/drawing/2014/main" id="{482AE415-3A22-5E03-08E5-DD6CE73DF3D1}"/>
              </a:ext>
            </a:extLst>
          </p:cNvPr>
          <p:cNvSpPr>
            <a:spLocks noGrp="1"/>
          </p:cNvSpPr>
          <p:nvPr>
            <p:ph type="title"/>
          </p:nvPr>
        </p:nvSpPr>
        <p:spPr>
          <a:xfrm>
            <a:off x="2549236" y="533614"/>
            <a:ext cx="9210963" cy="888786"/>
          </a:xfrm>
        </p:spPr>
        <p:txBody>
          <a:bodyPr anchor="t">
            <a:normAutofit/>
          </a:bodyPr>
          <a:lstStyle/>
          <a:p>
            <a:r>
              <a:rPr lang="en-GB" dirty="0"/>
              <a:t>Aside: Conditional probabilities and LLM </a:t>
            </a:r>
          </a:p>
        </p:txBody>
      </p:sp>
      <p:pic>
        <p:nvPicPr>
          <p:cNvPr id="8194" name="Picture 2" descr="Fig. 2">
            <a:extLst>
              <a:ext uri="{FF2B5EF4-FFF2-40B4-BE49-F238E27FC236}">
                <a16:creationId xmlns:a16="http://schemas.microsoft.com/office/drawing/2014/main" id="{C522C666-F8AE-C0DC-380B-DD93DB9BD426}"/>
              </a:ext>
            </a:extLst>
          </p:cNvPr>
          <p:cNvPicPr>
            <a:picLocks noGrp="1" noChangeAspect="1" noChangeArrowheads="1"/>
          </p:cNvPicPr>
          <p:nvPr>
            <p:ph sz="half" idx="2"/>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1823572"/>
            <a:ext cx="5181600" cy="41379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0D6F5C7-B078-D79C-03F0-EC0925FBBBEB}"/>
              </a:ext>
            </a:extLst>
          </p:cNvPr>
          <p:cNvSpPr txBox="1"/>
          <p:nvPr/>
        </p:nvSpPr>
        <p:spPr>
          <a:xfrm>
            <a:off x="6172200" y="6324386"/>
            <a:ext cx="6097712" cy="369332"/>
          </a:xfrm>
          <a:prstGeom prst="rect">
            <a:avLst/>
          </a:prstGeom>
          <a:noFill/>
        </p:spPr>
        <p:txBody>
          <a:bodyPr wrap="square">
            <a:spAutoFit/>
          </a:bodyPr>
          <a:lstStyle/>
          <a:p>
            <a:r>
              <a:rPr lang="en-GB" dirty="0"/>
              <a:t>https://www.nature.com/articles/s41586-023-06647-8</a:t>
            </a:r>
          </a:p>
        </p:txBody>
      </p:sp>
    </p:spTree>
    <p:extLst>
      <p:ext uri="{BB962C8B-B14F-4D97-AF65-F5344CB8AC3E}">
        <p14:creationId xmlns:p14="http://schemas.microsoft.com/office/powerpoint/2010/main" val="2218554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17D18-D6A6-76B5-B013-88867AC5418D}"/>
              </a:ext>
            </a:extLst>
          </p:cNvPr>
          <p:cNvSpPr>
            <a:spLocks noGrp="1"/>
          </p:cNvSpPr>
          <p:nvPr>
            <p:ph type="title"/>
          </p:nvPr>
        </p:nvSpPr>
        <p:spPr>
          <a:xfrm>
            <a:off x="2549236" y="533614"/>
            <a:ext cx="9210963" cy="888786"/>
          </a:xfrm>
        </p:spPr>
        <p:txBody>
          <a:bodyPr anchor="t">
            <a:normAutofit/>
          </a:bodyPr>
          <a:lstStyle/>
          <a:p>
            <a:r>
              <a:rPr lang="en-GB" dirty="0"/>
              <a:t>Part 2 - Bayes’ theorem</a:t>
            </a:r>
          </a:p>
        </p:txBody>
      </p:sp>
      <p:pic>
        <p:nvPicPr>
          <p:cNvPr id="1026" name="Picture 2">
            <a:extLst>
              <a:ext uri="{FF2B5EF4-FFF2-40B4-BE49-F238E27FC236}">
                <a16:creationId xmlns:a16="http://schemas.microsoft.com/office/drawing/2014/main" id="{B0FD87D9-C8CD-15C0-5715-0AB92EBE233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719512" y="1627188"/>
            <a:ext cx="4606925" cy="4606925"/>
          </a:xfrm>
          <a:prstGeom prst="rect">
            <a:avLst/>
          </a:prstGeom>
          <a:solidFill>
            <a:srgbClr val="FFFFFF"/>
          </a:solidFill>
        </p:spPr>
      </p:pic>
    </p:spTree>
    <p:extLst>
      <p:ext uri="{BB962C8B-B14F-4D97-AF65-F5344CB8AC3E}">
        <p14:creationId xmlns:p14="http://schemas.microsoft.com/office/powerpoint/2010/main" val="41044028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A34AF-2A66-4223-67AB-24649A06A822}"/>
              </a:ext>
            </a:extLst>
          </p:cNvPr>
          <p:cNvSpPr>
            <a:spLocks noGrp="1"/>
          </p:cNvSpPr>
          <p:nvPr>
            <p:ph type="title"/>
          </p:nvPr>
        </p:nvSpPr>
        <p:spPr>
          <a:xfrm>
            <a:off x="2549236" y="533614"/>
            <a:ext cx="9210963" cy="888786"/>
          </a:xfrm>
        </p:spPr>
        <p:txBody>
          <a:bodyPr anchor="t">
            <a:normAutofit/>
          </a:bodyPr>
          <a:lstStyle/>
          <a:p>
            <a:r>
              <a:rPr lang="en-GB" b="1" i="0" dirty="0">
                <a:effectLst/>
              </a:rPr>
              <a:t>☣ Plague ☣</a:t>
            </a:r>
            <a:endParaRPr lang="en-GB" dirty="0"/>
          </a:p>
        </p:txBody>
      </p:sp>
      <p:pic>
        <p:nvPicPr>
          <p:cNvPr id="5" name="Picture 4" descr="A qr code on a white background&#10;&#10;Description automatically generated">
            <a:extLst>
              <a:ext uri="{FF2B5EF4-FFF2-40B4-BE49-F238E27FC236}">
                <a16:creationId xmlns:a16="http://schemas.microsoft.com/office/drawing/2014/main" id="{53873538-FFCC-CF7D-5E4A-E31AD4FCE7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761061"/>
            <a:ext cx="2452283" cy="2452283"/>
          </a:xfrm>
          <a:prstGeom prst="rect">
            <a:avLst/>
          </a:prstGeom>
          <a:noFill/>
        </p:spPr>
      </p:pic>
      <p:sp>
        <p:nvSpPr>
          <p:cNvPr id="3" name="Content Placeholder 2">
            <a:extLst>
              <a:ext uri="{FF2B5EF4-FFF2-40B4-BE49-F238E27FC236}">
                <a16:creationId xmlns:a16="http://schemas.microsoft.com/office/drawing/2014/main" id="{FADC19AA-F26D-58F6-09E0-8BF710963DDE}"/>
              </a:ext>
            </a:extLst>
          </p:cNvPr>
          <p:cNvSpPr>
            <a:spLocks noGrp="1"/>
          </p:cNvSpPr>
          <p:nvPr>
            <p:ph type="body" sz="quarter" idx="14"/>
          </p:nvPr>
        </p:nvSpPr>
        <p:spPr>
          <a:xfrm>
            <a:off x="2549235" y="1705343"/>
            <a:ext cx="9210963" cy="4526124"/>
          </a:xfrm>
        </p:spPr>
        <p:txBody>
          <a:bodyPr>
            <a:normAutofit/>
          </a:bodyPr>
          <a:lstStyle/>
          <a:p>
            <a:pPr>
              <a:buFont typeface="Arial" panose="020B0604020202020204" pitchFamily="34" charset="0"/>
              <a:buChar char="•"/>
            </a:pPr>
            <a:r>
              <a:rPr lang="en-US" sz="2000" b="0" i="0" dirty="0">
                <a:effectLst/>
              </a:rPr>
              <a:t>A new test is developed that can detect </a:t>
            </a:r>
            <a:r>
              <a:rPr lang="en-US" sz="2000" b="0" i="1" dirty="0">
                <a:solidFill>
                  <a:schemeClr val="accent3"/>
                </a:solidFill>
                <a:effectLst/>
              </a:rPr>
              <a:t>Plague X</a:t>
            </a:r>
            <a:r>
              <a:rPr lang="en-US" sz="2000" b="0" i="0" dirty="0">
                <a:effectLst/>
              </a:rPr>
              <a:t> with 95% accuracy.</a:t>
            </a:r>
          </a:p>
          <a:p>
            <a:pPr>
              <a:buFont typeface="Arial" panose="020B0604020202020204" pitchFamily="34" charset="0"/>
              <a:buChar char="•"/>
            </a:pPr>
            <a:r>
              <a:rPr lang="en-US" sz="2000" b="0" i="0" dirty="0">
                <a:effectLst/>
              </a:rPr>
              <a:t>We'll assume that 95% accuracy means:</a:t>
            </a:r>
          </a:p>
          <a:p>
            <a:pPr marL="742950" lvl="1" indent="-285750">
              <a:buFont typeface="Arial" panose="020B0604020202020204" pitchFamily="34" charset="0"/>
              <a:buChar char="•"/>
            </a:pPr>
            <a:r>
              <a:rPr lang="en-US" sz="2000" b="0" i="0" dirty="0">
                <a:effectLst/>
              </a:rPr>
              <a:t>a 5% </a:t>
            </a:r>
            <a:r>
              <a:rPr lang="en-US" sz="2000" b="1" i="0" dirty="0">
                <a:solidFill>
                  <a:schemeClr val="accent5"/>
                </a:solidFill>
                <a:effectLst/>
              </a:rPr>
              <a:t>false positive rate</a:t>
            </a:r>
            <a:r>
              <a:rPr lang="en-US" sz="2000" b="0" i="0" dirty="0">
                <a:effectLst/>
              </a:rPr>
              <a:t>, i.e. 5% of the time people who don't have the disease test positive</a:t>
            </a:r>
          </a:p>
          <a:p>
            <a:pPr marL="742950" lvl="1" indent="-285750">
              <a:buFont typeface="Arial" panose="020B0604020202020204" pitchFamily="34" charset="0"/>
              <a:buChar char="•"/>
            </a:pPr>
            <a:r>
              <a:rPr lang="en-US" sz="2000" b="0" i="0" dirty="0">
                <a:effectLst/>
              </a:rPr>
              <a:t>a 5% </a:t>
            </a:r>
            <a:r>
              <a:rPr lang="en-US" sz="2000" b="1" i="0" dirty="0">
                <a:solidFill>
                  <a:schemeClr val="accent5"/>
                </a:solidFill>
                <a:effectLst/>
              </a:rPr>
              <a:t>false negative rate</a:t>
            </a:r>
            <a:r>
              <a:rPr lang="en-US" sz="2000" b="0" i="0" dirty="0">
                <a:effectLst/>
              </a:rPr>
              <a:t>, i.e. 5% of the time people have the disease test negative</a:t>
            </a:r>
          </a:p>
          <a:p>
            <a:pPr>
              <a:buFont typeface="Arial" panose="020B0604020202020204" pitchFamily="34" charset="0"/>
              <a:buChar char="•"/>
            </a:pPr>
            <a:r>
              <a:rPr lang="en-US" sz="2000" b="0" i="0" dirty="0">
                <a:effectLst/>
              </a:rPr>
              <a:t>One in one hundred thousand (1:100000) people are known to have </a:t>
            </a:r>
            <a:r>
              <a:rPr lang="en-US" sz="2000" b="0" i="1" dirty="0">
                <a:solidFill>
                  <a:schemeClr val="accent3"/>
                </a:solidFill>
                <a:effectLst/>
              </a:rPr>
              <a:t>Plague X</a:t>
            </a:r>
            <a:endParaRPr lang="en-US" sz="2000" b="0" i="0" dirty="0">
              <a:solidFill>
                <a:schemeClr val="accent3"/>
              </a:solidFill>
              <a:effectLst/>
            </a:endParaRPr>
          </a:p>
          <a:p>
            <a:pPr marL="742950" lvl="1" indent="-285750">
              <a:buFont typeface="Arial" panose="020B0604020202020204" pitchFamily="34" charset="0"/>
              <a:buChar char="•"/>
            </a:pPr>
            <a:r>
              <a:rPr lang="en-US" sz="2000" b="0" i="0" dirty="0">
                <a:effectLst/>
              </a:rPr>
              <a:t>we might know this because it's universally fatal within one year, and one in a hundred thousand people died of it last year, for example.</a:t>
            </a:r>
          </a:p>
          <a:p>
            <a:pPr>
              <a:buFont typeface="Arial" panose="020B0604020202020204" pitchFamily="34" charset="0"/>
              <a:buChar char="•"/>
            </a:pPr>
            <a:r>
              <a:rPr lang="en-US" sz="2000" b="0" i="0" dirty="0">
                <a:effectLst/>
              </a:rPr>
              <a:t>You go for the test, and it comes back </a:t>
            </a:r>
            <a:r>
              <a:rPr lang="en-US" sz="2000" b="0" i="1" dirty="0">
                <a:solidFill>
                  <a:schemeClr val="accent5"/>
                </a:solidFill>
                <a:effectLst/>
              </a:rPr>
              <a:t>positive</a:t>
            </a:r>
            <a:r>
              <a:rPr lang="en-US" sz="2000" b="0" i="0" dirty="0">
                <a:effectLst/>
              </a:rPr>
              <a:t> for </a:t>
            </a:r>
            <a:r>
              <a:rPr lang="en-US" sz="2000" b="0" i="1" dirty="0">
                <a:solidFill>
                  <a:schemeClr val="accent3"/>
                </a:solidFill>
                <a:effectLst/>
              </a:rPr>
              <a:t>Plague X</a:t>
            </a:r>
            <a:r>
              <a:rPr lang="en-US" sz="2000" b="0" i="0" dirty="0">
                <a:effectLst/>
              </a:rPr>
              <a:t>.</a:t>
            </a:r>
          </a:p>
          <a:p>
            <a:pPr>
              <a:buFont typeface="Arial" panose="020B0604020202020204" pitchFamily="34" charset="0"/>
              <a:buChar char="•"/>
            </a:pPr>
            <a:r>
              <a:rPr lang="en-US" sz="2000" b="0" i="0" dirty="0">
                <a:solidFill>
                  <a:schemeClr val="accent4"/>
                </a:solidFill>
                <a:effectLst/>
              </a:rPr>
              <a:t>How likely are you to have </a:t>
            </a:r>
            <a:r>
              <a:rPr lang="en-US" sz="2000" b="0" i="1" dirty="0">
                <a:solidFill>
                  <a:schemeClr val="accent3"/>
                </a:solidFill>
                <a:effectLst/>
              </a:rPr>
              <a:t>Plague X</a:t>
            </a:r>
            <a:r>
              <a:rPr lang="en-US" sz="2000" b="0" i="0" dirty="0">
                <a:solidFill>
                  <a:schemeClr val="accent4"/>
                </a:solidFill>
                <a:effectLst/>
              </a:rPr>
              <a:t>?</a:t>
            </a:r>
          </a:p>
          <a:p>
            <a:endParaRPr lang="en-GB" sz="2000" dirty="0"/>
          </a:p>
        </p:txBody>
      </p:sp>
      <p:pic>
        <p:nvPicPr>
          <p:cNvPr id="6" name="Picture 2">
            <a:extLst>
              <a:ext uri="{FF2B5EF4-FFF2-40B4-BE49-F238E27FC236}">
                <a16:creationId xmlns:a16="http://schemas.microsoft.com/office/drawing/2014/main" id="{9C0790EA-700E-2A68-F0A8-62F36A2EE0B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10715946" y="0"/>
            <a:ext cx="1476054" cy="1476054"/>
          </a:xfrm>
          <a:prstGeom prst="rect">
            <a:avLst/>
          </a:prstGeom>
          <a:solidFill>
            <a:srgbClr val="FFFFFF"/>
          </a:solidFill>
        </p:spPr>
      </p:pic>
      <p:sp>
        <p:nvSpPr>
          <p:cNvPr id="7" name="TextBox 6">
            <a:extLst>
              <a:ext uri="{FF2B5EF4-FFF2-40B4-BE49-F238E27FC236}">
                <a16:creationId xmlns:a16="http://schemas.microsoft.com/office/drawing/2014/main" id="{B5E4D50A-666C-C5FB-AA9B-93CFD38B0492}"/>
              </a:ext>
            </a:extLst>
          </p:cNvPr>
          <p:cNvSpPr txBox="1"/>
          <p:nvPr/>
        </p:nvSpPr>
        <p:spPr>
          <a:xfrm>
            <a:off x="212526" y="5955054"/>
            <a:ext cx="6097190" cy="646331"/>
          </a:xfrm>
          <a:prstGeom prst="rect">
            <a:avLst/>
          </a:prstGeom>
          <a:noFill/>
        </p:spPr>
        <p:txBody>
          <a:bodyPr wrap="square">
            <a:spAutoFit/>
          </a:bodyPr>
          <a:lstStyle/>
          <a:p>
            <a:r>
              <a:rPr lang="en-GB" dirty="0">
                <a:hlinkClick r:id="rId4"/>
              </a:rPr>
              <a:t>https://www.menti.com/alquw5aa3won</a:t>
            </a:r>
            <a:endParaRPr lang="en-GB" dirty="0"/>
          </a:p>
          <a:p>
            <a:r>
              <a:rPr lang="en-GB" dirty="0"/>
              <a:t>Or code: 2987 1383</a:t>
            </a:r>
          </a:p>
        </p:txBody>
      </p:sp>
    </p:spTree>
    <p:extLst>
      <p:ext uri="{BB962C8B-B14F-4D97-AF65-F5344CB8AC3E}">
        <p14:creationId xmlns:p14="http://schemas.microsoft.com/office/powerpoint/2010/main" val="14737833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06C18-88B7-90B2-232D-948CB7F3BBEF}"/>
              </a:ext>
            </a:extLst>
          </p:cNvPr>
          <p:cNvSpPr>
            <a:spLocks noGrp="1"/>
          </p:cNvSpPr>
          <p:nvPr>
            <p:ph type="title"/>
          </p:nvPr>
        </p:nvSpPr>
        <p:spPr/>
        <p:txBody>
          <a:bodyPr/>
          <a:lstStyle/>
          <a:p>
            <a:r>
              <a:rPr lang="en-GB" b="1" i="0" dirty="0">
                <a:effectLst/>
                <a:latin typeface="system-ui"/>
              </a:rPr>
              <a:t>Bayes’ rule</a:t>
            </a:r>
            <a:br>
              <a:rPr lang="en-GB" b="1" i="0" dirty="0">
                <a:effectLst/>
                <a:latin typeface="system-ui"/>
              </a:rPr>
            </a:br>
            <a:r>
              <a:rPr lang="en-GB" b="1" i="0" dirty="0">
                <a:effectLst/>
                <a:latin typeface="system-ui"/>
              </a:rPr>
              <a:t>Inverting conditional distributions</a:t>
            </a:r>
            <a:endParaRPr lang="en-GB" dirty="0"/>
          </a:p>
        </p:txBody>
      </p:sp>
      <p:sp>
        <p:nvSpPr>
          <p:cNvPr id="3" name="Content Placeholder 2">
            <a:extLst>
              <a:ext uri="{FF2B5EF4-FFF2-40B4-BE49-F238E27FC236}">
                <a16:creationId xmlns:a16="http://schemas.microsoft.com/office/drawing/2014/main" id="{D282AD2B-B364-B744-7BB1-0538CEA373BA}"/>
              </a:ext>
            </a:extLst>
          </p:cNvPr>
          <p:cNvSpPr>
            <a:spLocks noGrp="1"/>
          </p:cNvSpPr>
          <p:nvPr>
            <p:ph sz="quarter" idx="13"/>
          </p:nvPr>
        </p:nvSpPr>
        <p:spPr/>
        <p:txBody>
          <a:bodyPr/>
          <a:lstStyle/>
          <a:p>
            <a:pPr marL="0" indent="0" algn="l">
              <a:buNone/>
            </a:pPr>
            <a:r>
              <a:rPr lang="en-US" b="0" i="0" dirty="0">
                <a:effectLst/>
                <a:latin typeface="system-ui"/>
              </a:rPr>
              <a:t>We often want to know the </a:t>
            </a:r>
            <a:r>
              <a:rPr lang="en-US" b="0" i="0" dirty="0">
                <a:solidFill>
                  <a:schemeClr val="accent4"/>
                </a:solidFill>
                <a:effectLst/>
                <a:latin typeface="system-ui"/>
              </a:rPr>
              <a:t>probability of some event A given some other event B</a:t>
            </a:r>
            <a:r>
              <a:rPr lang="en-US" b="0" i="0" dirty="0">
                <a:effectLst/>
                <a:latin typeface="system-ui"/>
              </a:rPr>
              <a:t>; that is P(A|B). But we are often in a situation where </a:t>
            </a:r>
            <a:r>
              <a:rPr lang="en-US" b="0" i="0" dirty="0">
                <a:solidFill>
                  <a:schemeClr val="accent5"/>
                </a:solidFill>
                <a:effectLst/>
                <a:latin typeface="system-ui"/>
              </a:rPr>
              <a:t>we can only compute P(B|A)</a:t>
            </a:r>
            <a:r>
              <a:rPr lang="en-US" b="0" i="0" dirty="0">
                <a:effectLst/>
                <a:latin typeface="system-ui"/>
              </a:rPr>
              <a:t>.</a:t>
            </a:r>
          </a:p>
          <a:p>
            <a:pPr marL="0" indent="0" algn="l">
              <a:buNone/>
            </a:pPr>
            <a:r>
              <a:rPr lang="en-US" b="0" i="0" dirty="0">
                <a:effectLst/>
                <a:latin typeface="system-ui"/>
              </a:rPr>
              <a:t>This case is usually:</a:t>
            </a:r>
          </a:p>
          <a:p>
            <a:pPr algn="l">
              <a:buFont typeface="Arial" panose="020B0604020202020204" pitchFamily="34" charset="0"/>
              <a:buChar char="•"/>
            </a:pPr>
            <a:r>
              <a:rPr lang="en-US" b="0" i="0" dirty="0">
                <a:effectLst/>
                <a:latin typeface="system-ui"/>
              </a:rPr>
              <a:t>we know how the mysterious entity behaves P(B|A);</a:t>
            </a:r>
          </a:p>
          <a:p>
            <a:pPr algn="l">
              <a:buFont typeface="Arial" panose="020B0604020202020204" pitchFamily="34" charset="0"/>
              <a:buChar char="•"/>
            </a:pPr>
            <a:r>
              <a:rPr lang="en-US" b="0" i="0" dirty="0">
                <a:effectLst/>
                <a:latin typeface="system-ui"/>
              </a:rPr>
              <a:t>we know what data we saw P(B);</a:t>
            </a:r>
          </a:p>
          <a:p>
            <a:pPr algn="l">
              <a:buFont typeface="Arial" panose="020B0604020202020204" pitchFamily="34" charset="0"/>
              <a:buChar char="•"/>
            </a:pPr>
            <a:r>
              <a:rPr lang="en-US" b="0" i="0" dirty="0">
                <a:effectLst/>
                <a:latin typeface="system-ui"/>
              </a:rPr>
              <a:t>we know what the mysterious entity is likely to be up to in general P(A);</a:t>
            </a:r>
          </a:p>
          <a:p>
            <a:pPr algn="l">
              <a:buFont typeface="Arial" panose="020B0604020202020204" pitchFamily="34" charset="0"/>
              <a:buChar char="•"/>
            </a:pPr>
            <a:r>
              <a:rPr lang="en-US" b="0" i="0" dirty="0">
                <a:effectLst/>
                <a:latin typeface="system-ui"/>
              </a:rPr>
              <a:t>and we want to work out what the mysterious entity is doing P(A|B).</a:t>
            </a:r>
          </a:p>
          <a:p>
            <a:endParaRPr lang="en-GB" dirty="0"/>
          </a:p>
        </p:txBody>
      </p:sp>
    </p:spTree>
    <p:extLst>
      <p:ext uri="{BB962C8B-B14F-4D97-AF65-F5344CB8AC3E}">
        <p14:creationId xmlns:p14="http://schemas.microsoft.com/office/powerpoint/2010/main" val="33438716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2D998-5673-B625-369D-419C049B72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C35EF3-3EEF-54E8-E52A-E9A8B9A9F382}"/>
              </a:ext>
            </a:extLst>
          </p:cNvPr>
          <p:cNvSpPr>
            <a:spLocks noGrp="1"/>
          </p:cNvSpPr>
          <p:nvPr>
            <p:ph type="title"/>
          </p:nvPr>
        </p:nvSpPr>
        <p:spPr/>
        <p:txBody>
          <a:bodyPr/>
          <a:lstStyle/>
          <a:p>
            <a:r>
              <a:rPr lang="en-GB" b="1" i="0" dirty="0">
                <a:effectLst/>
                <a:latin typeface="system-ui"/>
              </a:rPr>
              <a:t>Bayes’ rule</a:t>
            </a:r>
            <a:br>
              <a:rPr lang="en-GB" b="1" i="0" dirty="0">
                <a:effectLst/>
                <a:latin typeface="system-ui"/>
              </a:rPr>
            </a:br>
            <a:r>
              <a:rPr lang="en-GB" b="1" i="0" dirty="0">
                <a:effectLst/>
                <a:latin typeface="system-ui"/>
              </a:rPr>
              <a:t>Inverting conditional distributions</a:t>
            </a:r>
            <a:endParaRPr lang="en-GB" dirty="0"/>
          </a:p>
        </p:txBody>
      </p:sp>
      <p:sp>
        <p:nvSpPr>
          <p:cNvPr id="3" name="Content Placeholder 2">
            <a:extLst>
              <a:ext uri="{FF2B5EF4-FFF2-40B4-BE49-F238E27FC236}">
                <a16:creationId xmlns:a16="http://schemas.microsoft.com/office/drawing/2014/main" id="{84823C27-7E33-4B76-7D3C-E44104381D17}"/>
              </a:ext>
            </a:extLst>
          </p:cNvPr>
          <p:cNvSpPr>
            <a:spLocks noGrp="1"/>
          </p:cNvSpPr>
          <p:nvPr>
            <p:ph sz="quarter" idx="13"/>
          </p:nvPr>
        </p:nvSpPr>
        <p:spPr/>
        <p:txBody>
          <a:bodyPr/>
          <a:lstStyle/>
          <a:p>
            <a:pPr marL="0" indent="0" algn="l">
              <a:buNone/>
            </a:pPr>
            <a:r>
              <a:rPr lang="en-US" b="0" i="0" dirty="0">
                <a:effectLst/>
                <a:latin typeface="system-ui"/>
              </a:rPr>
              <a:t>We often want to know the </a:t>
            </a:r>
            <a:r>
              <a:rPr lang="en-US" b="0" i="0" dirty="0">
                <a:solidFill>
                  <a:schemeClr val="accent4"/>
                </a:solidFill>
                <a:effectLst/>
                <a:latin typeface="system-ui"/>
              </a:rPr>
              <a:t>probability of some event A given some other event B</a:t>
            </a:r>
            <a:r>
              <a:rPr lang="en-US" b="0" i="0" dirty="0">
                <a:effectLst/>
                <a:latin typeface="system-ui"/>
              </a:rPr>
              <a:t>; that is P(A|B). But we are often in a situation where </a:t>
            </a:r>
            <a:r>
              <a:rPr lang="en-US" b="0" i="0" dirty="0">
                <a:solidFill>
                  <a:schemeClr val="accent5"/>
                </a:solidFill>
                <a:effectLst/>
                <a:latin typeface="system-ui"/>
              </a:rPr>
              <a:t>we can only compute P(B|A)</a:t>
            </a:r>
            <a:r>
              <a:rPr lang="en-US" b="0" i="0" dirty="0">
                <a:effectLst/>
                <a:latin typeface="system-ui"/>
              </a:rPr>
              <a:t>.</a:t>
            </a:r>
          </a:p>
          <a:p>
            <a:pPr marL="0" indent="0">
              <a:buNone/>
            </a:pPr>
            <a:endParaRPr lang="en-GB" dirty="0"/>
          </a:p>
          <a:p>
            <a:pPr marL="0" indent="0" algn="l">
              <a:buNone/>
            </a:pPr>
            <a:r>
              <a:rPr lang="en-US" b="0" i="0" dirty="0">
                <a:effectLst/>
                <a:latin typeface="system-ui"/>
              </a:rPr>
              <a:t>In general P(A|B)≠P(B|A); and the two expressions can be completely different.</a:t>
            </a:r>
          </a:p>
          <a:p>
            <a:pPr marL="0" indent="0" algn="l">
              <a:buNone/>
            </a:pPr>
            <a:r>
              <a:rPr lang="en-US" b="0" i="0" dirty="0">
                <a:effectLst/>
                <a:latin typeface="system-ui"/>
              </a:rPr>
              <a:t>Typically, this type of problem occurs where we:</a:t>
            </a:r>
          </a:p>
          <a:p>
            <a:pPr algn="l">
              <a:buFont typeface="Arial" panose="020B0604020202020204" pitchFamily="34" charset="0"/>
              <a:buChar char="•"/>
            </a:pPr>
            <a:r>
              <a:rPr lang="en-US" b="0" i="0" dirty="0">
                <a:effectLst/>
                <a:latin typeface="system-ui"/>
              </a:rPr>
              <a:t>want to know the probability of some event given some </a:t>
            </a:r>
            <a:r>
              <a:rPr lang="en-US" b="0" i="1" dirty="0">
                <a:solidFill>
                  <a:schemeClr val="accent5"/>
                </a:solidFill>
                <a:effectLst/>
                <a:latin typeface="system-ui"/>
              </a:rPr>
              <a:t>evidence</a:t>
            </a:r>
            <a:r>
              <a:rPr lang="en-US" b="0" i="0" dirty="0">
                <a:effectLst/>
                <a:latin typeface="system-ui"/>
              </a:rPr>
              <a:t> (</a:t>
            </a:r>
            <a:r>
              <a:rPr lang="en-US" b="0" i="1" dirty="0">
                <a:solidFill>
                  <a:schemeClr val="accent4"/>
                </a:solidFill>
                <a:effectLst/>
                <a:latin typeface="system-ui"/>
              </a:rPr>
              <a:t>how likely is it that I have a disease given that my blood test came back positive?</a:t>
            </a:r>
            <a:r>
              <a:rPr lang="en-US" b="0" i="0" dirty="0">
                <a:effectLst/>
                <a:latin typeface="system-ui"/>
              </a:rPr>
              <a:t>)</a:t>
            </a:r>
          </a:p>
          <a:p>
            <a:pPr algn="l">
              <a:buFont typeface="Arial" panose="020B0604020202020204" pitchFamily="34" charset="0"/>
              <a:buChar char="•"/>
            </a:pPr>
            <a:r>
              <a:rPr lang="en-US" b="0" i="0" dirty="0">
                <a:effectLst/>
                <a:latin typeface="system-ui"/>
              </a:rPr>
              <a:t>but we only know </a:t>
            </a:r>
            <a:r>
              <a:rPr lang="en-US" b="0" i="0" dirty="0">
                <a:solidFill>
                  <a:schemeClr val="accent5"/>
                </a:solidFill>
                <a:effectLst/>
                <a:latin typeface="system-ui"/>
              </a:rPr>
              <a:t>the probability of observing evidence given the event </a:t>
            </a:r>
            <a:r>
              <a:rPr lang="en-US" b="0" i="0" dirty="0">
                <a:effectLst/>
                <a:latin typeface="system-ui"/>
              </a:rPr>
              <a:t>(</a:t>
            </a:r>
            <a:r>
              <a:rPr lang="en-US" b="0" i="1" dirty="0">
                <a:solidFill>
                  <a:schemeClr val="accent4"/>
                </a:solidFill>
                <a:effectLst/>
                <a:latin typeface="system-ui"/>
              </a:rPr>
              <a:t>if you have this disease, the blood test will come back positive 95% of the time</a:t>
            </a:r>
            <a:r>
              <a:rPr lang="en-US" b="0" i="0" dirty="0">
                <a:effectLst/>
                <a:latin typeface="system-ui"/>
              </a:rPr>
              <a:t>).</a:t>
            </a:r>
          </a:p>
          <a:p>
            <a:pPr marL="0" indent="0">
              <a:buNone/>
            </a:pPr>
            <a:endParaRPr lang="en-GB" dirty="0"/>
          </a:p>
        </p:txBody>
      </p:sp>
    </p:spTree>
    <p:extLst>
      <p:ext uri="{BB962C8B-B14F-4D97-AF65-F5344CB8AC3E}">
        <p14:creationId xmlns:p14="http://schemas.microsoft.com/office/powerpoint/2010/main" val="29073655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ECA98-9A74-A277-14B6-4BDE21B24E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2C149D-8B83-06AB-A6D7-772695B29E8A}"/>
              </a:ext>
            </a:extLst>
          </p:cNvPr>
          <p:cNvSpPr>
            <a:spLocks noGrp="1"/>
          </p:cNvSpPr>
          <p:nvPr>
            <p:ph type="title"/>
          </p:nvPr>
        </p:nvSpPr>
        <p:spPr/>
        <p:txBody>
          <a:bodyPr/>
          <a:lstStyle/>
          <a:p>
            <a:r>
              <a:rPr lang="en-GB" b="1" i="0" dirty="0">
                <a:effectLst/>
                <a:latin typeface="system-ui"/>
              </a:rPr>
              <a:t>Bayes’ rule</a:t>
            </a:r>
            <a:br>
              <a:rPr lang="en-GB" b="1" i="0" dirty="0">
                <a:effectLst/>
                <a:latin typeface="system-ui"/>
              </a:rPr>
            </a:br>
            <a:r>
              <a:rPr lang="en-GB" b="1" i="0" dirty="0">
                <a:effectLst/>
                <a:latin typeface="system-ui"/>
              </a:rPr>
              <a:t>Inverting conditional distributions</a:t>
            </a:r>
            <a:endParaRPr lang="en-GB" dirty="0"/>
          </a:p>
        </p:txBody>
      </p:sp>
      <p:sp>
        <p:nvSpPr>
          <p:cNvPr id="3" name="Content Placeholder 2">
            <a:extLst>
              <a:ext uri="{FF2B5EF4-FFF2-40B4-BE49-F238E27FC236}">
                <a16:creationId xmlns:a16="http://schemas.microsoft.com/office/drawing/2014/main" id="{A2EF60FC-C92A-54D5-1132-38449035B562}"/>
              </a:ext>
            </a:extLst>
          </p:cNvPr>
          <p:cNvSpPr>
            <a:spLocks noGrp="1"/>
          </p:cNvSpPr>
          <p:nvPr>
            <p:ph sz="quarter" idx="13"/>
          </p:nvPr>
        </p:nvSpPr>
        <p:spPr/>
        <p:txBody>
          <a:bodyPr/>
          <a:lstStyle/>
          <a:p>
            <a:pPr marL="0" indent="0" algn="l">
              <a:buNone/>
            </a:pPr>
            <a:r>
              <a:rPr lang="en-US" b="0" i="0" dirty="0">
                <a:effectLst/>
                <a:latin typeface="system-ui"/>
              </a:rPr>
              <a:t>We often want to know the probability of some event A given some other event B; that is P(A|B). But we are often in a situation where we can only compute P(B|A).</a:t>
            </a:r>
          </a:p>
          <a:p>
            <a:pPr marL="0" indent="0">
              <a:buNone/>
            </a:pPr>
            <a:endParaRPr lang="en-GB" dirty="0"/>
          </a:p>
          <a:p>
            <a:pPr marL="0" indent="0">
              <a:buNone/>
            </a:pPr>
            <a:r>
              <a:rPr lang="en-US" b="1" i="0" dirty="0">
                <a:effectLst/>
                <a:latin typeface="system-ui"/>
              </a:rPr>
              <a:t>Bayes' rule</a:t>
            </a:r>
            <a:r>
              <a:rPr lang="en-US" b="0" i="0" dirty="0">
                <a:effectLst/>
                <a:latin typeface="system-ui"/>
              </a:rPr>
              <a:t> gives the correct way to invert the probability distribution:</a:t>
            </a: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endParaRPr lang="en-US" b="0" i="0" dirty="0">
              <a:effectLst/>
              <a:latin typeface="system-ui"/>
            </a:endParaRPr>
          </a:p>
          <a:p>
            <a:pPr marL="0" indent="0">
              <a:buNone/>
            </a:pPr>
            <a:r>
              <a:rPr lang="en-US" b="0" i="0" dirty="0">
                <a:effectLst/>
                <a:latin typeface="system-ui"/>
              </a:rPr>
              <a:t>This follows directly from the axioms of probability. Bayes' Rule is a very important rule, and has some surprising consequences.</a:t>
            </a:r>
            <a:endParaRPr lang="en-GB" dirty="0"/>
          </a:p>
          <a:p>
            <a:pPr marL="0" indent="0">
              <a:buNone/>
            </a:pPr>
            <a:endParaRPr lang="en-GB" dirty="0"/>
          </a:p>
          <a:p>
            <a:pPr marL="0" indent="0">
              <a:buNone/>
            </a:pPr>
            <a:endParaRPr lang="en-GB" dirty="0"/>
          </a:p>
        </p:txBody>
      </p:sp>
      <p:pic>
        <p:nvPicPr>
          <p:cNvPr id="5" name="Picture 4">
            <a:extLst>
              <a:ext uri="{FF2B5EF4-FFF2-40B4-BE49-F238E27FC236}">
                <a16:creationId xmlns:a16="http://schemas.microsoft.com/office/drawing/2014/main" id="{A4CE30F1-0957-CA7E-48D0-06D32299AF73}"/>
              </a:ext>
            </a:extLst>
          </p:cNvPr>
          <p:cNvPicPr>
            <a:picLocks noChangeAspect="1"/>
          </p:cNvPicPr>
          <p:nvPr/>
        </p:nvPicPr>
        <p:blipFill>
          <a:blip r:embed="rId2"/>
          <a:stretch>
            <a:fillRect/>
          </a:stretch>
        </p:blipFill>
        <p:spPr>
          <a:xfrm>
            <a:off x="4199052" y="3720601"/>
            <a:ext cx="3647845" cy="1036546"/>
          </a:xfrm>
          <a:prstGeom prst="rect">
            <a:avLst/>
          </a:prstGeom>
        </p:spPr>
      </p:pic>
    </p:spTree>
    <p:extLst>
      <p:ext uri="{BB962C8B-B14F-4D97-AF65-F5344CB8AC3E}">
        <p14:creationId xmlns:p14="http://schemas.microsoft.com/office/powerpoint/2010/main" val="16613813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9D668-9460-FC56-504A-BCEBD7D62669}"/>
              </a:ext>
            </a:extLst>
          </p:cNvPr>
          <p:cNvSpPr>
            <a:spLocks noGrp="1"/>
          </p:cNvSpPr>
          <p:nvPr>
            <p:ph type="title"/>
          </p:nvPr>
        </p:nvSpPr>
        <p:spPr/>
        <p:txBody>
          <a:bodyPr/>
          <a:lstStyle/>
          <a:p>
            <a:r>
              <a:rPr lang="en-GB" dirty="0"/>
              <a:t>Bayes’ rule</a:t>
            </a:r>
            <a:br>
              <a:rPr lang="en-GB" dirty="0"/>
            </a:br>
            <a:r>
              <a:rPr lang="en-GB" dirty="0"/>
              <a:t>Nomenclature</a:t>
            </a:r>
          </a:p>
        </p:txBody>
      </p:sp>
      <p:sp>
        <p:nvSpPr>
          <p:cNvPr id="3" name="Content Placeholder 2">
            <a:extLst>
              <a:ext uri="{FF2B5EF4-FFF2-40B4-BE49-F238E27FC236}">
                <a16:creationId xmlns:a16="http://schemas.microsoft.com/office/drawing/2014/main" id="{DD8AFBF3-B442-1B23-6B00-35CED7DD81CC}"/>
              </a:ext>
            </a:extLst>
          </p:cNvPr>
          <p:cNvSpPr>
            <a:spLocks noGrp="1"/>
          </p:cNvSpPr>
          <p:nvPr>
            <p:ph sz="quarter" idx="13"/>
          </p:nvPr>
        </p:nvSpPr>
        <p:spPr/>
        <p:txBody>
          <a:bodyPr/>
          <a:lstStyle/>
          <a:p>
            <a:pPr algn="l">
              <a:buFont typeface="Arial" panose="020B0604020202020204" pitchFamily="34" charset="0"/>
              <a:buChar char="•"/>
            </a:pPr>
            <a:r>
              <a:rPr lang="en-US" b="0" i="0" dirty="0">
                <a:effectLst/>
                <a:latin typeface="system-ui"/>
              </a:rPr>
              <a:t>P(A|B) is called the </a:t>
            </a:r>
            <a:r>
              <a:rPr lang="en-US" b="1" i="0" dirty="0">
                <a:solidFill>
                  <a:schemeClr val="accent5"/>
                </a:solidFill>
                <a:effectLst/>
                <a:latin typeface="system-ui"/>
              </a:rPr>
              <a:t>posterior</a:t>
            </a:r>
            <a:r>
              <a:rPr lang="en-US" b="0" i="0" dirty="0">
                <a:effectLst/>
                <a:latin typeface="system-ui"/>
              </a:rPr>
              <a:t> -- what we want to know, or will know after the computation</a:t>
            </a:r>
          </a:p>
          <a:p>
            <a:pPr algn="l">
              <a:buFont typeface="Arial" panose="020B0604020202020204" pitchFamily="34" charset="0"/>
              <a:buChar char="•"/>
            </a:pPr>
            <a:r>
              <a:rPr lang="en-US" b="0" i="0" dirty="0">
                <a:effectLst/>
                <a:latin typeface="system-ui"/>
              </a:rPr>
              <a:t>P(B|A) is called the </a:t>
            </a:r>
            <a:r>
              <a:rPr lang="en-US" b="1" i="0" dirty="0">
                <a:solidFill>
                  <a:schemeClr val="accent5"/>
                </a:solidFill>
                <a:effectLst/>
                <a:latin typeface="system-ui"/>
              </a:rPr>
              <a:t>likelihood</a:t>
            </a:r>
            <a:r>
              <a:rPr lang="en-US" b="0" i="0" dirty="0">
                <a:effectLst/>
                <a:latin typeface="system-ui"/>
              </a:rPr>
              <a:t> -- how likely the event A is to produce the evidence we see</a:t>
            </a:r>
          </a:p>
          <a:p>
            <a:pPr algn="l">
              <a:buFont typeface="Arial" panose="020B0604020202020204" pitchFamily="34" charset="0"/>
              <a:buChar char="•"/>
            </a:pPr>
            <a:r>
              <a:rPr lang="en-US" b="0" i="0" dirty="0">
                <a:effectLst/>
                <a:latin typeface="system-ui"/>
              </a:rPr>
              <a:t>P(A) is the </a:t>
            </a:r>
            <a:r>
              <a:rPr lang="en-US" b="1" i="0" dirty="0">
                <a:solidFill>
                  <a:schemeClr val="accent5"/>
                </a:solidFill>
                <a:effectLst/>
                <a:latin typeface="system-ui"/>
              </a:rPr>
              <a:t>prior</a:t>
            </a:r>
            <a:r>
              <a:rPr lang="en-US" b="0" i="0" dirty="0">
                <a:effectLst/>
                <a:latin typeface="system-ui"/>
              </a:rPr>
              <a:t> -- how likely the event A is regardless of evidence</a:t>
            </a:r>
          </a:p>
          <a:p>
            <a:pPr algn="l">
              <a:buFont typeface="Arial" panose="020B0604020202020204" pitchFamily="34" charset="0"/>
              <a:buChar char="•"/>
            </a:pPr>
            <a:r>
              <a:rPr lang="en-US" b="0" i="0" dirty="0">
                <a:effectLst/>
                <a:latin typeface="system-ui"/>
              </a:rPr>
              <a:t>P(B) is the </a:t>
            </a:r>
            <a:r>
              <a:rPr lang="en-US" b="1" i="0" dirty="0">
                <a:solidFill>
                  <a:schemeClr val="accent5"/>
                </a:solidFill>
                <a:effectLst/>
                <a:latin typeface="system-ui"/>
              </a:rPr>
              <a:t>evidence</a:t>
            </a:r>
            <a:r>
              <a:rPr lang="en-US" b="0" i="0" dirty="0">
                <a:effectLst/>
                <a:latin typeface="system-ui"/>
              </a:rPr>
              <a:t> -- how likely the evidence B is regardless of the event.</a:t>
            </a:r>
          </a:p>
          <a:p>
            <a:pPr marL="0" indent="0" algn="l">
              <a:buNone/>
            </a:pPr>
            <a:r>
              <a:rPr lang="en-US" b="0" i="0" dirty="0">
                <a:effectLst/>
                <a:latin typeface="system-ui"/>
              </a:rPr>
              <a:t>Bayes' rule gives a consistent rule to take some prior belief and combine it with observed data to estimate a new distribution which combines them.</a:t>
            </a:r>
          </a:p>
          <a:p>
            <a:endParaRPr lang="en-GB" dirty="0"/>
          </a:p>
        </p:txBody>
      </p:sp>
    </p:spTree>
    <p:extLst>
      <p:ext uri="{BB962C8B-B14F-4D97-AF65-F5344CB8AC3E}">
        <p14:creationId xmlns:p14="http://schemas.microsoft.com/office/powerpoint/2010/main" val="10169811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72F5-F0D8-AF83-F546-D16F5A191883}"/>
              </a:ext>
            </a:extLst>
          </p:cNvPr>
          <p:cNvSpPr>
            <a:spLocks noGrp="1"/>
          </p:cNvSpPr>
          <p:nvPr>
            <p:ph type="title"/>
          </p:nvPr>
        </p:nvSpPr>
        <p:spPr/>
        <p:txBody>
          <a:bodyPr/>
          <a:lstStyle/>
          <a:p>
            <a:r>
              <a:rPr lang="en-GB" dirty="0"/>
              <a:t>Bayes’ rule</a:t>
            </a:r>
            <a:br>
              <a:rPr lang="en-GB" dirty="0"/>
            </a:br>
            <a:r>
              <a:rPr lang="en-GB" dirty="0"/>
              <a:t>Nomenclature</a:t>
            </a:r>
          </a:p>
        </p:txBody>
      </p:sp>
      <p:sp>
        <p:nvSpPr>
          <p:cNvPr id="3" name="Content Placeholder 2">
            <a:extLst>
              <a:ext uri="{FF2B5EF4-FFF2-40B4-BE49-F238E27FC236}">
                <a16:creationId xmlns:a16="http://schemas.microsoft.com/office/drawing/2014/main" id="{0EB4F4F2-FBE3-CA2C-7C84-2BD11B094B56}"/>
              </a:ext>
            </a:extLst>
          </p:cNvPr>
          <p:cNvSpPr>
            <a:spLocks noGrp="1"/>
          </p:cNvSpPr>
          <p:nvPr>
            <p:ph sz="quarter" idx="13"/>
          </p:nvPr>
        </p:nvSpPr>
        <p:spPr/>
        <p:txBody>
          <a:bodyPr>
            <a:normAutofit fontScale="92500"/>
          </a:bodyPr>
          <a:lstStyle/>
          <a:p>
            <a:pPr marL="0" indent="0" algn="l">
              <a:buNone/>
            </a:pPr>
            <a:r>
              <a:rPr lang="en-US" b="0" i="0" dirty="0">
                <a:effectLst/>
                <a:latin typeface="system-ui"/>
              </a:rPr>
              <a:t>We often phrase this as some </a:t>
            </a:r>
            <a:r>
              <a:rPr lang="en-US" b="1" i="0" dirty="0">
                <a:solidFill>
                  <a:schemeClr val="accent5"/>
                </a:solidFill>
                <a:effectLst/>
                <a:latin typeface="system-ui"/>
              </a:rPr>
              <a:t>hypothesis</a:t>
            </a:r>
            <a:r>
              <a:rPr lang="en-US" b="0" i="0" dirty="0">
                <a:solidFill>
                  <a:schemeClr val="accent5"/>
                </a:solidFill>
                <a:effectLst/>
                <a:latin typeface="system-ui"/>
              </a:rPr>
              <a:t> H</a:t>
            </a:r>
            <a:r>
              <a:rPr lang="en-US" b="0" i="0" dirty="0">
                <a:effectLst/>
                <a:latin typeface="system-ui"/>
              </a:rPr>
              <a:t> we want to know, given some </a:t>
            </a:r>
            <a:r>
              <a:rPr lang="en-US" b="1" i="0" dirty="0">
                <a:solidFill>
                  <a:schemeClr val="accent5"/>
                </a:solidFill>
                <a:effectLst/>
                <a:latin typeface="system-ui"/>
              </a:rPr>
              <a:t>data</a:t>
            </a:r>
            <a:r>
              <a:rPr lang="en-US" b="0" i="0" dirty="0">
                <a:solidFill>
                  <a:schemeClr val="accent5"/>
                </a:solidFill>
                <a:effectLst/>
                <a:latin typeface="system-ui"/>
              </a:rPr>
              <a:t> D</a:t>
            </a:r>
            <a:r>
              <a:rPr lang="en-US" b="0" i="0" dirty="0">
                <a:effectLst/>
                <a:latin typeface="system-ui"/>
              </a:rPr>
              <a:t> we observe, and we write Bayes' Rule as:</a:t>
            </a:r>
          </a:p>
          <a:p>
            <a:pPr marL="0" indent="0" algn="l">
              <a:buNone/>
            </a:pPr>
            <a:endParaRPr lang="en-US" b="0" i="0" dirty="0">
              <a:effectLst/>
              <a:latin typeface="system-ui"/>
            </a:endParaRPr>
          </a:p>
          <a:p>
            <a:pPr marL="0" indent="0" algn="l">
              <a:buNone/>
            </a:pPr>
            <a:endParaRPr lang="en-US" b="0" i="0" dirty="0">
              <a:effectLst/>
              <a:latin typeface="system-ui"/>
            </a:endParaRPr>
          </a:p>
          <a:p>
            <a:pPr marL="0" indent="0" algn="l">
              <a:buNone/>
            </a:pPr>
            <a:endParaRPr lang="en-US" dirty="0">
              <a:latin typeface="system-ui"/>
            </a:endParaRPr>
          </a:p>
          <a:p>
            <a:pPr marL="0" indent="0" algn="l">
              <a:buNone/>
            </a:pPr>
            <a:endParaRPr lang="en-US" b="0" i="0" dirty="0">
              <a:effectLst/>
              <a:latin typeface="system-ui"/>
            </a:endParaRPr>
          </a:p>
          <a:p>
            <a:pPr marL="0" indent="0" algn="l">
              <a:buNone/>
            </a:pPr>
            <a:r>
              <a:rPr lang="en-US" b="0" i="0" dirty="0">
                <a:effectLst/>
                <a:latin typeface="system-ui"/>
              </a:rPr>
              <a:t>H and D are random variables in this expression.</a:t>
            </a:r>
          </a:p>
          <a:p>
            <a:pPr marL="0" indent="0" algn="l">
              <a:buNone/>
            </a:pPr>
            <a:r>
              <a:rPr lang="en-US" b="0" i="0" dirty="0">
                <a:solidFill>
                  <a:schemeClr val="accent4"/>
                </a:solidFill>
                <a:effectLst/>
                <a:latin typeface="system-ui"/>
              </a:rPr>
              <a:t>(the probability of the hypothesis given the data) is equal to (the probability of the data given the hypothesis) times (the probability of the hypothesis) divided by (the probability of the data). </a:t>
            </a:r>
          </a:p>
          <a:p>
            <a:pPr marL="0" indent="0" algn="l">
              <a:buNone/>
            </a:pPr>
            <a:r>
              <a:rPr lang="en-US" b="0" i="0" dirty="0">
                <a:effectLst/>
                <a:latin typeface="system-ui"/>
              </a:rPr>
              <a:t>In other words, if we want to work out how likely a hypothesis is to be true given observations, but we only know how likely we are to have seen those observations if that hypothesis </a:t>
            </a:r>
            <a:r>
              <a:rPr lang="en-US" b="0" i="1" dirty="0">
                <a:effectLst/>
                <a:latin typeface="system-ui"/>
              </a:rPr>
              <a:t>was</a:t>
            </a:r>
            <a:r>
              <a:rPr lang="en-US" b="0" i="0" dirty="0">
                <a:effectLst/>
                <a:latin typeface="system-ui"/>
              </a:rPr>
              <a:t> true, we can use Bayes' rule to solve the problem.</a:t>
            </a:r>
          </a:p>
          <a:p>
            <a:endParaRPr lang="en-GB" dirty="0"/>
          </a:p>
        </p:txBody>
      </p:sp>
      <p:pic>
        <p:nvPicPr>
          <p:cNvPr id="5" name="Picture 4">
            <a:extLst>
              <a:ext uri="{FF2B5EF4-FFF2-40B4-BE49-F238E27FC236}">
                <a16:creationId xmlns:a16="http://schemas.microsoft.com/office/drawing/2014/main" id="{52E46852-B1E9-EFE3-AD6F-F800C216FDE8}"/>
              </a:ext>
            </a:extLst>
          </p:cNvPr>
          <p:cNvPicPr>
            <a:picLocks noChangeAspect="1"/>
          </p:cNvPicPr>
          <p:nvPr/>
        </p:nvPicPr>
        <p:blipFill>
          <a:blip r:embed="rId2"/>
          <a:stretch>
            <a:fillRect/>
          </a:stretch>
        </p:blipFill>
        <p:spPr>
          <a:xfrm>
            <a:off x="4339646" y="2605215"/>
            <a:ext cx="3512708" cy="944276"/>
          </a:xfrm>
          <a:prstGeom prst="rect">
            <a:avLst/>
          </a:prstGeom>
        </p:spPr>
      </p:pic>
    </p:spTree>
    <p:extLst>
      <p:ext uri="{BB962C8B-B14F-4D97-AF65-F5344CB8AC3E}">
        <p14:creationId xmlns:p14="http://schemas.microsoft.com/office/powerpoint/2010/main" val="38346369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973B1-B1F2-7A52-EAAF-BF5B9E36A3A6}"/>
              </a:ext>
            </a:extLst>
          </p:cNvPr>
          <p:cNvSpPr>
            <a:spLocks noGrp="1"/>
          </p:cNvSpPr>
          <p:nvPr>
            <p:ph type="title"/>
          </p:nvPr>
        </p:nvSpPr>
        <p:spPr/>
        <p:txBody>
          <a:bodyPr/>
          <a:lstStyle/>
          <a:p>
            <a:r>
              <a:rPr lang="en-GB" dirty="0"/>
              <a:t>Bayes’ rule</a:t>
            </a:r>
            <a:br>
              <a:rPr lang="en-GB" dirty="0"/>
            </a:br>
            <a:r>
              <a:rPr lang="en-GB" dirty="0"/>
              <a:t>Marginalising the evidence</a:t>
            </a:r>
          </a:p>
        </p:txBody>
      </p:sp>
      <p:sp>
        <p:nvSpPr>
          <p:cNvPr id="3" name="Content Placeholder 2">
            <a:extLst>
              <a:ext uri="{FF2B5EF4-FFF2-40B4-BE49-F238E27FC236}">
                <a16:creationId xmlns:a16="http://schemas.microsoft.com/office/drawing/2014/main" id="{D5CE01DD-057B-1293-40DF-75D694AEEA83}"/>
              </a:ext>
            </a:extLst>
          </p:cNvPr>
          <p:cNvSpPr>
            <a:spLocks noGrp="1"/>
          </p:cNvSpPr>
          <p:nvPr>
            <p:ph sz="quarter" idx="13"/>
          </p:nvPr>
        </p:nvSpPr>
        <p:spPr/>
        <p:txBody>
          <a:bodyPr/>
          <a:lstStyle/>
          <a:p>
            <a:pPr marL="0" indent="0" algn="l">
              <a:buNone/>
            </a:pPr>
            <a:r>
              <a:rPr lang="en-US" b="0" i="0">
                <a:effectLst/>
                <a:latin typeface="system-ui"/>
              </a:rPr>
              <a:t>We can say that the posterior probability is </a:t>
            </a:r>
            <a:r>
              <a:rPr lang="en-US" b="0" i="1">
                <a:effectLst/>
                <a:latin typeface="system-ui"/>
              </a:rPr>
              <a:t>proportional</a:t>
            </a:r>
            <a:r>
              <a:rPr lang="en-US" b="0" i="0">
                <a:effectLst/>
                <a:latin typeface="system-ui"/>
              </a:rPr>
              <a:t> to the product of the prior and the likelihood. But to evaluate its value, we need to compute P(D), </a:t>
            </a:r>
            <a:r>
              <a:rPr lang="en-US" b="1" i="0">
                <a:effectLst/>
                <a:latin typeface="system-ui"/>
              </a:rPr>
              <a:t>the evidence</a:t>
            </a:r>
            <a:r>
              <a:rPr lang="en-US" b="0" i="0">
                <a:effectLst/>
                <a:latin typeface="system-ui"/>
              </a:rPr>
              <a:t>.</a:t>
            </a:r>
          </a:p>
          <a:p>
            <a:pPr marL="0" indent="0" algn="l">
              <a:buNone/>
            </a:pPr>
            <a:r>
              <a:rPr lang="en-US" b="0" i="0">
                <a:effectLst/>
                <a:latin typeface="system-ui"/>
              </a:rPr>
              <a:t>It is difficult to see what this represents at first. But one way to think of it is as the result of marginalising the P(D) from the joint distribution P(H,D); that is integrating P(H,D) over every possible outcome of H, for each possible D.</a:t>
            </a:r>
          </a:p>
          <a:p>
            <a:endParaRPr lang="en-GB" dirty="0"/>
          </a:p>
        </p:txBody>
      </p:sp>
      <p:pic>
        <p:nvPicPr>
          <p:cNvPr id="5" name="Picture 4">
            <a:extLst>
              <a:ext uri="{FF2B5EF4-FFF2-40B4-BE49-F238E27FC236}">
                <a16:creationId xmlns:a16="http://schemas.microsoft.com/office/drawing/2014/main" id="{FE36960B-2D61-EB4F-1054-D4F8765C6022}"/>
              </a:ext>
            </a:extLst>
          </p:cNvPr>
          <p:cNvPicPr>
            <a:picLocks noChangeAspect="1"/>
          </p:cNvPicPr>
          <p:nvPr/>
        </p:nvPicPr>
        <p:blipFill>
          <a:blip r:embed="rId2"/>
          <a:stretch>
            <a:fillRect/>
          </a:stretch>
        </p:blipFill>
        <p:spPr>
          <a:xfrm>
            <a:off x="1777269" y="3760342"/>
            <a:ext cx="8120438" cy="2001782"/>
          </a:xfrm>
          <a:prstGeom prst="rect">
            <a:avLst/>
          </a:prstGeom>
        </p:spPr>
      </p:pic>
      <p:sp>
        <p:nvSpPr>
          <p:cNvPr id="7" name="TextBox 6">
            <a:extLst>
              <a:ext uri="{FF2B5EF4-FFF2-40B4-BE49-F238E27FC236}">
                <a16:creationId xmlns:a16="http://schemas.microsoft.com/office/drawing/2014/main" id="{BAB384F3-A7D0-1632-D981-CF4CDAFDB266}"/>
              </a:ext>
            </a:extLst>
          </p:cNvPr>
          <p:cNvSpPr txBox="1"/>
          <p:nvPr/>
        </p:nvSpPr>
        <p:spPr>
          <a:xfrm>
            <a:off x="2788632" y="5996772"/>
            <a:ext cx="7547170" cy="461665"/>
          </a:xfrm>
          <a:prstGeom prst="rect">
            <a:avLst/>
          </a:prstGeom>
          <a:noFill/>
        </p:spPr>
        <p:txBody>
          <a:bodyPr wrap="square">
            <a:spAutoFit/>
          </a:bodyPr>
          <a:lstStyle/>
          <a:p>
            <a:r>
              <a:rPr lang="en-US" sz="2400" b="0" i="0" dirty="0">
                <a:solidFill>
                  <a:schemeClr val="accent3"/>
                </a:solidFill>
                <a:effectLst/>
                <a:latin typeface="system-ui"/>
              </a:rPr>
              <a:t>This trick is essential in understanding Bayes’ Rule!</a:t>
            </a:r>
            <a:endParaRPr lang="en-GB" sz="2400" dirty="0">
              <a:solidFill>
                <a:schemeClr val="accent3"/>
              </a:solidFill>
            </a:endParaRPr>
          </a:p>
        </p:txBody>
      </p:sp>
    </p:spTree>
    <p:extLst>
      <p:ext uri="{BB962C8B-B14F-4D97-AF65-F5344CB8AC3E}">
        <p14:creationId xmlns:p14="http://schemas.microsoft.com/office/powerpoint/2010/main" val="2830402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E88A8-82D4-55F7-B50C-C97ACFF10B5E}"/>
              </a:ext>
            </a:extLst>
          </p:cNvPr>
          <p:cNvSpPr>
            <a:spLocks noGrp="1"/>
          </p:cNvSpPr>
          <p:nvPr>
            <p:ph type="title"/>
          </p:nvPr>
        </p:nvSpPr>
        <p:spPr/>
        <p:txBody>
          <a:bodyPr/>
          <a:lstStyle/>
          <a:p>
            <a:r>
              <a:rPr lang="en-GB" dirty="0"/>
              <a:t>Bayes’ Rule</a:t>
            </a:r>
            <a:br>
              <a:rPr lang="en-GB" dirty="0"/>
            </a:br>
            <a:r>
              <a:rPr lang="en-GB" dirty="0"/>
              <a:t>Binary cases</a:t>
            </a:r>
          </a:p>
        </p:txBody>
      </p:sp>
      <p:sp>
        <p:nvSpPr>
          <p:cNvPr id="3" name="Content Placeholder 2">
            <a:extLst>
              <a:ext uri="{FF2B5EF4-FFF2-40B4-BE49-F238E27FC236}">
                <a16:creationId xmlns:a16="http://schemas.microsoft.com/office/drawing/2014/main" id="{85ACFBF2-91B9-0290-63B4-B6DD439E6576}"/>
              </a:ext>
            </a:extLst>
          </p:cNvPr>
          <p:cNvSpPr>
            <a:spLocks noGrp="1"/>
          </p:cNvSpPr>
          <p:nvPr>
            <p:ph sz="quarter" idx="13"/>
          </p:nvPr>
        </p:nvSpPr>
        <p:spPr/>
        <p:txBody>
          <a:bodyPr/>
          <a:lstStyle/>
          <a:p>
            <a:pPr marL="0" indent="0">
              <a:buNone/>
            </a:pPr>
            <a:r>
              <a:rPr lang="en-US" b="0" i="0" dirty="0">
                <a:effectLst/>
                <a:latin typeface="system-ui"/>
              </a:rPr>
              <a:t>In general this can be difficult to compute. For binary simple cases where there are only two possible outcomes (</a:t>
            </a:r>
            <a:r>
              <a:rPr lang="en-US" dirty="0"/>
              <a:t>H</a:t>
            </a:r>
            <a:r>
              <a:rPr lang="en-US" b="0" i="0" dirty="0">
                <a:effectLst/>
                <a:latin typeface="system-ui"/>
              </a:rPr>
              <a:t> can only be 0 or 1), Bayes' rule can be written as:</a:t>
            </a:r>
            <a:endParaRPr lang="en-GB" dirty="0"/>
          </a:p>
        </p:txBody>
      </p:sp>
      <p:pic>
        <p:nvPicPr>
          <p:cNvPr id="5" name="Picture 4">
            <a:extLst>
              <a:ext uri="{FF2B5EF4-FFF2-40B4-BE49-F238E27FC236}">
                <a16:creationId xmlns:a16="http://schemas.microsoft.com/office/drawing/2014/main" id="{9FA4B7A7-CC94-7A8F-E526-5A3120E5D641}"/>
              </a:ext>
            </a:extLst>
          </p:cNvPr>
          <p:cNvPicPr>
            <a:picLocks noChangeAspect="1"/>
          </p:cNvPicPr>
          <p:nvPr/>
        </p:nvPicPr>
        <p:blipFill>
          <a:blip r:embed="rId2"/>
          <a:stretch>
            <a:fillRect/>
          </a:stretch>
        </p:blipFill>
        <p:spPr>
          <a:xfrm>
            <a:off x="2787789" y="2960322"/>
            <a:ext cx="6143810" cy="734260"/>
          </a:xfrm>
          <a:prstGeom prst="rect">
            <a:avLst/>
          </a:prstGeom>
        </p:spPr>
      </p:pic>
      <p:pic>
        <p:nvPicPr>
          <p:cNvPr id="6" name="Picture 5">
            <a:extLst>
              <a:ext uri="{FF2B5EF4-FFF2-40B4-BE49-F238E27FC236}">
                <a16:creationId xmlns:a16="http://schemas.microsoft.com/office/drawing/2014/main" id="{2AC15CA9-1C67-B7E0-2EA5-49538460624C}"/>
              </a:ext>
            </a:extLst>
          </p:cNvPr>
          <p:cNvPicPr>
            <a:picLocks noChangeAspect="1"/>
          </p:cNvPicPr>
          <p:nvPr/>
        </p:nvPicPr>
        <p:blipFill>
          <a:blip r:embed="rId3"/>
          <a:stretch>
            <a:fillRect/>
          </a:stretch>
        </p:blipFill>
        <p:spPr>
          <a:xfrm>
            <a:off x="8393542" y="5761975"/>
            <a:ext cx="3512708" cy="944276"/>
          </a:xfrm>
          <a:prstGeom prst="rect">
            <a:avLst/>
          </a:prstGeom>
        </p:spPr>
      </p:pic>
    </p:spTree>
    <p:extLst>
      <p:ext uri="{BB962C8B-B14F-4D97-AF65-F5344CB8AC3E}">
        <p14:creationId xmlns:p14="http://schemas.microsoft.com/office/powerpoint/2010/main" val="559757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5DF8A-633E-D556-1EEC-3D77E92797B8}"/>
              </a:ext>
            </a:extLst>
          </p:cNvPr>
          <p:cNvSpPr>
            <a:spLocks noGrp="1"/>
          </p:cNvSpPr>
          <p:nvPr>
            <p:ph type="title"/>
          </p:nvPr>
        </p:nvSpPr>
        <p:spPr>
          <a:xfrm>
            <a:off x="741680" y="2123676"/>
            <a:ext cx="4027169" cy="1600200"/>
          </a:xfrm>
        </p:spPr>
        <p:txBody>
          <a:bodyPr anchor="t">
            <a:normAutofit/>
          </a:bodyPr>
          <a:lstStyle/>
          <a:p>
            <a:r>
              <a:rPr lang="en-GB" dirty="0"/>
              <a:t>Bayes’ rule</a:t>
            </a:r>
            <a:br>
              <a:rPr lang="en-GB" dirty="0"/>
            </a:br>
            <a:r>
              <a:rPr lang="en-GB" dirty="0"/>
              <a:t>Back to Plague X</a:t>
            </a:r>
          </a:p>
        </p:txBody>
      </p:sp>
      <p:pic>
        <p:nvPicPr>
          <p:cNvPr id="5" name="Content Placeholder 4">
            <a:extLst>
              <a:ext uri="{FF2B5EF4-FFF2-40B4-BE49-F238E27FC236}">
                <a16:creationId xmlns:a16="http://schemas.microsoft.com/office/drawing/2014/main" id="{F7037455-75E2-4227-BBFD-8A43A42D5218}"/>
              </a:ext>
            </a:extLst>
          </p:cNvPr>
          <p:cNvPicPr>
            <a:picLocks noGrp="1" noChangeAspect="1"/>
          </p:cNvPicPr>
          <p:nvPr>
            <p:ph idx="1"/>
          </p:nvPr>
        </p:nvPicPr>
        <p:blipFill>
          <a:blip r:embed="rId2"/>
          <a:stretch>
            <a:fillRect/>
          </a:stretch>
        </p:blipFill>
        <p:spPr>
          <a:xfrm>
            <a:off x="5183188" y="2197711"/>
            <a:ext cx="6172200" cy="2453053"/>
          </a:xfrm>
          <a:noFill/>
        </p:spPr>
      </p:pic>
      <p:pic>
        <p:nvPicPr>
          <p:cNvPr id="7" name="Picture 2">
            <a:extLst>
              <a:ext uri="{FF2B5EF4-FFF2-40B4-BE49-F238E27FC236}">
                <a16:creationId xmlns:a16="http://schemas.microsoft.com/office/drawing/2014/main" id="{EFD3CA14-ED41-F359-A3FB-0529C90F33E6}"/>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011687" y="3329320"/>
            <a:ext cx="2642888" cy="2642888"/>
          </a:xfrm>
          <a:prstGeom prst="rect">
            <a:avLst/>
          </a:prstGeom>
          <a:solidFill>
            <a:srgbClr val="FFFFFF"/>
          </a:solidFill>
        </p:spPr>
      </p:pic>
    </p:spTree>
    <p:extLst>
      <p:ext uri="{BB962C8B-B14F-4D97-AF65-F5344CB8AC3E}">
        <p14:creationId xmlns:p14="http://schemas.microsoft.com/office/powerpoint/2010/main" val="24376042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E7854-BBA5-7CD1-5859-8FC81AD15DC7}"/>
              </a:ext>
            </a:extLst>
          </p:cNvPr>
          <p:cNvSpPr>
            <a:spLocks noGrp="1"/>
          </p:cNvSpPr>
          <p:nvPr>
            <p:ph type="title"/>
          </p:nvPr>
        </p:nvSpPr>
        <p:spPr/>
        <p:txBody>
          <a:bodyPr/>
          <a:lstStyle/>
          <a:p>
            <a:r>
              <a:rPr lang="en-GB" dirty="0"/>
              <a:t>Bayes’ rule</a:t>
            </a:r>
            <a:br>
              <a:rPr lang="en-GB" dirty="0"/>
            </a:br>
            <a:r>
              <a:rPr lang="en-GB" dirty="0"/>
              <a:t>Answering the Plague X question</a:t>
            </a:r>
          </a:p>
        </p:txBody>
      </p:sp>
      <p:pic>
        <p:nvPicPr>
          <p:cNvPr id="5" name="Content Placeholder 4" descr="A screenshot of a computer program, see lecture notes for code. ">
            <a:extLst>
              <a:ext uri="{FF2B5EF4-FFF2-40B4-BE49-F238E27FC236}">
                <a16:creationId xmlns:a16="http://schemas.microsoft.com/office/drawing/2014/main" id="{6F73C134-B133-4E78-C3FE-EFB703CEC8E8}"/>
              </a:ext>
            </a:extLst>
          </p:cNvPr>
          <p:cNvPicPr>
            <a:picLocks noGrp="1" noChangeAspect="1"/>
          </p:cNvPicPr>
          <p:nvPr>
            <p:ph sz="quarter" idx="13"/>
          </p:nvPr>
        </p:nvPicPr>
        <p:blipFill>
          <a:blip r:embed="rId2"/>
          <a:stretch>
            <a:fillRect/>
          </a:stretch>
        </p:blipFill>
        <p:spPr>
          <a:xfrm>
            <a:off x="1597995" y="1896779"/>
            <a:ext cx="8849960" cy="4067743"/>
          </a:xfrm>
        </p:spPr>
      </p:pic>
      <p:pic>
        <p:nvPicPr>
          <p:cNvPr id="6" name="Picture 2">
            <a:extLst>
              <a:ext uri="{FF2B5EF4-FFF2-40B4-BE49-F238E27FC236}">
                <a16:creationId xmlns:a16="http://schemas.microsoft.com/office/drawing/2014/main" id="{D578AE3A-FC02-86E0-C36E-75687FD07C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10602930" y="0"/>
            <a:ext cx="1589070" cy="1589070"/>
          </a:xfrm>
          <a:prstGeom prst="rect">
            <a:avLst/>
          </a:prstGeom>
          <a:solidFill>
            <a:srgbClr val="FFFFFF"/>
          </a:solidFill>
        </p:spPr>
      </p:pic>
    </p:spTree>
    <p:extLst>
      <p:ext uri="{BB962C8B-B14F-4D97-AF65-F5344CB8AC3E}">
        <p14:creationId xmlns:p14="http://schemas.microsoft.com/office/powerpoint/2010/main" val="22855103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FF10D-47C9-DE96-AC6C-2523561EADF7}"/>
              </a:ext>
            </a:extLst>
          </p:cNvPr>
          <p:cNvSpPr>
            <a:spLocks noGrp="1"/>
          </p:cNvSpPr>
          <p:nvPr>
            <p:ph type="title"/>
          </p:nvPr>
        </p:nvSpPr>
        <p:spPr/>
        <p:txBody>
          <a:bodyPr/>
          <a:lstStyle/>
          <a:p>
            <a:r>
              <a:rPr lang="en-GB" dirty="0"/>
              <a:t>Poll results</a:t>
            </a:r>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Add-in 3" descr="mentimeter poll results">
                <a:extLst>
                  <a:ext uri="{FF2B5EF4-FFF2-40B4-BE49-F238E27FC236}">
                    <a16:creationId xmlns:a16="http://schemas.microsoft.com/office/drawing/2014/main" id="{E50BA04B-2BAB-E417-BD02-FCE6C9C94912}"/>
                  </a:ext>
                </a:extLst>
              </p:cNvPr>
              <p:cNvGraphicFramePr>
                <a:graphicFrameLocks noGrp="1"/>
              </p:cNvGraphicFramePr>
              <p:nvPr>
                <p:extLst>
                  <p:ext uri="{D42A27DB-BD31-4B8C-83A1-F6EECF244321}">
                    <p14:modId xmlns:p14="http://schemas.microsoft.com/office/powerpoint/2010/main" val="1782267908"/>
                  </p:ext>
                </p:extLst>
              </p:nvPr>
            </p:nvGraphicFramePr>
            <p:xfrm>
              <a:off x="1809750" y="1733549"/>
              <a:ext cx="8572500" cy="4819650"/>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Add-in 3" descr="mentimeter poll results">
                <a:extLst>
                  <a:ext uri="{FF2B5EF4-FFF2-40B4-BE49-F238E27FC236}">
                    <a16:creationId xmlns:a16="http://schemas.microsoft.com/office/drawing/2014/main" id="{E50BA04B-2BAB-E417-BD02-FCE6C9C94912}"/>
                  </a:ext>
                </a:extLst>
              </p:cNvPr>
              <p:cNvPicPr>
                <a:picLocks noGrp="1" noRot="1" noChangeAspect="1" noMove="1" noResize="1" noEditPoints="1" noAdjustHandles="1" noChangeArrowheads="1" noChangeShapeType="1"/>
              </p:cNvPicPr>
              <p:nvPr/>
            </p:nvPicPr>
            <p:blipFill>
              <a:blip r:embed="rId3"/>
              <a:stretch>
                <a:fillRect/>
              </a:stretch>
            </p:blipFill>
            <p:spPr>
              <a:xfrm>
                <a:off x="1809750" y="1733549"/>
                <a:ext cx="8572500" cy="4819650"/>
              </a:xfrm>
              <a:prstGeom prst="rect">
                <a:avLst/>
              </a:prstGeom>
            </p:spPr>
          </p:pic>
        </mc:Fallback>
      </mc:AlternateContent>
    </p:spTree>
    <p:extLst>
      <p:ext uri="{BB962C8B-B14F-4D97-AF65-F5344CB8AC3E}">
        <p14:creationId xmlns:p14="http://schemas.microsoft.com/office/powerpoint/2010/main" val="38879081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1">
            <a:extLst>
              <a:ext uri="{FF2B5EF4-FFF2-40B4-BE49-F238E27FC236}">
                <a16:creationId xmlns:a16="http://schemas.microsoft.com/office/drawing/2014/main" id="{D5CECCA5-3722-C194-7DFB-D2D9372DC6CA}"/>
              </a:ext>
            </a:extLst>
          </p:cNvPr>
          <p:cNvSpPr>
            <a:spLocks noGrp="1"/>
          </p:cNvSpPr>
          <p:nvPr>
            <p:ph sz="half" idx="1"/>
          </p:nvPr>
        </p:nvSpPr>
        <p:spPr>
          <a:xfrm>
            <a:off x="838200" y="1608667"/>
            <a:ext cx="5079715" cy="4568296"/>
          </a:xfrm>
        </p:spPr>
        <p:txBody>
          <a:bodyPr>
            <a:normAutofit fontScale="92500" lnSpcReduction="10000"/>
          </a:bodyPr>
          <a:lstStyle/>
          <a:p>
            <a:pPr marL="0" indent="0" algn="l">
              <a:buNone/>
            </a:pPr>
            <a:r>
              <a:rPr lang="en-US" b="0" i="0" dirty="0">
                <a:effectLst/>
                <a:latin typeface="system-ui"/>
              </a:rPr>
              <a:t>There is an approach to explaining problems like this which makes it much less likely to make poor judgements. </a:t>
            </a:r>
          </a:p>
          <a:p>
            <a:pPr marL="0" indent="0" algn="l">
              <a:buNone/>
            </a:pPr>
            <a:r>
              <a:rPr lang="en-US" b="1" i="0" dirty="0">
                <a:solidFill>
                  <a:schemeClr val="accent5"/>
                </a:solidFill>
                <a:effectLst/>
                <a:latin typeface="system-ui"/>
              </a:rPr>
              <a:t>Natural frequency</a:t>
            </a:r>
            <a:r>
              <a:rPr lang="en-US" b="0" i="0" dirty="0">
                <a:effectLst/>
                <a:latin typeface="system-ui"/>
              </a:rPr>
              <a:t> explanations involve imagining concrete populations of a fixed size (</a:t>
            </a:r>
            <a:r>
              <a:rPr lang="en-US" b="0" i="1" dirty="0">
                <a:solidFill>
                  <a:schemeClr val="accent4"/>
                </a:solidFill>
                <a:effectLst/>
                <a:latin typeface="system-ui"/>
              </a:rPr>
              <a:t>10000 people in a room, for example</a:t>
            </a:r>
            <a:r>
              <a:rPr lang="en-US" b="0" i="0" dirty="0">
                <a:effectLst/>
                <a:latin typeface="system-ui"/>
              </a:rPr>
              <a:t>), and considering the proportions of the populations as </a:t>
            </a:r>
            <a:r>
              <a:rPr lang="en-US" b="0" i="1" dirty="0">
                <a:effectLst/>
                <a:latin typeface="system-ui"/>
              </a:rPr>
              <a:t>counts</a:t>
            </a:r>
            <a:r>
              <a:rPr lang="en-US" b="0" i="0" dirty="0">
                <a:effectLst/>
                <a:latin typeface="system-ui"/>
              </a:rPr>
              <a:t> (</a:t>
            </a:r>
            <a:r>
              <a:rPr lang="en-US" b="0" i="1" dirty="0">
                <a:solidFill>
                  <a:schemeClr val="accent4"/>
                </a:solidFill>
                <a:effectLst/>
                <a:latin typeface="system-ui"/>
              </a:rPr>
              <a:t>how many people in the room have the plague?</a:t>
            </a:r>
            <a:r>
              <a:rPr lang="en-US" b="0" i="0" dirty="0">
                <a:effectLst/>
                <a:latin typeface="system-ui"/>
              </a:rPr>
              <a:t>).</a:t>
            </a:r>
          </a:p>
          <a:p>
            <a:pPr marL="0" indent="0" algn="l">
              <a:buNone/>
            </a:pPr>
            <a:r>
              <a:rPr lang="en-US" b="0" i="0" dirty="0">
                <a:effectLst/>
                <a:latin typeface="system-ui"/>
              </a:rPr>
              <a:t>We can use this to </a:t>
            </a:r>
            <a:r>
              <a:rPr lang="en-US" b="0" i="0" dirty="0" err="1">
                <a:effectLst/>
                <a:latin typeface="system-ui"/>
              </a:rPr>
              <a:t>visualise</a:t>
            </a:r>
            <a:r>
              <a:rPr lang="en-US" b="0" i="0" dirty="0">
                <a:effectLst/>
                <a:latin typeface="system-ui"/>
              </a:rPr>
              <a:t> the problem above and explain the apparent paradox.</a:t>
            </a:r>
          </a:p>
          <a:p>
            <a:pPr marL="0" indent="0" algn="l">
              <a:buNone/>
            </a:pPr>
            <a:r>
              <a:rPr lang="en-US" b="0" i="0" dirty="0">
                <a:effectLst/>
                <a:latin typeface="system-ui"/>
              </a:rPr>
              <a:t>The graph </a:t>
            </a:r>
            <a:r>
              <a:rPr lang="en-US" dirty="0">
                <a:latin typeface="system-ui"/>
              </a:rPr>
              <a:t>on the right</a:t>
            </a:r>
            <a:r>
              <a:rPr lang="en-US" b="0" i="0" dirty="0">
                <a:effectLst/>
                <a:latin typeface="system-ui"/>
              </a:rPr>
              <a:t> shows the case P(plague)=0.005 (1 in 200), again with a 5% accurate test.</a:t>
            </a:r>
          </a:p>
          <a:p>
            <a:endParaRPr lang="en-US" dirty="0"/>
          </a:p>
        </p:txBody>
      </p:sp>
      <p:pic>
        <p:nvPicPr>
          <p:cNvPr id="5" name="Picture 4" descr="A group of black and orange people arranged in 20 columns and 10 rows. &#10;The first 9 rows contain only black figures (tested negative), the last row contain 19 orange figures (tested positives) and one orange figure on black background (actually infected). &#10;&#10;Black figures were tested negative, orange figures tested positive, and orange on black background was actually infected. &#10;">
            <a:extLst>
              <a:ext uri="{FF2B5EF4-FFF2-40B4-BE49-F238E27FC236}">
                <a16:creationId xmlns:a16="http://schemas.microsoft.com/office/drawing/2014/main" id="{CA6AD2DA-260B-604A-6A27-5C4D3EBAC65B}"/>
              </a:ext>
            </a:extLst>
          </p:cNvPr>
          <p:cNvPicPr>
            <a:picLocks noChangeAspect="1"/>
          </p:cNvPicPr>
          <p:nvPr/>
        </p:nvPicPr>
        <p:blipFill>
          <a:blip r:embed="rId2"/>
          <a:stretch>
            <a:fillRect/>
          </a:stretch>
        </p:blipFill>
        <p:spPr>
          <a:xfrm>
            <a:off x="6172200" y="2500260"/>
            <a:ext cx="5181600" cy="2785110"/>
          </a:xfrm>
          <a:prstGeom prst="rect">
            <a:avLst/>
          </a:prstGeom>
          <a:noFill/>
        </p:spPr>
      </p:pic>
      <p:sp>
        <p:nvSpPr>
          <p:cNvPr id="2" name="Title 1">
            <a:extLst>
              <a:ext uri="{FF2B5EF4-FFF2-40B4-BE49-F238E27FC236}">
                <a16:creationId xmlns:a16="http://schemas.microsoft.com/office/drawing/2014/main" id="{490DB779-4001-DAA4-0293-5531681CFA4C}"/>
              </a:ext>
            </a:extLst>
          </p:cNvPr>
          <p:cNvSpPr>
            <a:spLocks noGrp="1"/>
          </p:cNvSpPr>
          <p:nvPr>
            <p:ph type="title"/>
          </p:nvPr>
        </p:nvSpPr>
        <p:spPr>
          <a:xfrm>
            <a:off x="2549236" y="533614"/>
            <a:ext cx="9210963" cy="888786"/>
          </a:xfrm>
        </p:spPr>
        <p:txBody>
          <a:bodyPr anchor="t">
            <a:normAutofit/>
          </a:bodyPr>
          <a:lstStyle/>
          <a:p>
            <a:r>
              <a:rPr lang="en-GB" dirty="0"/>
              <a:t>Bayes’ rule</a:t>
            </a:r>
            <a:br>
              <a:rPr lang="en-GB" dirty="0"/>
            </a:br>
            <a:r>
              <a:rPr lang="en-GB" dirty="0"/>
              <a:t>Natural frequency</a:t>
            </a:r>
          </a:p>
        </p:txBody>
      </p:sp>
    </p:spTree>
    <p:extLst>
      <p:ext uri="{BB962C8B-B14F-4D97-AF65-F5344CB8AC3E}">
        <p14:creationId xmlns:p14="http://schemas.microsoft.com/office/powerpoint/2010/main" val="30514019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3B8007F-F03E-3D8C-32E0-5D36DA56F53D}"/>
              </a:ext>
            </a:extLst>
          </p:cNvPr>
          <p:cNvSpPr>
            <a:spLocks noGrp="1"/>
          </p:cNvSpPr>
          <p:nvPr>
            <p:ph type="title"/>
          </p:nvPr>
        </p:nvSpPr>
        <p:spPr>
          <a:xfrm>
            <a:off x="2549236" y="533614"/>
            <a:ext cx="9210963" cy="888786"/>
          </a:xfrm>
        </p:spPr>
        <p:txBody>
          <a:bodyPr anchor="t">
            <a:normAutofit/>
          </a:bodyPr>
          <a:lstStyle/>
          <a:p>
            <a:r>
              <a:rPr lang="en-GB" dirty="0"/>
              <a:t>Part 3 - Entropy</a:t>
            </a:r>
          </a:p>
        </p:txBody>
      </p:sp>
      <p:pic>
        <p:nvPicPr>
          <p:cNvPr id="3076" name="Picture 4" descr="What is entropy?">
            <a:extLst>
              <a:ext uri="{FF2B5EF4-FFF2-40B4-BE49-F238E27FC236}">
                <a16:creationId xmlns:a16="http://schemas.microsoft.com/office/drawing/2014/main" id="{B3841E68-F041-A0E5-4ADA-881338AED85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70306" y="1627188"/>
            <a:ext cx="11305337" cy="4606925"/>
          </a:xfrm>
          <a:prstGeom prst="rect">
            <a:avLst/>
          </a:prstGeom>
          <a:solidFill>
            <a:srgbClr val="FFFFFF"/>
          </a:solidFill>
        </p:spPr>
      </p:pic>
    </p:spTree>
    <p:extLst>
      <p:ext uri="{BB962C8B-B14F-4D97-AF65-F5344CB8AC3E}">
        <p14:creationId xmlns:p14="http://schemas.microsoft.com/office/powerpoint/2010/main" val="6541310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77987-F7D3-DE64-C29C-608F682DB3E5}"/>
              </a:ext>
            </a:extLst>
          </p:cNvPr>
          <p:cNvSpPr>
            <a:spLocks noGrp="1"/>
          </p:cNvSpPr>
          <p:nvPr>
            <p:ph type="title"/>
          </p:nvPr>
        </p:nvSpPr>
        <p:spPr/>
        <p:txBody>
          <a:bodyPr/>
          <a:lstStyle/>
          <a:p>
            <a:r>
              <a:rPr lang="en-GB" dirty="0"/>
              <a:t>Entropy</a:t>
            </a:r>
          </a:p>
        </p:txBody>
      </p:sp>
      <p:sp>
        <p:nvSpPr>
          <p:cNvPr id="3" name="Content Placeholder 2">
            <a:extLst>
              <a:ext uri="{FF2B5EF4-FFF2-40B4-BE49-F238E27FC236}">
                <a16:creationId xmlns:a16="http://schemas.microsoft.com/office/drawing/2014/main" id="{04D7C550-8251-593E-DBB4-9E36A7CF7C6C}"/>
              </a:ext>
            </a:extLst>
          </p:cNvPr>
          <p:cNvSpPr>
            <a:spLocks noGrp="1"/>
          </p:cNvSpPr>
          <p:nvPr>
            <p:ph sz="quarter" idx="13"/>
          </p:nvPr>
        </p:nvSpPr>
        <p:spPr/>
        <p:txBody>
          <a:bodyPr>
            <a:normAutofit/>
          </a:bodyPr>
          <a:lstStyle/>
          <a:p>
            <a:pPr marL="0" indent="0">
              <a:buNone/>
            </a:pPr>
            <a:r>
              <a:rPr lang="en-US" b="0" i="0" dirty="0">
                <a:effectLst/>
                <a:latin typeface="system-ui"/>
              </a:rPr>
              <a:t>A key property of a probability distribution is the </a:t>
            </a:r>
            <a:r>
              <a:rPr lang="en-US" b="1" i="0" dirty="0">
                <a:effectLst/>
                <a:latin typeface="system-ui"/>
              </a:rPr>
              <a:t>entropy</a:t>
            </a:r>
            <a:r>
              <a:rPr lang="en-US" b="0" i="0" dirty="0">
                <a:effectLst/>
                <a:latin typeface="system-ui"/>
              </a:rPr>
              <a:t>. Intuitively, this is a measure of the "surprise" an observer would have when observing draws from the distribution, or alternatively, the (log) measure of a number of distinct "states" a distribution could represent. </a:t>
            </a:r>
          </a:p>
          <a:p>
            <a:pPr marL="0" indent="0">
              <a:buNone/>
            </a:pPr>
            <a:r>
              <a:rPr lang="en-US" b="0" i="0" dirty="0">
                <a:effectLst/>
                <a:latin typeface="system-ui"/>
              </a:rPr>
              <a:t>A flat, uniform distribution is very "surprising" because the values are very hard to predict; a narrow, peaked distribution is unsurprising because the values are always very similar.</a:t>
            </a:r>
          </a:p>
        </p:txBody>
      </p:sp>
    </p:spTree>
    <p:extLst>
      <p:ext uri="{BB962C8B-B14F-4D97-AF65-F5344CB8AC3E}">
        <p14:creationId xmlns:p14="http://schemas.microsoft.com/office/powerpoint/2010/main" val="22324355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0C987-F9FE-B0F0-32CD-1C0D0F149D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93D960-50FF-71BB-048F-66E89FA1CC93}"/>
              </a:ext>
            </a:extLst>
          </p:cNvPr>
          <p:cNvSpPr>
            <a:spLocks noGrp="1"/>
          </p:cNvSpPr>
          <p:nvPr>
            <p:ph type="title"/>
          </p:nvPr>
        </p:nvSpPr>
        <p:spPr/>
        <p:txBody>
          <a:bodyPr/>
          <a:lstStyle/>
          <a:p>
            <a:r>
              <a:rPr lang="en-GB" dirty="0"/>
              <a:t>Entropy</a:t>
            </a:r>
          </a:p>
        </p:txBody>
      </p:sp>
      <p:sp>
        <p:nvSpPr>
          <p:cNvPr id="3" name="Content Placeholder 2">
            <a:extLst>
              <a:ext uri="{FF2B5EF4-FFF2-40B4-BE49-F238E27FC236}">
                <a16:creationId xmlns:a16="http://schemas.microsoft.com/office/drawing/2014/main" id="{5A5DEBEA-DDA3-CE13-C5EE-F73E53F1DEE4}"/>
              </a:ext>
            </a:extLst>
          </p:cNvPr>
          <p:cNvSpPr>
            <a:spLocks noGrp="1"/>
          </p:cNvSpPr>
          <p:nvPr>
            <p:ph sz="quarter" idx="13"/>
          </p:nvPr>
        </p:nvSpPr>
        <p:spPr/>
        <p:txBody>
          <a:bodyPr>
            <a:normAutofit/>
          </a:bodyPr>
          <a:lstStyle/>
          <a:p>
            <a:pPr marL="0" indent="0">
              <a:buNone/>
            </a:pPr>
            <a:r>
              <a:rPr lang="en-US" b="0" i="0" dirty="0">
                <a:effectLst/>
                <a:latin typeface="system-ui"/>
              </a:rPr>
              <a:t>This is a precise quantification -- it gives the </a:t>
            </a:r>
            <a:r>
              <a:rPr lang="en-US" b="0" i="1" dirty="0">
                <a:effectLst/>
                <a:latin typeface="system-ui"/>
              </a:rPr>
              <a:t>information</a:t>
            </a:r>
            <a:r>
              <a:rPr lang="en-US" b="0" i="0" dirty="0">
                <a:effectLst/>
                <a:latin typeface="system-ui"/>
              </a:rPr>
              <a:t> in a distribution. The units of information are normally bits; where 1 bit of information tells you the answer to exactly one yes or no question. </a:t>
            </a:r>
          </a:p>
          <a:p>
            <a:pPr marL="0" indent="0">
              <a:buNone/>
            </a:pPr>
            <a:r>
              <a:rPr lang="en-US" b="0" i="0" dirty="0">
                <a:effectLst/>
                <a:latin typeface="system-ui"/>
              </a:rPr>
              <a:t>The entropy tells you exactly how many of bits are needed (at minimum) to communicate a value from a distribution to an observer </a:t>
            </a:r>
            <a:r>
              <a:rPr lang="en-US" b="0" i="1" dirty="0">
                <a:effectLst/>
                <a:latin typeface="system-ui"/>
              </a:rPr>
              <a:t>who knows the distribution already</a:t>
            </a:r>
            <a:r>
              <a:rPr lang="en-US" b="0" i="0" dirty="0">
                <a:effectLst/>
                <a:latin typeface="system-ui"/>
              </a:rPr>
              <a:t>. </a:t>
            </a:r>
          </a:p>
          <a:p>
            <a:pPr marL="0" indent="0">
              <a:buNone/>
            </a:pPr>
            <a:r>
              <a:rPr lang="en-US" b="0" i="0" dirty="0">
                <a:effectLst/>
                <a:latin typeface="system-ui"/>
              </a:rPr>
              <a:t>Alternatively, you can see the number of distinct states the distribution describes as </a:t>
            </a:r>
            <a:r>
              <a:rPr lang="en-US" dirty="0"/>
              <a:t>p=2</a:t>
            </a:r>
            <a:r>
              <a:rPr lang="en-US" baseline="30000" dirty="0"/>
              <a:t>H(X)</a:t>
            </a:r>
            <a:r>
              <a:rPr lang="en-US" b="0" i="0" dirty="0">
                <a:effectLst/>
                <a:latin typeface="system-ui"/>
              </a:rPr>
              <a:t> -- this value is called the </a:t>
            </a:r>
            <a:r>
              <a:rPr lang="en-US" b="1" i="0" dirty="0">
                <a:effectLst/>
                <a:latin typeface="system-ui"/>
              </a:rPr>
              <a:t>perplexity</a:t>
            </a:r>
            <a:r>
              <a:rPr lang="en-US" b="0" i="0" dirty="0">
                <a:effectLst/>
                <a:latin typeface="system-ui"/>
              </a:rPr>
              <a:t>, and it can be fractional.</a:t>
            </a:r>
            <a:endParaRPr lang="en-GB" dirty="0"/>
          </a:p>
        </p:txBody>
      </p:sp>
    </p:spTree>
    <p:extLst>
      <p:ext uri="{BB962C8B-B14F-4D97-AF65-F5344CB8AC3E}">
        <p14:creationId xmlns:p14="http://schemas.microsoft.com/office/powerpoint/2010/main" val="54262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1BB85-04DF-B365-D302-877938FC8A1A}"/>
              </a:ext>
            </a:extLst>
          </p:cNvPr>
          <p:cNvSpPr>
            <a:spLocks noGrp="1"/>
          </p:cNvSpPr>
          <p:nvPr>
            <p:ph type="title"/>
          </p:nvPr>
        </p:nvSpPr>
        <p:spPr/>
        <p:txBody>
          <a:bodyPr/>
          <a:lstStyle/>
          <a:p>
            <a:r>
              <a:rPr lang="en-GB" dirty="0"/>
              <a:t>Entropy</a:t>
            </a:r>
          </a:p>
        </p:txBody>
      </p:sp>
      <p:sp>
        <p:nvSpPr>
          <p:cNvPr id="3" name="Content Placeholder 2">
            <a:extLst>
              <a:ext uri="{FF2B5EF4-FFF2-40B4-BE49-F238E27FC236}">
                <a16:creationId xmlns:a16="http://schemas.microsoft.com/office/drawing/2014/main" id="{9A99FF87-DE2B-D132-1312-6CAA08E02444}"/>
              </a:ext>
            </a:extLst>
          </p:cNvPr>
          <p:cNvSpPr>
            <a:spLocks noGrp="1"/>
          </p:cNvSpPr>
          <p:nvPr>
            <p:ph sz="quarter" idx="13"/>
          </p:nvPr>
        </p:nvSpPr>
        <p:spPr/>
        <p:txBody>
          <a:bodyPr/>
          <a:lstStyle/>
          <a:p>
            <a:pPr marL="0" indent="0">
              <a:buNone/>
            </a:pPr>
            <a:r>
              <a:rPr lang="en-US" b="0" i="0" dirty="0">
                <a:effectLst/>
                <a:latin typeface="system-ui"/>
              </a:rPr>
              <a:t>The entropy of a (discrete) distribution of a random variable </a:t>
            </a:r>
            <a:r>
              <a:rPr lang="en-US" dirty="0"/>
              <a:t>X</a:t>
            </a:r>
            <a:r>
              <a:rPr lang="en-US" b="0" i="0" dirty="0">
                <a:effectLst/>
                <a:latin typeface="system-ui"/>
              </a:rPr>
              <a:t> can be computed as:</a:t>
            </a: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endParaRPr lang="en-US" dirty="0">
              <a:latin typeface="system-ui"/>
            </a:endParaRPr>
          </a:p>
          <a:p>
            <a:pPr marL="0" indent="0">
              <a:buNone/>
            </a:pPr>
            <a:r>
              <a:rPr lang="en-US" b="0" i="0" dirty="0">
                <a:effectLst/>
                <a:latin typeface="system-ui"/>
              </a:rPr>
              <a:t>This is just the expected value of the log-probability of a random variable (the "average" log-probability).</a:t>
            </a:r>
            <a:endParaRPr lang="en-GB" dirty="0"/>
          </a:p>
        </p:txBody>
      </p:sp>
      <p:pic>
        <p:nvPicPr>
          <p:cNvPr id="5" name="Picture 4">
            <a:extLst>
              <a:ext uri="{FF2B5EF4-FFF2-40B4-BE49-F238E27FC236}">
                <a16:creationId xmlns:a16="http://schemas.microsoft.com/office/drawing/2014/main" id="{E4E69A49-4F2A-A743-7511-A865AAAD3B78}"/>
              </a:ext>
            </a:extLst>
          </p:cNvPr>
          <p:cNvPicPr>
            <a:picLocks noChangeAspect="1"/>
          </p:cNvPicPr>
          <p:nvPr/>
        </p:nvPicPr>
        <p:blipFill>
          <a:blip r:embed="rId2"/>
          <a:stretch>
            <a:fillRect/>
          </a:stretch>
        </p:blipFill>
        <p:spPr>
          <a:xfrm>
            <a:off x="3838334" y="2552398"/>
            <a:ext cx="4515332" cy="876602"/>
          </a:xfrm>
          <a:prstGeom prst="rect">
            <a:avLst/>
          </a:prstGeom>
        </p:spPr>
      </p:pic>
    </p:spTree>
    <p:extLst>
      <p:ext uri="{BB962C8B-B14F-4D97-AF65-F5344CB8AC3E}">
        <p14:creationId xmlns:p14="http://schemas.microsoft.com/office/powerpoint/2010/main" val="30154326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0C8385-C3C3-A514-8E9C-CB2A7A8FFE43}"/>
              </a:ext>
            </a:extLst>
          </p:cNvPr>
          <p:cNvSpPr>
            <a:spLocks noGrp="1"/>
          </p:cNvSpPr>
          <p:nvPr>
            <p:ph type="title"/>
          </p:nvPr>
        </p:nvSpPr>
        <p:spPr/>
        <p:txBody>
          <a:bodyPr/>
          <a:lstStyle/>
          <a:p>
            <a:r>
              <a:rPr lang="en-GB" dirty="0"/>
              <a:t>Example: Tossing coins</a:t>
            </a:r>
          </a:p>
        </p:txBody>
      </p:sp>
      <p:sp>
        <p:nvSpPr>
          <p:cNvPr id="3" name="Content Placeholder 2">
            <a:extLst>
              <a:ext uri="{FF2B5EF4-FFF2-40B4-BE49-F238E27FC236}">
                <a16:creationId xmlns:a16="http://schemas.microsoft.com/office/drawing/2014/main" id="{DAA45AD7-E7DC-44A7-EC1E-49641143EC0B}"/>
              </a:ext>
            </a:extLst>
          </p:cNvPr>
          <p:cNvSpPr>
            <a:spLocks noGrp="1"/>
          </p:cNvSpPr>
          <p:nvPr>
            <p:ph sz="quarter" idx="13"/>
          </p:nvPr>
        </p:nvSpPr>
        <p:spPr/>
        <p:txBody>
          <a:bodyPr/>
          <a:lstStyle/>
          <a:p>
            <a:pPr marL="0" indent="0" algn="l">
              <a:buNone/>
            </a:pPr>
            <a:r>
              <a:rPr lang="en-US" b="0" i="0" dirty="0">
                <a:effectLst/>
                <a:latin typeface="system-ui"/>
              </a:rPr>
              <a:t>Consider a coin toss: this is sampling from a discrete random variable that can take on two states, </a:t>
            </a:r>
            <a:r>
              <a:rPr lang="en-US" b="0" i="0" dirty="0">
                <a:solidFill>
                  <a:schemeClr val="accent5"/>
                </a:solidFill>
                <a:effectLst/>
                <a:latin typeface="system-ui"/>
              </a:rPr>
              <a:t>heads</a:t>
            </a:r>
            <a:r>
              <a:rPr lang="en-US" b="0" i="0" dirty="0">
                <a:effectLst/>
                <a:latin typeface="system-ui"/>
              </a:rPr>
              <a:t> and </a:t>
            </a:r>
            <a:r>
              <a:rPr lang="en-US" b="0" i="0" dirty="0">
                <a:solidFill>
                  <a:schemeClr val="accent5"/>
                </a:solidFill>
                <a:effectLst/>
                <a:latin typeface="system-ui"/>
              </a:rPr>
              <a:t>tails</a:t>
            </a:r>
            <a:r>
              <a:rPr lang="en-US" b="0" i="0" dirty="0">
                <a:effectLst/>
                <a:latin typeface="system-ui"/>
              </a:rPr>
              <a:t>.</a:t>
            </a:r>
          </a:p>
          <a:p>
            <a:pPr marL="0" indent="0" algn="l">
              <a:buNone/>
            </a:pPr>
            <a:r>
              <a:rPr lang="en-US" b="0" i="0" dirty="0">
                <a:effectLst/>
                <a:latin typeface="system-ui"/>
              </a:rPr>
              <a:t>If we call our two possible states 0 (heads) and 1 (tails), we can </a:t>
            </a:r>
            <a:r>
              <a:rPr lang="en-US" b="0" i="0" dirty="0" err="1">
                <a:effectLst/>
                <a:latin typeface="system-ui"/>
              </a:rPr>
              <a:t>characterise</a:t>
            </a:r>
            <a:r>
              <a:rPr lang="en-US" b="0" i="0" dirty="0">
                <a:effectLst/>
                <a:latin typeface="system-ui"/>
              </a:rPr>
              <a:t> this with a single parameter q, where P(X=0)=q and P(X=1)=(1−q) </a:t>
            </a:r>
          </a:p>
          <a:p>
            <a:pPr marL="0" indent="0" algn="l">
              <a:buNone/>
            </a:pPr>
            <a:br>
              <a:rPr lang="en-US" b="0" i="0" dirty="0">
                <a:effectLst/>
                <a:latin typeface="system-ui"/>
              </a:rPr>
            </a:br>
            <a:r>
              <a:rPr lang="en-US" b="0" i="1" dirty="0">
                <a:effectLst/>
                <a:latin typeface="system-ui"/>
              </a:rPr>
              <a:t>(this follows from the fact that as P(X=0)+P(X=1) must equal 1 -- the coin must land on one side or the other. We ignore edge landings!).</a:t>
            </a:r>
          </a:p>
          <a:p>
            <a:endParaRPr lang="en-GB" dirty="0"/>
          </a:p>
        </p:txBody>
      </p:sp>
    </p:spTree>
    <p:extLst>
      <p:ext uri="{BB962C8B-B14F-4D97-AF65-F5344CB8AC3E}">
        <p14:creationId xmlns:p14="http://schemas.microsoft.com/office/powerpoint/2010/main" val="7393384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4F6DF-AC1D-909B-BDEF-01A734E1FB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8AF3B-A2B8-8637-8ECB-21816D8C88E2}"/>
              </a:ext>
            </a:extLst>
          </p:cNvPr>
          <p:cNvSpPr>
            <a:spLocks noGrp="1"/>
          </p:cNvSpPr>
          <p:nvPr>
            <p:ph type="title"/>
          </p:nvPr>
        </p:nvSpPr>
        <p:spPr/>
        <p:txBody>
          <a:bodyPr/>
          <a:lstStyle/>
          <a:p>
            <a:r>
              <a:rPr lang="en-GB" dirty="0"/>
              <a:t>Example: Tossing coins</a:t>
            </a:r>
          </a:p>
        </p:txBody>
      </p:sp>
      <p:sp>
        <p:nvSpPr>
          <p:cNvPr id="3" name="Content Placeholder 2">
            <a:extLst>
              <a:ext uri="{FF2B5EF4-FFF2-40B4-BE49-F238E27FC236}">
                <a16:creationId xmlns:a16="http://schemas.microsoft.com/office/drawing/2014/main" id="{2B29260A-EE24-B778-4260-280FDA7F5106}"/>
              </a:ext>
            </a:extLst>
          </p:cNvPr>
          <p:cNvSpPr>
            <a:spLocks noGrp="1"/>
          </p:cNvSpPr>
          <p:nvPr>
            <p:ph sz="quarter" idx="13"/>
          </p:nvPr>
        </p:nvSpPr>
        <p:spPr/>
        <p:txBody>
          <a:bodyPr/>
          <a:lstStyle/>
          <a:p>
            <a:r>
              <a:rPr lang="en-US" b="0" i="0" dirty="0">
                <a:effectLst/>
                <a:latin typeface="system-ui"/>
              </a:rPr>
              <a:t>If this process is very biased and heads are much more likely than tails (</a:t>
            </a:r>
            <a:r>
              <a:rPr lang="en-US" dirty="0"/>
              <a:t>q&lt;&lt;0.5</a:t>
            </a:r>
            <a:r>
              <a:rPr lang="en-US" b="0" i="0" dirty="0">
                <a:effectLst/>
                <a:latin typeface="system-ui"/>
              </a:rPr>
              <a:t>), an observer will be unsurprised most of the time because predicting heads will be a good bet.</a:t>
            </a:r>
          </a:p>
          <a:p>
            <a:r>
              <a:rPr lang="en-US" b="0" i="0" dirty="0">
                <a:effectLst/>
                <a:latin typeface="system-ui"/>
              </a:rPr>
              <a:t>If the process is unbiased (</a:t>
            </a:r>
            <a:r>
              <a:rPr lang="en-US" dirty="0"/>
              <a:t>q=0.5</a:t>
            </a:r>
            <a:r>
              <a:rPr lang="en-US" b="0" i="0" dirty="0">
                <a:effectLst/>
                <a:latin typeface="system-ui"/>
              </a:rPr>
              <a:t>), an observer will have no way to predict if a head or tail is more likely. </a:t>
            </a:r>
          </a:p>
          <a:p>
            <a:pPr marL="0" indent="0" algn="l">
              <a:buNone/>
            </a:pPr>
            <a:r>
              <a:rPr lang="en-US" b="0" i="0" dirty="0">
                <a:effectLst/>
                <a:latin typeface="system-ui"/>
              </a:rPr>
              <a:t>We can write the entropy of this distribution:</a:t>
            </a:r>
            <a:endParaRPr lang="en-GB" dirty="0"/>
          </a:p>
        </p:txBody>
      </p:sp>
      <p:pic>
        <p:nvPicPr>
          <p:cNvPr id="5" name="Picture 4">
            <a:extLst>
              <a:ext uri="{FF2B5EF4-FFF2-40B4-BE49-F238E27FC236}">
                <a16:creationId xmlns:a16="http://schemas.microsoft.com/office/drawing/2014/main" id="{DE43EC1A-336B-C61E-AC41-D41E510573C1}"/>
              </a:ext>
            </a:extLst>
          </p:cNvPr>
          <p:cNvPicPr>
            <a:picLocks noChangeAspect="1"/>
          </p:cNvPicPr>
          <p:nvPr/>
        </p:nvPicPr>
        <p:blipFill>
          <a:blip r:embed="rId2"/>
          <a:stretch>
            <a:fillRect/>
          </a:stretch>
        </p:blipFill>
        <p:spPr>
          <a:xfrm>
            <a:off x="3313065" y="4530904"/>
            <a:ext cx="5565869" cy="863156"/>
          </a:xfrm>
          <a:prstGeom prst="rect">
            <a:avLst/>
          </a:prstGeom>
        </p:spPr>
      </p:pic>
    </p:spTree>
    <p:extLst>
      <p:ext uri="{BB962C8B-B14F-4D97-AF65-F5344CB8AC3E}">
        <p14:creationId xmlns:p14="http://schemas.microsoft.com/office/powerpoint/2010/main" val="6647907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B7E48-8423-1FCD-A7A4-7D57726FCE99}"/>
              </a:ext>
            </a:extLst>
          </p:cNvPr>
          <p:cNvSpPr>
            <a:spLocks noGrp="1"/>
          </p:cNvSpPr>
          <p:nvPr>
            <p:ph type="title"/>
          </p:nvPr>
        </p:nvSpPr>
        <p:spPr/>
        <p:txBody>
          <a:bodyPr/>
          <a:lstStyle/>
          <a:p>
            <a:r>
              <a:rPr lang="en-GB" dirty="0"/>
              <a:t>Entropy of a coin toss</a:t>
            </a:r>
          </a:p>
        </p:txBody>
      </p:sp>
      <p:pic>
        <p:nvPicPr>
          <p:cNvPr id="5" name="Content Placeholder 4">
            <a:extLst>
              <a:ext uri="{FF2B5EF4-FFF2-40B4-BE49-F238E27FC236}">
                <a16:creationId xmlns:a16="http://schemas.microsoft.com/office/drawing/2014/main" id="{91351D4D-7192-6953-7345-A303A67C5786}"/>
              </a:ext>
            </a:extLst>
          </p:cNvPr>
          <p:cNvPicPr>
            <a:picLocks noGrp="1" noChangeAspect="1"/>
          </p:cNvPicPr>
          <p:nvPr>
            <p:ph sz="quarter" idx="13"/>
          </p:nvPr>
        </p:nvPicPr>
        <p:blipFill>
          <a:blip r:embed="rId2"/>
          <a:stretch>
            <a:fillRect/>
          </a:stretch>
        </p:blipFill>
        <p:spPr>
          <a:xfrm>
            <a:off x="1923156" y="1627188"/>
            <a:ext cx="8199637" cy="4606925"/>
          </a:xfrm>
        </p:spPr>
      </p:pic>
    </p:spTree>
    <p:extLst>
      <p:ext uri="{BB962C8B-B14F-4D97-AF65-F5344CB8AC3E}">
        <p14:creationId xmlns:p14="http://schemas.microsoft.com/office/powerpoint/2010/main" val="274484072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741F4C2-4E0D-75F8-EA1C-B2BB9CA7EDEA}"/>
              </a:ext>
            </a:extLst>
          </p:cNvPr>
          <p:cNvSpPr>
            <a:spLocks noGrp="1"/>
          </p:cNvSpPr>
          <p:nvPr>
            <p:ph sz="half" idx="1"/>
          </p:nvPr>
        </p:nvSpPr>
        <p:spPr>
          <a:xfrm>
            <a:off x="838200" y="1608667"/>
            <a:ext cx="5181600" cy="4568296"/>
          </a:xfrm>
        </p:spPr>
        <p:txBody>
          <a:bodyPr>
            <a:normAutofit/>
          </a:bodyPr>
          <a:lstStyle/>
          <a:p>
            <a:r>
              <a:rPr lang="en-US" sz="2200" b="0" i="0" dirty="0">
                <a:effectLst/>
              </a:rPr>
              <a:t>This corresponds with our intuition: </a:t>
            </a:r>
            <a:br>
              <a:rPr lang="en-US" sz="2200" b="0" i="0" dirty="0">
                <a:effectLst/>
              </a:rPr>
            </a:br>
            <a:r>
              <a:rPr lang="en-US" sz="2200" b="0" i="1" dirty="0">
                <a:solidFill>
                  <a:schemeClr val="accent4"/>
                </a:solidFill>
                <a:effectLst/>
              </a:rPr>
              <a:t>an unbiased coin toss is the most surprising distribution</a:t>
            </a:r>
            <a:r>
              <a:rPr lang="en-US" sz="2200" b="0" i="0" dirty="0">
                <a:effectLst/>
              </a:rPr>
              <a:t>. </a:t>
            </a:r>
          </a:p>
          <a:p>
            <a:r>
              <a:rPr lang="en-US" sz="2200" b="0" i="0" dirty="0">
                <a:effectLst/>
              </a:rPr>
              <a:t>Entropy is a critically important concept in </a:t>
            </a:r>
            <a:r>
              <a:rPr lang="en-US" sz="2200" b="1" i="0" dirty="0">
                <a:solidFill>
                  <a:schemeClr val="accent5"/>
                </a:solidFill>
                <a:effectLst/>
              </a:rPr>
              <a:t>information theory</a:t>
            </a:r>
            <a:r>
              <a:rPr lang="en-US" sz="2200" b="0" i="0" dirty="0">
                <a:effectLst/>
              </a:rPr>
              <a:t> which relates probability to the problems of communication. </a:t>
            </a:r>
          </a:p>
          <a:p>
            <a:r>
              <a:rPr lang="en-US" sz="2200" b="0" i="0" dirty="0">
                <a:effectLst/>
              </a:rPr>
              <a:t>We can measure how well Bayesian updating is going by measuring the </a:t>
            </a:r>
            <a:r>
              <a:rPr lang="en-US" sz="2200" b="0" i="0" dirty="0">
                <a:solidFill>
                  <a:schemeClr val="accent4"/>
                </a:solidFill>
                <a:effectLst/>
              </a:rPr>
              <a:t>drop in entropy of the posterior belief</a:t>
            </a:r>
            <a:r>
              <a:rPr lang="en-US" sz="2200" b="0" i="0" dirty="0">
                <a:effectLst/>
              </a:rPr>
              <a:t>; as we add evidence, we should become less surprised about the possible outcomes.</a:t>
            </a:r>
            <a:endParaRPr lang="en-GB" sz="2200" dirty="0"/>
          </a:p>
        </p:txBody>
      </p:sp>
      <p:pic>
        <p:nvPicPr>
          <p:cNvPr id="4" name="Content Placeholder 4">
            <a:extLst>
              <a:ext uri="{FF2B5EF4-FFF2-40B4-BE49-F238E27FC236}">
                <a16:creationId xmlns:a16="http://schemas.microsoft.com/office/drawing/2014/main" id="{66D807CB-66A4-878A-7657-9704D741148F}"/>
              </a:ext>
            </a:extLst>
          </p:cNvPr>
          <p:cNvPicPr>
            <a:picLocks noChangeAspect="1"/>
          </p:cNvPicPr>
          <p:nvPr/>
        </p:nvPicPr>
        <p:blipFill>
          <a:blip r:embed="rId2"/>
          <a:stretch>
            <a:fillRect/>
          </a:stretch>
        </p:blipFill>
        <p:spPr>
          <a:xfrm>
            <a:off x="6172200" y="2435490"/>
            <a:ext cx="5181600" cy="2914649"/>
          </a:xfrm>
          <a:prstGeom prst="rect">
            <a:avLst/>
          </a:prstGeom>
          <a:noFill/>
        </p:spPr>
      </p:pic>
      <p:sp>
        <p:nvSpPr>
          <p:cNvPr id="9" name="Title 3">
            <a:extLst>
              <a:ext uri="{FF2B5EF4-FFF2-40B4-BE49-F238E27FC236}">
                <a16:creationId xmlns:a16="http://schemas.microsoft.com/office/drawing/2014/main" id="{4D746486-8F7F-C1FD-35EC-2BB1A635A9C6}"/>
              </a:ext>
            </a:extLst>
          </p:cNvPr>
          <p:cNvSpPr>
            <a:spLocks noGrp="1"/>
          </p:cNvSpPr>
          <p:nvPr>
            <p:ph type="title"/>
          </p:nvPr>
        </p:nvSpPr>
        <p:spPr>
          <a:xfrm>
            <a:off x="2549236" y="533614"/>
            <a:ext cx="9210963" cy="888786"/>
          </a:xfrm>
        </p:spPr>
        <p:txBody>
          <a:bodyPr/>
          <a:lstStyle/>
          <a:p>
            <a:r>
              <a:rPr lang="en-GB" dirty="0"/>
              <a:t>Entropy of a coin toss</a:t>
            </a:r>
            <a:endParaRPr lang="en-US" dirty="0"/>
          </a:p>
        </p:txBody>
      </p:sp>
    </p:spTree>
    <p:extLst>
      <p:ext uri="{BB962C8B-B14F-4D97-AF65-F5344CB8AC3E}">
        <p14:creationId xmlns:p14="http://schemas.microsoft.com/office/powerpoint/2010/main" val="28919448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5E7C659-FDDF-89AA-90E7-3E5F63B3C48A}"/>
              </a:ext>
            </a:extLst>
          </p:cNvPr>
          <p:cNvSpPr>
            <a:spLocks noGrp="1"/>
          </p:cNvSpPr>
          <p:nvPr>
            <p:ph type="title"/>
          </p:nvPr>
        </p:nvSpPr>
        <p:spPr>
          <a:xfrm>
            <a:off x="741680" y="2123676"/>
            <a:ext cx="4027169" cy="1600200"/>
          </a:xfrm>
        </p:spPr>
        <p:txBody>
          <a:bodyPr anchor="t">
            <a:normAutofit/>
          </a:bodyPr>
          <a:lstStyle/>
          <a:p>
            <a:r>
              <a:rPr lang="en-GB" dirty="0"/>
              <a:t>Example 2: Back to our bigrams</a:t>
            </a:r>
          </a:p>
        </p:txBody>
      </p:sp>
      <p:sp>
        <p:nvSpPr>
          <p:cNvPr id="2" name="Content Placeholder 1">
            <a:extLst>
              <a:ext uri="{FF2B5EF4-FFF2-40B4-BE49-F238E27FC236}">
                <a16:creationId xmlns:a16="http://schemas.microsoft.com/office/drawing/2014/main" id="{7B87C934-3292-8738-142E-C509840417E6}"/>
              </a:ext>
            </a:extLst>
          </p:cNvPr>
          <p:cNvSpPr>
            <a:spLocks noGrp="1"/>
          </p:cNvSpPr>
          <p:nvPr>
            <p:ph type="body" sz="half" idx="2"/>
          </p:nvPr>
        </p:nvSpPr>
        <p:spPr>
          <a:xfrm>
            <a:off x="741680" y="3934224"/>
            <a:ext cx="4030345" cy="1934763"/>
          </a:xfrm>
        </p:spPr>
        <p:txBody>
          <a:bodyPr>
            <a:normAutofit/>
          </a:bodyPr>
          <a:lstStyle/>
          <a:p>
            <a:pPr marL="0" indent="0">
              <a:buNone/>
            </a:pPr>
            <a:r>
              <a:rPr lang="en-US" sz="1700" b="0" i="0" dirty="0">
                <a:effectLst/>
              </a:rPr>
              <a:t>In our letter-based bigram example, we can compute the entropy of each conditional distribution </a:t>
            </a:r>
            <a:r>
              <a:rPr lang="en-US" sz="1700" dirty="0"/>
              <a:t>P(c</a:t>
            </a:r>
            <a:r>
              <a:rPr lang="en-US" sz="1700" baseline="-25000" dirty="0"/>
              <a:t>i</a:t>
            </a:r>
            <a:r>
              <a:rPr lang="en-US" sz="1700" dirty="0"/>
              <a:t>|c</a:t>
            </a:r>
            <a:r>
              <a:rPr lang="en-US" sz="1700" baseline="-25000" dirty="0"/>
              <a:t>i−1</a:t>
            </a:r>
            <a:r>
              <a:rPr lang="en-US" sz="1700" dirty="0"/>
              <a:t>)</a:t>
            </a:r>
            <a:r>
              <a:rPr lang="en-US" sz="1700" b="0" i="0" dirty="0">
                <a:effectLst/>
              </a:rPr>
              <a:t>. </a:t>
            </a:r>
          </a:p>
          <a:p>
            <a:pPr marL="0" indent="0">
              <a:buNone/>
            </a:pPr>
            <a:r>
              <a:rPr lang="en-US" sz="1700" b="0" i="0" dirty="0">
                <a:effectLst/>
              </a:rPr>
              <a:t>This will tell us how surprised we will be by the characters that might follow a character </a:t>
            </a:r>
            <a:r>
              <a:rPr lang="en-US" sz="1700" dirty="0"/>
              <a:t>c</a:t>
            </a:r>
            <a:r>
              <a:rPr lang="en-US" sz="1700" baseline="-25000" dirty="0"/>
              <a:t>i</a:t>
            </a:r>
            <a:r>
              <a:rPr lang="en-US" sz="1700" b="0" i="0" dirty="0">
                <a:effectLst/>
              </a:rPr>
              <a:t>.</a:t>
            </a:r>
            <a:endParaRPr lang="en-GB" sz="1700" dirty="0"/>
          </a:p>
        </p:txBody>
      </p:sp>
      <p:pic>
        <p:nvPicPr>
          <p:cNvPr id="8" name="Picture 7">
            <a:extLst>
              <a:ext uri="{FF2B5EF4-FFF2-40B4-BE49-F238E27FC236}">
                <a16:creationId xmlns:a16="http://schemas.microsoft.com/office/drawing/2014/main" id="{280CC2F0-603A-A83E-A2BB-BE714F18B1ED}"/>
              </a:ext>
            </a:extLst>
          </p:cNvPr>
          <p:cNvPicPr>
            <a:picLocks noChangeAspect="1"/>
          </p:cNvPicPr>
          <p:nvPr/>
        </p:nvPicPr>
        <p:blipFill>
          <a:blip r:embed="rId2"/>
          <a:stretch>
            <a:fillRect/>
          </a:stretch>
        </p:blipFill>
        <p:spPr>
          <a:xfrm>
            <a:off x="5183188" y="1711452"/>
            <a:ext cx="6172200" cy="3425570"/>
          </a:xfrm>
          <a:prstGeom prst="rect">
            <a:avLst/>
          </a:prstGeom>
          <a:noFill/>
        </p:spPr>
      </p:pic>
    </p:spTree>
    <p:extLst>
      <p:ext uri="{BB962C8B-B14F-4D97-AF65-F5344CB8AC3E}">
        <p14:creationId xmlns:p14="http://schemas.microsoft.com/office/powerpoint/2010/main" val="10189878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F7BA7-D166-09B9-B532-D7908466FF3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C6817F-7488-D9C4-A7FD-5466F2C732FE}"/>
              </a:ext>
            </a:extLst>
          </p:cNvPr>
          <p:cNvSpPr>
            <a:spLocks noGrp="1"/>
          </p:cNvSpPr>
          <p:nvPr>
            <p:ph sz="half" idx="1"/>
          </p:nvPr>
        </p:nvSpPr>
        <p:spPr>
          <a:xfrm>
            <a:off x="838200" y="1608667"/>
            <a:ext cx="5181600" cy="4568296"/>
          </a:xfrm>
        </p:spPr>
        <p:txBody>
          <a:bodyPr>
            <a:normAutofit/>
          </a:bodyPr>
          <a:lstStyle/>
          <a:p>
            <a:r>
              <a:rPr lang="en-US" sz="1900" b="0" i="0" dirty="0">
                <a:effectLst/>
              </a:rPr>
              <a:t>We can see that observing a "q" means the next character </a:t>
            </a:r>
            <a:r>
              <a:rPr lang="en-US" sz="1900" b="0" i="0" dirty="0">
                <a:solidFill>
                  <a:schemeClr val="accent5"/>
                </a:solidFill>
                <a:effectLst/>
              </a:rPr>
              <a:t>isn't surprising at all</a:t>
            </a:r>
            <a:r>
              <a:rPr lang="en-US" sz="1900" b="0" i="0" dirty="0">
                <a:effectLst/>
              </a:rPr>
              <a:t>: we know for </a:t>
            </a:r>
            <a:r>
              <a:rPr lang="en-US" sz="1900" b="0" i="1" dirty="0">
                <a:solidFill>
                  <a:schemeClr val="accent5"/>
                </a:solidFill>
                <a:effectLst/>
              </a:rPr>
              <a:t>sure</a:t>
            </a:r>
            <a:r>
              <a:rPr lang="en-US" sz="1900" b="0" i="0" dirty="0">
                <a:effectLst/>
              </a:rPr>
              <a:t> that it will be a "u", and thus the entropy is 0. There is only one configuration of the world for the next character (under this model) if we have just seen a "u".</a:t>
            </a:r>
          </a:p>
          <a:p>
            <a:r>
              <a:rPr lang="en-US" sz="1900" b="0" i="0" dirty="0">
                <a:effectLst/>
              </a:rPr>
              <a:t>Likewise, seeing a space character gives us </a:t>
            </a:r>
            <a:r>
              <a:rPr lang="en-US" sz="1900" b="0" i="0" dirty="0">
                <a:solidFill>
                  <a:schemeClr val="accent5"/>
                </a:solidFill>
                <a:effectLst/>
              </a:rPr>
              <a:t>very little information</a:t>
            </a:r>
            <a:r>
              <a:rPr lang="en-US" sz="1900" b="0" i="0" dirty="0">
                <a:effectLst/>
              </a:rPr>
              <a:t>, and </a:t>
            </a:r>
            <a:r>
              <a:rPr lang="en-US" sz="1900" b="0" i="0" dirty="0">
                <a:solidFill>
                  <a:schemeClr val="accent5"/>
                </a:solidFill>
                <a:effectLst/>
              </a:rPr>
              <a:t>the next character could be anything</a:t>
            </a:r>
            <a:r>
              <a:rPr lang="en-US" sz="1900" b="0" i="0" dirty="0">
                <a:effectLst/>
              </a:rPr>
              <a:t>: the character after a space will surprise us -- there are lots of configurations of the world that might follow a space. That surprise is as much surprise as we would get by tossing about 4 coins, or an entropy of about 4 bits.</a:t>
            </a:r>
          </a:p>
        </p:txBody>
      </p:sp>
      <p:pic>
        <p:nvPicPr>
          <p:cNvPr id="8" name="Picture 7" descr="A graph of blue vertical bars&#10;&#10;Description automatically generated">
            <a:extLst>
              <a:ext uri="{FF2B5EF4-FFF2-40B4-BE49-F238E27FC236}">
                <a16:creationId xmlns:a16="http://schemas.microsoft.com/office/drawing/2014/main" id="{1DC965B3-3C34-9285-6A6F-B8EB340C41CD}"/>
              </a:ext>
            </a:extLst>
          </p:cNvPr>
          <p:cNvPicPr>
            <a:picLocks noChangeAspect="1"/>
          </p:cNvPicPr>
          <p:nvPr/>
        </p:nvPicPr>
        <p:blipFill>
          <a:blip r:embed="rId2"/>
          <a:stretch>
            <a:fillRect/>
          </a:stretch>
        </p:blipFill>
        <p:spPr>
          <a:xfrm>
            <a:off x="6172200" y="2454921"/>
            <a:ext cx="5181600" cy="2875787"/>
          </a:xfrm>
          <a:prstGeom prst="rect">
            <a:avLst/>
          </a:prstGeom>
          <a:noFill/>
        </p:spPr>
      </p:pic>
      <p:sp>
        <p:nvSpPr>
          <p:cNvPr id="4" name="Title 3">
            <a:extLst>
              <a:ext uri="{FF2B5EF4-FFF2-40B4-BE49-F238E27FC236}">
                <a16:creationId xmlns:a16="http://schemas.microsoft.com/office/drawing/2014/main" id="{A3F391EF-6E56-AB90-9617-2E90BEDD04A4}"/>
              </a:ext>
            </a:extLst>
          </p:cNvPr>
          <p:cNvSpPr>
            <a:spLocks noGrp="1"/>
          </p:cNvSpPr>
          <p:nvPr>
            <p:ph type="title"/>
          </p:nvPr>
        </p:nvSpPr>
        <p:spPr>
          <a:xfrm>
            <a:off x="2549236" y="533614"/>
            <a:ext cx="9210963" cy="888786"/>
          </a:xfrm>
        </p:spPr>
        <p:txBody>
          <a:bodyPr anchor="t">
            <a:normAutofit/>
          </a:bodyPr>
          <a:lstStyle/>
          <a:p>
            <a:r>
              <a:rPr lang="en-GB" dirty="0"/>
              <a:t>Interpreting entropy</a:t>
            </a:r>
          </a:p>
        </p:txBody>
      </p:sp>
    </p:spTree>
    <p:extLst>
      <p:ext uri="{BB962C8B-B14F-4D97-AF65-F5344CB8AC3E}">
        <p14:creationId xmlns:p14="http://schemas.microsoft.com/office/powerpoint/2010/main" val="19207826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F1A2B12-4419-E479-F17C-E58460282EFA}"/>
              </a:ext>
            </a:extLst>
          </p:cNvPr>
          <p:cNvSpPr>
            <a:spLocks noGrp="1"/>
          </p:cNvSpPr>
          <p:nvPr>
            <p:ph type="title"/>
          </p:nvPr>
        </p:nvSpPr>
        <p:spPr>
          <a:xfrm>
            <a:off x="2549236" y="533614"/>
            <a:ext cx="9210963" cy="888786"/>
          </a:xfrm>
        </p:spPr>
        <p:txBody>
          <a:bodyPr anchor="t">
            <a:normAutofit/>
          </a:bodyPr>
          <a:lstStyle/>
          <a:p>
            <a:r>
              <a:rPr lang="en-GB" dirty="0"/>
              <a:t>Summary</a:t>
            </a:r>
          </a:p>
        </p:txBody>
      </p:sp>
      <p:graphicFrame>
        <p:nvGraphicFramePr>
          <p:cNvPr id="12" name="Content Placeholder 1">
            <a:extLst>
              <a:ext uri="{FF2B5EF4-FFF2-40B4-BE49-F238E27FC236}">
                <a16:creationId xmlns:a16="http://schemas.microsoft.com/office/drawing/2014/main" id="{A0934A8B-181E-FDDE-0F5F-0345B8C91209}"/>
              </a:ext>
            </a:extLst>
          </p:cNvPr>
          <p:cNvGraphicFramePr>
            <a:graphicFrameLocks noGrp="1"/>
          </p:cNvGraphicFramePr>
          <p:nvPr>
            <p:ph sz="quarter" idx="13"/>
            <p:extLst>
              <p:ext uri="{D42A27DB-BD31-4B8C-83A1-F6EECF244321}">
                <p14:modId xmlns:p14="http://schemas.microsoft.com/office/powerpoint/2010/main" val="431282132"/>
              </p:ext>
            </p:extLst>
          </p:nvPr>
        </p:nvGraphicFramePr>
        <p:xfrm>
          <a:off x="285750" y="1627188"/>
          <a:ext cx="11474450" cy="46069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294154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University at sunset">
            <a:extLst>
              <a:ext uri="{FF2B5EF4-FFF2-40B4-BE49-F238E27FC236}">
                <a16:creationId xmlns:a16="http://schemas.microsoft.com/office/drawing/2014/main" id="{11FDCD37-95D4-D94F-8143-5384ADC6A6C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175F20C-468E-F742-9149-B8A5FEBC2911}"/>
              </a:ext>
            </a:extLst>
          </p:cNvPr>
          <p:cNvSpPr>
            <a:spLocks noGrp="1"/>
          </p:cNvSpPr>
          <p:nvPr>
            <p:ph type="title" idx="4294967295"/>
          </p:nvPr>
        </p:nvSpPr>
        <p:spPr>
          <a:xfrm>
            <a:off x="645886" y="1889351"/>
            <a:ext cx="6546024" cy="1931535"/>
          </a:xfrm>
        </p:spPr>
        <p:txBody>
          <a:bodyPr>
            <a:noAutofit/>
          </a:bodyPr>
          <a:lstStyle/>
          <a:p>
            <a:pPr algn="l"/>
            <a:r>
              <a:rPr lang="en-US" altLang="zh-CN" dirty="0">
                <a:solidFill>
                  <a:schemeClr val="bg1"/>
                </a:solidFill>
              </a:rPr>
              <a:t>Thank</a:t>
            </a:r>
            <a:r>
              <a:rPr lang="zh-CN" altLang="en-US" dirty="0">
                <a:solidFill>
                  <a:schemeClr val="bg1"/>
                </a:solidFill>
              </a:rPr>
              <a:t> </a:t>
            </a:r>
            <a:r>
              <a:rPr lang="en-US" altLang="zh-CN" dirty="0">
                <a:solidFill>
                  <a:schemeClr val="bg1"/>
                </a:solidFill>
              </a:rPr>
              <a:t>you</a:t>
            </a:r>
            <a:br>
              <a:rPr lang="en-US" altLang="zh-CN" dirty="0">
                <a:solidFill>
                  <a:schemeClr val="bg1"/>
                </a:solidFill>
              </a:rPr>
            </a:br>
            <a:br>
              <a:rPr lang="en-US" altLang="zh-CN" dirty="0">
                <a:solidFill>
                  <a:schemeClr val="bg1"/>
                </a:solidFill>
              </a:rPr>
            </a:br>
            <a:r>
              <a:rPr lang="en-US" altLang="zh-CN" dirty="0">
                <a:solidFill>
                  <a:schemeClr val="bg1"/>
                </a:solidFill>
              </a:rPr>
              <a:t>Contact:</a:t>
            </a:r>
            <a:r>
              <a:rPr lang="zh-CN" altLang="en-US" dirty="0">
                <a:solidFill>
                  <a:schemeClr val="bg1"/>
                </a:solidFill>
              </a:rPr>
              <a:t> </a:t>
            </a:r>
            <a:r>
              <a:rPr lang="en-US" altLang="zh-CN" dirty="0">
                <a:solidFill>
                  <a:schemeClr val="bg1"/>
                </a:solidFill>
              </a:rPr>
              <a:t>Nicolas.Pugeault@Glasgow.ac.uk</a:t>
            </a:r>
            <a:endParaRPr lang="en-US" dirty="0">
              <a:solidFill>
                <a:schemeClr val="bg1"/>
              </a:solidFill>
            </a:endParaRPr>
          </a:p>
        </p:txBody>
      </p:sp>
    </p:spTree>
    <p:extLst>
      <p:ext uri="{BB962C8B-B14F-4D97-AF65-F5344CB8AC3E}">
        <p14:creationId xmlns:p14="http://schemas.microsoft.com/office/powerpoint/2010/main" val="300637870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ENTIMETER_SERIES_ID_KEY" val="algz48g2dsco13y5kyjhge5kwum51i84"/>
</p:tagLst>
</file>

<file path=ppt/theme/theme1.xml><?xml version="1.0" encoding="utf-8"?>
<a:theme xmlns:a="http://schemas.openxmlformats.org/drawingml/2006/main" name="Office Theme">
  <a:themeElements>
    <a:clrScheme name="UofG colours">
      <a:dk1>
        <a:srgbClr val="003865"/>
      </a:dk1>
      <a:lt1>
        <a:srgbClr val="FFFFFE"/>
      </a:lt1>
      <a:dk2>
        <a:srgbClr val="000000"/>
      </a:dk2>
      <a:lt2>
        <a:srgbClr val="7D2238"/>
      </a:lt2>
      <a:accent1>
        <a:srgbClr val="0075B0"/>
      </a:accent1>
      <a:accent2>
        <a:srgbClr val="5B4D93"/>
      </a:accent2>
      <a:accent3>
        <a:srgbClr val="CF1C20"/>
      </a:accent3>
      <a:accent4>
        <a:srgbClr val="00833C"/>
      </a:accent4>
      <a:accent5>
        <a:srgbClr val="BE4D00"/>
      </a:accent5>
      <a:accent6>
        <a:srgbClr val="951271"/>
      </a:accent6>
      <a:hlink>
        <a:srgbClr val="584B3D"/>
      </a:hlink>
      <a:folHlink>
        <a:srgbClr val="0068A9"/>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61AF5F2-503D-2641-86A1-09AD8919EA9C}" vid="{A816E7D6-9491-074F-A4D5-6596497DAC1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webextension1.xml.rels><?xml version="1.0" encoding="UTF-8" standalone="yes"?>
<Relationships xmlns="http://schemas.openxmlformats.org/package/2006/relationships"><Relationship Id="rId1" Type="http://schemas.openxmlformats.org/officeDocument/2006/relationships/image" Target="../media/image38.png"/></Relationships>
</file>

<file path=ppt/webextensions/webextension1.xml><?xml version="1.0" encoding="utf-8"?>
<we:webextension xmlns:we="http://schemas.microsoft.com/office/webextensions/webextension/2010/11" id="{035FB46E-140D-4782-AFD0-1442D646515A}">
  <we:reference id="wa104379261" version="4.3.0.0" store="en-US" storeType="OMEX"/>
  <we:alternateReferences>
    <we:reference id="wa104379261" version="4.3.0.0" store="wa104379261" storeType="OMEX"/>
  </we:alternateReferences>
  <we:properties>
    <we:property name="MENTIMETER_QUESTION_ID_KEY" value="&quot;jdv6ao85i374&quot;"/>
  </we:properties>
  <we:bindings/>
  <we:snapshot xmlns:r="http://schemas.openxmlformats.org/officeDocument/2006/relationships" r:embed="rId1"/>
</we:webextension>
</file>

<file path=docProps/app.xml><?xml version="1.0" encoding="utf-8"?>
<Properties xmlns="http://schemas.openxmlformats.org/officeDocument/2006/extended-properties" xmlns:vt="http://schemas.openxmlformats.org/officeDocument/2006/docPropsVTypes">
  <Template/>
  <TotalTime>5074</TotalTime>
  <Words>4150</Words>
  <Application>Microsoft Office PowerPoint</Application>
  <PresentationFormat>Widescreen</PresentationFormat>
  <Paragraphs>341</Paragraphs>
  <Slides>62</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62</vt:i4>
      </vt:variant>
    </vt:vector>
  </HeadingPairs>
  <TitlesOfParts>
    <vt:vector size="68" baseType="lpstr">
      <vt:lpstr>-apple-system</vt:lpstr>
      <vt:lpstr>Arial</vt:lpstr>
      <vt:lpstr>Calibri</vt:lpstr>
      <vt:lpstr>Century Schoolbook</vt:lpstr>
      <vt:lpstr>system-ui</vt:lpstr>
      <vt:lpstr>Office Theme</vt:lpstr>
      <vt:lpstr>Introduction to Data Science and Systems</vt:lpstr>
      <vt:lpstr>Today’s learning outcomes</vt:lpstr>
      <vt:lpstr>Part 1 - Joint, marginal and conditional probabilities</vt:lpstr>
      <vt:lpstr>Last week: Romeo &amp; Juliet in letters</vt:lpstr>
      <vt:lpstr>Letters PMF in Romeo &amp; Juliet</vt:lpstr>
      <vt:lpstr>Letters PMF in Metamorphosis</vt:lpstr>
      <vt:lpstr>Text generation from letter distribution</vt:lpstr>
      <vt:lpstr>Likelihood function</vt:lpstr>
      <vt:lpstr>Romeo &amp; Juliet: Text likelihood with underflow error!</vt:lpstr>
      <vt:lpstr>Romeo &amp; Juliet: Text log-likelihood</vt:lpstr>
      <vt:lpstr>Who wrote Romeo &amp; Juliet: A statistical approach</vt:lpstr>
      <vt:lpstr>Comparing Log-Likelihoods</vt:lpstr>
      <vt:lpstr>Better text representation: bigrams</vt:lpstr>
      <vt:lpstr>Joint probabilities</vt:lpstr>
      <vt:lpstr>Marginal probabilities</vt:lpstr>
      <vt:lpstr>Marginalisation</vt:lpstr>
      <vt:lpstr>Conditional probabilities</vt:lpstr>
      <vt:lpstr>Or visually </vt:lpstr>
      <vt:lpstr>Example: Back to the Scorpion</vt:lpstr>
      <vt:lpstr>Example: Back to the Scorpion</vt:lpstr>
      <vt:lpstr>Example: Back to the Scorpion</vt:lpstr>
      <vt:lpstr>Example: Back to the Scorpion</vt:lpstr>
      <vt:lpstr>Example: Back to the Scorpion</vt:lpstr>
      <vt:lpstr>Example: Back to the Scorpion</vt:lpstr>
      <vt:lpstr>Example: Back to the Scorpion</vt:lpstr>
      <vt:lpstr>Example: Back to the Scorpion</vt:lpstr>
      <vt:lpstr>Back to Bigrams</vt:lpstr>
      <vt:lpstr>Bigrams: Joint probability</vt:lpstr>
      <vt:lpstr>Bigrams: Joint probability</vt:lpstr>
      <vt:lpstr>Bigrams: Marginalisation</vt:lpstr>
      <vt:lpstr>Bigrams: Marginalisation</vt:lpstr>
      <vt:lpstr>Bigrams: Marginalisation</vt:lpstr>
      <vt:lpstr>Bigrams: Conditional probabilities</vt:lpstr>
      <vt:lpstr>Bigrams: Conditional probabilities</vt:lpstr>
      <vt:lpstr>Bigrams: Conditional probabilities</vt:lpstr>
      <vt:lpstr>Aside: Conditional probabilities and LLM </vt:lpstr>
      <vt:lpstr>Aside: Conditional probabilities and LLM </vt:lpstr>
      <vt:lpstr>Part 2 - Bayes’ theorem</vt:lpstr>
      <vt:lpstr>☣ Plague ☣</vt:lpstr>
      <vt:lpstr>Bayes’ rule Inverting conditional distributions</vt:lpstr>
      <vt:lpstr>Bayes’ rule Inverting conditional distributions</vt:lpstr>
      <vt:lpstr>Bayes’ rule Inverting conditional distributions</vt:lpstr>
      <vt:lpstr>Bayes’ rule Nomenclature</vt:lpstr>
      <vt:lpstr>Bayes’ rule Nomenclature</vt:lpstr>
      <vt:lpstr>Bayes’ rule Marginalising the evidence</vt:lpstr>
      <vt:lpstr>Bayes’ Rule Binary cases</vt:lpstr>
      <vt:lpstr>Bayes’ rule Back to Plague X</vt:lpstr>
      <vt:lpstr>Bayes’ rule Answering the Plague X question</vt:lpstr>
      <vt:lpstr>Poll results</vt:lpstr>
      <vt:lpstr>Bayes’ rule Natural frequency</vt:lpstr>
      <vt:lpstr>Part 3 - Entropy</vt:lpstr>
      <vt:lpstr>Entropy</vt:lpstr>
      <vt:lpstr>Entropy</vt:lpstr>
      <vt:lpstr>Entropy</vt:lpstr>
      <vt:lpstr>Example: Tossing coins</vt:lpstr>
      <vt:lpstr>Example: Tossing coins</vt:lpstr>
      <vt:lpstr>Entropy of a coin toss</vt:lpstr>
      <vt:lpstr>Entropy of a coin toss</vt:lpstr>
      <vt:lpstr>Example 2: Back to our bigrams</vt:lpstr>
      <vt:lpstr>Interpreting entropy</vt:lpstr>
      <vt:lpstr>Summary</vt:lpstr>
      <vt:lpstr>Thank you  Contact: Nicolas.Pugeault@Glasgow.ac.uk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Nicolas Pugeault</cp:lastModifiedBy>
  <cp:revision>1229</cp:revision>
  <dcterms:created xsi:type="dcterms:W3CDTF">2021-01-06T14:22:07Z</dcterms:created>
  <dcterms:modified xsi:type="dcterms:W3CDTF">2025-11-12T16:25:48Z</dcterms:modified>
  <cp:category/>
</cp:coreProperties>
</file>