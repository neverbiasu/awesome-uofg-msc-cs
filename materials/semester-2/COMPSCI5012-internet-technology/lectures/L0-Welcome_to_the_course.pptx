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handoutMasterIdLst>
    <p:handoutMasterId r:id="rId18"/>
  </p:handoutMasterIdLst>
  <p:sldIdLst>
    <p:sldId id="256" r:id="rId2"/>
    <p:sldId id="396" r:id="rId3"/>
    <p:sldId id="345" r:id="rId4"/>
    <p:sldId id="397" r:id="rId5"/>
    <p:sldId id="395" r:id="rId6"/>
    <p:sldId id="317" r:id="rId7"/>
    <p:sldId id="304" r:id="rId8"/>
    <p:sldId id="351" r:id="rId9"/>
    <p:sldId id="347" r:id="rId10"/>
    <p:sldId id="353" r:id="rId11"/>
    <p:sldId id="398" r:id="rId12"/>
    <p:sldId id="400" r:id="rId13"/>
    <p:sldId id="305" r:id="rId14"/>
    <p:sldId id="401" r:id="rId15"/>
    <p:sldId id="399"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4"/>
  </p:normalViewPr>
  <p:slideViewPr>
    <p:cSldViewPr snapToGrid="0">
      <p:cViewPr varScale="1">
        <p:scale>
          <a:sx n="108" d="100"/>
          <a:sy n="108" d="100"/>
        </p:scale>
        <p:origin x="896" y="20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ela Papadopoulou" userId="c442addc-b726-4e5b-a68e-b877e21a754f" providerId="ADAL" clId="{9E9D6174-C264-575F-B717-0D65D9FB61C2}"/>
    <pc:docChg chg="custSel modSld">
      <pc:chgData name="Nikela Papadopoulou" userId="c442addc-b726-4e5b-a68e-b877e21a754f" providerId="ADAL" clId="{9E9D6174-C264-575F-B717-0D65D9FB61C2}" dt="2026-01-08T22:54:13.005" v="221" actId="404"/>
      <pc:docMkLst>
        <pc:docMk/>
      </pc:docMkLst>
      <pc:sldChg chg="modSp mod">
        <pc:chgData name="Nikela Papadopoulou" userId="c442addc-b726-4e5b-a68e-b877e21a754f" providerId="ADAL" clId="{9E9D6174-C264-575F-B717-0D65D9FB61C2}" dt="2026-01-08T22:51:51.525" v="33" actId="20577"/>
        <pc:sldMkLst>
          <pc:docMk/>
          <pc:sldMk cId="3879244758" sldId="304"/>
        </pc:sldMkLst>
        <pc:spChg chg="mod">
          <ac:chgData name="Nikela Papadopoulou" userId="c442addc-b726-4e5b-a68e-b877e21a754f" providerId="ADAL" clId="{9E9D6174-C264-575F-B717-0D65D9FB61C2}" dt="2026-01-08T22:51:51.525" v="33" actId="20577"/>
          <ac:spMkLst>
            <pc:docMk/>
            <pc:sldMk cId="3879244758" sldId="304"/>
            <ac:spMk id="3" creationId="{00000000-0000-0000-0000-000000000000}"/>
          </ac:spMkLst>
        </pc:spChg>
      </pc:sldChg>
      <pc:sldChg chg="modSp mod">
        <pc:chgData name="Nikela Papadopoulou" userId="c442addc-b726-4e5b-a68e-b877e21a754f" providerId="ADAL" clId="{9E9D6174-C264-575F-B717-0D65D9FB61C2}" dt="2026-01-08T22:54:13.005" v="221" actId="404"/>
        <pc:sldMkLst>
          <pc:docMk/>
          <pc:sldMk cId="553208963" sldId="396"/>
        </pc:sldMkLst>
        <pc:spChg chg="mod">
          <ac:chgData name="Nikela Papadopoulou" userId="c442addc-b726-4e5b-a68e-b877e21a754f" providerId="ADAL" clId="{9E9D6174-C264-575F-B717-0D65D9FB61C2}" dt="2026-01-08T22:54:13.005" v="221" actId="404"/>
          <ac:spMkLst>
            <pc:docMk/>
            <pc:sldMk cId="553208963" sldId="396"/>
            <ac:spMk id="3" creationId="{37003998-A3E4-09A8-58BD-B551397EC258}"/>
          </ac:spMkLst>
        </pc:spChg>
      </pc:sldChg>
      <pc:sldChg chg="modSp mod">
        <pc:chgData name="Nikela Papadopoulou" userId="c442addc-b726-4e5b-a68e-b877e21a754f" providerId="ADAL" clId="{9E9D6174-C264-575F-B717-0D65D9FB61C2}" dt="2026-01-08T22:52:18.462" v="47" actId="20577"/>
        <pc:sldMkLst>
          <pc:docMk/>
          <pc:sldMk cId="179483343" sldId="400"/>
        </pc:sldMkLst>
        <pc:spChg chg="mod">
          <ac:chgData name="Nikela Papadopoulou" userId="c442addc-b726-4e5b-a68e-b877e21a754f" providerId="ADAL" clId="{9E9D6174-C264-575F-B717-0D65D9FB61C2}" dt="2026-01-08T22:52:18.462" v="47" actId="20577"/>
          <ac:spMkLst>
            <pc:docMk/>
            <pc:sldMk cId="179483343" sldId="400"/>
            <ac:spMk id="4" creationId="{869440B6-1A2B-1353-19D9-A6FFFC0B5EEE}"/>
          </ac:spMkLst>
        </pc:spChg>
      </pc:sldChg>
    </pc:docChg>
  </pc:docChgLst>
  <pc:docChgLst>
    <pc:chgData name="Nikela Papadopoulou" userId="S::nikela.papadopoulou@glasgow.ac.uk::c442addc-b726-4e5b-a68e-b877e21a754f" providerId="AD" clId="Web-{9949DDF7-1811-2E05-F2D5-9CF9C3FFC945}"/>
    <pc:docChg chg="addSld modSld">
      <pc:chgData name="Nikela Papadopoulou" userId="S::nikela.papadopoulou@glasgow.ac.uk::c442addc-b726-4e5b-a68e-b877e21a754f" providerId="AD" clId="Web-{9949DDF7-1811-2E05-F2D5-9CF9C3FFC945}" dt="2026-01-07T00:35:48.065" v="381" actId="20577"/>
      <pc:docMkLst>
        <pc:docMk/>
      </pc:docMkLst>
      <pc:sldChg chg="modSp">
        <pc:chgData name="Nikela Papadopoulou" userId="S::nikela.papadopoulou@glasgow.ac.uk::c442addc-b726-4e5b-a68e-b877e21a754f" providerId="AD" clId="Web-{9949DDF7-1811-2E05-F2D5-9CF9C3FFC945}" dt="2026-01-06T22:32:02.079" v="120" actId="20577"/>
        <pc:sldMkLst>
          <pc:docMk/>
          <pc:sldMk cId="3879244758" sldId="304"/>
        </pc:sldMkLst>
        <pc:spChg chg="mod">
          <ac:chgData name="Nikela Papadopoulou" userId="S::nikela.papadopoulou@glasgow.ac.uk::c442addc-b726-4e5b-a68e-b877e21a754f" providerId="AD" clId="Web-{9949DDF7-1811-2E05-F2D5-9CF9C3FFC945}" dt="2026-01-06T22:32:02.079" v="120" actId="20577"/>
          <ac:spMkLst>
            <pc:docMk/>
            <pc:sldMk cId="3879244758" sldId="304"/>
            <ac:spMk id="3" creationId="{00000000-0000-0000-0000-000000000000}"/>
          </ac:spMkLst>
        </pc:spChg>
      </pc:sldChg>
      <pc:sldChg chg="modSp">
        <pc:chgData name="Nikela Papadopoulou" userId="S::nikela.papadopoulou@glasgow.ac.uk::c442addc-b726-4e5b-a68e-b877e21a754f" providerId="AD" clId="Web-{9949DDF7-1811-2E05-F2D5-9CF9C3FFC945}" dt="2026-01-07T00:31:35.551" v="212" actId="20577"/>
        <pc:sldMkLst>
          <pc:docMk/>
          <pc:sldMk cId="166609332" sldId="305"/>
        </pc:sldMkLst>
        <pc:spChg chg="mod">
          <ac:chgData name="Nikela Papadopoulou" userId="S::nikela.papadopoulou@glasgow.ac.uk::c442addc-b726-4e5b-a68e-b877e21a754f" providerId="AD" clId="Web-{9949DDF7-1811-2E05-F2D5-9CF9C3FFC945}" dt="2026-01-07T00:31:35.551" v="212" actId="20577"/>
          <ac:spMkLst>
            <pc:docMk/>
            <pc:sldMk cId="166609332" sldId="305"/>
            <ac:spMk id="4" creationId="{420C0223-5793-924D-FD4F-05525FC726D2}"/>
          </ac:spMkLst>
        </pc:spChg>
      </pc:sldChg>
      <pc:sldChg chg="modSp">
        <pc:chgData name="Nikela Papadopoulou" userId="S::nikela.papadopoulou@glasgow.ac.uk::c442addc-b726-4e5b-a68e-b877e21a754f" providerId="AD" clId="Web-{9949DDF7-1811-2E05-F2D5-9CF9C3FFC945}" dt="2026-01-07T00:33:56.930" v="270" actId="20577"/>
        <pc:sldMkLst>
          <pc:docMk/>
          <pc:sldMk cId="377186340" sldId="317"/>
        </pc:sldMkLst>
        <pc:spChg chg="mod">
          <ac:chgData name="Nikela Papadopoulou" userId="S::nikela.papadopoulou@glasgow.ac.uk::c442addc-b726-4e5b-a68e-b877e21a754f" providerId="AD" clId="Web-{9949DDF7-1811-2E05-F2D5-9CF9C3FFC945}" dt="2026-01-07T00:33:56.930" v="270" actId="20577"/>
          <ac:spMkLst>
            <pc:docMk/>
            <pc:sldMk cId="377186340" sldId="317"/>
            <ac:spMk id="3" creationId="{00000000-0000-0000-0000-000000000000}"/>
          </ac:spMkLst>
        </pc:spChg>
      </pc:sldChg>
      <pc:sldChg chg="addSp delSp modSp">
        <pc:chgData name="Nikela Papadopoulou" userId="S::nikela.papadopoulou@glasgow.ac.uk::c442addc-b726-4e5b-a68e-b877e21a754f" providerId="AD" clId="Web-{9949DDF7-1811-2E05-F2D5-9CF9C3FFC945}" dt="2026-01-07T00:35:48.065" v="381" actId="20577"/>
        <pc:sldMkLst>
          <pc:docMk/>
          <pc:sldMk cId="1456867589" sldId="347"/>
        </pc:sldMkLst>
        <pc:spChg chg="mod">
          <ac:chgData name="Nikela Papadopoulou" userId="S::nikela.papadopoulou@glasgow.ac.uk::c442addc-b726-4e5b-a68e-b877e21a754f" providerId="AD" clId="Web-{9949DDF7-1811-2E05-F2D5-9CF9C3FFC945}" dt="2026-01-07T00:35:48.065" v="381" actId="20577"/>
          <ac:spMkLst>
            <pc:docMk/>
            <pc:sldMk cId="1456867589" sldId="347"/>
            <ac:spMk id="3" creationId="{00000000-0000-0000-0000-000000000000}"/>
          </ac:spMkLst>
        </pc:spChg>
        <pc:picChg chg="add mod modCrop">
          <ac:chgData name="Nikela Papadopoulou" userId="S::nikela.papadopoulou@glasgow.ac.uk::c442addc-b726-4e5b-a68e-b877e21a754f" providerId="AD" clId="Web-{9949DDF7-1811-2E05-F2D5-9CF9C3FFC945}" dt="2026-01-06T17:08:27.441" v="112" actId="1076"/>
          <ac:picMkLst>
            <pc:docMk/>
            <pc:sldMk cId="1456867589" sldId="347"/>
            <ac:picMk id="6" creationId="{CFF8BC79-D25C-820F-557F-265F1A47FD37}"/>
          </ac:picMkLst>
        </pc:picChg>
      </pc:sldChg>
      <pc:sldChg chg="modSp">
        <pc:chgData name="Nikela Papadopoulou" userId="S::nikela.papadopoulou@glasgow.ac.uk::c442addc-b726-4e5b-a68e-b877e21a754f" providerId="AD" clId="Web-{9949DDF7-1811-2E05-F2D5-9CF9C3FFC945}" dt="2026-01-06T17:07:03.205" v="99" actId="20577"/>
        <pc:sldMkLst>
          <pc:docMk/>
          <pc:sldMk cId="1644524515" sldId="351"/>
        </pc:sldMkLst>
        <pc:spChg chg="mod">
          <ac:chgData name="Nikela Papadopoulou" userId="S::nikela.papadopoulou@glasgow.ac.uk::c442addc-b726-4e5b-a68e-b877e21a754f" providerId="AD" clId="Web-{9949DDF7-1811-2E05-F2D5-9CF9C3FFC945}" dt="2026-01-06T17:07:03.205" v="99" actId="20577"/>
          <ac:spMkLst>
            <pc:docMk/>
            <pc:sldMk cId="1644524515" sldId="351"/>
            <ac:spMk id="5" creationId="{00000000-0000-0000-0000-000000000000}"/>
          </ac:spMkLst>
        </pc:spChg>
      </pc:sldChg>
      <pc:sldChg chg="modSp add replId">
        <pc:chgData name="Nikela Papadopoulou" userId="S::nikela.papadopoulou@glasgow.ac.uk::c442addc-b726-4e5b-a68e-b877e21a754f" providerId="AD" clId="Web-{9949DDF7-1811-2E05-F2D5-9CF9C3FFC945}" dt="2026-01-07T00:32:47.413" v="245" actId="20577"/>
        <pc:sldMkLst>
          <pc:docMk/>
          <pc:sldMk cId="1044663428" sldId="401"/>
        </pc:sldMkLst>
        <pc:spChg chg="mod">
          <ac:chgData name="Nikela Papadopoulou" userId="S::nikela.papadopoulou@glasgow.ac.uk::c442addc-b726-4e5b-a68e-b877e21a754f" providerId="AD" clId="Web-{9949DDF7-1811-2E05-F2D5-9CF9C3FFC945}" dt="2026-01-07T00:27:56.577" v="123" actId="20577"/>
          <ac:spMkLst>
            <pc:docMk/>
            <pc:sldMk cId="1044663428" sldId="401"/>
            <ac:spMk id="2" creationId="{7134A52C-A20B-D933-FA50-A5167A3DDF9A}"/>
          </ac:spMkLst>
        </pc:spChg>
        <pc:spChg chg="mod">
          <ac:chgData name="Nikela Papadopoulou" userId="S::nikela.papadopoulou@glasgow.ac.uk::c442addc-b726-4e5b-a68e-b877e21a754f" providerId="AD" clId="Web-{9949DDF7-1811-2E05-F2D5-9CF9C3FFC945}" dt="2026-01-07T00:32:47.413" v="245" actId="20577"/>
          <ac:spMkLst>
            <pc:docMk/>
            <pc:sldMk cId="1044663428" sldId="401"/>
            <ac:spMk id="4" creationId="{9074AA8E-0053-46BD-72DC-364C838BE262}"/>
          </ac:spMkLst>
        </pc:spChg>
      </pc:sldChg>
    </pc:docChg>
  </pc:docChgLst>
  <pc:docChgLst>
    <pc:chgData name="Nikela Papadopoulou" userId="S::nikela.papadopoulou@glasgow.ac.uk::c442addc-b726-4e5b-a68e-b877e21a754f" providerId="AD" clId="Web-{64002E7F-098F-3F01-9B96-5EB937CFC6FA}"/>
    <pc:docChg chg="modSld">
      <pc:chgData name="Nikela Papadopoulou" userId="S::nikela.papadopoulou@glasgow.ac.uk::c442addc-b726-4e5b-a68e-b877e21a754f" providerId="AD" clId="Web-{64002E7F-098F-3F01-9B96-5EB937CFC6FA}" dt="2026-01-06T15:16:37.175" v="84" actId="20577"/>
      <pc:docMkLst>
        <pc:docMk/>
      </pc:docMkLst>
      <pc:sldChg chg="modSp">
        <pc:chgData name="Nikela Papadopoulou" userId="S::nikela.papadopoulou@glasgow.ac.uk::c442addc-b726-4e5b-a68e-b877e21a754f" providerId="AD" clId="Web-{64002E7F-098F-3F01-9B96-5EB937CFC6FA}" dt="2026-01-06T15:15:02.153" v="61" actId="20577"/>
        <pc:sldMkLst>
          <pc:docMk/>
          <pc:sldMk cId="1136447604" sldId="345"/>
        </pc:sldMkLst>
        <pc:spChg chg="mod">
          <ac:chgData name="Nikela Papadopoulou" userId="S::nikela.papadopoulou@glasgow.ac.uk::c442addc-b726-4e5b-a68e-b877e21a754f" providerId="AD" clId="Web-{64002E7F-098F-3F01-9B96-5EB937CFC6FA}" dt="2026-01-06T15:15:02.153" v="61" actId="20577"/>
          <ac:spMkLst>
            <pc:docMk/>
            <pc:sldMk cId="1136447604" sldId="345"/>
            <ac:spMk id="3" creationId="{00000000-0000-0000-0000-000000000000}"/>
          </ac:spMkLst>
        </pc:spChg>
      </pc:sldChg>
      <pc:sldChg chg="modSp">
        <pc:chgData name="Nikela Papadopoulou" userId="S::nikela.papadopoulou@glasgow.ac.uk::c442addc-b726-4e5b-a68e-b877e21a754f" providerId="AD" clId="Web-{64002E7F-098F-3F01-9B96-5EB937CFC6FA}" dt="2026-01-06T15:12:38.557" v="13" actId="20577"/>
        <pc:sldMkLst>
          <pc:docMk/>
          <pc:sldMk cId="553208963" sldId="396"/>
        </pc:sldMkLst>
        <pc:spChg chg="mod">
          <ac:chgData name="Nikela Papadopoulou" userId="S::nikela.papadopoulou@glasgow.ac.uk::c442addc-b726-4e5b-a68e-b877e21a754f" providerId="AD" clId="Web-{64002E7F-098F-3F01-9B96-5EB937CFC6FA}" dt="2026-01-06T15:12:38.557" v="13" actId="20577"/>
          <ac:spMkLst>
            <pc:docMk/>
            <pc:sldMk cId="553208963" sldId="396"/>
            <ac:spMk id="3" creationId="{37003998-A3E4-09A8-58BD-B551397EC258}"/>
          </ac:spMkLst>
        </pc:spChg>
        <pc:picChg chg="mod">
          <ac:chgData name="Nikela Papadopoulou" userId="S::nikela.papadopoulou@glasgow.ac.uk::c442addc-b726-4e5b-a68e-b877e21a754f" providerId="AD" clId="Web-{64002E7F-098F-3F01-9B96-5EB937CFC6FA}" dt="2026-01-06T14:58:50.715" v="5" actId="1076"/>
          <ac:picMkLst>
            <pc:docMk/>
            <pc:sldMk cId="553208963" sldId="396"/>
            <ac:picMk id="4" creationId="{9DF02017-FDE1-985B-6E6F-68F8BDB68A22}"/>
          </ac:picMkLst>
        </pc:picChg>
      </pc:sldChg>
      <pc:sldChg chg="modSp">
        <pc:chgData name="Nikela Papadopoulou" userId="S::nikela.papadopoulou@glasgow.ac.uk::c442addc-b726-4e5b-a68e-b877e21a754f" providerId="AD" clId="Web-{64002E7F-098F-3F01-9B96-5EB937CFC6FA}" dt="2026-01-06T15:16:37.175" v="84" actId="20577"/>
        <pc:sldMkLst>
          <pc:docMk/>
          <pc:sldMk cId="818277233" sldId="397"/>
        </pc:sldMkLst>
        <pc:spChg chg="mod">
          <ac:chgData name="Nikela Papadopoulou" userId="S::nikela.papadopoulou@glasgow.ac.uk::c442addc-b726-4e5b-a68e-b877e21a754f" providerId="AD" clId="Web-{64002E7F-098F-3F01-9B96-5EB937CFC6FA}" dt="2026-01-06T15:16:37.175" v="84" actId="20577"/>
          <ac:spMkLst>
            <pc:docMk/>
            <pc:sldMk cId="818277233" sldId="397"/>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346BA77-9349-5249-89B9-6CED0F95EAF2}" type="datetimeFigureOut">
              <a:rPr lang="en-US" smtClean="0"/>
              <a:t>1/9/26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A93544-07E8-6244-A16F-A2C52B363348}" type="slidenum">
              <a:rPr lang="en-US" smtClean="0"/>
              <a:t>‹#›</a:t>
            </a:fld>
            <a:endParaRPr lang="en-US"/>
          </a:p>
        </p:txBody>
      </p:sp>
    </p:spTree>
    <p:extLst>
      <p:ext uri="{BB962C8B-B14F-4D97-AF65-F5344CB8AC3E}">
        <p14:creationId xmlns:p14="http://schemas.microsoft.com/office/powerpoint/2010/main" val="20951949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AE188DF-623E-0B4A-BE16-24FF0B4D9555}" type="datetimeFigureOut">
              <a:rPr lang="en-US" smtClean="0"/>
              <a:t>1/9/26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9B6646-B85B-CA4E-9FFB-370D03F15B01}" type="slidenum">
              <a:rPr lang="en-US" smtClean="0"/>
              <a:t>‹#›</a:t>
            </a:fld>
            <a:endParaRPr lang="en-US"/>
          </a:p>
        </p:txBody>
      </p:sp>
    </p:spTree>
    <p:extLst>
      <p:ext uri="{BB962C8B-B14F-4D97-AF65-F5344CB8AC3E}">
        <p14:creationId xmlns:p14="http://schemas.microsoft.com/office/powerpoint/2010/main" val="241162786"/>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9B6646-B85B-CA4E-9FFB-370D03F15B01}" type="slidenum">
              <a:rPr lang="en-US" smtClean="0"/>
              <a:t>3</a:t>
            </a:fld>
            <a:endParaRPr lang="en-US"/>
          </a:p>
        </p:txBody>
      </p:sp>
    </p:spTree>
    <p:extLst>
      <p:ext uri="{BB962C8B-B14F-4D97-AF65-F5344CB8AC3E}">
        <p14:creationId xmlns:p14="http://schemas.microsoft.com/office/powerpoint/2010/main" val="767527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9B6646-B85B-CA4E-9FFB-370D03F15B01}" type="slidenum">
              <a:rPr lang="en-US" smtClean="0"/>
              <a:t>4</a:t>
            </a:fld>
            <a:endParaRPr lang="en-US"/>
          </a:p>
        </p:txBody>
      </p:sp>
    </p:spTree>
    <p:extLst>
      <p:ext uri="{BB962C8B-B14F-4D97-AF65-F5344CB8AC3E}">
        <p14:creationId xmlns:p14="http://schemas.microsoft.com/office/powerpoint/2010/main" val="1924925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9B6646-B85B-CA4E-9FFB-370D03F15B01}" type="slidenum">
              <a:rPr lang="en-US" smtClean="0"/>
              <a:t>7</a:t>
            </a:fld>
            <a:endParaRPr lang="en-US"/>
          </a:p>
        </p:txBody>
      </p:sp>
    </p:spTree>
    <p:extLst>
      <p:ext uri="{BB962C8B-B14F-4D97-AF65-F5344CB8AC3E}">
        <p14:creationId xmlns:p14="http://schemas.microsoft.com/office/powerpoint/2010/main" val="3494023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9B6646-B85B-CA4E-9FFB-370D03F15B01}" type="slidenum">
              <a:rPr lang="en-US" smtClean="0"/>
              <a:t>8</a:t>
            </a:fld>
            <a:endParaRPr lang="en-US"/>
          </a:p>
        </p:txBody>
      </p:sp>
    </p:spTree>
    <p:extLst>
      <p:ext uri="{BB962C8B-B14F-4D97-AF65-F5344CB8AC3E}">
        <p14:creationId xmlns:p14="http://schemas.microsoft.com/office/powerpoint/2010/main" val="1344706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9B6646-B85B-CA4E-9FFB-370D03F15B01}" type="slidenum">
              <a:rPr lang="en-US" smtClean="0"/>
              <a:t>9</a:t>
            </a:fld>
            <a:endParaRPr lang="en-US"/>
          </a:p>
        </p:txBody>
      </p:sp>
    </p:spTree>
    <p:extLst>
      <p:ext uri="{BB962C8B-B14F-4D97-AF65-F5344CB8AC3E}">
        <p14:creationId xmlns:p14="http://schemas.microsoft.com/office/powerpoint/2010/main" val="1969127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9B6646-B85B-CA4E-9FFB-370D03F15B01}" type="slidenum">
              <a:rPr lang="en-US" smtClean="0"/>
              <a:t>10</a:t>
            </a:fld>
            <a:endParaRPr lang="en-US"/>
          </a:p>
        </p:txBody>
      </p:sp>
    </p:spTree>
    <p:extLst>
      <p:ext uri="{BB962C8B-B14F-4D97-AF65-F5344CB8AC3E}">
        <p14:creationId xmlns:p14="http://schemas.microsoft.com/office/powerpoint/2010/main" val="38532027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9B6646-B85B-CA4E-9FFB-370D03F15B01}" type="slidenum">
              <a:rPr lang="en-US" smtClean="0"/>
              <a:t>13</a:t>
            </a:fld>
            <a:endParaRPr lang="en-US"/>
          </a:p>
        </p:txBody>
      </p:sp>
    </p:spTree>
    <p:extLst>
      <p:ext uri="{BB962C8B-B14F-4D97-AF65-F5344CB8AC3E}">
        <p14:creationId xmlns:p14="http://schemas.microsoft.com/office/powerpoint/2010/main" val="2451718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B4FB3-1629-4043-9FF7-1799CB519B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ECF7F4-497E-2598-41C0-EABB5D6E1C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F583D6-F294-503C-B7F5-56B7472234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231D45-9213-0820-86D7-B2FC450D3F3C}"/>
              </a:ext>
            </a:extLst>
          </p:cNvPr>
          <p:cNvSpPr>
            <a:spLocks noGrp="1"/>
          </p:cNvSpPr>
          <p:nvPr>
            <p:ph type="sldNum" sz="quarter" idx="10"/>
          </p:nvPr>
        </p:nvSpPr>
        <p:spPr/>
        <p:txBody>
          <a:bodyPr/>
          <a:lstStyle/>
          <a:p>
            <a:fld id="{389B6646-B85B-CA4E-9FFB-370D03F15B01}" type="slidenum">
              <a:rPr lang="en-US" smtClean="0"/>
              <a:t>14</a:t>
            </a:fld>
            <a:endParaRPr lang="en-US"/>
          </a:p>
        </p:txBody>
      </p:sp>
    </p:spTree>
    <p:extLst>
      <p:ext uri="{BB962C8B-B14F-4D97-AF65-F5344CB8AC3E}">
        <p14:creationId xmlns:p14="http://schemas.microsoft.com/office/powerpoint/2010/main" val="17736857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4217" y="2130425"/>
            <a:ext cx="8451115"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5" name="Footer Placeholder 4"/>
          <p:cNvSpPr>
            <a:spLocks noGrp="1"/>
          </p:cNvSpPr>
          <p:nvPr>
            <p:ph type="ftr" sz="quarter" idx="11"/>
          </p:nvPr>
        </p:nvSpPr>
        <p:spPr/>
        <p:txBody>
          <a:bodyPr/>
          <a:lstStyle/>
          <a:p>
            <a:r>
              <a:rPr lang="en-US"/>
              <a:t>DIM3</a:t>
            </a:r>
          </a:p>
        </p:txBody>
      </p:sp>
      <p:sp>
        <p:nvSpPr>
          <p:cNvPr id="6" name="Slide Number Placeholder 5"/>
          <p:cNvSpPr>
            <a:spLocks noGrp="1"/>
          </p:cNvSpPr>
          <p:nvPr>
            <p:ph type="sldNum" sz="quarter" idx="12"/>
          </p:nvPr>
        </p:nvSpPr>
        <p:spPr/>
        <p:txBody>
          <a:bodyPr/>
          <a:lstStyle/>
          <a:p>
            <a:fld id="{C2C9DDB0-81EE-D14D-B800-31495205A3AC}" type="slidenum">
              <a:rPr lang="en-US" smtClean="0"/>
              <a:t>‹#›</a:t>
            </a:fld>
            <a:endParaRPr lang="en-US"/>
          </a:p>
        </p:txBody>
      </p:sp>
      <p:pic>
        <p:nvPicPr>
          <p:cNvPr id="10" name="Picture 9" descr="Logo&#10;&#10;Description automatically generated with medium confidence">
            <a:extLst>
              <a:ext uri="{FF2B5EF4-FFF2-40B4-BE49-F238E27FC236}">
                <a16:creationId xmlns:a16="http://schemas.microsoft.com/office/drawing/2014/main" id="{7109D0A3-1D4F-FB3C-BD50-C69ED1D8CA2E}"/>
              </a:ext>
            </a:extLst>
          </p:cNvPr>
          <p:cNvPicPr>
            <a:picLocks noChangeAspect="1"/>
          </p:cNvPicPr>
          <p:nvPr userDrawn="1"/>
        </p:nvPicPr>
        <p:blipFill>
          <a:blip r:embed="rId2"/>
          <a:stretch>
            <a:fillRect/>
          </a:stretch>
        </p:blipFill>
        <p:spPr>
          <a:xfrm>
            <a:off x="6826832" y="180975"/>
            <a:ext cx="1968500" cy="609600"/>
          </a:xfrm>
          <a:prstGeom prst="rect">
            <a:avLst/>
          </a:prstGeom>
        </p:spPr>
      </p:pic>
    </p:spTree>
    <p:extLst>
      <p:ext uri="{BB962C8B-B14F-4D97-AF65-F5344CB8AC3E}">
        <p14:creationId xmlns:p14="http://schemas.microsoft.com/office/powerpoint/2010/main" val="1407751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295C18E-71E3-2445-B53D-B08FF66D11AD}" type="datetimeFigureOut">
              <a:rPr lang="en-US" smtClean="0"/>
              <a:t>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696324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295C18E-71E3-2445-B53D-B08FF66D11AD}" type="datetimeFigureOut">
              <a:rPr lang="en-US" smtClean="0"/>
              <a:t>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437238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1295C18E-71E3-2445-B53D-B08FF66D11AD}" type="datetimeFigureOut">
              <a:rPr lang="en-US" smtClean="0"/>
              <a:t>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3491484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1295C18E-71E3-2445-B53D-B08FF66D11AD}" type="datetimeFigureOut">
              <a:rPr lang="en-US" smtClean="0"/>
              <a:t>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2449344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1295C18E-71E3-2445-B53D-B08FF66D11AD}" type="datetimeFigureOut">
              <a:rPr lang="en-US" smtClean="0"/>
              <a:t>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751781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95C18E-71E3-2445-B53D-B08FF66D11AD}" type="datetimeFigureOut">
              <a:rPr lang="en-US" smtClean="0"/>
              <a:t>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1048087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295C18E-71E3-2445-B53D-B08FF66D11AD}" type="datetimeFigureOut">
              <a:rPr lang="en-US" smtClean="0"/>
              <a:t>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137875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295C18E-71E3-2445-B53D-B08FF66D11AD}" type="datetimeFigureOut">
              <a:rPr lang="en-US" smtClean="0"/>
              <a:t>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131761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295C18E-71E3-2445-B53D-B08FF66D11AD}" type="datetimeFigureOut">
              <a:rPr lang="en-US" smtClean="0"/>
              <a:t>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3918194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295C18E-71E3-2445-B53D-B08FF66D11AD}" type="datetimeFigureOut">
              <a:rPr lang="en-US" smtClean="0"/>
              <a:t>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148812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628"/>
            <a:ext cx="9144000" cy="1143000"/>
          </a:xfrm>
          <a:prstGeom prst="rect">
            <a:avLst/>
          </a:prstGeom>
          <a:solidFill>
            <a:schemeClr val="tx1">
              <a:lumMod val="95000"/>
              <a:lumOff val="5000"/>
            </a:schemeClr>
          </a:solidFill>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95C18E-71E3-2445-B53D-B08FF66D11AD}" type="datetimeFigureOut">
              <a:rPr lang="en-US" smtClean="0"/>
              <a:t>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C9DDB0-81EE-D14D-B800-31495205A3AC}" type="slidenum">
              <a:rPr lang="en-US" smtClean="0"/>
              <a:t>‹#›</a:t>
            </a:fld>
            <a:endParaRPr lang="en-US"/>
          </a:p>
        </p:txBody>
      </p:sp>
    </p:spTree>
    <p:extLst>
      <p:ext uri="{BB962C8B-B14F-4D97-AF65-F5344CB8AC3E}">
        <p14:creationId xmlns:p14="http://schemas.microsoft.com/office/powerpoint/2010/main" val="33752707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bg1"/>
          </a:solidFill>
          <a:latin typeface="American Typewriter"/>
          <a:ea typeface="+mj-ea"/>
          <a:cs typeface="American Typewriter"/>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Nikela.Papadopoulou@glasgow.ac.uk" TargetMode="External"/><Relationship Id="rId2" Type="http://schemas.openxmlformats.org/officeDocument/2006/relationships/hyperlink" Target="https://nikela.github.io" TargetMode="Externa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hyperlink" Target="https://www.gla.ac.uk/coursecatalogue/course/?code=COMPSCI5012"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www.pngall.com/application-png"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moodle.gla.ac.uk/pluginfile.php/8514273/mod_resource/content/7/ITECH%202024-25%20Schedule.pdf" TargetMode="External"/><Relationship Id="rId2" Type="http://schemas.openxmlformats.org/officeDocument/2006/relationships/hyperlink" Target="https://moodle.gla.ac.uk/mod/resource/view.php?id=5556235"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moodle.gla.ac.uk/mod/choicegroup/view.php?id=5556241"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moodle.gla.ac.uk/mod/choicegroup/view.php?id=5556241"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t>COMPSCI5012 </a:t>
            </a:r>
            <a:br>
              <a:rPr lang="en-US"/>
            </a:br>
            <a:r>
              <a:rPr lang="en-US"/>
              <a:t>Internet Technology (ITECH)</a:t>
            </a:r>
          </a:p>
        </p:txBody>
      </p:sp>
      <p:sp>
        <p:nvSpPr>
          <p:cNvPr id="3" name="Subtitle 2"/>
          <p:cNvSpPr>
            <a:spLocks noGrp="1"/>
          </p:cNvSpPr>
          <p:nvPr>
            <p:ph type="subTitle" idx="1"/>
          </p:nvPr>
        </p:nvSpPr>
        <p:spPr>
          <a:xfrm>
            <a:off x="1371600" y="3886200"/>
            <a:ext cx="6400800" cy="2388476"/>
          </a:xfrm>
        </p:spPr>
        <p:txBody>
          <a:bodyPr vert="horz" lIns="91440" tIns="45720" rIns="91440" bIns="45720" rtlCol="0" anchor="t">
            <a:normAutofit/>
          </a:bodyPr>
          <a:lstStyle/>
          <a:p>
            <a:endParaRPr lang="en-US"/>
          </a:p>
          <a:p>
            <a:r>
              <a:rPr lang="en-US" b="1">
                <a:solidFill>
                  <a:schemeClr val="tx1"/>
                </a:solidFill>
              </a:rPr>
              <a:t>Dr Nikela Papadopoulou  </a:t>
            </a:r>
          </a:p>
        </p:txBody>
      </p:sp>
    </p:spTree>
    <p:extLst>
      <p:ext uri="{BB962C8B-B14F-4D97-AF65-F5344CB8AC3E}">
        <p14:creationId xmlns:p14="http://schemas.microsoft.com/office/powerpoint/2010/main" val="4013613600"/>
      </p:ext>
    </p:extLst>
  </p:cSld>
  <p:clrMapOvr>
    <a:masterClrMapping/>
  </p:clrMapOvr>
  <mc:AlternateContent xmlns:mc="http://schemas.openxmlformats.org/markup-compatibility/2006" xmlns:p14="http://schemas.microsoft.com/office/powerpoint/2010/main">
    <mc:Choice Requires="p14">
      <p:transition spd="slow" p14:dur="2000" advTm="2956"/>
    </mc:Choice>
    <mc:Fallback xmlns="">
      <p:transition spd="slow" advTm="295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10F9A-C684-26C3-6E17-C6252FF4D51B}"/>
              </a:ext>
            </a:extLst>
          </p:cNvPr>
          <p:cNvSpPr>
            <a:spLocks noGrp="1"/>
          </p:cNvSpPr>
          <p:nvPr>
            <p:ph type="title"/>
          </p:nvPr>
        </p:nvSpPr>
        <p:spPr/>
        <p:txBody>
          <a:bodyPr>
            <a:normAutofit fontScale="90000"/>
          </a:bodyPr>
          <a:lstStyle/>
          <a:p>
            <a:r>
              <a:rPr lang="en-US"/>
              <a:t>Internet Technology (ITECH)</a:t>
            </a:r>
          </a:p>
        </p:txBody>
      </p:sp>
      <p:sp>
        <p:nvSpPr>
          <p:cNvPr id="3" name="Content Placeholder 2">
            <a:extLst>
              <a:ext uri="{FF2B5EF4-FFF2-40B4-BE49-F238E27FC236}">
                <a16:creationId xmlns:a16="http://schemas.microsoft.com/office/drawing/2014/main" id="{37003998-A3E4-09A8-58BD-B551397EC258}"/>
              </a:ext>
            </a:extLst>
          </p:cNvPr>
          <p:cNvSpPr>
            <a:spLocks noGrp="1"/>
          </p:cNvSpPr>
          <p:nvPr>
            <p:ph idx="1"/>
          </p:nvPr>
        </p:nvSpPr>
        <p:spPr/>
        <p:txBody>
          <a:bodyPr vert="horz" lIns="91440" tIns="45720" rIns="91440" bIns="45720" rtlCol="0" anchor="t">
            <a:normAutofit fontScale="85000" lnSpcReduction="20000"/>
          </a:bodyPr>
          <a:lstStyle/>
          <a:p>
            <a:pPr marL="0" indent="0">
              <a:buNone/>
            </a:pPr>
            <a:r>
              <a:rPr lang="en-US" sz="2000" b="1" dirty="0">
                <a:ea typeface="+mn-lt"/>
                <a:cs typeface="+mn-lt"/>
              </a:rPr>
              <a:t>Course Schedule:</a:t>
            </a:r>
          </a:p>
          <a:p>
            <a:pPr marL="0" indent="0">
              <a:buNone/>
            </a:pPr>
            <a:r>
              <a:rPr lang="en-US" sz="1800" b="1" dirty="0">
                <a:ea typeface="+mn-lt"/>
                <a:cs typeface="+mn-lt"/>
              </a:rPr>
              <a:t> Lectures: </a:t>
            </a:r>
            <a:r>
              <a:rPr lang="en-US" sz="1800" dirty="0">
                <a:ea typeface="+mn-lt"/>
                <a:cs typeface="+mn-lt"/>
              </a:rPr>
              <a:t>Tuesdays &amp; Thursdays 16.00-17.00,  </a:t>
            </a:r>
            <a:r>
              <a:rPr lang="en-US" sz="1800" dirty="0">
                <a:solidFill>
                  <a:srgbClr val="000000"/>
                </a:solidFill>
                <a:latin typeface="Calibri"/>
                <a:ea typeface="+mn-lt"/>
                <a:cs typeface="+mn-lt"/>
              </a:rPr>
              <a:t>at JMS 438AB</a:t>
            </a:r>
          </a:p>
          <a:p>
            <a:pPr marL="0" indent="0">
              <a:buNone/>
            </a:pPr>
            <a:r>
              <a:rPr lang="en-US" sz="1800" b="1" dirty="0">
                <a:ea typeface="+mn-lt"/>
                <a:cs typeface="+mn-lt"/>
              </a:rPr>
              <a:t> Labs: </a:t>
            </a:r>
            <a:r>
              <a:rPr lang="en-US" sz="1800" dirty="0">
                <a:solidFill>
                  <a:srgbClr val="000000"/>
                </a:solidFill>
                <a:latin typeface="Calibri"/>
                <a:ea typeface="+mn-lt"/>
                <a:cs typeface="+mn-lt"/>
              </a:rPr>
              <a:t>Mondays 10.00-14.00 at BORR 1028</a:t>
            </a:r>
            <a:endParaRPr lang="en-US" sz="2000" b="1" dirty="0">
              <a:ea typeface="+mn-lt"/>
              <a:cs typeface="+mn-lt"/>
            </a:endParaRPr>
          </a:p>
          <a:p>
            <a:pPr marL="0" indent="0">
              <a:buNone/>
            </a:pPr>
            <a:endParaRPr lang="en-US" sz="2000" b="1" dirty="0">
              <a:ea typeface="+mn-lt"/>
              <a:cs typeface="+mn-lt"/>
            </a:endParaRPr>
          </a:p>
          <a:p>
            <a:pPr marL="0" indent="0">
              <a:buNone/>
            </a:pPr>
            <a:r>
              <a:rPr lang="en-US" sz="2000" b="1" dirty="0">
                <a:ea typeface="+mn-lt"/>
                <a:cs typeface="+mn-lt"/>
              </a:rPr>
              <a:t>Lecturers: </a:t>
            </a:r>
            <a:endParaRPr lang="en-US" dirty="0"/>
          </a:p>
          <a:p>
            <a:pPr marL="0" indent="0">
              <a:buNone/>
            </a:pPr>
            <a:r>
              <a:rPr lang="en-US" sz="1800" b="1" dirty="0">
                <a:ea typeface="+mn-lt"/>
                <a:cs typeface="+mn-lt"/>
              </a:rPr>
              <a:t> Dr Nikela Papadopoulou </a:t>
            </a:r>
            <a:br>
              <a:rPr lang="en-US" sz="1800" b="1" dirty="0">
                <a:ea typeface="+mn-lt"/>
                <a:cs typeface="+mn-lt"/>
              </a:rPr>
            </a:br>
            <a:r>
              <a:rPr lang="en-US" sz="1800" dirty="0">
                <a:ea typeface="+mn-lt"/>
                <a:cs typeface="+mn-lt"/>
              </a:rPr>
              <a:t> (pronounced "Nee-KEH-</a:t>
            </a:r>
            <a:r>
              <a:rPr lang="en-US" sz="1800" dirty="0" err="1">
                <a:ea typeface="+mn-lt"/>
                <a:cs typeface="+mn-lt"/>
              </a:rPr>
              <a:t>lah</a:t>
            </a:r>
            <a:r>
              <a:rPr lang="en-US" sz="1800" dirty="0">
                <a:ea typeface="+mn-lt"/>
                <a:cs typeface="+mn-lt"/>
              </a:rPr>
              <a:t>")</a:t>
            </a:r>
            <a:endParaRPr lang="en-US" sz="1800" dirty="0">
              <a:ea typeface="Calibri"/>
              <a:cs typeface="Calibri"/>
            </a:endParaRPr>
          </a:p>
          <a:p>
            <a:pPr marL="0" indent="0">
              <a:buNone/>
            </a:pPr>
            <a:r>
              <a:rPr lang="en-US" sz="1800" dirty="0">
                <a:ea typeface="Calibri"/>
                <a:cs typeface="Calibri"/>
              </a:rPr>
              <a:t> Lecturer in Low Carbon and Sustainable Computing</a:t>
            </a:r>
          </a:p>
          <a:p>
            <a:pPr marL="0" indent="0">
              <a:buNone/>
            </a:pPr>
            <a:r>
              <a:rPr lang="en-US" sz="1800" dirty="0">
                <a:ea typeface="Calibri"/>
                <a:cs typeface="Calibri"/>
              </a:rPr>
              <a:t> Website: </a:t>
            </a:r>
            <a:r>
              <a:rPr lang="en-US" sz="1800" dirty="0">
                <a:ea typeface="Calibri"/>
                <a:cs typeface="Calibri"/>
                <a:hlinkClick r:id="rId2"/>
              </a:rPr>
              <a:t>https://nikela.github.io</a:t>
            </a:r>
            <a:endParaRPr lang="en-US" sz="1800" dirty="0">
              <a:ea typeface="Calibri"/>
              <a:cs typeface="Calibri"/>
            </a:endParaRPr>
          </a:p>
          <a:p>
            <a:pPr marL="0" indent="0">
              <a:buNone/>
            </a:pPr>
            <a:r>
              <a:rPr lang="en-US" sz="1800" dirty="0">
                <a:ea typeface="Calibri"/>
                <a:cs typeface="Calibri"/>
              </a:rPr>
              <a:t> Email: </a:t>
            </a:r>
            <a:r>
              <a:rPr lang="en-US" sz="1800" dirty="0">
                <a:ea typeface="Calibri"/>
                <a:cs typeface="Calibri"/>
                <a:hlinkClick r:id="rId3"/>
              </a:rPr>
              <a:t>Nikela.Papadopoulou@glasgow.ac.uk</a:t>
            </a:r>
            <a:endParaRPr lang="en-US" sz="1800" dirty="0">
              <a:ea typeface="Calibri"/>
              <a:cs typeface="Calibri"/>
            </a:endParaRPr>
          </a:p>
          <a:p>
            <a:pPr marL="0" indent="0">
              <a:buNone/>
            </a:pPr>
            <a:r>
              <a:rPr lang="en-US" sz="1800" dirty="0">
                <a:ea typeface="Calibri"/>
                <a:cs typeface="Calibri"/>
              </a:rPr>
              <a:t> Office: F133 @ 18 </a:t>
            </a:r>
            <a:r>
              <a:rPr lang="en-US" sz="1800" dirty="0" err="1">
                <a:ea typeface="Calibri"/>
                <a:cs typeface="Calibri"/>
              </a:rPr>
              <a:t>Lilybank</a:t>
            </a:r>
            <a:r>
              <a:rPr lang="en-US" sz="1800" dirty="0">
                <a:ea typeface="Calibri"/>
                <a:cs typeface="Calibri"/>
              </a:rPr>
              <a:t> Gardens (SAWB)</a:t>
            </a:r>
          </a:p>
          <a:p>
            <a:pPr marL="0" indent="0">
              <a:buNone/>
            </a:pPr>
            <a:r>
              <a:rPr lang="en-US" sz="1800" dirty="0">
                <a:ea typeface="Calibri"/>
                <a:cs typeface="Calibri"/>
              </a:rPr>
              <a:t> Office Hours: Wednesdays 10.00-11.00 </a:t>
            </a:r>
          </a:p>
          <a:p>
            <a:pPr marL="0" indent="0">
              <a:buNone/>
            </a:pPr>
            <a:endParaRPr lang="en-US" sz="1800" dirty="0">
              <a:ea typeface="Calibri"/>
              <a:cs typeface="Calibri"/>
            </a:endParaRPr>
          </a:p>
          <a:p>
            <a:pPr marL="0" indent="0">
              <a:buNone/>
            </a:pPr>
            <a:r>
              <a:rPr lang="en-US" sz="1800" b="1" dirty="0">
                <a:ea typeface="Calibri"/>
                <a:cs typeface="Calibri"/>
              </a:rPr>
              <a:t>     More people will join the teaching team as we go!</a:t>
            </a:r>
          </a:p>
          <a:p>
            <a:pPr marL="0" indent="0">
              <a:buNone/>
            </a:pPr>
            <a:endParaRPr lang="en-US" sz="1800" b="1" dirty="0">
              <a:ea typeface="Calibri"/>
              <a:cs typeface="Calibri"/>
            </a:endParaRPr>
          </a:p>
          <a:p>
            <a:pPr marL="0" indent="0">
              <a:buNone/>
            </a:pPr>
            <a:r>
              <a:rPr lang="en-US" sz="1900" b="1" dirty="0">
                <a:ea typeface="Calibri"/>
                <a:cs typeface="Calibri"/>
              </a:rPr>
              <a:t>Teaching Assistants: </a:t>
            </a:r>
            <a:br>
              <a:rPr lang="en-US" sz="1900" b="1" dirty="0">
                <a:ea typeface="Calibri"/>
                <a:cs typeface="Calibri"/>
              </a:rPr>
            </a:br>
            <a:r>
              <a:rPr lang="en-US" sz="2100" b="1" dirty="0">
                <a:ea typeface="Calibri"/>
                <a:cs typeface="Calibri"/>
              </a:rPr>
              <a:t>	</a:t>
            </a:r>
            <a:r>
              <a:rPr lang="en-US" sz="1900" dirty="0">
                <a:ea typeface="Calibri"/>
                <a:cs typeface="Calibri"/>
              </a:rPr>
              <a:t>Ghadeer Alsharif and </a:t>
            </a:r>
            <a:r>
              <a:rPr lang="en-US" sz="1900" dirty="0" err="1">
                <a:ea typeface="Calibri"/>
                <a:cs typeface="Calibri"/>
              </a:rPr>
              <a:t>Zhaohan</a:t>
            </a:r>
            <a:r>
              <a:rPr lang="en-US" sz="1900" dirty="0">
                <a:ea typeface="Calibri"/>
                <a:cs typeface="Calibri"/>
              </a:rPr>
              <a:t> Meng (LB01/LB02)</a:t>
            </a:r>
            <a:br>
              <a:rPr lang="en-US" sz="1900" dirty="0">
                <a:ea typeface="Calibri"/>
                <a:cs typeface="Calibri"/>
              </a:rPr>
            </a:br>
            <a:r>
              <a:rPr lang="en-US" sz="1900" dirty="0">
                <a:ea typeface="Calibri"/>
                <a:cs typeface="Calibri"/>
              </a:rPr>
              <a:t>	</a:t>
            </a:r>
            <a:r>
              <a:rPr lang="en-US" sz="1900" dirty="0" err="1">
                <a:ea typeface="Calibri"/>
                <a:cs typeface="Calibri"/>
              </a:rPr>
              <a:t>Kangheng</a:t>
            </a:r>
            <a:r>
              <a:rPr lang="en-US" sz="1900" dirty="0">
                <a:ea typeface="Calibri"/>
                <a:cs typeface="Calibri"/>
              </a:rPr>
              <a:t> Liang and </a:t>
            </a:r>
            <a:r>
              <a:rPr lang="en-US" sz="1900" dirty="0" err="1">
                <a:ea typeface="Calibri"/>
                <a:cs typeface="Calibri"/>
              </a:rPr>
              <a:t>Shuhao</a:t>
            </a:r>
            <a:r>
              <a:rPr lang="en-US" sz="1900" dirty="0">
                <a:ea typeface="Calibri"/>
                <a:cs typeface="Calibri"/>
              </a:rPr>
              <a:t> Zhang (LB03/LB04)</a:t>
            </a:r>
            <a:br>
              <a:rPr lang="en-US" sz="1600" dirty="0">
                <a:ea typeface="Calibri"/>
                <a:cs typeface="Calibri"/>
              </a:rPr>
            </a:br>
            <a:endParaRPr lang="en-US" sz="1800" dirty="0">
              <a:ea typeface="Calibri"/>
              <a:cs typeface="Calibri"/>
            </a:endParaRPr>
          </a:p>
          <a:p>
            <a:pPr marL="0" indent="0">
              <a:buNone/>
            </a:pPr>
            <a:endParaRPr lang="en-US" sz="2000" dirty="0">
              <a:ea typeface="Calibri"/>
              <a:cs typeface="Calibri"/>
            </a:endParaRPr>
          </a:p>
        </p:txBody>
      </p:sp>
      <p:pic>
        <p:nvPicPr>
          <p:cNvPr id="4" name="Picture 3" descr="A photo of Nikela Papadopoulou, lecturer of the course">
            <a:extLst>
              <a:ext uri="{FF2B5EF4-FFF2-40B4-BE49-F238E27FC236}">
                <a16:creationId xmlns:a16="http://schemas.microsoft.com/office/drawing/2014/main" id="{9DF02017-FDE1-985B-6E6F-68F8BDB68A22}"/>
              </a:ext>
            </a:extLst>
          </p:cNvPr>
          <p:cNvPicPr>
            <a:picLocks noChangeAspect="1"/>
          </p:cNvPicPr>
          <p:nvPr/>
        </p:nvPicPr>
        <p:blipFill>
          <a:blip r:embed="rId4"/>
          <a:stretch>
            <a:fillRect/>
          </a:stretch>
        </p:blipFill>
        <p:spPr>
          <a:xfrm>
            <a:off x="6401045" y="3391758"/>
            <a:ext cx="1871940" cy="1865794"/>
          </a:xfrm>
          <a:prstGeom prst="rect">
            <a:avLst/>
          </a:prstGeom>
        </p:spPr>
      </p:pic>
    </p:spTree>
    <p:extLst>
      <p:ext uri="{BB962C8B-B14F-4D97-AF65-F5344CB8AC3E}">
        <p14:creationId xmlns:p14="http://schemas.microsoft.com/office/powerpoint/2010/main" val="553208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Course Aims</a:t>
            </a:r>
          </a:p>
        </p:txBody>
      </p:sp>
      <p:sp>
        <p:nvSpPr>
          <p:cNvPr id="3" name="Content Placeholder 2"/>
          <p:cNvSpPr>
            <a:spLocks noGrp="1"/>
          </p:cNvSpPr>
          <p:nvPr>
            <p:ph idx="1"/>
          </p:nvPr>
        </p:nvSpPr>
        <p:spPr>
          <a:xfrm>
            <a:off x="457200" y="1600200"/>
            <a:ext cx="8409824" cy="4525963"/>
          </a:xfrm>
        </p:spPr>
        <p:txBody>
          <a:bodyPr vert="horz" lIns="91440" tIns="45720" rIns="91440" bIns="45720" rtlCol="0" anchor="t">
            <a:normAutofit fontScale="70000" lnSpcReduction="20000"/>
          </a:bodyPr>
          <a:lstStyle/>
          <a:p>
            <a:pPr marL="0" indent="0">
              <a:spcBef>
                <a:spcPts val="20"/>
              </a:spcBef>
              <a:buNone/>
            </a:pPr>
            <a:r>
              <a:rPr lang="en-GB" sz="2500" b="1">
                <a:ea typeface="Calibri"/>
                <a:cs typeface="Calibri"/>
              </a:rPr>
              <a:t>Keyword: </a:t>
            </a:r>
            <a:r>
              <a:rPr lang="en-GB" sz="2500">
                <a:ea typeface="Calibri"/>
                <a:cs typeface="Calibri"/>
              </a:rPr>
              <a:t>Web application development</a:t>
            </a:r>
          </a:p>
          <a:p>
            <a:pPr marL="0" indent="0">
              <a:spcBef>
                <a:spcPts val="20"/>
              </a:spcBef>
              <a:buNone/>
            </a:pPr>
            <a:endParaRPr lang="en-GB" sz="2500">
              <a:ea typeface="Calibri"/>
              <a:cs typeface="Calibri"/>
            </a:endParaRPr>
          </a:p>
          <a:p>
            <a:pPr>
              <a:spcBef>
                <a:spcPts val="20"/>
              </a:spcBef>
            </a:pPr>
            <a:r>
              <a:rPr lang="en-GB" sz="2500">
                <a:ea typeface="Calibri"/>
                <a:cs typeface="Calibri"/>
              </a:rPr>
              <a:t>To provide an overview of the </a:t>
            </a:r>
            <a:br>
              <a:rPr lang="en-GB" sz="2500">
                <a:ea typeface="Calibri"/>
                <a:cs typeface="Calibri"/>
              </a:rPr>
            </a:br>
            <a:r>
              <a:rPr lang="en-GB" sz="2500" b="1">
                <a:ea typeface="Calibri"/>
                <a:cs typeface="Calibri"/>
              </a:rPr>
              <a:t>ongoing developments</a:t>
            </a:r>
            <a:r>
              <a:rPr lang="en-GB" sz="2500">
                <a:ea typeface="Calibri"/>
                <a:cs typeface="Calibri"/>
              </a:rPr>
              <a:t> in web </a:t>
            </a:r>
            <a:br>
              <a:rPr lang="en-GB" sz="2500">
                <a:ea typeface="Calibri"/>
                <a:cs typeface="Calibri"/>
              </a:rPr>
            </a:br>
            <a:r>
              <a:rPr lang="en-GB" sz="2500">
                <a:ea typeface="Calibri"/>
                <a:cs typeface="Calibri"/>
              </a:rPr>
              <a:t>application development.</a:t>
            </a:r>
            <a:br>
              <a:rPr lang="en-GB" sz="2500">
                <a:ea typeface="Calibri"/>
                <a:cs typeface="Calibri"/>
              </a:rPr>
            </a:br>
            <a:endParaRPr lang="en-US" sz="2500">
              <a:ea typeface="Calibri"/>
              <a:cs typeface="Calibri"/>
            </a:endParaRPr>
          </a:p>
          <a:p>
            <a:pPr>
              <a:spcBef>
                <a:spcPts val="20"/>
              </a:spcBef>
            </a:pPr>
            <a:r>
              <a:rPr lang="en-GB" sz="2500">
                <a:ea typeface="Calibri"/>
                <a:cs typeface="Calibri"/>
              </a:rPr>
              <a:t>To promote the </a:t>
            </a:r>
            <a:r>
              <a:rPr lang="en-GB" sz="2500" b="1">
                <a:ea typeface="Calibri"/>
                <a:cs typeface="Calibri"/>
              </a:rPr>
              <a:t>disciplined design</a:t>
            </a:r>
            <a:r>
              <a:rPr lang="en-GB" sz="2500">
                <a:ea typeface="Calibri"/>
                <a:cs typeface="Calibri"/>
              </a:rPr>
              <a:t> </a:t>
            </a:r>
            <a:br>
              <a:rPr lang="en-GB" sz="2500">
                <a:ea typeface="Calibri"/>
                <a:cs typeface="Calibri"/>
              </a:rPr>
            </a:br>
            <a:r>
              <a:rPr lang="en-GB" sz="2500">
                <a:ea typeface="Calibri"/>
                <a:cs typeface="Calibri"/>
              </a:rPr>
              <a:t>and development of distributed web applications.</a:t>
            </a:r>
            <a:br>
              <a:rPr lang="en-GB" sz="2500">
                <a:ea typeface="Calibri"/>
                <a:cs typeface="Calibri"/>
              </a:rPr>
            </a:br>
            <a:endParaRPr lang="en-GB" sz="2500">
              <a:ea typeface="Calibri"/>
              <a:cs typeface="Calibri"/>
            </a:endParaRPr>
          </a:p>
          <a:p>
            <a:pPr>
              <a:spcBef>
                <a:spcPts val="20"/>
              </a:spcBef>
            </a:pPr>
            <a:r>
              <a:rPr lang="en-GB" sz="2500">
                <a:ea typeface="Calibri"/>
                <a:cs typeface="Calibri"/>
              </a:rPr>
              <a:t>To strengthen students understanding of the </a:t>
            </a:r>
            <a:r>
              <a:rPr lang="en-GB" sz="2500" b="1">
                <a:ea typeface="Calibri"/>
                <a:cs typeface="Calibri"/>
              </a:rPr>
              <a:t>context and rationale</a:t>
            </a:r>
            <a:r>
              <a:rPr lang="en-GB" sz="2500">
                <a:ea typeface="Calibri"/>
                <a:cs typeface="Calibri"/>
              </a:rPr>
              <a:t> of distributed systems.</a:t>
            </a:r>
            <a:br>
              <a:rPr lang="en-GB" sz="2500">
                <a:ea typeface="Calibri"/>
                <a:cs typeface="Calibri"/>
              </a:rPr>
            </a:br>
            <a:endParaRPr lang="en-US" sz="2500">
              <a:ea typeface="Calibri"/>
              <a:cs typeface="Calibri"/>
            </a:endParaRPr>
          </a:p>
          <a:p>
            <a:pPr>
              <a:spcBef>
                <a:spcPts val="20"/>
              </a:spcBef>
            </a:pPr>
            <a:r>
              <a:rPr lang="en-GB" sz="2500">
                <a:ea typeface="Calibri"/>
                <a:cs typeface="Calibri"/>
              </a:rPr>
              <a:t>To explain the </a:t>
            </a:r>
            <a:r>
              <a:rPr lang="en-GB" sz="2500" b="1">
                <a:ea typeface="Calibri"/>
                <a:cs typeface="Calibri"/>
              </a:rPr>
              <a:t>messaging and protocols</a:t>
            </a:r>
            <a:r>
              <a:rPr lang="en-GB" sz="2500">
                <a:ea typeface="Calibri"/>
                <a:cs typeface="Calibri"/>
              </a:rPr>
              <a:t> used as a communication mechanisms in web applications.</a:t>
            </a:r>
            <a:br>
              <a:rPr lang="en-GB" sz="2500">
                <a:ea typeface="Calibri"/>
                <a:cs typeface="Calibri"/>
              </a:rPr>
            </a:br>
            <a:endParaRPr lang="en-GB" sz="2500">
              <a:ea typeface="Calibri"/>
              <a:cs typeface="Calibri"/>
            </a:endParaRPr>
          </a:p>
          <a:p>
            <a:pPr>
              <a:spcBef>
                <a:spcPts val="20"/>
              </a:spcBef>
            </a:pPr>
            <a:r>
              <a:rPr lang="en-GB" sz="2500">
                <a:ea typeface="Calibri"/>
                <a:cs typeface="Calibri"/>
              </a:rPr>
              <a:t>To develop the ability to </a:t>
            </a:r>
            <a:r>
              <a:rPr lang="en-GB" sz="2500" b="1">
                <a:ea typeface="Calibri"/>
                <a:cs typeface="Calibri"/>
              </a:rPr>
              <a:t>implement and deploy</a:t>
            </a:r>
            <a:r>
              <a:rPr lang="en-GB" sz="2500">
                <a:ea typeface="Calibri"/>
                <a:cs typeface="Calibri"/>
              </a:rPr>
              <a:t> distributed web applications.</a:t>
            </a:r>
            <a:endParaRPr lang="en-US">
              <a:ea typeface="Calibri"/>
              <a:cs typeface="Calibri"/>
            </a:endParaRPr>
          </a:p>
          <a:p>
            <a:pPr>
              <a:spcBef>
                <a:spcPts val="20"/>
              </a:spcBef>
            </a:pPr>
            <a:endParaRPr lang="en-GB" sz="2500">
              <a:ea typeface="Calibri"/>
              <a:cs typeface="Calibri"/>
            </a:endParaRPr>
          </a:p>
          <a:p>
            <a:pPr>
              <a:spcBef>
                <a:spcPts val="20"/>
              </a:spcBef>
            </a:pPr>
            <a:r>
              <a:rPr lang="en-GB" sz="2500">
                <a:ea typeface="Calibri"/>
                <a:cs typeface="Calibri"/>
              </a:rPr>
              <a:t>To promote the design of </a:t>
            </a:r>
            <a:r>
              <a:rPr lang="en-GB" sz="2500" b="1">
                <a:ea typeface="Calibri"/>
                <a:cs typeface="Calibri"/>
              </a:rPr>
              <a:t>accessible and sustainable </a:t>
            </a:r>
            <a:r>
              <a:rPr lang="en-GB" sz="2500">
                <a:ea typeface="Calibri"/>
                <a:cs typeface="Calibri"/>
              </a:rPr>
              <a:t>web applications.</a:t>
            </a:r>
          </a:p>
          <a:p>
            <a:pPr marL="0" indent="0">
              <a:spcBef>
                <a:spcPts val="20"/>
              </a:spcBef>
              <a:buNone/>
            </a:pPr>
            <a:endParaRPr lang="en-US"/>
          </a:p>
          <a:p>
            <a:pPr marL="0" indent="0">
              <a:buNone/>
            </a:pPr>
            <a:r>
              <a:rPr lang="en-GB" sz="1900"/>
              <a:t>Course Spec: </a:t>
            </a:r>
            <a:r>
              <a:rPr lang="en-GB" sz="1900">
                <a:hlinkClick r:id="rId3"/>
              </a:rPr>
              <a:t>https://www.gla.ac.uk/coursecatalogue/course/?code=COMPSCI5012</a:t>
            </a:r>
            <a:r>
              <a:rPr lang="en-GB" sz="1900"/>
              <a:t> </a:t>
            </a:r>
            <a:endParaRPr lang="en-US" sz="1900">
              <a:ea typeface="Calibri"/>
              <a:cs typeface="Calibri"/>
            </a:endParaRPr>
          </a:p>
          <a:p>
            <a:endParaRPr lang="en-GB"/>
          </a:p>
          <a:p>
            <a:pPr marL="0" indent="0">
              <a:spcBef>
                <a:spcPts val="20"/>
              </a:spcBef>
              <a:buNone/>
            </a:pPr>
            <a:endParaRPr lang="en-GB">
              <a:ea typeface="Calibri"/>
              <a:cs typeface="Calibri"/>
            </a:endParaRPr>
          </a:p>
          <a:p>
            <a:endParaRPr lang="en-GB">
              <a:solidFill>
                <a:srgbClr val="000000"/>
              </a:solidFill>
              <a:latin typeface="Calibri"/>
              <a:ea typeface="Calibri"/>
              <a:cs typeface="Calibri"/>
            </a:endParaRPr>
          </a:p>
          <a:p>
            <a:endParaRPr lang="en-GB"/>
          </a:p>
          <a:p>
            <a:endParaRPr lang="en-GB"/>
          </a:p>
          <a:p>
            <a:endParaRPr lang="en-GB"/>
          </a:p>
          <a:p>
            <a:endParaRPr lang="en-GB"/>
          </a:p>
        </p:txBody>
      </p:sp>
      <p:pic>
        <p:nvPicPr>
          <p:cNvPr id="7" name="Picture 6" descr="A computer with a green screen&#10;&#10;Description automatically generated">
            <a:extLst>
              <a:ext uri="{FF2B5EF4-FFF2-40B4-BE49-F238E27FC236}">
                <a16:creationId xmlns:a16="http://schemas.microsoft.com/office/drawing/2014/main" id="{DF94B55B-7BCB-E261-CC98-586734A57666}"/>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5648601" y="1508961"/>
            <a:ext cx="3130208" cy="1914525"/>
          </a:xfrm>
          <a:prstGeom prst="rect">
            <a:avLst/>
          </a:prstGeom>
        </p:spPr>
      </p:pic>
      <p:sp>
        <p:nvSpPr>
          <p:cNvPr id="8" name="TextBox 7">
            <a:extLst>
              <a:ext uri="{FF2B5EF4-FFF2-40B4-BE49-F238E27FC236}">
                <a16:creationId xmlns:a16="http://schemas.microsoft.com/office/drawing/2014/main" id="{46926421-1DB6-7DBD-B677-1ED173497FDE}"/>
              </a:ext>
            </a:extLst>
          </p:cNvPr>
          <p:cNvSpPr txBox="1"/>
          <p:nvPr/>
        </p:nvSpPr>
        <p:spPr>
          <a:xfrm>
            <a:off x="6075448" y="3423487"/>
            <a:ext cx="2703361" cy="507209"/>
          </a:xfrm>
          <a:prstGeom prst="rect">
            <a:avLst/>
          </a:prstGeom>
        </p:spPr>
        <p:txBody>
          <a:bodyPr>
            <a:normAutofit/>
          </a:bodyPr>
          <a:lstStyle/>
          <a:p>
            <a:r>
              <a:rPr lang="en-US" sz="900"/>
              <a:t>ThePhoto by PhotoAuthor is licensed under CCYYSA.</a:t>
            </a:r>
          </a:p>
        </p:txBody>
      </p:sp>
    </p:spTree>
    <p:extLst>
      <p:ext uri="{BB962C8B-B14F-4D97-AF65-F5344CB8AC3E}">
        <p14:creationId xmlns:p14="http://schemas.microsoft.com/office/powerpoint/2010/main" val="1136447604"/>
      </p:ext>
    </p:extLst>
  </p:cSld>
  <p:clrMapOvr>
    <a:masterClrMapping/>
  </p:clrMapOvr>
  <mc:AlternateContent xmlns:mc="http://schemas.openxmlformats.org/markup-compatibility/2006" xmlns:p14="http://schemas.microsoft.com/office/powerpoint/2010/main">
    <mc:Choice Requires="p14">
      <p:transition spd="slow" p14:dur="2000" advTm="17"/>
    </mc:Choice>
    <mc:Fallback xmlns="">
      <p:transition spd="slow" advTm="1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By the end of the course...</a:t>
            </a:r>
          </a:p>
        </p:txBody>
      </p:sp>
      <p:sp>
        <p:nvSpPr>
          <p:cNvPr id="3" name="Content Placeholder 2"/>
          <p:cNvSpPr>
            <a:spLocks noGrp="1"/>
          </p:cNvSpPr>
          <p:nvPr>
            <p:ph idx="1"/>
          </p:nvPr>
        </p:nvSpPr>
        <p:spPr/>
        <p:txBody>
          <a:bodyPr vert="horz" lIns="91440" tIns="45720" rIns="91440" bIns="45720" rtlCol="0" anchor="t">
            <a:normAutofit/>
          </a:bodyPr>
          <a:lstStyle/>
          <a:p>
            <a:pPr>
              <a:buNone/>
            </a:pPr>
            <a:r>
              <a:rPr lang="en-GB" sz="2000">
                <a:solidFill>
                  <a:srgbClr val="343536"/>
                </a:solidFill>
                <a:highlight>
                  <a:srgbClr val="FFFFFF"/>
                </a:highlight>
                <a:latin typeface="Calibri"/>
                <a:ea typeface="Noto Sans"/>
                <a:cs typeface="Noto Sans"/>
              </a:rPr>
              <a:t>1. Illustrate and describe the </a:t>
            </a:r>
            <a:r>
              <a:rPr lang="en-GB" sz="2000" b="1">
                <a:solidFill>
                  <a:srgbClr val="343536"/>
                </a:solidFill>
                <a:highlight>
                  <a:srgbClr val="FFFFFF"/>
                </a:highlight>
                <a:latin typeface="Calibri"/>
                <a:ea typeface="Noto Sans"/>
                <a:cs typeface="Noto Sans"/>
              </a:rPr>
              <a:t>n-tier client-server architecture </a:t>
            </a:r>
            <a:r>
              <a:rPr lang="en-GB" sz="2000">
                <a:solidFill>
                  <a:srgbClr val="343536"/>
                </a:solidFill>
                <a:highlight>
                  <a:srgbClr val="FFFFFF"/>
                </a:highlight>
                <a:latin typeface="Calibri"/>
                <a:ea typeface="Noto Sans"/>
                <a:cs typeface="Noto Sans"/>
              </a:rPr>
              <a:t>of web applications</a:t>
            </a:r>
            <a:endParaRPr lang="en-US" sz="2000">
              <a:latin typeface="Calibri"/>
              <a:ea typeface="Calibri"/>
              <a:cs typeface="Calibri"/>
            </a:endParaRPr>
          </a:p>
          <a:p>
            <a:pPr>
              <a:buNone/>
            </a:pPr>
            <a:r>
              <a:rPr lang="en-GB" sz="2000">
                <a:solidFill>
                  <a:srgbClr val="343536"/>
                </a:solidFill>
                <a:highlight>
                  <a:srgbClr val="FFFFFF"/>
                </a:highlight>
                <a:latin typeface="Calibri"/>
                <a:ea typeface="Noto Sans"/>
                <a:cs typeface="Noto Sans"/>
              </a:rPr>
              <a:t>2. Explain the role of </a:t>
            </a:r>
            <a:r>
              <a:rPr lang="en-GB" sz="2000" b="1">
                <a:solidFill>
                  <a:srgbClr val="343536"/>
                </a:solidFill>
                <a:highlight>
                  <a:srgbClr val="FFFFFF"/>
                </a:highlight>
                <a:latin typeface="Calibri"/>
                <a:ea typeface="Noto Sans"/>
                <a:cs typeface="Noto Sans"/>
              </a:rPr>
              <a:t>messaging and protocols </a:t>
            </a:r>
            <a:r>
              <a:rPr lang="en-GB" sz="2000">
                <a:solidFill>
                  <a:srgbClr val="343536"/>
                </a:solidFill>
                <a:highlight>
                  <a:srgbClr val="FFFFFF"/>
                </a:highlight>
                <a:latin typeface="Calibri"/>
                <a:ea typeface="Noto Sans"/>
                <a:cs typeface="Noto Sans"/>
              </a:rPr>
              <a:t>within the design of web applications</a:t>
            </a:r>
            <a:endParaRPr lang="en-GB" sz="2000">
              <a:latin typeface="Calibri"/>
              <a:ea typeface="Calibri"/>
              <a:cs typeface="Calibri"/>
            </a:endParaRPr>
          </a:p>
          <a:p>
            <a:pPr>
              <a:buNone/>
            </a:pPr>
            <a:r>
              <a:rPr lang="en-GB" sz="2000">
                <a:solidFill>
                  <a:srgbClr val="343536"/>
                </a:solidFill>
                <a:highlight>
                  <a:srgbClr val="FFFFFF"/>
                </a:highlight>
                <a:latin typeface="Calibri"/>
                <a:ea typeface="Noto Sans"/>
                <a:cs typeface="Noto Sans"/>
              </a:rPr>
              <a:t>3. Explain the opportunities and challenges relating to developing web applications in a </a:t>
            </a:r>
            <a:r>
              <a:rPr lang="en-GB" sz="2000" b="1">
                <a:solidFill>
                  <a:srgbClr val="343536"/>
                </a:solidFill>
                <a:highlight>
                  <a:srgbClr val="FFFFFF"/>
                </a:highlight>
                <a:latin typeface="Calibri"/>
                <a:ea typeface="Noto Sans"/>
                <a:cs typeface="Noto Sans"/>
              </a:rPr>
              <a:t>distributed environment</a:t>
            </a:r>
            <a:endParaRPr lang="en-GB" sz="2000" b="1">
              <a:latin typeface="Calibri"/>
              <a:ea typeface="Calibri"/>
              <a:cs typeface="Calibri"/>
            </a:endParaRPr>
          </a:p>
          <a:p>
            <a:pPr>
              <a:buNone/>
            </a:pPr>
            <a:r>
              <a:rPr lang="en-GB" sz="2000">
                <a:solidFill>
                  <a:srgbClr val="343536"/>
                </a:solidFill>
                <a:highlight>
                  <a:srgbClr val="FFFFFF"/>
                </a:highlight>
                <a:latin typeface="Calibri"/>
                <a:ea typeface="Noto Sans"/>
                <a:cs typeface="Noto Sans"/>
              </a:rPr>
              <a:t>4. Identify and critically analyse the </a:t>
            </a:r>
            <a:r>
              <a:rPr lang="en-GB" sz="2000" b="1">
                <a:solidFill>
                  <a:srgbClr val="343536"/>
                </a:solidFill>
                <a:highlight>
                  <a:srgbClr val="FFFFFF"/>
                </a:highlight>
                <a:latin typeface="Calibri"/>
                <a:ea typeface="Noto Sans"/>
                <a:cs typeface="Noto Sans"/>
              </a:rPr>
              <a:t>requirements of a web application</a:t>
            </a:r>
            <a:endParaRPr lang="en-GB" sz="2000" b="1">
              <a:latin typeface="Calibri"/>
              <a:ea typeface="Calibri"/>
              <a:cs typeface="Calibri"/>
            </a:endParaRPr>
          </a:p>
          <a:p>
            <a:pPr>
              <a:buNone/>
            </a:pPr>
            <a:r>
              <a:rPr lang="en-GB" sz="2000">
                <a:solidFill>
                  <a:srgbClr val="343536"/>
                </a:solidFill>
                <a:highlight>
                  <a:srgbClr val="FFFFFF"/>
                </a:highlight>
                <a:latin typeface="Calibri"/>
                <a:ea typeface="Noto Sans"/>
                <a:cs typeface="Noto Sans"/>
              </a:rPr>
              <a:t>5. Design and specify the </a:t>
            </a:r>
            <a:r>
              <a:rPr lang="en-GB" sz="2000" b="1">
                <a:solidFill>
                  <a:srgbClr val="343536"/>
                </a:solidFill>
                <a:highlight>
                  <a:srgbClr val="FFFFFF"/>
                </a:highlight>
                <a:latin typeface="Calibri"/>
                <a:ea typeface="Noto Sans"/>
                <a:cs typeface="Noto Sans"/>
              </a:rPr>
              <a:t>architecture of a web application</a:t>
            </a:r>
            <a:r>
              <a:rPr lang="en-GB" sz="2000">
                <a:solidFill>
                  <a:srgbClr val="343536"/>
                </a:solidFill>
                <a:highlight>
                  <a:srgbClr val="FFFFFF"/>
                </a:highlight>
                <a:latin typeface="Calibri"/>
                <a:ea typeface="Noto Sans"/>
                <a:cs typeface="Noto Sans"/>
              </a:rPr>
              <a:t>, incorporating </a:t>
            </a:r>
            <a:r>
              <a:rPr lang="en-GB" sz="2000" b="1">
                <a:solidFill>
                  <a:srgbClr val="343536"/>
                </a:solidFill>
                <a:highlight>
                  <a:srgbClr val="FFFFFF"/>
                </a:highlight>
                <a:latin typeface="Calibri"/>
                <a:ea typeface="Noto Sans"/>
                <a:cs typeface="Noto Sans"/>
              </a:rPr>
              <a:t>accessibility </a:t>
            </a:r>
            <a:r>
              <a:rPr lang="en-GB" sz="2000">
                <a:solidFill>
                  <a:srgbClr val="343536"/>
                </a:solidFill>
                <a:highlight>
                  <a:srgbClr val="FFFFFF"/>
                </a:highlight>
                <a:latin typeface="Calibri"/>
                <a:ea typeface="Noto Sans"/>
                <a:cs typeface="Noto Sans"/>
              </a:rPr>
              <a:t>principles</a:t>
            </a:r>
            <a:endParaRPr lang="en-GB" sz="2000">
              <a:latin typeface="Calibri"/>
              <a:ea typeface="Calibri"/>
              <a:cs typeface="Calibri"/>
            </a:endParaRPr>
          </a:p>
          <a:p>
            <a:pPr>
              <a:buNone/>
            </a:pPr>
            <a:r>
              <a:rPr lang="en-GB" sz="2000">
                <a:solidFill>
                  <a:srgbClr val="343536"/>
                </a:solidFill>
                <a:highlight>
                  <a:srgbClr val="FFFFFF"/>
                </a:highlight>
                <a:latin typeface="Calibri"/>
                <a:ea typeface="Noto Sans"/>
                <a:cs typeface="Noto Sans"/>
              </a:rPr>
              <a:t>6. Evaluate and assess </a:t>
            </a:r>
            <a:r>
              <a:rPr lang="en-GB" sz="2000" b="1">
                <a:solidFill>
                  <a:srgbClr val="343536"/>
                </a:solidFill>
                <a:highlight>
                  <a:srgbClr val="FFFFFF"/>
                </a:highlight>
                <a:latin typeface="Calibri"/>
                <a:ea typeface="Noto Sans"/>
                <a:cs typeface="Noto Sans"/>
              </a:rPr>
              <a:t>specifications and designs of web applications</a:t>
            </a:r>
            <a:r>
              <a:rPr lang="en-GB" sz="2000">
                <a:solidFill>
                  <a:srgbClr val="343536"/>
                </a:solidFill>
                <a:highlight>
                  <a:srgbClr val="FFFFFF"/>
                </a:highlight>
                <a:latin typeface="Calibri"/>
                <a:ea typeface="Noto Sans"/>
                <a:cs typeface="Noto Sans"/>
              </a:rPr>
              <a:t>, including their accessibility and sustainability</a:t>
            </a:r>
            <a:endParaRPr lang="en-GB" sz="2000">
              <a:latin typeface="Calibri"/>
              <a:ea typeface="Calibri"/>
              <a:cs typeface="Calibri"/>
            </a:endParaRPr>
          </a:p>
          <a:p>
            <a:pPr>
              <a:buNone/>
            </a:pPr>
            <a:r>
              <a:rPr lang="en-GB" sz="2000">
                <a:solidFill>
                  <a:srgbClr val="343536"/>
                </a:solidFill>
                <a:highlight>
                  <a:srgbClr val="FFFFFF"/>
                </a:highlight>
                <a:latin typeface="Calibri"/>
                <a:ea typeface="Noto Sans"/>
                <a:cs typeface="Noto Sans"/>
              </a:rPr>
              <a:t>7. </a:t>
            </a:r>
            <a:r>
              <a:rPr lang="en-GB" sz="2000" b="1">
                <a:solidFill>
                  <a:srgbClr val="343536"/>
                </a:solidFill>
                <a:highlight>
                  <a:srgbClr val="FFFFFF"/>
                </a:highlight>
                <a:latin typeface="Calibri"/>
                <a:ea typeface="Noto Sans"/>
                <a:cs typeface="Noto Sans"/>
              </a:rPr>
              <a:t>Construct, build and deploy a web application</a:t>
            </a:r>
            <a:r>
              <a:rPr lang="en-GB" sz="2000">
                <a:solidFill>
                  <a:srgbClr val="343536"/>
                </a:solidFill>
                <a:highlight>
                  <a:srgbClr val="FFFFFF"/>
                </a:highlight>
                <a:latin typeface="Calibri"/>
                <a:ea typeface="Noto Sans"/>
                <a:cs typeface="Noto Sans"/>
              </a:rPr>
              <a:t>, considering sustainable development practices</a:t>
            </a:r>
            <a:endParaRPr lang="en-GB" sz="2000">
              <a:latin typeface="Calibri"/>
              <a:ea typeface="Calibri"/>
              <a:cs typeface="Calibri"/>
            </a:endParaRPr>
          </a:p>
        </p:txBody>
      </p:sp>
    </p:spTree>
    <p:extLst>
      <p:ext uri="{BB962C8B-B14F-4D97-AF65-F5344CB8AC3E}">
        <p14:creationId xmlns:p14="http://schemas.microsoft.com/office/powerpoint/2010/main" val="818277233"/>
      </p:ext>
    </p:extLst>
  </p:cSld>
  <p:clrMapOvr>
    <a:masterClrMapping/>
  </p:clrMapOvr>
  <mc:AlternateContent xmlns:mc="http://schemas.openxmlformats.org/markup-compatibility/2006" xmlns:p14="http://schemas.microsoft.com/office/powerpoint/2010/main">
    <mc:Choice Requires="p14">
      <p:transition spd="slow" p14:dur="2000" advTm="17"/>
    </mc:Choice>
    <mc:Fallback xmlns="">
      <p:transition spd="slow" advTm="1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5ED5A-DEC6-3D86-5CA9-5148ADC288F0}"/>
              </a:ext>
            </a:extLst>
          </p:cNvPr>
          <p:cNvSpPr>
            <a:spLocks noGrp="1"/>
          </p:cNvSpPr>
          <p:nvPr>
            <p:ph type="title"/>
          </p:nvPr>
        </p:nvSpPr>
        <p:spPr/>
        <p:txBody>
          <a:bodyPr/>
          <a:lstStyle/>
          <a:p>
            <a:r>
              <a:rPr lang="en-US"/>
              <a:t>Course Textbook</a:t>
            </a:r>
          </a:p>
        </p:txBody>
      </p:sp>
      <p:pic>
        <p:nvPicPr>
          <p:cNvPr id="5" name="Content Placeholder 4" descr="Graphical user interface, website&#10;&#10;Description automatically generated">
            <a:extLst>
              <a:ext uri="{FF2B5EF4-FFF2-40B4-BE49-F238E27FC236}">
                <a16:creationId xmlns:a16="http://schemas.microsoft.com/office/drawing/2014/main" id="{993E3C34-3C97-3B32-0A29-8C5F64A9ED99}"/>
              </a:ext>
            </a:extLst>
          </p:cNvPr>
          <p:cNvPicPr>
            <a:picLocks noGrp="1" noChangeAspect="1"/>
          </p:cNvPicPr>
          <p:nvPr>
            <p:ph sz="half" idx="1"/>
          </p:nvPr>
        </p:nvPicPr>
        <p:blipFill>
          <a:blip r:embed="rId2"/>
          <a:stretch>
            <a:fillRect/>
          </a:stretch>
        </p:blipFill>
        <p:spPr>
          <a:xfrm>
            <a:off x="636981" y="1600200"/>
            <a:ext cx="3679038" cy="4525963"/>
          </a:xfrm>
        </p:spPr>
      </p:pic>
      <p:sp>
        <p:nvSpPr>
          <p:cNvPr id="6" name="Content Placeholder 5">
            <a:extLst>
              <a:ext uri="{FF2B5EF4-FFF2-40B4-BE49-F238E27FC236}">
                <a16:creationId xmlns:a16="http://schemas.microsoft.com/office/drawing/2014/main" id="{34283004-C288-F15B-6A93-A18EBBD8FE5E}"/>
              </a:ext>
            </a:extLst>
          </p:cNvPr>
          <p:cNvSpPr>
            <a:spLocks noGrp="1"/>
          </p:cNvSpPr>
          <p:nvPr>
            <p:ph sz="half" idx="2"/>
          </p:nvPr>
        </p:nvSpPr>
        <p:spPr/>
        <p:txBody>
          <a:bodyPr vert="horz" lIns="91440" tIns="45720" rIns="91440" bIns="45720" rtlCol="0" anchor="t">
            <a:normAutofit/>
          </a:bodyPr>
          <a:lstStyle/>
          <a:p>
            <a:r>
              <a:rPr lang="en-US"/>
              <a:t>We will use Django as the main development framework</a:t>
            </a:r>
          </a:p>
          <a:p>
            <a:r>
              <a:rPr lang="en-US"/>
              <a:t>Python, HTML and CSS</a:t>
            </a:r>
          </a:p>
          <a:p>
            <a:r>
              <a:rPr lang="en-US"/>
              <a:t>Git and GitHub</a:t>
            </a:r>
          </a:p>
        </p:txBody>
      </p:sp>
    </p:spTree>
    <p:extLst>
      <p:ext uri="{BB962C8B-B14F-4D97-AF65-F5344CB8AC3E}">
        <p14:creationId xmlns:p14="http://schemas.microsoft.com/office/powerpoint/2010/main" val="866593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Course structure (per week)</a:t>
            </a:r>
          </a:p>
        </p:txBody>
      </p:sp>
      <p:sp>
        <p:nvSpPr>
          <p:cNvPr id="3" name="Content Placeholder 2"/>
          <p:cNvSpPr>
            <a:spLocks noGrp="1"/>
          </p:cNvSpPr>
          <p:nvPr>
            <p:ph idx="1"/>
          </p:nvPr>
        </p:nvSpPr>
        <p:spPr>
          <a:xfrm>
            <a:off x="437601" y="1476100"/>
            <a:ext cx="8229600" cy="5166438"/>
          </a:xfrm>
        </p:spPr>
        <p:txBody>
          <a:bodyPr vert="horz" lIns="91440" tIns="45720" rIns="91440" bIns="45720" rtlCol="0" anchor="t">
            <a:noAutofit/>
          </a:bodyPr>
          <a:lstStyle/>
          <a:p>
            <a:r>
              <a:rPr lang="en-US" sz="1600" dirty="0"/>
              <a:t>Lectures (2 hours)</a:t>
            </a:r>
            <a:endParaRPr lang="en-US" sz="1600" dirty="0">
              <a:ea typeface="Calibri"/>
              <a:cs typeface="Calibri"/>
            </a:endParaRPr>
          </a:p>
          <a:p>
            <a:pPr lvl="1"/>
            <a:r>
              <a:rPr lang="en-US" sz="1400" dirty="0"/>
              <a:t>Tuesdays 4pm-5pm, Thursdays 4pm-5pm</a:t>
            </a:r>
            <a:endParaRPr lang="en-US" sz="1400" dirty="0">
              <a:ea typeface="Calibri"/>
              <a:cs typeface="Calibri"/>
            </a:endParaRPr>
          </a:p>
          <a:p>
            <a:pPr lvl="1"/>
            <a:r>
              <a:rPr lang="en-US" sz="1600" b="1" dirty="0">
                <a:ea typeface="Calibri"/>
                <a:cs typeface="Calibri"/>
              </a:rPr>
              <a:t>No lecture on Tuesday 27/1</a:t>
            </a:r>
          </a:p>
          <a:p>
            <a:pPr lvl="1"/>
            <a:r>
              <a:rPr lang="en-US" sz="1600" b="1" dirty="0">
                <a:ea typeface="Calibri"/>
                <a:cs typeface="Calibri"/>
              </a:rPr>
              <a:t>No lectures on Weeks 5 and 11</a:t>
            </a:r>
          </a:p>
          <a:p>
            <a:pPr lvl="1"/>
            <a:r>
              <a:rPr lang="en-US" sz="1600" dirty="0">
                <a:ea typeface="Calibri"/>
                <a:cs typeface="Calibri"/>
              </a:rPr>
              <a:t>Some guest lectures to be announced! </a:t>
            </a:r>
            <a:endParaRPr lang="en-US" sz="1600" b="1" dirty="0">
              <a:ea typeface="Calibri"/>
              <a:cs typeface="Calibri"/>
            </a:endParaRPr>
          </a:p>
          <a:p>
            <a:pPr lvl="1"/>
            <a:r>
              <a:rPr lang="en-US" sz="1400" i="1" dirty="0">
                <a:ea typeface="Calibri"/>
                <a:cs typeface="Calibri"/>
              </a:rPr>
              <a:t>Please check the course announcements via Moodle</a:t>
            </a:r>
            <a:endParaRPr lang="en-US" sz="1400" dirty="0">
              <a:ea typeface="Calibri"/>
              <a:cs typeface="Calibri"/>
            </a:endParaRPr>
          </a:p>
          <a:p>
            <a:pPr lvl="1"/>
            <a:endParaRPr lang="en-US" sz="1400">
              <a:ea typeface="Calibri"/>
              <a:cs typeface="Calibri"/>
            </a:endParaRPr>
          </a:p>
          <a:p>
            <a:r>
              <a:rPr lang="en-US" sz="1600" dirty="0"/>
              <a:t>Own study including working on coursework (7 hours)</a:t>
            </a:r>
            <a:endParaRPr lang="en-US" sz="1600" dirty="0">
              <a:ea typeface="Calibri"/>
              <a:cs typeface="Calibri"/>
            </a:endParaRPr>
          </a:p>
          <a:p>
            <a:pPr lvl="1"/>
            <a:r>
              <a:rPr lang="en-US" sz="1400" dirty="0">
                <a:ea typeface="Calibri"/>
                <a:cs typeface="Calibri"/>
              </a:rPr>
              <a:t>Study lecture material </a:t>
            </a:r>
          </a:p>
          <a:p>
            <a:pPr lvl="1"/>
            <a:r>
              <a:rPr lang="en-US" sz="1400" dirty="0"/>
              <a:t>Prepare/Work on quizzes</a:t>
            </a:r>
            <a:endParaRPr lang="en-US" sz="1400" dirty="0">
              <a:ea typeface="Calibri"/>
              <a:cs typeface="Calibri"/>
            </a:endParaRPr>
          </a:p>
          <a:p>
            <a:pPr lvl="1"/>
            <a:r>
              <a:rPr lang="en-US" sz="1400" dirty="0"/>
              <a:t>Work your way through the “Tango with Django” book at the labs</a:t>
            </a:r>
            <a:endParaRPr lang="en-US" sz="1400" dirty="0">
              <a:ea typeface="Calibri"/>
              <a:cs typeface="Calibri"/>
            </a:endParaRPr>
          </a:p>
          <a:p>
            <a:pPr lvl="1"/>
            <a:r>
              <a:rPr lang="en-US" sz="1400" dirty="0"/>
              <a:t>Work on your group coursework</a:t>
            </a:r>
            <a:endParaRPr lang="en-US" sz="1400" dirty="0">
              <a:ea typeface="Calibri"/>
              <a:cs typeface="Calibri"/>
            </a:endParaRPr>
          </a:p>
          <a:p>
            <a:pPr lvl="1"/>
            <a:endParaRPr lang="en-US" sz="1400">
              <a:ea typeface="Calibri"/>
              <a:cs typeface="Calibri"/>
            </a:endParaRPr>
          </a:p>
          <a:p>
            <a:r>
              <a:rPr lang="en-US" sz="1600" dirty="0"/>
              <a:t>Drop-in Labs (1 hour)</a:t>
            </a:r>
            <a:endParaRPr lang="en-US" sz="1600" dirty="0">
              <a:ea typeface="Calibri"/>
              <a:cs typeface="Calibri"/>
            </a:endParaRPr>
          </a:p>
          <a:p>
            <a:pPr lvl="1"/>
            <a:r>
              <a:rPr lang="en-US" sz="1400" dirty="0"/>
              <a:t>Mondays 10:00-11:00 / 11:00 – 12:00 / 12:00 – 13:00 / 13:00 – 14:00</a:t>
            </a:r>
            <a:endParaRPr lang="en-US" sz="1400" dirty="0">
              <a:ea typeface="Calibri"/>
              <a:cs typeface="Calibri"/>
            </a:endParaRPr>
          </a:p>
          <a:p>
            <a:pPr lvl="1"/>
            <a:r>
              <a:rPr lang="en-US" sz="1400" dirty="0"/>
              <a:t>Use if you get stuck – Tutors and lecturers will be there to help</a:t>
            </a:r>
            <a:endParaRPr lang="en-US" sz="1400" dirty="0">
              <a:ea typeface="Calibri"/>
              <a:cs typeface="Calibri"/>
            </a:endParaRPr>
          </a:p>
          <a:p>
            <a:pPr lvl="1"/>
            <a:r>
              <a:rPr lang="en-US" sz="1400" dirty="0"/>
              <a:t>Can use to meet with coursework group</a:t>
            </a:r>
            <a:endParaRPr lang="en-US" sz="1400" dirty="0">
              <a:ea typeface="Calibri"/>
              <a:cs typeface="Calibri"/>
            </a:endParaRPr>
          </a:p>
          <a:p>
            <a:pPr marL="0" indent="0">
              <a:buNone/>
            </a:pPr>
            <a:endParaRPr lang="en-US" sz="1600">
              <a:ea typeface="Calibri"/>
              <a:cs typeface="Calibri"/>
            </a:endParaRPr>
          </a:p>
          <a:p>
            <a:pPr marL="0" indent="0" algn="ctr">
              <a:buNone/>
            </a:pPr>
            <a:r>
              <a:rPr lang="en-US" sz="2000" dirty="0"/>
              <a:t>See </a:t>
            </a:r>
            <a:r>
              <a:rPr lang="en-US" sz="2000" dirty="0">
                <a:ea typeface="+mn-lt"/>
                <a:cs typeface="+mn-lt"/>
              </a:rPr>
              <a:t> </a:t>
            </a:r>
            <a:r>
              <a:rPr lang="en-US" sz="2000" dirty="0">
                <a:ea typeface="+mn-lt"/>
                <a:cs typeface="+mn-lt"/>
                <a:hlinkClick r:id="rId2"/>
              </a:rPr>
              <a:t>SCHEDULE</a:t>
            </a:r>
            <a:r>
              <a:rPr lang="en-US" sz="2000" dirty="0">
                <a:ea typeface="+mn-lt"/>
                <a:cs typeface="+mn-lt"/>
              </a:rPr>
              <a:t> on Moodle!</a:t>
            </a:r>
            <a:endParaRPr lang="en-US" sz="1600" dirty="0">
              <a:ea typeface="Calibri"/>
              <a:cs typeface="Calibri"/>
              <a:hlinkClick r:id="rId3"/>
            </a:endParaRPr>
          </a:p>
          <a:p>
            <a:pPr marL="0" indent="0" algn="ctr">
              <a:buNone/>
            </a:pPr>
            <a:endParaRPr lang="en-US" sz="1600">
              <a:ea typeface="Calibri"/>
              <a:cs typeface="Calibri"/>
            </a:endParaRPr>
          </a:p>
        </p:txBody>
      </p:sp>
    </p:spTree>
    <p:extLst>
      <p:ext uri="{BB962C8B-B14F-4D97-AF65-F5344CB8AC3E}">
        <p14:creationId xmlns:p14="http://schemas.microsoft.com/office/powerpoint/2010/main" val="377186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Assessments</a:t>
            </a:r>
          </a:p>
        </p:txBody>
      </p:sp>
      <p:sp>
        <p:nvSpPr>
          <p:cNvPr id="3" name="Content Placeholder 2"/>
          <p:cNvSpPr>
            <a:spLocks noGrp="1"/>
          </p:cNvSpPr>
          <p:nvPr>
            <p:ph idx="1"/>
          </p:nvPr>
        </p:nvSpPr>
        <p:spPr/>
        <p:txBody>
          <a:bodyPr vert="horz" lIns="91440" tIns="45720" rIns="91440" bIns="45720" rtlCol="0" anchor="t">
            <a:noAutofit/>
          </a:bodyPr>
          <a:lstStyle/>
          <a:p>
            <a:r>
              <a:rPr lang="en-US" sz="2000" b="1" dirty="0"/>
              <a:t>Individual coursework (30%)</a:t>
            </a:r>
            <a:endParaRPr lang="en-US" sz="2000" b="1" dirty="0">
              <a:ea typeface="Calibri"/>
              <a:cs typeface="Calibri"/>
            </a:endParaRPr>
          </a:p>
          <a:p>
            <a:pPr lvl="1"/>
            <a:r>
              <a:rPr lang="en-US" sz="1600" dirty="0"/>
              <a:t>3 x 15-minute one-shot Lab Quizzes (10% each)</a:t>
            </a:r>
            <a:endParaRPr lang="en-US" sz="1600" dirty="0">
              <a:ea typeface="Calibri"/>
              <a:cs typeface="Calibri"/>
            </a:endParaRPr>
          </a:p>
          <a:p>
            <a:pPr lvl="1"/>
            <a:r>
              <a:rPr lang="en-US" sz="1600" dirty="0">
                <a:ea typeface="Calibri"/>
                <a:cs typeface="Calibri"/>
              </a:rPr>
              <a:t>Use them as checkpoints – if you don't do well on a quiz, revise material</a:t>
            </a:r>
          </a:p>
          <a:p>
            <a:pPr lvl="1"/>
            <a:r>
              <a:rPr lang="en-US" sz="1600" dirty="0"/>
              <a:t>Quiz questions are similar to what you will be asked to answer during the exam</a:t>
            </a:r>
          </a:p>
          <a:p>
            <a:pPr lvl="1"/>
            <a:r>
              <a:rPr lang="en-US" sz="1600" dirty="0">
                <a:ea typeface="Calibri"/>
                <a:cs typeface="Calibri"/>
              </a:rPr>
              <a:t>Some will have negative marking</a:t>
            </a:r>
          </a:p>
          <a:p>
            <a:pPr lvl="1"/>
            <a:r>
              <a:rPr lang="en-US" sz="1600" dirty="0"/>
              <a:t>Quizzes open on Thursdays for 5 days until 4pm on Tuesday</a:t>
            </a:r>
            <a:endParaRPr lang="en-US" sz="1600" dirty="0">
              <a:ea typeface="Calibri"/>
              <a:cs typeface="Calibri"/>
            </a:endParaRPr>
          </a:p>
          <a:p>
            <a:pPr lvl="1"/>
            <a:r>
              <a:rPr lang="en-US" sz="1600" b="1" dirty="0"/>
              <a:t>Deadlines: </a:t>
            </a:r>
            <a:r>
              <a:rPr lang="en-US" sz="1600" dirty="0"/>
              <a:t>Tuesdays 4pm on 3 February, 24 February, 17 March</a:t>
            </a:r>
            <a:endParaRPr lang="en-US" sz="1600" dirty="0">
              <a:ea typeface="Calibri"/>
              <a:cs typeface="Calibri"/>
            </a:endParaRPr>
          </a:p>
          <a:p>
            <a:r>
              <a:rPr lang="en-US" sz="2000" b="1" dirty="0"/>
              <a:t>Group coursework (50%)</a:t>
            </a:r>
            <a:endParaRPr lang="en-US" sz="2000" b="1" dirty="0">
              <a:ea typeface="Calibri"/>
              <a:cs typeface="Calibri"/>
            </a:endParaRPr>
          </a:p>
          <a:p>
            <a:pPr lvl="1"/>
            <a:r>
              <a:rPr lang="en-US" sz="1600" dirty="0">
                <a:ea typeface="Calibri"/>
                <a:cs typeface="Calibri"/>
              </a:rPr>
              <a:t>Design, develop, and deploy a web application using Django</a:t>
            </a:r>
          </a:p>
          <a:p>
            <a:pPr lvl="1"/>
            <a:r>
              <a:rPr lang="en-US" sz="1600" b="1" dirty="0"/>
              <a:t>Phase 1: </a:t>
            </a:r>
            <a:r>
              <a:rPr lang="en-US" sz="1600" dirty="0"/>
              <a:t>Design specification (15%) - Deadline: 4.30pm 12 February</a:t>
            </a:r>
            <a:endParaRPr lang="en-US" sz="1600" dirty="0">
              <a:ea typeface="Calibri"/>
              <a:cs typeface="Calibri"/>
            </a:endParaRPr>
          </a:p>
          <a:p>
            <a:pPr lvl="1"/>
            <a:r>
              <a:rPr lang="en-US" sz="1600" b="1" dirty="0">
                <a:ea typeface="Calibri"/>
                <a:cs typeface="Calibri"/>
              </a:rPr>
              <a:t>Phase 2:</a:t>
            </a:r>
            <a:r>
              <a:rPr lang="en-US" sz="1600" dirty="0">
                <a:ea typeface="Calibri"/>
                <a:cs typeface="Calibri"/>
              </a:rPr>
              <a:t> Implementation (35%)</a:t>
            </a:r>
            <a:endParaRPr lang="en-US" sz="1600" dirty="0"/>
          </a:p>
          <a:p>
            <a:pPr lvl="2"/>
            <a:r>
              <a:rPr lang="en-US" sz="1600" dirty="0"/>
              <a:t>Project video presentation (5%) – Deadline: 4.30pm 19 March</a:t>
            </a:r>
            <a:endParaRPr lang="en-US" sz="1600" dirty="0">
              <a:ea typeface="Calibri"/>
              <a:cs typeface="Calibri"/>
            </a:endParaRPr>
          </a:p>
          <a:p>
            <a:pPr lvl="2"/>
            <a:r>
              <a:rPr lang="en-US" sz="1600" dirty="0"/>
              <a:t>Project application (30%) – Deadline: 4.30pm 19 March</a:t>
            </a:r>
            <a:endParaRPr lang="en-US" sz="1600" dirty="0">
              <a:ea typeface="Calibri"/>
              <a:cs typeface="Calibri"/>
            </a:endParaRPr>
          </a:p>
          <a:p>
            <a:r>
              <a:rPr lang="en-US" sz="2000" b="1" dirty="0"/>
              <a:t>Individual Exam (20%)</a:t>
            </a:r>
            <a:endParaRPr lang="en-US" sz="2000" b="1" dirty="0">
              <a:ea typeface="Calibri"/>
              <a:cs typeface="Calibri"/>
            </a:endParaRPr>
          </a:p>
          <a:p>
            <a:pPr lvl="1"/>
            <a:r>
              <a:rPr lang="en-US" sz="1600" dirty="0"/>
              <a:t>During April/May</a:t>
            </a:r>
            <a:endParaRPr lang="en-US" sz="1600" dirty="0">
              <a:ea typeface="Calibri"/>
              <a:cs typeface="Calibri"/>
            </a:endParaRPr>
          </a:p>
        </p:txBody>
      </p:sp>
    </p:spTree>
    <p:extLst>
      <p:ext uri="{BB962C8B-B14F-4D97-AF65-F5344CB8AC3E}">
        <p14:creationId xmlns:p14="http://schemas.microsoft.com/office/powerpoint/2010/main" val="3879244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Group work</a:t>
            </a:r>
          </a:p>
        </p:txBody>
      </p:sp>
      <p:sp>
        <p:nvSpPr>
          <p:cNvPr id="5" name="Rectangle 4"/>
          <p:cNvSpPr/>
          <p:nvPr/>
        </p:nvSpPr>
        <p:spPr>
          <a:xfrm>
            <a:off x="148922" y="1228017"/>
            <a:ext cx="8949255" cy="5324535"/>
          </a:xfrm>
          <a:prstGeom prst="rect">
            <a:avLst/>
          </a:prstGeom>
        </p:spPr>
        <p:txBody>
          <a:bodyPr wrap="square" lIns="91440" tIns="45720" rIns="91440" bIns="45720" anchor="t">
            <a:spAutoFit/>
          </a:bodyPr>
          <a:lstStyle/>
          <a:p>
            <a:pPr marL="342900" lvl="1" indent="-342900">
              <a:buFont typeface="Arial"/>
              <a:buChar char="•"/>
            </a:pPr>
            <a:r>
              <a:rPr lang="en-US" sz="2000" dirty="0"/>
              <a:t>For the group coursework, you will work in groups of 3. Please register with a group </a:t>
            </a:r>
            <a:r>
              <a:rPr lang="en-US" sz="2000" dirty="0">
                <a:hlinkClick r:id="rId3"/>
              </a:rPr>
              <a:t>on Moodle</a:t>
            </a:r>
            <a:r>
              <a:rPr lang="en-US" sz="2000" dirty="0"/>
              <a:t> until Monday 20/1 8pm. </a:t>
            </a:r>
          </a:p>
          <a:p>
            <a:pPr marL="800100" lvl="2" indent="-342900">
              <a:buFont typeface="Wingdings"/>
              <a:buChar char="§"/>
            </a:pPr>
            <a:r>
              <a:rPr lang="en-US" sz="2000" dirty="0"/>
              <a:t>You </a:t>
            </a:r>
            <a:r>
              <a:rPr lang="en-US" sz="2000" dirty="0">
                <a:solidFill>
                  <a:srgbClr val="C00000"/>
                </a:solidFill>
              </a:rPr>
              <a:t>cannot</a:t>
            </a:r>
            <a:r>
              <a:rPr lang="en-US" sz="2000" dirty="0"/>
              <a:t> change groups unless you have very good reasons.</a:t>
            </a:r>
            <a:endParaRPr lang="en-US" sz="2000" dirty="0">
              <a:ea typeface="Calibri"/>
              <a:cs typeface="Calibri"/>
            </a:endParaRPr>
          </a:p>
          <a:p>
            <a:pPr marL="800100" indent="-342900">
              <a:buFont typeface="Wingdings"/>
              <a:buChar char="§"/>
            </a:pPr>
            <a:r>
              <a:rPr lang="en-US" sz="2000" dirty="0">
                <a:ea typeface="Calibri"/>
                <a:cs typeface="Calibri"/>
              </a:rPr>
              <a:t>Each group must have </a:t>
            </a:r>
            <a:r>
              <a:rPr lang="en-US" sz="2000" dirty="0">
                <a:solidFill>
                  <a:srgbClr val="C00000"/>
                </a:solidFill>
                <a:ea typeface="Calibri"/>
                <a:cs typeface="Calibri"/>
              </a:rPr>
              <a:t>exactly 3 members</a:t>
            </a:r>
            <a:r>
              <a:rPr lang="en-US" sz="2000" dirty="0">
                <a:ea typeface="Calibri"/>
                <a:cs typeface="Calibri"/>
              </a:rPr>
              <a:t>.</a:t>
            </a:r>
          </a:p>
          <a:p>
            <a:pPr marL="800100" lvl="2" indent="-342900">
              <a:buFont typeface="Wingdings"/>
              <a:buChar char="§"/>
            </a:pPr>
            <a:r>
              <a:rPr lang="en-US" sz="2000" dirty="0">
                <a:ea typeface="Calibri"/>
                <a:cs typeface="Calibri"/>
              </a:rPr>
              <a:t>If you are unable to find a peer to join your group, you will be automatically assigned to a group that is missing a member.</a:t>
            </a:r>
            <a:br>
              <a:rPr lang="en-US" sz="2000" dirty="0">
                <a:ea typeface="Calibri"/>
                <a:cs typeface="Calibri"/>
              </a:rPr>
            </a:br>
            <a:endParaRPr lang="en-US" sz="2000" dirty="0">
              <a:ea typeface="Calibri"/>
              <a:cs typeface="Calibri"/>
            </a:endParaRPr>
          </a:p>
          <a:p>
            <a:pPr marL="342900" lvl="1" indent="-342900">
              <a:buFont typeface="Arial"/>
              <a:buChar char="•"/>
            </a:pPr>
            <a:r>
              <a:rPr lang="en-US" sz="2000" dirty="0"/>
              <a:t>You must split the coursework effort </a:t>
            </a:r>
            <a:r>
              <a:rPr lang="en-US" sz="2000" dirty="0">
                <a:solidFill>
                  <a:srgbClr val="C00000"/>
                </a:solidFill>
              </a:rPr>
              <a:t>equally and fairly </a:t>
            </a:r>
            <a:r>
              <a:rPr lang="en-US" sz="2000" dirty="0"/>
              <a:t>across the group.</a:t>
            </a:r>
            <a:endParaRPr lang="en-US" sz="2000" dirty="0">
              <a:ea typeface="Calibri"/>
              <a:cs typeface="Calibri"/>
            </a:endParaRPr>
          </a:p>
          <a:p>
            <a:pPr marL="342900" lvl="1" indent="-342900">
              <a:buFont typeface="Arial"/>
              <a:buChar char="•"/>
            </a:pPr>
            <a:r>
              <a:rPr lang="en-US" sz="2000" dirty="0"/>
              <a:t>All members of a group will </a:t>
            </a:r>
            <a:r>
              <a:rPr lang="en-US" sz="2000" dirty="0">
                <a:solidFill>
                  <a:srgbClr val="C00000"/>
                </a:solidFill>
              </a:rPr>
              <a:t>usually receive the same mark</a:t>
            </a:r>
            <a:r>
              <a:rPr lang="en-US" sz="2000" dirty="0"/>
              <a:t>. If there are issues in your group, you are encouraged to resolve the issue internally by negotiation first. If this is not possible, the course coordinators should be asked to intervene as soon as possible. </a:t>
            </a:r>
            <a:endParaRPr lang="en-US" sz="2000" dirty="0">
              <a:ea typeface="Calibri"/>
              <a:cs typeface="Calibri"/>
            </a:endParaRPr>
          </a:p>
          <a:p>
            <a:pPr marL="342900" lvl="1" indent="-342900">
              <a:buFont typeface="Arial"/>
              <a:buChar char="•"/>
            </a:pPr>
            <a:r>
              <a:rPr lang="en-US" sz="2000" dirty="0"/>
              <a:t>The mark awarded to individual members of the group </a:t>
            </a:r>
            <a:r>
              <a:rPr lang="en-US" sz="2000" dirty="0">
                <a:solidFill>
                  <a:srgbClr val="C00000"/>
                </a:solidFill>
              </a:rPr>
              <a:t>may be adjusted to reflect the individual’s contribution</a:t>
            </a:r>
            <a:r>
              <a:rPr lang="en-US" sz="2000" dirty="0"/>
              <a:t> using Deltas (we might adjust to H if there was no contribution). </a:t>
            </a:r>
            <a:endParaRPr lang="en-US" sz="2000" dirty="0">
              <a:ea typeface="Calibri"/>
              <a:cs typeface="Calibri"/>
            </a:endParaRPr>
          </a:p>
          <a:p>
            <a:pPr marL="0" lvl="1"/>
            <a:endParaRPr lang="en-US" sz="2000">
              <a:ea typeface="Calibri"/>
              <a:cs typeface="Calibri"/>
            </a:endParaRPr>
          </a:p>
          <a:p>
            <a:pPr marL="342900" lvl="1" indent="-342900">
              <a:buFont typeface="Arial"/>
              <a:buChar char="•"/>
            </a:pPr>
            <a:endParaRPr lang="en-US" sz="2000">
              <a:ea typeface="Calibri"/>
              <a:cs typeface="Calibri"/>
            </a:endParaRPr>
          </a:p>
        </p:txBody>
      </p:sp>
    </p:spTree>
    <p:extLst>
      <p:ext uri="{BB962C8B-B14F-4D97-AF65-F5344CB8AC3E}">
        <p14:creationId xmlns:p14="http://schemas.microsoft.com/office/powerpoint/2010/main" val="1644524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Support and Communication</a:t>
            </a:r>
          </a:p>
        </p:txBody>
      </p:sp>
      <p:sp>
        <p:nvSpPr>
          <p:cNvPr id="3" name="Content Placeholder 2"/>
          <p:cNvSpPr>
            <a:spLocks noGrp="1"/>
          </p:cNvSpPr>
          <p:nvPr>
            <p:ph idx="1"/>
          </p:nvPr>
        </p:nvSpPr>
        <p:spPr>
          <a:xfrm>
            <a:off x="225188" y="1305039"/>
            <a:ext cx="4740518" cy="5327773"/>
          </a:xfrm>
        </p:spPr>
        <p:txBody>
          <a:bodyPr vert="horz" lIns="91440" tIns="45720" rIns="91440" bIns="45720" rtlCol="0" anchor="t">
            <a:normAutofit fontScale="62500" lnSpcReduction="20000"/>
          </a:bodyPr>
          <a:lstStyle/>
          <a:p>
            <a:pPr marL="457200" lvl="1" indent="-457200">
              <a:buFont typeface="Arial,Sans-Serif" panose="020B0604020202020204" pitchFamily="34" charset="0"/>
              <a:buChar char="•"/>
            </a:pPr>
            <a:r>
              <a:rPr lang="en-US" sz="3200" dirty="0">
                <a:ea typeface="Calibri"/>
                <a:cs typeface="Calibri"/>
              </a:rPr>
              <a:t>Course announcements (one-</a:t>
            </a:r>
            <a:r>
              <a:rPr lang="en-US" sz="3200">
                <a:ea typeface="Calibri"/>
                <a:cs typeface="Calibri"/>
              </a:rPr>
              <a:t>way communication)</a:t>
            </a:r>
            <a:r>
              <a:rPr lang="en-US" sz="3200" dirty="0">
                <a:ea typeface="Calibri"/>
                <a:cs typeface="Calibri"/>
              </a:rPr>
              <a:t>:  Moodle</a:t>
            </a:r>
            <a:endParaRPr lang="en-US" dirty="0">
              <a:ea typeface="Calibri"/>
              <a:cs typeface="Calibri"/>
            </a:endParaRPr>
          </a:p>
          <a:p>
            <a:pPr marL="457200" lvl="1" indent="-457200">
              <a:buFont typeface="Arial" panose="020B0604020202020204" pitchFamily="34" charset="0"/>
              <a:buChar char="•"/>
            </a:pPr>
            <a:endParaRPr lang="en-US" sz="3200" dirty="0">
              <a:ea typeface="Calibri"/>
              <a:cs typeface="Calibri"/>
            </a:endParaRPr>
          </a:p>
          <a:p>
            <a:pPr marL="457200" lvl="1" indent="-457200">
              <a:buFont typeface="Arial" panose="020B0604020202020204" pitchFamily="34" charset="0"/>
              <a:buChar char="•"/>
            </a:pPr>
            <a:r>
              <a:rPr lang="en-US" sz="3200" dirty="0">
                <a:ea typeface="Calibri"/>
                <a:cs typeface="Calibri"/>
              </a:rPr>
              <a:t>Questions and discussion (two-way </a:t>
            </a:r>
            <a:r>
              <a:rPr lang="en-US" sz="3200">
                <a:ea typeface="Calibri"/>
                <a:cs typeface="Calibri"/>
              </a:rPr>
              <a:t>communication): </a:t>
            </a:r>
            <a:endParaRPr lang="en-US" sz="3200" dirty="0">
              <a:ea typeface="Calibri"/>
              <a:cs typeface="Calibri"/>
            </a:endParaRPr>
          </a:p>
          <a:p>
            <a:pPr marL="857250" lvl="2">
              <a:buFont typeface="Arial" panose="020B0604020202020204" pitchFamily="34" charset="0"/>
              <a:buChar char="•"/>
            </a:pPr>
            <a:r>
              <a:rPr lang="en-US" sz="2800" dirty="0">
                <a:ea typeface="Calibri"/>
                <a:cs typeface="Calibri"/>
              </a:rPr>
              <a:t>Ask questions in person during the lectures and labs </a:t>
            </a:r>
          </a:p>
          <a:p>
            <a:pPr marL="857250" lvl="2">
              <a:buFont typeface="Arial" panose="020B0604020202020204" pitchFamily="34" charset="0"/>
              <a:buChar char="•"/>
            </a:pPr>
            <a:r>
              <a:rPr lang="en-US" sz="2800" dirty="0">
                <a:ea typeface="Calibri"/>
                <a:cs typeface="Calibri"/>
              </a:rPr>
              <a:t>Use </a:t>
            </a:r>
            <a:r>
              <a:rPr lang="en-US" sz="2800" dirty="0">
                <a:ea typeface="Calibri"/>
                <a:cs typeface="Calibri"/>
                <a:hlinkClick r:id="rId3"/>
              </a:rPr>
              <a:t>Padlet</a:t>
            </a:r>
            <a:r>
              <a:rPr lang="en-US" sz="2800" dirty="0">
                <a:ea typeface="Calibri"/>
                <a:cs typeface="Calibri"/>
              </a:rPr>
              <a:t> for questions outside the lectures and labs</a:t>
            </a:r>
          </a:p>
          <a:p>
            <a:pPr marL="0" lvl="1" indent="0">
              <a:buNone/>
            </a:pPr>
            <a:endParaRPr lang="en-US" sz="3200" dirty="0">
              <a:ea typeface="Calibri"/>
              <a:cs typeface="Calibri"/>
            </a:endParaRPr>
          </a:p>
          <a:p>
            <a:pPr marL="457200" lvl="1" indent="-457200">
              <a:buFont typeface="Arial" panose="020B0604020202020204" pitchFamily="34" charset="0"/>
              <a:buChar char="•"/>
            </a:pPr>
            <a:r>
              <a:rPr lang="en-US" sz="3200">
                <a:solidFill>
                  <a:srgbClr val="000000"/>
                </a:solidFill>
                <a:ea typeface="Calibri"/>
                <a:cs typeface="Calibri"/>
              </a:rPr>
              <a:t>Ask</a:t>
            </a:r>
            <a:endParaRPr lang="en-US" sz="3200" dirty="0">
              <a:solidFill>
                <a:srgbClr val="000000"/>
              </a:solidFill>
              <a:ea typeface="Calibri"/>
              <a:cs typeface="Calibri"/>
            </a:endParaRPr>
          </a:p>
          <a:p>
            <a:pPr marL="457200" lvl="1" indent="-457200">
              <a:buFont typeface="Arial" panose="020B0604020202020204" pitchFamily="34" charset="0"/>
              <a:buChar char="•"/>
            </a:pPr>
            <a:endParaRPr lang="en-US" sz="3200" dirty="0">
              <a:solidFill>
                <a:srgbClr val="000000"/>
              </a:solidFill>
            </a:endParaRPr>
          </a:p>
          <a:p>
            <a:pPr marL="457200" lvl="1" indent="-457200">
              <a:buFont typeface="Arial" panose="020B0604020202020204" pitchFamily="34" charset="0"/>
              <a:buChar char="•"/>
            </a:pPr>
            <a:r>
              <a:rPr lang="en-US" sz="3200" b="1" dirty="0">
                <a:solidFill>
                  <a:srgbClr val="C00000"/>
                </a:solidFill>
              </a:rPr>
              <a:t>Do not </a:t>
            </a:r>
            <a:r>
              <a:rPr lang="en-US" sz="3200" dirty="0"/>
              <a:t>DM or email the course coordinators or the lab assistants</a:t>
            </a:r>
            <a:endParaRPr lang="en-US" sz="3200" dirty="0">
              <a:ea typeface="Calibri"/>
              <a:cs typeface="Calibri"/>
            </a:endParaRPr>
          </a:p>
          <a:p>
            <a:pPr marL="0" lvl="1" indent="0">
              <a:buNone/>
            </a:pPr>
            <a:r>
              <a:rPr lang="en-US" sz="3200" b="1" dirty="0"/>
              <a:t>	</a:t>
            </a:r>
            <a:r>
              <a:rPr lang="en-US" sz="3200" b="1" dirty="0">
                <a:solidFill>
                  <a:srgbClr val="C00000"/>
                </a:solidFill>
              </a:rPr>
              <a:t>Unless</a:t>
            </a:r>
            <a:endParaRPr lang="en-US" b="1" dirty="0"/>
          </a:p>
          <a:p>
            <a:pPr marL="857250" lvl="2" indent="-457200">
              <a:buFont typeface="Arial" panose="020B0604020202020204" pitchFamily="34" charset="0"/>
              <a:buChar char="•"/>
            </a:pPr>
            <a:r>
              <a:rPr lang="en-US" dirty="0"/>
              <a:t>You have a problem that will affect your performance</a:t>
            </a:r>
            <a:endParaRPr lang="en-US" dirty="0">
              <a:ea typeface="Calibri"/>
              <a:cs typeface="Calibri"/>
            </a:endParaRPr>
          </a:p>
          <a:p>
            <a:pPr marL="857250" lvl="2" indent="-457200">
              <a:buFont typeface="Arial" panose="020B0604020202020204" pitchFamily="34" charset="0"/>
              <a:buChar char="•"/>
            </a:pPr>
            <a:r>
              <a:rPr lang="en-US" dirty="0"/>
              <a:t>Problems with your group and group project’s progress</a:t>
            </a:r>
            <a:endParaRPr lang="en-US" dirty="0">
              <a:ea typeface="Calibri"/>
              <a:cs typeface="Calibri"/>
            </a:endParaRPr>
          </a:p>
          <a:p>
            <a:pPr marL="400050" lvl="2" indent="0">
              <a:buNone/>
            </a:pPr>
            <a:r>
              <a:rPr lang="en-US" dirty="0">
                <a:cs typeface="Calibri"/>
              </a:rPr>
              <a:t>(in which cases, email the course coordinators)</a:t>
            </a:r>
            <a:endParaRPr lang="en-US" dirty="0">
              <a:ea typeface="Calibri"/>
              <a:cs typeface="Calibri"/>
            </a:endParaRPr>
          </a:p>
        </p:txBody>
      </p:sp>
      <p:pic>
        <p:nvPicPr>
          <p:cNvPr id="6" name="Picture 5" descr="A screenshot of a computer&#10;&#10;AI-generated content may be incorrect.">
            <a:extLst>
              <a:ext uri="{FF2B5EF4-FFF2-40B4-BE49-F238E27FC236}">
                <a16:creationId xmlns:a16="http://schemas.microsoft.com/office/drawing/2014/main" id="{CFF8BC79-D25C-820F-557F-265F1A47FD37}"/>
              </a:ext>
            </a:extLst>
          </p:cNvPr>
          <p:cNvPicPr>
            <a:picLocks noChangeAspect="1"/>
          </p:cNvPicPr>
          <p:nvPr/>
        </p:nvPicPr>
        <p:blipFill>
          <a:blip r:embed="rId4"/>
          <a:srcRect r="18293" b="-441"/>
          <a:stretch>
            <a:fillRect/>
          </a:stretch>
        </p:blipFill>
        <p:spPr>
          <a:xfrm>
            <a:off x="5048004" y="1146200"/>
            <a:ext cx="4091200" cy="3733955"/>
          </a:xfrm>
          <a:prstGeom prst="rect">
            <a:avLst/>
          </a:prstGeom>
        </p:spPr>
      </p:pic>
    </p:spTree>
    <p:extLst>
      <p:ext uri="{BB962C8B-B14F-4D97-AF65-F5344CB8AC3E}">
        <p14:creationId xmlns:p14="http://schemas.microsoft.com/office/powerpoint/2010/main" val="1456867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Code of conduct</a:t>
            </a:r>
          </a:p>
        </p:txBody>
      </p:sp>
      <p:sp>
        <p:nvSpPr>
          <p:cNvPr id="3" name="Content Placeholder 2"/>
          <p:cNvSpPr>
            <a:spLocks noGrp="1"/>
          </p:cNvSpPr>
          <p:nvPr>
            <p:ph idx="1"/>
          </p:nvPr>
        </p:nvSpPr>
        <p:spPr>
          <a:xfrm>
            <a:off x="225188" y="1763973"/>
            <a:ext cx="8487888" cy="4868839"/>
          </a:xfrm>
        </p:spPr>
        <p:txBody>
          <a:bodyPr vert="horz" lIns="91440" tIns="45720" rIns="91440" bIns="45720" rtlCol="0" anchor="t">
            <a:normAutofit/>
          </a:bodyPr>
          <a:lstStyle/>
          <a:p>
            <a:pPr marL="457200" lvl="1" indent="-457200"/>
            <a:r>
              <a:rPr lang="en-US" sz="3200"/>
              <a:t>You are encouraged to ask questions during the lectures by raising your hands</a:t>
            </a:r>
          </a:p>
          <a:p>
            <a:pPr marL="457200" lvl="1" indent="-457200"/>
            <a:r>
              <a:rPr lang="en-US" sz="3200"/>
              <a:t>Only one person talks at any one time </a:t>
            </a:r>
            <a:endParaRPr lang="en-US"/>
          </a:p>
          <a:p>
            <a:pPr marL="457200" lvl="1" indent="-457200"/>
            <a:r>
              <a:rPr lang="en-US" sz="3200"/>
              <a:t>We will all treat each other with respect and dignity. Bullying and harassment will not be tolerated. </a:t>
            </a:r>
            <a:endParaRPr lang="en-US">
              <a:ea typeface="Calibri"/>
              <a:cs typeface="Calibri"/>
            </a:endParaRPr>
          </a:p>
        </p:txBody>
      </p:sp>
    </p:spTree>
    <p:extLst>
      <p:ext uri="{BB962C8B-B14F-4D97-AF65-F5344CB8AC3E}">
        <p14:creationId xmlns:p14="http://schemas.microsoft.com/office/powerpoint/2010/main" val="1287537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42B3B-AB0A-A7E3-0C7B-7E7BD82D892E}"/>
              </a:ext>
            </a:extLst>
          </p:cNvPr>
          <p:cNvSpPr>
            <a:spLocks noGrp="1"/>
          </p:cNvSpPr>
          <p:nvPr>
            <p:ph type="title"/>
          </p:nvPr>
        </p:nvSpPr>
        <p:spPr/>
        <p:txBody>
          <a:bodyPr/>
          <a:lstStyle/>
          <a:p>
            <a:r>
              <a:rPr lang="en-US"/>
              <a:t>Expectations</a:t>
            </a:r>
          </a:p>
        </p:txBody>
      </p:sp>
      <p:sp>
        <p:nvSpPr>
          <p:cNvPr id="4" name="Text Placeholder 3">
            <a:extLst>
              <a:ext uri="{FF2B5EF4-FFF2-40B4-BE49-F238E27FC236}">
                <a16:creationId xmlns:a16="http://schemas.microsoft.com/office/drawing/2014/main" id="{CBF8ED2B-2D1A-EEE1-FBE1-954CFD8619B0}"/>
              </a:ext>
            </a:extLst>
          </p:cNvPr>
          <p:cNvSpPr>
            <a:spLocks noGrp="1"/>
          </p:cNvSpPr>
          <p:nvPr>
            <p:ph type="body" idx="1"/>
          </p:nvPr>
        </p:nvSpPr>
        <p:spPr/>
        <p:txBody>
          <a:bodyPr/>
          <a:lstStyle/>
          <a:p>
            <a:r>
              <a:rPr lang="en-US">
                <a:ea typeface="Calibri"/>
                <a:cs typeface="Calibri"/>
              </a:rPr>
              <a:t>What we expect from you</a:t>
            </a:r>
            <a:endParaRPr lang="en-US"/>
          </a:p>
        </p:txBody>
      </p:sp>
      <p:sp>
        <p:nvSpPr>
          <p:cNvPr id="3" name="Content Placeholder 2">
            <a:extLst>
              <a:ext uri="{FF2B5EF4-FFF2-40B4-BE49-F238E27FC236}">
                <a16:creationId xmlns:a16="http://schemas.microsoft.com/office/drawing/2014/main" id="{B34E481F-FA27-7A80-074F-285EEF9B0681}"/>
              </a:ext>
            </a:extLst>
          </p:cNvPr>
          <p:cNvSpPr>
            <a:spLocks noGrp="1"/>
          </p:cNvSpPr>
          <p:nvPr>
            <p:ph sz="half" idx="2"/>
          </p:nvPr>
        </p:nvSpPr>
        <p:spPr/>
        <p:txBody>
          <a:bodyPr vert="horz" lIns="91440" tIns="45720" rIns="91440" bIns="45720" rtlCol="0" anchor="t">
            <a:normAutofit fontScale="85000" lnSpcReduction="10000"/>
          </a:bodyPr>
          <a:lstStyle/>
          <a:p>
            <a:r>
              <a:rPr lang="en-US">
                <a:ea typeface="+mn-lt"/>
                <a:cs typeface="+mn-lt"/>
              </a:rPr>
              <a:t>Attend lectures </a:t>
            </a:r>
            <a:endParaRPr lang="en-US"/>
          </a:p>
          <a:p>
            <a:r>
              <a:rPr lang="en-US">
                <a:ea typeface="+mn-lt"/>
                <a:cs typeface="+mn-lt"/>
              </a:rPr>
              <a:t>Do your own study</a:t>
            </a:r>
          </a:p>
          <a:p>
            <a:r>
              <a:rPr lang="en-US">
                <a:ea typeface="+mn-lt"/>
                <a:cs typeface="+mn-lt"/>
              </a:rPr>
              <a:t>Complete quizzes/ group coursework </a:t>
            </a:r>
          </a:p>
          <a:p>
            <a:r>
              <a:rPr lang="en-US">
                <a:ea typeface="+mn-lt"/>
                <a:cs typeface="+mn-lt"/>
              </a:rPr>
              <a:t>Read around the subject and try things for yourself</a:t>
            </a:r>
          </a:p>
          <a:p>
            <a:r>
              <a:rPr lang="en-US">
                <a:ea typeface="+mn-lt"/>
                <a:cs typeface="+mn-lt"/>
              </a:rPr>
              <a:t>Ask questions in lectures and labs. This is your chance ☺ </a:t>
            </a:r>
          </a:p>
          <a:p>
            <a:r>
              <a:rPr lang="en-US">
                <a:ea typeface="+mn-lt"/>
                <a:cs typeface="+mn-lt"/>
              </a:rPr>
              <a:t>Plan your learning hours carefully</a:t>
            </a:r>
            <a:endParaRPr lang="en-US">
              <a:ea typeface="Calibri"/>
              <a:cs typeface="Calibri"/>
            </a:endParaRPr>
          </a:p>
        </p:txBody>
      </p:sp>
      <p:sp>
        <p:nvSpPr>
          <p:cNvPr id="5" name="Text Placeholder 4">
            <a:extLst>
              <a:ext uri="{FF2B5EF4-FFF2-40B4-BE49-F238E27FC236}">
                <a16:creationId xmlns:a16="http://schemas.microsoft.com/office/drawing/2014/main" id="{2745E3E4-EF1D-1EAC-A73A-8366CEC8F17C}"/>
              </a:ext>
            </a:extLst>
          </p:cNvPr>
          <p:cNvSpPr>
            <a:spLocks noGrp="1"/>
          </p:cNvSpPr>
          <p:nvPr>
            <p:ph type="body" sz="quarter" idx="3"/>
          </p:nvPr>
        </p:nvSpPr>
        <p:spPr/>
        <p:txBody>
          <a:bodyPr/>
          <a:lstStyle/>
          <a:p>
            <a:r>
              <a:rPr lang="en-US">
                <a:ea typeface="Calibri"/>
                <a:cs typeface="Calibri"/>
              </a:rPr>
              <a:t>We will do our best to...</a:t>
            </a:r>
            <a:endParaRPr lang="en-US"/>
          </a:p>
        </p:txBody>
      </p:sp>
      <p:sp>
        <p:nvSpPr>
          <p:cNvPr id="6" name="Content Placeholder 5">
            <a:extLst>
              <a:ext uri="{FF2B5EF4-FFF2-40B4-BE49-F238E27FC236}">
                <a16:creationId xmlns:a16="http://schemas.microsoft.com/office/drawing/2014/main" id="{64A08AAA-7C2D-AA0B-F676-7806F0150C16}"/>
              </a:ext>
            </a:extLst>
          </p:cNvPr>
          <p:cNvSpPr>
            <a:spLocks noGrp="1"/>
          </p:cNvSpPr>
          <p:nvPr>
            <p:ph sz="quarter" idx="4"/>
          </p:nvPr>
        </p:nvSpPr>
        <p:spPr/>
        <p:txBody>
          <a:bodyPr vert="horz" lIns="91440" tIns="45720" rIns="91440" bIns="45720" rtlCol="0" anchor="t">
            <a:normAutofit fontScale="85000" lnSpcReduction="10000"/>
          </a:bodyPr>
          <a:lstStyle/>
          <a:p>
            <a:r>
              <a:rPr lang="en-US">
                <a:ea typeface="+mn-lt"/>
                <a:cs typeface="+mn-lt"/>
              </a:rPr>
              <a:t>Make lecture notes and videos available on Moodle </a:t>
            </a:r>
          </a:p>
          <a:p>
            <a:r>
              <a:rPr lang="en-US">
                <a:ea typeface="+mn-lt"/>
                <a:cs typeface="+mn-lt"/>
              </a:rPr>
              <a:t>Give you follow up references and additional reading material </a:t>
            </a:r>
          </a:p>
          <a:p>
            <a:r>
              <a:rPr lang="en-US">
                <a:ea typeface="+mn-lt"/>
                <a:cs typeface="+mn-lt"/>
              </a:rPr>
              <a:t>Make sure labs are running smoothly with good GTA support</a:t>
            </a:r>
          </a:p>
          <a:p>
            <a:r>
              <a:rPr lang="en-US">
                <a:ea typeface="+mn-lt"/>
                <a:cs typeface="+mn-lt"/>
              </a:rPr>
              <a:t>Make reasonable adjustments</a:t>
            </a:r>
          </a:p>
          <a:p>
            <a:r>
              <a:rPr lang="en-US">
                <a:ea typeface="+mn-lt"/>
                <a:cs typeface="+mn-lt"/>
              </a:rPr>
              <a:t>Arrange extra support if normal route (</a:t>
            </a:r>
            <a:r>
              <a:rPr lang="en-US" err="1">
                <a:ea typeface="+mn-lt"/>
                <a:cs typeface="+mn-lt"/>
              </a:rPr>
              <a:t>padlet</a:t>
            </a:r>
            <a:r>
              <a:rPr lang="en-US">
                <a:ea typeface="+mn-lt"/>
                <a:cs typeface="+mn-lt"/>
              </a:rPr>
              <a:t>, GTAs, etc.) is exhausted </a:t>
            </a:r>
          </a:p>
          <a:p>
            <a:r>
              <a:rPr lang="en-US">
                <a:ea typeface="+mn-lt"/>
                <a:cs typeface="+mn-lt"/>
              </a:rPr>
              <a:t>Respond to email on student-specific issues</a:t>
            </a:r>
            <a:endParaRPr lang="en-US">
              <a:ea typeface="Calibri"/>
              <a:cs typeface="Calibri"/>
            </a:endParaRPr>
          </a:p>
        </p:txBody>
      </p:sp>
    </p:spTree>
    <p:extLst>
      <p:ext uri="{BB962C8B-B14F-4D97-AF65-F5344CB8AC3E}">
        <p14:creationId xmlns:p14="http://schemas.microsoft.com/office/powerpoint/2010/main" val="791796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F4CE8-E468-523A-C048-CA56C5F6C2B5}"/>
              </a:ext>
            </a:extLst>
          </p:cNvPr>
          <p:cNvSpPr>
            <a:spLocks noGrp="1"/>
          </p:cNvSpPr>
          <p:nvPr>
            <p:ph type="title"/>
          </p:nvPr>
        </p:nvSpPr>
        <p:spPr/>
        <p:txBody>
          <a:bodyPr/>
          <a:lstStyle/>
          <a:p>
            <a:r>
              <a:rPr lang="en-US"/>
              <a:t>Types of Feedback in ITECH</a:t>
            </a:r>
          </a:p>
        </p:txBody>
      </p:sp>
      <p:sp>
        <p:nvSpPr>
          <p:cNvPr id="4" name="Content Placeholder 3">
            <a:extLst>
              <a:ext uri="{FF2B5EF4-FFF2-40B4-BE49-F238E27FC236}">
                <a16:creationId xmlns:a16="http://schemas.microsoft.com/office/drawing/2014/main" id="{869440B6-1A2B-1353-19D9-A6FFFC0B5EEE}"/>
              </a:ext>
            </a:extLst>
          </p:cNvPr>
          <p:cNvSpPr>
            <a:spLocks noGrp="1"/>
          </p:cNvSpPr>
          <p:nvPr>
            <p:ph idx="1"/>
          </p:nvPr>
        </p:nvSpPr>
        <p:spPr/>
        <p:txBody>
          <a:bodyPr vert="horz" lIns="91440" tIns="45720" rIns="91440" bIns="45720" rtlCol="0" anchor="t">
            <a:normAutofit/>
          </a:bodyPr>
          <a:lstStyle/>
          <a:p>
            <a:r>
              <a:rPr lang="en-US" dirty="0">
                <a:ea typeface="Calibri"/>
                <a:cs typeface="Calibri"/>
              </a:rPr>
              <a:t>Offline Q&amp;A on Padlet</a:t>
            </a:r>
          </a:p>
          <a:p>
            <a:r>
              <a:rPr lang="en-US" dirty="0">
                <a:ea typeface="Calibri"/>
                <a:cs typeface="Calibri"/>
              </a:rPr>
              <a:t>Online Q&amp;A during lectures</a:t>
            </a:r>
          </a:p>
          <a:p>
            <a:r>
              <a:rPr lang="en-US" dirty="0">
                <a:ea typeface="Calibri"/>
                <a:cs typeface="Calibri"/>
              </a:rPr>
              <a:t>1-1 support by GTAs during labs</a:t>
            </a:r>
          </a:p>
          <a:p>
            <a:r>
              <a:rPr lang="en-US" dirty="0">
                <a:ea typeface="Calibri"/>
                <a:cs typeface="Calibri"/>
              </a:rPr>
              <a:t>Detailed feedback on your group projects</a:t>
            </a:r>
          </a:p>
        </p:txBody>
      </p:sp>
    </p:spTree>
    <p:extLst>
      <p:ext uri="{BB962C8B-B14F-4D97-AF65-F5344CB8AC3E}">
        <p14:creationId xmlns:p14="http://schemas.microsoft.com/office/powerpoint/2010/main" val="179483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Plagiarism and Cheating</a:t>
            </a:r>
          </a:p>
        </p:txBody>
      </p:sp>
      <p:sp>
        <p:nvSpPr>
          <p:cNvPr id="4" name="Content Placeholder 3">
            <a:extLst>
              <a:ext uri="{FF2B5EF4-FFF2-40B4-BE49-F238E27FC236}">
                <a16:creationId xmlns:a16="http://schemas.microsoft.com/office/drawing/2014/main" id="{420C0223-5793-924D-FD4F-05525FC726D2}"/>
              </a:ext>
            </a:extLst>
          </p:cNvPr>
          <p:cNvSpPr>
            <a:spLocks noGrp="1"/>
          </p:cNvSpPr>
          <p:nvPr>
            <p:ph idx="1"/>
          </p:nvPr>
        </p:nvSpPr>
        <p:spPr/>
        <p:txBody>
          <a:bodyPr vert="horz" lIns="91440" tIns="45720" rIns="91440" bIns="45720" rtlCol="0" anchor="t">
            <a:normAutofit/>
          </a:bodyPr>
          <a:lstStyle/>
          <a:p>
            <a:r>
              <a:rPr lang="en-US" dirty="0"/>
              <a:t>If you copy someone else's code without attribution and present it as your own work this is plagiarism</a:t>
            </a:r>
          </a:p>
          <a:p>
            <a:r>
              <a:rPr lang="en-US" dirty="0"/>
              <a:t>If you </a:t>
            </a:r>
            <a:r>
              <a:rPr lang="en-US" dirty="0" err="1"/>
              <a:t>plagiarise</a:t>
            </a:r>
            <a:r>
              <a:rPr lang="en-US" dirty="0"/>
              <a:t>, you will be reported for academic misconduct and sanctions applied. </a:t>
            </a:r>
            <a:endParaRPr lang="en-US" dirty="0">
              <a:ea typeface="Calibri"/>
              <a:cs typeface="Calibri"/>
            </a:endParaRPr>
          </a:p>
          <a:p>
            <a:pPr lvl="1"/>
            <a:r>
              <a:rPr lang="en-US" dirty="0"/>
              <a:t>Sanctions can be a grade reduction, receiving an H for the assessment or the whole course. </a:t>
            </a:r>
            <a:endParaRPr lang="en-US" dirty="0">
              <a:ea typeface="Calibri"/>
              <a:cs typeface="Calibri"/>
            </a:endParaRPr>
          </a:p>
          <a:p>
            <a:pPr lvl="1"/>
            <a:r>
              <a:rPr lang="en-US" dirty="0"/>
              <a:t>For serious or repeated offences you can be expelled from the university.</a:t>
            </a:r>
            <a:endParaRPr lang="en-US" dirty="0">
              <a:ea typeface="Calibri"/>
              <a:cs typeface="Calibri"/>
            </a:endParaRPr>
          </a:p>
          <a:p>
            <a:endParaRPr lang="en-US"/>
          </a:p>
        </p:txBody>
      </p:sp>
    </p:spTree>
    <p:extLst>
      <p:ext uri="{BB962C8B-B14F-4D97-AF65-F5344CB8AC3E}">
        <p14:creationId xmlns:p14="http://schemas.microsoft.com/office/powerpoint/2010/main" val="166609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53916-030A-58B4-EE56-3472BA0D4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34A52C-A20B-D933-FA50-A5167A3DDF9A}"/>
              </a:ext>
            </a:extLst>
          </p:cNvPr>
          <p:cNvSpPr>
            <a:spLocks noGrp="1"/>
          </p:cNvSpPr>
          <p:nvPr>
            <p:ph type="title"/>
          </p:nvPr>
        </p:nvSpPr>
        <p:spPr/>
        <p:txBody>
          <a:bodyPr/>
          <a:lstStyle/>
          <a:p>
            <a:r>
              <a:rPr lang="en-US" dirty="0"/>
              <a:t>Usage of AI</a:t>
            </a:r>
          </a:p>
        </p:txBody>
      </p:sp>
      <p:sp>
        <p:nvSpPr>
          <p:cNvPr id="4" name="Content Placeholder 3">
            <a:extLst>
              <a:ext uri="{FF2B5EF4-FFF2-40B4-BE49-F238E27FC236}">
                <a16:creationId xmlns:a16="http://schemas.microsoft.com/office/drawing/2014/main" id="{9074AA8E-0053-46BD-72DC-364C838BE262}"/>
              </a:ext>
            </a:extLst>
          </p:cNvPr>
          <p:cNvSpPr>
            <a:spLocks noGrp="1"/>
          </p:cNvSpPr>
          <p:nvPr>
            <p:ph idx="1"/>
          </p:nvPr>
        </p:nvSpPr>
        <p:spPr/>
        <p:txBody>
          <a:bodyPr vert="horz" lIns="91440" tIns="45720" rIns="91440" bIns="45720" rtlCol="0" anchor="t">
            <a:normAutofit/>
          </a:bodyPr>
          <a:lstStyle/>
          <a:p>
            <a:r>
              <a:rPr lang="en-US" dirty="0"/>
              <a:t>You may use AI to support your work </a:t>
            </a:r>
          </a:p>
          <a:p>
            <a:r>
              <a:rPr lang="en-US" dirty="0">
                <a:latin typeface="Calibri"/>
                <a:ea typeface="Calibri"/>
                <a:cs typeface="Calibri"/>
              </a:rPr>
              <a:t>If you use GenAI for anything beyond background reading, you must acknowledge how you used it and attribute it appropriately</a:t>
            </a:r>
          </a:p>
          <a:p>
            <a:r>
              <a:rPr lang="en-US" dirty="0">
                <a:latin typeface="Calibri"/>
                <a:ea typeface="Calibri"/>
                <a:cs typeface="Calibri"/>
              </a:rPr>
              <a:t>You remain responsible for the accuracy and originality of your work: unacknowledged usage of AI is considered </a:t>
            </a:r>
            <a:r>
              <a:rPr lang="en-US" dirty="0">
                <a:solidFill>
                  <a:srgbClr val="000000"/>
                </a:solidFill>
                <a:latin typeface="Calibri"/>
                <a:ea typeface="Calibri"/>
                <a:cs typeface="Calibri"/>
              </a:rPr>
              <a:t>plagiarism</a:t>
            </a:r>
          </a:p>
        </p:txBody>
      </p:sp>
    </p:spTree>
    <p:extLst>
      <p:ext uri="{BB962C8B-B14F-4D97-AF65-F5344CB8AC3E}">
        <p14:creationId xmlns:p14="http://schemas.microsoft.com/office/powerpoint/2010/main" val="1044663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CA474-D146-89D4-4DC7-2FA1DA3B52B0}"/>
              </a:ext>
            </a:extLst>
          </p:cNvPr>
          <p:cNvSpPr>
            <a:spLocks noGrp="1"/>
          </p:cNvSpPr>
          <p:nvPr>
            <p:ph type="ctrTitle"/>
          </p:nvPr>
        </p:nvSpPr>
        <p:spPr/>
        <p:txBody>
          <a:bodyPr/>
          <a:lstStyle/>
          <a:p>
            <a:r>
              <a:rPr lang="en-US"/>
              <a:t>What now?</a:t>
            </a:r>
          </a:p>
        </p:txBody>
      </p:sp>
      <p:sp>
        <p:nvSpPr>
          <p:cNvPr id="3" name="Content Placeholder 2">
            <a:extLst>
              <a:ext uri="{FF2B5EF4-FFF2-40B4-BE49-F238E27FC236}">
                <a16:creationId xmlns:a16="http://schemas.microsoft.com/office/drawing/2014/main" id="{C8C68746-68D2-20DC-B1A6-E5202A8F3F22}"/>
              </a:ext>
            </a:extLst>
          </p:cNvPr>
          <p:cNvSpPr>
            <a:spLocks noGrp="1"/>
          </p:cNvSpPr>
          <p:nvPr>
            <p:ph type="subTitle" idx="1"/>
          </p:nvPr>
        </p:nvSpPr>
        <p:spPr/>
        <p:txBody>
          <a:bodyPr vert="horz" lIns="91440" tIns="45720" rIns="91440" bIns="45720" rtlCol="0" anchor="t">
            <a:normAutofit/>
          </a:bodyPr>
          <a:lstStyle/>
          <a:p>
            <a:pPr marL="457200" indent="-457200">
              <a:buFont typeface="Calibri"/>
              <a:buChar char="-"/>
            </a:pPr>
            <a:r>
              <a:rPr lang="en-US">
                <a:ea typeface="Calibri"/>
                <a:cs typeface="Calibri"/>
              </a:rPr>
              <a:t>No labs on week 1</a:t>
            </a:r>
          </a:p>
          <a:p>
            <a:pPr marL="457200" indent="-457200">
              <a:buFont typeface="Calibri"/>
              <a:buChar char="-"/>
            </a:pPr>
            <a:r>
              <a:rPr lang="en-US">
                <a:ea typeface="Calibri"/>
                <a:cs typeface="Calibri"/>
              </a:rPr>
              <a:t>Attend the first lecture</a:t>
            </a:r>
          </a:p>
        </p:txBody>
      </p:sp>
    </p:spTree>
    <p:extLst>
      <p:ext uri="{BB962C8B-B14F-4D97-AF65-F5344CB8AC3E}">
        <p14:creationId xmlns:p14="http://schemas.microsoft.com/office/powerpoint/2010/main" val="18819748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1211</Words>
  <Application>Microsoft Macintosh PowerPoint</Application>
  <PresentationFormat>On-screen Show (4:3)</PresentationFormat>
  <Paragraphs>151</Paragraphs>
  <Slides>15</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American Typewriter</vt:lpstr>
      <vt:lpstr>Arial</vt:lpstr>
      <vt:lpstr>Arial,Sans-Serif</vt:lpstr>
      <vt:lpstr>Calibri</vt:lpstr>
      <vt:lpstr>Wingdings</vt:lpstr>
      <vt:lpstr>Office Theme</vt:lpstr>
      <vt:lpstr>COMPSCI5012  Internet Technology (ITECH)</vt:lpstr>
      <vt:lpstr>Internet Technology (ITECH)</vt:lpstr>
      <vt:lpstr>Course Aims</vt:lpstr>
      <vt:lpstr>By the end of the course...</vt:lpstr>
      <vt:lpstr>Course Textbook</vt:lpstr>
      <vt:lpstr>Course structure (per week)</vt:lpstr>
      <vt:lpstr>Assessments</vt:lpstr>
      <vt:lpstr>Group work</vt:lpstr>
      <vt:lpstr>Support and Communication</vt:lpstr>
      <vt:lpstr>Code of conduct</vt:lpstr>
      <vt:lpstr>Expectations</vt:lpstr>
      <vt:lpstr>Types of Feedback in ITECH</vt:lpstr>
      <vt:lpstr>Plagiarism and Cheating</vt:lpstr>
      <vt:lpstr>Usage of AI</vt:lpstr>
      <vt:lpstr>What now?</vt:lpstr>
    </vt:vector>
  </TitlesOfParts>
  <Company>University of Glasgow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Leif Azzopardi</dc:creator>
  <cp:lastModifiedBy>Nikela Papadopoulou</cp:lastModifiedBy>
  <cp:revision>106</cp:revision>
  <cp:lastPrinted>2017-01-09T15:15:20Z</cp:lastPrinted>
  <dcterms:created xsi:type="dcterms:W3CDTF">2013-11-27T09:06:09Z</dcterms:created>
  <dcterms:modified xsi:type="dcterms:W3CDTF">2026-01-08T22:54:15Z</dcterms:modified>
</cp:coreProperties>
</file>