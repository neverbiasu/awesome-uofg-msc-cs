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8" r:id="rId2"/>
    <p:sldId id="370" r:id="rId3"/>
    <p:sldId id="270" r:id="rId4"/>
    <p:sldId id="333" r:id="rId5"/>
    <p:sldId id="411" r:id="rId6"/>
    <p:sldId id="371" r:id="rId7"/>
    <p:sldId id="345" r:id="rId8"/>
    <p:sldId id="346" r:id="rId9"/>
    <p:sldId id="361" r:id="rId10"/>
    <p:sldId id="347" r:id="rId11"/>
    <p:sldId id="348" r:id="rId12"/>
    <p:sldId id="349" r:id="rId13"/>
    <p:sldId id="350" r:id="rId14"/>
    <p:sldId id="351" r:id="rId15"/>
    <p:sldId id="352" r:id="rId16"/>
    <p:sldId id="353" r:id="rId17"/>
    <p:sldId id="420" r:id="rId18"/>
    <p:sldId id="412" r:id="rId19"/>
    <p:sldId id="413" r:id="rId20"/>
    <p:sldId id="414" r:id="rId21"/>
    <p:sldId id="415" r:id="rId22"/>
    <p:sldId id="416" r:id="rId23"/>
    <p:sldId id="417" r:id="rId24"/>
    <p:sldId id="419" r:id="rId25"/>
    <p:sldId id="256" r:id="rId26"/>
    <p:sldId id="261" r:id="rId27"/>
    <p:sldId id="291" r:id="rId28"/>
    <p:sldId id="294" r:id="rId29"/>
    <p:sldId id="262" r:id="rId30"/>
    <p:sldId id="263" r:id="rId31"/>
    <p:sldId id="264" r:id="rId32"/>
    <p:sldId id="265" r:id="rId33"/>
    <p:sldId id="266" r:id="rId34"/>
    <p:sldId id="267" r:id="rId35"/>
    <p:sldId id="268" r:id="rId36"/>
    <p:sldId id="269" r:id="rId37"/>
    <p:sldId id="271" r:id="rId38"/>
    <p:sldId id="272" r:id="rId39"/>
    <p:sldId id="273" r:id="rId40"/>
    <p:sldId id="363" r:id="rId41"/>
    <p:sldId id="364" r:id="rId42"/>
    <p:sldId id="274" r:id="rId43"/>
    <p:sldId id="365" r:id="rId44"/>
    <p:sldId id="275" r:id="rId45"/>
    <p:sldId id="430" r:id="rId46"/>
    <p:sldId id="277" r:id="rId47"/>
    <p:sldId id="287" r:id="rId48"/>
    <p:sldId id="288" r:id="rId49"/>
    <p:sldId id="289" r:id="rId50"/>
    <p:sldId id="279" r:id="rId51"/>
    <p:sldId id="280" r:id="rId52"/>
    <p:sldId id="281" r:id="rId53"/>
    <p:sldId id="282" r:id="rId54"/>
    <p:sldId id="283" r:id="rId55"/>
    <p:sldId id="284" r:id="rId56"/>
    <p:sldId id="285" r:id="rId57"/>
    <p:sldId id="286" r:id="rId58"/>
    <p:sldId id="366" r:id="rId59"/>
    <p:sldId id="293" r:id="rId60"/>
    <p:sldId id="421" r:id="rId61"/>
    <p:sldId id="422" r:id="rId62"/>
    <p:sldId id="423" r:id="rId63"/>
    <p:sldId id="424" r:id="rId64"/>
    <p:sldId id="428" r:id="rId65"/>
    <p:sldId id="425" r:id="rId66"/>
    <p:sldId id="426" r:id="rId67"/>
    <p:sldId id="427" r:id="rId68"/>
    <p:sldId id="367" r:id="rId69"/>
    <p:sldId id="429" r:id="rId70"/>
    <p:sldId id="368" r:id="rId71"/>
    <p:sldId id="292" r:id="rId72"/>
  </p:sldIdLst>
  <p:sldSz cx="9144000" cy="6858000" type="screen4x3"/>
  <p:notesSz cx="6858000" cy="9144000"/>
  <p:custDataLst>
    <p:tags r:id="rId7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2824F7-3C73-865E-410C-5339C3A543A0}" v="822" dt="2026-01-23T16:49:58.9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gs" Target="tags/tag1.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DE5B61-6C32-4D60-A1DE-13E6FF72D5C4}" type="doc">
      <dgm:prSet loTypeId="urn:microsoft.com/office/officeart/2017/3/layout/DropPinTimeline" loCatId="timeline" qsTypeId="urn:microsoft.com/office/officeart/2005/8/quickstyle/simple1" qsCatId="simple" csTypeId="urn:microsoft.com/office/officeart/2005/8/colors/accent1_2" csCatId="accent1" phldr="1"/>
      <dgm:spPr/>
      <dgm:t>
        <a:bodyPr/>
        <a:lstStyle/>
        <a:p>
          <a:endParaRPr lang="en-US"/>
        </a:p>
      </dgm:t>
    </dgm:pt>
    <dgm:pt modelId="{606B6CC8-1BA8-4AF8-BC05-1803A140B038}">
      <dgm:prSet phldrT="[Text]" phldr="0"/>
      <dgm:spPr/>
      <dgm:t>
        <a:bodyPr/>
        <a:lstStyle/>
        <a:p>
          <a:pPr>
            <a:defRPr b="1"/>
          </a:pPr>
          <a:r>
            <a:rPr lang="en-US" b="0">
              <a:latin typeface="Calibri"/>
            </a:rPr>
            <a:t>1990</a:t>
          </a:r>
          <a:endParaRPr lang="en-US" b="0"/>
        </a:p>
      </dgm:t>
    </dgm:pt>
    <dgm:pt modelId="{D11B3380-A492-40FD-B451-0D65B0E805AD}" type="parTrans" cxnId="{33DBC816-1AA9-41C1-9457-34E13DE9EDEE}">
      <dgm:prSet/>
      <dgm:spPr/>
      <dgm:t>
        <a:bodyPr/>
        <a:lstStyle/>
        <a:p>
          <a:endParaRPr lang="en-US"/>
        </a:p>
      </dgm:t>
    </dgm:pt>
    <dgm:pt modelId="{CF20D017-E701-48E9-B074-0354AD12DC9B}" type="sibTrans" cxnId="{33DBC816-1AA9-41C1-9457-34E13DE9EDEE}">
      <dgm:prSet/>
      <dgm:spPr/>
      <dgm:t>
        <a:bodyPr/>
        <a:lstStyle/>
        <a:p>
          <a:endParaRPr lang="en-US"/>
        </a:p>
      </dgm:t>
    </dgm:pt>
    <dgm:pt modelId="{6EF9EE07-2948-4A29-8418-EF78434F8D36}">
      <dgm:prSet phldrT="[Text]" phldr="0"/>
      <dgm:spPr/>
      <dgm:t>
        <a:bodyPr/>
        <a:lstStyle/>
        <a:p>
          <a:r>
            <a:rPr lang="en-US" b="1">
              <a:latin typeface="Calibri"/>
            </a:rPr>
            <a:t>HTML</a:t>
          </a:r>
          <a:r>
            <a:rPr lang="en-US" b="0">
              <a:latin typeface="Calibri"/>
            </a:rPr>
            <a:t> 1.0 introduced (by Tim Berners Lee at CERN)</a:t>
          </a:r>
        </a:p>
      </dgm:t>
    </dgm:pt>
    <dgm:pt modelId="{4B62D283-F9B7-4D5A-B129-C4930C0EAE2B}" type="parTrans" cxnId="{89576D8C-8669-4C9F-BB47-CAA65F0F941C}">
      <dgm:prSet/>
      <dgm:spPr/>
      <dgm:t>
        <a:bodyPr/>
        <a:lstStyle/>
        <a:p>
          <a:endParaRPr lang="en-US"/>
        </a:p>
      </dgm:t>
    </dgm:pt>
    <dgm:pt modelId="{7F522E63-2D6B-4416-868A-811962D88ADF}" type="sibTrans" cxnId="{89576D8C-8669-4C9F-BB47-CAA65F0F941C}">
      <dgm:prSet/>
      <dgm:spPr/>
      <dgm:t>
        <a:bodyPr/>
        <a:lstStyle/>
        <a:p>
          <a:endParaRPr lang="en-US"/>
        </a:p>
      </dgm:t>
    </dgm:pt>
    <dgm:pt modelId="{791D68CD-87DC-4941-B3FE-AE96696B3405}">
      <dgm:prSet phldrT="[Text]" phldr="0"/>
      <dgm:spPr/>
      <dgm:t>
        <a:bodyPr/>
        <a:lstStyle/>
        <a:p>
          <a:r>
            <a:rPr lang="en-US" b="0">
              <a:latin typeface="Calibri"/>
            </a:rPr>
            <a:t>XHTML introduced (HTML4 + XML)</a:t>
          </a:r>
          <a:endParaRPr lang="en-US" b="0"/>
        </a:p>
      </dgm:t>
    </dgm:pt>
    <dgm:pt modelId="{7A2D6370-36D7-42E4-9BA4-65F6BBAE9DAE}" type="parTrans" cxnId="{67A4C834-23C1-4A23-A38C-BC9ED45E16AF}">
      <dgm:prSet/>
      <dgm:spPr/>
      <dgm:t>
        <a:bodyPr/>
        <a:lstStyle/>
        <a:p>
          <a:endParaRPr lang="en-US"/>
        </a:p>
      </dgm:t>
    </dgm:pt>
    <dgm:pt modelId="{5D35579B-7191-4FBF-87AF-1FE944CF1BE5}" type="sibTrans" cxnId="{67A4C834-23C1-4A23-A38C-BC9ED45E16AF}">
      <dgm:prSet/>
      <dgm:spPr/>
      <dgm:t>
        <a:bodyPr/>
        <a:lstStyle/>
        <a:p>
          <a:endParaRPr lang="en-US"/>
        </a:p>
      </dgm:t>
    </dgm:pt>
    <dgm:pt modelId="{03B02F52-D4FD-4CA2-96F6-8237D98F08B3}">
      <dgm:prSet phldr="0"/>
      <dgm:spPr/>
      <dgm:t>
        <a:bodyPr/>
        <a:lstStyle/>
        <a:p>
          <a:r>
            <a:rPr lang="en-US" b="1">
              <a:latin typeface="Calibri"/>
            </a:rPr>
            <a:t>CSS1</a:t>
          </a:r>
          <a:r>
            <a:rPr lang="en-US" b="0"/>
            <a:t> </a:t>
          </a:r>
          <a:r>
            <a:rPr lang="en-US" b="0">
              <a:latin typeface="Calibri"/>
            </a:rPr>
            <a:t>standardized (by the W3C)</a:t>
          </a:r>
        </a:p>
      </dgm:t>
    </dgm:pt>
    <dgm:pt modelId="{B574C03F-AA5C-475F-AC03-DE72631C420A}" type="parTrans" cxnId="{CCE03182-321B-4F6B-A506-C966008C1DA5}">
      <dgm:prSet/>
      <dgm:spPr/>
    </dgm:pt>
    <dgm:pt modelId="{9EEC2C56-7791-4015-AE6F-10E4102D65F0}" type="sibTrans" cxnId="{CCE03182-321B-4F6B-A506-C966008C1DA5}">
      <dgm:prSet/>
      <dgm:spPr/>
    </dgm:pt>
    <dgm:pt modelId="{EAD24D2C-7014-4E6E-AA61-0CFDF1DD1237}">
      <dgm:prSet phldr="0"/>
      <dgm:spPr/>
      <dgm:t>
        <a:bodyPr/>
        <a:lstStyle/>
        <a:p>
          <a:pPr>
            <a:defRPr b="1"/>
          </a:pPr>
          <a:r>
            <a:rPr lang="en-US" b="0">
              <a:latin typeface="Calibri"/>
            </a:rPr>
            <a:t>2006</a:t>
          </a:r>
        </a:p>
      </dgm:t>
    </dgm:pt>
    <dgm:pt modelId="{AF4F246A-6B61-4958-A062-B5808185CD75}" type="parTrans" cxnId="{DC4D073A-3769-4B57-A25A-10C701686614}">
      <dgm:prSet/>
      <dgm:spPr/>
    </dgm:pt>
    <dgm:pt modelId="{69E6B6D6-BD8E-4909-ABE5-D521E44F5233}" type="sibTrans" cxnId="{DC4D073A-3769-4B57-A25A-10C701686614}">
      <dgm:prSet/>
      <dgm:spPr/>
    </dgm:pt>
    <dgm:pt modelId="{B05FB634-969B-4AAB-8DAE-E90431F8F633}">
      <dgm:prSet phldr="0"/>
      <dgm:spPr/>
      <dgm:t>
        <a:bodyPr/>
        <a:lstStyle/>
        <a:p>
          <a:r>
            <a:rPr lang="en-US" b="1">
              <a:latin typeface="Calibri"/>
            </a:rPr>
            <a:t>Bootstrap </a:t>
          </a:r>
          <a:r>
            <a:rPr lang="en-US" b="0">
              <a:latin typeface="Calibri"/>
            </a:rPr>
            <a:t>launched (by Twitter engineers)</a:t>
          </a:r>
        </a:p>
      </dgm:t>
    </dgm:pt>
    <dgm:pt modelId="{2865C7EE-FF6E-4388-A60A-5A1C384D3573}" type="parTrans" cxnId="{9907C29E-EDD7-455E-A9C2-BE3638C03F31}">
      <dgm:prSet/>
      <dgm:spPr/>
    </dgm:pt>
    <dgm:pt modelId="{7C9F79D9-78FA-40C5-A329-7FB623F225CA}" type="sibTrans" cxnId="{9907C29E-EDD7-455E-A9C2-BE3638C03F31}">
      <dgm:prSet/>
      <dgm:spPr/>
    </dgm:pt>
    <dgm:pt modelId="{B309F62B-254A-4379-A94D-E2192BE19A34}">
      <dgm:prSet phldr="0"/>
      <dgm:spPr/>
      <dgm:t>
        <a:bodyPr/>
        <a:lstStyle/>
        <a:p>
          <a:pPr>
            <a:defRPr b="1"/>
          </a:pPr>
          <a:r>
            <a:rPr lang="en-US" b="0">
              <a:latin typeface="Calibri"/>
            </a:rPr>
            <a:t>1996</a:t>
          </a:r>
          <a:endParaRPr lang="en-US" b="0"/>
        </a:p>
      </dgm:t>
    </dgm:pt>
    <dgm:pt modelId="{68D781FF-AF12-4577-86FD-C697CEB96AB4}" type="parTrans" cxnId="{C0A38B33-AD9A-40A1-B2F6-1516A6A87085}">
      <dgm:prSet/>
      <dgm:spPr/>
    </dgm:pt>
    <dgm:pt modelId="{2C9FAD55-ACB3-4427-9F93-1678115DFC54}" type="sibTrans" cxnId="{C0A38B33-AD9A-40A1-B2F6-1516A6A87085}">
      <dgm:prSet/>
      <dgm:spPr/>
    </dgm:pt>
    <dgm:pt modelId="{A9BA0C11-C4FA-452E-BB17-E1DF0E0B6358}">
      <dgm:prSet phldr="0"/>
      <dgm:spPr/>
      <dgm:t>
        <a:bodyPr/>
        <a:lstStyle/>
        <a:p>
          <a:pPr>
            <a:defRPr b="1"/>
          </a:pPr>
          <a:r>
            <a:rPr lang="en-US" b="0">
              <a:latin typeface="Calibri"/>
            </a:rPr>
            <a:t>2000</a:t>
          </a:r>
          <a:endParaRPr lang="en-US" b="0"/>
        </a:p>
      </dgm:t>
    </dgm:pt>
    <dgm:pt modelId="{F4ED77B9-0A3C-4AB3-A0FD-FFD757540EEE}" type="parTrans" cxnId="{2A80E068-C238-4DB1-BEAF-85523842E0A3}">
      <dgm:prSet/>
      <dgm:spPr/>
    </dgm:pt>
    <dgm:pt modelId="{CF4D431F-CF11-431D-9506-0E5BCB8FF3D1}" type="sibTrans" cxnId="{2A80E068-C238-4DB1-BEAF-85523842E0A3}">
      <dgm:prSet/>
      <dgm:spPr/>
    </dgm:pt>
    <dgm:pt modelId="{172A8418-0DFE-4D8F-B272-C345B7E2BEAA}">
      <dgm:prSet phldr="0"/>
      <dgm:spPr/>
      <dgm:t>
        <a:bodyPr/>
        <a:lstStyle/>
        <a:p>
          <a:pPr>
            <a:defRPr b="1"/>
          </a:pPr>
          <a:r>
            <a:rPr lang="en-US" b="0">
              <a:latin typeface="Calibri"/>
            </a:rPr>
            <a:t>2011</a:t>
          </a:r>
        </a:p>
      </dgm:t>
    </dgm:pt>
    <dgm:pt modelId="{6666CDE5-94F8-4AB5-944B-2ACA10B4F61A}" type="parTrans" cxnId="{3CCE4885-1676-4C6A-A0FE-97318FF6C6BA}">
      <dgm:prSet/>
      <dgm:spPr/>
    </dgm:pt>
    <dgm:pt modelId="{EDB95EF3-10AD-4FDE-91E1-D4BC2CB0F7AD}" type="sibTrans" cxnId="{3CCE4885-1676-4C6A-A0FE-97318FF6C6BA}">
      <dgm:prSet/>
      <dgm:spPr/>
    </dgm:pt>
    <dgm:pt modelId="{2E92F208-3E02-46C3-B541-11BD8EFBF865}">
      <dgm:prSet phldr="0"/>
      <dgm:spPr/>
      <dgm:t>
        <a:bodyPr/>
        <a:lstStyle/>
        <a:p>
          <a:pPr>
            <a:defRPr b="1"/>
          </a:pPr>
          <a:r>
            <a:rPr lang="en-US" b="0">
              <a:latin typeface="Calibri"/>
            </a:rPr>
            <a:t>2014</a:t>
          </a:r>
        </a:p>
      </dgm:t>
    </dgm:pt>
    <dgm:pt modelId="{0D31F9CF-5D12-4F34-9567-FECBB42A8320}" type="parTrans" cxnId="{E794F8A6-4B31-4D0B-9F69-F152167B8C33}">
      <dgm:prSet/>
      <dgm:spPr/>
    </dgm:pt>
    <dgm:pt modelId="{E8C5D4B4-174D-4B4F-A3C6-8BA87D48171F}" type="sibTrans" cxnId="{E794F8A6-4B31-4D0B-9F69-F152167B8C33}">
      <dgm:prSet/>
      <dgm:spPr/>
    </dgm:pt>
    <dgm:pt modelId="{D7FA22EA-D498-46E7-B568-4D67138BF349}">
      <dgm:prSet phldr="0"/>
      <dgm:spPr/>
      <dgm:t>
        <a:bodyPr/>
        <a:lstStyle/>
        <a:p>
          <a:pPr>
            <a:defRPr b="1"/>
          </a:pPr>
          <a:r>
            <a:rPr lang="en-US" b="0">
              <a:latin typeface="Calibri"/>
            </a:rPr>
            <a:t>2015</a:t>
          </a:r>
        </a:p>
      </dgm:t>
    </dgm:pt>
    <dgm:pt modelId="{470065C3-DA8B-43B5-BBA5-1A6867BE3564}" type="parTrans" cxnId="{79A75DFB-EC98-4016-99B7-C57DBCA4C5DD}">
      <dgm:prSet/>
      <dgm:spPr/>
    </dgm:pt>
    <dgm:pt modelId="{24F4E0F7-A876-4E0E-B720-8DB030D2E679}" type="sibTrans" cxnId="{79A75DFB-EC98-4016-99B7-C57DBCA4C5DD}">
      <dgm:prSet/>
      <dgm:spPr/>
    </dgm:pt>
    <dgm:pt modelId="{3E7BAE9A-7BAB-4C7E-B040-ED3B748B652B}">
      <dgm:prSet phldr="0"/>
      <dgm:spPr/>
      <dgm:t>
        <a:bodyPr/>
        <a:lstStyle/>
        <a:p>
          <a:r>
            <a:rPr lang="en-US" b="1">
              <a:latin typeface="Calibri"/>
            </a:rPr>
            <a:t>CSS3</a:t>
          </a:r>
          <a:r>
            <a:rPr lang="en-US" b="0">
              <a:latin typeface="Calibri"/>
            </a:rPr>
            <a:t> (modular CSS)</a:t>
          </a:r>
        </a:p>
      </dgm:t>
    </dgm:pt>
    <dgm:pt modelId="{AFF77147-CCFE-4B78-ADF8-8BB55609D51D}" type="parTrans" cxnId="{37E34DAB-2DBB-48E0-ADF7-A4F576F9470C}">
      <dgm:prSet/>
      <dgm:spPr/>
    </dgm:pt>
    <dgm:pt modelId="{21E45C4A-6C14-4C1D-A6D0-6FA1CC744538}" type="sibTrans" cxnId="{37E34DAB-2DBB-48E0-ADF7-A4F576F9470C}">
      <dgm:prSet/>
      <dgm:spPr/>
    </dgm:pt>
    <dgm:pt modelId="{AE0B0972-2325-454E-9BF8-CBA3AB14B327}">
      <dgm:prSet phldr="0"/>
      <dgm:spPr/>
      <dgm:t>
        <a:bodyPr/>
        <a:lstStyle/>
        <a:p>
          <a:r>
            <a:rPr lang="en-US" b="1">
              <a:latin typeface="Calibri"/>
            </a:rPr>
            <a:t>HTML5</a:t>
          </a:r>
          <a:r>
            <a:rPr lang="en-US" b="0">
              <a:latin typeface="Calibri"/>
            </a:rPr>
            <a:t> (enhanced semantics, multimedia support, APIs for web apps)</a:t>
          </a:r>
        </a:p>
      </dgm:t>
    </dgm:pt>
    <dgm:pt modelId="{3FBA000E-F807-4B15-A18F-2EF2596B17DA}" type="parTrans" cxnId="{AA04814B-DB92-4887-B88D-17362D4D5C79}">
      <dgm:prSet/>
      <dgm:spPr/>
    </dgm:pt>
    <dgm:pt modelId="{99B4C5A8-7385-4866-AB42-904F6BF39ED4}" type="sibTrans" cxnId="{AA04814B-DB92-4887-B88D-17362D4D5C79}">
      <dgm:prSet/>
      <dgm:spPr/>
    </dgm:pt>
    <dgm:pt modelId="{D02C1DB5-6D1D-4239-845B-1EDFE42C5B41}">
      <dgm:prSet phldr="0"/>
      <dgm:spPr/>
      <dgm:t>
        <a:bodyPr/>
        <a:lstStyle/>
        <a:p>
          <a:r>
            <a:rPr lang="en-US" b="0">
              <a:latin typeface="Calibri"/>
            </a:rPr>
            <a:t>Bootstrap 4 </a:t>
          </a:r>
        </a:p>
      </dgm:t>
    </dgm:pt>
    <dgm:pt modelId="{E279A2A3-F43E-4447-A87B-8B472F1EC7EE}" type="parTrans" cxnId="{02EDB3CD-174A-4E29-AE6E-65F50FDEFA90}">
      <dgm:prSet/>
      <dgm:spPr/>
    </dgm:pt>
    <dgm:pt modelId="{5219CD66-A46B-42FC-833A-F4117E6760CD}" type="sibTrans" cxnId="{02EDB3CD-174A-4E29-AE6E-65F50FDEFA90}">
      <dgm:prSet/>
      <dgm:spPr/>
    </dgm:pt>
    <dgm:pt modelId="{BEEEDCFF-EC73-44A1-8CC3-DBB3F03C9E07}" type="pres">
      <dgm:prSet presAssocID="{53DE5B61-6C32-4D60-A1DE-13E6FF72D5C4}" presName="root" presStyleCnt="0">
        <dgm:presLayoutVars>
          <dgm:chMax/>
          <dgm:chPref/>
          <dgm:animLvl val="lvl"/>
        </dgm:presLayoutVars>
      </dgm:prSet>
      <dgm:spPr/>
    </dgm:pt>
    <dgm:pt modelId="{C1BD3C44-66AC-4E2C-9952-D76C66E074EC}" type="pres">
      <dgm:prSet presAssocID="{53DE5B61-6C32-4D60-A1DE-13E6FF72D5C4}" presName="divider" presStyleLbl="fgAcc1" presStyleIdx="0" presStyleCnt="8"/>
      <dgm:spPr>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tailEnd type="triangle" w="lg" len="lg"/>
        </a:ln>
        <a:effectLst/>
      </dgm:spPr>
    </dgm:pt>
    <dgm:pt modelId="{0B2E0682-9915-4AB5-8C7C-20FE8992DC65}" type="pres">
      <dgm:prSet presAssocID="{53DE5B61-6C32-4D60-A1DE-13E6FF72D5C4}" presName="nodes" presStyleCnt="0">
        <dgm:presLayoutVars>
          <dgm:chMax/>
          <dgm:chPref/>
          <dgm:animLvl val="lvl"/>
        </dgm:presLayoutVars>
      </dgm:prSet>
      <dgm:spPr/>
    </dgm:pt>
    <dgm:pt modelId="{D652283A-4764-46B1-8AB3-5AFF581BC65F}" type="pres">
      <dgm:prSet presAssocID="{606B6CC8-1BA8-4AF8-BC05-1803A140B038}" presName="composite" presStyleCnt="0"/>
      <dgm:spPr/>
    </dgm:pt>
    <dgm:pt modelId="{EFFC5F7F-5D35-4970-9396-E84621BE828A}" type="pres">
      <dgm:prSet presAssocID="{606B6CC8-1BA8-4AF8-BC05-1803A140B038}" presName="ConnectorPoint" presStyleLbl="lnNode1" presStyleIdx="0"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970E0685-DD33-4DF4-9A91-F635618EFFD6}" type="pres">
      <dgm:prSet presAssocID="{606B6CC8-1BA8-4AF8-BC05-1803A140B038}" presName="DropPinPlaceHolder" presStyleCnt="0"/>
      <dgm:spPr/>
    </dgm:pt>
    <dgm:pt modelId="{DDF31380-EEC4-4B88-A092-8A2F72397FC4}" type="pres">
      <dgm:prSet presAssocID="{606B6CC8-1BA8-4AF8-BC05-1803A140B038}" presName="DropPin" presStyleLbl="alignNode1" presStyleIdx="0" presStyleCnt="7"/>
      <dgm:spPr/>
    </dgm:pt>
    <dgm:pt modelId="{74173EE4-78D9-43F7-90B3-D5148AE69995}" type="pres">
      <dgm:prSet presAssocID="{606B6CC8-1BA8-4AF8-BC05-1803A140B038}" presName="Ellipse" presStyleLbl="fgAcc1" presStyleIdx="1" presStyleCnt="8"/>
      <dgm:spPr>
        <a:solidFill>
          <a:schemeClr val="lt1">
            <a:alpha val="90000"/>
            <a:hueOff val="0"/>
            <a:satOff val="0"/>
            <a:lumOff val="0"/>
            <a:alphaOff val="0"/>
          </a:schemeClr>
        </a:solidFill>
        <a:ln w="25400" cap="flat" cmpd="sng" algn="ctr">
          <a:noFill/>
          <a:prstDash val="solid"/>
        </a:ln>
        <a:effectLst/>
      </dgm:spPr>
    </dgm:pt>
    <dgm:pt modelId="{674A923A-3128-4723-9C91-FBAF5B620BBE}" type="pres">
      <dgm:prSet presAssocID="{606B6CC8-1BA8-4AF8-BC05-1803A140B038}" presName="L2TextContainer" presStyleLbl="revTx" presStyleIdx="0" presStyleCnt="14">
        <dgm:presLayoutVars>
          <dgm:bulletEnabled val="1"/>
        </dgm:presLayoutVars>
      </dgm:prSet>
      <dgm:spPr/>
    </dgm:pt>
    <dgm:pt modelId="{217B371E-3674-4A89-AC8B-3536E6BE5601}" type="pres">
      <dgm:prSet presAssocID="{606B6CC8-1BA8-4AF8-BC05-1803A140B038}" presName="L1TextContainer" presStyleLbl="revTx" presStyleIdx="1" presStyleCnt="14">
        <dgm:presLayoutVars>
          <dgm:chMax val="1"/>
          <dgm:chPref val="1"/>
          <dgm:bulletEnabled val="1"/>
        </dgm:presLayoutVars>
      </dgm:prSet>
      <dgm:spPr/>
    </dgm:pt>
    <dgm:pt modelId="{B6156DF3-E73E-4DA1-8B0D-6AE2ADBFA32F}" type="pres">
      <dgm:prSet presAssocID="{606B6CC8-1BA8-4AF8-BC05-1803A140B038}" presName="ConnectLine" presStyleLbl="sibTrans1D1" presStyleIdx="0" presStyleCnt="7"/>
      <dgm:spPr>
        <a:noFill/>
        <a:ln w="12700" cap="flat" cmpd="sng" algn="ctr">
          <a:solidFill>
            <a:schemeClr val="accent1">
              <a:hueOff val="0"/>
              <a:satOff val="0"/>
              <a:lumOff val="0"/>
              <a:alphaOff val="0"/>
            </a:schemeClr>
          </a:solidFill>
          <a:prstDash val="dash"/>
        </a:ln>
        <a:effectLst/>
      </dgm:spPr>
    </dgm:pt>
    <dgm:pt modelId="{56C5BF33-B0AA-4D9F-A50D-B4B3D19B7B51}" type="pres">
      <dgm:prSet presAssocID="{606B6CC8-1BA8-4AF8-BC05-1803A140B038}" presName="EmptyPlaceHolder" presStyleCnt="0"/>
      <dgm:spPr/>
    </dgm:pt>
    <dgm:pt modelId="{ED404FA5-0CBC-436A-8E1B-526D1430A8B3}" type="pres">
      <dgm:prSet presAssocID="{CF20D017-E701-48E9-B074-0354AD12DC9B}" presName="spaceBetweenRectangles" presStyleCnt="0"/>
      <dgm:spPr/>
    </dgm:pt>
    <dgm:pt modelId="{17C233F1-C1D2-49E9-8D7D-FE1A14ED6EFC}" type="pres">
      <dgm:prSet presAssocID="{B309F62B-254A-4379-A94D-E2192BE19A34}" presName="composite" presStyleCnt="0"/>
      <dgm:spPr/>
    </dgm:pt>
    <dgm:pt modelId="{10B107AE-FFAF-45B6-98D5-4E8B92A9A5CA}" type="pres">
      <dgm:prSet presAssocID="{B309F62B-254A-4379-A94D-E2192BE19A34}" presName="ConnectorPoint" presStyleLbl="lnNode1" presStyleIdx="1"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87CFCBBA-F85E-4E55-B08E-D9637720BA9E}" type="pres">
      <dgm:prSet presAssocID="{B309F62B-254A-4379-A94D-E2192BE19A34}" presName="DropPinPlaceHolder" presStyleCnt="0"/>
      <dgm:spPr/>
    </dgm:pt>
    <dgm:pt modelId="{BC361D7D-DA01-49CF-B3C1-61DA74CDC7E8}" type="pres">
      <dgm:prSet presAssocID="{B309F62B-254A-4379-A94D-E2192BE19A34}" presName="DropPin" presStyleLbl="alignNode1" presStyleIdx="1" presStyleCnt="7"/>
      <dgm:spPr/>
    </dgm:pt>
    <dgm:pt modelId="{ECEF1859-1272-4302-ACC4-15F845194AF1}" type="pres">
      <dgm:prSet presAssocID="{B309F62B-254A-4379-A94D-E2192BE19A34}" presName="Ellipse" presStyleLbl="fgAcc1" presStyleIdx="2" presStyleCnt="8"/>
      <dgm:spPr>
        <a:solidFill>
          <a:schemeClr val="lt1">
            <a:alpha val="90000"/>
            <a:hueOff val="0"/>
            <a:satOff val="0"/>
            <a:lumOff val="0"/>
            <a:alphaOff val="0"/>
          </a:schemeClr>
        </a:solidFill>
        <a:ln w="25400" cap="flat" cmpd="sng" algn="ctr">
          <a:noFill/>
          <a:prstDash val="solid"/>
        </a:ln>
        <a:effectLst/>
      </dgm:spPr>
    </dgm:pt>
    <dgm:pt modelId="{596DEC0A-7618-428D-85D5-E6EE883E1005}" type="pres">
      <dgm:prSet presAssocID="{B309F62B-254A-4379-A94D-E2192BE19A34}" presName="L2TextContainer" presStyleLbl="revTx" presStyleIdx="2" presStyleCnt="14">
        <dgm:presLayoutVars>
          <dgm:bulletEnabled val="1"/>
        </dgm:presLayoutVars>
      </dgm:prSet>
      <dgm:spPr/>
    </dgm:pt>
    <dgm:pt modelId="{E1BA744D-EE46-4A13-82D2-8263705BC018}" type="pres">
      <dgm:prSet presAssocID="{B309F62B-254A-4379-A94D-E2192BE19A34}" presName="L1TextContainer" presStyleLbl="revTx" presStyleIdx="3" presStyleCnt="14">
        <dgm:presLayoutVars>
          <dgm:chMax val="1"/>
          <dgm:chPref val="1"/>
          <dgm:bulletEnabled val="1"/>
        </dgm:presLayoutVars>
      </dgm:prSet>
      <dgm:spPr/>
    </dgm:pt>
    <dgm:pt modelId="{10CADCD6-2CE4-441B-9B18-36A5A39283C4}" type="pres">
      <dgm:prSet presAssocID="{B309F62B-254A-4379-A94D-E2192BE19A34}" presName="ConnectLine" presStyleLbl="sibTrans1D1" presStyleIdx="1" presStyleCnt="7"/>
      <dgm:spPr>
        <a:noFill/>
        <a:ln w="12700" cap="flat" cmpd="sng" algn="ctr">
          <a:solidFill>
            <a:schemeClr val="accent1">
              <a:hueOff val="0"/>
              <a:satOff val="0"/>
              <a:lumOff val="0"/>
              <a:alphaOff val="0"/>
            </a:schemeClr>
          </a:solidFill>
          <a:prstDash val="dash"/>
        </a:ln>
        <a:effectLst/>
      </dgm:spPr>
    </dgm:pt>
    <dgm:pt modelId="{62AF8E6B-4D00-4F61-B7F1-0509C099E4B3}" type="pres">
      <dgm:prSet presAssocID="{B309F62B-254A-4379-A94D-E2192BE19A34}" presName="EmptyPlaceHolder" presStyleCnt="0"/>
      <dgm:spPr/>
    </dgm:pt>
    <dgm:pt modelId="{42945A4A-F3C1-4353-905E-2DA9A9D10503}" type="pres">
      <dgm:prSet presAssocID="{2C9FAD55-ACB3-4427-9F93-1678115DFC54}" presName="spaceBetweenRectangles" presStyleCnt="0"/>
      <dgm:spPr/>
    </dgm:pt>
    <dgm:pt modelId="{11746CD5-86A2-4EA5-ABC4-96F9445A3F9F}" type="pres">
      <dgm:prSet presAssocID="{A9BA0C11-C4FA-452E-BB17-E1DF0E0B6358}" presName="composite" presStyleCnt="0"/>
      <dgm:spPr/>
    </dgm:pt>
    <dgm:pt modelId="{54F5BA1A-CE17-40BB-9780-122A9FCE1AE4}" type="pres">
      <dgm:prSet presAssocID="{A9BA0C11-C4FA-452E-BB17-E1DF0E0B6358}" presName="ConnectorPoint" presStyleLbl="lnNode1" presStyleIdx="2"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FF082775-EC19-4DDD-B81C-5460F2802C8B}" type="pres">
      <dgm:prSet presAssocID="{A9BA0C11-C4FA-452E-BB17-E1DF0E0B6358}" presName="DropPinPlaceHolder" presStyleCnt="0"/>
      <dgm:spPr/>
    </dgm:pt>
    <dgm:pt modelId="{70765400-2C55-4355-9821-F98C4D4AF29A}" type="pres">
      <dgm:prSet presAssocID="{A9BA0C11-C4FA-452E-BB17-E1DF0E0B6358}" presName="DropPin" presStyleLbl="alignNode1" presStyleIdx="2" presStyleCnt="7"/>
      <dgm:spPr/>
    </dgm:pt>
    <dgm:pt modelId="{D8B3923F-E197-42B7-AE09-B2B37976154C}" type="pres">
      <dgm:prSet presAssocID="{A9BA0C11-C4FA-452E-BB17-E1DF0E0B6358}" presName="Ellipse" presStyleLbl="fgAcc1" presStyleIdx="3" presStyleCnt="8"/>
      <dgm:spPr>
        <a:solidFill>
          <a:schemeClr val="lt1">
            <a:alpha val="90000"/>
            <a:hueOff val="0"/>
            <a:satOff val="0"/>
            <a:lumOff val="0"/>
            <a:alphaOff val="0"/>
          </a:schemeClr>
        </a:solidFill>
        <a:ln w="25400" cap="flat" cmpd="sng" algn="ctr">
          <a:noFill/>
          <a:prstDash val="solid"/>
        </a:ln>
        <a:effectLst/>
      </dgm:spPr>
    </dgm:pt>
    <dgm:pt modelId="{1CE4CB96-521B-468F-8F7F-FD37E6424881}" type="pres">
      <dgm:prSet presAssocID="{A9BA0C11-C4FA-452E-BB17-E1DF0E0B6358}" presName="L2TextContainer" presStyleLbl="revTx" presStyleIdx="4" presStyleCnt="14">
        <dgm:presLayoutVars>
          <dgm:bulletEnabled val="1"/>
        </dgm:presLayoutVars>
      </dgm:prSet>
      <dgm:spPr/>
    </dgm:pt>
    <dgm:pt modelId="{03AB9A77-3345-4109-81A9-7AB197AD5A8F}" type="pres">
      <dgm:prSet presAssocID="{A9BA0C11-C4FA-452E-BB17-E1DF0E0B6358}" presName="L1TextContainer" presStyleLbl="revTx" presStyleIdx="5" presStyleCnt="14">
        <dgm:presLayoutVars>
          <dgm:chMax val="1"/>
          <dgm:chPref val="1"/>
          <dgm:bulletEnabled val="1"/>
        </dgm:presLayoutVars>
      </dgm:prSet>
      <dgm:spPr/>
    </dgm:pt>
    <dgm:pt modelId="{00C41245-89C0-4618-B528-68538B9FEC19}" type="pres">
      <dgm:prSet presAssocID="{A9BA0C11-C4FA-452E-BB17-E1DF0E0B6358}" presName="ConnectLine" presStyleLbl="sibTrans1D1" presStyleIdx="2" presStyleCnt="7"/>
      <dgm:spPr>
        <a:noFill/>
        <a:ln w="12700" cap="flat" cmpd="sng" algn="ctr">
          <a:solidFill>
            <a:schemeClr val="accent1">
              <a:hueOff val="0"/>
              <a:satOff val="0"/>
              <a:lumOff val="0"/>
              <a:alphaOff val="0"/>
            </a:schemeClr>
          </a:solidFill>
          <a:prstDash val="dash"/>
        </a:ln>
        <a:effectLst/>
      </dgm:spPr>
    </dgm:pt>
    <dgm:pt modelId="{48598379-6B1E-4856-94DE-461CD841B68F}" type="pres">
      <dgm:prSet presAssocID="{A9BA0C11-C4FA-452E-BB17-E1DF0E0B6358}" presName="EmptyPlaceHolder" presStyleCnt="0"/>
      <dgm:spPr/>
    </dgm:pt>
    <dgm:pt modelId="{69926398-2172-4457-BE4E-C97AB3717392}" type="pres">
      <dgm:prSet presAssocID="{CF4D431F-CF11-431D-9506-0E5BCB8FF3D1}" presName="spaceBetweenRectangles" presStyleCnt="0"/>
      <dgm:spPr/>
    </dgm:pt>
    <dgm:pt modelId="{05C61CB3-A31C-4AA1-8B84-5AB7517A2F91}" type="pres">
      <dgm:prSet presAssocID="{EAD24D2C-7014-4E6E-AA61-0CFDF1DD1237}" presName="composite" presStyleCnt="0"/>
      <dgm:spPr/>
    </dgm:pt>
    <dgm:pt modelId="{8C4F9D24-8F34-4B0C-86E8-C80A5777F27A}" type="pres">
      <dgm:prSet presAssocID="{EAD24D2C-7014-4E6E-AA61-0CFDF1DD1237}" presName="ConnectorPoint" presStyleLbl="lnNode1" presStyleIdx="3"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C7A1D8EA-0F47-49D5-B4A1-466B8791D153}" type="pres">
      <dgm:prSet presAssocID="{EAD24D2C-7014-4E6E-AA61-0CFDF1DD1237}" presName="DropPinPlaceHolder" presStyleCnt="0"/>
      <dgm:spPr/>
    </dgm:pt>
    <dgm:pt modelId="{697C9D50-FCA7-4205-AD3A-E962C7A57F18}" type="pres">
      <dgm:prSet presAssocID="{EAD24D2C-7014-4E6E-AA61-0CFDF1DD1237}" presName="DropPin" presStyleLbl="alignNode1" presStyleIdx="3" presStyleCnt="7"/>
      <dgm:spPr/>
    </dgm:pt>
    <dgm:pt modelId="{459005DE-101A-4021-A928-5E98501F5558}" type="pres">
      <dgm:prSet presAssocID="{EAD24D2C-7014-4E6E-AA61-0CFDF1DD1237}" presName="Ellipse" presStyleLbl="fgAcc1" presStyleIdx="4" presStyleCnt="8"/>
      <dgm:spPr>
        <a:solidFill>
          <a:schemeClr val="lt1">
            <a:alpha val="90000"/>
            <a:hueOff val="0"/>
            <a:satOff val="0"/>
            <a:lumOff val="0"/>
            <a:alphaOff val="0"/>
          </a:schemeClr>
        </a:solidFill>
        <a:ln w="25400" cap="flat" cmpd="sng" algn="ctr">
          <a:noFill/>
          <a:prstDash val="solid"/>
        </a:ln>
        <a:effectLst/>
      </dgm:spPr>
    </dgm:pt>
    <dgm:pt modelId="{8833CA20-0278-4A6F-94E2-3686D3D92A1D}" type="pres">
      <dgm:prSet presAssocID="{EAD24D2C-7014-4E6E-AA61-0CFDF1DD1237}" presName="L2TextContainer" presStyleLbl="revTx" presStyleIdx="6" presStyleCnt="14">
        <dgm:presLayoutVars>
          <dgm:bulletEnabled val="1"/>
        </dgm:presLayoutVars>
      </dgm:prSet>
      <dgm:spPr/>
    </dgm:pt>
    <dgm:pt modelId="{ABF00E73-6F5E-48E8-B166-E04F07B6EC3E}" type="pres">
      <dgm:prSet presAssocID="{EAD24D2C-7014-4E6E-AA61-0CFDF1DD1237}" presName="L1TextContainer" presStyleLbl="revTx" presStyleIdx="7" presStyleCnt="14">
        <dgm:presLayoutVars>
          <dgm:chMax val="1"/>
          <dgm:chPref val="1"/>
          <dgm:bulletEnabled val="1"/>
        </dgm:presLayoutVars>
      </dgm:prSet>
      <dgm:spPr/>
    </dgm:pt>
    <dgm:pt modelId="{D94F561C-8134-4476-8540-BA8CBB9113C2}" type="pres">
      <dgm:prSet presAssocID="{EAD24D2C-7014-4E6E-AA61-0CFDF1DD1237}" presName="ConnectLine" presStyleLbl="sibTrans1D1" presStyleIdx="3" presStyleCnt="7"/>
      <dgm:spPr>
        <a:noFill/>
        <a:ln w="12700" cap="flat" cmpd="sng" algn="ctr">
          <a:solidFill>
            <a:schemeClr val="accent1">
              <a:hueOff val="0"/>
              <a:satOff val="0"/>
              <a:lumOff val="0"/>
              <a:alphaOff val="0"/>
            </a:schemeClr>
          </a:solidFill>
          <a:prstDash val="dash"/>
        </a:ln>
        <a:effectLst/>
      </dgm:spPr>
    </dgm:pt>
    <dgm:pt modelId="{12342F1C-31C0-4E94-8927-24F24595549D}" type="pres">
      <dgm:prSet presAssocID="{EAD24D2C-7014-4E6E-AA61-0CFDF1DD1237}" presName="EmptyPlaceHolder" presStyleCnt="0"/>
      <dgm:spPr/>
    </dgm:pt>
    <dgm:pt modelId="{4C832860-A592-4929-98A8-3A7A6290DBE3}" type="pres">
      <dgm:prSet presAssocID="{69E6B6D6-BD8E-4909-ABE5-D521E44F5233}" presName="spaceBetweenRectangles" presStyleCnt="0"/>
      <dgm:spPr/>
    </dgm:pt>
    <dgm:pt modelId="{E8B8F901-7526-4A6E-8305-1057CB6F4BF5}" type="pres">
      <dgm:prSet presAssocID="{172A8418-0DFE-4D8F-B272-C345B7E2BEAA}" presName="composite" presStyleCnt="0"/>
      <dgm:spPr/>
    </dgm:pt>
    <dgm:pt modelId="{2176341E-488D-4A0F-AEE8-4978A8206969}" type="pres">
      <dgm:prSet presAssocID="{172A8418-0DFE-4D8F-B272-C345B7E2BEAA}" presName="ConnectorPoint" presStyleLbl="lnNode1" presStyleIdx="4"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4F95F62F-47E4-4392-8FDF-D9047B5966E3}" type="pres">
      <dgm:prSet presAssocID="{172A8418-0DFE-4D8F-B272-C345B7E2BEAA}" presName="DropPinPlaceHolder" presStyleCnt="0"/>
      <dgm:spPr/>
    </dgm:pt>
    <dgm:pt modelId="{151D3E4E-D778-4347-9473-613FD01E2B3E}" type="pres">
      <dgm:prSet presAssocID="{172A8418-0DFE-4D8F-B272-C345B7E2BEAA}" presName="DropPin" presStyleLbl="alignNode1" presStyleIdx="4" presStyleCnt="7"/>
      <dgm:spPr/>
    </dgm:pt>
    <dgm:pt modelId="{45BA95E5-AF01-4185-845A-FFE49FDA3FDC}" type="pres">
      <dgm:prSet presAssocID="{172A8418-0DFE-4D8F-B272-C345B7E2BEAA}" presName="Ellipse" presStyleLbl="fgAcc1" presStyleIdx="5" presStyleCnt="8"/>
      <dgm:spPr>
        <a:solidFill>
          <a:schemeClr val="lt1">
            <a:alpha val="90000"/>
            <a:hueOff val="0"/>
            <a:satOff val="0"/>
            <a:lumOff val="0"/>
            <a:alphaOff val="0"/>
          </a:schemeClr>
        </a:solidFill>
        <a:ln w="25400" cap="flat" cmpd="sng" algn="ctr">
          <a:noFill/>
          <a:prstDash val="solid"/>
        </a:ln>
        <a:effectLst/>
      </dgm:spPr>
    </dgm:pt>
    <dgm:pt modelId="{1F9DDAE3-74A0-49C3-90DE-72A2452362E9}" type="pres">
      <dgm:prSet presAssocID="{172A8418-0DFE-4D8F-B272-C345B7E2BEAA}" presName="L2TextContainer" presStyleLbl="revTx" presStyleIdx="8" presStyleCnt="14">
        <dgm:presLayoutVars>
          <dgm:bulletEnabled val="1"/>
        </dgm:presLayoutVars>
      </dgm:prSet>
      <dgm:spPr/>
    </dgm:pt>
    <dgm:pt modelId="{DF59C2AB-12A4-44C8-9A44-E270BD8CD17B}" type="pres">
      <dgm:prSet presAssocID="{172A8418-0DFE-4D8F-B272-C345B7E2BEAA}" presName="L1TextContainer" presStyleLbl="revTx" presStyleIdx="9" presStyleCnt="14">
        <dgm:presLayoutVars>
          <dgm:chMax val="1"/>
          <dgm:chPref val="1"/>
          <dgm:bulletEnabled val="1"/>
        </dgm:presLayoutVars>
      </dgm:prSet>
      <dgm:spPr/>
    </dgm:pt>
    <dgm:pt modelId="{2F08546E-B602-410C-9D3D-F26C248E82FF}" type="pres">
      <dgm:prSet presAssocID="{172A8418-0DFE-4D8F-B272-C345B7E2BEAA}" presName="ConnectLine" presStyleLbl="sibTrans1D1" presStyleIdx="4" presStyleCnt="7"/>
      <dgm:spPr>
        <a:noFill/>
        <a:ln w="12700" cap="flat" cmpd="sng" algn="ctr">
          <a:solidFill>
            <a:schemeClr val="accent1">
              <a:hueOff val="0"/>
              <a:satOff val="0"/>
              <a:lumOff val="0"/>
              <a:alphaOff val="0"/>
            </a:schemeClr>
          </a:solidFill>
          <a:prstDash val="dash"/>
        </a:ln>
        <a:effectLst/>
      </dgm:spPr>
    </dgm:pt>
    <dgm:pt modelId="{D4CBC994-568C-4840-A6A1-C1EF62752BD5}" type="pres">
      <dgm:prSet presAssocID="{172A8418-0DFE-4D8F-B272-C345B7E2BEAA}" presName="EmptyPlaceHolder" presStyleCnt="0"/>
      <dgm:spPr/>
    </dgm:pt>
    <dgm:pt modelId="{8E92AEDC-7698-40E6-9BDA-3DB65AA80809}" type="pres">
      <dgm:prSet presAssocID="{EDB95EF3-10AD-4FDE-91E1-D4BC2CB0F7AD}" presName="spaceBetweenRectangles" presStyleCnt="0"/>
      <dgm:spPr/>
    </dgm:pt>
    <dgm:pt modelId="{4CEA1FF5-78C7-4A47-8A23-AC7B7FA1EDFD}" type="pres">
      <dgm:prSet presAssocID="{2E92F208-3E02-46C3-B541-11BD8EFBF865}" presName="composite" presStyleCnt="0"/>
      <dgm:spPr/>
    </dgm:pt>
    <dgm:pt modelId="{B7F5EAAC-FD65-4D13-A17D-19B4D5A7F09F}" type="pres">
      <dgm:prSet presAssocID="{2E92F208-3E02-46C3-B541-11BD8EFBF865}" presName="ConnectorPoint" presStyleLbl="lnNode1" presStyleIdx="5"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59853972-32B7-489F-8611-54EDD26B51F3}" type="pres">
      <dgm:prSet presAssocID="{2E92F208-3E02-46C3-B541-11BD8EFBF865}" presName="DropPinPlaceHolder" presStyleCnt="0"/>
      <dgm:spPr/>
    </dgm:pt>
    <dgm:pt modelId="{B1D74563-7D39-4E48-8C8C-5060159D8965}" type="pres">
      <dgm:prSet presAssocID="{2E92F208-3E02-46C3-B541-11BD8EFBF865}" presName="DropPin" presStyleLbl="alignNode1" presStyleIdx="5" presStyleCnt="7"/>
      <dgm:spPr/>
    </dgm:pt>
    <dgm:pt modelId="{9323C1C0-76AA-428E-86DC-D10D58940009}" type="pres">
      <dgm:prSet presAssocID="{2E92F208-3E02-46C3-B541-11BD8EFBF865}" presName="Ellipse" presStyleLbl="fgAcc1" presStyleIdx="6" presStyleCnt="8"/>
      <dgm:spPr>
        <a:solidFill>
          <a:schemeClr val="lt1">
            <a:alpha val="90000"/>
            <a:hueOff val="0"/>
            <a:satOff val="0"/>
            <a:lumOff val="0"/>
            <a:alphaOff val="0"/>
          </a:schemeClr>
        </a:solidFill>
        <a:ln w="25400" cap="flat" cmpd="sng" algn="ctr">
          <a:noFill/>
          <a:prstDash val="solid"/>
        </a:ln>
        <a:effectLst/>
      </dgm:spPr>
    </dgm:pt>
    <dgm:pt modelId="{7224DB2A-16C5-43C0-874A-D1BA1FF7A1D6}" type="pres">
      <dgm:prSet presAssocID="{2E92F208-3E02-46C3-B541-11BD8EFBF865}" presName="L2TextContainer" presStyleLbl="revTx" presStyleIdx="10" presStyleCnt="14">
        <dgm:presLayoutVars>
          <dgm:bulletEnabled val="1"/>
        </dgm:presLayoutVars>
      </dgm:prSet>
      <dgm:spPr/>
    </dgm:pt>
    <dgm:pt modelId="{6D4CD0A5-F712-4D30-A43B-733571C0C4E9}" type="pres">
      <dgm:prSet presAssocID="{2E92F208-3E02-46C3-B541-11BD8EFBF865}" presName="L1TextContainer" presStyleLbl="revTx" presStyleIdx="11" presStyleCnt="14">
        <dgm:presLayoutVars>
          <dgm:chMax val="1"/>
          <dgm:chPref val="1"/>
          <dgm:bulletEnabled val="1"/>
        </dgm:presLayoutVars>
      </dgm:prSet>
      <dgm:spPr/>
    </dgm:pt>
    <dgm:pt modelId="{010C15BF-8EBA-4DFE-A6B0-5D16BA0E1816}" type="pres">
      <dgm:prSet presAssocID="{2E92F208-3E02-46C3-B541-11BD8EFBF865}" presName="ConnectLine" presStyleLbl="sibTrans1D1" presStyleIdx="5" presStyleCnt="7"/>
      <dgm:spPr>
        <a:noFill/>
        <a:ln w="12700" cap="flat" cmpd="sng" algn="ctr">
          <a:solidFill>
            <a:schemeClr val="accent1">
              <a:hueOff val="0"/>
              <a:satOff val="0"/>
              <a:lumOff val="0"/>
              <a:alphaOff val="0"/>
            </a:schemeClr>
          </a:solidFill>
          <a:prstDash val="dash"/>
        </a:ln>
        <a:effectLst/>
      </dgm:spPr>
    </dgm:pt>
    <dgm:pt modelId="{9367FF0F-B254-4B46-A842-C09977C855E9}" type="pres">
      <dgm:prSet presAssocID="{2E92F208-3E02-46C3-B541-11BD8EFBF865}" presName="EmptyPlaceHolder" presStyleCnt="0"/>
      <dgm:spPr/>
    </dgm:pt>
    <dgm:pt modelId="{1590D929-BCF4-468F-BFBD-292489C28852}" type="pres">
      <dgm:prSet presAssocID="{E8C5D4B4-174D-4B4F-A3C6-8BA87D48171F}" presName="spaceBetweenRectangles" presStyleCnt="0"/>
      <dgm:spPr/>
    </dgm:pt>
    <dgm:pt modelId="{5126C28E-BAD6-414D-A8B2-52E3376F4BE0}" type="pres">
      <dgm:prSet presAssocID="{D7FA22EA-D498-46E7-B568-4D67138BF349}" presName="composite" presStyleCnt="0"/>
      <dgm:spPr/>
    </dgm:pt>
    <dgm:pt modelId="{0E9C515F-6F5D-4403-AEE0-63C74392D48F}" type="pres">
      <dgm:prSet presAssocID="{D7FA22EA-D498-46E7-B568-4D67138BF349}" presName="ConnectorPoint" presStyleLbl="lnNode1" presStyleIdx="6"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gm:spPr>
    </dgm:pt>
    <dgm:pt modelId="{84501946-FA6F-4E12-B183-7AC097068C11}" type="pres">
      <dgm:prSet presAssocID="{D7FA22EA-D498-46E7-B568-4D67138BF349}" presName="DropPinPlaceHolder" presStyleCnt="0"/>
      <dgm:spPr/>
    </dgm:pt>
    <dgm:pt modelId="{0F43C4E1-3006-4A5F-B59A-F2B60D0FD906}" type="pres">
      <dgm:prSet presAssocID="{D7FA22EA-D498-46E7-B568-4D67138BF349}" presName="DropPin" presStyleLbl="alignNode1" presStyleIdx="6" presStyleCnt="7"/>
      <dgm:spPr/>
    </dgm:pt>
    <dgm:pt modelId="{4C96AB06-9AC7-4D9A-AC44-4B323B9AD4A2}" type="pres">
      <dgm:prSet presAssocID="{D7FA22EA-D498-46E7-B568-4D67138BF349}" presName="Ellipse" presStyleLbl="fgAcc1" presStyleIdx="7" presStyleCnt="8"/>
      <dgm:spPr>
        <a:solidFill>
          <a:schemeClr val="lt1">
            <a:alpha val="90000"/>
            <a:hueOff val="0"/>
            <a:satOff val="0"/>
            <a:lumOff val="0"/>
            <a:alphaOff val="0"/>
          </a:schemeClr>
        </a:solidFill>
        <a:ln w="25400" cap="flat" cmpd="sng" algn="ctr">
          <a:noFill/>
          <a:prstDash val="solid"/>
        </a:ln>
        <a:effectLst/>
      </dgm:spPr>
    </dgm:pt>
    <dgm:pt modelId="{9DD51C77-3D38-4533-A91A-3993CE06D8E3}" type="pres">
      <dgm:prSet presAssocID="{D7FA22EA-D498-46E7-B568-4D67138BF349}" presName="L2TextContainer" presStyleLbl="revTx" presStyleIdx="12" presStyleCnt="14">
        <dgm:presLayoutVars>
          <dgm:bulletEnabled val="1"/>
        </dgm:presLayoutVars>
      </dgm:prSet>
      <dgm:spPr/>
    </dgm:pt>
    <dgm:pt modelId="{A00E74AF-085E-40A9-B5E8-022FBE163B6E}" type="pres">
      <dgm:prSet presAssocID="{D7FA22EA-D498-46E7-B568-4D67138BF349}" presName="L1TextContainer" presStyleLbl="revTx" presStyleIdx="13" presStyleCnt="14">
        <dgm:presLayoutVars>
          <dgm:chMax val="1"/>
          <dgm:chPref val="1"/>
          <dgm:bulletEnabled val="1"/>
        </dgm:presLayoutVars>
      </dgm:prSet>
      <dgm:spPr/>
    </dgm:pt>
    <dgm:pt modelId="{02AB94D8-0756-40FF-AAF5-48815E2F8406}" type="pres">
      <dgm:prSet presAssocID="{D7FA22EA-D498-46E7-B568-4D67138BF349}" presName="ConnectLine" presStyleLbl="sibTrans1D1" presStyleIdx="6" presStyleCnt="7"/>
      <dgm:spPr>
        <a:noFill/>
        <a:ln w="12700" cap="flat" cmpd="sng" algn="ctr">
          <a:solidFill>
            <a:schemeClr val="accent1">
              <a:hueOff val="0"/>
              <a:satOff val="0"/>
              <a:lumOff val="0"/>
              <a:alphaOff val="0"/>
            </a:schemeClr>
          </a:solidFill>
          <a:prstDash val="dash"/>
        </a:ln>
        <a:effectLst/>
      </dgm:spPr>
    </dgm:pt>
    <dgm:pt modelId="{F2B5E92C-3103-42B5-803E-BECA805952CE}" type="pres">
      <dgm:prSet presAssocID="{D7FA22EA-D498-46E7-B568-4D67138BF349}" presName="EmptyPlaceHolder" presStyleCnt="0"/>
      <dgm:spPr/>
    </dgm:pt>
  </dgm:ptLst>
  <dgm:cxnLst>
    <dgm:cxn modelId="{5A16B50E-B9E1-4BB5-A3AD-DE79572BE656}" type="presOf" srcId="{53DE5B61-6C32-4D60-A1DE-13E6FF72D5C4}" destId="{BEEEDCFF-EC73-44A1-8CC3-DBB3F03C9E07}" srcOrd="0" destOrd="0" presId="urn:microsoft.com/office/officeart/2017/3/layout/DropPinTimeline"/>
    <dgm:cxn modelId="{33DBC816-1AA9-41C1-9457-34E13DE9EDEE}" srcId="{53DE5B61-6C32-4D60-A1DE-13E6FF72D5C4}" destId="{606B6CC8-1BA8-4AF8-BC05-1803A140B038}" srcOrd="0" destOrd="0" parTransId="{D11B3380-A492-40FD-B451-0D65B0E805AD}" sibTransId="{CF20D017-E701-48E9-B074-0354AD12DC9B}"/>
    <dgm:cxn modelId="{C0A38B33-AD9A-40A1-B2F6-1516A6A87085}" srcId="{53DE5B61-6C32-4D60-A1DE-13E6FF72D5C4}" destId="{B309F62B-254A-4379-A94D-E2192BE19A34}" srcOrd="1" destOrd="0" parTransId="{68D781FF-AF12-4577-86FD-C697CEB96AB4}" sibTransId="{2C9FAD55-ACB3-4427-9F93-1678115DFC54}"/>
    <dgm:cxn modelId="{67A4C834-23C1-4A23-A38C-BC9ED45E16AF}" srcId="{A9BA0C11-C4FA-452E-BB17-E1DF0E0B6358}" destId="{791D68CD-87DC-4941-B3FE-AE96696B3405}" srcOrd="0" destOrd="0" parTransId="{7A2D6370-36D7-42E4-9BA4-65F6BBAE9DAE}" sibTransId="{5D35579B-7191-4FBF-87AF-1FE944CF1BE5}"/>
    <dgm:cxn modelId="{DC4D073A-3769-4B57-A25A-10C701686614}" srcId="{53DE5B61-6C32-4D60-A1DE-13E6FF72D5C4}" destId="{EAD24D2C-7014-4E6E-AA61-0CFDF1DD1237}" srcOrd="3" destOrd="0" parTransId="{AF4F246A-6B61-4958-A062-B5808185CD75}" sibTransId="{69E6B6D6-BD8E-4909-ABE5-D521E44F5233}"/>
    <dgm:cxn modelId="{D0611A3B-B1F4-43D1-84E7-29A7B9271801}" type="presOf" srcId="{03B02F52-D4FD-4CA2-96F6-8237D98F08B3}" destId="{596DEC0A-7618-428D-85D5-E6EE883E1005}" srcOrd="0" destOrd="0" presId="urn:microsoft.com/office/officeart/2017/3/layout/DropPinTimeline"/>
    <dgm:cxn modelId="{F0B4B73C-E0C7-4C74-987F-A53C7CB90617}" type="presOf" srcId="{3E7BAE9A-7BAB-4C7E-B040-ED3B748B652B}" destId="{1F9DDAE3-74A0-49C3-90DE-72A2452362E9}" srcOrd="0" destOrd="0" presId="urn:microsoft.com/office/officeart/2017/3/layout/DropPinTimeline"/>
    <dgm:cxn modelId="{C7457F5E-E5AD-4A3E-B13F-5D26B5626FDF}" type="presOf" srcId="{EAD24D2C-7014-4E6E-AA61-0CFDF1DD1237}" destId="{ABF00E73-6F5E-48E8-B166-E04F07B6EC3E}" srcOrd="0" destOrd="0" presId="urn:microsoft.com/office/officeart/2017/3/layout/DropPinTimeline"/>
    <dgm:cxn modelId="{BCA60566-17E0-4299-9ABB-E7F5AF21FC25}" type="presOf" srcId="{172A8418-0DFE-4D8F-B272-C345B7E2BEAA}" destId="{DF59C2AB-12A4-44C8-9A44-E270BD8CD17B}" srcOrd="0" destOrd="0" presId="urn:microsoft.com/office/officeart/2017/3/layout/DropPinTimeline"/>
    <dgm:cxn modelId="{6C6D0C48-CB3E-4318-B508-E8C51347B10F}" type="presOf" srcId="{A9BA0C11-C4FA-452E-BB17-E1DF0E0B6358}" destId="{03AB9A77-3345-4109-81A9-7AB197AD5A8F}" srcOrd="0" destOrd="0" presId="urn:microsoft.com/office/officeart/2017/3/layout/DropPinTimeline"/>
    <dgm:cxn modelId="{2A80E068-C238-4DB1-BEAF-85523842E0A3}" srcId="{53DE5B61-6C32-4D60-A1DE-13E6FF72D5C4}" destId="{A9BA0C11-C4FA-452E-BB17-E1DF0E0B6358}" srcOrd="2" destOrd="0" parTransId="{F4ED77B9-0A3C-4AB3-A0FD-FFD757540EEE}" sibTransId="{CF4D431F-CF11-431D-9506-0E5BCB8FF3D1}"/>
    <dgm:cxn modelId="{AA04814B-DB92-4887-B88D-17362D4D5C79}" srcId="{2E92F208-3E02-46C3-B541-11BD8EFBF865}" destId="{AE0B0972-2325-454E-9BF8-CBA3AB14B327}" srcOrd="0" destOrd="0" parTransId="{3FBA000E-F807-4B15-A18F-2EF2596B17DA}" sibTransId="{99B4C5A8-7385-4866-AB42-904F6BF39ED4}"/>
    <dgm:cxn modelId="{B262BF55-6ADE-4B23-806B-155ABE65E55D}" type="presOf" srcId="{D7FA22EA-D498-46E7-B568-4D67138BF349}" destId="{A00E74AF-085E-40A9-B5E8-022FBE163B6E}" srcOrd="0" destOrd="0" presId="urn:microsoft.com/office/officeart/2017/3/layout/DropPinTimeline"/>
    <dgm:cxn modelId="{74CD9B57-00C7-4432-B9C1-AE7A2CBE2696}" type="presOf" srcId="{6EF9EE07-2948-4A29-8418-EF78434F8D36}" destId="{674A923A-3128-4723-9C91-FBAF5B620BBE}" srcOrd="0" destOrd="0" presId="urn:microsoft.com/office/officeart/2017/3/layout/DropPinTimeline"/>
    <dgm:cxn modelId="{0348527A-6FEF-4005-9AE0-219DF1A65B90}" type="presOf" srcId="{B309F62B-254A-4379-A94D-E2192BE19A34}" destId="{E1BA744D-EE46-4A13-82D2-8263705BC018}" srcOrd="0" destOrd="0" presId="urn:microsoft.com/office/officeart/2017/3/layout/DropPinTimeline"/>
    <dgm:cxn modelId="{CCE03182-321B-4F6B-A506-C966008C1DA5}" srcId="{B309F62B-254A-4379-A94D-E2192BE19A34}" destId="{03B02F52-D4FD-4CA2-96F6-8237D98F08B3}" srcOrd="0" destOrd="0" parTransId="{B574C03F-AA5C-475F-AC03-DE72631C420A}" sibTransId="{9EEC2C56-7791-4015-AE6F-10E4102D65F0}"/>
    <dgm:cxn modelId="{3CCE4885-1676-4C6A-A0FE-97318FF6C6BA}" srcId="{53DE5B61-6C32-4D60-A1DE-13E6FF72D5C4}" destId="{172A8418-0DFE-4D8F-B272-C345B7E2BEAA}" srcOrd="4" destOrd="0" parTransId="{6666CDE5-94F8-4AB5-944B-2ACA10B4F61A}" sibTransId="{EDB95EF3-10AD-4FDE-91E1-D4BC2CB0F7AD}"/>
    <dgm:cxn modelId="{89576D8C-8669-4C9F-BB47-CAA65F0F941C}" srcId="{606B6CC8-1BA8-4AF8-BC05-1803A140B038}" destId="{6EF9EE07-2948-4A29-8418-EF78434F8D36}" srcOrd="0" destOrd="0" parTransId="{4B62D283-F9B7-4D5A-B129-C4930C0EAE2B}" sibTransId="{7F522E63-2D6B-4416-868A-811962D88ADF}"/>
    <dgm:cxn modelId="{9907C29E-EDD7-455E-A9C2-BE3638C03F31}" srcId="{EAD24D2C-7014-4E6E-AA61-0CFDF1DD1237}" destId="{B05FB634-969B-4AAB-8DAE-E90431F8F633}" srcOrd="0" destOrd="0" parTransId="{2865C7EE-FF6E-4388-A60A-5A1C384D3573}" sibTransId="{7C9F79D9-78FA-40C5-A329-7FB623F225CA}"/>
    <dgm:cxn modelId="{D7D3ACA3-0F29-4454-B1CB-DB8DFA75639D}" type="presOf" srcId="{D02C1DB5-6D1D-4239-845B-1EDFE42C5B41}" destId="{9DD51C77-3D38-4533-A91A-3993CE06D8E3}" srcOrd="0" destOrd="0" presId="urn:microsoft.com/office/officeart/2017/3/layout/DropPinTimeline"/>
    <dgm:cxn modelId="{E794F8A6-4B31-4D0B-9F69-F152167B8C33}" srcId="{53DE5B61-6C32-4D60-A1DE-13E6FF72D5C4}" destId="{2E92F208-3E02-46C3-B541-11BD8EFBF865}" srcOrd="5" destOrd="0" parTransId="{0D31F9CF-5D12-4F34-9567-FECBB42A8320}" sibTransId="{E8C5D4B4-174D-4B4F-A3C6-8BA87D48171F}"/>
    <dgm:cxn modelId="{019237AA-112B-4F19-B1E2-72D1F4FF1CF6}" type="presOf" srcId="{791D68CD-87DC-4941-B3FE-AE96696B3405}" destId="{1CE4CB96-521B-468F-8F7F-FD37E6424881}" srcOrd="0" destOrd="0" presId="urn:microsoft.com/office/officeart/2017/3/layout/DropPinTimeline"/>
    <dgm:cxn modelId="{37E34DAB-2DBB-48E0-ADF7-A4F576F9470C}" srcId="{172A8418-0DFE-4D8F-B272-C345B7E2BEAA}" destId="{3E7BAE9A-7BAB-4C7E-B040-ED3B748B652B}" srcOrd="0" destOrd="0" parTransId="{AFF77147-CCFE-4B78-ADF8-8BB55609D51D}" sibTransId="{21E45C4A-6C14-4C1D-A6D0-6FA1CC744538}"/>
    <dgm:cxn modelId="{BC74C3AB-5DFB-4457-8354-0E6A45969EED}" type="presOf" srcId="{606B6CC8-1BA8-4AF8-BC05-1803A140B038}" destId="{217B371E-3674-4A89-AC8B-3536E6BE5601}" srcOrd="0" destOrd="0" presId="urn:microsoft.com/office/officeart/2017/3/layout/DropPinTimeline"/>
    <dgm:cxn modelId="{02EDB3CD-174A-4E29-AE6E-65F50FDEFA90}" srcId="{D7FA22EA-D498-46E7-B568-4D67138BF349}" destId="{D02C1DB5-6D1D-4239-845B-1EDFE42C5B41}" srcOrd="0" destOrd="0" parTransId="{E279A2A3-F43E-4447-A87B-8B472F1EC7EE}" sibTransId="{5219CD66-A46B-42FC-833A-F4117E6760CD}"/>
    <dgm:cxn modelId="{504A8ADF-23E8-4ED5-9CD2-942CCA5B8E54}" type="presOf" srcId="{B05FB634-969B-4AAB-8DAE-E90431F8F633}" destId="{8833CA20-0278-4A6F-94E2-3686D3D92A1D}" srcOrd="0" destOrd="0" presId="urn:microsoft.com/office/officeart/2017/3/layout/DropPinTimeline"/>
    <dgm:cxn modelId="{B12ABAE0-80AD-4EF5-B0E7-98BDF010C9AB}" type="presOf" srcId="{2E92F208-3E02-46C3-B541-11BD8EFBF865}" destId="{6D4CD0A5-F712-4D30-A43B-733571C0C4E9}" srcOrd="0" destOrd="0" presId="urn:microsoft.com/office/officeart/2017/3/layout/DropPinTimeline"/>
    <dgm:cxn modelId="{95826FE6-B974-4149-A202-466CF725C261}" type="presOf" srcId="{AE0B0972-2325-454E-9BF8-CBA3AB14B327}" destId="{7224DB2A-16C5-43C0-874A-D1BA1FF7A1D6}" srcOrd="0" destOrd="0" presId="urn:microsoft.com/office/officeart/2017/3/layout/DropPinTimeline"/>
    <dgm:cxn modelId="{79A75DFB-EC98-4016-99B7-C57DBCA4C5DD}" srcId="{53DE5B61-6C32-4D60-A1DE-13E6FF72D5C4}" destId="{D7FA22EA-D498-46E7-B568-4D67138BF349}" srcOrd="6" destOrd="0" parTransId="{470065C3-DA8B-43B5-BBA5-1A6867BE3564}" sibTransId="{24F4E0F7-A876-4E0E-B720-8DB030D2E679}"/>
    <dgm:cxn modelId="{D918EA05-63F7-4E3F-AFC6-1B5D7679F193}" type="presParOf" srcId="{BEEEDCFF-EC73-44A1-8CC3-DBB3F03C9E07}" destId="{C1BD3C44-66AC-4E2C-9952-D76C66E074EC}" srcOrd="0" destOrd="0" presId="urn:microsoft.com/office/officeart/2017/3/layout/DropPinTimeline"/>
    <dgm:cxn modelId="{54136679-D8AB-4291-B892-969F379B2B06}" type="presParOf" srcId="{BEEEDCFF-EC73-44A1-8CC3-DBB3F03C9E07}" destId="{0B2E0682-9915-4AB5-8C7C-20FE8992DC65}" srcOrd="1" destOrd="0" presId="urn:microsoft.com/office/officeart/2017/3/layout/DropPinTimeline"/>
    <dgm:cxn modelId="{F184A202-6CBE-4274-B387-947579CBFD7C}" type="presParOf" srcId="{0B2E0682-9915-4AB5-8C7C-20FE8992DC65}" destId="{D652283A-4764-46B1-8AB3-5AFF581BC65F}" srcOrd="0" destOrd="0" presId="urn:microsoft.com/office/officeart/2017/3/layout/DropPinTimeline"/>
    <dgm:cxn modelId="{445EE639-4067-4FEC-8F25-0CE566597633}" type="presParOf" srcId="{D652283A-4764-46B1-8AB3-5AFF581BC65F}" destId="{EFFC5F7F-5D35-4970-9396-E84621BE828A}" srcOrd="0" destOrd="0" presId="urn:microsoft.com/office/officeart/2017/3/layout/DropPinTimeline"/>
    <dgm:cxn modelId="{9481F9E4-3AD6-41FB-8180-5813129379DB}" type="presParOf" srcId="{D652283A-4764-46B1-8AB3-5AFF581BC65F}" destId="{970E0685-DD33-4DF4-9A91-F635618EFFD6}" srcOrd="1" destOrd="0" presId="urn:microsoft.com/office/officeart/2017/3/layout/DropPinTimeline"/>
    <dgm:cxn modelId="{081D0925-B391-4D83-81EF-B625816D08A3}" type="presParOf" srcId="{970E0685-DD33-4DF4-9A91-F635618EFFD6}" destId="{DDF31380-EEC4-4B88-A092-8A2F72397FC4}" srcOrd="0" destOrd="0" presId="urn:microsoft.com/office/officeart/2017/3/layout/DropPinTimeline"/>
    <dgm:cxn modelId="{98F628A2-3387-4BA1-B3BC-163BC49419A5}" type="presParOf" srcId="{970E0685-DD33-4DF4-9A91-F635618EFFD6}" destId="{74173EE4-78D9-43F7-90B3-D5148AE69995}" srcOrd="1" destOrd="0" presId="urn:microsoft.com/office/officeart/2017/3/layout/DropPinTimeline"/>
    <dgm:cxn modelId="{9CBD2BAC-8986-4D17-8F68-462DB9852240}" type="presParOf" srcId="{D652283A-4764-46B1-8AB3-5AFF581BC65F}" destId="{674A923A-3128-4723-9C91-FBAF5B620BBE}" srcOrd="2" destOrd="0" presId="urn:microsoft.com/office/officeart/2017/3/layout/DropPinTimeline"/>
    <dgm:cxn modelId="{02C28D46-1B94-4DD4-903B-8FFDA3D0CF37}" type="presParOf" srcId="{D652283A-4764-46B1-8AB3-5AFF581BC65F}" destId="{217B371E-3674-4A89-AC8B-3536E6BE5601}" srcOrd="3" destOrd="0" presId="urn:microsoft.com/office/officeart/2017/3/layout/DropPinTimeline"/>
    <dgm:cxn modelId="{AA2B0D2F-B674-4551-A939-F1E2E0E330EA}" type="presParOf" srcId="{D652283A-4764-46B1-8AB3-5AFF581BC65F}" destId="{B6156DF3-E73E-4DA1-8B0D-6AE2ADBFA32F}" srcOrd="4" destOrd="0" presId="urn:microsoft.com/office/officeart/2017/3/layout/DropPinTimeline"/>
    <dgm:cxn modelId="{B547AA7D-97B2-40DB-93D9-54F3C3939BEE}" type="presParOf" srcId="{D652283A-4764-46B1-8AB3-5AFF581BC65F}" destId="{56C5BF33-B0AA-4D9F-A50D-B4B3D19B7B51}" srcOrd="5" destOrd="0" presId="urn:microsoft.com/office/officeart/2017/3/layout/DropPinTimeline"/>
    <dgm:cxn modelId="{C388A785-C108-45F0-ADF3-E91983253BA4}" type="presParOf" srcId="{0B2E0682-9915-4AB5-8C7C-20FE8992DC65}" destId="{ED404FA5-0CBC-436A-8E1B-526D1430A8B3}" srcOrd="1" destOrd="0" presId="urn:microsoft.com/office/officeart/2017/3/layout/DropPinTimeline"/>
    <dgm:cxn modelId="{CD97DE56-2A27-4F82-B4D5-A5770C455794}" type="presParOf" srcId="{0B2E0682-9915-4AB5-8C7C-20FE8992DC65}" destId="{17C233F1-C1D2-49E9-8D7D-FE1A14ED6EFC}" srcOrd="2" destOrd="0" presId="urn:microsoft.com/office/officeart/2017/3/layout/DropPinTimeline"/>
    <dgm:cxn modelId="{EB03F758-A112-49F6-8CF8-432136D47F16}" type="presParOf" srcId="{17C233F1-C1D2-49E9-8D7D-FE1A14ED6EFC}" destId="{10B107AE-FFAF-45B6-98D5-4E8B92A9A5CA}" srcOrd="0" destOrd="0" presId="urn:microsoft.com/office/officeart/2017/3/layout/DropPinTimeline"/>
    <dgm:cxn modelId="{AB7139E4-B8CB-4A47-89D9-ED21F1713F07}" type="presParOf" srcId="{17C233F1-C1D2-49E9-8D7D-FE1A14ED6EFC}" destId="{87CFCBBA-F85E-4E55-B08E-D9637720BA9E}" srcOrd="1" destOrd="0" presId="urn:microsoft.com/office/officeart/2017/3/layout/DropPinTimeline"/>
    <dgm:cxn modelId="{E261FD1E-4C70-4480-AC64-CA6744F94013}" type="presParOf" srcId="{87CFCBBA-F85E-4E55-B08E-D9637720BA9E}" destId="{BC361D7D-DA01-49CF-B3C1-61DA74CDC7E8}" srcOrd="0" destOrd="0" presId="urn:microsoft.com/office/officeart/2017/3/layout/DropPinTimeline"/>
    <dgm:cxn modelId="{285F8606-3630-4282-8259-1C41FFABCC16}" type="presParOf" srcId="{87CFCBBA-F85E-4E55-B08E-D9637720BA9E}" destId="{ECEF1859-1272-4302-ACC4-15F845194AF1}" srcOrd="1" destOrd="0" presId="urn:microsoft.com/office/officeart/2017/3/layout/DropPinTimeline"/>
    <dgm:cxn modelId="{BDCF9B1E-8976-49FA-AA16-656ADCA5E374}" type="presParOf" srcId="{17C233F1-C1D2-49E9-8D7D-FE1A14ED6EFC}" destId="{596DEC0A-7618-428D-85D5-E6EE883E1005}" srcOrd="2" destOrd="0" presId="urn:microsoft.com/office/officeart/2017/3/layout/DropPinTimeline"/>
    <dgm:cxn modelId="{D6A93B8A-5A9E-4798-A1D4-CBFDEBA8E922}" type="presParOf" srcId="{17C233F1-C1D2-49E9-8D7D-FE1A14ED6EFC}" destId="{E1BA744D-EE46-4A13-82D2-8263705BC018}" srcOrd="3" destOrd="0" presId="urn:microsoft.com/office/officeart/2017/3/layout/DropPinTimeline"/>
    <dgm:cxn modelId="{0CE2B3B7-5D36-4758-BC42-D96460AAD1C7}" type="presParOf" srcId="{17C233F1-C1D2-49E9-8D7D-FE1A14ED6EFC}" destId="{10CADCD6-2CE4-441B-9B18-36A5A39283C4}" srcOrd="4" destOrd="0" presId="urn:microsoft.com/office/officeart/2017/3/layout/DropPinTimeline"/>
    <dgm:cxn modelId="{D088F416-C22E-46FA-A442-A54817B1368B}" type="presParOf" srcId="{17C233F1-C1D2-49E9-8D7D-FE1A14ED6EFC}" destId="{62AF8E6B-4D00-4F61-B7F1-0509C099E4B3}" srcOrd="5" destOrd="0" presId="urn:microsoft.com/office/officeart/2017/3/layout/DropPinTimeline"/>
    <dgm:cxn modelId="{C533A7E6-996B-40D6-A9AA-F747CA56E3A5}" type="presParOf" srcId="{0B2E0682-9915-4AB5-8C7C-20FE8992DC65}" destId="{42945A4A-F3C1-4353-905E-2DA9A9D10503}" srcOrd="3" destOrd="0" presId="urn:microsoft.com/office/officeart/2017/3/layout/DropPinTimeline"/>
    <dgm:cxn modelId="{D5C9A993-7859-4CE3-B4C2-3AB831B28338}" type="presParOf" srcId="{0B2E0682-9915-4AB5-8C7C-20FE8992DC65}" destId="{11746CD5-86A2-4EA5-ABC4-96F9445A3F9F}" srcOrd="4" destOrd="0" presId="urn:microsoft.com/office/officeart/2017/3/layout/DropPinTimeline"/>
    <dgm:cxn modelId="{A754BEAB-4CE2-488F-8906-0B04C10AB83A}" type="presParOf" srcId="{11746CD5-86A2-4EA5-ABC4-96F9445A3F9F}" destId="{54F5BA1A-CE17-40BB-9780-122A9FCE1AE4}" srcOrd="0" destOrd="0" presId="urn:microsoft.com/office/officeart/2017/3/layout/DropPinTimeline"/>
    <dgm:cxn modelId="{DF187765-ED8C-4F17-A769-E6535591A7C8}" type="presParOf" srcId="{11746CD5-86A2-4EA5-ABC4-96F9445A3F9F}" destId="{FF082775-EC19-4DDD-B81C-5460F2802C8B}" srcOrd="1" destOrd="0" presId="urn:microsoft.com/office/officeart/2017/3/layout/DropPinTimeline"/>
    <dgm:cxn modelId="{BF7C5F41-92C9-4D91-B452-056345CFE4BA}" type="presParOf" srcId="{FF082775-EC19-4DDD-B81C-5460F2802C8B}" destId="{70765400-2C55-4355-9821-F98C4D4AF29A}" srcOrd="0" destOrd="0" presId="urn:microsoft.com/office/officeart/2017/3/layout/DropPinTimeline"/>
    <dgm:cxn modelId="{9B56AF2F-A8B2-4D6C-A133-942BD72FC607}" type="presParOf" srcId="{FF082775-EC19-4DDD-B81C-5460F2802C8B}" destId="{D8B3923F-E197-42B7-AE09-B2B37976154C}" srcOrd="1" destOrd="0" presId="urn:microsoft.com/office/officeart/2017/3/layout/DropPinTimeline"/>
    <dgm:cxn modelId="{782C0A54-7928-4CAF-AF53-FA98E5AD65F6}" type="presParOf" srcId="{11746CD5-86A2-4EA5-ABC4-96F9445A3F9F}" destId="{1CE4CB96-521B-468F-8F7F-FD37E6424881}" srcOrd="2" destOrd="0" presId="urn:microsoft.com/office/officeart/2017/3/layout/DropPinTimeline"/>
    <dgm:cxn modelId="{4E9253A6-CEED-4E77-AF20-34598B34B9AC}" type="presParOf" srcId="{11746CD5-86A2-4EA5-ABC4-96F9445A3F9F}" destId="{03AB9A77-3345-4109-81A9-7AB197AD5A8F}" srcOrd="3" destOrd="0" presId="urn:microsoft.com/office/officeart/2017/3/layout/DropPinTimeline"/>
    <dgm:cxn modelId="{1AC2EBFE-717D-4E62-8D5A-28C2E2E7EF86}" type="presParOf" srcId="{11746CD5-86A2-4EA5-ABC4-96F9445A3F9F}" destId="{00C41245-89C0-4618-B528-68538B9FEC19}" srcOrd="4" destOrd="0" presId="urn:microsoft.com/office/officeart/2017/3/layout/DropPinTimeline"/>
    <dgm:cxn modelId="{A2791F1A-CC4C-45F1-9D33-F78241928BF0}" type="presParOf" srcId="{11746CD5-86A2-4EA5-ABC4-96F9445A3F9F}" destId="{48598379-6B1E-4856-94DE-461CD841B68F}" srcOrd="5" destOrd="0" presId="urn:microsoft.com/office/officeart/2017/3/layout/DropPinTimeline"/>
    <dgm:cxn modelId="{49248751-91C5-497D-B494-383D2F21974A}" type="presParOf" srcId="{0B2E0682-9915-4AB5-8C7C-20FE8992DC65}" destId="{69926398-2172-4457-BE4E-C97AB3717392}" srcOrd="5" destOrd="0" presId="urn:microsoft.com/office/officeart/2017/3/layout/DropPinTimeline"/>
    <dgm:cxn modelId="{4A7FF66D-23BF-4925-8C87-B7C2B0D3951C}" type="presParOf" srcId="{0B2E0682-9915-4AB5-8C7C-20FE8992DC65}" destId="{05C61CB3-A31C-4AA1-8B84-5AB7517A2F91}" srcOrd="6" destOrd="0" presId="urn:microsoft.com/office/officeart/2017/3/layout/DropPinTimeline"/>
    <dgm:cxn modelId="{216F3B7A-7F7D-4B9C-97AC-3C6128570455}" type="presParOf" srcId="{05C61CB3-A31C-4AA1-8B84-5AB7517A2F91}" destId="{8C4F9D24-8F34-4B0C-86E8-C80A5777F27A}" srcOrd="0" destOrd="0" presId="urn:microsoft.com/office/officeart/2017/3/layout/DropPinTimeline"/>
    <dgm:cxn modelId="{E0D6F8E5-7B94-4F39-95B3-AE9288B91AD1}" type="presParOf" srcId="{05C61CB3-A31C-4AA1-8B84-5AB7517A2F91}" destId="{C7A1D8EA-0F47-49D5-B4A1-466B8791D153}" srcOrd="1" destOrd="0" presId="urn:microsoft.com/office/officeart/2017/3/layout/DropPinTimeline"/>
    <dgm:cxn modelId="{D1C91B37-60D6-4BF2-99FF-900831F3D500}" type="presParOf" srcId="{C7A1D8EA-0F47-49D5-B4A1-466B8791D153}" destId="{697C9D50-FCA7-4205-AD3A-E962C7A57F18}" srcOrd="0" destOrd="0" presId="urn:microsoft.com/office/officeart/2017/3/layout/DropPinTimeline"/>
    <dgm:cxn modelId="{5E9A7827-AE49-423C-8CDE-38FC8EB24716}" type="presParOf" srcId="{C7A1D8EA-0F47-49D5-B4A1-466B8791D153}" destId="{459005DE-101A-4021-A928-5E98501F5558}" srcOrd="1" destOrd="0" presId="urn:microsoft.com/office/officeart/2017/3/layout/DropPinTimeline"/>
    <dgm:cxn modelId="{D4231D79-FF3F-49C4-9ADE-C69B5EBDCB04}" type="presParOf" srcId="{05C61CB3-A31C-4AA1-8B84-5AB7517A2F91}" destId="{8833CA20-0278-4A6F-94E2-3686D3D92A1D}" srcOrd="2" destOrd="0" presId="urn:microsoft.com/office/officeart/2017/3/layout/DropPinTimeline"/>
    <dgm:cxn modelId="{BA67F3A1-B572-4D14-B2E3-542CB9420A90}" type="presParOf" srcId="{05C61CB3-A31C-4AA1-8B84-5AB7517A2F91}" destId="{ABF00E73-6F5E-48E8-B166-E04F07B6EC3E}" srcOrd="3" destOrd="0" presId="urn:microsoft.com/office/officeart/2017/3/layout/DropPinTimeline"/>
    <dgm:cxn modelId="{1D196557-15FF-4F42-A629-47EDFC2471A8}" type="presParOf" srcId="{05C61CB3-A31C-4AA1-8B84-5AB7517A2F91}" destId="{D94F561C-8134-4476-8540-BA8CBB9113C2}" srcOrd="4" destOrd="0" presId="urn:microsoft.com/office/officeart/2017/3/layout/DropPinTimeline"/>
    <dgm:cxn modelId="{5A68AA5A-9FE5-405B-8E54-A46AED193C09}" type="presParOf" srcId="{05C61CB3-A31C-4AA1-8B84-5AB7517A2F91}" destId="{12342F1C-31C0-4E94-8927-24F24595549D}" srcOrd="5" destOrd="0" presId="urn:microsoft.com/office/officeart/2017/3/layout/DropPinTimeline"/>
    <dgm:cxn modelId="{99F4839C-2582-4213-B71D-36E5C6727280}" type="presParOf" srcId="{0B2E0682-9915-4AB5-8C7C-20FE8992DC65}" destId="{4C832860-A592-4929-98A8-3A7A6290DBE3}" srcOrd="7" destOrd="0" presId="urn:microsoft.com/office/officeart/2017/3/layout/DropPinTimeline"/>
    <dgm:cxn modelId="{8DE5D91D-F443-402F-9D2D-055154A0D380}" type="presParOf" srcId="{0B2E0682-9915-4AB5-8C7C-20FE8992DC65}" destId="{E8B8F901-7526-4A6E-8305-1057CB6F4BF5}" srcOrd="8" destOrd="0" presId="urn:microsoft.com/office/officeart/2017/3/layout/DropPinTimeline"/>
    <dgm:cxn modelId="{7290642F-F3D9-414B-A46C-4B13BEB87A0E}" type="presParOf" srcId="{E8B8F901-7526-4A6E-8305-1057CB6F4BF5}" destId="{2176341E-488D-4A0F-AEE8-4978A8206969}" srcOrd="0" destOrd="0" presId="urn:microsoft.com/office/officeart/2017/3/layout/DropPinTimeline"/>
    <dgm:cxn modelId="{C2259135-D737-45C0-9AC1-B12B5B79F121}" type="presParOf" srcId="{E8B8F901-7526-4A6E-8305-1057CB6F4BF5}" destId="{4F95F62F-47E4-4392-8FDF-D9047B5966E3}" srcOrd="1" destOrd="0" presId="urn:microsoft.com/office/officeart/2017/3/layout/DropPinTimeline"/>
    <dgm:cxn modelId="{C75B9524-BB4F-4884-9AB3-B3FB8F31A38F}" type="presParOf" srcId="{4F95F62F-47E4-4392-8FDF-D9047B5966E3}" destId="{151D3E4E-D778-4347-9473-613FD01E2B3E}" srcOrd="0" destOrd="0" presId="urn:microsoft.com/office/officeart/2017/3/layout/DropPinTimeline"/>
    <dgm:cxn modelId="{EAAA52E1-F640-4B9A-BF03-B6754D4B2BA3}" type="presParOf" srcId="{4F95F62F-47E4-4392-8FDF-D9047B5966E3}" destId="{45BA95E5-AF01-4185-845A-FFE49FDA3FDC}" srcOrd="1" destOrd="0" presId="urn:microsoft.com/office/officeart/2017/3/layout/DropPinTimeline"/>
    <dgm:cxn modelId="{3482CB7E-528A-4939-94ED-77EDD7768084}" type="presParOf" srcId="{E8B8F901-7526-4A6E-8305-1057CB6F4BF5}" destId="{1F9DDAE3-74A0-49C3-90DE-72A2452362E9}" srcOrd="2" destOrd="0" presId="urn:microsoft.com/office/officeart/2017/3/layout/DropPinTimeline"/>
    <dgm:cxn modelId="{CB2F4FAF-9A91-43EE-A0FB-F13384AF42BE}" type="presParOf" srcId="{E8B8F901-7526-4A6E-8305-1057CB6F4BF5}" destId="{DF59C2AB-12A4-44C8-9A44-E270BD8CD17B}" srcOrd="3" destOrd="0" presId="urn:microsoft.com/office/officeart/2017/3/layout/DropPinTimeline"/>
    <dgm:cxn modelId="{B28A5CEA-1638-4BB4-B85D-F1D46AE01D2D}" type="presParOf" srcId="{E8B8F901-7526-4A6E-8305-1057CB6F4BF5}" destId="{2F08546E-B602-410C-9D3D-F26C248E82FF}" srcOrd="4" destOrd="0" presId="urn:microsoft.com/office/officeart/2017/3/layout/DropPinTimeline"/>
    <dgm:cxn modelId="{09E31306-528F-46C8-AC02-AC08D17606AC}" type="presParOf" srcId="{E8B8F901-7526-4A6E-8305-1057CB6F4BF5}" destId="{D4CBC994-568C-4840-A6A1-C1EF62752BD5}" srcOrd="5" destOrd="0" presId="urn:microsoft.com/office/officeart/2017/3/layout/DropPinTimeline"/>
    <dgm:cxn modelId="{E28A1FCF-7F26-498B-B1A7-9C43AADD3E49}" type="presParOf" srcId="{0B2E0682-9915-4AB5-8C7C-20FE8992DC65}" destId="{8E92AEDC-7698-40E6-9BDA-3DB65AA80809}" srcOrd="9" destOrd="0" presId="urn:microsoft.com/office/officeart/2017/3/layout/DropPinTimeline"/>
    <dgm:cxn modelId="{23D0AB8F-5740-45F4-9818-317B278E44AC}" type="presParOf" srcId="{0B2E0682-9915-4AB5-8C7C-20FE8992DC65}" destId="{4CEA1FF5-78C7-4A47-8A23-AC7B7FA1EDFD}" srcOrd="10" destOrd="0" presId="urn:microsoft.com/office/officeart/2017/3/layout/DropPinTimeline"/>
    <dgm:cxn modelId="{49F6F314-479B-49A8-8D78-0BB0169A3A5E}" type="presParOf" srcId="{4CEA1FF5-78C7-4A47-8A23-AC7B7FA1EDFD}" destId="{B7F5EAAC-FD65-4D13-A17D-19B4D5A7F09F}" srcOrd="0" destOrd="0" presId="urn:microsoft.com/office/officeart/2017/3/layout/DropPinTimeline"/>
    <dgm:cxn modelId="{C6A9EBE1-243D-47BA-A85C-0326400C0969}" type="presParOf" srcId="{4CEA1FF5-78C7-4A47-8A23-AC7B7FA1EDFD}" destId="{59853972-32B7-489F-8611-54EDD26B51F3}" srcOrd="1" destOrd="0" presId="urn:microsoft.com/office/officeart/2017/3/layout/DropPinTimeline"/>
    <dgm:cxn modelId="{D464513C-EDFF-4319-9AA2-0A62D0F7CEEC}" type="presParOf" srcId="{59853972-32B7-489F-8611-54EDD26B51F3}" destId="{B1D74563-7D39-4E48-8C8C-5060159D8965}" srcOrd="0" destOrd="0" presId="urn:microsoft.com/office/officeart/2017/3/layout/DropPinTimeline"/>
    <dgm:cxn modelId="{C32CAF0D-264E-4FDE-8DC3-9726E97FEB9E}" type="presParOf" srcId="{59853972-32B7-489F-8611-54EDD26B51F3}" destId="{9323C1C0-76AA-428E-86DC-D10D58940009}" srcOrd="1" destOrd="0" presId="urn:microsoft.com/office/officeart/2017/3/layout/DropPinTimeline"/>
    <dgm:cxn modelId="{E39EC051-7AF3-4E73-8D8B-E68B6D837728}" type="presParOf" srcId="{4CEA1FF5-78C7-4A47-8A23-AC7B7FA1EDFD}" destId="{7224DB2A-16C5-43C0-874A-D1BA1FF7A1D6}" srcOrd="2" destOrd="0" presId="urn:microsoft.com/office/officeart/2017/3/layout/DropPinTimeline"/>
    <dgm:cxn modelId="{C059C121-9856-4239-96D5-A64BDE1261E4}" type="presParOf" srcId="{4CEA1FF5-78C7-4A47-8A23-AC7B7FA1EDFD}" destId="{6D4CD0A5-F712-4D30-A43B-733571C0C4E9}" srcOrd="3" destOrd="0" presId="urn:microsoft.com/office/officeart/2017/3/layout/DropPinTimeline"/>
    <dgm:cxn modelId="{D5315BE5-B9CD-40F6-B847-8886576E5900}" type="presParOf" srcId="{4CEA1FF5-78C7-4A47-8A23-AC7B7FA1EDFD}" destId="{010C15BF-8EBA-4DFE-A6B0-5D16BA0E1816}" srcOrd="4" destOrd="0" presId="urn:microsoft.com/office/officeart/2017/3/layout/DropPinTimeline"/>
    <dgm:cxn modelId="{C120732B-3B9C-4390-B569-859BBBB8676C}" type="presParOf" srcId="{4CEA1FF5-78C7-4A47-8A23-AC7B7FA1EDFD}" destId="{9367FF0F-B254-4B46-A842-C09977C855E9}" srcOrd="5" destOrd="0" presId="urn:microsoft.com/office/officeart/2017/3/layout/DropPinTimeline"/>
    <dgm:cxn modelId="{CB8737CC-B62A-419A-B8D4-8F31E7F49D5A}" type="presParOf" srcId="{0B2E0682-9915-4AB5-8C7C-20FE8992DC65}" destId="{1590D929-BCF4-468F-BFBD-292489C28852}" srcOrd="11" destOrd="0" presId="urn:microsoft.com/office/officeart/2017/3/layout/DropPinTimeline"/>
    <dgm:cxn modelId="{C7C1897C-F8F2-408D-B5D4-1D0861B32C52}" type="presParOf" srcId="{0B2E0682-9915-4AB5-8C7C-20FE8992DC65}" destId="{5126C28E-BAD6-414D-A8B2-52E3376F4BE0}" srcOrd="12" destOrd="0" presId="urn:microsoft.com/office/officeart/2017/3/layout/DropPinTimeline"/>
    <dgm:cxn modelId="{37806A01-7628-4960-BAA6-1927E02D078C}" type="presParOf" srcId="{5126C28E-BAD6-414D-A8B2-52E3376F4BE0}" destId="{0E9C515F-6F5D-4403-AEE0-63C74392D48F}" srcOrd="0" destOrd="0" presId="urn:microsoft.com/office/officeart/2017/3/layout/DropPinTimeline"/>
    <dgm:cxn modelId="{47083F30-0E1B-488B-8256-42851D9EF906}" type="presParOf" srcId="{5126C28E-BAD6-414D-A8B2-52E3376F4BE0}" destId="{84501946-FA6F-4E12-B183-7AC097068C11}" srcOrd="1" destOrd="0" presId="urn:microsoft.com/office/officeart/2017/3/layout/DropPinTimeline"/>
    <dgm:cxn modelId="{4DEBCBF5-0F48-4E9E-91A8-CADA264B9247}" type="presParOf" srcId="{84501946-FA6F-4E12-B183-7AC097068C11}" destId="{0F43C4E1-3006-4A5F-B59A-F2B60D0FD906}" srcOrd="0" destOrd="0" presId="urn:microsoft.com/office/officeart/2017/3/layout/DropPinTimeline"/>
    <dgm:cxn modelId="{383B37A1-D35C-4CFA-A42F-5A1F29345851}" type="presParOf" srcId="{84501946-FA6F-4E12-B183-7AC097068C11}" destId="{4C96AB06-9AC7-4D9A-AC44-4B323B9AD4A2}" srcOrd="1" destOrd="0" presId="urn:microsoft.com/office/officeart/2017/3/layout/DropPinTimeline"/>
    <dgm:cxn modelId="{496143C6-53BD-4687-A1FA-43C02ED6EEB1}" type="presParOf" srcId="{5126C28E-BAD6-414D-A8B2-52E3376F4BE0}" destId="{9DD51C77-3D38-4533-A91A-3993CE06D8E3}" srcOrd="2" destOrd="0" presId="urn:microsoft.com/office/officeart/2017/3/layout/DropPinTimeline"/>
    <dgm:cxn modelId="{AF95C965-6806-4CD7-951F-6951CF82F3CE}" type="presParOf" srcId="{5126C28E-BAD6-414D-A8B2-52E3376F4BE0}" destId="{A00E74AF-085E-40A9-B5E8-022FBE163B6E}" srcOrd="3" destOrd="0" presId="urn:microsoft.com/office/officeart/2017/3/layout/DropPinTimeline"/>
    <dgm:cxn modelId="{78A79D33-9A77-40D0-8492-5F3CF3071945}" type="presParOf" srcId="{5126C28E-BAD6-414D-A8B2-52E3376F4BE0}" destId="{02AB94D8-0756-40FF-AAF5-48815E2F8406}" srcOrd="4" destOrd="0" presId="urn:microsoft.com/office/officeart/2017/3/layout/DropPinTimeline"/>
    <dgm:cxn modelId="{440B6EE3-8C0C-4554-AF22-66579FF33366}" type="presParOf" srcId="{5126C28E-BAD6-414D-A8B2-52E3376F4BE0}" destId="{F2B5E92C-3103-42B5-803E-BECA805952CE}"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BD3C44-66AC-4E2C-9952-D76C66E074EC}">
      <dsp:nvSpPr>
        <dsp:cNvPr id="0" name=""/>
        <dsp:cNvSpPr/>
      </dsp:nvSpPr>
      <dsp:spPr>
        <a:xfrm>
          <a:off x="0" y="2262981"/>
          <a:ext cx="8229600" cy="0"/>
        </a:xfrm>
        <a:prstGeom prst="lin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DDF31380-EEC4-4B88-A092-8A2F72397FC4}">
      <dsp:nvSpPr>
        <dsp:cNvPr id="0" name=""/>
        <dsp:cNvSpPr/>
      </dsp:nvSpPr>
      <dsp:spPr>
        <a:xfrm rot="8100000">
          <a:off x="70161" y="53067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73EE4-78D9-43F7-90B3-D5148AE69995}">
      <dsp:nvSpPr>
        <dsp:cNvPr id="0" name=""/>
        <dsp:cNvSpPr/>
      </dsp:nvSpPr>
      <dsp:spPr>
        <a:xfrm>
          <a:off x="105103" y="56562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674A923A-3128-4723-9C91-FBAF5B620BBE}">
      <dsp:nvSpPr>
        <dsp:cNvPr id="0" name=""/>
        <dsp:cNvSpPr/>
      </dsp:nvSpPr>
      <dsp:spPr>
        <a:xfrm>
          <a:off x="449839" y="923296"/>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1" kern="1200">
              <a:latin typeface="Calibri"/>
            </a:rPr>
            <a:t>HTML</a:t>
          </a:r>
          <a:r>
            <a:rPr lang="en-US" sz="1500" b="0" kern="1200">
              <a:latin typeface="Calibri"/>
            </a:rPr>
            <a:t> 1.0 introduced (by Tim Berners Lee at CERN)</a:t>
          </a:r>
        </a:p>
      </dsp:txBody>
      <dsp:txXfrm>
        <a:off x="449839" y="923296"/>
        <a:ext cx="1618033" cy="1339685"/>
      </dsp:txXfrm>
    </dsp:sp>
    <dsp:sp modelId="{217B371E-3674-4A89-AC8B-3536E6BE5601}">
      <dsp:nvSpPr>
        <dsp:cNvPr id="0" name=""/>
        <dsp:cNvSpPr/>
      </dsp:nvSpPr>
      <dsp:spPr>
        <a:xfrm>
          <a:off x="449839" y="45259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1990</a:t>
          </a:r>
          <a:endParaRPr lang="en-US" sz="2000" b="0" kern="1200"/>
        </a:p>
      </dsp:txBody>
      <dsp:txXfrm>
        <a:off x="449839" y="452596"/>
        <a:ext cx="1618033" cy="470700"/>
      </dsp:txXfrm>
    </dsp:sp>
    <dsp:sp modelId="{B6156DF3-E73E-4DA1-8B0D-6AE2ADBFA32F}">
      <dsp:nvSpPr>
        <dsp:cNvPr id="0" name=""/>
        <dsp:cNvSpPr/>
      </dsp:nvSpPr>
      <dsp:spPr>
        <a:xfrm>
          <a:off x="227429" y="923296"/>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FFC5F7F-5D35-4970-9396-E84621BE828A}">
      <dsp:nvSpPr>
        <dsp:cNvPr id="0" name=""/>
        <dsp:cNvSpPr/>
      </dsp:nvSpPr>
      <dsp:spPr>
        <a:xfrm>
          <a:off x="200335"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361D7D-DA01-49CF-B3C1-61DA74CDC7E8}">
      <dsp:nvSpPr>
        <dsp:cNvPr id="0" name=""/>
        <dsp:cNvSpPr/>
      </dsp:nvSpPr>
      <dsp:spPr>
        <a:xfrm rot="18900000">
          <a:off x="1096279" y="368074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EF1859-1272-4302-ACC4-15F845194AF1}">
      <dsp:nvSpPr>
        <dsp:cNvPr id="0" name=""/>
        <dsp:cNvSpPr/>
      </dsp:nvSpPr>
      <dsp:spPr>
        <a:xfrm>
          <a:off x="1131221" y="371569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596DEC0A-7618-428D-85D5-E6EE883E1005}">
      <dsp:nvSpPr>
        <dsp:cNvPr id="0" name=""/>
        <dsp:cNvSpPr/>
      </dsp:nvSpPr>
      <dsp:spPr>
        <a:xfrm>
          <a:off x="1475957" y="2262981"/>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b="1" kern="1200">
              <a:latin typeface="Calibri"/>
            </a:rPr>
            <a:t>CSS1</a:t>
          </a:r>
          <a:r>
            <a:rPr lang="en-US" sz="1500" b="0" kern="1200"/>
            <a:t> </a:t>
          </a:r>
          <a:r>
            <a:rPr lang="en-US" sz="1500" b="0" kern="1200">
              <a:latin typeface="Calibri"/>
            </a:rPr>
            <a:t>standardized (by the W3C)</a:t>
          </a:r>
        </a:p>
      </dsp:txBody>
      <dsp:txXfrm>
        <a:off x="1475957" y="2262981"/>
        <a:ext cx="1618033" cy="1339685"/>
      </dsp:txXfrm>
    </dsp:sp>
    <dsp:sp modelId="{E1BA744D-EE46-4A13-82D2-8263705BC018}">
      <dsp:nvSpPr>
        <dsp:cNvPr id="0" name=""/>
        <dsp:cNvSpPr/>
      </dsp:nvSpPr>
      <dsp:spPr>
        <a:xfrm>
          <a:off x="1475957" y="360266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1996</a:t>
          </a:r>
          <a:endParaRPr lang="en-US" sz="2000" b="0" kern="1200"/>
        </a:p>
      </dsp:txBody>
      <dsp:txXfrm>
        <a:off x="1475957" y="3602666"/>
        <a:ext cx="1618033" cy="470700"/>
      </dsp:txXfrm>
    </dsp:sp>
    <dsp:sp modelId="{10CADCD6-2CE4-441B-9B18-36A5A39283C4}">
      <dsp:nvSpPr>
        <dsp:cNvPr id="0" name=""/>
        <dsp:cNvSpPr/>
      </dsp:nvSpPr>
      <dsp:spPr>
        <a:xfrm>
          <a:off x="1253547" y="2262981"/>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10B107AE-FFAF-45B6-98D5-4E8B92A9A5CA}">
      <dsp:nvSpPr>
        <dsp:cNvPr id="0" name=""/>
        <dsp:cNvSpPr/>
      </dsp:nvSpPr>
      <dsp:spPr>
        <a:xfrm>
          <a:off x="1226453"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765400-2C55-4355-9821-F98C4D4AF29A}">
      <dsp:nvSpPr>
        <dsp:cNvPr id="0" name=""/>
        <dsp:cNvSpPr/>
      </dsp:nvSpPr>
      <dsp:spPr>
        <a:xfrm rot="8100000">
          <a:off x="2122397" y="53067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B3923F-E197-42B7-AE09-B2B37976154C}">
      <dsp:nvSpPr>
        <dsp:cNvPr id="0" name=""/>
        <dsp:cNvSpPr/>
      </dsp:nvSpPr>
      <dsp:spPr>
        <a:xfrm>
          <a:off x="2157339" y="56562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1CE4CB96-521B-468F-8F7F-FD37E6424881}">
      <dsp:nvSpPr>
        <dsp:cNvPr id="0" name=""/>
        <dsp:cNvSpPr/>
      </dsp:nvSpPr>
      <dsp:spPr>
        <a:xfrm>
          <a:off x="2502075" y="923296"/>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0" kern="1200">
              <a:latin typeface="Calibri"/>
            </a:rPr>
            <a:t>XHTML introduced (HTML4 + XML)</a:t>
          </a:r>
          <a:endParaRPr lang="en-US" sz="1500" b="0" kern="1200"/>
        </a:p>
      </dsp:txBody>
      <dsp:txXfrm>
        <a:off x="2502075" y="923296"/>
        <a:ext cx="1618033" cy="1339685"/>
      </dsp:txXfrm>
    </dsp:sp>
    <dsp:sp modelId="{03AB9A77-3345-4109-81A9-7AB197AD5A8F}">
      <dsp:nvSpPr>
        <dsp:cNvPr id="0" name=""/>
        <dsp:cNvSpPr/>
      </dsp:nvSpPr>
      <dsp:spPr>
        <a:xfrm>
          <a:off x="2502075" y="45259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2000</a:t>
          </a:r>
          <a:endParaRPr lang="en-US" sz="2000" b="0" kern="1200"/>
        </a:p>
      </dsp:txBody>
      <dsp:txXfrm>
        <a:off x="2502075" y="452596"/>
        <a:ext cx="1618033" cy="470700"/>
      </dsp:txXfrm>
    </dsp:sp>
    <dsp:sp modelId="{00C41245-89C0-4618-B528-68538B9FEC19}">
      <dsp:nvSpPr>
        <dsp:cNvPr id="0" name=""/>
        <dsp:cNvSpPr/>
      </dsp:nvSpPr>
      <dsp:spPr>
        <a:xfrm>
          <a:off x="2279665" y="923296"/>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4F5BA1A-CE17-40BB-9780-122A9FCE1AE4}">
      <dsp:nvSpPr>
        <dsp:cNvPr id="0" name=""/>
        <dsp:cNvSpPr/>
      </dsp:nvSpPr>
      <dsp:spPr>
        <a:xfrm>
          <a:off x="2252571"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7C9D50-FCA7-4205-AD3A-E962C7A57F18}">
      <dsp:nvSpPr>
        <dsp:cNvPr id="0" name=""/>
        <dsp:cNvSpPr/>
      </dsp:nvSpPr>
      <dsp:spPr>
        <a:xfrm rot="18900000">
          <a:off x="3148515" y="368074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9005DE-101A-4021-A928-5E98501F5558}">
      <dsp:nvSpPr>
        <dsp:cNvPr id="0" name=""/>
        <dsp:cNvSpPr/>
      </dsp:nvSpPr>
      <dsp:spPr>
        <a:xfrm>
          <a:off x="3183457" y="371569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8833CA20-0278-4A6F-94E2-3686D3D92A1D}">
      <dsp:nvSpPr>
        <dsp:cNvPr id="0" name=""/>
        <dsp:cNvSpPr/>
      </dsp:nvSpPr>
      <dsp:spPr>
        <a:xfrm>
          <a:off x="3528193" y="2262981"/>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b="1" kern="1200">
              <a:latin typeface="Calibri"/>
            </a:rPr>
            <a:t>Bootstrap </a:t>
          </a:r>
          <a:r>
            <a:rPr lang="en-US" sz="1500" b="0" kern="1200">
              <a:latin typeface="Calibri"/>
            </a:rPr>
            <a:t>launched (by Twitter engineers)</a:t>
          </a:r>
        </a:p>
      </dsp:txBody>
      <dsp:txXfrm>
        <a:off x="3528193" y="2262981"/>
        <a:ext cx="1618033" cy="1339685"/>
      </dsp:txXfrm>
    </dsp:sp>
    <dsp:sp modelId="{ABF00E73-6F5E-48E8-B166-E04F07B6EC3E}">
      <dsp:nvSpPr>
        <dsp:cNvPr id="0" name=""/>
        <dsp:cNvSpPr/>
      </dsp:nvSpPr>
      <dsp:spPr>
        <a:xfrm>
          <a:off x="3528193" y="360266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2006</a:t>
          </a:r>
        </a:p>
      </dsp:txBody>
      <dsp:txXfrm>
        <a:off x="3528193" y="3602666"/>
        <a:ext cx="1618033" cy="470700"/>
      </dsp:txXfrm>
    </dsp:sp>
    <dsp:sp modelId="{D94F561C-8134-4476-8540-BA8CBB9113C2}">
      <dsp:nvSpPr>
        <dsp:cNvPr id="0" name=""/>
        <dsp:cNvSpPr/>
      </dsp:nvSpPr>
      <dsp:spPr>
        <a:xfrm>
          <a:off x="3305783" y="2262981"/>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8C4F9D24-8F34-4B0C-86E8-C80A5777F27A}">
      <dsp:nvSpPr>
        <dsp:cNvPr id="0" name=""/>
        <dsp:cNvSpPr/>
      </dsp:nvSpPr>
      <dsp:spPr>
        <a:xfrm>
          <a:off x="3278688"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1D3E4E-D778-4347-9473-613FD01E2B3E}">
      <dsp:nvSpPr>
        <dsp:cNvPr id="0" name=""/>
        <dsp:cNvSpPr/>
      </dsp:nvSpPr>
      <dsp:spPr>
        <a:xfrm rot="8100000">
          <a:off x="4174633" y="53067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BA95E5-AF01-4185-845A-FFE49FDA3FDC}">
      <dsp:nvSpPr>
        <dsp:cNvPr id="0" name=""/>
        <dsp:cNvSpPr/>
      </dsp:nvSpPr>
      <dsp:spPr>
        <a:xfrm>
          <a:off x="4209575" y="56562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1F9DDAE3-74A0-49C3-90DE-72A2452362E9}">
      <dsp:nvSpPr>
        <dsp:cNvPr id="0" name=""/>
        <dsp:cNvSpPr/>
      </dsp:nvSpPr>
      <dsp:spPr>
        <a:xfrm>
          <a:off x="4554311" y="923296"/>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1" kern="1200">
              <a:latin typeface="Calibri"/>
            </a:rPr>
            <a:t>CSS3</a:t>
          </a:r>
          <a:r>
            <a:rPr lang="en-US" sz="1500" b="0" kern="1200">
              <a:latin typeface="Calibri"/>
            </a:rPr>
            <a:t> (modular CSS)</a:t>
          </a:r>
        </a:p>
      </dsp:txBody>
      <dsp:txXfrm>
        <a:off x="4554311" y="923296"/>
        <a:ext cx="1618033" cy="1339685"/>
      </dsp:txXfrm>
    </dsp:sp>
    <dsp:sp modelId="{DF59C2AB-12A4-44C8-9A44-E270BD8CD17B}">
      <dsp:nvSpPr>
        <dsp:cNvPr id="0" name=""/>
        <dsp:cNvSpPr/>
      </dsp:nvSpPr>
      <dsp:spPr>
        <a:xfrm>
          <a:off x="4554311" y="45259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2011</a:t>
          </a:r>
        </a:p>
      </dsp:txBody>
      <dsp:txXfrm>
        <a:off x="4554311" y="452596"/>
        <a:ext cx="1618033" cy="470700"/>
      </dsp:txXfrm>
    </dsp:sp>
    <dsp:sp modelId="{2F08546E-B602-410C-9D3D-F26C248E82FF}">
      <dsp:nvSpPr>
        <dsp:cNvPr id="0" name=""/>
        <dsp:cNvSpPr/>
      </dsp:nvSpPr>
      <dsp:spPr>
        <a:xfrm>
          <a:off x="4331901" y="923296"/>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2176341E-488D-4A0F-AEE8-4978A8206969}">
      <dsp:nvSpPr>
        <dsp:cNvPr id="0" name=""/>
        <dsp:cNvSpPr/>
      </dsp:nvSpPr>
      <dsp:spPr>
        <a:xfrm>
          <a:off x="4304806"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D74563-7D39-4E48-8C8C-5060159D8965}">
      <dsp:nvSpPr>
        <dsp:cNvPr id="0" name=""/>
        <dsp:cNvSpPr/>
      </dsp:nvSpPr>
      <dsp:spPr>
        <a:xfrm rot="18900000">
          <a:off x="5200750" y="368074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23C1C0-76AA-428E-86DC-D10D58940009}">
      <dsp:nvSpPr>
        <dsp:cNvPr id="0" name=""/>
        <dsp:cNvSpPr/>
      </dsp:nvSpPr>
      <dsp:spPr>
        <a:xfrm>
          <a:off x="5235693" y="371569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7224DB2A-16C5-43C0-874A-D1BA1FF7A1D6}">
      <dsp:nvSpPr>
        <dsp:cNvPr id="0" name=""/>
        <dsp:cNvSpPr/>
      </dsp:nvSpPr>
      <dsp:spPr>
        <a:xfrm>
          <a:off x="5580429" y="2262981"/>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b="1" kern="1200">
              <a:latin typeface="Calibri"/>
            </a:rPr>
            <a:t>HTML5</a:t>
          </a:r>
          <a:r>
            <a:rPr lang="en-US" sz="1500" b="0" kern="1200">
              <a:latin typeface="Calibri"/>
            </a:rPr>
            <a:t> (enhanced semantics, multimedia support, APIs for web apps)</a:t>
          </a:r>
        </a:p>
      </dsp:txBody>
      <dsp:txXfrm>
        <a:off x="5580429" y="2262981"/>
        <a:ext cx="1618033" cy="1339685"/>
      </dsp:txXfrm>
    </dsp:sp>
    <dsp:sp modelId="{6D4CD0A5-F712-4D30-A43B-733571C0C4E9}">
      <dsp:nvSpPr>
        <dsp:cNvPr id="0" name=""/>
        <dsp:cNvSpPr/>
      </dsp:nvSpPr>
      <dsp:spPr>
        <a:xfrm>
          <a:off x="5580429" y="360266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2014</a:t>
          </a:r>
        </a:p>
      </dsp:txBody>
      <dsp:txXfrm>
        <a:off x="5580429" y="3602666"/>
        <a:ext cx="1618033" cy="470700"/>
      </dsp:txXfrm>
    </dsp:sp>
    <dsp:sp modelId="{010C15BF-8EBA-4DFE-A6B0-5D16BA0E1816}">
      <dsp:nvSpPr>
        <dsp:cNvPr id="0" name=""/>
        <dsp:cNvSpPr/>
      </dsp:nvSpPr>
      <dsp:spPr>
        <a:xfrm>
          <a:off x="5358018" y="2262981"/>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B7F5EAAC-FD65-4D13-A17D-19B4D5A7F09F}">
      <dsp:nvSpPr>
        <dsp:cNvPr id="0" name=""/>
        <dsp:cNvSpPr/>
      </dsp:nvSpPr>
      <dsp:spPr>
        <a:xfrm>
          <a:off x="5330924"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43C4E1-3006-4A5F-B59A-F2B60D0FD906}">
      <dsp:nvSpPr>
        <dsp:cNvPr id="0" name=""/>
        <dsp:cNvSpPr/>
      </dsp:nvSpPr>
      <dsp:spPr>
        <a:xfrm rot="8100000">
          <a:off x="6226868" y="530678"/>
          <a:ext cx="314535" cy="314535"/>
        </a:xfrm>
        <a:prstGeom prst="teardrop">
          <a:avLst>
            <a:gd name="adj" fmla="val 11500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96AB06-9AC7-4D9A-AC44-4B323B9AD4A2}">
      <dsp:nvSpPr>
        <dsp:cNvPr id="0" name=""/>
        <dsp:cNvSpPr/>
      </dsp:nvSpPr>
      <dsp:spPr>
        <a:xfrm>
          <a:off x="6261811" y="565620"/>
          <a:ext cx="244651" cy="244651"/>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9DD51C77-3D38-4533-A91A-3993CE06D8E3}">
      <dsp:nvSpPr>
        <dsp:cNvPr id="0" name=""/>
        <dsp:cNvSpPr/>
      </dsp:nvSpPr>
      <dsp:spPr>
        <a:xfrm>
          <a:off x="6606547" y="923296"/>
          <a:ext cx="1618033" cy="1339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0" kern="1200">
              <a:latin typeface="Calibri"/>
            </a:rPr>
            <a:t>Bootstrap 4 </a:t>
          </a:r>
        </a:p>
      </dsp:txBody>
      <dsp:txXfrm>
        <a:off x="6606547" y="923296"/>
        <a:ext cx="1618033" cy="1339685"/>
      </dsp:txXfrm>
    </dsp:sp>
    <dsp:sp modelId="{A00E74AF-085E-40A9-B5E8-022FBE163B6E}">
      <dsp:nvSpPr>
        <dsp:cNvPr id="0" name=""/>
        <dsp:cNvSpPr/>
      </dsp:nvSpPr>
      <dsp:spPr>
        <a:xfrm>
          <a:off x="6606547" y="452596"/>
          <a:ext cx="1618033" cy="470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kern="1200">
              <a:latin typeface="Calibri"/>
            </a:rPr>
            <a:t>2015</a:t>
          </a:r>
        </a:p>
      </dsp:txBody>
      <dsp:txXfrm>
        <a:off x="6606547" y="452596"/>
        <a:ext cx="1618033" cy="470700"/>
      </dsp:txXfrm>
    </dsp:sp>
    <dsp:sp modelId="{02AB94D8-0756-40FF-AAF5-48815E2F8406}">
      <dsp:nvSpPr>
        <dsp:cNvPr id="0" name=""/>
        <dsp:cNvSpPr/>
      </dsp:nvSpPr>
      <dsp:spPr>
        <a:xfrm>
          <a:off x="6384136" y="923296"/>
          <a:ext cx="0" cy="1339685"/>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0E9C515F-6F5D-4403-AEE0-63C74392D48F}">
      <dsp:nvSpPr>
        <dsp:cNvPr id="0" name=""/>
        <dsp:cNvSpPr/>
      </dsp:nvSpPr>
      <dsp:spPr>
        <a:xfrm>
          <a:off x="6357042" y="2220618"/>
          <a:ext cx="80067" cy="8472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E5E78C-F2D6-E241-B5E6-302510E28260}" type="datetimeFigureOut">
              <a:rPr lang="en-US" smtClean="0"/>
              <a:t>1/23/2026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F72467-9E4A-5F48-8213-DBD401E12215}" type="slidenum">
              <a:rPr lang="en-US" smtClean="0"/>
              <a:t>‹#›</a:t>
            </a:fld>
            <a:endParaRPr lang="en-US"/>
          </a:p>
        </p:txBody>
      </p:sp>
    </p:spTree>
    <p:extLst>
      <p:ext uri="{BB962C8B-B14F-4D97-AF65-F5344CB8AC3E}">
        <p14:creationId xmlns:p14="http://schemas.microsoft.com/office/powerpoint/2010/main" val="319605903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a:t>Lets</a:t>
            </a:r>
            <a:r>
              <a:rPr lang="en-US" baseline="0"/>
              <a:t> get started by recapping the main concepts we have learnt so far –</a:t>
            </a:r>
          </a:p>
          <a:p>
            <a:endParaRPr lang="en-US" baseline="0"/>
          </a:p>
          <a:p>
            <a:r>
              <a:rPr lang="en-US" baseline="0"/>
              <a:t>N-tier architectures</a:t>
            </a:r>
          </a:p>
          <a:p>
            <a:r>
              <a:rPr lang="en-US" baseline="0"/>
              <a:t>Separation of Concerns</a:t>
            </a:r>
          </a:p>
          <a:p>
            <a:endParaRPr lang="en-US" baseline="0"/>
          </a:p>
          <a:p>
            <a:r>
              <a:rPr lang="en-US" baseline="0"/>
              <a:t>Top-Down vs. Bottom Up Design</a:t>
            </a:r>
          </a:p>
          <a:p>
            <a:endParaRPr lang="en-US" baseline="0"/>
          </a:p>
          <a:p>
            <a:r>
              <a:rPr lang="en-US" baseline="0"/>
              <a:t>Abstraction enables us to deal with complexities – and defer details – separate concerns – assign responsibilities</a:t>
            </a:r>
          </a:p>
          <a:p>
            <a:endParaRPr lang="en-US" baseline="0"/>
          </a:p>
          <a:p>
            <a:r>
              <a:rPr lang="en-US" baseline="0"/>
              <a:t>In passing, I also mentioned that there were ANTI-PATTERNS.. Paralysis by analysis (might result from top down)… while Spaghetti code (is likely to result from bottom up)</a:t>
            </a:r>
          </a:p>
          <a:p>
            <a:endParaRPr lang="en-US" baseline="0"/>
          </a:p>
          <a:p>
            <a:r>
              <a:rPr lang="en-US" baseline="0"/>
              <a:t>Pipe and Filter Architectures</a:t>
            </a:r>
          </a:p>
          <a:p>
            <a:r>
              <a:rPr lang="en-US" baseline="0"/>
              <a:t>Dataflow diagrams</a:t>
            </a:r>
            <a:endParaRPr lang="en-US"/>
          </a:p>
        </p:txBody>
      </p:sp>
      <p:sp>
        <p:nvSpPr>
          <p:cNvPr id="4" name="Slide Number Placeholder 3"/>
          <p:cNvSpPr>
            <a:spLocks noGrp="1"/>
          </p:cNvSpPr>
          <p:nvPr>
            <p:ph type="sldNum" sz="quarter" idx="10"/>
          </p:nvPr>
        </p:nvSpPr>
        <p:spPr/>
        <p:txBody>
          <a:bodyPr/>
          <a:lstStyle/>
          <a:p>
            <a:fld id="{7DE1B25F-D1C2-0240-A2FC-D999A37D4334}" type="slidenum">
              <a:rPr lang="en-US" smtClean="0"/>
              <a:pPr/>
              <a:t>2</a:t>
            </a:fld>
            <a:endParaRPr lang="en-US"/>
          </a:p>
        </p:txBody>
      </p:sp>
    </p:spTree>
    <p:extLst>
      <p:ext uri="{BB962C8B-B14F-4D97-AF65-F5344CB8AC3E}">
        <p14:creationId xmlns:p14="http://schemas.microsoft.com/office/powerpoint/2010/main" val="2044224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Rendered W</a:t>
            </a:r>
            <a:r>
              <a:rPr lang="en-US" cap="small"/>
              <a:t>eb Page</a:t>
            </a:r>
            <a:endParaRPr lang="en-US"/>
          </a:p>
        </p:txBody>
      </p:sp>
      <p:sp>
        <p:nvSpPr>
          <p:cNvPr id="4" name="Slide Number Placeholder 3"/>
          <p:cNvSpPr>
            <a:spLocks noGrp="1"/>
          </p:cNvSpPr>
          <p:nvPr>
            <p:ph type="sldNum" sz="quarter" idx="10"/>
          </p:nvPr>
        </p:nvSpPr>
        <p:spPr/>
        <p:txBody>
          <a:bodyPr/>
          <a:lstStyle/>
          <a:p>
            <a:fld id="{11DEE906-4FB1-F44A-8874-D82980BBBDE9}" type="slidenum">
              <a:rPr lang="en-US" smtClean="0"/>
              <a:pPr/>
              <a:t>4</a:t>
            </a:fld>
            <a:endParaRPr lang="en-US"/>
          </a:p>
        </p:txBody>
      </p:sp>
    </p:spTree>
    <p:extLst>
      <p:ext uri="{BB962C8B-B14F-4D97-AF65-F5344CB8AC3E}">
        <p14:creationId xmlns:p14="http://schemas.microsoft.com/office/powerpoint/2010/main" val="1072187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You see the result</a:t>
            </a:r>
            <a:r>
              <a:rPr lang="en-GB" baseline="0"/>
              <a:t> of HTML every single day</a:t>
            </a:r>
            <a:endParaRPr lang="en-GB"/>
          </a:p>
          <a:p>
            <a:r>
              <a:rPr lang="en-GB"/>
              <a:t>Do</a:t>
            </a:r>
            <a:r>
              <a:rPr lang="en-GB" baseline="0"/>
              <a:t> a view page source!</a:t>
            </a:r>
            <a:endParaRPr lang="en-GB"/>
          </a:p>
        </p:txBody>
      </p:sp>
      <p:sp>
        <p:nvSpPr>
          <p:cNvPr id="4" name="Slide Number Placeholder 3"/>
          <p:cNvSpPr>
            <a:spLocks noGrp="1"/>
          </p:cNvSpPr>
          <p:nvPr>
            <p:ph type="sldNum" sz="quarter" idx="10"/>
          </p:nvPr>
        </p:nvSpPr>
        <p:spPr/>
        <p:txBody>
          <a:bodyPr/>
          <a:lstStyle/>
          <a:p>
            <a:fld id="{FF94BD2C-09B3-459D-A87A-911BEEB7430E}" type="slidenum">
              <a:rPr lang="en-GB" smtClean="0"/>
              <a:t>12</a:t>
            </a:fld>
            <a:endParaRPr lang="en-GB"/>
          </a:p>
        </p:txBody>
      </p:sp>
    </p:spTree>
    <p:extLst>
      <p:ext uri="{BB962C8B-B14F-4D97-AF65-F5344CB8AC3E}">
        <p14:creationId xmlns:p14="http://schemas.microsoft.com/office/powerpoint/2010/main" val="1979970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Tags tell the browser something about the plain</a:t>
            </a:r>
            <a:r>
              <a:rPr lang="en-GB" baseline="0"/>
              <a:t> text between an opening and closing tag</a:t>
            </a:r>
          </a:p>
          <a:p>
            <a:r>
              <a:rPr lang="en-GB" baseline="0"/>
              <a:t>e.g. &lt;p&gt; tells the browser it’s a paragraph</a:t>
            </a:r>
          </a:p>
          <a:p>
            <a:r>
              <a:rPr lang="en-GB"/>
              <a:t>Note the basic structure of the</a:t>
            </a:r>
            <a:r>
              <a:rPr lang="en-GB" baseline="0"/>
              <a:t> html document – you have doctype at the top, we’ll discuss this later, it’s not really an html tag</a:t>
            </a:r>
          </a:p>
          <a:p>
            <a:r>
              <a:rPr lang="en-GB" baseline="0"/>
              <a:t>you have html, surrounds the whole document</a:t>
            </a:r>
          </a:p>
          <a:p>
            <a:r>
              <a:rPr lang="en-GB" baseline="0"/>
              <a:t>then head, and a body – this is the basic structure of all webpages – you need to have </a:t>
            </a:r>
            <a:r>
              <a:rPr lang="en-GB" baseline="0" err="1"/>
              <a:t>doctype</a:t>
            </a:r>
            <a:r>
              <a:rPr lang="en-GB" baseline="0"/>
              <a:t>, followed by html, head body</a:t>
            </a:r>
            <a:endParaRPr lang="en-GB"/>
          </a:p>
        </p:txBody>
      </p:sp>
      <p:sp>
        <p:nvSpPr>
          <p:cNvPr id="4" name="Slide Number Placeholder 3"/>
          <p:cNvSpPr>
            <a:spLocks noGrp="1"/>
          </p:cNvSpPr>
          <p:nvPr>
            <p:ph type="sldNum" sz="quarter" idx="10"/>
          </p:nvPr>
        </p:nvSpPr>
        <p:spPr/>
        <p:txBody>
          <a:bodyPr/>
          <a:lstStyle/>
          <a:p>
            <a:fld id="{FF94BD2C-09B3-459D-A87A-911BEEB7430E}" type="slidenum">
              <a:rPr lang="en-GB" smtClean="0"/>
              <a:t>14</a:t>
            </a:fld>
            <a:endParaRPr lang="en-GB"/>
          </a:p>
        </p:txBody>
      </p:sp>
    </p:spTree>
    <p:extLst>
      <p:ext uri="{BB962C8B-B14F-4D97-AF65-F5344CB8AC3E}">
        <p14:creationId xmlns:p14="http://schemas.microsoft.com/office/powerpoint/2010/main" val="3718433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By nested I mean one inside the other, must have</a:t>
            </a:r>
            <a:r>
              <a:rPr lang="en-GB" baseline="0"/>
              <a:t> html as the “root” tag, this means all others are contained within it</a:t>
            </a:r>
          </a:p>
          <a:p>
            <a:r>
              <a:rPr lang="en-GB" baseline="0"/>
              <a:t>Then must have head and body – ONLY ONE OF EACH</a:t>
            </a:r>
          </a:p>
          <a:p>
            <a:r>
              <a:rPr lang="en-GB" baseline="0"/>
              <a:t>The head contains info about the doc such as the title</a:t>
            </a:r>
          </a:p>
          <a:p>
            <a:r>
              <a:rPr lang="en-GB" baseline="0"/>
              <a:t>The title appears in the browser tab</a:t>
            </a:r>
          </a:p>
          <a:p>
            <a:r>
              <a:rPr lang="en-GB" baseline="0"/>
              <a:t>The body tag is where you put the html which is displayed by the browser in the main window</a:t>
            </a:r>
          </a:p>
          <a:p>
            <a:r>
              <a:rPr lang="en-GB" baseline="0"/>
              <a:t>Here we have two tags</a:t>
            </a:r>
            <a:endParaRPr lang="en-GB"/>
          </a:p>
          <a:p>
            <a:endParaRPr lang="en-GB"/>
          </a:p>
        </p:txBody>
      </p:sp>
      <p:sp>
        <p:nvSpPr>
          <p:cNvPr id="4" name="Slide Number Placeholder 3"/>
          <p:cNvSpPr>
            <a:spLocks noGrp="1"/>
          </p:cNvSpPr>
          <p:nvPr>
            <p:ph type="sldNum" sz="quarter" idx="10"/>
          </p:nvPr>
        </p:nvSpPr>
        <p:spPr/>
        <p:txBody>
          <a:bodyPr/>
          <a:lstStyle/>
          <a:p>
            <a:fld id="{FF94BD2C-09B3-459D-A87A-911BEEB7430E}" type="slidenum">
              <a:rPr lang="en-GB" smtClean="0"/>
              <a:t>15</a:t>
            </a:fld>
            <a:endParaRPr lang="en-GB"/>
          </a:p>
        </p:txBody>
      </p:sp>
    </p:spTree>
    <p:extLst>
      <p:ext uri="{BB962C8B-B14F-4D97-AF65-F5344CB8AC3E}">
        <p14:creationId xmlns:p14="http://schemas.microsoft.com/office/powerpoint/2010/main" val="321311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800"/>
              <a:t>What do you remember about HTML – tags, opening and closing, surrounded by html</a:t>
            </a:r>
            <a:r>
              <a:rPr lang="en-GB" sz="1800" baseline="0"/>
              <a:t> tags, nested, collapsing white space</a:t>
            </a:r>
            <a:endParaRPr lang="en-GB" sz="1800"/>
          </a:p>
          <a:p>
            <a:pPr marL="171450" indent="-171450">
              <a:buFont typeface="Arial" panose="020B0604020202020204" pitchFamily="34" charset="0"/>
              <a:buChar char="•"/>
            </a:pPr>
            <a:r>
              <a:rPr lang="en-GB" sz="1800"/>
              <a:t>Must have</a:t>
            </a:r>
            <a:r>
              <a:rPr lang="en-GB" sz="1800" baseline="0"/>
              <a:t> html as the “root” tag, this means all others are contained within it</a:t>
            </a:r>
          </a:p>
          <a:p>
            <a:pPr marL="171450" indent="-171450">
              <a:buFont typeface="Arial" panose="020B0604020202020204" pitchFamily="34" charset="0"/>
              <a:buChar char="•"/>
            </a:pPr>
            <a:r>
              <a:rPr lang="en-GB" sz="1800" baseline="0"/>
              <a:t>Then must have head and body – ONLY ONE OF EACH</a:t>
            </a:r>
          </a:p>
          <a:p>
            <a:pPr marL="171450" indent="-171450">
              <a:buFont typeface="Arial" panose="020B0604020202020204" pitchFamily="34" charset="0"/>
              <a:buChar char="•"/>
            </a:pPr>
            <a:endParaRPr lang="en-GB" sz="1800"/>
          </a:p>
          <a:p>
            <a:pPr marL="171450" indent="-171450">
              <a:buFont typeface="Arial" panose="020B0604020202020204" pitchFamily="34" charset="0"/>
              <a:buChar char="•"/>
            </a:pPr>
            <a:r>
              <a:rPr lang="en-GB" sz="1800"/>
              <a:t>Line break is where text is forced on to the next line, how will</a:t>
            </a:r>
            <a:r>
              <a:rPr lang="en-GB" sz="1800" baseline="0"/>
              <a:t> it look?</a:t>
            </a:r>
            <a:r>
              <a:rPr lang="en-GB" sz="1800"/>
              <a:t> show it to students</a:t>
            </a:r>
          </a:p>
        </p:txBody>
      </p:sp>
      <p:sp>
        <p:nvSpPr>
          <p:cNvPr id="4" name="Slide Number Placeholder 3"/>
          <p:cNvSpPr>
            <a:spLocks noGrp="1"/>
          </p:cNvSpPr>
          <p:nvPr>
            <p:ph type="sldNum" sz="quarter" idx="10"/>
          </p:nvPr>
        </p:nvSpPr>
        <p:spPr/>
        <p:txBody>
          <a:bodyPr/>
          <a:lstStyle/>
          <a:p>
            <a:fld id="{FF94BD2C-09B3-459D-A87A-911BEEB7430E}" type="slidenum">
              <a:rPr lang="en-GB" smtClean="0"/>
              <a:t>16</a:t>
            </a:fld>
            <a:endParaRPr lang="en-GB"/>
          </a:p>
        </p:txBody>
      </p:sp>
    </p:spTree>
    <p:extLst>
      <p:ext uri="{BB962C8B-B14F-4D97-AF65-F5344CB8AC3E}">
        <p14:creationId xmlns:p14="http://schemas.microsoft.com/office/powerpoint/2010/main" val="4239752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600"/>
              <a:t>What do you think a header does?</a:t>
            </a:r>
          </a:p>
          <a:p>
            <a:pPr marL="171450" indent="-171450">
              <a:buFont typeface="Arial" panose="020B0604020202020204" pitchFamily="34" charset="0"/>
              <a:buChar char="•"/>
            </a:pPr>
            <a:endParaRPr lang="en-GB" sz="1600"/>
          </a:p>
          <a:p>
            <a:pPr marL="171450" indent="-171450">
              <a:buFont typeface="Arial" panose="020B0604020202020204" pitchFamily="34" charset="0"/>
              <a:buChar char="•"/>
            </a:pPr>
            <a:r>
              <a:rPr lang="en-GB" sz="1600" baseline="0"/>
              <a:t>NOT  for sizing of text, though by default H1 has largest size getting smaller</a:t>
            </a:r>
          </a:p>
          <a:p>
            <a:pPr marL="171450" indent="-171450">
              <a:buFont typeface="Arial" panose="020B0604020202020204" pitchFamily="34" charset="0"/>
              <a:buChar char="•"/>
            </a:pPr>
            <a:endParaRPr lang="en-GB" sz="1600" baseline="0"/>
          </a:p>
          <a:p>
            <a:pPr marL="171450" indent="-171450">
              <a:buFont typeface="Arial" panose="020B0604020202020204" pitchFamily="34" charset="0"/>
              <a:buChar char="•"/>
            </a:pPr>
            <a:r>
              <a:rPr lang="en-GB" sz="1600" baseline="0"/>
              <a:t>Used to denote importance</a:t>
            </a:r>
          </a:p>
          <a:p>
            <a:pPr marL="171450" indent="-171450">
              <a:buFont typeface="Arial" panose="020B0604020202020204" pitchFamily="34" charset="0"/>
              <a:buChar char="•"/>
            </a:pPr>
            <a:endParaRPr lang="en-GB" sz="1600" baseline="0"/>
          </a:p>
          <a:p>
            <a:pPr marL="171450" indent="-171450">
              <a:buFont typeface="Arial" panose="020B0604020202020204" pitchFamily="34" charset="0"/>
              <a:buChar char="•"/>
            </a:pPr>
            <a:r>
              <a:rPr lang="en-GB" sz="1600" baseline="0"/>
              <a:t>use H1  just once, used by search engines to categorise your webpage, so better to improve ranking of page</a:t>
            </a:r>
            <a:endParaRPr lang="en-GB" sz="1600"/>
          </a:p>
        </p:txBody>
      </p:sp>
      <p:sp>
        <p:nvSpPr>
          <p:cNvPr id="4" name="Slide Number Placeholder 3"/>
          <p:cNvSpPr>
            <a:spLocks noGrp="1"/>
          </p:cNvSpPr>
          <p:nvPr>
            <p:ph type="sldNum" sz="quarter" idx="10"/>
          </p:nvPr>
        </p:nvSpPr>
        <p:spPr/>
        <p:txBody>
          <a:bodyPr/>
          <a:lstStyle/>
          <a:p>
            <a:fld id="{FF94BD2C-09B3-459D-A87A-911BEEB7430E}" type="slidenum">
              <a:rPr lang="en-GB" smtClean="0"/>
              <a:t>17</a:t>
            </a:fld>
            <a:endParaRPr lang="en-GB"/>
          </a:p>
        </p:txBody>
      </p:sp>
    </p:spTree>
    <p:extLst>
      <p:ext uri="{BB962C8B-B14F-4D97-AF65-F5344CB8AC3E}">
        <p14:creationId xmlns:p14="http://schemas.microsoft.com/office/powerpoint/2010/main" val="2568984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1"/>
                </a:solidFill>
                <a:effectLst/>
                <a:latin typeface="+mn-lt"/>
                <a:ea typeface="+mn-ea"/>
                <a:cs typeface="+mn-cs"/>
              </a:rPr>
              <a:t>'collapsing whitespace‘</a:t>
            </a:r>
            <a:r>
              <a:rPr lang="en-GB" sz="1200" b="0" i="0" kern="1200" baseline="0">
                <a:solidFill>
                  <a:schemeClr val="tx1"/>
                </a:solidFill>
                <a:effectLst/>
                <a:latin typeface="+mn-lt"/>
                <a:ea typeface="+mn-ea"/>
                <a:cs typeface="+mn-cs"/>
              </a:rPr>
              <a:t> - </a:t>
            </a:r>
            <a:r>
              <a:rPr lang="en-GB" sz="1200" b="0" i="0" kern="1200">
                <a:solidFill>
                  <a:schemeClr val="tx1"/>
                </a:solidFill>
                <a:effectLst/>
                <a:latin typeface="+mn-lt"/>
                <a:ea typeface="+mn-ea"/>
                <a:cs typeface="+mn-cs"/>
              </a:rPr>
              <a:t>With only a few exceptions, HTML treats whitespace characters -</a:t>
            </a:r>
            <a:r>
              <a:rPr lang="en-GB" sz="1200" b="0" i="0" kern="1200" baseline="0">
                <a:solidFill>
                  <a:schemeClr val="tx1"/>
                </a:solidFill>
                <a:effectLst/>
                <a:latin typeface="+mn-lt"/>
                <a:ea typeface="+mn-ea"/>
                <a:cs typeface="+mn-cs"/>
              </a:rPr>
              <a:t> </a:t>
            </a:r>
            <a:r>
              <a:rPr lang="en-GB" sz="1200" b="0" i="0" kern="1200">
                <a:solidFill>
                  <a:schemeClr val="tx1"/>
                </a:solidFill>
                <a:effectLst/>
                <a:latin typeface="+mn-lt"/>
                <a:ea typeface="+mn-ea"/>
                <a:cs typeface="+mn-cs"/>
              </a:rPr>
              <a:t>treated as a single space and leading/trailing whitespace is eliminated.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0" i="0" kern="120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kern="1200">
                <a:solidFill>
                  <a:schemeClr val="tx1"/>
                </a:solidFill>
                <a:effectLst/>
                <a:latin typeface="+mn-lt"/>
                <a:ea typeface="+mn-ea"/>
                <a:cs typeface="+mn-cs"/>
              </a:rPr>
              <a:t>Here’s a paragraph, denoted by p, again</a:t>
            </a:r>
            <a:r>
              <a:rPr lang="en-GB" sz="1200" b="0" i="0" kern="1200" baseline="0">
                <a:solidFill>
                  <a:schemeClr val="tx1"/>
                </a:solidFill>
                <a:effectLst/>
                <a:latin typeface="+mn-lt"/>
                <a:ea typeface="+mn-ea"/>
                <a:cs typeface="+mn-cs"/>
              </a:rPr>
              <a:t> this is structure</a:t>
            </a:r>
            <a:endParaRPr lang="en-GB"/>
          </a:p>
        </p:txBody>
      </p:sp>
      <p:sp>
        <p:nvSpPr>
          <p:cNvPr id="4" name="Slide Number Placeholder 3"/>
          <p:cNvSpPr>
            <a:spLocks noGrp="1"/>
          </p:cNvSpPr>
          <p:nvPr>
            <p:ph type="sldNum" sz="quarter" idx="10"/>
          </p:nvPr>
        </p:nvSpPr>
        <p:spPr/>
        <p:txBody>
          <a:bodyPr/>
          <a:lstStyle/>
          <a:p>
            <a:fld id="{FF94BD2C-09B3-459D-A87A-911BEEB7430E}" type="slidenum">
              <a:rPr lang="en-GB" smtClean="0"/>
              <a:t>18</a:t>
            </a:fld>
            <a:endParaRPr lang="en-GB"/>
          </a:p>
        </p:txBody>
      </p:sp>
    </p:spTree>
    <p:extLst>
      <p:ext uri="{BB962C8B-B14F-4D97-AF65-F5344CB8AC3E}">
        <p14:creationId xmlns:p14="http://schemas.microsoft.com/office/powerpoint/2010/main" val="3840683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8F72467-9E4A-5F48-8213-DBD401E12215}" type="slidenum">
              <a:rPr lang="en-US" smtClean="0"/>
              <a:t>24</a:t>
            </a:fld>
            <a:endParaRPr lang="en-US"/>
          </a:p>
        </p:txBody>
      </p:sp>
    </p:spTree>
    <p:extLst>
      <p:ext uri="{BB962C8B-B14F-4D97-AF65-F5344CB8AC3E}">
        <p14:creationId xmlns:p14="http://schemas.microsoft.com/office/powerpoint/2010/main" val="3467772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B7390-C92D-7F03-3E34-AD2DE9F37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9D62E-5BF5-9781-23F7-362A13FCF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92BEE-B717-04DB-3B68-5DA9BC11DA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2AAB2B-EDBE-BCA5-88B2-620565CDEF40}"/>
              </a:ext>
            </a:extLst>
          </p:cNvPr>
          <p:cNvSpPr>
            <a:spLocks noGrp="1"/>
          </p:cNvSpPr>
          <p:nvPr>
            <p:ph type="sldNum" sz="quarter" idx="5"/>
          </p:nvPr>
        </p:nvSpPr>
        <p:spPr/>
        <p:txBody>
          <a:bodyPr/>
          <a:lstStyle/>
          <a:p>
            <a:fld id="{68F72467-9E4A-5F48-8213-DBD401E12215}" type="slidenum">
              <a:rPr lang="en-US" smtClean="0"/>
              <a:t>25</a:t>
            </a:fld>
            <a:endParaRPr lang="en-US"/>
          </a:p>
        </p:txBody>
      </p:sp>
    </p:spTree>
    <p:extLst>
      <p:ext uri="{BB962C8B-B14F-4D97-AF65-F5344CB8AC3E}">
        <p14:creationId xmlns:p14="http://schemas.microsoft.com/office/powerpoint/2010/main" val="2588499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t>they can be attached to an (X)HTML document in several different ways (inline, embedded or external)</a:t>
            </a:r>
          </a:p>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33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40</a:t>
            </a:fld>
            <a:endParaRPr lang="en-US"/>
          </a:p>
        </p:txBody>
      </p:sp>
    </p:spTree>
    <p:extLst>
      <p:ext uri="{BB962C8B-B14F-4D97-AF65-F5344CB8AC3E}">
        <p14:creationId xmlns:p14="http://schemas.microsoft.com/office/powerpoint/2010/main" val="2916081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a:t>
            </a:r>
            <a:r>
              <a:rPr lang="en-US" err="1"/>
              <a:t>octothorpe</a:t>
            </a:r>
            <a:r>
              <a:rPr lang="en-US"/>
              <a:t>” or hash symbol</a:t>
            </a:r>
          </a:p>
        </p:txBody>
      </p:sp>
      <p:sp>
        <p:nvSpPr>
          <p:cNvPr id="4" name="Slide Number Placeholder 3"/>
          <p:cNvSpPr>
            <a:spLocks noGrp="1"/>
          </p:cNvSpPr>
          <p:nvPr>
            <p:ph type="sldNum" sz="quarter" idx="10"/>
          </p:nvPr>
        </p:nvSpPr>
        <p:spPr/>
        <p:txBody>
          <a:bodyPr/>
          <a:lstStyle/>
          <a:p>
            <a:fld id="{01577CC4-4447-6243-897F-4913234ADAA7}" type="slidenum">
              <a:rPr lang="en-US" smtClean="0"/>
              <a:pPr/>
              <a:t>43</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Another variation on the CSS selector takes advantage of the hierarchical structure of HTML documents</a:t>
            </a:r>
          </a:p>
          <a:p>
            <a:endParaRPr lang="en-US"/>
          </a:p>
          <a:p>
            <a:r>
              <a:rPr lang="en-US" sz="1200"/>
              <a:t>//not to be confused with ‘comma’ grouping</a:t>
            </a:r>
            <a:endParaRPr lang="en-US" sz="1200" b="1"/>
          </a:p>
          <a:p>
            <a:r>
              <a:rPr lang="en-US" sz="1200"/>
              <a:t>&lt;/style&gt;</a:t>
            </a:r>
          </a:p>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46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4783-DBCD-7CD6-B32E-885A970B2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4784A-88FC-E4AC-7F96-4F28A948D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3A7FC-5E27-BE27-8508-4DC38FD26A0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71DFAF9-2254-B524-71F7-7239388FB99A}"/>
              </a:ext>
            </a:extLst>
          </p:cNvPr>
          <p:cNvSpPr>
            <a:spLocks noGrp="1"/>
          </p:cNvSpPr>
          <p:nvPr>
            <p:ph type="sldNum" sz="quarter" idx="10"/>
          </p:nvPr>
        </p:nvSpPr>
        <p:spPr/>
        <p:txBody>
          <a:bodyPr/>
          <a:lstStyle/>
          <a:p>
            <a:fld id="{01577CC4-4447-6243-897F-4913234ADAA7}" type="slidenum">
              <a:rPr lang="en-US" smtClean="0"/>
              <a:pPr/>
              <a:t>45</a:t>
            </a:fld>
            <a:endParaRPr lang="en-US"/>
          </a:p>
        </p:txBody>
      </p:sp>
    </p:spTree>
    <p:extLst>
      <p:ext uri="{BB962C8B-B14F-4D97-AF65-F5344CB8AC3E}">
        <p14:creationId xmlns:p14="http://schemas.microsoft.com/office/powerpoint/2010/main" val="3699902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CSS assumes that every element generates one or more rectangular boxes, called </a:t>
            </a:r>
            <a:r>
              <a:rPr lang="en-US" b="1"/>
              <a:t>element boxes</a:t>
            </a:r>
          </a:p>
          <a:p>
            <a:pPr lvl="1"/>
            <a:r>
              <a:rPr lang="en-US"/>
              <a:t>each element box has a content area at its core</a:t>
            </a:r>
          </a:p>
          <a:p>
            <a:pPr lvl="1"/>
            <a:r>
              <a:rPr lang="en-US"/>
              <a:t>the content is surrounded by optional amounts of </a:t>
            </a:r>
            <a:r>
              <a:rPr lang="en-US" b="1"/>
              <a:t>padding</a:t>
            </a:r>
            <a:r>
              <a:rPr lang="en-US"/>
              <a:t>, </a:t>
            </a:r>
            <a:r>
              <a:rPr lang="en-US" b="1"/>
              <a:t>borders</a:t>
            </a:r>
            <a:r>
              <a:rPr lang="en-US"/>
              <a:t> and </a:t>
            </a:r>
            <a:r>
              <a:rPr lang="en-US" b="1"/>
              <a:t>margins</a:t>
            </a:r>
          </a:p>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52</a:t>
            </a:fld>
            <a:endParaRPr lang="en-US"/>
          </a:p>
        </p:txBody>
      </p:sp>
    </p:spTree>
    <p:extLst>
      <p:ext uri="{BB962C8B-B14F-4D97-AF65-F5344CB8AC3E}">
        <p14:creationId xmlns:p14="http://schemas.microsoft.com/office/powerpoint/2010/main" val="1239050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Elements are floated horizontally, this means that an element can only be floated left or right, not up or down.</a:t>
            </a:r>
          </a:p>
          <a:p>
            <a:r>
              <a:rPr lang="en-US" sz="1200" kern="1200">
                <a:solidFill>
                  <a:schemeClr val="tx1"/>
                </a:solidFill>
                <a:latin typeface="+mn-lt"/>
                <a:ea typeface="+mn-ea"/>
                <a:cs typeface="+mn-cs"/>
              </a:rPr>
              <a:t>A floated element will move as far to the left or right as it can. Usually this means all the way to the left or right of the containing element.</a:t>
            </a:r>
          </a:p>
          <a:p>
            <a:r>
              <a:rPr lang="en-US" sz="1200" kern="1200">
                <a:solidFill>
                  <a:schemeClr val="tx1"/>
                </a:solidFill>
                <a:latin typeface="+mn-lt"/>
                <a:ea typeface="+mn-ea"/>
                <a:cs typeface="+mn-cs"/>
              </a:rPr>
              <a:t>The elements after the floating element will flow around it.</a:t>
            </a:r>
          </a:p>
          <a:p>
            <a:r>
              <a:rPr lang="en-US" sz="1200" kern="1200">
                <a:solidFill>
                  <a:schemeClr val="tx1"/>
                </a:solidFill>
                <a:latin typeface="+mn-lt"/>
                <a:ea typeface="+mn-ea"/>
                <a:cs typeface="+mn-cs"/>
              </a:rPr>
              <a:t>The elements before the floating element will not be affected.</a:t>
            </a:r>
          </a:p>
          <a:p>
            <a:endParaRPr lang="en-US" sz="1200" kern="1200">
              <a:solidFill>
                <a:schemeClr val="tx1"/>
              </a:solidFill>
              <a:latin typeface="+mn-lt"/>
              <a:ea typeface="+mn-ea"/>
              <a:cs typeface="+mn-cs"/>
            </a:endParaRPr>
          </a:p>
          <a:p>
            <a:endParaRPr lang="en-US" sz="1200" kern="1200">
              <a:solidFill>
                <a:schemeClr val="tx1"/>
              </a:solidFill>
              <a:latin typeface="+mn-lt"/>
              <a:ea typeface="+mn-ea"/>
              <a:cs typeface="+mn-cs"/>
            </a:endParaRPr>
          </a:p>
          <a:p>
            <a:endParaRPr lang="en-US" sz="1200" kern="1200">
              <a:solidFill>
                <a:schemeClr val="tx1"/>
              </a:solidFill>
              <a:latin typeface="+mn-lt"/>
              <a:ea typeface="+mn-ea"/>
              <a:cs typeface="+mn-cs"/>
            </a:endParaRPr>
          </a:p>
          <a:p>
            <a:endParaRPr lang="en-US" sz="1200" kern="1200">
              <a:solidFill>
                <a:schemeClr val="tx1"/>
              </a:solidFill>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56</a:t>
            </a:fld>
            <a:endParaRPr lang="en-US"/>
          </a:p>
        </p:txBody>
      </p:sp>
    </p:spTree>
    <p:extLst>
      <p:ext uri="{BB962C8B-B14F-4D97-AF65-F5344CB8AC3E}">
        <p14:creationId xmlns:p14="http://schemas.microsoft.com/office/powerpoint/2010/main" val="916965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The CSS positioning properties allow you to position an element. It can also place an element behind another, and specify what should happen when an element's content is too big.</a:t>
            </a:r>
          </a:p>
          <a:p>
            <a:r>
              <a:rPr lang="en-US" sz="1200" kern="1200">
                <a:solidFill>
                  <a:schemeClr val="tx1"/>
                </a:solidFill>
                <a:latin typeface="+mn-lt"/>
                <a:ea typeface="+mn-ea"/>
                <a:cs typeface="+mn-cs"/>
              </a:rPr>
              <a:t>Elements can be positioned using the top, bottom, left, and right properties. However, these properties will not work unless the position property is set first. They also work differently depending on the positioning method.</a:t>
            </a:r>
          </a:p>
          <a:p>
            <a:br>
              <a:rPr lang="en-US" sz="1200" kern="1200">
                <a:solidFill>
                  <a:schemeClr val="tx1"/>
                </a:solidFill>
                <a:latin typeface="+mn-lt"/>
                <a:ea typeface="+mn-ea"/>
                <a:cs typeface="+mn-cs"/>
              </a:rPr>
            </a:br>
            <a:r>
              <a:rPr lang="en-US" sz="1200" kern="1200">
                <a:solidFill>
                  <a:schemeClr val="tx1"/>
                </a:solidFill>
                <a:latin typeface="+mn-lt"/>
                <a:ea typeface="+mn-ea"/>
                <a:cs typeface="+mn-cs"/>
              </a:rPr>
              <a:t>Fixed: will stay there even if I scroll</a:t>
            </a:r>
            <a:br>
              <a:rPr lang="en-US" sz="1200" kern="1200">
                <a:solidFill>
                  <a:schemeClr val="tx1"/>
                </a:solidFill>
                <a:latin typeface="+mn-lt"/>
                <a:ea typeface="+mn-ea"/>
                <a:cs typeface="+mn-cs"/>
              </a:rPr>
            </a:br>
            <a:r>
              <a:rPr lang="en-US" sz="1200" kern="1200">
                <a:solidFill>
                  <a:schemeClr val="tx1"/>
                </a:solidFill>
                <a:latin typeface="+mn-lt"/>
                <a:ea typeface="+mn-ea"/>
                <a:cs typeface="+mn-cs"/>
              </a:rPr>
              <a:t>Absolute: fixed position within its block</a:t>
            </a:r>
            <a:br>
              <a:rPr lang="en-US" sz="1200" kern="1200">
                <a:solidFill>
                  <a:schemeClr val="tx1"/>
                </a:solidFill>
                <a:latin typeface="+mn-lt"/>
                <a:ea typeface="+mn-ea"/>
                <a:cs typeface="+mn-cs"/>
              </a:rPr>
            </a:br>
            <a:r>
              <a:rPr lang="en-US" sz="1200" kern="1200">
                <a:solidFill>
                  <a:schemeClr val="tx1"/>
                </a:solidFill>
                <a:latin typeface="+mn-lt"/>
                <a:ea typeface="+mn-ea"/>
                <a:cs typeface="+mn-cs"/>
              </a:rPr>
              <a:t>Relative: relative to its container</a:t>
            </a:r>
          </a:p>
          <a:p>
            <a:r>
              <a:rPr lang="en-US" sz="1200" kern="1200">
                <a:solidFill>
                  <a:schemeClr val="tx1"/>
                </a:solidFill>
                <a:latin typeface="+mn-lt"/>
                <a:ea typeface="+mn-ea"/>
                <a:cs typeface="+mn-cs"/>
              </a:rPr>
              <a:t>Static Positioning</a:t>
            </a:r>
          </a:p>
          <a:p>
            <a:r>
              <a:rPr lang="en-US" sz="1200" kern="1200">
                <a:solidFill>
                  <a:schemeClr val="tx1"/>
                </a:solidFill>
                <a:latin typeface="+mn-lt"/>
                <a:ea typeface="+mn-ea"/>
                <a:cs typeface="+mn-cs"/>
              </a:rPr>
              <a:t>HTML elements are positioned static by default. A static positioned element is always positioned according to the normal flow of the page.</a:t>
            </a:r>
          </a:p>
          <a:p>
            <a:r>
              <a:rPr lang="en-US" sz="1200" kern="1200">
                <a:solidFill>
                  <a:schemeClr val="tx1"/>
                </a:solidFill>
                <a:latin typeface="+mn-lt"/>
                <a:ea typeface="+mn-ea"/>
                <a:cs typeface="+mn-cs"/>
              </a:rPr>
              <a:t>Static positioned elements are not affected by the top, bottom, left, and right properties.</a:t>
            </a:r>
          </a:p>
          <a:p>
            <a:endParaRPr lang="en-US" sz="1200" kern="1200">
              <a:solidFill>
                <a:schemeClr val="tx1"/>
              </a:solidFill>
              <a:latin typeface="+mn-lt"/>
              <a:ea typeface="+mn-ea"/>
              <a:cs typeface="+mn-cs"/>
            </a:endParaRPr>
          </a:p>
          <a:p>
            <a:endParaRPr lang="en-US" sz="1200" kern="1200">
              <a:solidFill>
                <a:schemeClr val="tx1"/>
              </a:solidFill>
              <a:latin typeface="+mn-lt"/>
              <a:ea typeface="+mn-ea"/>
              <a:cs typeface="+mn-cs"/>
            </a:endParaRPr>
          </a:p>
          <a:p>
            <a:r>
              <a:rPr lang="en-US" sz="1200" kern="1200">
                <a:solidFill>
                  <a:schemeClr val="tx1"/>
                </a:solidFill>
                <a:latin typeface="+mn-lt"/>
                <a:ea typeface="+mn-ea"/>
                <a:cs typeface="+mn-cs"/>
              </a:rPr>
              <a:t>Fixed Positioning</a:t>
            </a:r>
          </a:p>
          <a:p>
            <a:r>
              <a:rPr lang="en-US" sz="1200" kern="1200">
                <a:solidFill>
                  <a:schemeClr val="tx1"/>
                </a:solidFill>
                <a:latin typeface="+mn-lt"/>
                <a:ea typeface="+mn-ea"/>
                <a:cs typeface="+mn-cs"/>
              </a:rPr>
              <a:t>An element with fixed position is positioned relative to the browser window.</a:t>
            </a:r>
          </a:p>
          <a:p>
            <a:endParaRPr lang="en-US" sz="1200" kern="1200">
              <a:solidFill>
                <a:schemeClr val="tx1"/>
              </a:solidFill>
              <a:latin typeface="+mn-lt"/>
              <a:ea typeface="+mn-ea"/>
              <a:cs typeface="+mn-cs"/>
            </a:endParaRPr>
          </a:p>
          <a:p>
            <a:r>
              <a:rPr lang="en-US" sz="1200" kern="1200" err="1">
                <a:solidFill>
                  <a:schemeClr val="tx1"/>
                </a:solidFill>
                <a:latin typeface="+mn-lt"/>
                <a:ea typeface="+mn-ea"/>
                <a:cs typeface="+mn-cs"/>
              </a:rPr>
              <a:t>p.pos_fixed</a:t>
            </a:r>
            <a:endParaRPr lang="en-US" sz="1200" kern="1200">
              <a:solidFill>
                <a:schemeClr val="tx1"/>
              </a:solidFill>
              <a:latin typeface="+mn-lt"/>
              <a:ea typeface="+mn-ea"/>
              <a:cs typeface="+mn-cs"/>
            </a:endParaRPr>
          </a:p>
          <a:p>
            <a:r>
              <a:rPr lang="en-US" sz="1200" kern="1200">
                <a:solidFill>
                  <a:schemeClr val="tx1"/>
                </a:solidFill>
                <a:latin typeface="+mn-lt"/>
                <a:ea typeface="+mn-ea"/>
                <a:cs typeface="+mn-cs"/>
              </a:rPr>
              <a:t>{</a:t>
            </a:r>
          </a:p>
          <a:p>
            <a:r>
              <a:rPr lang="en-US" sz="1200" kern="1200" err="1">
                <a:solidFill>
                  <a:schemeClr val="tx1"/>
                </a:solidFill>
                <a:latin typeface="+mn-lt"/>
                <a:ea typeface="+mn-ea"/>
                <a:cs typeface="+mn-cs"/>
              </a:rPr>
              <a:t>position:fixed</a:t>
            </a:r>
            <a:r>
              <a:rPr lang="en-US" sz="1200" kern="1200">
                <a:solidFill>
                  <a:schemeClr val="tx1"/>
                </a:solidFill>
                <a:latin typeface="+mn-lt"/>
                <a:ea typeface="+mn-ea"/>
                <a:cs typeface="+mn-cs"/>
              </a:rPr>
              <a:t>;</a:t>
            </a:r>
          </a:p>
          <a:p>
            <a:r>
              <a:rPr lang="en-US" sz="1200" kern="1200">
                <a:solidFill>
                  <a:schemeClr val="tx1"/>
                </a:solidFill>
                <a:latin typeface="+mn-lt"/>
                <a:ea typeface="+mn-ea"/>
                <a:cs typeface="+mn-cs"/>
              </a:rPr>
              <a:t>top:30px;</a:t>
            </a:r>
          </a:p>
          <a:p>
            <a:r>
              <a:rPr lang="en-US" sz="1200" kern="1200">
                <a:solidFill>
                  <a:schemeClr val="tx1"/>
                </a:solidFill>
                <a:latin typeface="+mn-lt"/>
                <a:ea typeface="+mn-ea"/>
                <a:cs typeface="+mn-cs"/>
              </a:rPr>
              <a:t>right:5px;</a:t>
            </a:r>
          </a:p>
          <a:p>
            <a:r>
              <a:rPr lang="en-US" sz="1200" kern="1200">
                <a:solidFill>
                  <a:schemeClr val="tx1"/>
                </a:solidFill>
                <a:latin typeface="+mn-lt"/>
                <a:ea typeface="+mn-ea"/>
                <a:cs typeface="+mn-cs"/>
              </a:rPr>
              <a:t>}</a:t>
            </a:r>
          </a:p>
          <a:p>
            <a:endParaRPr lang="en-US" sz="1200" kern="1200">
              <a:solidFill>
                <a:schemeClr val="tx1"/>
              </a:solidFill>
              <a:latin typeface="+mn-lt"/>
              <a:ea typeface="+mn-ea"/>
              <a:cs typeface="+mn-cs"/>
            </a:endParaRPr>
          </a:p>
          <a:p>
            <a:endParaRPr lang="en-US" sz="1200" kern="1200">
              <a:solidFill>
                <a:schemeClr val="tx1"/>
              </a:solidFill>
              <a:latin typeface="+mn-lt"/>
              <a:ea typeface="+mn-ea"/>
              <a:cs typeface="+mn-cs"/>
            </a:endParaRPr>
          </a:p>
          <a:p>
            <a:r>
              <a:rPr lang="en-US" sz="1200" kern="1200">
                <a:solidFill>
                  <a:schemeClr val="tx1"/>
                </a:solidFill>
                <a:latin typeface="+mn-lt"/>
                <a:ea typeface="+mn-ea"/>
                <a:cs typeface="+mn-cs"/>
              </a:rPr>
              <a:t>Relative Positioning</a:t>
            </a:r>
          </a:p>
          <a:p>
            <a:r>
              <a:rPr lang="en-US" sz="1200" kern="1200">
                <a:solidFill>
                  <a:schemeClr val="tx1"/>
                </a:solidFill>
                <a:latin typeface="+mn-lt"/>
                <a:ea typeface="+mn-ea"/>
                <a:cs typeface="+mn-cs"/>
              </a:rPr>
              <a:t>A relative positioned element is positioned relative to its normal position.</a:t>
            </a:r>
          </a:p>
          <a:p>
            <a:r>
              <a:rPr lang="en-US" sz="1200" kern="1200">
                <a:solidFill>
                  <a:schemeClr val="tx1"/>
                </a:solidFill>
                <a:latin typeface="+mn-lt"/>
                <a:ea typeface="+mn-ea"/>
                <a:cs typeface="+mn-cs"/>
              </a:rPr>
              <a:t>h2.pos_top</a:t>
            </a:r>
          </a:p>
          <a:p>
            <a:r>
              <a:rPr lang="en-US" sz="1200" kern="1200">
                <a:solidFill>
                  <a:schemeClr val="tx1"/>
                </a:solidFill>
                <a:latin typeface="+mn-lt"/>
                <a:ea typeface="+mn-ea"/>
                <a:cs typeface="+mn-cs"/>
              </a:rPr>
              <a:t>{</a:t>
            </a:r>
          </a:p>
          <a:p>
            <a:r>
              <a:rPr lang="en-US" sz="1200" kern="1200" err="1">
                <a:solidFill>
                  <a:schemeClr val="tx1"/>
                </a:solidFill>
                <a:latin typeface="+mn-lt"/>
                <a:ea typeface="+mn-ea"/>
                <a:cs typeface="+mn-cs"/>
              </a:rPr>
              <a:t>position:relative</a:t>
            </a:r>
            <a:r>
              <a:rPr lang="en-US" sz="1200" kern="1200">
                <a:solidFill>
                  <a:schemeClr val="tx1"/>
                </a:solidFill>
                <a:latin typeface="+mn-lt"/>
                <a:ea typeface="+mn-ea"/>
                <a:cs typeface="+mn-cs"/>
              </a:rPr>
              <a:t>;</a:t>
            </a:r>
          </a:p>
          <a:p>
            <a:r>
              <a:rPr lang="en-US" sz="1200" kern="1200">
                <a:solidFill>
                  <a:schemeClr val="tx1"/>
                </a:solidFill>
                <a:latin typeface="+mn-lt"/>
                <a:ea typeface="+mn-ea"/>
                <a:cs typeface="+mn-cs"/>
              </a:rPr>
              <a:t>top:-50px;</a:t>
            </a:r>
          </a:p>
          <a:p>
            <a:r>
              <a:rPr lang="en-US" sz="1200" kern="1200">
                <a:solidFill>
                  <a:schemeClr val="tx1"/>
                </a:solidFill>
                <a:latin typeface="+mn-lt"/>
                <a:ea typeface="+mn-ea"/>
                <a:cs typeface="+mn-cs"/>
              </a:rPr>
              <a:t>}</a:t>
            </a:r>
          </a:p>
          <a:p>
            <a:r>
              <a:rPr lang="en-US" sz="1200" kern="1200">
                <a:solidFill>
                  <a:schemeClr val="tx1"/>
                </a:solidFill>
                <a:latin typeface="+mn-lt"/>
                <a:ea typeface="+mn-ea"/>
                <a:cs typeface="+mn-cs"/>
              </a:rPr>
              <a:t>Absolute Positioning</a:t>
            </a:r>
          </a:p>
          <a:p>
            <a:r>
              <a:rPr lang="en-US" sz="1200" kern="1200">
                <a:solidFill>
                  <a:schemeClr val="tx1"/>
                </a:solidFill>
                <a:latin typeface="+mn-lt"/>
                <a:ea typeface="+mn-ea"/>
                <a:cs typeface="+mn-cs"/>
              </a:rPr>
              <a:t>An absolute position element is positioned relative to the first parent element that has a position other than static. </a:t>
            </a:r>
          </a:p>
          <a:p>
            <a:endParaRPr lang="en-US" sz="1200" kern="1200">
              <a:solidFill>
                <a:schemeClr val="tx1"/>
              </a:solidFill>
              <a:latin typeface="+mn-lt"/>
              <a:ea typeface="+mn-ea"/>
              <a:cs typeface="+mn-cs"/>
            </a:endParaRPr>
          </a:p>
          <a:p>
            <a:r>
              <a:rPr lang="en-US" sz="1200" kern="1200">
                <a:solidFill>
                  <a:schemeClr val="tx1"/>
                </a:solidFill>
                <a:latin typeface="+mn-lt"/>
                <a:ea typeface="+mn-ea"/>
                <a:cs typeface="+mn-cs"/>
              </a:rPr>
              <a:t>h2</a:t>
            </a:r>
          </a:p>
          <a:p>
            <a:r>
              <a:rPr lang="en-US" sz="1200" kern="1200">
                <a:solidFill>
                  <a:schemeClr val="tx1"/>
                </a:solidFill>
                <a:latin typeface="+mn-lt"/>
                <a:ea typeface="+mn-ea"/>
                <a:cs typeface="+mn-cs"/>
              </a:rPr>
              <a:t>{</a:t>
            </a:r>
          </a:p>
          <a:p>
            <a:r>
              <a:rPr lang="en-US" sz="1200" kern="1200" err="1">
                <a:solidFill>
                  <a:schemeClr val="tx1"/>
                </a:solidFill>
                <a:latin typeface="+mn-lt"/>
                <a:ea typeface="+mn-ea"/>
                <a:cs typeface="+mn-cs"/>
              </a:rPr>
              <a:t>position:absolute</a:t>
            </a:r>
            <a:r>
              <a:rPr lang="en-US" sz="1200" kern="1200">
                <a:solidFill>
                  <a:schemeClr val="tx1"/>
                </a:solidFill>
                <a:latin typeface="+mn-lt"/>
                <a:ea typeface="+mn-ea"/>
                <a:cs typeface="+mn-cs"/>
              </a:rPr>
              <a:t>;</a:t>
            </a:r>
          </a:p>
          <a:p>
            <a:r>
              <a:rPr lang="en-US" sz="1200" kern="1200">
                <a:solidFill>
                  <a:schemeClr val="tx1"/>
                </a:solidFill>
                <a:latin typeface="+mn-lt"/>
                <a:ea typeface="+mn-ea"/>
                <a:cs typeface="+mn-cs"/>
              </a:rPr>
              <a:t>left:100px;</a:t>
            </a:r>
          </a:p>
          <a:p>
            <a:r>
              <a:rPr lang="en-US" sz="1200" kern="1200">
                <a:solidFill>
                  <a:schemeClr val="tx1"/>
                </a:solidFill>
                <a:latin typeface="+mn-lt"/>
                <a:ea typeface="+mn-ea"/>
                <a:cs typeface="+mn-cs"/>
              </a:rPr>
              <a:t>top:150px;</a:t>
            </a:r>
          </a:p>
          <a:p>
            <a:r>
              <a:rPr lang="en-US" sz="1200" kern="1200">
                <a:solidFill>
                  <a:schemeClr val="tx1"/>
                </a:solidFill>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57</a:t>
            </a:fld>
            <a:endParaRPr lang="en-US"/>
          </a:p>
        </p:txBody>
      </p:sp>
    </p:spTree>
    <p:extLst>
      <p:ext uri="{BB962C8B-B14F-4D97-AF65-F5344CB8AC3E}">
        <p14:creationId xmlns:p14="http://schemas.microsoft.com/office/powerpoint/2010/main" val="916965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577CC4-4447-6243-897F-4913234ADAA7}" type="slidenum">
              <a:rPr lang="en-US" smtClean="0"/>
              <a:pPr/>
              <a:t>60</a:t>
            </a:fld>
            <a:endParaRPr lang="en-US"/>
          </a:p>
        </p:txBody>
      </p:sp>
    </p:spTree>
    <p:extLst>
      <p:ext uri="{BB962C8B-B14F-4D97-AF65-F5344CB8AC3E}">
        <p14:creationId xmlns:p14="http://schemas.microsoft.com/office/powerpoint/2010/main" val="30441604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4217" y="2130425"/>
            <a:ext cx="8451115"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5" name="Footer Placeholder 4"/>
          <p:cNvSpPr>
            <a:spLocks noGrp="1"/>
          </p:cNvSpPr>
          <p:nvPr>
            <p:ph type="ftr" sz="quarter" idx="11"/>
          </p:nvPr>
        </p:nvSpPr>
        <p:spPr/>
        <p:txBody>
          <a:bodyPr/>
          <a:lstStyle/>
          <a:p>
            <a:r>
              <a:rPr lang="en-US"/>
              <a:t>DIM3</a:t>
            </a:r>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pic>
        <p:nvPicPr>
          <p:cNvPr id="7" name="Picture 6" descr="Unknown-1.jpe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50000" y="250236"/>
            <a:ext cx="2336800" cy="711200"/>
          </a:xfrm>
          <a:prstGeom prst="rect">
            <a:avLst/>
          </a:prstGeom>
        </p:spPr>
      </p:pic>
    </p:spTree>
    <p:extLst>
      <p:ext uri="{BB962C8B-B14F-4D97-AF65-F5344CB8AC3E}">
        <p14:creationId xmlns:p14="http://schemas.microsoft.com/office/powerpoint/2010/main" val="1407751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696324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295C18E-71E3-2445-B53D-B08FF66D11AD}"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437238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295C18E-71E3-2445-B53D-B08FF66D11AD}"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349148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295C18E-71E3-2445-B53D-B08FF66D11AD}"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244934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295C18E-71E3-2445-B53D-B08FF66D11AD}"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751781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5C18E-71E3-2445-B53D-B08FF66D11AD}"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048087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295C18E-71E3-2445-B53D-B08FF66D11AD}"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37875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295C18E-71E3-2445-B53D-B08FF66D11AD}"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3176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391819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295C18E-71E3-2445-B53D-B08FF66D11AD}"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9DDB0-81EE-D14D-B800-31495205A3AC}" type="slidenum">
              <a:rPr lang="en-US" smtClean="0"/>
              <a:t>‹#›</a:t>
            </a:fld>
            <a:endParaRPr lang="en-US"/>
          </a:p>
        </p:txBody>
      </p:sp>
    </p:spTree>
    <p:extLst>
      <p:ext uri="{BB962C8B-B14F-4D97-AF65-F5344CB8AC3E}">
        <p14:creationId xmlns:p14="http://schemas.microsoft.com/office/powerpoint/2010/main" val="148812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628"/>
            <a:ext cx="9144000" cy="1143000"/>
          </a:xfrm>
          <a:prstGeom prst="rect">
            <a:avLst/>
          </a:prstGeom>
          <a:solidFill>
            <a:schemeClr val="tx1">
              <a:lumMod val="95000"/>
              <a:lumOff val="5000"/>
            </a:schemeClr>
          </a:solidFill>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95C18E-71E3-2445-B53D-B08FF66D11AD}" type="datetimeFigureOut">
              <a:rPr lang="en-US" smtClean="0"/>
              <a:t>1/23/2026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C9DDB0-81EE-D14D-B800-31495205A3AC}" type="slidenum">
              <a:rPr lang="en-US" smtClean="0"/>
              <a:t>‹#›</a:t>
            </a:fld>
            <a:endParaRPr lang="en-US"/>
          </a:p>
        </p:txBody>
      </p:sp>
    </p:spTree>
    <p:extLst>
      <p:ext uri="{BB962C8B-B14F-4D97-AF65-F5344CB8AC3E}">
        <p14:creationId xmlns:p14="http://schemas.microsoft.com/office/powerpoint/2010/main" val="3375270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bg1"/>
          </a:solidFill>
          <a:latin typeface="American Typewriter"/>
          <a:ea typeface="+mj-ea"/>
          <a:cs typeface="American Typewriter"/>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hyperlink" Target="https://link-springer-com.ezproxy2.lib.gla.ac.uk/book/10.1007/978-1-4842-9250-1" TargetMode="External"/><Relationship Id="rId2" Type="http://schemas.openxmlformats.org/officeDocument/2006/relationships/hyperlink" Target="https://ebookcentral.proquest.com/lib/gla/detail.action?docID=1138437" TargetMode="External"/><Relationship Id="rId1" Type="http://schemas.openxmlformats.org/officeDocument/2006/relationships/slideLayout" Target="../slideLayouts/slideLayout2.xml"/><Relationship Id="rId4" Type="http://schemas.openxmlformats.org/officeDocument/2006/relationships/hyperlink" Target="https://ebookcentral.proquest.com/lib/gla/detail.action?docID=599444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w3schools.com/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hyperlink" Target="https://creativecommons.org/licenses/by-nc-sa/3.0/" TargetMode="External"/><Relationship Id="rId3" Type="http://schemas.openxmlformats.org/officeDocument/2006/relationships/image" Target="../media/image8.svg"/><Relationship Id="rId7" Type="http://schemas.openxmlformats.org/officeDocument/2006/relationships/hyperlink" Target="https://medioseducativos.com/la-historia-de-internet/" TargetMode="Externa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jpeg"/><Relationship Id="rId5" Type="http://schemas.openxmlformats.org/officeDocument/2006/relationships/image" Target="../media/image10.sv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hyperlink" Target="https://sustainablewebdesign.org/guideline-categories/web-development/" TargetMode="External"/><Relationship Id="rId2" Type="http://schemas.openxmlformats.org/officeDocument/2006/relationships/hyperlink" Target="https://w3c.github.io/sustyweb/" TargetMode="External"/><Relationship Id="rId1" Type="http://schemas.openxmlformats.org/officeDocument/2006/relationships/slideLayout" Target="../slideLayouts/slideLayout4.xml"/><Relationship Id="rId5" Type="http://schemas.openxmlformats.org/officeDocument/2006/relationships/hyperlink" Target="https://www.sustainablewebmanifesto.com/" TargetMode="Externa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www.npmjs.com/package/@j9t/obsohtml"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css-tricks.com/why-do-some-html-elements-become-deprecated/" TargetMode="External"/><Relationship Id="rId4" Type="http://schemas.openxmlformats.org/officeDocument/2006/relationships/hyperlink" Target="https://blog.logrocket.com/deprecated-html-elements-and-what-to-use-instead/#frame"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pixabay.com/ko/%ED%94%84%EB%A1%9C%EA%B7%B8%EB%9E%98%EB%B0%8D-html-%EC%BD%94%EB%93%9C-%EC%BD%94%EB%94%A9-%EC%9B%B9-%EC%82%AC%EC%9D%B4%ED%8A%B8-%EA%B0%9C%EB%B0%9C-%EC%9B%B9%EC%82%AC%EC%9D%B4%ED%8A%B8-1009134/" TargetMode="External"/><Relationship Id="rId2" Type="http://schemas.openxmlformats.org/officeDocument/2006/relationships/image" Target="../media/image13.jpeg"/><Relationship Id="rId1" Type="http://schemas.openxmlformats.org/officeDocument/2006/relationships/slideLayout" Target="../slideLayouts/slideLayout8.xml"/><Relationship Id="rId4" Type="http://schemas.openxmlformats.org/officeDocument/2006/relationships/hyperlink" Target="https://meiert.com/en/blog/html-conformance-202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www.w3schools.com/cs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specificity.keegan.s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www.lesliefranke.com/files/reference/csscheatsheet.html" TargetMode="External"/><Relationship Id="rId2" Type="http://schemas.openxmlformats.org/officeDocument/2006/relationships/hyperlink" Target="https://www.w3.org/TR/CSS/#cs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businessinsider.com/guides/tech/does-dark-mode-save-battery?r=US&amp;IR=T"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w3schools.com/bootstrap5/" TargetMode="External"/><Relationship Id="rId2" Type="http://schemas.openxmlformats.org/officeDocument/2006/relationships/hyperlink" Target="https://getbootstrap.com/"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9"/>
            <a:ext cx="8610600" cy="1470025"/>
          </a:xfrm>
        </p:spPr>
        <p:txBody>
          <a:bodyPr>
            <a:normAutofit/>
          </a:bodyPr>
          <a:lstStyle/>
          <a:p>
            <a:r>
              <a:rPr lang="en-US"/>
              <a:t>HTML, CSS and Bootstrap</a:t>
            </a:r>
            <a:endParaRPr lang="en-US" sz="3111"/>
          </a:p>
        </p:txBody>
      </p:sp>
      <p:sp>
        <p:nvSpPr>
          <p:cNvPr id="3" name="Subtitle 2"/>
          <p:cNvSpPr>
            <a:spLocks noGrp="1"/>
          </p:cNvSpPr>
          <p:nvPr>
            <p:ph type="subTitle" idx="1"/>
          </p:nvPr>
        </p:nvSpPr>
        <p:spPr>
          <a:xfrm>
            <a:off x="1371600" y="3600450"/>
            <a:ext cx="6400800" cy="2133600"/>
          </a:xfrm>
        </p:spPr>
        <p:txBody>
          <a:bodyPr>
            <a:normAutofit/>
          </a:bodyPr>
          <a:lstStyle/>
          <a:p>
            <a:endParaRPr lang="en-US"/>
          </a:p>
          <a:p>
            <a:r>
              <a:rPr lang="en-US"/>
              <a:t>Internet Technology</a:t>
            </a:r>
          </a:p>
          <a:p>
            <a:r>
              <a:rPr lang="en-US"/>
              <a:t>ITECH</a:t>
            </a:r>
          </a:p>
        </p:txBody>
      </p:sp>
    </p:spTree>
    <p:extLst>
      <p:ext uri="{BB962C8B-B14F-4D97-AF65-F5344CB8AC3E}">
        <p14:creationId xmlns:p14="http://schemas.microsoft.com/office/powerpoint/2010/main" val="4293158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A6708-398D-E543-9A10-2F289680148D}"/>
              </a:ext>
            </a:extLst>
          </p:cNvPr>
          <p:cNvSpPr>
            <a:spLocks noGrp="1"/>
          </p:cNvSpPr>
          <p:nvPr>
            <p:ph type="title"/>
          </p:nvPr>
        </p:nvSpPr>
        <p:spPr/>
        <p:txBody>
          <a:bodyPr/>
          <a:lstStyle/>
          <a:p>
            <a:r>
              <a:rPr lang="en-US"/>
              <a:t>By the end of Week 3...</a:t>
            </a:r>
          </a:p>
        </p:txBody>
      </p:sp>
      <p:sp>
        <p:nvSpPr>
          <p:cNvPr id="3" name="Content Placeholder 2">
            <a:extLst>
              <a:ext uri="{FF2B5EF4-FFF2-40B4-BE49-F238E27FC236}">
                <a16:creationId xmlns:a16="http://schemas.microsoft.com/office/drawing/2014/main" id="{485A7A78-FA46-CD63-91E1-CEE317021FF3}"/>
              </a:ext>
            </a:extLst>
          </p:cNvPr>
          <p:cNvSpPr>
            <a:spLocks noGrp="1"/>
          </p:cNvSpPr>
          <p:nvPr>
            <p:ph idx="1"/>
          </p:nvPr>
        </p:nvSpPr>
        <p:spPr/>
        <p:txBody>
          <a:bodyPr vert="horz" lIns="91440" tIns="45720" rIns="91440" bIns="45720" rtlCol="0" anchor="t">
            <a:normAutofit/>
          </a:bodyPr>
          <a:lstStyle/>
          <a:p>
            <a:r>
              <a:rPr lang="en-US" dirty="0">
                <a:ea typeface="Calibri"/>
                <a:cs typeface="Calibri"/>
              </a:rPr>
              <a:t>By the end of Week 3, you should be able to:</a:t>
            </a:r>
          </a:p>
          <a:p>
            <a:pPr marL="971550" lvl="1" indent="-514350">
              <a:buAutoNum type="arabicPeriod"/>
            </a:pPr>
            <a:r>
              <a:rPr lang="en-US" dirty="0">
                <a:ea typeface="+mn-lt"/>
                <a:cs typeface="+mn-lt"/>
              </a:rPr>
              <a:t>Construct Structured HTML Documents</a:t>
            </a:r>
          </a:p>
          <a:p>
            <a:pPr marL="971550" lvl="1" indent="-514350">
              <a:buAutoNum type="arabicPeriod"/>
            </a:pPr>
            <a:r>
              <a:rPr lang="en-US" dirty="0">
                <a:ea typeface="+mn-lt"/>
                <a:cs typeface="+mn-lt"/>
              </a:rPr>
              <a:t>Apply CSS for Styling and Layout</a:t>
            </a:r>
            <a:endParaRPr lang="en-US">
              <a:ea typeface="Calibri"/>
              <a:cs typeface="Calibri"/>
            </a:endParaRPr>
          </a:p>
          <a:p>
            <a:pPr marL="971550" lvl="1" indent="-514350">
              <a:buAutoNum type="arabicPeriod"/>
            </a:pPr>
            <a:r>
              <a:rPr lang="en-US" dirty="0">
                <a:ea typeface="Calibri"/>
                <a:cs typeface="Calibri"/>
              </a:rPr>
              <a:t>Understand how front-end frameworks (e.g. Bootstrap) can ease web development</a:t>
            </a:r>
          </a:p>
          <a:p>
            <a:pPr marL="971550" lvl="1" indent="-514350">
              <a:buAutoNum type="arabicPeriod"/>
            </a:pPr>
            <a:r>
              <a:rPr lang="en-US" dirty="0">
                <a:ea typeface="Calibri"/>
                <a:cs typeface="Calibri"/>
              </a:rPr>
              <a:t>Understand Django Database modeling, and using data in templates (own study)</a:t>
            </a:r>
          </a:p>
          <a:p>
            <a:pPr marL="971550" lvl="1" indent="-514350">
              <a:buAutoNum type="arabicPeriod"/>
            </a:pPr>
            <a:r>
              <a:rPr lang="en-US" dirty="0">
                <a:ea typeface="Calibri"/>
                <a:cs typeface="Calibri"/>
              </a:rPr>
              <a:t>Learn about accessibility and sustainability in web design and development</a:t>
            </a:r>
          </a:p>
          <a:p>
            <a:pPr marL="971550" lvl="1" indent="-514350">
              <a:buAutoNum type="arabicPeriod"/>
            </a:pPr>
            <a:endParaRPr lang="en-US">
              <a:ea typeface="Calibri"/>
              <a:cs typeface="Calibri"/>
            </a:endParaRPr>
          </a:p>
          <a:p>
            <a:pPr marL="971550" lvl="1" indent="-514350">
              <a:buAutoNum type="arabicPeriod"/>
            </a:pPr>
            <a:endParaRPr lang="en-US">
              <a:ea typeface="Calibri"/>
              <a:cs typeface="Calibri"/>
            </a:endParaRPr>
          </a:p>
        </p:txBody>
      </p:sp>
    </p:spTree>
    <p:extLst>
      <p:ext uri="{BB962C8B-B14F-4D97-AF65-F5344CB8AC3E}">
        <p14:creationId xmlns:p14="http://schemas.microsoft.com/office/powerpoint/2010/main" val="2060057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28"/>
            <a:ext cx="9144000" cy="1011999"/>
          </a:xfrm>
        </p:spPr>
        <p:txBody>
          <a:bodyPr>
            <a:normAutofit/>
          </a:bodyPr>
          <a:lstStyle/>
          <a:p>
            <a:r>
              <a:rPr lang="en-US"/>
              <a:t>What is in a page?</a:t>
            </a:r>
            <a:endParaRPr lang="en-US" cap="small"/>
          </a:p>
        </p:txBody>
      </p:sp>
      <p:pic>
        <p:nvPicPr>
          <p:cNvPr id="6" name="Picture 5" descr="screenshot of google.co.uk as an example webpage"/>
          <p:cNvPicPr>
            <a:picLocks noChangeAspect="1"/>
          </p:cNvPicPr>
          <p:nvPr/>
        </p:nvPicPr>
        <p:blipFill>
          <a:blip r:embed="rId3"/>
          <a:stretch>
            <a:fillRect/>
          </a:stretch>
        </p:blipFill>
        <p:spPr>
          <a:xfrm>
            <a:off x="209906" y="1714361"/>
            <a:ext cx="3714934" cy="3061815"/>
          </a:xfrm>
          <a:prstGeom prst="rect">
            <a:avLst/>
          </a:prstGeom>
        </p:spPr>
      </p:pic>
      <p:pic>
        <p:nvPicPr>
          <p:cNvPr id="3" name="Picture 2" descr="HTML source code example">
            <a:extLst>
              <a:ext uri="{FF2B5EF4-FFF2-40B4-BE49-F238E27FC236}">
                <a16:creationId xmlns:a16="http://schemas.microsoft.com/office/drawing/2014/main" id="{3C2B6A56-9D57-7118-02AE-9EBD911A7ADC}"/>
              </a:ext>
            </a:extLst>
          </p:cNvPr>
          <p:cNvPicPr>
            <a:picLocks noChangeAspect="1"/>
          </p:cNvPicPr>
          <p:nvPr/>
        </p:nvPicPr>
        <p:blipFill>
          <a:blip r:embed="rId4"/>
          <a:stretch>
            <a:fillRect/>
          </a:stretch>
        </p:blipFill>
        <p:spPr>
          <a:xfrm>
            <a:off x="4783871" y="1011421"/>
            <a:ext cx="3861072" cy="3106299"/>
          </a:xfrm>
          <a:prstGeom prst="rect">
            <a:avLst/>
          </a:prstGeom>
        </p:spPr>
      </p:pic>
      <p:pic>
        <p:nvPicPr>
          <p:cNvPr id="4" name="Picture 3" descr="CSS source code example">
            <a:extLst>
              <a:ext uri="{FF2B5EF4-FFF2-40B4-BE49-F238E27FC236}">
                <a16:creationId xmlns:a16="http://schemas.microsoft.com/office/drawing/2014/main" id="{23ADC966-6531-8D9D-414B-A77D66DCAB23}"/>
              </a:ext>
            </a:extLst>
          </p:cNvPr>
          <p:cNvPicPr>
            <a:picLocks noChangeAspect="1"/>
          </p:cNvPicPr>
          <p:nvPr/>
        </p:nvPicPr>
        <p:blipFill>
          <a:blip r:embed="rId5"/>
          <a:stretch>
            <a:fillRect/>
          </a:stretch>
        </p:blipFill>
        <p:spPr>
          <a:xfrm>
            <a:off x="5002132" y="4005190"/>
            <a:ext cx="3424549" cy="2850990"/>
          </a:xfrm>
          <a:prstGeom prst="rect">
            <a:avLst/>
          </a:prstGeom>
        </p:spPr>
      </p:pic>
      <p:sp>
        <p:nvSpPr>
          <p:cNvPr id="5" name="TextBox 4">
            <a:extLst>
              <a:ext uri="{FF2B5EF4-FFF2-40B4-BE49-F238E27FC236}">
                <a16:creationId xmlns:a16="http://schemas.microsoft.com/office/drawing/2014/main" id="{130282F9-3B58-8BA6-919E-EFD5BB53791E}"/>
              </a:ext>
            </a:extLst>
          </p:cNvPr>
          <p:cNvSpPr txBox="1"/>
          <p:nvPr/>
        </p:nvSpPr>
        <p:spPr>
          <a:xfrm>
            <a:off x="7088947" y="1398369"/>
            <a:ext cx="1709853" cy="461665"/>
          </a:xfrm>
          <a:prstGeom prst="rect">
            <a:avLst/>
          </a:prstGeom>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ea typeface="Calibri"/>
                <a:cs typeface="Calibri"/>
              </a:rPr>
              <a:t>HTML</a:t>
            </a:r>
          </a:p>
        </p:txBody>
      </p:sp>
      <p:sp>
        <p:nvSpPr>
          <p:cNvPr id="7" name="TextBox 6">
            <a:extLst>
              <a:ext uri="{FF2B5EF4-FFF2-40B4-BE49-F238E27FC236}">
                <a16:creationId xmlns:a16="http://schemas.microsoft.com/office/drawing/2014/main" id="{EAEBCADA-2858-5888-44F1-7728ED782D4C}"/>
              </a:ext>
            </a:extLst>
          </p:cNvPr>
          <p:cNvSpPr txBox="1"/>
          <p:nvPr/>
        </p:nvSpPr>
        <p:spPr>
          <a:xfrm>
            <a:off x="7180846" y="4316177"/>
            <a:ext cx="1709853" cy="461665"/>
          </a:xfrm>
          <a:prstGeom prst="rect">
            <a:avLst/>
          </a:prstGeom>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ea typeface="Calibri"/>
                <a:cs typeface="Calibri"/>
              </a:rPr>
              <a:t>CSS</a:t>
            </a:r>
            <a:endParaRPr lang="en-US" dirty="0"/>
          </a:p>
        </p:txBody>
      </p:sp>
    </p:spTree>
    <p:extLst>
      <p:ext uri="{BB962C8B-B14F-4D97-AF65-F5344CB8AC3E}">
        <p14:creationId xmlns:p14="http://schemas.microsoft.com/office/powerpoint/2010/main" val="2982092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Client-side</a:t>
            </a:r>
          </a:p>
        </p:txBody>
      </p:sp>
      <p:pic>
        <p:nvPicPr>
          <p:cNvPr id="4" name="Picture 3" descr="separation.png"/>
          <p:cNvPicPr>
            <a:picLocks noChangeAspect="1"/>
          </p:cNvPicPr>
          <p:nvPr/>
        </p:nvPicPr>
        <p:blipFill>
          <a:blip r:embed="rId3"/>
          <a:stretch>
            <a:fillRect/>
          </a:stretch>
        </p:blipFill>
        <p:spPr>
          <a:xfrm>
            <a:off x="293851" y="2080736"/>
            <a:ext cx="8621549" cy="3409950"/>
          </a:xfrm>
          <a:prstGeom prst="rect">
            <a:avLst/>
          </a:prstGeom>
        </p:spPr>
      </p:pic>
      <p:sp>
        <p:nvSpPr>
          <p:cNvPr id="5" name="TextBox 4"/>
          <p:cNvSpPr txBox="1"/>
          <p:nvPr/>
        </p:nvSpPr>
        <p:spPr>
          <a:xfrm>
            <a:off x="533400" y="1711404"/>
            <a:ext cx="1375008" cy="369332"/>
          </a:xfrm>
          <a:prstGeom prst="rect">
            <a:avLst/>
          </a:prstGeom>
          <a:noFill/>
        </p:spPr>
        <p:txBody>
          <a:bodyPr wrap="square" rtlCol="0">
            <a:spAutoFit/>
          </a:bodyPr>
          <a:lstStyle/>
          <a:p>
            <a:r>
              <a:rPr lang="en-US">
                <a:solidFill>
                  <a:srgbClr val="FF0000"/>
                </a:solidFill>
              </a:rPr>
              <a:t>Presentation</a:t>
            </a:r>
          </a:p>
        </p:txBody>
      </p:sp>
      <p:sp>
        <p:nvSpPr>
          <p:cNvPr id="6" name="TextBox 5"/>
          <p:cNvSpPr txBox="1"/>
          <p:nvPr/>
        </p:nvSpPr>
        <p:spPr>
          <a:xfrm>
            <a:off x="2739792" y="1711404"/>
            <a:ext cx="1375008" cy="369332"/>
          </a:xfrm>
          <a:prstGeom prst="rect">
            <a:avLst/>
          </a:prstGeom>
          <a:noFill/>
        </p:spPr>
        <p:txBody>
          <a:bodyPr wrap="square" rtlCol="0">
            <a:spAutoFit/>
          </a:bodyPr>
          <a:lstStyle/>
          <a:p>
            <a:r>
              <a:rPr lang="en-US">
                <a:solidFill>
                  <a:srgbClr val="FF0000"/>
                </a:solidFill>
              </a:rPr>
              <a:t>Processing</a:t>
            </a:r>
          </a:p>
        </p:txBody>
      </p:sp>
      <p:sp>
        <p:nvSpPr>
          <p:cNvPr id="7" name="TextBox 6"/>
          <p:cNvSpPr txBox="1"/>
          <p:nvPr/>
        </p:nvSpPr>
        <p:spPr>
          <a:xfrm>
            <a:off x="1825392" y="4607004"/>
            <a:ext cx="1375008" cy="369332"/>
          </a:xfrm>
          <a:prstGeom prst="rect">
            <a:avLst/>
          </a:prstGeom>
          <a:noFill/>
        </p:spPr>
        <p:txBody>
          <a:bodyPr wrap="square" rtlCol="0">
            <a:spAutoFit/>
          </a:bodyPr>
          <a:lstStyle/>
          <a:p>
            <a:r>
              <a:rPr lang="en-US">
                <a:solidFill>
                  <a:srgbClr val="FF0000"/>
                </a:solidFill>
              </a:rPr>
              <a:t>Content</a:t>
            </a:r>
          </a:p>
        </p:txBody>
      </p:sp>
      <p:sp>
        <p:nvSpPr>
          <p:cNvPr id="8" name="TextBox 7"/>
          <p:cNvSpPr txBox="1"/>
          <p:nvPr/>
        </p:nvSpPr>
        <p:spPr>
          <a:xfrm>
            <a:off x="5029200" y="1711404"/>
            <a:ext cx="1375008" cy="369332"/>
          </a:xfrm>
          <a:prstGeom prst="rect">
            <a:avLst/>
          </a:prstGeom>
          <a:noFill/>
        </p:spPr>
        <p:txBody>
          <a:bodyPr wrap="square" rtlCol="0">
            <a:spAutoFit/>
          </a:bodyPr>
          <a:lstStyle/>
          <a:p>
            <a:r>
              <a:rPr lang="en-US">
                <a:solidFill>
                  <a:srgbClr val="FF0000"/>
                </a:solidFill>
              </a:rPr>
              <a:t>Content</a:t>
            </a:r>
          </a:p>
        </p:txBody>
      </p:sp>
      <p:sp>
        <p:nvSpPr>
          <p:cNvPr id="9" name="TextBox 8"/>
          <p:cNvSpPr txBox="1"/>
          <p:nvPr/>
        </p:nvSpPr>
        <p:spPr>
          <a:xfrm>
            <a:off x="7540392" y="1711404"/>
            <a:ext cx="1375008" cy="369332"/>
          </a:xfrm>
          <a:prstGeom prst="rect">
            <a:avLst/>
          </a:prstGeom>
          <a:noFill/>
        </p:spPr>
        <p:txBody>
          <a:bodyPr wrap="square" rtlCol="0">
            <a:spAutoFit/>
          </a:bodyPr>
          <a:lstStyle/>
          <a:p>
            <a:r>
              <a:rPr lang="en-US">
                <a:solidFill>
                  <a:srgbClr val="FF0000"/>
                </a:solidFill>
              </a:rPr>
              <a:t>Content</a:t>
            </a:r>
          </a:p>
        </p:txBody>
      </p:sp>
      <p:sp>
        <p:nvSpPr>
          <p:cNvPr id="10" name="TextBox 9"/>
          <p:cNvSpPr txBox="1"/>
          <p:nvPr/>
        </p:nvSpPr>
        <p:spPr>
          <a:xfrm>
            <a:off x="5025792" y="4607004"/>
            <a:ext cx="1375008" cy="369332"/>
          </a:xfrm>
          <a:prstGeom prst="rect">
            <a:avLst/>
          </a:prstGeom>
          <a:noFill/>
        </p:spPr>
        <p:txBody>
          <a:bodyPr wrap="square" rtlCol="0">
            <a:spAutoFit/>
          </a:bodyPr>
          <a:lstStyle/>
          <a:p>
            <a:r>
              <a:rPr lang="en-US">
                <a:solidFill>
                  <a:srgbClr val="FF0000"/>
                </a:solidFill>
              </a:rPr>
              <a:t>Processing</a:t>
            </a:r>
          </a:p>
        </p:txBody>
      </p:sp>
      <p:sp>
        <p:nvSpPr>
          <p:cNvPr id="11" name="TextBox 10"/>
          <p:cNvSpPr txBox="1"/>
          <p:nvPr/>
        </p:nvSpPr>
        <p:spPr>
          <a:xfrm>
            <a:off x="7464192" y="4607004"/>
            <a:ext cx="1375008" cy="369332"/>
          </a:xfrm>
          <a:prstGeom prst="rect">
            <a:avLst/>
          </a:prstGeom>
          <a:noFill/>
        </p:spPr>
        <p:txBody>
          <a:bodyPr wrap="square" rtlCol="0">
            <a:spAutoFit/>
          </a:bodyPr>
          <a:lstStyle/>
          <a:p>
            <a:r>
              <a:rPr lang="en-US">
                <a:solidFill>
                  <a:srgbClr val="FF0000"/>
                </a:solidFill>
              </a:rPr>
              <a:t>Processing</a:t>
            </a:r>
          </a:p>
        </p:txBody>
      </p:sp>
      <p:sp>
        <p:nvSpPr>
          <p:cNvPr id="13" name="Oval 12"/>
          <p:cNvSpPr/>
          <p:nvPr/>
        </p:nvSpPr>
        <p:spPr>
          <a:xfrm rot="19835940">
            <a:off x="294439" y="1535281"/>
            <a:ext cx="2674633" cy="4128460"/>
          </a:xfrm>
          <a:prstGeom prst="ellipse">
            <a:avLst/>
          </a:prstGeom>
          <a:solidFill>
            <a:schemeClr val="accent1">
              <a:alpha val="1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4911552" y="3886808"/>
            <a:ext cx="1253117" cy="523220"/>
          </a:xfrm>
          <a:prstGeom prst="rect">
            <a:avLst/>
          </a:prstGeom>
          <a:solidFill>
            <a:schemeClr val="bg1"/>
          </a:solidFill>
        </p:spPr>
        <p:txBody>
          <a:bodyPr wrap="none" rtlCol="0">
            <a:spAutoFit/>
          </a:bodyPr>
          <a:lstStyle/>
          <a:p>
            <a:r>
              <a:rPr lang="en-US" sz="2800" b="1"/>
              <a:t>Python</a:t>
            </a:r>
          </a:p>
        </p:txBody>
      </p:sp>
    </p:spTree>
    <p:extLst>
      <p:ext uri="{BB962C8B-B14F-4D97-AF65-F5344CB8AC3E}">
        <p14:creationId xmlns:p14="http://schemas.microsoft.com/office/powerpoint/2010/main" val="113324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360A4-DA96-C335-8301-2ED47F02CBB8}"/>
              </a:ext>
            </a:extLst>
          </p:cNvPr>
          <p:cNvSpPr>
            <a:spLocks noGrp="1"/>
          </p:cNvSpPr>
          <p:nvPr>
            <p:ph type="title"/>
          </p:nvPr>
        </p:nvSpPr>
        <p:spPr/>
        <p:txBody>
          <a:bodyPr>
            <a:normAutofit/>
          </a:bodyPr>
          <a:lstStyle/>
          <a:p>
            <a:r>
              <a:rPr lang="en-US"/>
              <a:t>HTML, CSS, Bootstrap: Evolution</a:t>
            </a:r>
          </a:p>
        </p:txBody>
      </p:sp>
      <p:graphicFrame>
        <p:nvGraphicFramePr>
          <p:cNvPr id="4" name="Content Placeholder 3">
            <a:extLst>
              <a:ext uri="{FF2B5EF4-FFF2-40B4-BE49-F238E27FC236}">
                <a16:creationId xmlns:a16="http://schemas.microsoft.com/office/drawing/2014/main" id="{52FC1F21-60DB-6241-76F4-B2889AB4FCDF}"/>
              </a:ext>
            </a:extLst>
          </p:cNvPr>
          <p:cNvGraphicFramePr>
            <a:graphicFrameLocks noGrp="1"/>
          </p:cNvGraphicFramePr>
          <p:nvPr>
            <p:ph idx="1"/>
            <p:extLst>
              <p:ext uri="{D42A27DB-BD31-4B8C-83A1-F6EECF244321}">
                <p14:modId xmlns:p14="http://schemas.microsoft.com/office/powerpoint/2010/main" val="134789939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3079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A901-01AA-ACBF-4B54-AEE88558223F}"/>
              </a:ext>
            </a:extLst>
          </p:cNvPr>
          <p:cNvSpPr>
            <a:spLocks noGrp="1"/>
          </p:cNvSpPr>
          <p:nvPr>
            <p:ph type="title"/>
          </p:nvPr>
        </p:nvSpPr>
        <p:spPr/>
        <p:txBody>
          <a:bodyPr/>
          <a:lstStyle/>
          <a:p>
            <a:r>
              <a:rPr lang="en-US"/>
              <a:t>Books</a:t>
            </a:r>
          </a:p>
        </p:txBody>
      </p:sp>
      <p:sp>
        <p:nvSpPr>
          <p:cNvPr id="3" name="Content Placeholder 2">
            <a:extLst>
              <a:ext uri="{FF2B5EF4-FFF2-40B4-BE49-F238E27FC236}">
                <a16:creationId xmlns:a16="http://schemas.microsoft.com/office/drawing/2014/main" id="{C35F3C80-DB0A-018E-69A1-55BA6DDF4C72}"/>
              </a:ext>
            </a:extLst>
          </p:cNvPr>
          <p:cNvSpPr>
            <a:spLocks noGrp="1"/>
          </p:cNvSpPr>
          <p:nvPr>
            <p:ph idx="1"/>
          </p:nvPr>
        </p:nvSpPr>
        <p:spPr>
          <a:xfrm>
            <a:off x="595572" y="1600200"/>
            <a:ext cx="8091228" cy="4525963"/>
          </a:xfrm>
        </p:spPr>
        <p:txBody>
          <a:bodyPr vert="horz" lIns="91440" tIns="45720" rIns="91440" bIns="45720" rtlCol="0" anchor="t">
            <a:noAutofit/>
          </a:bodyPr>
          <a:lstStyle/>
          <a:p>
            <a:r>
              <a:rPr lang="en-US" sz="2800">
                <a:solidFill>
                  <a:srgbClr val="000000"/>
                </a:solidFill>
              </a:rPr>
              <a:t>(legacy) </a:t>
            </a:r>
            <a:r>
              <a:rPr lang="en-US" sz="2800">
                <a:solidFill>
                  <a:srgbClr val="5759A5"/>
                </a:solidFill>
                <a:hlinkClick r:id="rId2"/>
              </a:rPr>
              <a:t>Beginning HTML and CSS</a:t>
            </a:r>
            <a:r>
              <a:rPr lang="en-US" sz="2800">
                <a:solidFill>
                  <a:srgbClr val="5759A5"/>
                </a:solidFill>
              </a:rPr>
              <a:t> / </a:t>
            </a:r>
            <a:r>
              <a:rPr lang="en-US" sz="2800">
                <a:solidFill>
                  <a:srgbClr val="555555"/>
                </a:solidFill>
              </a:rPr>
              <a:t>Rob </a:t>
            </a:r>
            <a:r>
              <a:rPr lang="en-US" sz="2800">
                <a:solidFill>
                  <a:srgbClr val="555555"/>
                </a:solidFill>
                <a:ea typeface="+mn-lt"/>
                <a:cs typeface="+mn-lt"/>
              </a:rPr>
              <a:t>Larsen </a:t>
            </a:r>
          </a:p>
          <a:p>
            <a:r>
              <a:rPr lang="en-US" sz="2800">
                <a:solidFill>
                  <a:srgbClr val="000000"/>
                </a:solidFill>
                <a:latin typeface="Calibri"/>
                <a:ea typeface="Calibri"/>
                <a:cs typeface="Calibri"/>
                <a:hlinkClick r:id="rId3"/>
              </a:rPr>
              <a:t>The Absolute Beginner's Guide to HTML and CSS</a:t>
            </a:r>
            <a:r>
              <a:rPr lang="en-US" sz="2800">
                <a:solidFill>
                  <a:srgbClr val="000000"/>
                </a:solidFill>
                <a:latin typeface="Calibri"/>
                <a:ea typeface="Calibri"/>
                <a:cs typeface="Calibri"/>
              </a:rPr>
              <a:t> </a:t>
            </a:r>
            <a:r>
              <a:rPr lang="en-US" sz="2800">
                <a:solidFill>
                  <a:srgbClr val="5759A5"/>
                </a:solidFill>
                <a:latin typeface="Calibri"/>
                <a:ea typeface="Calibri"/>
                <a:cs typeface="Calibri"/>
              </a:rPr>
              <a:t>/ </a:t>
            </a:r>
            <a:r>
              <a:rPr lang="en-US" sz="2800">
                <a:solidFill>
                  <a:srgbClr val="555555"/>
                </a:solidFill>
                <a:latin typeface="Calibri"/>
                <a:ea typeface="Calibri"/>
                <a:cs typeface="Calibri"/>
              </a:rPr>
              <a:t>Kevin Wilson</a:t>
            </a:r>
            <a:endParaRPr lang="en-US" sz="2800">
              <a:solidFill>
                <a:srgbClr val="000000"/>
              </a:solidFill>
              <a:latin typeface="Calibri"/>
              <a:ea typeface="Calibri"/>
              <a:cs typeface="Calibri"/>
            </a:endParaRPr>
          </a:p>
          <a:p>
            <a:r>
              <a:rPr lang="en-US" sz="2800">
                <a:solidFill>
                  <a:srgbClr val="5759A5"/>
                </a:solidFill>
                <a:hlinkClick r:id="rId4"/>
              </a:rPr>
              <a:t>The HTML and CSS Workshop : Learn to Build Your Own Websites and Kickstart Your Career As a Web Designer or Developer /</a:t>
            </a:r>
            <a:r>
              <a:rPr lang="en-US" sz="2800">
                <a:solidFill>
                  <a:srgbClr val="5759A5"/>
                </a:solidFill>
              </a:rPr>
              <a:t> </a:t>
            </a:r>
            <a:r>
              <a:rPr lang="en-US" sz="2800">
                <a:solidFill>
                  <a:srgbClr val="5759A5"/>
                </a:solidFill>
                <a:ea typeface="+mn-lt"/>
                <a:cs typeface="+mn-lt"/>
              </a:rPr>
              <a:t> </a:t>
            </a:r>
            <a:r>
              <a:rPr lang="en-US" sz="2800">
                <a:solidFill>
                  <a:srgbClr val="555555"/>
                </a:solidFill>
                <a:ea typeface="+mn-lt"/>
                <a:cs typeface="+mn-lt"/>
              </a:rPr>
              <a:t>Lewis Coulson, Brett Jephson, Rob Larsen, Matt Park, and Marian </a:t>
            </a:r>
            <a:r>
              <a:rPr lang="en-US" sz="2800" err="1">
                <a:solidFill>
                  <a:srgbClr val="555555"/>
                </a:solidFill>
                <a:ea typeface="+mn-lt"/>
                <a:cs typeface="+mn-lt"/>
              </a:rPr>
              <a:t>Zburlea</a:t>
            </a:r>
            <a:endParaRPr lang="en-US" sz="2800" b="1" err="1">
              <a:solidFill>
                <a:srgbClr val="000000"/>
              </a:solidFill>
              <a:latin typeface="Merriweather Sans"/>
            </a:endParaRPr>
          </a:p>
          <a:p>
            <a:endParaRPr lang="en-US"/>
          </a:p>
        </p:txBody>
      </p:sp>
    </p:spTree>
    <p:extLst>
      <p:ext uri="{BB962C8B-B14F-4D97-AF65-F5344CB8AC3E}">
        <p14:creationId xmlns:p14="http://schemas.microsoft.com/office/powerpoint/2010/main" val="2500544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HTML</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3932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What is HTML?</a:t>
            </a:r>
          </a:p>
        </p:txBody>
      </p:sp>
      <p:sp>
        <p:nvSpPr>
          <p:cNvPr id="3" name="Content Placeholder 2"/>
          <p:cNvSpPr>
            <a:spLocks noGrp="1"/>
          </p:cNvSpPr>
          <p:nvPr>
            <p:ph idx="1"/>
          </p:nvPr>
        </p:nvSpPr>
        <p:spPr/>
        <p:txBody>
          <a:bodyPr vert="horz" lIns="91440" tIns="45720" rIns="91440" bIns="45720" rtlCol="0" anchor="t">
            <a:normAutofit lnSpcReduction="10000"/>
          </a:bodyPr>
          <a:lstStyle/>
          <a:p>
            <a:r>
              <a:rPr lang="en-GB"/>
              <a:t>HTML</a:t>
            </a:r>
            <a:r>
              <a:rPr lang="en-GB" b="1"/>
              <a:t> </a:t>
            </a:r>
            <a:r>
              <a:rPr lang="en-GB"/>
              <a:t>stands for </a:t>
            </a:r>
            <a:r>
              <a:rPr lang="en-GB" b="1" err="1"/>
              <a:t>HyperText</a:t>
            </a:r>
            <a:r>
              <a:rPr lang="en-GB" b="1"/>
              <a:t> Markup Language</a:t>
            </a:r>
          </a:p>
          <a:p>
            <a:r>
              <a:rPr lang="en-GB"/>
              <a:t>It is the language web browsers use to interpret what gets displayed when you view a website</a:t>
            </a:r>
            <a:endParaRPr lang="en-GB">
              <a:ea typeface="Calibri"/>
              <a:cs typeface="Calibri"/>
            </a:endParaRPr>
          </a:p>
          <a:p>
            <a:pPr lvl="1">
              <a:buFont typeface="Arial"/>
              <a:buChar char="•"/>
            </a:pPr>
            <a:r>
              <a:rPr lang="en-GB" b="1"/>
              <a:t>Hypertext </a:t>
            </a:r>
            <a:r>
              <a:rPr lang="en-GB"/>
              <a:t>is the link between documents</a:t>
            </a:r>
            <a:endParaRPr lang="en-GB">
              <a:ea typeface="Calibri"/>
              <a:cs typeface="Calibri"/>
            </a:endParaRPr>
          </a:p>
          <a:p>
            <a:pPr lvl="1">
              <a:buFont typeface="Arial"/>
              <a:buChar char="•"/>
            </a:pPr>
            <a:r>
              <a:rPr lang="en-GB"/>
              <a:t>A </a:t>
            </a:r>
            <a:r>
              <a:rPr lang="en-GB" b="1"/>
              <a:t>mark-up language</a:t>
            </a:r>
            <a:r>
              <a:rPr lang="en-GB"/>
              <a:t> is a set of tags which describe document content</a:t>
            </a:r>
            <a:endParaRPr lang="en-GB">
              <a:ea typeface="Calibri"/>
              <a:cs typeface="Calibri"/>
            </a:endParaRPr>
          </a:p>
          <a:p>
            <a:r>
              <a:rPr lang="en-GB"/>
              <a:t>HTML documents (webpages) contain HTML mark-up tags and plain text</a:t>
            </a:r>
            <a:endParaRPr lang="en-GB">
              <a:ea typeface="Calibri"/>
              <a:cs typeface="Calibri"/>
            </a:endParaRPr>
          </a:p>
        </p:txBody>
      </p:sp>
    </p:spTree>
    <p:extLst>
      <p:ext uri="{BB962C8B-B14F-4D97-AF65-F5344CB8AC3E}">
        <p14:creationId xmlns:p14="http://schemas.microsoft.com/office/powerpoint/2010/main" val="1373704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3352800" cy="6858000"/>
          </a:xfrm>
        </p:spPr>
        <p:txBody>
          <a:bodyPr>
            <a:normAutofit/>
          </a:bodyPr>
          <a:lstStyle/>
          <a:p>
            <a:pPr algn="r"/>
            <a:br>
              <a:rPr lang="en-US"/>
            </a:br>
            <a:r>
              <a:rPr lang="en-US"/>
              <a:t>(X)HTML Guide &amp; </a:t>
            </a:r>
            <a:br>
              <a:rPr lang="en-US"/>
            </a:br>
            <a:r>
              <a:rPr lang="en-US"/>
              <a:t>Reference</a:t>
            </a:r>
            <a:br>
              <a:rPr lang="en-US"/>
            </a:br>
            <a:br>
              <a:rPr lang="en-US"/>
            </a:br>
            <a:r>
              <a:rPr lang="en-US" sz="2800"/>
              <a:t>or visit</a:t>
            </a:r>
            <a:br>
              <a:rPr lang="en-US" sz="2800"/>
            </a:br>
            <a:r>
              <a:rPr lang="en-US" sz="1600">
                <a:hlinkClick r:id="rId2"/>
              </a:rPr>
              <a:t>https://www.w3schools.c</a:t>
            </a:r>
            <a:r>
              <a:rPr lang="en-US" sz="1600">
                <a:latin typeface="Segoe UI"/>
                <a:cs typeface="Segoe UI"/>
                <a:hlinkClick r:id="rId2"/>
              </a:rPr>
              <a:t>om/html/</a:t>
            </a:r>
            <a:endParaRPr lang="en-US" sz="1600">
              <a:solidFill>
                <a:srgbClr val="000000"/>
              </a:solidFill>
            </a:endParaRPr>
          </a:p>
          <a:p>
            <a:pPr algn="r"/>
            <a:endParaRPr lang="en-US"/>
          </a:p>
        </p:txBody>
      </p:sp>
      <p:pic>
        <p:nvPicPr>
          <p:cNvPr id="3" name="Picture 2" descr="The cover of the book &quot;HTML &amp; XHTML: The definitive guide&quot; by Chuck Musciano and Bill Kennedy, 6th edition, O'Reilly&#10;&#10;">
            <a:extLst>
              <a:ext uri="{FF2B5EF4-FFF2-40B4-BE49-F238E27FC236}">
                <a16:creationId xmlns:a16="http://schemas.microsoft.com/office/drawing/2014/main" id="{88E9C103-F007-C639-C0AA-F9C354FC9FF8}"/>
              </a:ext>
            </a:extLst>
          </p:cNvPr>
          <p:cNvPicPr>
            <a:picLocks noChangeAspect="1"/>
          </p:cNvPicPr>
          <p:nvPr/>
        </p:nvPicPr>
        <p:blipFill>
          <a:blip r:embed="rId3"/>
          <a:stretch>
            <a:fillRect/>
          </a:stretch>
        </p:blipFill>
        <p:spPr>
          <a:xfrm>
            <a:off x="3810435" y="2209"/>
            <a:ext cx="5333130" cy="6853583"/>
          </a:xfrm>
          <a:prstGeom prst="rect">
            <a:avLst/>
          </a:prstGeom>
        </p:spPr>
      </p:pic>
    </p:spTree>
    <p:extLst>
      <p:ext uri="{BB962C8B-B14F-4D97-AF65-F5344CB8AC3E}">
        <p14:creationId xmlns:p14="http://schemas.microsoft.com/office/powerpoint/2010/main" val="312775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545"/>
            <a:ext cx="9144000" cy="1075390"/>
          </a:xfrm>
        </p:spPr>
        <p:txBody>
          <a:bodyPr/>
          <a:lstStyle/>
          <a:p>
            <a:r>
              <a:rPr lang="en-GB" dirty="0"/>
              <a:t>Basic HTML Example: Tags</a:t>
            </a:r>
          </a:p>
        </p:txBody>
      </p:sp>
      <p:sp>
        <p:nvSpPr>
          <p:cNvPr id="4" name="Content Placeholder 2"/>
          <p:cNvSpPr>
            <a:spLocks noGrp="1"/>
          </p:cNvSpPr>
          <p:nvPr>
            <p:ph idx="1"/>
          </p:nvPr>
        </p:nvSpPr>
        <p:spPr>
          <a:xfrm>
            <a:off x="457200" y="1143000"/>
            <a:ext cx="8229600" cy="4983163"/>
          </a:xfrm>
        </p:spPr>
        <p:txBody>
          <a:bodyPr>
            <a:normAutofit fontScale="92500" lnSpcReduction="20000"/>
          </a:bodyPr>
          <a:lstStyle/>
          <a:p>
            <a:pPr marL="0" indent="0">
              <a:buNone/>
            </a:pPr>
            <a:r>
              <a:rPr lang="en-GB"/>
              <a:t>&lt;html&gt;</a:t>
            </a:r>
          </a:p>
          <a:p>
            <a:pPr marL="0" indent="0">
              <a:buNone/>
            </a:pPr>
            <a:r>
              <a:rPr lang="en-GB"/>
              <a:t>&lt;head&gt;</a:t>
            </a:r>
          </a:p>
          <a:p>
            <a:pPr marL="0" indent="0">
              <a:buNone/>
            </a:pPr>
            <a:r>
              <a:rPr lang="en-GB"/>
              <a:t>&lt;title&gt; The title&lt;/title&gt;</a:t>
            </a:r>
          </a:p>
          <a:p>
            <a:pPr marL="0" indent="0">
              <a:buNone/>
            </a:pPr>
            <a:r>
              <a:rPr lang="en-GB"/>
              <a:t>&lt;/head&gt;</a:t>
            </a:r>
            <a:br>
              <a:rPr lang="en-GB"/>
            </a:br>
            <a:r>
              <a:rPr lang="en-GB"/>
              <a:t>&lt;body&gt;</a:t>
            </a:r>
            <a:br>
              <a:rPr lang="en-GB"/>
            </a:br>
            <a:br>
              <a:rPr lang="en-GB"/>
            </a:br>
            <a:r>
              <a:rPr lang="en-GB"/>
              <a:t>&lt;h1&gt;ISD&lt;/h1&gt;</a:t>
            </a:r>
            <a:br>
              <a:rPr lang="en-GB"/>
            </a:br>
            <a:br>
              <a:rPr lang="en-GB"/>
            </a:br>
            <a:r>
              <a:rPr lang="en-GB"/>
              <a:t>&lt;p&gt;My first paragraph.&lt;/p&gt;</a:t>
            </a:r>
            <a:br>
              <a:rPr lang="en-GB"/>
            </a:br>
            <a:br>
              <a:rPr lang="en-GB"/>
            </a:br>
            <a:r>
              <a:rPr lang="en-GB"/>
              <a:t>&lt;/body&gt;</a:t>
            </a:r>
            <a:br>
              <a:rPr lang="en-GB"/>
            </a:br>
            <a:r>
              <a:rPr lang="en-GB"/>
              <a:t>&lt;/html&gt; </a:t>
            </a:r>
          </a:p>
        </p:txBody>
      </p:sp>
      <p:sp>
        <p:nvSpPr>
          <p:cNvPr id="5" name="Oval 4" descr="a highlight of the HTML tag &lt;html&gt;"/>
          <p:cNvSpPr/>
          <p:nvPr/>
        </p:nvSpPr>
        <p:spPr>
          <a:xfrm>
            <a:off x="389279" y="1154545"/>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descr="a highlight of the HTML tag &lt;head&gt;"/>
          <p:cNvSpPr/>
          <p:nvPr/>
        </p:nvSpPr>
        <p:spPr>
          <a:xfrm>
            <a:off x="389279" y="1611745"/>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descr="a highlight of the HTML tag &lt;title&gt;"/>
          <p:cNvSpPr/>
          <p:nvPr/>
        </p:nvSpPr>
        <p:spPr>
          <a:xfrm>
            <a:off x="495299" y="2068945"/>
            <a:ext cx="1028701"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descr="a highlight of the HTML tag &lt;/title&gt;"/>
          <p:cNvSpPr/>
          <p:nvPr/>
        </p:nvSpPr>
        <p:spPr>
          <a:xfrm>
            <a:off x="2863484" y="2068945"/>
            <a:ext cx="1251316"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descr="a highlight of the HTML tag &lt;body&gt;"/>
          <p:cNvSpPr/>
          <p:nvPr/>
        </p:nvSpPr>
        <p:spPr>
          <a:xfrm>
            <a:off x="457199" y="2971800"/>
            <a:ext cx="1379879" cy="4479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descr="a highlight of the HTML tag &lt;/p&gt;"/>
          <p:cNvSpPr/>
          <p:nvPr/>
        </p:nvSpPr>
        <p:spPr>
          <a:xfrm>
            <a:off x="4114800" y="4348018"/>
            <a:ext cx="838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11" name="Oval 10" descr="a highlight of the HTML tag &lt;/body&gt;"/>
          <p:cNvSpPr/>
          <p:nvPr/>
        </p:nvSpPr>
        <p:spPr>
          <a:xfrm>
            <a:off x="452779" y="5029200"/>
            <a:ext cx="1600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descr="a highlight of the HTML tag &lt;/html&gt;"/>
          <p:cNvSpPr/>
          <p:nvPr/>
        </p:nvSpPr>
        <p:spPr>
          <a:xfrm>
            <a:off x="464182" y="5486400"/>
            <a:ext cx="16002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5181600" y="1226590"/>
            <a:ext cx="3962400" cy="3293209"/>
          </a:xfrm>
          <a:prstGeom prst="rect">
            <a:avLst/>
          </a:prstGeom>
          <a:noFill/>
        </p:spPr>
        <p:txBody>
          <a:bodyPr wrap="square" rtlCol="0">
            <a:spAutoFit/>
          </a:bodyPr>
          <a:lstStyle/>
          <a:p>
            <a:r>
              <a:rPr lang="en-GB" sz="4000"/>
              <a:t>Tags:</a:t>
            </a:r>
          </a:p>
          <a:p>
            <a:pPr marL="457200" indent="-457200">
              <a:buFont typeface="Arial" panose="020B0604020202020204" pitchFamily="34" charset="0"/>
              <a:buChar char="•"/>
            </a:pPr>
            <a:r>
              <a:rPr lang="en-GB" sz="2800"/>
              <a:t>Keywords (tag names) surrounded by &lt;&gt;</a:t>
            </a:r>
          </a:p>
          <a:p>
            <a:pPr marL="457200" indent="-457200">
              <a:buFont typeface="Arial" panose="020B0604020202020204" pitchFamily="34" charset="0"/>
              <a:buChar char="•"/>
            </a:pPr>
            <a:r>
              <a:rPr lang="en-GB" sz="2800"/>
              <a:t>Normally have opening and closing tags</a:t>
            </a:r>
          </a:p>
          <a:p>
            <a:endParaRPr lang="en-GB" sz="2800"/>
          </a:p>
        </p:txBody>
      </p:sp>
      <p:cxnSp>
        <p:nvCxnSpPr>
          <p:cNvPr id="16" name="Straight Connector 15">
            <a:extLst>
              <a:ext uri="{C183D7F6-B498-43B3-948B-1728B52AA6E4}">
                <adec:decorative xmlns:adec="http://schemas.microsoft.com/office/drawing/2017/decorative" val="1"/>
              </a:ext>
            </a:extLst>
          </p:cNvPr>
          <p:cNvCxnSpPr>
            <a:endCxn id="8" idx="5"/>
          </p:cNvCxnSpPr>
          <p:nvPr/>
        </p:nvCxnSpPr>
        <p:spPr>
          <a:xfrm>
            <a:off x="3092084" y="2449945"/>
            <a:ext cx="839465" cy="92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C183D7F6-B498-43B3-948B-1728B52AA6E4}">
                <adec:decorative xmlns:adec="http://schemas.microsoft.com/office/drawing/2017/decorative" val="1"/>
              </a:ext>
            </a:extLst>
          </p:cNvPr>
          <p:cNvCxnSpPr/>
          <p:nvPr/>
        </p:nvCxnSpPr>
        <p:spPr>
          <a:xfrm>
            <a:off x="7656945" y="3562910"/>
            <a:ext cx="914400" cy="92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271029" y="4714199"/>
            <a:ext cx="681971" cy="92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C183D7F6-B498-43B3-948B-1728B52AA6E4}">
                <adec:decorative xmlns:adec="http://schemas.microsoft.com/office/drawing/2017/decorative" val="1"/>
              </a:ext>
            </a:extLst>
          </p:cNvPr>
          <p:cNvCxnSpPr/>
          <p:nvPr/>
        </p:nvCxnSpPr>
        <p:spPr>
          <a:xfrm>
            <a:off x="619201" y="5734428"/>
            <a:ext cx="1285799" cy="1847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C183D7F6-B498-43B3-948B-1728B52AA6E4}">
                <adec:decorative xmlns:adec="http://schemas.microsoft.com/office/drawing/2017/decorative" val="1"/>
              </a:ext>
            </a:extLst>
          </p:cNvPr>
          <p:cNvCxnSpPr/>
          <p:nvPr/>
        </p:nvCxnSpPr>
        <p:spPr>
          <a:xfrm>
            <a:off x="746793" y="5410200"/>
            <a:ext cx="1090286" cy="92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334000" y="4183561"/>
            <a:ext cx="3429000" cy="2677656"/>
          </a:xfrm>
          <a:prstGeom prst="rect">
            <a:avLst/>
          </a:prstGeom>
          <a:noFill/>
        </p:spPr>
        <p:txBody>
          <a:bodyPr wrap="square" lIns="91440" tIns="45720" rIns="91440" bIns="45720" rtlCol="0" anchor="t">
            <a:spAutoFit/>
          </a:bodyPr>
          <a:lstStyle/>
          <a:p>
            <a:r>
              <a:rPr lang="en-GB" sz="4000"/>
              <a:t>Plain text:</a:t>
            </a:r>
          </a:p>
          <a:p>
            <a:pPr marL="571500" indent="-571500">
              <a:buFont typeface="Arial" panose="020B0604020202020204" pitchFamily="34" charset="0"/>
              <a:buChar char="•"/>
            </a:pPr>
            <a:r>
              <a:rPr lang="en-GB" sz="3200"/>
              <a:t>Between tags</a:t>
            </a:r>
            <a:endParaRPr lang="en-GB" sz="3200">
              <a:ea typeface="Calibri"/>
              <a:cs typeface="Calibri"/>
            </a:endParaRPr>
          </a:p>
          <a:p>
            <a:pPr marL="571500" indent="-571500">
              <a:buFont typeface="Arial" panose="020B0604020202020204" pitchFamily="34" charset="0"/>
              <a:buChar char="•"/>
            </a:pPr>
            <a:r>
              <a:rPr lang="en-GB" sz="3200"/>
              <a:t>Is the content displayed in the browser</a:t>
            </a:r>
            <a:endParaRPr lang="en-GB" sz="3200">
              <a:ea typeface="Calibri"/>
              <a:cs typeface="Calibri"/>
            </a:endParaRPr>
          </a:p>
        </p:txBody>
      </p:sp>
      <p:cxnSp>
        <p:nvCxnSpPr>
          <p:cNvPr id="27" name="Straight Connector 26">
            <a:extLst>
              <a:ext uri="{C183D7F6-B498-43B3-948B-1728B52AA6E4}">
                <adec:decorative xmlns:adec="http://schemas.microsoft.com/office/drawing/2017/decorative" val="1"/>
              </a:ext>
            </a:extLst>
          </p:cNvPr>
          <p:cNvCxnSpPr/>
          <p:nvPr/>
        </p:nvCxnSpPr>
        <p:spPr>
          <a:xfrm>
            <a:off x="5410200" y="4731327"/>
            <a:ext cx="1905000"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C183D7F6-B498-43B3-948B-1728B52AA6E4}">
                <adec:decorative xmlns:adec="http://schemas.microsoft.com/office/drawing/2017/decorative" val="1"/>
              </a:ext>
            </a:extLst>
          </p:cNvPr>
          <p:cNvCxnSpPr/>
          <p:nvPr/>
        </p:nvCxnSpPr>
        <p:spPr>
          <a:xfrm>
            <a:off x="1224598" y="4724400"/>
            <a:ext cx="3053773"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C183D7F6-B498-43B3-948B-1728B52AA6E4}">
                <adec:decorative xmlns:adec="http://schemas.microsoft.com/office/drawing/2017/decorative" val="1"/>
              </a:ext>
            </a:extLst>
          </p:cNvPr>
          <p:cNvCxnSpPr/>
          <p:nvPr/>
        </p:nvCxnSpPr>
        <p:spPr>
          <a:xfrm>
            <a:off x="1224598" y="3957782"/>
            <a:ext cx="655782"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4" name="Oval 33" descr="a highlight of the HTML tag &lt;/head&gt;"/>
          <p:cNvSpPr/>
          <p:nvPr/>
        </p:nvSpPr>
        <p:spPr>
          <a:xfrm>
            <a:off x="544198" y="2549234"/>
            <a:ext cx="1360801" cy="4225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Connector 34">
            <a:extLst>
              <a:ext uri="{C183D7F6-B498-43B3-948B-1728B52AA6E4}">
                <adec:decorative xmlns:adec="http://schemas.microsoft.com/office/drawing/2017/decorative" val="1"/>
              </a:ext>
            </a:extLst>
          </p:cNvPr>
          <p:cNvCxnSpPr/>
          <p:nvPr/>
        </p:nvCxnSpPr>
        <p:spPr>
          <a:xfrm>
            <a:off x="844550" y="2895600"/>
            <a:ext cx="839465" cy="92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905000" y="3967022"/>
            <a:ext cx="839465" cy="924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524000" y="2431472"/>
            <a:ext cx="1339484"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39" name="Oval 38" descr="a highlight of the HTML tag &lt;p&gt;"/>
          <p:cNvSpPr/>
          <p:nvPr/>
        </p:nvSpPr>
        <p:spPr>
          <a:xfrm>
            <a:off x="274979" y="4274127"/>
            <a:ext cx="838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descr="a highlight of the HTML tag &lt;h1&gt;"/>
          <p:cNvSpPr/>
          <p:nvPr/>
        </p:nvSpPr>
        <p:spPr>
          <a:xfrm>
            <a:off x="453736" y="3581400"/>
            <a:ext cx="838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descr="a highlight of the HTML tag &lt;/h1&gt;"/>
          <p:cNvSpPr/>
          <p:nvPr/>
        </p:nvSpPr>
        <p:spPr>
          <a:xfrm>
            <a:off x="1837078" y="3581400"/>
            <a:ext cx="914406"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descr="a highlight of the word &quot;Tags&quot;"/>
          <p:cNvSpPr/>
          <p:nvPr/>
        </p:nvSpPr>
        <p:spPr>
          <a:xfrm>
            <a:off x="5105400" y="1331849"/>
            <a:ext cx="1234209" cy="5371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Arrow Connector 14">
            <a:extLst>
              <a:ext uri="{C183D7F6-B498-43B3-948B-1728B52AA6E4}">
                <adec:decorative xmlns:adec="http://schemas.microsoft.com/office/drawing/2017/decorative" val="1"/>
              </a:ext>
            </a:extLst>
          </p:cNvPr>
          <p:cNvCxnSpPr/>
          <p:nvPr/>
        </p:nvCxnSpPr>
        <p:spPr>
          <a:xfrm flipH="1">
            <a:off x="1905000" y="1383145"/>
            <a:ext cx="533400" cy="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438400" y="1226590"/>
            <a:ext cx="2173614" cy="369332"/>
          </a:xfrm>
          <a:prstGeom prst="rect">
            <a:avLst/>
          </a:prstGeom>
          <a:noFill/>
        </p:spPr>
        <p:txBody>
          <a:bodyPr wrap="square" rtlCol="0">
            <a:spAutoFit/>
          </a:bodyPr>
          <a:lstStyle/>
          <a:p>
            <a:r>
              <a:rPr lang="en-GB"/>
              <a:t>Begin HTML now</a:t>
            </a:r>
          </a:p>
        </p:txBody>
      </p:sp>
      <p:cxnSp>
        <p:nvCxnSpPr>
          <p:cNvPr id="38" name="Straight Arrow Connector 37"/>
          <p:cNvCxnSpPr/>
          <p:nvPr/>
        </p:nvCxnSpPr>
        <p:spPr>
          <a:xfrm flipH="1">
            <a:off x="2170545" y="5654623"/>
            <a:ext cx="533400" cy="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703945" y="5498068"/>
            <a:ext cx="2173614" cy="369332"/>
          </a:xfrm>
          <a:prstGeom prst="rect">
            <a:avLst/>
          </a:prstGeom>
          <a:noFill/>
        </p:spPr>
        <p:txBody>
          <a:bodyPr wrap="square" rtlCol="0">
            <a:spAutoFit/>
          </a:bodyPr>
          <a:lstStyle/>
          <a:p>
            <a:r>
              <a:rPr lang="en-GB"/>
              <a:t>End HTML now</a:t>
            </a:r>
          </a:p>
        </p:txBody>
      </p:sp>
    </p:spTree>
    <p:extLst>
      <p:ext uri="{BB962C8B-B14F-4D97-AF65-F5344CB8AC3E}">
        <p14:creationId xmlns:p14="http://schemas.microsoft.com/office/powerpoint/2010/main" val="136816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26" grpId="0"/>
      <p:bldP spid="34" grpId="0" animBg="1"/>
      <p:bldP spid="39" grpId="0" animBg="1"/>
      <p:bldP spid="40" grpId="0" animBg="1"/>
      <p:bldP spid="41" grpId="0" animBg="1"/>
      <p:bldP spid="30" grpId="0" animBg="1"/>
      <p:bldP spid="18" grpId="0"/>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 y="0"/>
            <a:ext cx="9111343" cy="1143000"/>
          </a:xfrm>
        </p:spPr>
        <p:txBody>
          <a:bodyPr>
            <a:normAutofit fontScale="90000"/>
          </a:bodyPr>
          <a:lstStyle/>
          <a:p>
            <a:r>
              <a:rPr lang="en-GB" dirty="0"/>
              <a:t>Basic HTML Example: </a:t>
            </a:r>
            <a:br>
              <a:rPr lang="en-GB" dirty="0"/>
            </a:br>
            <a:r>
              <a:rPr lang="en-GB" dirty="0"/>
              <a:t>HTML Document Structure</a:t>
            </a:r>
          </a:p>
        </p:txBody>
      </p:sp>
      <p:sp>
        <p:nvSpPr>
          <p:cNvPr id="13" name="TextBox 12"/>
          <p:cNvSpPr txBox="1"/>
          <p:nvPr/>
        </p:nvSpPr>
        <p:spPr>
          <a:xfrm>
            <a:off x="5312229" y="1372259"/>
            <a:ext cx="3962400" cy="5632311"/>
          </a:xfrm>
          <a:prstGeom prst="rect">
            <a:avLst/>
          </a:prstGeom>
          <a:noFill/>
        </p:spPr>
        <p:txBody>
          <a:bodyPr wrap="square" lIns="91440" tIns="45720" rIns="91440" bIns="45720" rtlCol="0" anchor="t">
            <a:spAutoFit/>
          </a:bodyPr>
          <a:lstStyle/>
          <a:p>
            <a:r>
              <a:rPr lang="en-GB" sz="4000" dirty="0"/>
              <a:t>HTML Document Structure:</a:t>
            </a:r>
          </a:p>
          <a:p>
            <a:pPr marL="457200" indent="-457200">
              <a:buFont typeface="Arial" panose="020B0604020202020204" pitchFamily="34" charset="0"/>
              <a:buChar char="•"/>
            </a:pPr>
            <a:r>
              <a:rPr lang="en-GB" sz="2800" dirty="0">
                <a:ea typeface="Calibri"/>
                <a:cs typeface="Calibri"/>
              </a:rPr>
              <a:t>Tags are </a:t>
            </a:r>
            <a:r>
              <a:rPr lang="en-GB" sz="2800" b="1" dirty="0">
                <a:ea typeface="Calibri"/>
                <a:cs typeface="Calibri"/>
              </a:rPr>
              <a:t>nested</a:t>
            </a:r>
          </a:p>
          <a:p>
            <a:pPr marL="457200" indent="-457200">
              <a:buFont typeface="Arial" panose="020B0604020202020204" pitchFamily="34" charset="0"/>
              <a:buChar char="•"/>
            </a:pPr>
            <a:r>
              <a:rPr lang="en-GB" sz="2800" dirty="0"/>
              <a:t>Starts with </a:t>
            </a:r>
            <a:r>
              <a:rPr lang="en-GB" sz="2800" b="1" dirty="0"/>
              <a:t>&lt;html&gt;</a:t>
            </a:r>
            <a:r>
              <a:rPr lang="en-GB" sz="2800" dirty="0"/>
              <a:t> tag</a:t>
            </a:r>
            <a:endParaRPr lang="en-GB" sz="2800" dirty="0">
              <a:ea typeface="Calibri"/>
              <a:cs typeface="Calibri"/>
            </a:endParaRPr>
          </a:p>
          <a:p>
            <a:pPr marL="457200" indent="-457200">
              <a:buFont typeface="Arial" panose="020B0604020202020204" pitchFamily="34" charset="0"/>
              <a:buChar char="•"/>
            </a:pPr>
            <a:r>
              <a:rPr lang="en-GB" sz="2800" b="1" dirty="0"/>
              <a:t>&lt;head&gt;</a:t>
            </a:r>
            <a:r>
              <a:rPr lang="en-GB" sz="2800" dirty="0"/>
              <a:t> tag contains information about the document such as title and other things</a:t>
            </a:r>
            <a:endParaRPr lang="en-GB" sz="2800" dirty="0">
              <a:ea typeface="Calibri"/>
              <a:cs typeface="Calibri"/>
            </a:endParaRPr>
          </a:p>
          <a:p>
            <a:pPr marL="457200" indent="-457200">
              <a:buFont typeface="Arial" panose="020B0604020202020204" pitchFamily="34" charset="0"/>
              <a:buChar char="•"/>
            </a:pPr>
            <a:r>
              <a:rPr lang="en-GB" sz="2800" b="1" dirty="0"/>
              <a:t>&lt;body&gt;</a:t>
            </a:r>
            <a:r>
              <a:rPr lang="en-GB" sz="2800" dirty="0"/>
              <a:t> tag contains the html to be displayed</a:t>
            </a:r>
            <a:endParaRPr lang="en-GB" sz="2800" dirty="0">
              <a:ea typeface="Calibri"/>
              <a:cs typeface="Calibri"/>
            </a:endParaRPr>
          </a:p>
          <a:p>
            <a:endParaRPr lang="en-GB" sz="2800"/>
          </a:p>
        </p:txBody>
      </p:sp>
      <p:sp>
        <p:nvSpPr>
          <p:cNvPr id="25" name="Content Placeholder 2"/>
          <p:cNvSpPr>
            <a:spLocks noGrp="1"/>
          </p:cNvSpPr>
          <p:nvPr>
            <p:ph idx="1"/>
          </p:nvPr>
        </p:nvSpPr>
        <p:spPr>
          <a:xfrm>
            <a:off x="32657" y="1154545"/>
            <a:ext cx="5682343" cy="4983163"/>
          </a:xfrm>
        </p:spPr>
        <p:txBody>
          <a:bodyPr>
            <a:normAutofit fontScale="92500" lnSpcReduction="20000"/>
          </a:bodyPr>
          <a:lstStyle/>
          <a:p>
            <a:pPr marL="0" indent="0">
              <a:buNone/>
            </a:pPr>
            <a:r>
              <a:rPr lang="en-GB"/>
              <a:t>&lt;html&gt;</a:t>
            </a:r>
          </a:p>
          <a:p>
            <a:pPr marL="0" indent="0">
              <a:buNone/>
            </a:pPr>
            <a:r>
              <a:rPr lang="en-GB"/>
              <a:t>	&lt;head&gt;</a:t>
            </a:r>
          </a:p>
          <a:p>
            <a:pPr marL="0" indent="0">
              <a:buNone/>
            </a:pPr>
            <a:r>
              <a:rPr lang="en-GB"/>
              <a:t>	   &lt;title&gt; The title&lt;/title&gt;</a:t>
            </a:r>
          </a:p>
          <a:p>
            <a:pPr marL="0" indent="0">
              <a:buNone/>
            </a:pPr>
            <a:r>
              <a:rPr lang="en-GB"/>
              <a:t>	&lt;/head&gt;</a:t>
            </a:r>
            <a:br>
              <a:rPr lang="en-GB"/>
            </a:br>
            <a:r>
              <a:rPr lang="en-GB"/>
              <a:t>	&lt;body&gt;</a:t>
            </a:r>
            <a:br>
              <a:rPr lang="en-GB"/>
            </a:br>
            <a:br>
              <a:rPr lang="en-GB"/>
            </a:br>
            <a:r>
              <a:rPr lang="en-GB"/>
              <a:t>	   &lt;h1&gt;ISD&lt;/h1&gt;</a:t>
            </a:r>
            <a:br>
              <a:rPr lang="en-GB"/>
            </a:br>
            <a:br>
              <a:rPr lang="en-GB"/>
            </a:br>
            <a:r>
              <a:rPr lang="en-GB"/>
              <a:t>	   &lt;p&gt;My first paragraph.&lt;/p&gt;</a:t>
            </a:r>
            <a:br>
              <a:rPr lang="en-GB"/>
            </a:br>
            <a:br>
              <a:rPr lang="en-GB"/>
            </a:br>
            <a:r>
              <a:rPr lang="en-GB"/>
              <a:t>	&lt;/body&gt;</a:t>
            </a:r>
            <a:br>
              <a:rPr lang="en-GB"/>
            </a:br>
            <a:r>
              <a:rPr lang="en-GB"/>
              <a:t>&lt;/html&gt; </a:t>
            </a:r>
          </a:p>
        </p:txBody>
      </p:sp>
      <p:sp>
        <p:nvSpPr>
          <p:cNvPr id="27" name="Oval 26" descr="a highlight of the &lt;html&gt; tag"/>
          <p:cNvSpPr/>
          <p:nvPr/>
        </p:nvSpPr>
        <p:spPr>
          <a:xfrm>
            <a:off x="43543" y="1143659"/>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descr=" a highlight of the &lt;/html&gt; tag"/>
          <p:cNvSpPr/>
          <p:nvPr/>
        </p:nvSpPr>
        <p:spPr>
          <a:xfrm>
            <a:off x="60101" y="5421086"/>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descr="a highlight of the &lt;head&gt; tag"/>
          <p:cNvSpPr/>
          <p:nvPr/>
        </p:nvSpPr>
        <p:spPr>
          <a:xfrm>
            <a:off x="626757" y="1677507"/>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descr=" a highlight of the &lt;/head&gt; tag"/>
          <p:cNvSpPr/>
          <p:nvPr/>
        </p:nvSpPr>
        <p:spPr>
          <a:xfrm>
            <a:off x="617150" y="2514600"/>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descr=" a highlight of the &lt;body&gt; tag"/>
          <p:cNvSpPr/>
          <p:nvPr/>
        </p:nvSpPr>
        <p:spPr>
          <a:xfrm>
            <a:off x="463932" y="2971800"/>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descr=" a highlight of the &lt;body&gt; tag"/>
          <p:cNvSpPr/>
          <p:nvPr/>
        </p:nvSpPr>
        <p:spPr>
          <a:xfrm>
            <a:off x="617150" y="5054409"/>
            <a:ext cx="14478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2183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8" grpId="0" animBg="1"/>
      <p:bldP spid="9"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42234" cy="1143000"/>
          </a:xfrm>
        </p:spPr>
        <p:txBody>
          <a:bodyPr>
            <a:normAutofit fontScale="90000"/>
          </a:bodyPr>
          <a:lstStyle/>
          <a:p>
            <a:r>
              <a:rPr lang="en-GB" dirty="0"/>
              <a:t>Basic HTML Example:</a:t>
            </a:r>
            <a:br>
              <a:rPr lang="en-GB" dirty="0"/>
            </a:br>
            <a:r>
              <a:rPr lang="en-GB" dirty="0"/>
              <a:t>HTML Elements</a:t>
            </a:r>
          </a:p>
        </p:txBody>
      </p:sp>
      <p:sp>
        <p:nvSpPr>
          <p:cNvPr id="13" name="TextBox 12"/>
          <p:cNvSpPr txBox="1"/>
          <p:nvPr/>
        </p:nvSpPr>
        <p:spPr>
          <a:xfrm>
            <a:off x="5312229" y="1333859"/>
            <a:ext cx="3962400" cy="4585871"/>
          </a:xfrm>
          <a:prstGeom prst="rect">
            <a:avLst/>
          </a:prstGeom>
          <a:noFill/>
        </p:spPr>
        <p:txBody>
          <a:bodyPr wrap="square" lIns="91440" tIns="45720" rIns="91440" bIns="45720" rtlCol="0" anchor="t">
            <a:spAutoFit/>
          </a:bodyPr>
          <a:lstStyle/>
          <a:p>
            <a:r>
              <a:rPr lang="en-GB" sz="4000" dirty="0"/>
              <a:t>Elements</a:t>
            </a:r>
          </a:p>
          <a:p>
            <a:pPr marL="457200" indent="-457200">
              <a:buFont typeface="Arial" panose="020B0604020202020204" pitchFamily="34" charset="0"/>
              <a:buChar char="•"/>
            </a:pPr>
            <a:r>
              <a:rPr lang="en-GB" sz="2800" dirty="0"/>
              <a:t>Everything from an opening tag to a closing tag is called an </a:t>
            </a:r>
            <a:r>
              <a:rPr lang="en-GB" sz="2800" b="1" dirty="0">
                <a:solidFill>
                  <a:srgbClr val="FF0000"/>
                </a:solidFill>
              </a:rPr>
              <a:t>element</a:t>
            </a:r>
            <a:endParaRPr lang="en-GB" sz="2800" b="1" dirty="0">
              <a:solidFill>
                <a:srgbClr val="FF0000"/>
              </a:solidFill>
              <a:ea typeface="Calibri"/>
              <a:cs typeface="Calibri"/>
            </a:endParaRPr>
          </a:p>
          <a:p>
            <a:pPr marL="457200" indent="-457200">
              <a:buFont typeface="Arial" panose="020B0604020202020204" pitchFamily="34" charset="0"/>
              <a:buChar char="•"/>
            </a:pPr>
            <a:r>
              <a:rPr lang="en-GB" sz="2800" dirty="0"/>
              <a:t>The plain text between opening and closing tags is called the </a:t>
            </a:r>
            <a:r>
              <a:rPr lang="en-GB" sz="2800" b="1" dirty="0">
                <a:solidFill>
                  <a:schemeClr val="accent1">
                    <a:lumMod val="76000"/>
                  </a:schemeClr>
                </a:solidFill>
              </a:rPr>
              <a:t>element content</a:t>
            </a:r>
            <a:endParaRPr lang="en-GB" sz="2800" b="1" dirty="0">
              <a:solidFill>
                <a:schemeClr val="accent1">
                  <a:lumMod val="76000"/>
                </a:schemeClr>
              </a:solidFill>
              <a:ea typeface="Calibri"/>
              <a:cs typeface="Calibri"/>
            </a:endParaRPr>
          </a:p>
          <a:p>
            <a:endParaRPr lang="en-GB" sz="2800"/>
          </a:p>
        </p:txBody>
      </p:sp>
      <p:sp>
        <p:nvSpPr>
          <p:cNvPr id="25" name="Content Placeholder 2"/>
          <p:cNvSpPr>
            <a:spLocks noGrp="1"/>
          </p:cNvSpPr>
          <p:nvPr>
            <p:ph idx="1"/>
          </p:nvPr>
        </p:nvSpPr>
        <p:spPr>
          <a:xfrm>
            <a:off x="32657" y="1154545"/>
            <a:ext cx="5453743" cy="4983163"/>
          </a:xfrm>
        </p:spPr>
        <p:txBody>
          <a:bodyPr>
            <a:normAutofit fontScale="92500" lnSpcReduction="20000"/>
          </a:bodyPr>
          <a:lstStyle/>
          <a:p>
            <a:pPr marL="0" indent="0">
              <a:buNone/>
            </a:pPr>
            <a:r>
              <a:rPr lang="en-GB"/>
              <a:t>&lt;html&gt;</a:t>
            </a:r>
          </a:p>
          <a:p>
            <a:pPr marL="0" indent="0">
              <a:buNone/>
            </a:pPr>
            <a:r>
              <a:rPr lang="en-GB"/>
              <a:t>	&lt;head&gt;</a:t>
            </a:r>
          </a:p>
          <a:p>
            <a:pPr marL="0" indent="0">
              <a:buNone/>
            </a:pPr>
            <a:r>
              <a:rPr lang="en-GB"/>
              <a:t>	   &lt;title&gt;The title&lt;/title&gt;</a:t>
            </a:r>
          </a:p>
          <a:p>
            <a:pPr marL="0" indent="0">
              <a:buNone/>
            </a:pPr>
            <a:r>
              <a:rPr lang="en-GB"/>
              <a:t>	&lt;/head&gt;</a:t>
            </a:r>
            <a:br>
              <a:rPr lang="en-GB"/>
            </a:br>
            <a:r>
              <a:rPr lang="en-GB"/>
              <a:t>	&lt;body&gt;</a:t>
            </a:r>
            <a:br>
              <a:rPr lang="en-GB"/>
            </a:br>
            <a:br>
              <a:rPr lang="en-GB"/>
            </a:br>
            <a:r>
              <a:rPr lang="en-GB"/>
              <a:t>	   &lt;h1&gt;Things to do&lt;/h1&gt;</a:t>
            </a:r>
            <a:br>
              <a:rPr lang="en-GB"/>
            </a:br>
            <a:br>
              <a:rPr lang="en-GB"/>
            </a:br>
            <a:r>
              <a:rPr lang="en-GB"/>
              <a:t>	   &lt;p&gt;My first paragraph.&lt;/p&gt;</a:t>
            </a:r>
            <a:br>
              <a:rPr lang="en-GB"/>
            </a:br>
            <a:br>
              <a:rPr lang="en-GB"/>
            </a:br>
            <a:r>
              <a:rPr lang="en-GB"/>
              <a:t>	&lt;/body&gt;</a:t>
            </a:r>
            <a:br>
              <a:rPr lang="en-GB"/>
            </a:br>
            <a:r>
              <a:rPr lang="en-GB"/>
              <a:t>&lt;/html&gt; </a:t>
            </a:r>
          </a:p>
        </p:txBody>
      </p:sp>
      <p:sp>
        <p:nvSpPr>
          <p:cNvPr id="7" name="TextBox 6"/>
          <p:cNvSpPr txBox="1"/>
          <p:nvPr/>
        </p:nvSpPr>
        <p:spPr>
          <a:xfrm>
            <a:off x="30083" y="696002"/>
            <a:ext cx="2812418" cy="461665"/>
          </a:xfrm>
          <a:prstGeom prst="rect">
            <a:avLst/>
          </a:prstGeom>
          <a:noFill/>
        </p:spPr>
        <p:txBody>
          <a:bodyPr wrap="square" rtlCol="0">
            <a:spAutoFit/>
          </a:bodyPr>
          <a:lstStyle/>
          <a:p>
            <a:r>
              <a:rPr lang="en-GB" sz="2400"/>
              <a:t>&lt;!DOCTYPE html&gt;</a:t>
            </a:r>
          </a:p>
        </p:txBody>
      </p:sp>
      <p:sp>
        <p:nvSpPr>
          <p:cNvPr id="4" name="Rectangle 3">
            <a:extLst>
              <a:ext uri="{FF2B5EF4-FFF2-40B4-BE49-F238E27FC236}">
                <a16:creationId xmlns:a16="http://schemas.microsoft.com/office/drawing/2014/main" id="{34C4D7CA-44A3-3257-50FF-7C1A9773A1B8}"/>
              </a:ext>
            </a:extLst>
          </p:cNvPr>
          <p:cNvSpPr/>
          <p:nvPr/>
        </p:nvSpPr>
        <p:spPr>
          <a:xfrm>
            <a:off x="629012" y="3537150"/>
            <a:ext cx="4433103" cy="509287"/>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183BAAD4-8363-7DE7-5325-7EC5976ECFBD}"/>
              </a:ext>
            </a:extLst>
          </p:cNvPr>
          <p:cNvSpPr/>
          <p:nvPr/>
        </p:nvSpPr>
        <p:spPr>
          <a:xfrm>
            <a:off x="1595497" y="3438766"/>
            <a:ext cx="1956122" cy="752354"/>
          </a:xfrm>
          <a:prstGeom prst="rect">
            <a:avLst/>
          </a:prstGeom>
          <a:noFill/>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18715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GB" dirty="0"/>
              <a:t>Basic HTML Example:</a:t>
            </a:r>
            <a:br>
              <a:rPr lang="en-GB" dirty="0"/>
            </a:br>
            <a:r>
              <a:rPr lang="en-GB" dirty="0"/>
              <a:t>Empty Elements</a:t>
            </a:r>
          </a:p>
        </p:txBody>
      </p:sp>
      <p:sp>
        <p:nvSpPr>
          <p:cNvPr id="13" name="TextBox 12"/>
          <p:cNvSpPr txBox="1"/>
          <p:nvPr/>
        </p:nvSpPr>
        <p:spPr>
          <a:xfrm>
            <a:off x="5184219" y="1298117"/>
            <a:ext cx="3962400" cy="3724096"/>
          </a:xfrm>
          <a:prstGeom prst="rect">
            <a:avLst/>
          </a:prstGeom>
          <a:noFill/>
        </p:spPr>
        <p:txBody>
          <a:bodyPr wrap="square" lIns="91440" tIns="45720" rIns="91440" bIns="45720" rtlCol="0" anchor="t">
            <a:spAutoFit/>
          </a:bodyPr>
          <a:lstStyle/>
          <a:p>
            <a:r>
              <a:rPr lang="en-GB" sz="4000" dirty="0"/>
              <a:t>Empty Elements</a:t>
            </a:r>
          </a:p>
          <a:p>
            <a:pPr marL="457200" indent="-457200">
              <a:buFont typeface="Arial" panose="020B0604020202020204" pitchFamily="34" charset="0"/>
              <a:buChar char="•"/>
            </a:pPr>
            <a:r>
              <a:rPr lang="en-GB" sz="2800" dirty="0"/>
              <a:t>There are some tags which have no content</a:t>
            </a:r>
            <a:endParaRPr lang="en-GB" sz="2800" dirty="0">
              <a:ea typeface="Calibri"/>
              <a:cs typeface="Calibri"/>
            </a:endParaRPr>
          </a:p>
          <a:p>
            <a:pPr marL="457200" indent="-457200">
              <a:buFont typeface="Arial" panose="020B0604020202020204" pitchFamily="34" charset="0"/>
              <a:buChar char="•"/>
            </a:pPr>
            <a:r>
              <a:rPr lang="en-GB" sz="2800" dirty="0"/>
              <a:t>They also have no end tag</a:t>
            </a:r>
            <a:endParaRPr lang="en-GB" sz="2800" dirty="0">
              <a:ea typeface="Calibri"/>
              <a:cs typeface="Calibri"/>
            </a:endParaRPr>
          </a:p>
          <a:p>
            <a:pPr marL="914400" lvl="1" indent="-457200">
              <a:buFont typeface="Courier New" panose="020B0604020202020204" pitchFamily="34" charset="0"/>
              <a:buChar char="o"/>
            </a:pPr>
            <a:r>
              <a:rPr lang="en-GB" sz="2800" dirty="0"/>
              <a:t>e.g. </a:t>
            </a:r>
            <a:r>
              <a:rPr lang="en-GB" sz="2800" dirty="0">
                <a:solidFill>
                  <a:srgbClr val="FF0000"/>
                </a:solidFill>
              </a:rPr>
              <a:t>&lt;</a:t>
            </a:r>
            <a:r>
              <a:rPr lang="en-GB" sz="2800" dirty="0" err="1">
                <a:solidFill>
                  <a:srgbClr val="FF0000"/>
                </a:solidFill>
              </a:rPr>
              <a:t>br</a:t>
            </a:r>
            <a:r>
              <a:rPr lang="en-GB" sz="2800" dirty="0">
                <a:solidFill>
                  <a:srgbClr val="FF0000"/>
                </a:solidFill>
              </a:rPr>
              <a:t>&gt;</a:t>
            </a:r>
            <a:r>
              <a:rPr lang="en-GB" sz="2800" dirty="0"/>
              <a:t> which forces a line break</a:t>
            </a:r>
            <a:endParaRPr lang="en-GB" sz="2800" dirty="0">
              <a:ea typeface="Calibri"/>
              <a:cs typeface="Calibri"/>
            </a:endParaRPr>
          </a:p>
          <a:p>
            <a:endParaRPr lang="en-GB" sz="2800"/>
          </a:p>
        </p:txBody>
      </p:sp>
      <p:sp>
        <p:nvSpPr>
          <p:cNvPr id="25" name="Content Placeholder 2"/>
          <p:cNvSpPr>
            <a:spLocks noGrp="1"/>
          </p:cNvSpPr>
          <p:nvPr>
            <p:ph idx="1"/>
          </p:nvPr>
        </p:nvSpPr>
        <p:spPr>
          <a:xfrm>
            <a:off x="32657" y="1154545"/>
            <a:ext cx="5987143" cy="4983163"/>
          </a:xfrm>
        </p:spPr>
        <p:txBody>
          <a:bodyPr vert="horz" lIns="91440" tIns="45720" rIns="91440" bIns="45720" rtlCol="0" anchor="t">
            <a:normAutofit fontScale="85000" lnSpcReduction="20000"/>
          </a:bodyPr>
          <a:lstStyle/>
          <a:p>
            <a:pPr marL="0" indent="0">
              <a:buNone/>
            </a:pPr>
            <a:r>
              <a:rPr lang="en-GB" dirty="0"/>
              <a:t>&lt;html&gt;</a:t>
            </a:r>
          </a:p>
          <a:p>
            <a:pPr marL="0" indent="0">
              <a:buNone/>
            </a:pPr>
            <a:r>
              <a:rPr lang="en-GB" dirty="0"/>
              <a:t>	&lt;head&gt;</a:t>
            </a:r>
            <a:endParaRPr lang="en-GB" dirty="0">
              <a:ea typeface="Calibri"/>
              <a:cs typeface="Calibri"/>
            </a:endParaRPr>
          </a:p>
          <a:p>
            <a:pPr marL="0" indent="0">
              <a:buNone/>
            </a:pPr>
            <a:r>
              <a:rPr lang="en-GB" dirty="0"/>
              <a:t>	   &lt;title&gt;The title&lt;/title&gt;</a:t>
            </a:r>
            <a:endParaRPr lang="en-GB" dirty="0">
              <a:ea typeface="Calibri"/>
              <a:cs typeface="Calibri"/>
            </a:endParaRPr>
          </a:p>
          <a:p>
            <a:pPr marL="0" indent="0">
              <a:buNone/>
            </a:pPr>
            <a:r>
              <a:rPr lang="en-GB" dirty="0"/>
              <a:t>	&lt;/head&gt;</a:t>
            </a:r>
            <a:br>
              <a:rPr lang="en-GB" dirty="0"/>
            </a:br>
            <a:r>
              <a:rPr lang="en-GB" dirty="0"/>
              <a:t>	&lt;body&gt;</a:t>
            </a:r>
            <a:br>
              <a:rPr lang="en-GB" dirty="0"/>
            </a:br>
            <a:br>
              <a:rPr lang="en-GB" dirty="0"/>
            </a:br>
            <a:r>
              <a:rPr lang="en-GB" dirty="0"/>
              <a:t>	   &lt;h1&gt;Things to Do&lt;/h1&gt;</a:t>
            </a:r>
            <a:endParaRPr lang="en-GB" dirty="0">
              <a:ea typeface="Calibri"/>
              <a:cs typeface="Calibri"/>
            </a:endParaRPr>
          </a:p>
          <a:p>
            <a:pPr marL="0" indent="0">
              <a:buNone/>
            </a:pPr>
            <a:r>
              <a:rPr lang="en-GB" dirty="0"/>
              <a:t>	    Make a HTML page</a:t>
            </a:r>
            <a:r>
              <a:rPr lang="en-GB" dirty="0">
                <a:solidFill>
                  <a:srgbClr val="FF0000"/>
                </a:solidFill>
              </a:rPr>
              <a:t>&lt;</a:t>
            </a:r>
            <a:r>
              <a:rPr lang="en-GB" err="1">
                <a:solidFill>
                  <a:srgbClr val="FF0000"/>
                </a:solidFill>
              </a:rPr>
              <a:t>br</a:t>
            </a:r>
            <a:r>
              <a:rPr lang="en-GB" dirty="0">
                <a:solidFill>
                  <a:srgbClr val="FF0000"/>
                </a:solidFill>
              </a:rPr>
              <a:t>&gt; </a:t>
            </a:r>
            <a:endParaRPr lang="en-GB" dirty="0">
              <a:solidFill>
                <a:srgbClr val="FF0000"/>
              </a:solidFill>
              <a:ea typeface="Calibri"/>
              <a:cs typeface="Calibri"/>
            </a:endParaRPr>
          </a:p>
          <a:p>
            <a:pPr marL="0" indent="0">
              <a:buNone/>
            </a:pPr>
            <a:r>
              <a:rPr lang="en-GB" dirty="0"/>
              <a:t>	    Add a paragraph</a:t>
            </a:r>
            <a:br>
              <a:rPr lang="en-GB" dirty="0"/>
            </a:br>
            <a:r>
              <a:rPr lang="en-GB" dirty="0"/>
              <a:t>	   &lt;p&gt;My first paragraph.&lt;/p&gt;</a:t>
            </a:r>
            <a:br>
              <a:rPr lang="en-GB" dirty="0"/>
            </a:br>
            <a:br>
              <a:rPr lang="en-GB" dirty="0"/>
            </a:br>
            <a:r>
              <a:rPr lang="en-GB" dirty="0"/>
              <a:t>	&lt;/body&gt;</a:t>
            </a:r>
            <a:br>
              <a:rPr lang="en-GB" dirty="0"/>
            </a:br>
            <a:r>
              <a:rPr lang="en-GB" dirty="0"/>
              <a:t>&lt;/html&gt; </a:t>
            </a:r>
            <a:endParaRPr lang="en-GB" dirty="0">
              <a:ea typeface="Calibri"/>
              <a:cs typeface="Calibri"/>
            </a:endParaRPr>
          </a:p>
        </p:txBody>
      </p:sp>
      <p:sp>
        <p:nvSpPr>
          <p:cNvPr id="7" name="TextBox 6"/>
          <p:cNvSpPr txBox="1"/>
          <p:nvPr/>
        </p:nvSpPr>
        <p:spPr>
          <a:xfrm>
            <a:off x="30083" y="696002"/>
            <a:ext cx="2812418" cy="461665"/>
          </a:xfrm>
          <a:prstGeom prst="rect">
            <a:avLst/>
          </a:prstGeom>
          <a:noFill/>
        </p:spPr>
        <p:txBody>
          <a:bodyPr wrap="square" rtlCol="0">
            <a:spAutoFit/>
          </a:bodyPr>
          <a:lstStyle/>
          <a:p>
            <a:r>
              <a:rPr lang="en-GB" sz="2400"/>
              <a:t>&lt;!DOCTYPE html&gt;</a:t>
            </a:r>
          </a:p>
        </p:txBody>
      </p:sp>
    </p:spTree>
    <p:extLst>
      <p:ext uri="{BB962C8B-B14F-4D97-AF65-F5344CB8AC3E}">
        <p14:creationId xmlns:p14="http://schemas.microsoft.com/office/powerpoint/2010/main" val="4113634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GB" dirty="0"/>
              <a:t>Basic HTML Example:</a:t>
            </a:r>
            <a:br>
              <a:rPr lang="en-GB" dirty="0"/>
            </a:br>
            <a:r>
              <a:rPr lang="en-GB" dirty="0"/>
              <a:t>Headers</a:t>
            </a:r>
          </a:p>
        </p:txBody>
      </p:sp>
      <p:sp>
        <p:nvSpPr>
          <p:cNvPr id="13" name="TextBox 12"/>
          <p:cNvSpPr txBox="1"/>
          <p:nvPr/>
        </p:nvSpPr>
        <p:spPr>
          <a:xfrm>
            <a:off x="4822371" y="980946"/>
            <a:ext cx="4321629" cy="5447645"/>
          </a:xfrm>
          <a:prstGeom prst="rect">
            <a:avLst/>
          </a:prstGeom>
          <a:noFill/>
        </p:spPr>
        <p:txBody>
          <a:bodyPr wrap="square" lIns="91440" tIns="45720" rIns="91440" bIns="45720" rtlCol="0" anchor="t">
            <a:spAutoFit/>
          </a:bodyPr>
          <a:lstStyle/>
          <a:p>
            <a:r>
              <a:rPr lang="en-GB" sz="4000" dirty="0"/>
              <a:t>Headers:</a:t>
            </a:r>
            <a:endParaRPr lang="en-US" dirty="0"/>
          </a:p>
          <a:p>
            <a:pPr marL="457200" indent="-457200">
              <a:buFont typeface="Arial" panose="020B0604020202020204" pitchFamily="34" charset="0"/>
              <a:buChar char="•"/>
            </a:pPr>
            <a:r>
              <a:rPr lang="en-GB" sz="2800" b="1" dirty="0">
                <a:solidFill>
                  <a:srgbClr val="FF0000"/>
                </a:solidFill>
              </a:rPr>
              <a:t>&lt;h1&gt;</a:t>
            </a:r>
            <a:r>
              <a:rPr lang="en-GB" sz="2800" dirty="0"/>
              <a:t> - “header 1”</a:t>
            </a:r>
            <a:endParaRPr lang="en-GB" sz="2800" dirty="0">
              <a:ea typeface="Calibri"/>
              <a:cs typeface="Calibri"/>
            </a:endParaRPr>
          </a:p>
          <a:p>
            <a:pPr marL="914400" lvl="1" indent="-457200">
              <a:buFont typeface="Arial" panose="020B0604020202020204" pitchFamily="34" charset="0"/>
              <a:buChar char="•"/>
            </a:pPr>
            <a:r>
              <a:rPr lang="en-GB" sz="2800" dirty="0"/>
              <a:t>Used just once</a:t>
            </a:r>
            <a:endParaRPr lang="en-GB" sz="2800" dirty="0">
              <a:ea typeface="Calibri"/>
              <a:cs typeface="Calibri"/>
            </a:endParaRPr>
          </a:p>
          <a:p>
            <a:pPr marL="914400" lvl="1" indent="-457200">
              <a:buFont typeface="Arial" panose="020B0604020202020204" pitchFamily="34" charset="0"/>
              <a:buChar char="•"/>
            </a:pPr>
            <a:r>
              <a:rPr lang="en-GB" sz="2800" dirty="0"/>
              <a:t>Defines the most important heading</a:t>
            </a:r>
            <a:endParaRPr lang="en-GB" sz="2800" dirty="0">
              <a:ea typeface="Calibri"/>
              <a:cs typeface="Calibri"/>
            </a:endParaRPr>
          </a:p>
          <a:p>
            <a:pPr marL="914400" lvl="1" indent="-457200">
              <a:buFont typeface="Arial" panose="020B0604020202020204" pitchFamily="34" charset="0"/>
              <a:buChar char="•"/>
            </a:pPr>
            <a:r>
              <a:rPr lang="en-GB" sz="2800" dirty="0"/>
              <a:t>Search engines use &lt;h1&gt; to defer the content  of your web pages</a:t>
            </a:r>
            <a:endParaRPr lang="en-GB" sz="2800" dirty="0">
              <a:ea typeface="Calibri"/>
              <a:cs typeface="Calibri"/>
            </a:endParaRPr>
          </a:p>
          <a:p>
            <a:pPr marL="914400" lvl="1" indent="-457200">
              <a:buFont typeface="Arial" panose="020B0604020202020204" pitchFamily="34" charset="0"/>
              <a:buChar char="•"/>
            </a:pPr>
            <a:r>
              <a:rPr lang="en-GB" sz="2800" dirty="0"/>
              <a:t>There are h1,…,h6 headers. &lt;h1&gt; is the most important.</a:t>
            </a:r>
            <a:endParaRPr lang="en-GB" sz="2800" dirty="0">
              <a:ea typeface="Calibri"/>
              <a:cs typeface="Calibri"/>
            </a:endParaRPr>
          </a:p>
        </p:txBody>
      </p:sp>
      <p:sp>
        <p:nvSpPr>
          <p:cNvPr id="25" name="Content Placeholder 2"/>
          <p:cNvSpPr>
            <a:spLocks noGrp="1"/>
          </p:cNvSpPr>
          <p:nvPr>
            <p:ph idx="1"/>
          </p:nvPr>
        </p:nvSpPr>
        <p:spPr>
          <a:xfrm>
            <a:off x="32657" y="1154545"/>
            <a:ext cx="5453743" cy="4983163"/>
          </a:xfrm>
        </p:spPr>
        <p:txBody>
          <a:bodyPr vert="horz" lIns="91440" tIns="45720" rIns="91440" bIns="45720" rtlCol="0" anchor="t">
            <a:normAutofit fontScale="92500" lnSpcReduction="20000"/>
          </a:bodyPr>
          <a:lstStyle/>
          <a:p>
            <a:pPr marL="0" indent="0">
              <a:buNone/>
            </a:pPr>
            <a:r>
              <a:rPr lang="en-GB" dirty="0"/>
              <a:t>&lt;html&gt;</a:t>
            </a:r>
          </a:p>
          <a:p>
            <a:pPr marL="0" indent="0">
              <a:buNone/>
            </a:pPr>
            <a:r>
              <a:rPr lang="en-GB" dirty="0"/>
              <a:t>	&lt;head&gt;</a:t>
            </a:r>
            <a:endParaRPr lang="en-GB" dirty="0">
              <a:ea typeface="Calibri"/>
              <a:cs typeface="Calibri"/>
            </a:endParaRPr>
          </a:p>
          <a:p>
            <a:pPr marL="0" indent="0">
              <a:buNone/>
            </a:pPr>
            <a:r>
              <a:rPr lang="en-GB" dirty="0"/>
              <a:t>	   &lt;title&gt; The title&lt;/title&gt;</a:t>
            </a:r>
            <a:endParaRPr lang="en-GB" dirty="0">
              <a:ea typeface="Calibri"/>
              <a:cs typeface="Calibri"/>
            </a:endParaRPr>
          </a:p>
          <a:p>
            <a:pPr marL="0" indent="0">
              <a:buNone/>
            </a:pPr>
            <a:r>
              <a:rPr lang="en-GB" dirty="0"/>
              <a:t>	&lt;/head&gt;</a:t>
            </a:r>
            <a:br>
              <a:rPr lang="en-GB" dirty="0"/>
            </a:br>
            <a:r>
              <a:rPr lang="en-GB" dirty="0"/>
              <a:t>	&lt;body&gt;</a:t>
            </a:r>
            <a:br>
              <a:rPr lang="en-GB" dirty="0"/>
            </a:br>
            <a:br>
              <a:rPr lang="en-GB" dirty="0"/>
            </a:br>
            <a:r>
              <a:rPr lang="en-GB" dirty="0"/>
              <a:t>	 </a:t>
            </a:r>
            <a:r>
              <a:rPr lang="en-GB" dirty="0">
                <a:solidFill>
                  <a:srgbClr val="FF0000"/>
                </a:solidFill>
              </a:rPr>
              <a:t>  &lt;h1&gt;</a:t>
            </a:r>
            <a:r>
              <a:rPr lang="en-GB" dirty="0"/>
              <a:t>Things to To</a:t>
            </a:r>
            <a:r>
              <a:rPr lang="en-GB" dirty="0">
                <a:solidFill>
                  <a:srgbClr val="FF0000"/>
                </a:solidFill>
              </a:rPr>
              <a:t>&lt;/h1&gt;</a:t>
            </a:r>
            <a:br>
              <a:rPr lang="en-GB" dirty="0"/>
            </a:br>
            <a:br>
              <a:rPr lang="en-GB" dirty="0"/>
            </a:br>
            <a:r>
              <a:rPr lang="en-GB" dirty="0"/>
              <a:t>	   &lt;p&gt;My first paragraph.&lt;/p&gt;</a:t>
            </a:r>
            <a:br>
              <a:rPr lang="en-GB" dirty="0"/>
            </a:br>
            <a:br>
              <a:rPr lang="en-GB" dirty="0"/>
            </a:br>
            <a:r>
              <a:rPr lang="en-GB" dirty="0"/>
              <a:t>	&lt;/body&gt;</a:t>
            </a:r>
            <a:br>
              <a:rPr lang="en-GB" dirty="0"/>
            </a:br>
            <a:r>
              <a:rPr lang="en-GB" dirty="0"/>
              <a:t>&lt;/html&gt; </a:t>
            </a:r>
            <a:endParaRPr lang="en-GB" dirty="0">
              <a:ea typeface="Calibri"/>
              <a:cs typeface="Calibri"/>
            </a:endParaRPr>
          </a:p>
        </p:txBody>
      </p:sp>
      <p:sp>
        <p:nvSpPr>
          <p:cNvPr id="7" name="TextBox 6"/>
          <p:cNvSpPr txBox="1"/>
          <p:nvPr/>
        </p:nvSpPr>
        <p:spPr>
          <a:xfrm>
            <a:off x="30083" y="696002"/>
            <a:ext cx="2812418" cy="461665"/>
          </a:xfrm>
          <a:prstGeom prst="rect">
            <a:avLst/>
          </a:prstGeom>
          <a:noFill/>
        </p:spPr>
        <p:txBody>
          <a:bodyPr wrap="square" rtlCol="0">
            <a:spAutoFit/>
          </a:bodyPr>
          <a:lstStyle/>
          <a:p>
            <a:r>
              <a:rPr lang="en-GB" sz="2400"/>
              <a:t>&lt;!DOCTYPE html&gt;</a:t>
            </a:r>
          </a:p>
        </p:txBody>
      </p:sp>
    </p:spTree>
    <p:extLst>
      <p:ext uri="{BB962C8B-B14F-4D97-AF65-F5344CB8AC3E}">
        <p14:creationId xmlns:p14="http://schemas.microsoft.com/office/powerpoint/2010/main" val="774575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89"/>
            <a:ext cx="9144000" cy="1143000"/>
          </a:xfrm>
        </p:spPr>
        <p:txBody>
          <a:bodyPr>
            <a:normAutofit fontScale="90000"/>
          </a:bodyPr>
          <a:lstStyle/>
          <a:p>
            <a:r>
              <a:rPr lang="en-GB" dirty="0"/>
              <a:t>Basic HTML Example:</a:t>
            </a:r>
            <a:br>
              <a:rPr lang="en-GB" dirty="0"/>
            </a:br>
            <a:r>
              <a:rPr lang="en-GB" dirty="0"/>
              <a:t>Paragraph</a:t>
            </a:r>
          </a:p>
        </p:txBody>
      </p:sp>
      <p:sp>
        <p:nvSpPr>
          <p:cNvPr id="13" name="TextBox 12"/>
          <p:cNvSpPr txBox="1"/>
          <p:nvPr/>
        </p:nvSpPr>
        <p:spPr>
          <a:xfrm>
            <a:off x="5181600" y="1575026"/>
            <a:ext cx="3962400" cy="4585871"/>
          </a:xfrm>
          <a:prstGeom prst="rect">
            <a:avLst/>
          </a:prstGeom>
          <a:noFill/>
        </p:spPr>
        <p:txBody>
          <a:bodyPr wrap="square" lIns="91440" tIns="45720" rIns="91440" bIns="45720" rtlCol="0" anchor="t">
            <a:spAutoFit/>
          </a:bodyPr>
          <a:lstStyle/>
          <a:p>
            <a:r>
              <a:rPr lang="en-GB" sz="4000" dirty="0"/>
              <a:t>Paragraph:</a:t>
            </a:r>
            <a:endParaRPr lang="en-US" dirty="0"/>
          </a:p>
          <a:p>
            <a:pPr marL="457200" indent="-457200">
              <a:buFont typeface="Arial" panose="020B0604020202020204" pitchFamily="34" charset="0"/>
              <a:buChar char="•"/>
            </a:pPr>
            <a:r>
              <a:rPr lang="en-GB" sz="2800" b="1" dirty="0">
                <a:solidFill>
                  <a:srgbClr val="FF0000"/>
                </a:solidFill>
              </a:rPr>
              <a:t>&lt;p&gt;</a:t>
            </a:r>
            <a:r>
              <a:rPr lang="en-GB" sz="2800" dirty="0"/>
              <a:t> is the paragraph tag</a:t>
            </a:r>
            <a:endParaRPr lang="en-GB" sz="2800" dirty="0">
              <a:ea typeface="Calibri"/>
              <a:cs typeface="Calibri"/>
            </a:endParaRPr>
          </a:p>
          <a:p>
            <a:pPr marL="457200" indent="-457200">
              <a:buFont typeface="Arial" panose="020B0604020202020204" pitchFamily="34" charset="0"/>
              <a:buChar char="•"/>
            </a:pPr>
            <a:r>
              <a:rPr lang="en-GB" sz="2800" dirty="0"/>
              <a:t>Browsers add space (margin) before and after each &lt;p&gt; element</a:t>
            </a:r>
            <a:endParaRPr lang="en-GB" sz="2800" dirty="0">
              <a:ea typeface="Calibri"/>
              <a:cs typeface="Calibri"/>
            </a:endParaRPr>
          </a:p>
          <a:p>
            <a:pPr marL="457200" indent="-457200">
              <a:buFont typeface="Arial" panose="020B0604020202020204" pitchFamily="34" charset="0"/>
              <a:buChar char="•"/>
            </a:pPr>
            <a:r>
              <a:rPr lang="en-GB" sz="2800" dirty="0"/>
              <a:t>They ignore your own formatting</a:t>
            </a:r>
            <a:endParaRPr lang="en-GB" sz="2800" dirty="0">
              <a:ea typeface="Calibri"/>
              <a:cs typeface="Calibri"/>
            </a:endParaRPr>
          </a:p>
          <a:p>
            <a:endParaRPr lang="en-GB" sz="2800"/>
          </a:p>
        </p:txBody>
      </p:sp>
      <p:sp>
        <p:nvSpPr>
          <p:cNvPr id="25" name="Content Placeholder 2"/>
          <p:cNvSpPr>
            <a:spLocks noGrp="1"/>
          </p:cNvSpPr>
          <p:nvPr>
            <p:ph idx="1"/>
          </p:nvPr>
        </p:nvSpPr>
        <p:spPr>
          <a:xfrm>
            <a:off x="32657" y="1154545"/>
            <a:ext cx="5453743" cy="4983163"/>
          </a:xfrm>
        </p:spPr>
        <p:txBody>
          <a:bodyPr vert="horz" lIns="91440" tIns="45720" rIns="91440" bIns="45720" rtlCol="0" anchor="t">
            <a:normAutofit fontScale="92500" lnSpcReduction="20000"/>
          </a:bodyPr>
          <a:lstStyle/>
          <a:p>
            <a:pPr marL="0" indent="0">
              <a:buNone/>
            </a:pPr>
            <a:r>
              <a:rPr lang="en-GB" dirty="0"/>
              <a:t>&lt;html&gt;</a:t>
            </a:r>
          </a:p>
          <a:p>
            <a:pPr marL="0" indent="0">
              <a:buNone/>
            </a:pPr>
            <a:r>
              <a:rPr lang="en-GB" dirty="0"/>
              <a:t>	&lt;head&gt;</a:t>
            </a:r>
            <a:endParaRPr lang="en-GB" dirty="0">
              <a:ea typeface="Calibri"/>
              <a:cs typeface="Calibri"/>
            </a:endParaRPr>
          </a:p>
          <a:p>
            <a:pPr marL="0" indent="0">
              <a:buNone/>
            </a:pPr>
            <a:r>
              <a:rPr lang="en-GB" dirty="0"/>
              <a:t>	   &lt;title&gt;The title&lt;/title&gt;</a:t>
            </a:r>
            <a:endParaRPr lang="en-GB" dirty="0">
              <a:ea typeface="Calibri"/>
              <a:cs typeface="Calibri"/>
            </a:endParaRPr>
          </a:p>
          <a:p>
            <a:pPr marL="0" indent="0">
              <a:buNone/>
            </a:pPr>
            <a:r>
              <a:rPr lang="en-GB" dirty="0"/>
              <a:t>	&lt;/head&gt;</a:t>
            </a:r>
            <a:br>
              <a:rPr lang="en-GB" dirty="0"/>
            </a:br>
            <a:r>
              <a:rPr lang="en-GB" dirty="0"/>
              <a:t>	&lt;body&gt;</a:t>
            </a:r>
            <a:br>
              <a:rPr lang="en-GB" dirty="0"/>
            </a:br>
            <a:br>
              <a:rPr lang="en-GB" dirty="0"/>
            </a:br>
            <a:r>
              <a:rPr lang="en-GB" dirty="0"/>
              <a:t>	   &lt;h1&gt;ISD&lt;/h1&gt;</a:t>
            </a:r>
            <a:br>
              <a:rPr lang="en-GB" dirty="0"/>
            </a:br>
            <a:br>
              <a:rPr lang="en-GB" dirty="0"/>
            </a:br>
            <a:r>
              <a:rPr lang="en-GB" dirty="0"/>
              <a:t>	   </a:t>
            </a:r>
            <a:r>
              <a:rPr lang="en-GB" dirty="0">
                <a:solidFill>
                  <a:srgbClr val="FF0000"/>
                </a:solidFill>
              </a:rPr>
              <a:t>&lt;p&gt;</a:t>
            </a:r>
            <a:r>
              <a:rPr lang="en-GB" dirty="0"/>
              <a:t>My first paragraph.</a:t>
            </a:r>
            <a:r>
              <a:rPr lang="en-GB" dirty="0">
                <a:solidFill>
                  <a:srgbClr val="FF0000"/>
                </a:solidFill>
              </a:rPr>
              <a:t>&lt;/p&gt;</a:t>
            </a:r>
            <a:br>
              <a:rPr lang="en-GB" dirty="0">
                <a:solidFill>
                  <a:srgbClr val="FF0000"/>
                </a:solidFill>
              </a:rPr>
            </a:br>
            <a:br>
              <a:rPr lang="en-GB" dirty="0"/>
            </a:br>
            <a:r>
              <a:rPr lang="en-GB" dirty="0"/>
              <a:t>	&lt;/body&gt;</a:t>
            </a:r>
            <a:br>
              <a:rPr lang="en-GB" dirty="0"/>
            </a:br>
            <a:r>
              <a:rPr lang="en-GB" dirty="0"/>
              <a:t>&lt;/html&gt; </a:t>
            </a:r>
            <a:endParaRPr lang="en-GB" dirty="0">
              <a:ea typeface="Calibri"/>
              <a:cs typeface="Calibri"/>
            </a:endParaRPr>
          </a:p>
        </p:txBody>
      </p:sp>
      <p:sp>
        <p:nvSpPr>
          <p:cNvPr id="7" name="TextBox 6"/>
          <p:cNvSpPr txBox="1"/>
          <p:nvPr/>
        </p:nvSpPr>
        <p:spPr>
          <a:xfrm>
            <a:off x="30083" y="696002"/>
            <a:ext cx="2812418" cy="461665"/>
          </a:xfrm>
          <a:prstGeom prst="rect">
            <a:avLst/>
          </a:prstGeom>
          <a:noFill/>
        </p:spPr>
        <p:txBody>
          <a:bodyPr wrap="square" rtlCol="0">
            <a:spAutoFit/>
          </a:bodyPr>
          <a:lstStyle/>
          <a:p>
            <a:r>
              <a:rPr lang="en-GB" sz="2400"/>
              <a:t>&lt;!DOCTYPE html&gt;</a:t>
            </a:r>
          </a:p>
        </p:txBody>
      </p:sp>
    </p:spTree>
    <p:extLst>
      <p:ext uri="{BB962C8B-B14F-4D97-AF65-F5344CB8AC3E}">
        <p14:creationId xmlns:p14="http://schemas.microsoft.com/office/powerpoint/2010/main" val="309507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Other useful HTML tags</a:t>
            </a:r>
          </a:p>
        </p:txBody>
      </p:sp>
      <p:sp>
        <p:nvSpPr>
          <p:cNvPr id="3" name="Content Placeholder 2"/>
          <p:cNvSpPr>
            <a:spLocks noGrp="1"/>
          </p:cNvSpPr>
          <p:nvPr>
            <p:ph idx="1"/>
          </p:nvPr>
        </p:nvSpPr>
        <p:spPr/>
        <p:txBody>
          <a:bodyPr>
            <a:normAutofit lnSpcReduction="10000"/>
          </a:bodyPr>
          <a:lstStyle/>
          <a:p>
            <a:r>
              <a:rPr lang="en-US"/>
              <a:t>List items / unordered list</a:t>
            </a:r>
          </a:p>
          <a:p>
            <a:pPr marL="457200" lvl="1" indent="0">
              <a:buNone/>
            </a:pPr>
            <a:r>
              <a:rPr lang="en-US"/>
              <a:t>&lt;</a:t>
            </a:r>
            <a:r>
              <a:rPr lang="en-US" err="1"/>
              <a:t>ul</a:t>
            </a:r>
            <a:r>
              <a:rPr lang="en-US"/>
              <a:t>&gt;</a:t>
            </a:r>
          </a:p>
          <a:p>
            <a:pPr marL="914400" lvl="2" indent="0">
              <a:buNone/>
            </a:pPr>
            <a:r>
              <a:rPr lang="en-US"/>
              <a:t>&lt;li&gt; List item one&lt;/li&gt;</a:t>
            </a:r>
          </a:p>
          <a:p>
            <a:pPr marL="914400" lvl="2" indent="0">
              <a:buNone/>
            </a:pPr>
            <a:r>
              <a:rPr lang="en-US"/>
              <a:t>&lt;li&gt; List item two&lt;/li&gt; </a:t>
            </a:r>
          </a:p>
          <a:p>
            <a:pPr marL="457200" lvl="1" indent="0">
              <a:buNone/>
            </a:pPr>
            <a:r>
              <a:rPr lang="en-US"/>
              <a:t>&lt;/</a:t>
            </a:r>
            <a:r>
              <a:rPr lang="en-US" err="1"/>
              <a:t>ul</a:t>
            </a:r>
            <a:r>
              <a:rPr lang="en-US"/>
              <a:t>&gt;</a:t>
            </a:r>
          </a:p>
          <a:p>
            <a:r>
              <a:rPr lang="en-US" err="1"/>
              <a:t>Div</a:t>
            </a:r>
            <a:r>
              <a:rPr lang="en-US"/>
              <a:t> elements let you create sections to divide up the page in different ways when coupled with CSS.</a:t>
            </a:r>
          </a:p>
          <a:p>
            <a:pPr marL="0" indent="0">
              <a:buNone/>
            </a:pPr>
            <a:r>
              <a:rPr lang="en-US"/>
              <a:t>	&lt;div&gt; &lt;/div&gt;	</a:t>
            </a:r>
          </a:p>
        </p:txBody>
      </p:sp>
    </p:spTree>
    <p:extLst>
      <p:ext uri="{BB962C8B-B14F-4D97-AF65-F5344CB8AC3E}">
        <p14:creationId xmlns:p14="http://schemas.microsoft.com/office/powerpoint/2010/main" val="403517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ECC928-C8AA-2EBF-5F17-8347B0339195}"/>
              </a:ext>
            </a:extLst>
          </p:cNvPr>
          <p:cNvSpPr>
            <a:spLocks noGrp="1"/>
          </p:cNvSpPr>
          <p:nvPr>
            <p:ph type="title"/>
          </p:nvPr>
        </p:nvSpPr>
        <p:spPr/>
        <p:txBody>
          <a:bodyPr/>
          <a:lstStyle/>
          <a:p>
            <a:r>
              <a:rPr lang="en-US"/>
              <a:t>HTML First</a:t>
            </a:r>
          </a:p>
        </p:txBody>
      </p:sp>
      <p:sp>
        <p:nvSpPr>
          <p:cNvPr id="6" name="Content Placeholder 5">
            <a:extLst>
              <a:ext uri="{FF2B5EF4-FFF2-40B4-BE49-F238E27FC236}">
                <a16:creationId xmlns:a16="http://schemas.microsoft.com/office/drawing/2014/main" id="{5551136B-BA35-303F-B1B5-C79B8087A18B}"/>
              </a:ext>
            </a:extLst>
          </p:cNvPr>
          <p:cNvSpPr>
            <a:spLocks noGrp="1"/>
          </p:cNvSpPr>
          <p:nvPr>
            <p:ph idx="1"/>
          </p:nvPr>
        </p:nvSpPr>
        <p:spPr/>
        <p:txBody>
          <a:bodyPr/>
          <a:lstStyle/>
          <a:p>
            <a:pPr marL="0" indent="0">
              <a:buNone/>
            </a:pPr>
            <a:r>
              <a:rPr lang="en-US"/>
              <a:t>HTML First: A writing style for web development -- not necessary the best</a:t>
            </a:r>
          </a:p>
          <a:p>
            <a:pPr marL="0" indent="0">
              <a:buNone/>
            </a:pPr>
            <a:endParaRPr lang="en-US"/>
          </a:p>
          <a:p>
            <a:r>
              <a:rPr lang="en-US"/>
              <a:t>If you can do it with HTML, use HTML</a:t>
            </a:r>
          </a:p>
          <a:p>
            <a:r>
              <a:rPr lang="en-US"/>
              <a:t>If you can’t do it with HTML, use CSS</a:t>
            </a:r>
          </a:p>
          <a:p>
            <a:r>
              <a:rPr lang="en-US"/>
              <a:t>If you can’t do it with HTML or CSS, use </a:t>
            </a:r>
            <a:r>
              <a:rPr lang="en-US" err="1"/>
              <a:t>Javascript</a:t>
            </a:r>
            <a:endParaRPr lang="en-US"/>
          </a:p>
        </p:txBody>
      </p:sp>
    </p:spTree>
    <p:extLst>
      <p:ext uri="{BB962C8B-B14F-4D97-AF65-F5344CB8AC3E}">
        <p14:creationId xmlns:p14="http://schemas.microsoft.com/office/powerpoint/2010/main" val="4283040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B626-A0D8-2E63-6076-F46860415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20307-D720-9FDF-E281-03812C3D0C70}"/>
              </a:ext>
            </a:extLst>
          </p:cNvPr>
          <p:cNvSpPr>
            <a:spLocks noGrp="1"/>
          </p:cNvSpPr>
          <p:nvPr>
            <p:ph type="title"/>
          </p:nvPr>
        </p:nvSpPr>
        <p:spPr/>
        <p:txBody>
          <a:bodyPr/>
          <a:lstStyle/>
          <a:p>
            <a:r>
              <a:rPr lang="en-US"/>
              <a:t>HTML AND </a:t>
            </a:r>
            <a:br>
              <a:rPr lang="en-US"/>
            </a:br>
            <a:r>
              <a:rPr lang="en-US"/>
              <a:t>WEB SUSTAINABILITY</a:t>
            </a:r>
          </a:p>
        </p:txBody>
      </p:sp>
      <p:sp>
        <p:nvSpPr>
          <p:cNvPr id="3" name="Subtitle 2">
            <a:extLst>
              <a:ext uri="{FF2B5EF4-FFF2-40B4-BE49-F238E27FC236}">
                <a16:creationId xmlns:a16="http://schemas.microsoft.com/office/drawing/2014/main" id="{DEFB86AC-A990-15BB-27A5-60C6A518AAA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28179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1E3EC7-F024-5FAE-E574-D04273C27D6A}"/>
              </a:ext>
            </a:extLst>
          </p:cNvPr>
          <p:cNvSpPr>
            <a:spLocks noGrp="1"/>
          </p:cNvSpPr>
          <p:nvPr>
            <p:ph type="title"/>
          </p:nvPr>
        </p:nvSpPr>
        <p:spPr/>
        <p:txBody>
          <a:bodyPr/>
          <a:lstStyle/>
          <a:p>
            <a:r>
              <a:rPr lang="en-US"/>
              <a:t>Web Sustainability</a:t>
            </a:r>
          </a:p>
        </p:txBody>
      </p:sp>
      <p:sp>
        <p:nvSpPr>
          <p:cNvPr id="7" name="Content Placeholder 6">
            <a:extLst>
              <a:ext uri="{FF2B5EF4-FFF2-40B4-BE49-F238E27FC236}">
                <a16:creationId xmlns:a16="http://schemas.microsoft.com/office/drawing/2014/main" id="{4E023808-1F1A-53CD-70EF-4233CBD3499E}"/>
              </a:ext>
            </a:extLst>
          </p:cNvPr>
          <p:cNvSpPr>
            <a:spLocks noGrp="1"/>
          </p:cNvSpPr>
          <p:nvPr>
            <p:ph sz="half" idx="1"/>
          </p:nvPr>
        </p:nvSpPr>
        <p:spPr>
          <a:xfrm>
            <a:off x="457200" y="1600200"/>
            <a:ext cx="4038600" cy="1559769"/>
          </a:xfrm>
        </p:spPr>
        <p:txBody>
          <a:bodyPr>
            <a:normAutofit fontScale="92500" lnSpcReduction="10000"/>
          </a:bodyPr>
          <a:lstStyle/>
          <a:p>
            <a:pPr marL="0" indent="0">
              <a:buNone/>
            </a:pPr>
            <a:r>
              <a:rPr lang="en-US" sz="2400" b="1"/>
              <a:t>Carbon Footprint?</a:t>
            </a:r>
            <a:endParaRPr lang="en-US" sz="2400"/>
          </a:p>
          <a:p>
            <a:pPr>
              <a:buFont typeface="Arial" panose="020B0604020202020204" pitchFamily="34" charset="0"/>
              <a:buChar char="•"/>
            </a:pPr>
            <a:r>
              <a:rPr lang="en-US" sz="2400"/>
              <a:t>Total greenhouse gases emitted (tons of CO₂ )</a:t>
            </a:r>
          </a:p>
          <a:p>
            <a:pPr>
              <a:buFont typeface="Arial" panose="020B0604020202020204" pitchFamily="34" charset="0"/>
              <a:buChar char="•"/>
            </a:pPr>
            <a:r>
              <a:rPr lang="en-US" sz="2400"/>
              <a:t>Energy sources:</a:t>
            </a:r>
          </a:p>
          <a:p>
            <a:pPr marL="0" indent="0">
              <a:buNone/>
            </a:pPr>
            <a:endParaRPr lang="en-US" sz="2400" b="1">
              <a:solidFill>
                <a:srgbClr val="FF0000"/>
              </a:solidFill>
            </a:endParaRPr>
          </a:p>
          <a:p>
            <a:endParaRPr lang="en-US" sz="2400"/>
          </a:p>
        </p:txBody>
      </p:sp>
      <p:sp>
        <p:nvSpPr>
          <p:cNvPr id="13" name="Content Placeholder 12">
            <a:extLst>
              <a:ext uri="{FF2B5EF4-FFF2-40B4-BE49-F238E27FC236}">
                <a16:creationId xmlns:a16="http://schemas.microsoft.com/office/drawing/2014/main" id="{D072DDD7-ABF5-6215-F1E9-5ED39A6A4C7B}"/>
              </a:ext>
            </a:extLst>
          </p:cNvPr>
          <p:cNvSpPr>
            <a:spLocks noGrp="1"/>
          </p:cNvSpPr>
          <p:nvPr>
            <p:ph sz="half" idx="2"/>
          </p:nvPr>
        </p:nvSpPr>
        <p:spPr>
          <a:xfrm>
            <a:off x="4648202" y="1600200"/>
            <a:ext cx="4414777" cy="3154013"/>
          </a:xfrm>
        </p:spPr>
        <p:txBody>
          <a:bodyPr>
            <a:normAutofit fontScale="92500" lnSpcReduction="10000"/>
          </a:bodyPr>
          <a:lstStyle/>
          <a:p>
            <a:pPr marL="0" indent="0">
              <a:buNone/>
            </a:pPr>
            <a:r>
              <a:rPr lang="en-US" sz="2400" b="1"/>
              <a:t>Increased data = Higher emissions</a:t>
            </a:r>
            <a:endParaRPr lang="en-US" sz="2400"/>
          </a:p>
          <a:p>
            <a:pPr>
              <a:buFont typeface="Arial" panose="020B0604020202020204" pitchFamily="34" charset="0"/>
              <a:buChar char="•"/>
            </a:pPr>
            <a:r>
              <a:rPr lang="en-US" sz="2400" b="1"/>
              <a:t>Data Centers:</a:t>
            </a:r>
            <a:r>
              <a:rPr lang="en-US" sz="2400"/>
              <a:t> High energy use to store data</a:t>
            </a:r>
          </a:p>
          <a:p>
            <a:pPr>
              <a:buFont typeface="Arial" panose="020B0604020202020204" pitchFamily="34" charset="0"/>
              <a:buChar char="•"/>
            </a:pPr>
            <a:r>
              <a:rPr lang="en-US" sz="2400" b="1"/>
              <a:t>Networks:</a:t>
            </a:r>
            <a:r>
              <a:rPr lang="en-US" sz="2400"/>
              <a:t>  High energy use to transfer data</a:t>
            </a:r>
          </a:p>
          <a:p>
            <a:pPr>
              <a:buFont typeface="Arial" panose="020B0604020202020204" pitchFamily="34" charset="0"/>
              <a:buChar char="•"/>
            </a:pPr>
            <a:r>
              <a:rPr lang="en-US" sz="2400" b="1"/>
              <a:t>User devices: </a:t>
            </a:r>
            <a:r>
              <a:rPr lang="en-US" sz="2400"/>
              <a:t>High </a:t>
            </a:r>
            <a:r>
              <a:rPr lang="en-US" sz="2400" err="1"/>
              <a:t>emergy</a:t>
            </a:r>
            <a:r>
              <a:rPr lang="en-US" sz="2400"/>
              <a:t> use to load/interact with data</a:t>
            </a:r>
            <a:endParaRPr lang="en-US" sz="2400" b="1"/>
          </a:p>
          <a:p>
            <a:pPr marL="0" indent="0">
              <a:buNone/>
            </a:pPr>
            <a:r>
              <a:rPr lang="en-US" sz="2400" b="1"/>
              <a:t> </a:t>
            </a:r>
            <a:endParaRPr lang="en-US" sz="2400"/>
          </a:p>
          <a:p>
            <a:endParaRPr lang="en-US"/>
          </a:p>
        </p:txBody>
      </p:sp>
      <p:pic>
        <p:nvPicPr>
          <p:cNvPr id="14" name="Graphic 13" descr="Power Plant outline">
            <a:extLst>
              <a:ext uri="{FF2B5EF4-FFF2-40B4-BE49-F238E27FC236}">
                <a16:creationId xmlns:a16="http://schemas.microsoft.com/office/drawing/2014/main" id="{9C54CC23-1556-589F-A57C-0A6662D312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88135" y="3159969"/>
            <a:ext cx="665128" cy="665128"/>
          </a:xfrm>
          <a:prstGeom prst="rect">
            <a:avLst/>
          </a:prstGeom>
        </p:spPr>
      </p:pic>
      <p:pic>
        <p:nvPicPr>
          <p:cNvPr id="15" name="Graphic 14" descr="Wind Turbines outline">
            <a:extLst>
              <a:ext uri="{FF2B5EF4-FFF2-40B4-BE49-F238E27FC236}">
                <a16:creationId xmlns:a16="http://schemas.microsoft.com/office/drawing/2014/main" id="{14A7D65E-EEBB-689E-65D4-21C047060A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04348" y="3286633"/>
            <a:ext cx="641941" cy="641941"/>
          </a:xfrm>
          <a:prstGeom prst="rect">
            <a:avLst/>
          </a:prstGeom>
        </p:spPr>
      </p:pic>
      <p:sp>
        <p:nvSpPr>
          <p:cNvPr id="16" name="TextBox 15">
            <a:extLst>
              <a:ext uri="{FF2B5EF4-FFF2-40B4-BE49-F238E27FC236}">
                <a16:creationId xmlns:a16="http://schemas.microsoft.com/office/drawing/2014/main" id="{F928F484-3C32-186C-3A92-E4052E5C54DD}"/>
              </a:ext>
            </a:extLst>
          </p:cNvPr>
          <p:cNvSpPr txBox="1"/>
          <p:nvPr/>
        </p:nvSpPr>
        <p:spPr>
          <a:xfrm>
            <a:off x="550890" y="3798646"/>
            <a:ext cx="1638736" cy="646331"/>
          </a:xfrm>
          <a:prstGeom prst="rect">
            <a:avLst/>
          </a:prstGeom>
          <a:noFill/>
        </p:spPr>
        <p:txBody>
          <a:bodyPr wrap="square" rtlCol="0">
            <a:spAutoFit/>
          </a:bodyPr>
          <a:lstStyle/>
          <a:p>
            <a:r>
              <a:rPr lang="en-US" b="1" i="1">
                <a:solidFill>
                  <a:srgbClr val="AE923A"/>
                </a:solidFill>
              </a:rPr>
              <a:t>Brown energy:</a:t>
            </a:r>
            <a:br>
              <a:rPr lang="en-US" b="1" i="1">
                <a:solidFill>
                  <a:srgbClr val="AE923A"/>
                </a:solidFill>
              </a:rPr>
            </a:br>
            <a:r>
              <a:rPr lang="en-US">
                <a:solidFill>
                  <a:srgbClr val="AE923A"/>
                </a:solidFill>
              </a:rPr>
              <a:t>High emissions</a:t>
            </a:r>
          </a:p>
        </p:txBody>
      </p:sp>
      <p:sp>
        <p:nvSpPr>
          <p:cNvPr id="17" name="TextBox 16">
            <a:extLst>
              <a:ext uri="{FF2B5EF4-FFF2-40B4-BE49-F238E27FC236}">
                <a16:creationId xmlns:a16="http://schemas.microsoft.com/office/drawing/2014/main" id="{11447CFB-2E70-0260-E991-CC37E8BAD547}"/>
              </a:ext>
            </a:extLst>
          </p:cNvPr>
          <p:cNvSpPr txBox="1"/>
          <p:nvPr/>
        </p:nvSpPr>
        <p:spPr>
          <a:xfrm>
            <a:off x="3058855" y="3183093"/>
            <a:ext cx="1252984" cy="1361911"/>
          </a:xfrm>
          <a:prstGeom prst="rect">
            <a:avLst/>
          </a:prstGeom>
          <a:noFill/>
        </p:spPr>
        <p:txBody>
          <a:bodyPr wrap="square" rtlCol="0">
            <a:spAutoFit/>
          </a:bodyPr>
          <a:lstStyle/>
          <a:p>
            <a:r>
              <a:rPr lang="en-US" b="1" i="1">
                <a:solidFill>
                  <a:srgbClr val="31AA1C"/>
                </a:solidFill>
              </a:rPr>
              <a:t>Green </a:t>
            </a:r>
            <a:br>
              <a:rPr lang="en-US" b="1" i="1">
                <a:solidFill>
                  <a:srgbClr val="31AA1C"/>
                </a:solidFill>
              </a:rPr>
            </a:br>
            <a:r>
              <a:rPr lang="en-US" b="1" i="1">
                <a:solidFill>
                  <a:srgbClr val="31AA1C"/>
                </a:solidFill>
              </a:rPr>
              <a:t>energy:</a:t>
            </a:r>
          </a:p>
          <a:p>
            <a:r>
              <a:rPr lang="en-US">
                <a:solidFill>
                  <a:srgbClr val="31AA1C"/>
                </a:solidFill>
              </a:rPr>
              <a:t>Low </a:t>
            </a:r>
            <a:br>
              <a:rPr lang="en-US">
                <a:solidFill>
                  <a:srgbClr val="31AA1C"/>
                </a:solidFill>
              </a:rPr>
            </a:br>
            <a:r>
              <a:rPr lang="en-US">
                <a:solidFill>
                  <a:srgbClr val="31AA1C"/>
                </a:solidFill>
              </a:rPr>
              <a:t>emissions</a:t>
            </a:r>
          </a:p>
          <a:p>
            <a:endParaRPr lang="en-US" sz="1050" i="1">
              <a:solidFill>
                <a:srgbClr val="31AA1C"/>
              </a:solidFill>
            </a:endParaRPr>
          </a:p>
        </p:txBody>
      </p:sp>
      <p:pic>
        <p:nvPicPr>
          <p:cNvPr id="19" name="Picture 18" descr="A blue planet with lines and dots representing the internet&#10;">
            <a:extLst>
              <a:ext uri="{FF2B5EF4-FFF2-40B4-BE49-F238E27FC236}">
                <a16:creationId xmlns:a16="http://schemas.microsoft.com/office/drawing/2014/main" id="{3EDA1412-7417-7FA3-2B32-B95F58406DB8}"/>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457200" y="4650905"/>
            <a:ext cx="4311434" cy="1856312"/>
          </a:xfrm>
          <a:prstGeom prst="rect">
            <a:avLst/>
          </a:prstGeom>
        </p:spPr>
      </p:pic>
      <p:sp>
        <p:nvSpPr>
          <p:cNvPr id="20" name="TextBox 19">
            <a:extLst>
              <a:ext uri="{FF2B5EF4-FFF2-40B4-BE49-F238E27FC236}">
                <a16:creationId xmlns:a16="http://schemas.microsoft.com/office/drawing/2014/main" id="{B640997C-FE33-7354-1DDA-31ADE742E13B}"/>
              </a:ext>
            </a:extLst>
          </p:cNvPr>
          <p:cNvSpPr txBox="1"/>
          <p:nvPr/>
        </p:nvSpPr>
        <p:spPr>
          <a:xfrm>
            <a:off x="942233" y="6474037"/>
            <a:ext cx="3257425" cy="230832"/>
          </a:xfrm>
          <a:prstGeom prst="rect">
            <a:avLst/>
          </a:prstGeom>
          <a:noFill/>
        </p:spPr>
        <p:txBody>
          <a:bodyPr wrap="square" rtlCol="0">
            <a:spAutoFit/>
          </a:bodyPr>
          <a:lstStyle/>
          <a:p>
            <a:r>
              <a:rPr lang="en-US" sz="900">
                <a:hlinkClick r:id="rId7" tooltip="https://medioseducativos.com/la-historia-de-internet/"/>
              </a:rPr>
              <a:t>This Photo</a:t>
            </a:r>
            <a:r>
              <a:rPr lang="en-US" sz="900"/>
              <a:t> by Unknown Author is licensed under </a:t>
            </a:r>
            <a:r>
              <a:rPr lang="en-US" sz="900">
                <a:hlinkClick r:id="rId8" tooltip="https://creativecommons.org/licenses/by-nc-sa/3.0/"/>
              </a:rPr>
              <a:t>CC BY-SA-NC</a:t>
            </a:r>
            <a:endParaRPr lang="en-US" sz="900"/>
          </a:p>
        </p:txBody>
      </p:sp>
      <p:sp>
        <p:nvSpPr>
          <p:cNvPr id="22" name="TextBox 21">
            <a:extLst>
              <a:ext uri="{FF2B5EF4-FFF2-40B4-BE49-F238E27FC236}">
                <a16:creationId xmlns:a16="http://schemas.microsoft.com/office/drawing/2014/main" id="{5E59B645-6C3E-F9E9-8A5A-C96D026588BB}"/>
              </a:ext>
            </a:extLst>
          </p:cNvPr>
          <p:cNvSpPr txBox="1"/>
          <p:nvPr/>
        </p:nvSpPr>
        <p:spPr>
          <a:xfrm>
            <a:off x="4819682" y="5078125"/>
            <a:ext cx="4071815" cy="923330"/>
          </a:xfrm>
          <a:prstGeom prst="rect">
            <a:avLst/>
          </a:prstGeom>
          <a:noFill/>
        </p:spPr>
        <p:txBody>
          <a:bodyPr wrap="square" rtlCol="0">
            <a:spAutoFit/>
          </a:bodyPr>
          <a:lstStyle/>
          <a:p>
            <a:r>
              <a:rPr lang="en-US" sz="1800" b="1">
                <a:solidFill>
                  <a:srgbClr val="FF0000"/>
                </a:solidFill>
              </a:rPr>
              <a:t>The internet produces ~4% of the world’s emissions (and increasing)</a:t>
            </a:r>
          </a:p>
          <a:p>
            <a:endParaRPr lang="en-US"/>
          </a:p>
        </p:txBody>
      </p:sp>
    </p:spTree>
    <p:extLst>
      <p:ext uri="{BB962C8B-B14F-4D97-AF65-F5344CB8AC3E}">
        <p14:creationId xmlns:p14="http://schemas.microsoft.com/office/powerpoint/2010/main" val="3382638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786E8-646F-B3C6-1458-9B47DDD319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2C0833-3C3C-59A2-4AE9-FDCF57CDD613}"/>
              </a:ext>
            </a:extLst>
          </p:cNvPr>
          <p:cNvSpPr>
            <a:spLocks noGrp="1"/>
          </p:cNvSpPr>
          <p:nvPr>
            <p:ph type="title"/>
          </p:nvPr>
        </p:nvSpPr>
        <p:spPr/>
        <p:txBody>
          <a:bodyPr/>
          <a:lstStyle/>
          <a:p>
            <a:r>
              <a:rPr lang="en-US"/>
              <a:t>Web Sustainability Guidelines</a:t>
            </a:r>
          </a:p>
        </p:txBody>
      </p:sp>
      <p:sp>
        <p:nvSpPr>
          <p:cNvPr id="7" name="Content Placeholder 6">
            <a:extLst>
              <a:ext uri="{FF2B5EF4-FFF2-40B4-BE49-F238E27FC236}">
                <a16:creationId xmlns:a16="http://schemas.microsoft.com/office/drawing/2014/main" id="{461E7E94-D247-457E-740A-40C19A697131}"/>
              </a:ext>
            </a:extLst>
          </p:cNvPr>
          <p:cNvSpPr>
            <a:spLocks noGrp="1"/>
          </p:cNvSpPr>
          <p:nvPr>
            <p:ph sz="half" idx="1"/>
          </p:nvPr>
        </p:nvSpPr>
        <p:spPr/>
        <p:txBody>
          <a:bodyPr>
            <a:normAutofit fontScale="92500" lnSpcReduction="10000"/>
          </a:bodyPr>
          <a:lstStyle/>
          <a:p>
            <a:r>
              <a:rPr lang="en-US" sz="2400"/>
              <a:t>Web Sustainability Guidelines: a working draft from the W3C</a:t>
            </a:r>
          </a:p>
          <a:p>
            <a:endParaRPr lang="en-US" sz="2400"/>
          </a:p>
          <a:p>
            <a:endParaRPr lang="en-US" sz="2400"/>
          </a:p>
          <a:p>
            <a:endParaRPr lang="en-US" sz="2400"/>
          </a:p>
          <a:p>
            <a:endParaRPr lang="en-US" sz="2400"/>
          </a:p>
          <a:p>
            <a:endParaRPr lang="en-US" sz="2400"/>
          </a:p>
          <a:p>
            <a:pPr marL="0" indent="0">
              <a:buNone/>
            </a:pPr>
            <a:r>
              <a:rPr lang="en-US" sz="1800">
                <a:hlinkClick r:id="rId2"/>
              </a:rPr>
              <a:t>https://w3c.github.io/sustyweb/</a:t>
            </a:r>
            <a:r>
              <a:rPr lang="en-US" sz="1800"/>
              <a:t> </a:t>
            </a:r>
            <a:r>
              <a:rPr lang="en-US" sz="2000"/>
              <a:t> </a:t>
            </a:r>
          </a:p>
          <a:p>
            <a:pPr marL="0" indent="0">
              <a:buNone/>
            </a:pPr>
            <a:endParaRPr lang="en-US" sz="2000"/>
          </a:p>
          <a:p>
            <a:pPr marL="0" indent="0">
              <a:buNone/>
            </a:pPr>
            <a:r>
              <a:rPr lang="en-US" sz="2000" b="1"/>
              <a:t>24 guidelines relevant to Web Development </a:t>
            </a:r>
            <a:r>
              <a:rPr lang="en-US" sz="2000"/>
              <a:t>(Section 3): </a:t>
            </a:r>
            <a:r>
              <a:rPr lang="en-US" sz="2000">
                <a:hlinkClick r:id="rId3"/>
              </a:rPr>
              <a:t>https://sustainablewebdesign.org/guideline-categories/web-development/</a:t>
            </a:r>
            <a:r>
              <a:rPr lang="en-US" sz="2000"/>
              <a:t> </a:t>
            </a:r>
          </a:p>
        </p:txBody>
      </p:sp>
      <p:pic>
        <p:nvPicPr>
          <p:cNvPr id="8" name="Content Placeholder 7" descr="A screenshot of a web page&#10;&#10;AI-generated content may be incorrect.">
            <a:extLst>
              <a:ext uri="{FF2B5EF4-FFF2-40B4-BE49-F238E27FC236}">
                <a16:creationId xmlns:a16="http://schemas.microsoft.com/office/drawing/2014/main" id="{F1614A85-C094-3CB8-94E7-571F49C54FFD}"/>
              </a:ext>
            </a:extLst>
          </p:cNvPr>
          <p:cNvPicPr>
            <a:picLocks noGrp="1" noChangeAspect="1"/>
          </p:cNvPicPr>
          <p:nvPr>
            <p:ph sz="half" idx="2"/>
          </p:nvPr>
        </p:nvPicPr>
        <p:blipFill>
          <a:blip r:embed="rId4"/>
          <a:stretch>
            <a:fillRect/>
          </a:stretch>
        </p:blipFill>
        <p:spPr>
          <a:xfrm>
            <a:off x="356016" y="2453134"/>
            <a:ext cx="4333863" cy="1951732"/>
          </a:xfrm>
        </p:spPr>
      </p:pic>
      <p:sp>
        <p:nvSpPr>
          <p:cNvPr id="9" name="Content Placeholder 6">
            <a:extLst>
              <a:ext uri="{FF2B5EF4-FFF2-40B4-BE49-F238E27FC236}">
                <a16:creationId xmlns:a16="http://schemas.microsoft.com/office/drawing/2014/main" id="{531EB2F3-BEC0-A9AC-2C79-C8FA3CE09D92}"/>
              </a:ext>
            </a:extLst>
          </p:cNvPr>
          <p:cNvSpPr txBox="1">
            <a:spLocks/>
          </p:cNvSpPr>
          <p:nvPr/>
        </p:nvSpPr>
        <p:spPr>
          <a:xfrm>
            <a:off x="4943461" y="1606446"/>
            <a:ext cx="4038600" cy="4525963"/>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400"/>
              <a:t>” If the Internet was a country, </a:t>
            </a:r>
            <a:br>
              <a:rPr lang="en-US" sz="2400"/>
            </a:br>
            <a:r>
              <a:rPr lang="en-US" sz="2400"/>
              <a:t>it would be the 4</a:t>
            </a:r>
            <a:r>
              <a:rPr lang="en-US" sz="2400" baseline="30000"/>
              <a:t>th</a:t>
            </a:r>
            <a:r>
              <a:rPr lang="en-US" sz="2400"/>
              <a:t> largest polluter” </a:t>
            </a:r>
            <a:br>
              <a:rPr lang="en-US" sz="2400"/>
            </a:br>
            <a:r>
              <a:rPr lang="en-US" sz="2400">
                <a:hlinkClick r:id="rId5"/>
              </a:rPr>
              <a:t>– Sustainable Web Manifesto</a:t>
            </a:r>
            <a:endParaRPr lang="en-US" sz="2400"/>
          </a:p>
          <a:p>
            <a:pPr marL="0" indent="0">
              <a:buNone/>
            </a:pPr>
            <a:endParaRPr lang="en-US" sz="2400"/>
          </a:p>
          <a:p>
            <a:pPr marL="0" indent="0">
              <a:buNone/>
            </a:pPr>
            <a:r>
              <a:rPr lang="en-US" sz="2400"/>
              <a:t>Products and services should:</a:t>
            </a:r>
          </a:p>
          <a:p>
            <a:r>
              <a:rPr lang="en-US" sz="2400"/>
              <a:t>Use clean energy </a:t>
            </a:r>
          </a:p>
          <a:p>
            <a:r>
              <a:rPr lang="en-US" sz="2400"/>
              <a:t>Use the least amount of energy</a:t>
            </a:r>
          </a:p>
          <a:p>
            <a:r>
              <a:rPr lang="en-US" sz="2400"/>
              <a:t>Be accessible</a:t>
            </a:r>
          </a:p>
          <a:p>
            <a:r>
              <a:rPr lang="en-US" sz="2400"/>
              <a:t>Not exploit/mislead users</a:t>
            </a:r>
          </a:p>
          <a:p>
            <a:r>
              <a:rPr lang="en-US" sz="2400"/>
              <a:t>Support an economy for people and the planet</a:t>
            </a:r>
          </a:p>
          <a:p>
            <a:r>
              <a:rPr lang="en-US" sz="2400"/>
              <a:t>Function in times and places where people need them the most</a:t>
            </a:r>
          </a:p>
          <a:p>
            <a:endParaRPr lang="en-US" sz="2400"/>
          </a:p>
        </p:txBody>
      </p:sp>
    </p:spTree>
    <p:extLst>
      <p:ext uri="{BB962C8B-B14F-4D97-AF65-F5344CB8AC3E}">
        <p14:creationId xmlns:p14="http://schemas.microsoft.com/office/powerpoint/2010/main" val="1564570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EA69F-7D2B-014E-2BA2-A79EB20784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6FC52D-0CF5-6B14-BEE8-D86003C9DC31}"/>
              </a:ext>
            </a:extLst>
          </p:cNvPr>
          <p:cNvSpPr>
            <a:spLocks noGrp="1"/>
          </p:cNvSpPr>
          <p:nvPr>
            <p:ph type="title"/>
          </p:nvPr>
        </p:nvSpPr>
        <p:spPr/>
        <p:txBody>
          <a:bodyPr/>
          <a:lstStyle/>
          <a:p>
            <a:r>
              <a:rPr lang="en-US"/>
              <a:t>Web Sustainability and HTML</a:t>
            </a:r>
          </a:p>
        </p:txBody>
      </p:sp>
      <p:sp>
        <p:nvSpPr>
          <p:cNvPr id="6" name="Content Placeholder 5">
            <a:extLst>
              <a:ext uri="{FF2B5EF4-FFF2-40B4-BE49-F238E27FC236}">
                <a16:creationId xmlns:a16="http://schemas.microsoft.com/office/drawing/2014/main" id="{1E19030C-3C0F-653B-31BB-C54CFCE6C40F}"/>
              </a:ext>
            </a:extLst>
          </p:cNvPr>
          <p:cNvSpPr>
            <a:spLocks noGrp="1"/>
          </p:cNvSpPr>
          <p:nvPr>
            <p:ph sz="half" idx="1"/>
          </p:nvPr>
        </p:nvSpPr>
        <p:spPr>
          <a:xfrm>
            <a:off x="457200" y="1600200"/>
            <a:ext cx="8360764" cy="4525963"/>
          </a:xfrm>
        </p:spPr>
        <p:txBody>
          <a:bodyPr/>
          <a:lstStyle/>
          <a:p>
            <a:pPr marL="0" indent="0">
              <a:buNone/>
            </a:pPr>
            <a:r>
              <a:rPr lang="en-US" b="1"/>
              <a:t>Guideline #3.2</a:t>
            </a:r>
            <a:r>
              <a:rPr lang="en-US"/>
              <a:t>: </a:t>
            </a:r>
            <a:r>
              <a:rPr lang="en-US" b="1"/>
              <a:t>Minify</a:t>
            </a:r>
            <a:r>
              <a:rPr lang="en-US"/>
              <a:t> your HTML, CSS, and </a:t>
            </a:r>
            <a:r>
              <a:rPr lang="en-US" err="1"/>
              <a:t>Javascript</a:t>
            </a:r>
            <a:endParaRPr lang="en-US"/>
          </a:p>
          <a:p>
            <a:pPr marL="0" indent="0">
              <a:buNone/>
            </a:pPr>
            <a:r>
              <a:rPr lang="en-US"/>
              <a:t>	- No value in whitespace</a:t>
            </a:r>
          </a:p>
          <a:p>
            <a:pPr marL="0" indent="0">
              <a:buNone/>
            </a:pPr>
            <a:r>
              <a:rPr lang="en-US"/>
              <a:t>	- Improves page loading times </a:t>
            </a:r>
          </a:p>
          <a:p>
            <a:pPr marL="0" indent="0">
              <a:buNone/>
            </a:pPr>
            <a:endParaRPr lang="en-US"/>
          </a:p>
        </p:txBody>
      </p:sp>
    </p:spTree>
    <p:extLst>
      <p:ext uri="{BB962C8B-B14F-4D97-AF65-F5344CB8AC3E}">
        <p14:creationId xmlns:p14="http://schemas.microsoft.com/office/powerpoint/2010/main" val="2727567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B35F9-BF6B-4D4A-85D6-B6A9186BFC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EB603C-4BF1-F74A-2E1B-0863A53B825C}"/>
              </a:ext>
            </a:extLst>
          </p:cNvPr>
          <p:cNvSpPr>
            <a:spLocks noGrp="1"/>
          </p:cNvSpPr>
          <p:nvPr>
            <p:ph type="title"/>
          </p:nvPr>
        </p:nvSpPr>
        <p:spPr/>
        <p:txBody>
          <a:bodyPr/>
          <a:lstStyle/>
          <a:p>
            <a:r>
              <a:rPr lang="en-US"/>
              <a:t>Web Sustainability and HTML</a:t>
            </a:r>
          </a:p>
        </p:txBody>
      </p:sp>
      <p:sp>
        <p:nvSpPr>
          <p:cNvPr id="6" name="Content Placeholder 5">
            <a:extLst>
              <a:ext uri="{FF2B5EF4-FFF2-40B4-BE49-F238E27FC236}">
                <a16:creationId xmlns:a16="http://schemas.microsoft.com/office/drawing/2014/main" id="{D2A7B708-D0FA-21F3-8C1B-AE2956A82E80}"/>
              </a:ext>
            </a:extLst>
          </p:cNvPr>
          <p:cNvSpPr>
            <a:spLocks noGrp="1"/>
          </p:cNvSpPr>
          <p:nvPr>
            <p:ph sz="half" idx="1"/>
          </p:nvPr>
        </p:nvSpPr>
        <p:spPr>
          <a:xfrm>
            <a:off x="457200" y="1600200"/>
            <a:ext cx="8360764" cy="4525963"/>
          </a:xfrm>
        </p:spPr>
        <p:txBody>
          <a:bodyPr/>
          <a:lstStyle/>
          <a:p>
            <a:pPr marL="0" indent="0">
              <a:buNone/>
            </a:pPr>
            <a:r>
              <a:rPr lang="en-US" b="1"/>
              <a:t>Guideline #3.8:</a:t>
            </a:r>
            <a:r>
              <a:rPr lang="en-US"/>
              <a:t> Use </a:t>
            </a:r>
            <a:r>
              <a:rPr lang="en-US" b="1"/>
              <a:t>HTML elements</a:t>
            </a:r>
            <a:r>
              <a:rPr lang="en-US"/>
              <a:t> correctly</a:t>
            </a:r>
          </a:p>
          <a:p>
            <a:pPr marL="0" indent="0">
              <a:buNone/>
            </a:pPr>
            <a:r>
              <a:rPr lang="en-US"/>
              <a:t>	- Bloated markup wastes data, increases energy</a:t>
            </a:r>
          </a:p>
          <a:p>
            <a:pPr marL="0" indent="0">
              <a:buNone/>
            </a:pPr>
            <a:r>
              <a:rPr lang="en-US"/>
              <a:t>	- Deprecated code is not optimized</a:t>
            </a:r>
          </a:p>
          <a:p>
            <a:pPr marL="0" indent="0">
              <a:buNone/>
            </a:pPr>
            <a:endParaRPr lang="en-US"/>
          </a:p>
          <a:p>
            <a:pPr marL="0" indent="0">
              <a:buNone/>
            </a:pPr>
            <a:endParaRPr lang="en-US"/>
          </a:p>
        </p:txBody>
      </p:sp>
    </p:spTree>
    <p:extLst>
      <p:ext uri="{BB962C8B-B14F-4D97-AF65-F5344CB8AC3E}">
        <p14:creationId xmlns:p14="http://schemas.microsoft.com/office/powerpoint/2010/main" val="268978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3563-9C56-4083-4480-339840EE9D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1B5102-C049-8EA6-CC31-626B77AF3A45}"/>
              </a:ext>
            </a:extLst>
          </p:cNvPr>
          <p:cNvSpPr>
            <a:spLocks noGrp="1"/>
          </p:cNvSpPr>
          <p:nvPr>
            <p:ph type="title"/>
          </p:nvPr>
        </p:nvSpPr>
        <p:spPr/>
        <p:txBody>
          <a:bodyPr/>
          <a:lstStyle/>
          <a:p>
            <a:r>
              <a:rPr lang="en-US"/>
              <a:t>Deprecated HTML Elements</a:t>
            </a:r>
          </a:p>
        </p:txBody>
      </p:sp>
      <p:sp>
        <p:nvSpPr>
          <p:cNvPr id="6" name="Content Placeholder 5">
            <a:extLst>
              <a:ext uri="{FF2B5EF4-FFF2-40B4-BE49-F238E27FC236}">
                <a16:creationId xmlns:a16="http://schemas.microsoft.com/office/drawing/2014/main" id="{E1B5BA62-7426-F503-FB36-B34AABD4BC51}"/>
              </a:ext>
            </a:extLst>
          </p:cNvPr>
          <p:cNvSpPr>
            <a:spLocks noGrp="1"/>
          </p:cNvSpPr>
          <p:nvPr>
            <p:ph sz="half" idx="1"/>
          </p:nvPr>
        </p:nvSpPr>
        <p:spPr>
          <a:xfrm>
            <a:off x="457199" y="3650105"/>
            <a:ext cx="7896069" cy="2476058"/>
          </a:xfrm>
        </p:spPr>
        <p:txBody>
          <a:bodyPr>
            <a:normAutofit fontScale="92500" lnSpcReduction="10000"/>
          </a:bodyPr>
          <a:lstStyle/>
          <a:p>
            <a:pPr marL="0" indent="0">
              <a:buNone/>
            </a:pPr>
            <a:r>
              <a:rPr lang="en-US"/>
              <a:t>Useful sources: </a:t>
            </a:r>
          </a:p>
          <a:p>
            <a:r>
              <a:rPr lang="en-US">
                <a:latin typeface="Calibri" panose="020F0502020204030204" pitchFamily="34" charset="0"/>
                <a:cs typeface="Calibri" panose="020F0502020204030204" pitchFamily="34" charset="0"/>
                <a:hlinkClick r:id="rId3"/>
              </a:rPr>
              <a:t>ObsoHTML</a:t>
            </a:r>
            <a:r>
              <a:rPr lang="en-US">
                <a:latin typeface="Calibri" panose="020F0502020204030204" pitchFamily="34" charset="0"/>
                <a:cs typeface="Calibri" panose="020F0502020204030204" pitchFamily="34" charset="0"/>
              </a:rPr>
              <a:t>: A tool to find Obsolete HTML</a:t>
            </a:r>
          </a:p>
          <a:p>
            <a:r>
              <a:rPr lang="en-US">
                <a:latin typeface="Calibri" panose="020F0502020204030204" pitchFamily="34" charset="0"/>
                <a:cs typeface="Calibri" panose="020F0502020204030204" pitchFamily="34" charset="0"/>
                <a:hlinkClick r:id="rId4"/>
              </a:rPr>
              <a:t>https://blog.logrocket.com/deprecated-html-elements-and-what-to-use-instead</a:t>
            </a:r>
            <a:endParaRPr lang="en-US">
              <a:latin typeface="Calibri" panose="020F0502020204030204" pitchFamily="34" charset="0"/>
              <a:cs typeface="Calibri" panose="020F0502020204030204" pitchFamily="34" charset="0"/>
            </a:endParaRPr>
          </a:p>
          <a:p>
            <a:r>
              <a:rPr lang="en-US">
                <a:latin typeface="Calibri" panose="020F0502020204030204" pitchFamily="34" charset="0"/>
                <a:cs typeface="Calibri" panose="020F0502020204030204" pitchFamily="34" charset="0"/>
                <a:hlinkClick r:id="rId5"/>
              </a:rPr>
              <a:t>https://css-tricks.com/why-do-some-html-elements-become-deprecated/</a:t>
            </a:r>
            <a:r>
              <a:rPr lang="en-US">
                <a:latin typeface="Calibri" panose="020F0502020204030204" pitchFamily="34" charset="0"/>
                <a:cs typeface="Calibri" panose="020F0502020204030204" pitchFamily="34" charset="0"/>
              </a:rPr>
              <a:t> </a:t>
            </a:r>
          </a:p>
          <a:p>
            <a:endParaRPr lang="en-US">
              <a:latin typeface="Consolas" panose="020B0609020204030204" pitchFamily="49" charset="0"/>
              <a:cs typeface="Consolas" panose="020B0609020204030204" pitchFamily="49" charset="0"/>
            </a:endParaRPr>
          </a:p>
          <a:p>
            <a:endParaRPr lang="en-US">
              <a:latin typeface="Consolas" panose="020B0609020204030204" pitchFamily="49" charset="0"/>
              <a:cs typeface="Consolas" panose="020B0609020204030204" pitchFamily="49" charset="0"/>
            </a:endParaRPr>
          </a:p>
          <a:p>
            <a:pPr marL="0" indent="0">
              <a:buNone/>
            </a:pPr>
            <a:endParaRPr lang="en-US"/>
          </a:p>
        </p:txBody>
      </p:sp>
      <p:graphicFrame>
        <p:nvGraphicFramePr>
          <p:cNvPr id="3" name="Table 2">
            <a:extLst>
              <a:ext uri="{FF2B5EF4-FFF2-40B4-BE49-F238E27FC236}">
                <a16:creationId xmlns:a16="http://schemas.microsoft.com/office/drawing/2014/main" id="{2C9EEDDF-0F31-4811-DDA5-658ED9A8CBD5}"/>
              </a:ext>
            </a:extLst>
          </p:cNvPr>
          <p:cNvGraphicFramePr>
            <a:graphicFrameLocks noGrp="1"/>
          </p:cNvGraphicFramePr>
          <p:nvPr>
            <p:extLst>
              <p:ext uri="{D42A27DB-BD31-4B8C-83A1-F6EECF244321}">
                <p14:modId xmlns:p14="http://schemas.microsoft.com/office/powerpoint/2010/main" val="908346160"/>
              </p:ext>
            </p:extLst>
          </p:nvPr>
        </p:nvGraphicFramePr>
        <p:xfrm>
          <a:off x="1662659" y="1314554"/>
          <a:ext cx="6096000" cy="222504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815065103"/>
                    </a:ext>
                  </a:extLst>
                </a:gridCol>
                <a:gridCol w="3048000">
                  <a:extLst>
                    <a:ext uri="{9D8B030D-6E8A-4147-A177-3AD203B41FA5}">
                      <a16:colId xmlns:a16="http://schemas.microsoft.com/office/drawing/2014/main" val="2689069562"/>
                    </a:ext>
                  </a:extLst>
                </a:gridCol>
              </a:tblGrid>
              <a:tr h="370840">
                <a:tc>
                  <a:txBody>
                    <a:bodyPr/>
                    <a:lstStyle/>
                    <a:p>
                      <a:r>
                        <a:rPr lang="en-US" b="1"/>
                        <a:t>Deprecated Element</a:t>
                      </a:r>
                    </a:p>
                  </a:txBody>
                  <a:tcPr/>
                </a:tc>
                <a:tc>
                  <a:txBody>
                    <a:bodyPr/>
                    <a:lstStyle/>
                    <a:p>
                      <a:r>
                        <a:rPr lang="en-US" b="1"/>
                        <a:t>Instead, use:</a:t>
                      </a:r>
                    </a:p>
                  </a:txBody>
                  <a:tcPr/>
                </a:tc>
                <a:extLst>
                  <a:ext uri="{0D108BD9-81ED-4DB2-BD59-A6C34878D82A}">
                    <a16:rowId xmlns:a16="http://schemas.microsoft.com/office/drawing/2014/main" val="3984165801"/>
                  </a:ext>
                </a:extLst>
              </a:tr>
              <a:tr h="370840">
                <a:tc>
                  <a:txBody>
                    <a:bodyPr/>
                    <a:lstStyle/>
                    <a:p>
                      <a:r>
                        <a:rPr lang="en-US" err="1"/>
                        <a:t>basefont</a:t>
                      </a:r>
                      <a:r>
                        <a:rPr lang="en-US"/>
                        <a:t>, font</a:t>
                      </a:r>
                      <a:endParaRPr lang="en-US">
                        <a:latin typeface="Consolas" panose="020B0609020204030204" pitchFamily="49" charset="0"/>
                        <a:cs typeface="Consolas" panose="020B0609020204030204" pitchFamily="49"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CSS font family, font size, color</a:t>
                      </a:r>
                      <a:endParaRPr lang="en-US">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976097127"/>
                  </a:ext>
                </a:extLst>
              </a:tr>
              <a:tr h="370840">
                <a:tc>
                  <a:txBody>
                    <a:bodyPr/>
                    <a:lstStyle/>
                    <a:p>
                      <a:r>
                        <a:rPr lang="en-US"/>
                        <a:t>&lt;</a:t>
                      </a:r>
                      <a:r>
                        <a:rPr lang="en-US" err="1"/>
                        <a:t>dir</a:t>
                      </a:r>
                      <a:r>
                        <a:rPr lang="en-US"/>
                        <a:t>&gt;</a:t>
                      </a:r>
                    </a:p>
                  </a:txBody>
                  <a:tcPr/>
                </a:tc>
                <a:tc>
                  <a:txBody>
                    <a:bodyPr/>
                    <a:lstStyle/>
                    <a:p>
                      <a:r>
                        <a:rPr lang="en-US"/>
                        <a:t>&lt;</a:t>
                      </a:r>
                      <a:r>
                        <a:rPr lang="en-US" err="1"/>
                        <a:t>ol</a:t>
                      </a:r>
                      <a:r>
                        <a:rPr lang="en-US"/>
                        <a:t>&gt;, &lt;</a:t>
                      </a:r>
                      <a:r>
                        <a:rPr lang="en-US" err="1"/>
                        <a:t>ul</a:t>
                      </a:r>
                      <a:r>
                        <a:rPr lang="en-US"/>
                        <a:t>&gt;</a:t>
                      </a:r>
                    </a:p>
                  </a:txBody>
                  <a:tcPr/>
                </a:tc>
                <a:extLst>
                  <a:ext uri="{0D108BD9-81ED-4DB2-BD59-A6C34878D82A}">
                    <a16:rowId xmlns:a16="http://schemas.microsoft.com/office/drawing/2014/main" val="2687583241"/>
                  </a:ext>
                </a:extLst>
              </a:tr>
              <a:tr h="370840">
                <a:tc>
                  <a:txBody>
                    <a:bodyPr/>
                    <a:lstStyle/>
                    <a:p>
                      <a:r>
                        <a:rPr lang="en-US"/>
                        <a:t>&lt;strike&gt;</a:t>
                      </a:r>
                    </a:p>
                  </a:txBody>
                  <a:tcPr/>
                </a:tc>
                <a:tc>
                  <a:txBody>
                    <a:bodyPr/>
                    <a:lstStyle/>
                    <a:p>
                      <a:r>
                        <a:rPr lang="en-US"/>
                        <a:t>CSS text-decoration</a:t>
                      </a:r>
                    </a:p>
                  </a:txBody>
                  <a:tcPr/>
                </a:tc>
                <a:extLst>
                  <a:ext uri="{0D108BD9-81ED-4DB2-BD59-A6C34878D82A}">
                    <a16:rowId xmlns:a16="http://schemas.microsoft.com/office/drawing/2014/main" val="3945004398"/>
                  </a:ext>
                </a:extLst>
              </a:tr>
              <a:tr h="370840">
                <a:tc>
                  <a:txBody>
                    <a:bodyPr/>
                    <a:lstStyle/>
                    <a:p>
                      <a:r>
                        <a:rPr lang="en-US"/>
                        <a:t>&lt;center&gt;</a:t>
                      </a:r>
                    </a:p>
                  </a:txBody>
                  <a:tcPr/>
                </a:tc>
                <a:tc>
                  <a:txBody>
                    <a:bodyPr/>
                    <a:lstStyle/>
                    <a:p>
                      <a:r>
                        <a:rPr lang="en-US"/>
                        <a:t>CSS </a:t>
                      </a:r>
                      <a:r>
                        <a:rPr lang="en-US" err="1"/>
                        <a:t>text-align:center</a:t>
                      </a:r>
                      <a:endParaRPr lang="en-US"/>
                    </a:p>
                  </a:txBody>
                  <a:tcPr/>
                </a:tc>
                <a:extLst>
                  <a:ext uri="{0D108BD9-81ED-4DB2-BD59-A6C34878D82A}">
                    <a16:rowId xmlns:a16="http://schemas.microsoft.com/office/drawing/2014/main" val="4278694085"/>
                  </a:ext>
                </a:extLst>
              </a:tr>
              <a:tr h="370840">
                <a:tc>
                  <a:txBody>
                    <a:bodyPr/>
                    <a:lstStyle/>
                    <a:p>
                      <a:r>
                        <a:rPr lang="en-US"/>
                        <a:t>&lt;frame&gt;</a:t>
                      </a:r>
                    </a:p>
                  </a:txBody>
                  <a:tcPr/>
                </a:tc>
                <a:tc>
                  <a:txBody>
                    <a:bodyPr/>
                    <a:lstStyle/>
                    <a:p>
                      <a:r>
                        <a:rPr lang="en-US"/>
                        <a:t>&lt;</a:t>
                      </a:r>
                      <a:r>
                        <a:rPr lang="en-US" err="1"/>
                        <a:t>iframe</a:t>
                      </a:r>
                      <a:r>
                        <a:rPr lang="en-US"/>
                        <a:t>&gt;, &lt;frameset&gt;</a:t>
                      </a:r>
                    </a:p>
                  </a:txBody>
                  <a:tcPr/>
                </a:tc>
                <a:extLst>
                  <a:ext uri="{0D108BD9-81ED-4DB2-BD59-A6C34878D82A}">
                    <a16:rowId xmlns:a16="http://schemas.microsoft.com/office/drawing/2014/main" val="4203688199"/>
                  </a:ext>
                </a:extLst>
              </a:tr>
            </a:tbl>
          </a:graphicData>
        </a:graphic>
      </p:graphicFrame>
    </p:spTree>
    <p:extLst>
      <p:ext uri="{BB962C8B-B14F-4D97-AF65-F5344CB8AC3E}">
        <p14:creationId xmlns:p14="http://schemas.microsoft.com/office/powerpoint/2010/main" val="1516472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55F283-7E59-2577-FEE2-429B491F7AAB}"/>
              </a:ext>
            </a:extLst>
          </p:cNvPr>
          <p:cNvSpPr>
            <a:spLocks noGrp="1"/>
          </p:cNvSpPr>
          <p:nvPr>
            <p:ph type="title"/>
          </p:nvPr>
        </p:nvSpPr>
        <p:spPr/>
        <p:txBody>
          <a:bodyPr/>
          <a:lstStyle/>
          <a:p>
            <a:r>
              <a:rPr lang="en-US"/>
              <a:t>Deprecated HTML</a:t>
            </a:r>
          </a:p>
        </p:txBody>
      </p:sp>
      <p:pic>
        <p:nvPicPr>
          <p:cNvPr id="11" name="Content Placeholder 10">
            <a:extLst>
              <a:ext uri="{FF2B5EF4-FFF2-40B4-BE49-F238E27FC236}">
                <a16:creationId xmlns:a16="http://schemas.microsoft.com/office/drawing/2014/main" id="{A5B22C6F-1F19-DB16-59C7-1E88B9BFD779}"/>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rcRect/>
          <a:stretch/>
        </p:blipFill>
        <p:spPr>
          <a:xfrm>
            <a:off x="3575050" y="273050"/>
            <a:ext cx="5568260" cy="6584950"/>
          </a:xfrm>
        </p:spPr>
      </p:pic>
      <p:sp>
        <p:nvSpPr>
          <p:cNvPr id="9" name="Text Placeholder 8">
            <a:extLst>
              <a:ext uri="{FF2B5EF4-FFF2-40B4-BE49-F238E27FC236}">
                <a16:creationId xmlns:a16="http://schemas.microsoft.com/office/drawing/2014/main" id="{51D033AB-9C4F-B40D-C091-A0D3FF6EAF68}"/>
              </a:ext>
            </a:extLst>
          </p:cNvPr>
          <p:cNvSpPr>
            <a:spLocks noGrp="1"/>
          </p:cNvSpPr>
          <p:nvPr>
            <p:ph type="body" sz="half" idx="2"/>
          </p:nvPr>
        </p:nvSpPr>
        <p:spPr/>
        <p:txBody>
          <a:bodyPr>
            <a:normAutofit/>
          </a:bodyPr>
          <a:lstStyle/>
          <a:p>
            <a:endParaRPr lang="en-US" sz="2000"/>
          </a:p>
          <a:p>
            <a:r>
              <a:rPr lang="en-US" sz="2000"/>
              <a:t>Only 0.5% of websites use valid HTML! </a:t>
            </a:r>
            <a:br>
              <a:rPr lang="en-US" sz="2000"/>
            </a:br>
            <a:endParaRPr lang="en-US" sz="2000"/>
          </a:p>
          <a:p>
            <a:endParaRPr lang="en-US" sz="2000"/>
          </a:p>
          <a:p>
            <a:r>
              <a:rPr lang="en-US" sz="2000">
                <a:hlinkClick r:id="rId4"/>
              </a:rPr>
              <a:t>https://meiert.com/en/blog/html-conformance-2024/</a:t>
            </a:r>
            <a:endParaRPr lang="en-US" sz="2000"/>
          </a:p>
          <a:p>
            <a:endParaRPr lang="en-US" sz="2000"/>
          </a:p>
          <a:p>
            <a:endParaRPr lang="en-US" sz="2000"/>
          </a:p>
        </p:txBody>
      </p:sp>
    </p:spTree>
    <p:extLst>
      <p:ext uri="{BB962C8B-B14F-4D97-AF65-F5344CB8AC3E}">
        <p14:creationId xmlns:p14="http://schemas.microsoft.com/office/powerpoint/2010/main" val="549132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Cascading Style Sheets</a:t>
            </a:r>
          </a:p>
        </p:txBody>
      </p:sp>
      <p:sp>
        <p:nvSpPr>
          <p:cNvPr id="3" name="Subtitle 2"/>
          <p:cNvSpPr>
            <a:spLocks noGrp="1"/>
          </p:cNvSpPr>
          <p:nvPr>
            <p:ph type="body" idx="1"/>
          </p:nvPr>
        </p:nvSpPr>
        <p:spPr/>
        <p:txBody>
          <a:bodyPr/>
          <a:lstStyle/>
          <a:p>
            <a:endParaRPr lang="en-US"/>
          </a:p>
        </p:txBody>
      </p:sp>
    </p:spTree>
    <p:extLst>
      <p:ext uri="{BB962C8B-B14F-4D97-AF65-F5344CB8AC3E}">
        <p14:creationId xmlns:p14="http://schemas.microsoft.com/office/powerpoint/2010/main" val="4013613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Style on the Web</a:t>
            </a:r>
          </a:p>
        </p:txBody>
      </p:sp>
      <p:sp>
        <p:nvSpPr>
          <p:cNvPr id="3" name="Content Placeholder 2"/>
          <p:cNvSpPr>
            <a:spLocks noGrp="1"/>
          </p:cNvSpPr>
          <p:nvPr>
            <p:ph idx="1"/>
          </p:nvPr>
        </p:nvSpPr>
        <p:spPr/>
        <p:txBody>
          <a:bodyPr>
            <a:normAutofit fontScale="92500" lnSpcReduction="10000"/>
          </a:bodyPr>
          <a:lstStyle/>
          <a:p>
            <a:r>
              <a:rPr lang="en-US" b="1"/>
              <a:t>Decisions of Style: </a:t>
            </a:r>
            <a:r>
              <a:rPr lang="en-US"/>
              <a:t>Most aspects about any element of a web page can be controlled:</a:t>
            </a:r>
            <a:endParaRPr lang="en-US" b="1"/>
          </a:p>
          <a:p>
            <a:pPr lvl="1"/>
            <a:r>
              <a:rPr lang="en-US"/>
              <a:t>position, color, size, font etc</a:t>
            </a:r>
          </a:p>
          <a:p>
            <a:r>
              <a:rPr lang="en-US"/>
              <a:t>This can be achieved in any number of ways:</a:t>
            </a:r>
          </a:p>
          <a:p>
            <a:pPr lvl="1"/>
            <a:r>
              <a:rPr lang="en-US"/>
              <a:t>by describing the page in XML and then using XSL to generate formatted XHTML</a:t>
            </a:r>
          </a:p>
          <a:p>
            <a:pPr lvl="1"/>
            <a:r>
              <a:rPr lang="en-US"/>
              <a:t>by using Cascading Style Sheets in combination with XML</a:t>
            </a:r>
          </a:p>
          <a:p>
            <a:pPr lvl="1"/>
            <a:r>
              <a:rPr lang="en-US"/>
              <a:t>by using </a:t>
            </a:r>
            <a:r>
              <a:rPr lang="en-US" b="1"/>
              <a:t>Cascading Style Sheets </a:t>
            </a:r>
            <a:r>
              <a:rPr lang="en-US"/>
              <a:t>in combination with </a:t>
            </a:r>
            <a:r>
              <a:rPr lang="en-US" b="1"/>
              <a:t>XHTML</a:t>
            </a:r>
          </a:p>
        </p:txBody>
      </p:sp>
    </p:spTree>
    <p:extLst>
      <p:ext uri="{BB962C8B-B14F-4D97-AF65-F5344CB8AC3E}">
        <p14:creationId xmlns:p14="http://schemas.microsoft.com/office/powerpoint/2010/main" val="698101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Benefits of CSS</a:t>
            </a:r>
          </a:p>
        </p:txBody>
      </p:sp>
      <p:sp>
        <p:nvSpPr>
          <p:cNvPr id="3" name="Content Placeholder 2"/>
          <p:cNvSpPr>
            <a:spLocks noGrp="1"/>
          </p:cNvSpPr>
          <p:nvPr>
            <p:ph idx="1"/>
          </p:nvPr>
        </p:nvSpPr>
        <p:spPr/>
        <p:txBody>
          <a:bodyPr>
            <a:normAutofit fontScale="85000" lnSpcReduction="10000"/>
          </a:bodyPr>
          <a:lstStyle/>
          <a:p>
            <a:r>
              <a:rPr lang="en-US"/>
              <a:t>Cascading Style Sheets (CSS) is a method of </a:t>
            </a:r>
            <a:r>
              <a:rPr lang="en-US" b="1"/>
              <a:t>separating a document’s structure and content from its presentation </a:t>
            </a:r>
            <a:r>
              <a:rPr lang="en-US"/>
              <a:t>– remember </a:t>
            </a:r>
            <a:r>
              <a:rPr lang="en-US">
                <a:solidFill>
                  <a:srgbClr val="FF0000"/>
                </a:solidFill>
              </a:rPr>
              <a:t>separation of concerns</a:t>
            </a:r>
            <a:r>
              <a:rPr lang="en-US"/>
              <a:t>?</a:t>
            </a:r>
          </a:p>
          <a:p>
            <a:r>
              <a:rPr lang="en-US"/>
              <a:t>CSS allows for a much </a:t>
            </a:r>
            <a:r>
              <a:rPr lang="en-US" b="1"/>
              <a:t>richer document appearance </a:t>
            </a:r>
            <a:r>
              <a:rPr lang="en-US"/>
              <a:t>than (X)HTML alone</a:t>
            </a:r>
          </a:p>
          <a:p>
            <a:r>
              <a:rPr lang="en-US"/>
              <a:t>CSS can save time as the appearance of the entire document can be </a:t>
            </a:r>
            <a:r>
              <a:rPr lang="en-US" b="1"/>
              <a:t>created and changed in just one place</a:t>
            </a:r>
            <a:endParaRPr lang="en-US"/>
          </a:p>
          <a:p>
            <a:r>
              <a:rPr lang="en-US"/>
              <a:t>CSS can improve load times as it </a:t>
            </a:r>
            <a:r>
              <a:rPr lang="en-US" b="1">
                <a:solidFill>
                  <a:srgbClr val="00B050"/>
                </a:solidFill>
              </a:rPr>
              <a:t>compactly stores the presentation concerns</a:t>
            </a:r>
            <a:r>
              <a:rPr lang="en-US" b="1"/>
              <a:t> </a:t>
            </a:r>
            <a:r>
              <a:rPr lang="en-US"/>
              <a:t>of a document in one place instead of being repeated throughout the document</a:t>
            </a:r>
          </a:p>
        </p:txBody>
      </p:sp>
    </p:spTree>
    <p:extLst>
      <p:ext uri="{BB962C8B-B14F-4D97-AF65-F5344CB8AC3E}">
        <p14:creationId xmlns:p14="http://schemas.microsoft.com/office/powerpoint/2010/main" val="4264106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3352800" cy="6858000"/>
          </a:xfrm>
        </p:spPr>
        <p:txBody>
          <a:bodyPr>
            <a:normAutofit/>
          </a:bodyPr>
          <a:lstStyle/>
          <a:p>
            <a:pPr algn="r"/>
            <a:br>
              <a:rPr lang="en-US"/>
            </a:br>
            <a:r>
              <a:rPr lang="en-US"/>
              <a:t>CSS Guide &amp; </a:t>
            </a:r>
            <a:br>
              <a:rPr lang="en-US"/>
            </a:br>
            <a:r>
              <a:rPr lang="en-US"/>
              <a:t>Reference</a:t>
            </a:r>
            <a:br>
              <a:rPr lang="en-US"/>
            </a:br>
            <a:br>
              <a:rPr lang="en-US"/>
            </a:br>
            <a:r>
              <a:rPr lang="en-US" sz="2400"/>
              <a:t>or visit</a:t>
            </a:r>
            <a:br>
              <a:rPr lang="en-US" sz="2400"/>
            </a:br>
            <a:br>
              <a:rPr lang="en-US" sz="1800"/>
            </a:br>
            <a:r>
              <a:rPr lang="en-US" sz="1800">
                <a:hlinkClick r:id="rId2"/>
              </a:rPr>
              <a:t>https://www.w3schools.com/css/</a:t>
            </a:r>
            <a:br>
              <a:rPr lang="en-US" sz="3600"/>
            </a:br>
            <a:endParaRPr lang="en-US" sz="3600"/>
          </a:p>
        </p:txBody>
      </p:sp>
      <p:pic>
        <p:nvPicPr>
          <p:cNvPr id="4" name="Picture 3" descr="books.jpeg"/>
          <p:cNvPicPr>
            <a:picLocks noChangeAspect="1"/>
          </p:cNvPicPr>
          <p:nvPr/>
        </p:nvPicPr>
        <p:blipFill>
          <a:blip r:embed="rId3"/>
          <a:stretch>
            <a:fillRect/>
          </a:stretch>
        </p:blipFill>
        <p:spPr>
          <a:xfrm>
            <a:off x="4038600" y="428469"/>
            <a:ext cx="4495800" cy="5896131"/>
          </a:xfrm>
          <a:prstGeom prst="rect">
            <a:avLst/>
          </a:prstGeom>
        </p:spPr>
      </p:pic>
    </p:spTree>
    <p:extLst>
      <p:ext uri="{BB962C8B-B14F-4D97-AF65-F5344CB8AC3E}">
        <p14:creationId xmlns:p14="http://schemas.microsoft.com/office/powerpoint/2010/main" val="2920685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Cascading Style Sheets </a:t>
            </a:r>
          </a:p>
        </p:txBody>
      </p:sp>
      <p:sp>
        <p:nvSpPr>
          <p:cNvPr id="3" name="Content Placeholder 2"/>
          <p:cNvSpPr>
            <a:spLocks noGrp="1"/>
          </p:cNvSpPr>
          <p:nvPr>
            <p:ph idx="1"/>
          </p:nvPr>
        </p:nvSpPr>
        <p:spPr>
          <a:xfrm>
            <a:off x="457200" y="1417638"/>
            <a:ext cx="8458200" cy="5135562"/>
          </a:xfrm>
        </p:spPr>
        <p:txBody>
          <a:bodyPr vert="horz" lIns="91440" tIns="45720" rIns="91440" bIns="45720" rtlCol="0" anchor="t">
            <a:normAutofit fontScale="85000" lnSpcReduction="20000"/>
          </a:bodyPr>
          <a:lstStyle/>
          <a:p>
            <a:r>
              <a:rPr lang="en-US" dirty="0"/>
              <a:t>Stylesheets describe the rendering of html elements</a:t>
            </a:r>
          </a:p>
          <a:p>
            <a:pPr lvl="1"/>
            <a:r>
              <a:rPr lang="en-US" dirty="0"/>
              <a:t>they specify some style for </a:t>
            </a:r>
            <a:r>
              <a:rPr lang="en-US" b="1" dirty="0"/>
              <a:t>individual elements </a:t>
            </a:r>
            <a:r>
              <a:rPr lang="en-US" dirty="0"/>
              <a:t>or </a:t>
            </a:r>
            <a:r>
              <a:rPr lang="en-US" b="1" dirty="0"/>
              <a:t>all elements </a:t>
            </a:r>
            <a:r>
              <a:rPr lang="en-US" dirty="0"/>
              <a:t>of a particular kind</a:t>
            </a:r>
            <a:endParaRPr lang="en-US" dirty="0">
              <a:ea typeface="Calibri"/>
              <a:cs typeface="Calibri"/>
            </a:endParaRPr>
          </a:p>
          <a:p>
            <a:pPr lvl="1"/>
            <a:r>
              <a:rPr lang="en-US" dirty="0"/>
              <a:t>A CSS consists of a set of </a:t>
            </a:r>
            <a:r>
              <a:rPr lang="en-US" b="1" dirty="0"/>
              <a:t>formatting rules, </a:t>
            </a:r>
            <a:r>
              <a:rPr lang="en-US" dirty="0"/>
              <a:t>which are specified in the following way:</a:t>
            </a:r>
            <a:endParaRPr lang="en-US" dirty="0">
              <a:ea typeface="Calibri"/>
              <a:cs typeface="Calibri"/>
            </a:endParaRPr>
          </a:p>
          <a:p>
            <a:pPr lvl="1"/>
            <a:endParaRPr lang="en-US" dirty="0">
              <a:ea typeface="Calibri"/>
              <a:cs typeface="Calibri"/>
            </a:endParaRPr>
          </a:p>
          <a:p>
            <a:pPr lvl="1"/>
            <a:endParaRPr lang="en-US"/>
          </a:p>
          <a:p>
            <a:pPr lvl="1"/>
            <a:endParaRPr lang="en-US"/>
          </a:p>
          <a:p>
            <a:pPr lvl="1"/>
            <a:endParaRPr lang="en-US"/>
          </a:p>
          <a:p>
            <a:pPr lvl="1"/>
            <a:endParaRPr lang="en-US"/>
          </a:p>
          <a:p>
            <a:pPr lvl="1"/>
            <a:endParaRPr lang="en-US"/>
          </a:p>
          <a:p>
            <a:pPr lvl="1"/>
            <a:r>
              <a:rPr lang="en-US" b="1" dirty="0"/>
              <a:t>selector</a:t>
            </a:r>
            <a:r>
              <a:rPr lang="en-US" dirty="0"/>
              <a:t> indicates the element (or set of)</a:t>
            </a:r>
          </a:p>
          <a:p>
            <a:pPr lvl="1"/>
            <a:r>
              <a:rPr lang="en-US" b="1" dirty="0"/>
              <a:t>property</a:t>
            </a:r>
            <a:r>
              <a:rPr lang="en-US" dirty="0"/>
              <a:t> refers to the stylistic aspect</a:t>
            </a:r>
            <a:endParaRPr lang="en-US" dirty="0">
              <a:ea typeface="Calibri"/>
              <a:cs typeface="Calibri"/>
            </a:endParaRPr>
          </a:p>
          <a:p>
            <a:pPr lvl="1"/>
            <a:r>
              <a:rPr lang="en-US" b="1" dirty="0"/>
              <a:t>value</a:t>
            </a:r>
            <a:r>
              <a:rPr lang="en-US" dirty="0"/>
              <a:t> is the specific configuration.</a:t>
            </a:r>
            <a:endParaRPr lang="en-US">
              <a:ea typeface="Calibri"/>
              <a:cs typeface="Calibri"/>
            </a:endParaRPr>
          </a:p>
        </p:txBody>
      </p:sp>
      <p:sp>
        <p:nvSpPr>
          <p:cNvPr id="5" name="TextBox 4"/>
          <p:cNvSpPr txBox="1"/>
          <p:nvPr/>
        </p:nvSpPr>
        <p:spPr>
          <a:xfrm>
            <a:off x="968939" y="3162107"/>
            <a:ext cx="3276600" cy="1862048"/>
          </a:xfrm>
          <a:prstGeom prst="rect">
            <a:avLst/>
          </a:prstGeom>
          <a:solidFill>
            <a:schemeClr val="accent1">
              <a:lumMod val="20000"/>
              <a:lumOff val="80000"/>
            </a:schemeClr>
          </a:solidFill>
        </p:spPr>
        <p:txBody>
          <a:bodyPr wrap="square" rtlCol="0">
            <a:spAutoFit/>
          </a:bodyPr>
          <a:lstStyle/>
          <a:p>
            <a:r>
              <a:rPr lang="en-US" sz="2300" b="1"/>
              <a:t>selector {</a:t>
            </a:r>
          </a:p>
          <a:p>
            <a:r>
              <a:rPr lang="en-US" sz="2300" b="1"/>
              <a:t>	property1: value1;</a:t>
            </a:r>
          </a:p>
          <a:p>
            <a:r>
              <a:rPr lang="en-US" sz="2300" b="1"/>
              <a:t>	property2: value2;</a:t>
            </a:r>
          </a:p>
          <a:p>
            <a:r>
              <a:rPr lang="en-US" sz="2300" b="1"/>
              <a:t>	…</a:t>
            </a:r>
          </a:p>
          <a:p>
            <a:r>
              <a:rPr lang="en-US" sz="2300" b="1"/>
              <a:t>}</a:t>
            </a:r>
          </a:p>
        </p:txBody>
      </p:sp>
      <p:sp>
        <p:nvSpPr>
          <p:cNvPr id="6" name="TextBox 5"/>
          <p:cNvSpPr txBox="1"/>
          <p:nvPr/>
        </p:nvSpPr>
        <p:spPr>
          <a:xfrm>
            <a:off x="5209837" y="3159915"/>
            <a:ext cx="3276600" cy="1862048"/>
          </a:xfrm>
          <a:prstGeom prst="rect">
            <a:avLst/>
          </a:prstGeom>
          <a:solidFill>
            <a:srgbClr val="F2F2F2"/>
          </a:solidFill>
        </p:spPr>
        <p:txBody>
          <a:bodyPr wrap="square" rtlCol="0">
            <a:spAutoFit/>
          </a:bodyPr>
          <a:lstStyle/>
          <a:p>
            <a:r>
              <a:rPr lang="en-US" sz="2300" b="1"/>
              <a:t>h3 {</a:t>
            </a:r>
          </a:p>
          <a:p>
            <a:r>
              <a:rPr lang="en-US" sz="2300" b="1"/>
              <a:t>	color: yellow;</a:t>
            </a:r>
          </a:p>
          <a:p>
            <a:r>
              <a:rPr lang="en-US" sz="2300" b="1"/>
              <a:t>	size: 18px;</a:t>
            </a:r>
          </a:p>
          <a:p>
            <a:r>
              <a:rPr lang="en-US" sz="2300" b="1"/>
              <a:t>	…</a:t>
            </a:r>
          </a:p>
          <a:p>
            <a:r>
              <a:rPr lang="en-US" sz="2300" b="1"/>
              <a:t>}</a:t>
            </a:r>
          </a:p>
        </p:txBody>
      </p:sp>
    </p:spTree>
    <p:extLst>
      <p:ext uri="{BB962C8B-B14F-4D97-AF65-F5344CB8AC3E}">
        <p14:creationId xmlns:p14="http://schemas.microsoft.com/office/powerpoint/2010/main" val="1879026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CSS: How to Find and Apply Pattern</a:t>
            </a:r>
          </a:p>
        </p:txBody>
      </p:sp>
      <p:sp>
        <p:nvSpPr>
          <p:cNvPr id="4" name="TextBox 3"/>
          <p:cNvSpPr txBox="1"/>
          <p:nvPr/>
        </p:nvSpPr>
        <p:spPr>
          <a:xfrm>
            <a:off x="457200" y="1417638"/>
            <a:ext cx="4419600" cy="5262979"/>
          </a:xfrm>
          <a:prstGeom prst="rect">
            <a:avLst/>
          </a:prstGeom>
          <a:solidFill>
            <a:schemeClr val="accent1">
              <a:lumMod val="20000"/>
              <a:lumOff val="80000"/>
            </a:schemeClr>
          </a:solidFill>
        </p:spPr>
        <p:txBody>
          <a:bodyPr wrap="square" lIns="91440" tIns="45720" rIns="91440" bIns="45720" rtlCol="0" anchor="t">
            <a:spAutoFit/>
          </a:bodyPr>
          <a:lstStyle/>
          <a:p>
            <a:r>
              <a:rPr lang="en-US" sz="2400" b="1" dirty="0"/>
              <a:t>p { </a:t>
            </a:r>
          </a:p>
          <a:p>
            <a:r>
              <a:rPr lang="en-US" sz="2400" b="1" dirty="0"/>
              <a:t>	font-size: 12pt; </a:t>
            </a:r>
            <a:endParaRPr lang="en-US" sz="2400" b="1" dirty="0">
              <a:ea typeface="Calibri"/>
              <a:cs typeface="Calibri"/>
            </a:endParaRPr>
          </a:p>
          <a:p>
            <a:r>
              <a:rPr lang="en-US" sz="2400" b="1" dirty="0"/>
              <a:t>	font-face: “Verdana”; }</a:t>
            </a:r>
            <a:endParaRPr lang="en-US" sz="2400" b="1" dirty="0">
              <a:ea typeface="Calibri"/>
              <a:cs typeface="Calibri"/>
            </a:endParaRPr>
          </a:p>
          <a:p>
            <a:endParaRPr lang="en-US" sz="2400" b="1"/>
          </a:p>
          <a:p>
            <a:r>
              <a:rPr lang="en-US" sz="2400" b="1" dirty="0"/>
              <a:t>h1, h2, h3 {</a:t>
            </a:r>
            <a:endParaRPr lang="en-US" sz="2400" b="1" dirty="0">
              <a:ea typeface="Calibri"/>
              <a:cs typeface="Calibri"/>
            </a:endParaRPr>
          </a:p>
          <a:p>
            <a:r>
              <a:rPr lang="en-US" sz="2400" b="1" dirty="0"/>
              <a:t>	color: red;  </a:t>
            </a:r>
            <a:endParaRPr lang="en-US" sz="2400" b="1" dirty="0">
              <a:ea typeface="Calibri"/>
              <a:cs typeface="Calibri"/>
            </a:endParaRPr>
          </a:p>
          <a:p>
            <a:r>
              <a:rPr lang="en-US" sz="2400" b="1" dirty="0"/>
              <a:t>	font-size: 18px; }</a:t>
            </a:r>
            <a:endParaRPr lang="en-US" sz="2400" b="1" dirty="0">
              <a:ea typeface="Calibri"/>
              <a:cs typeface="Calibri"/>
            </a:endParaRPr>
          </a:p>
          <a:p>
            <a:endParaRPr lang="en-US" sz="2400" b="1"/>
          </a:p>
          <a:p>
            <a:r>
              <a:rPr lang="en-US" sz="2400" b="1" dirty="0"/>
              <a:t>*{ text-align: left; }</a:t>
            </a:r>
            <a:endParaRPr lang="en-US" sz="2400" b="1" dirty="0">
              <a:ea typeface="Calibri"/>
              <a:cs typeface="Calibri"/>
            </a:endParaRPr>
          </a:p>
          <a:p>
            <a:endParaRPr lang="en-US" sz="2400" b="1"/>
          </a:p>
          <a:p>
            <a:r>
              <a:rPr lang="en-US" sz="2400" b="1" dirty="0"/>
              <a:t>#menu a { </a:t>
            </a:r>
            <a:endParaRPr lang="en-US" sz="2400" b="1" dirty="0">
              <a:ea typeface="Calibri"/>
              <a:cs typeface="Calibri"/>
            </a:endParaRPr>
          </a:p>
          <a:p>
            <a:r>
              <a:rPr lang="en-US" sz="2400" b="1" dirty="0"/>
              <a:t>	padding: 45px 25px 0px 25px;</a:t>
            </a:r>
            <a:endParaRPr lang="en-US" sz="2400" b="1" dirty="0">
              <a:ea typeface="Calibri"/>
              <a:cs typeface="Calibri"/>
            </a:endParaRPr>
          </a:p>
          <a:p>
            <a:r>
              <a:rPr lang="en-US" sz="2400" b="1" dirty="0"/>
              <a:t>	border: none;</a:t>
            </a:r>
            <a:endParaRPr lang="en-US" sz="2400" b="1" dirty="0">
              <a:ea typeface="Calibri"/>
              <a:cs typeface="Calibri"/>
            </a:endParaRPr>
          </a:p>
          <a:p>
            <a:r>
              <a:rPr lang="en-US" sz="2400" b="1" dirty="0"/>
              <a:t>	height: 80px; }</a:t>
            </a:r>
            <a:endParaRPr lang="en-US" sz="2400" b="1" dirty="0">
              <a:ea typeface="Calibri"/>
              <a:cs typeface="Calibri"/>
            </a:endParaRPr>
          </a:p>
        </p:txBody>
      </p:sp>
      <p:sp>
        <p:nvSpPr>
          <p:cNvPr id="5" name="TextBox 4"/>
          <p:cNvSpPr txBox="1"/>
          <p:nvPr/>
        </p:nvSpPr>
        <p:spPr>
          <a:xfrm>
            <a:off x="5410200" y="1417638"/>
            <a:ext cx="3276600" cy="4893647"/>
          </a:xfrm>
          <a:prstGeom prst="rect">
            <a:avLst/>
          </a:prstGeom>
          <a:solidFill>
            <a:schemeClr val="bg1">
              <a:lumMod val="95000"/>
            </a:schemeClr>
          </a:solidFill>
        </p:spPr>
        <p:txBody>
          <a:bodyPr wrap="square" rtlCol="0">
            <a:spAutoFit/>
          </a:bodyPr>
          <a:lstStyle/>
          <a:p>
            <a:r>
              <a:rPr lang="en-US" sz="2400" b="1"/>
              <a:t>Apply to all &lt;</a:t>
            </a:r>
            <a:r>
              <a:rPr lang="en-US" sz="2400" b="1" err="1"/>
              <a:t>p</a:t>
            </a:r>
            <a:r>
              <a:rPr lang="en-US" sz="2400" b="1"/>
              <a:t>&gt; elements</a:t>
            </a:r>
          </a:p>
          <a:p>
            <a:endParaRPr lang="en-US" sz="2400" b="1"/>
          </a:p>
          <a:p>
            <a:endParaRPr lang="en-US" sz="2400" b="1"/>
          </a:p>
          <a:p>
            <a:r>
              <a:rPr lang="en-US" sz="2400" b="1"/>
              <a:t>Apply to all &lt;h1&gt;, &lt;h2&gt;, &lt;h3&gt; elements</a:t>
            </a:r>
          </a:p>
          <a:p>
            <a:endParaRPr lang="en-US" sz="2400" b="1"/>
          </a:p>
          <a:p>
            <a:endParaRPr lang="en-US" sz="2400" b="1"/>
          </a:p>
          <a:p>
            <a:r>
              <a:rPr lang="en-US" sz="2400" b="1"/>
              <a:t>Apply to all elements</a:t>
            </a:r>
          </a:p>
          <a:p>
            <a:endParaRPr lang="en-US" sz="2400" b="1"/>
          </a:p>
          <a:p>
            <a:r>
              <a:rPr lang="en-US" sz="2400" b="1"/>
              <a:t>Apply to all &lt;a&gt; elements with id=“menu”</a:t>
            </a:r>
          </a:p>
        </p:txBody>
      </p:sp>
    </p:spTree>
    <p:extLst>
      <p:ext uri="{BB962C8B-B14F-4D97-AF65-F5344CB8AC3E}">
        <p14:creationId xmlns:p14="http://schemas.microsoft.com/office/powerpoint/2010/main" val="853988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Values and Units</a:t>
            </a:r>
          </a:p>
        </p:txBody>
      </p:sp>
      <p:sp>
        <p:nvSpPr>
          <p:cNvPr id="3" name="Content Placeholder 2"/>
          <p:cNvSpPr>
            <a:spLocks noGrp="1"/>
          </p:cNvSpPr>
          <p:nvPr>
            <p:ph idx="1"/>
          </p:nvPr>
        </p:nvSpPr>
        <p:spPr>
          <a:xfrm>
            <a:off x="228600" y="1417638"/>
            <a:ext cx="8686800" cy="5440362"/>
          </a:xfrm>
        </p:spPr>
        <p:txBody>
          <a:bodyPr vert="horz" lIns="91440" tIns="45720" rIns="91440" bIns="45720" rtlCol="0" anchor="t">
            <a:normAutofit/>
          </a:bodyPr>
          <a:lstStyle/>
          <a:p>
            <a:r>
              <a:rPr lang="en-US" b="1" dirty="0"/>
              <a:t>Units </a:t>
            </a:r>
            <a:r>
              <a:rPr lang="en-US" dirty="0"/>
              <a:t>affect the colors, distances, and sizes of a whole host of properties of an element’s style</a:t>
            </a:r>
          </a:p>
          <a:p>
            <a:pPr lvl="1"/>
            <a:r>
              <a:rPr lang="en-US" b="1" dirty="0"/>
              <a:t>Numbers</a:t>
            </a:r>
            <a:endParaRPr lang="en-US" b="1" dirty="0">
              <a:ea typeface="Calibri"/>
              <a:cs typeface="Calibri"/>
            </a:endParaRPr>
          </a:p>
          <a:p>
            <a:pPr lvl="2">
              <a:buFont typeface="Wingdings"/>
              <a:buChar char="§"/>
            </a:pPr>
            <a:r>
              <a:rPr lang="en-US" dirty="0"/>
              <a:t>can be integers or real numbers</a:t>
            </a:r>
            <a:endParaRPr lang="en-US" dirty="0">
              <a:ea typeface="Calibri"/>
              <a:cs typeface="Calibri"/>
            </a:endParaRPr>
          </a:p>
          <a:p>
            <a:pPr lvl="1"/>
            <a:r>
              <a:rPr lang="en-US" b="1" dirty="0"/>
              <a:t>Percentages</a:t>
            </a:r>
            <a:endParaRPr lang="en-US" dirty="0">
              <a:ea typeface="Calibri"/>
              <a:cs typeface="Calibri"/>
            </a:endParaRPr>
          </a:p>
          <a:p>
            <a:pPr lvl="2">
              <a:buFont typeface="Wingdings"/>
              <a:buChar char="§"/>
            </a:pPr>
            <a:r>
              <a:rPr lang="en-US" dirty="0"/>
              <a:t>real number followed by %</a:t>
            </a:r>
            <a:endParaRPr lang="en-US" dirty="0">
              <a:ea typeface="Calibri"/>
              <a:cs typeface="Calibri"/>
            </a:endParaRPr>
          </a:p>
          <a:p>
            <a:pPr lvl="2">
              <a:buFont typeface="Wingdings"/>
              <a:buChar char="§"/>
            </a:pPr>
            <a:r>
              <a:rPr lang="en-US" dirty="0"/>
              <a:t>generally relative to some other number </a:t>
            </a:r>
            <a:endParaRPr lang="en-US" dirty="0">
              <a:ea typeface="Calibri"/>
              <a:cs typeface="Calibri"/>
            </a:endParaRPr>
          </a:p>
          <a:p>
            <a:pPr lvl="3">
              <a:buChar char="•"/>
            </a:pPr>
            <a:r>
              <a:rPr lang="en-US" dirty="0"/>
              <a:t>e.g. font-size:90% of the default or inherited value</a:t>
            </a:r>
            <a:endParaRPr lang="en-US" dirty="0">
              <a:ea typeface="Calibri"/>
              <a:cs typeface="Calibri"/>
            </a:endParaRPr>
          </a:p>
          <a:p>
            <a:pPr lvl="1"/>
            <a:r>
              <a:rPr lang="en-US" b="1" dirty="0"/>
              <a:t>Color</a:t>
            </a:r>
            <a:endParaRPr lang="en-US" dirty="0">
              <a:ea typeface="Calibri"/>
              <a:cs typeface="Calibri"/>
            </a:endParaRPr>
          </a:p>
          <a:p>
            <a:pPr lvl="2">
              <a:buFont typeface="Wingdings"/>
              <a:buChar char="§"/>
            </a:pPr>
            <a:r>
              <a:rPr lang="en-US" dirty="0"/>
              <a:t>named color (e.g. ‘red’), functional </a:t>
            </a:r>
            <a:r>
              <a:rPr lang="en-US" dirty="0" err="1"/>
              <a:t>rgb</a:t>
            </a:r>
            <a:r>
              <a:rPr lang="en-US" dirty="0"/>
              <a:t>(0,0,255), or hexadecimal RGB codes (#FF0000) </a:t>
            </a:r>
            <a:endParaRPr lang="en-US" dirty="0">
              <a:ea typeface="Calibri"/>
              <a:cs typeface="Calibri"/>
            </a:endParaRPr>
          </a:p>
        </p:txBody>
      </p:sp>
    </p:spTree>
    <p:extLst>
      <p:ext uri="{BB962C8B-B14F-4D97-AF65-F5344CB8AC3E}">
        <p14:creationId xmlns:p14="http://schemas.microsoft.com/office/powerpoint/2010/main" val="3719744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Length Units</a:t>
            </a:r>
          </a:p>
        </p:txBody>
      </p:sp>
      <p:sp>
        <p:nvSpPr>
          <p:cNvPr id="3" name="Content Placeholder 2"/>
          <p:cNvSpPr>
            <a:spLocks noGrp="1"/>
          </p:cNvSpPr>
          <p:nvPr>
            <p:ph idx="1"/>
          </p:nvPr>
        </p:nvSpPr>
        <p:spPr>
          <a:xfrm>
            <a:off x="228600" y="1417638"/>
            <a:ext cx="8686800" cy="5151838"/>
          </a:xfrm>
        </p:spPr>
        <p:txBody>
          <a:bodyPr vert="horz" lIns="91440" tIns="45720" rIns="91440" bIns="45720" rtlCol="0" anchor="t">
            <a:normAutofit/>
          </a:bodyPr>
          <a:lstStyle/>
          <a:p>
            <a:r>
              <a:rPr lang="en-US" dirty="0"/>
              <a:t>Absolute Length Units</a:t>
            </a:r>
          </a:p>
          <a:p>
            <a:pPr lvl="1"/>
            <a:r>
              <a:rPr lang="en-US" dirty="0"/>
              <a:t>inches (</a:t>
            </a:r>
            <a:r>
              <a:rPr lang="en-US" b="1" dirty="0"/>
              <a:t>in</a:t>
            </a:r>
            <a:r>
              <a:rPr lang="en-US" dirty="0"/>
              <a:t>), centimeters (</a:t>
            </a:r>
            <a:r>
              <a:rPr lang="en-US" b="1" dirty="0"/>
              <a:t>cm</a:t>
            </a:r>
            <a:r>
              <a:rPr lang="en-US" dirty="0"/>
              <a:t>), millimeters (</a:t>
            </a:r>
            <a:r>
              <a:rPr lang="en-US" b="1" dirty="0"/>
              <a:t>mm</a:t>
            </a:r>
            <a:r>
              <a:rPr lang="en-US" dirty="0"/>
              <a:t>), points (</a:t>
            </a:r>
            <a:r>
              <a:rPr lang="en-US" b="1" dirty="0"/>
              <a:t>pt</a:t>
            </a:r>
            <a:r>
              <a:rPr lang="en-US" dirty="0"/>
              <a:t> – 72pt to 1 inch), and picas (</a:t>
            </a:r>
            <a:r>
              <a:rPr lang="en-US" b="1" dirty="0"/>
              <a:t>pi</a:t>
            </a:r>
            <a:r>
              <a:rPr lang="en-US" dirty="0"/>
              <a:t> – 1pi = 12pt)</a:t>
            </a:r>
            <a:endParaRPr lang="en-US" dirty="0">
              <a:ea typeface="Calibri"/>
              <a:cs typeface="Calibri"/>
            </a:endParaRPr>
          </a:p>
          <a:p>
            <a:r>
              <a:rPr lang="en-US" dirty="0"/>
              <a:t>Relative Length Units</a:t>
            </a:r>
            <a:endParaRPr lang="en-US" dirty="0">
              <a:ea typeface="Calibri"/>
              <a:cs typeface="Calibri"/>
            </a:endParaRPr>
          </a:p>
          <a:p>
            <a:pPr lvl="1"/>
            <a:r>
              <a:rPr lang="en-US" b="1" dirty="0" err="1"/>
              <a:t>em</a:t>
            </a:r>
            <a:r>
              <a:rPr lang="en-US" dirty="0"/>
              <a:t> is relative to the given font-size value </a:t>
            </a:r>
            <a:endParaRPr lang="en-US" dirty="0">
              <a:ea typeface="Calibri"/>
              <a:cs typeface="Calibri"/>
            </a:endParaRPr>
          </a:p>
          <a:p>
            <a:pPr lvl="2">
              <a:buFont typeface="Wingdings"/>
              <a:buChar char="§"/>
            </a:pPr>
            <a:r>
              <a:rPr lang="en-US" dirty="0"/>
              <a:t>e.g. font-size is 14px, 1em = 14px</a:t>
            </a:r>
            <a:endParaRPr lang="en-US" dirty="0">
              <a:ea typeface="Calibri"/>
              <a:cs typeface="Calibri"/>
            </a:endParaRPr>
          </a:p>
          <a:p>
            <a:pPr lvl="1"/>
            <a:r>
              <a:rPr lang="en-US" b="1" dirty="0"/>
              <a:t>ex</a:t>
            </a:r>
            <a:r>
              <a:rPr lang="en-US" dirty="0"/>
              <a:t> is relative to the size of a lowercase x for the given font family</a:t>
            </a:r>
            <a:endParaRPr lang="en-US" dirty="0">
              <a:ea typeface="Calibri"/>
              <a:cs typeface="Calibri"/>
            </a:endParaRPr>
          </a:p>
          <a:p>
            <a:pPr lvl="1"/>
            <a:r>
              <a:rPr lang="en-US" b="1" dirty="0" err="1"/>
              <a:t>px</a:t>
            </a:r>
            <a:r>
              <a:rPr lang="en-US" dirty="0"/>
              <a:t> is (should be) the size of a pixel on the monitor</a:t>
            </a:r>
            <a:endParaRPr lang="en-US" dirty="0">
              <a:ea typeface="Calibri"/>
              <a:cs typeface="Calibri"/>
            </a:endParaRPr>
          </a:p>
          <a:p>
            <a:pPr lvl="2">
              <a:buFont typeface="Wingdings"/>
              <a:buChar char="§"/>
            </a:pPr>
            <a:r>
              <a:rPr lang="en-US" err="1"/>
              <a:t>px</a:t>
            </a:r>
            <a:r>
              <a:rPr lang="en-US" dirty="0"/>
              <a:t> is generally the recommended unit to use </a:t>
            </a:r>
            <a:endParaRPr lang="en-US" dirty="0">
              <a:ea typeface="Calibri"/>
              <a:cs typeface="Calibri"/>
            </a:endParaRPr>
          </a:p>
        </p:txBody>
      </p:sp>
    </p:spTree>
    <p:extLst>
      <p:ext uri="{BB962C8B-B14F-4D97-AF65-F5344CB8AC3E}">
        <p14:creationId xmlns:p14="http://schemas.microsoft.com/office/powerpoint/2010/main" val="4226747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457200" y="5029200"/>
            <a:ext cx="8229600" cy="1143000"/>
          </a:xfrm>
          <a:solidFill>
            <a:srgbClr val="C6D9F1">
              <a:alpha val="60000"/>
            </a:srgbClr>
          </a:solidFill>
          <a:ln>
            <a:solidFill>
              <a:srgbClr val="4F81BD"/>
            </a:solidFill>
          </a:ln>
        </p:spPr>
        <p:txBody>
          <a:bodyPr/>
          <a:lstStyle/>
          <a:p>
            <a:r>
              <a:rPr lang="en-US" b="1" dirty="0"/>
              <a:t>Using CSS with (X)HTML</a:t>
            </a:r>
          </a:p>
        </p:txBody>
      </p:sp>
    </p:spTree>
    <p:extLst>
      <p:ext uri="{BB962C8B-B14F-4D97-AF65-F5344CB8AC3E}">
        <p14:creationId xmlns:p14="http://schemas.microsoft.com/office/powerpoint/2010/main" val="1608947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Inline CSS Specification</a:t>
            </a:r>
          </a:p>
        </p:txBody>
      </p:sp>
      <p:sp>
        <p:nvSpPr>
          <p:cNvPr id="3" name="Content Placeholder 2"/>
          <p:cNvSpPr>
            <a:spLocks noGrp="1"/>
          </p:cNvSpPr>
          <p:nvPr>
            <p:ph idx="1"/>
          </p:nvPr>
        </p:nvSpPr>
        <p:spPr/>
        <p:txBody>
          <a:bodyPr vert="horz" lIns="91440" tIns="45720" rIns="91440" bIns="45720" rtlCol="0" anchor="t">
            <a:normAutofit lnSpcReduction="10000"/>
          </a:bodyPr>
          <a:lstStyle/>
          <a:p>
            <a:r>
              <a:rPr lang="en-US" b="1" dirty="0"/>
              <a:t>Inline</a:t>
            </a:r>
            <a:r>
              <a:rPr lang="en-US" dirty="0"/>
              <a:t>: within HTML</a:t>
            </a:r>
          </a:p>
          <a:p>
            <a:pPr lvl="1">
              <a:buFont typeface="Courier New"/>
              <a:buChar char="o"/>
            </a:pPr>
            <a:r>
              <a:rPr lang="en-US" dirty="0"/>
              <a:t>We add CSS syntax to one particular element</a:t>
            </a:r>
            <a:endParaRPr lang="en-US" dirty="0">
              <a:ea typeface="Calibri"/>
              <a:cs typeface="Calibri"/>
            </a:endParaRPr>
          </a:p>
          <a:p>
            <a:pPr lvl="1">
              <a:buFont typeface="Courier New"/>
              <a:buChar char="o"/>
            </a:pPr>
            <a:r>
              <a:rPr lang="en-US" dirty="0"/>
              <a:t>We use the </a:t>
            </a:r>
            <a:r>
              <a:rPr lang="en-US" b="1" dirty="0"/>
              <a:t>style </a:t>
            </a:r>
            <a:r>
              <a:rPr lang="en-US" dirty="0"/>
              <a:t>attribute in an HTML tag</a:t>
            </a:r>
            <a:endParaRPr lang="en-US" dirty="0">
              <a:ea typeface="Calibri"/>
              <a:cs typeface="Calibri"/>
            </a:endParaRPr>
          </a:p>
          <a:p>
            <a:endParaRPr lang="en-US"/>
          </a:p>
          <a:p>
            <a:r>
              <a:rPr lang="en-US" b="1" dirty="0"/>
              <a:t>Inline CSS</a:t>
            </a:r>
            <a:r>
              <a:rPr lang="en-US" dirty="0"/>
              <a:t> only affects this element, and others of the same type are not affected.  </a:t>
            </a:r>
            <a:endParaRPr lang="en-US" dirty="0">
              <a:ea typeface="Calibri"/>
              <a:cs typeface="Calibri"/>
            </a:endParaRPr>
          </a:p>
          <a:p>
            <a:pPr lvl="1">
              <a:buFont typeface="Courier New"/>
              <a:buChar char="o"/>
            </a:pPr>
            <a:r>
              <a:rPr lang="en-US" dirty="0"/>
              <a:t>Useful to </a:t>
            </a:r>
            <a:r>
              <a:rPr lang="en-US" b="1" dirty="0"/>
              <a:t>override </a:t>
            </a:r>
            <a:r>
              <a:rPr lang="en-US" dirty="0"/>
              <a:t>existing style</a:t>
            </a:r>
            <a:endParaRPr lang="en-US" b="1" dirty="0"/>
          </a:p>
          <a:p>
            <a:pPr lvl="1">
              <a:buFont typeface="Courier New"/>
              <a:buChar char="o"/>
            </a:pPr>
            <a:r>
              <a:rPr lang="en-US" dirty="0"/>
              <a:t>but</a:t>
            </a:r>
            <a:r>
              <a:rPr lang="en-US" b="1" dirty="0"/>
              <a:t>...breaks</a:t>
            </a:r>
            <a:r>
              <a:rPr lang="en-US" dirty="0"/>
              <a:t> the </a:t>
            </a:r>
            <a:r>
              <a:rPr lang="en-US" b="1" dirty="0"/>
              <a:t>separation</a:t>
            </a:r>
            <a:r>
              <a:rPr lang="en-US" dirty="0"/>
              <a:t> of </a:t>
            </a:r>
            <a:r>
              <a:rPr lang="en-US" b="1" dirty="0"/>
              <a:t>content and presentation</a:t>
            </a:r>
            <a:endParaRPr lang="en-US" b="1">
              <a:ea typeface="Calibri"/>
              <a:cs typeface="Calibri"/>
            </a:endParaRPr>
          </a:p>
        </p:txBody>
      </p:sp>
      <p:sp>
        <p:nvSpPr>
          <p:cNvPr id="5" name="TextBox 4"/>
          <p:cNvSpPr txBox="1"/>
          <p:nvPr/>
        </p:nvSpPr>
        <p:spPr>
          <a:xfrm>
            <a:off x="1565774" y="3150502"/>
            <a:ext cx="5562600" cy="558000"/>
          </a:xfrm>
          <a:prstGeom prst="rect">
            <a:avLst/>
          </a:prstGeom>
          <a:solidFill>
            <a:srgbClr val="C6D9F1"/>
          </a:solidFill>
        </p:spPr>
        <p:txBody>
          <a:bodyPr wrap="square" rtlCol="0">
            <a:spAutoFit/>
          </a:bodyPr>
          <a:lstStyle/>
          <a:p>
            <a:pPr marL="0" lvl="1"/>
            <a:r>
              <a:rPr lang="en-US" sz="2400"/>
              <a:t>&lt;h3 </a:t>
            </a:r>
            <a:r>
              <a:rPr lang="en-US" sz="2400" b="1"/>
              <a:t>style</a:t>
            </a:r>
            <a:r>
              <a:rPr lang="en-US" sz="2400"/>
              <a:t>=“color: yellow; font-size: 18pt”&gt;</a:t>
            </a:r>
          </a:p>
          <a:p>
            <a:endParaRPr lang="en-US"/>
          </a:p>
        </p:txBody>
      </p:sp>
    </p:spTree>
    <p:extLst>
      <p:ext uri="{BB962C8B-B14F-4D97-AF65-F5344CB8AC3E}">
        <p14:creationId xmlns:p14="http://schemas.microsoft.com/office/powerpoint/2010/main" val="873552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Embedded CSS Specification</a:t>
            </a:r>
          </a:p>
        </p:txBody>
      </p:sp>
      <p:sp>
        <p:nvSpPr>
          <p:cNvPr id="3" name="Content Placeholder 2"/>
          <p:cNvSpPr>
            <a:spLocks noGrp="1"/>
          </p:cNvSpPr>
          <p:nvPr>
            <p:ph idx="1"/>
          </p:nvPr>
        </p:nvSpPr>
        <p:spPr>
          <a:xfrm>
            <a:off x="457199" y="1417638"/>
            <a:ext cx="8349449" cy="1902611"/>
          </a:xfrm>
        </p:spPr>
        <p:txBody>
          <a:bodyPr vert="horz" lIns="91440" tIns="45720" rIns="91440" bIns="45720" rtlCol="0" anchor="t">
            <a:normAutofit fontScale="92500" lnSpcReduction="10000"/>
          </a:bodyPr>
          <a:lstStyle/>
          <a:p>
            <a:r>
              <a:rPr lang="en-US" b="1" dirty="0"/>
              <a:t>Embedded</a:t>
            </a:r>
            <a:r>
              <a:rPr lang="en-US" dirty="0"/>
              <a:t>: In the &lt;head&gt; section of an HTML document </a:t>
            </a:r>
          </a:p>
          <a:p>
            <a:pPr lvl="1">
              <a:buFont typeface="Courier New"/>
              <a:buChar char="o"/>
            </a:pPr>
            <a:r>
              <a:rPr lang="en-US"/>
              <a:t>We add CSS style rules</a:t>
            </a:r>
            <a:endParaRPr lang="en-US" sz="3200"/>
          </a:p>
          <a:p>
            <a:pPr lvl="1">
              <a:buFont typeface="Courier New"/>
              <a:buChar char="o"/>
            </a:pPr>
            <a:r>
              <a:rPr lang="en-US" dirty="0"/>
              <a:t>The CSS rules will be applied to the </a:t>
            </a:r>
            <a:r>
              <a:rPr lang="en-US" b="1" dirty="0"/>
              <a:t>entire document</a:t>
            </a:r>
            <a:endParaRPr lang="en-US" sz="3200" b="1" dirty="0">
              <a:ea typeface="Calibri"/>
              <a:cs typeface="Calibri"/>
            </a:endParaRPr>
          </a:p>
        </p:txBody>
      </p:sp>
      <p:sp>
        <p:nvSpPr>
          <p:cNvPr id="6" name="TextBox 5"/>
          <p:cNvSpPr txBox="1"/>
          <p:nvPr/>
        </p:nvSpPr>
        <p:spPr>
          <a:xfrm>
            <a:off x="1028700" y="3230706"/>
            <a:ext cx="7086600" cy="3231654"/>
          </a:xfrm>
          <a:prstGeom prst="rect">
            <a:avLst/>
          </a:prstGeom>
          <a:solidFill>
            <a:schemeClr val="accent1">
              <a:lumMod val="20000"/>
              <a:lumOff val="80000"/>
            </a:schemeClr>
          </a:solidFill>
        </p:spPr>
        <p:txBody>
          <a:bodyPr wrap="square" lIns="91440" tIns="45720" rIns="91440" bIns="45720" rtlCol="0" anchor="t">
            <a:spAutoFit/>
          </a:bodyPr>
          <a:lstStyle/>
          <a:p>
            <a:r>
              <a:rPr lang="en-US" sz="2000" b="1" dirty="0"/>
              <a:t>&lt;html&gt;</a:t>
            </a:r>
          </a:p>
          <a:p>
            <a:r>
              <a:rPr lang="en-US" sz="2000" b="1" dirty="0"/>
              <a:t>	&lt;head&gt;</a:t>
            </a:r>
          </a:p>
          <a:p>
            <a:r>
              <a:rPr lang="en-US" sz="2000" b="1" dirty="0"/>
              <a:t>		</a:t>
            </a:r>
            <a:r>
              <a:rPr lang="en-US" sz="2000" b="1" dirty="0">
                <a:highlight>
                  <a:srgbClr val="FFFF00"/>
                </a:highlight>
              </a:rPr>
              <a:t>&lt;style&gt;</a:t>
            </a:r>
            <a:endParaRPr lang="en-US" sz="2000" b="1" dirty="0">
              <a:highlight>
                <a:srgbClr val="FFFF00"/>
              </a:highlight>
              <a:ea typeface="Calibri"/>
              <a:cs typeface="Calibri"/>
            </a:endParaRPr>
          </a:p>
          <a:p>
            <a:r>
              <a:rPr lang="en-US" sz="2000" b="1" dirty="0">
                <a:highlight>
                  <a:srgbClr val="FFFF00"/>
                </a:highlight>
              </a:rPr>
              <a:t>			h3 { color: yellow; font-size: 18pt; 	}</a:t>
            </a:r>
            <a:endParaRPr lang="en-US" sz="2000" b="1" dirty="0">
              <a:highlight>
                <a:srgbClr val="FFFF00"/>
              </a:highlight>
              <a:ea typeface="Calibri"/>
              <a:cs typeface="Calibri"/>
            </a:endParaRPr>
          </a:p>
          <a:p>
            <a:r>
              <a:rPr lang="en-US" sz="2000" b="1" dirty="0"/>
              <a:t>		&lt;/style&gt;</a:t>
            </a:r>
            <a:endParaRPr lang="en-US" sz="2000" b="1" dirty="0">
              <a:ea typeface="Calibri"/>
              <a:cs typeface="Calibri"/>
            </a:endParaRPr>
          </a:p>
          <a:p>
            <a:r>
              <a:rPr lang="en-US" sz="2000" b="1" dirty="0"/>
              <a:t>	&lt;/head&gt;</a:t>
            </a:r>
            <a:endParaRPr lang="en-US" sz="2000" b="1" dirty="0">
              <a:ea typeface="Calibri"/>
              <a:cs typeface="Calibri"/>
            </a:endParaRPr>
          </a:p>
          <a:p>
            <a:r>
              <a:rPr lang="en-US" sz="2000" b="1" dirty="0"/>
              <a:t>	&lt;body&gt;</a:t>
            </a:r>
            <a:endParaRPr lang="en-US" sz="2000" b="1" dirty="0">
              <a:ea typeface="Calibri"/>
              <a:cs typeface="Calibri"/>
            </a:endParaRPr>
          </a:p>
          <a:p>
            <a:r>
              <a:rPr lang="en-US" sz="2000" b="1" dirty="0"/>
              <a:t>		… &lt;h3&gt; This will be in yellow font size 18</a:t>
            </a:r>
            <a:r>
              <a:rPr lang="en-US" sz="1100" b="1" dirty="0"/>
              <a:t> </a:t>
            </a:r>
            <a:r>
              <a:rPr lang="en-US" sz="2000" b="1" dirty="0"/>
              <a:t>&lt;/h3&gt; …</a:t>
            </a:r>
            <a:endParaRPr lang="en-US" sz="2000" b="1" dirty="0">
              <a:ea typeface="Calibri"/>
              <a:cs typeface="Calibri"/>
            </a:endParaRPr>
          </a:p>
          <a:p>
            <a:r>
              <a:rPr lang="en-US" sz="2000" b="1" dirty="0"/>
              <a:t>	&lt;/body&gt;</a:t>
            </a:r>
            <a:endParaRPr lang="en-US" sz="2000" b="1" dirty="0">
              <a:ea typeface="Calibri"/>
              <a:cs typeface="Calibri"/>
            </a:endParaRPr>
          </a:p>
          <a:p>
            <a:r>
              <a:rPr lang="en-US" sz="2000" b="1" dirty="0"/>
              <a:t>&lt;/html&gt; </a:t>
            </a:r>
            <a:endParaRPr lang="en-US" sz="2000" b="1" dirty="0">
              <a:ea typeface="Calibri"/>
              <a:cs typeface="Calibri"/>
            </a:endParaRPr>
          </a:p>
        </p:txBody>
      </p:sp>
    </p:spTree>
    <p:extLst>
      <p:ext uri="{BB962C8B-B14F-4D97-AF65-F5344CB8AC3E}">
        <p14:creationId xmlns:p14="http://schemas.microsoft.com/office/powerpoint/2010/main" val="2768508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External CSS Specification</a:t>
            </a:r>
          </a:p>
        </p:txBody>
      </p:sp>
      <p:sp>
        <p:nvSpPr>
          <p:cNvPr id="3" name="Content Placeholder 2"/>
          <p:cNvSpPr>
            <a:spLocks noGrp="1"/>
          </p:cNvSpPr>
          <p:nvPr>
            <p:ph idx="1"/>
          </p:nvPr>
        </p:nvSpPr>
        <p:spPr>
          <a:xfrm>
            <a:off x="457200" y="1600200"/>
            <a:ext cx="8229600" cy="4724399"/>
          </a:xfrm>
        </p:spPr>
        <p:txBody>
          <a:bodyPr vert="horz" lIns="91440" tIns="45720" rIns="91440" bIns="45720" rtlCol="0" anchor="t">
            <a:normAutofit fontScale="92500" lnSpcReduction="10000"/>
          </a:bodyPr>
          <a:lstStyle/>
          <a:p>
            <a:r>
              <a:rPr lang="en-US" b="1" dirty="0"/>
              <a:t>External</a:t>
            </a:r>
            <a:r>
              <a:rPr lang="en-US" dirty="0"/>
              <a:t>: In a separate document </a:t>
            </a:r>
          </a:p>
          <a:p>
            <a:pPr lvl="1"/>
            <a:r>
              <a:rPr lang="en-US" dirty="0"/>
              <a:t>The file extension is ".</a:t>
            </a:r>
            <a:r>
              <a:rPr lang="en-US" dirty="0" err="1"/>
              <a:t>css</a:t>
            </a:r>
            <a:r>
              <a:rPr lang="en-US" dirty="0"/>
              <a:t>" </a:t>
            </a:r>
          </a:p>
          <a:p>
            <a:pPr lvl="1"/>
            <a:r>
              <a:rPr lang="en-US" dirty="0"/>
              <a:t>The specified style can be shared by several pages</a:t>
            </a:r>
            <a:endParaRPr lang="en-US" dirty="0">
              <a:ea typeface="Calibri"/>
              <a:cs typeface="Calibri"/>
            </a:endParaRPr>
          </a:p>
          <a:p>
            <a:endParaRPr lang="en-US"/>
          </a:p>
          <a:p>
            <a:endParaRPr lang="en-US"/>
          </a:p>
          <a:p>
            <a:endParaRPr lang="en-US"/>
          </a:p>
          <a:p>
            <a:r>
              <a:rPr lang="en-US" dirty="0"/>
              <a:t>This is generally</a:t>
            </a:r>
            <a:r>
              <a:rPr lang="en-US" b="1" dirty="0"/>
              <a:t> the best method</a:t>
            </a:r>
            <a:r>
              <a:rPr lang="en-US" dirty="0"/>
              <a:t> in terms of:</a:t>
            </a:r>
            <a:endParaRPr lang="en-US" dirty="0">
              <a:ea typeface="Calibri"/>
              <a:cs typeface="Calibri"/>
            </a:endParaRPr>
          </a:p>
          <a:p>
            <a:pPr lvl="1"/>
            <a:r>
              <a:rPr lang="en-US" dirty="0"/>
              <a:t>Separation of concerns</a:t>
            </a:r>
            <a:endParaRPr lang="en-US" dirty="0">
              <a:ea typeface="Calibri"/>
              <a:cs typeface="Calibri"/>
            </a:endParaRPr>
          </a:p>
          <a:p>
            <a:pPr lvl="1"/>
            <a:r>
              <a:rPr lang="en-US" dirty="0"/>
              <a:t>Maintenance</a:t>
            </a:r>
            <a:endParaRPr lang="en-US" dirty="0">
              <a:ea typeface="Calibri"/>
              <a:cs typeface="Calibri"/>
            </a:endParaRPr>
          </a:p>
          <a:p>
            <a:pPr lvl="1"/>
            <a:r>
              <a:rPr lang="en-US" dirty="0"/>
              <a:t>Performance*</a:t>
            </a:r>
            <a:endParaRPr lang="en-US" dirty="0">
              <a:ea typeface="Calibri"/>
              <a:cs typeface="Calibri"/>
            </a:endParaRPr>
          </a:p>
          <a:p>
            <a:endParaRPr lang="en-US" b="1"/>
          </a:p>
        </p:txBody>
      </p:sp>
      <p:sp>
        <p:nvSpPr>
          <p:cNvPr id="4" name="TextBox 3"/>
          <p:cNvSpPr txBox="1"/>
          <p:nvPr/>
        </p:nvSpPr>
        <p:spPr>
          <a:xfrm>
            <a:off x="597519" y="2995474"/>
            <a:ext cx="7948961" cy="1200328"/>
          </a:xfrm>
          <a:prstGeom prst="rect">
            <a:avLst/>
          </a:prstGeom>
          <a:solidFill>
            <a:srgbClr val="DCE6F2"/>
          </a:solidFill>
        </p:spPr>
        <p:txBody>
          <a:bodyPr wrap="none" rtlCol="0">
            <a:spAutoFit/>
          </a:bodyPr>
          <a:lstStyle/>
          <a:p>
            <a:pPr marL="0" lvl="2"/>
            <a:r>
              <a:rPr lang="en-US" sz="2400" b="1"/>
              <a:t>&lt;head&gt;</a:t>
            </a:r>
          </a:p>
          <a:p>
            <a:pPr marL="0" lvl="2"/>
            <a:r>
              <a:rPr lang="en-US" sz="2400" b="1"/>
              <a:t>	&lt;link </a:t>
            </a:r>
            <a:r>
              <a:rPr lang="en-US" sz="2400" b="1" err="1"/>
              <a:t>rel</a:t>
            </a:r>
            <a:r>
              <a:rPr lang="en-US" sz="2400" b="1"/>
              <a:t>="</a:t>
            </a:r>
            <a:r>
              <a:rPr lang="en-US" sz="2400" b="1" err="1"/>
              <a:t>stylesheet</a:t>
            </a:r>
            <a:r>
              <a:rPr lang="en-US" sz="2400" b="1"/>
              <a:t>" </a:t>
            </a:r>
            <a:r>
              <a:rPr lang="en-US" sz="2400" b="1" err="1"/>
              <a:t>href</a:t>
            </a:r>
            <a:r>
              <a:rPr lang="en-US" sz="2400" b="1"/>
              <a:t>="</a:t>
            </a:r>
            <a:r>
              <a:rPr lang="en-US" sz="2400" b="1" err="1"/>
              <a:t>master.css</a:t>
            </a:r>
            <a:r>
              <a:rPr lang="en-US" sz="2400" b="1"/>
              <a:t>" type="text/</a:t>
            </a:r>
            <a:r>
              <a:rPr lang="en-US" sz="2400" b="1" err="1"/>
              <a:t>css</a:t>
            </a:r>
            <a:r>
              <a:rPr lang="en-US" sz="2400" b="1"/>
              <a:t>"&gt;</a:t>
            </a:r>
          </a:p>
          <a:p>
            <a:r>
              <a:rPr lang="en-US" sz="2400" b="1"/>
              <a:t>&lt;/head&gt;</a:t>
            </a:r>
          </a:p>
        </p:txBody>
      </p:sp>
    </p:spTree>
    <p:extLst>
      <p:ext uri="{BB962C8B-B14F-4D97-AF65-F5344CB8AC3E}">
        <p14:creationId xmlns:p14="http://schemas.microsoft.com/office/powerpoint/2010/main" val="1935201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Specialization of Presentation</a:t>
            </a:r>
          </a:p>
        </p:txBody>
      </p:sp>
      <p:sp>
        <p:nvSpPr>
          <p:cNvPr id="3" name="Content Placeholder 2"/>
          <p:cNvSpPr>
            <a:spLocks noGrp="1"/>
          </p:cNvSpPr>
          <p:nvPr>
            <p:ph idx="1"/>
          </p:nvPr>
        </p:nvSpPr>
        <p:spPr>
          <a:xfrm>
            <a:off x="457200" y="1417637"/>
            <a:ext cx="8382000" cy="5169975"/>
          </a:xfrm>
        </p:spPr>
        <p:txBody>
          <a:bodyPr vert="horz" lIns="91440" tIns="45720" rIns="91440" bIns="45720" rtlCol="0" anchor="t">
            <a:normAutofit fontScale="92500"/>
          </a:bodyPr>
          <a:lstStyle/>
          <a:p>
            <a:pPr>
              <a:lnSpc>
                <a:spcPct val="130000"/>
              </a:lnSpc>
              <a:spcBef>
                <a:spcPts val="0"/>
              </a:spcBef>
              <a:spcAft>
                <a:spcPts val="600"/>
              </a:spcAft>
            </a:pPr>
            <a:r>
              <a:rPr lang="en-US" sz="2800" b="1" dirty="0"/>
              <a:t>Class </a:t>
            </a:r>
            <a:r>
              <a:rPr lang="en-US" sz="2800" dirty="0"/>
              <a:t>and </a:t>
            </a:r>
            <a:r>
              <a:rPr lang="en-US" sz="2800" b="1" dirty="0"/>
              <a:t>ID selectors </a:t>
            </a:r>
            <a:r>
              <a:rPr lang="en-US" sz="2800" dirty="0"/>
              <a:t>can be used for finer control</a:t>
            </a:r>
          </a:p>
          <a:p>
            <a:pPr>
              <a:lnSpc>
                <a:spcPct val="130000"/>
              </a:lnSpc>
              <a:spcBef>
                <a:spcPts val="0"/>
              </a:spcBef>
              <a:spcAft>
                <a:spcPts val="600"/>
              </a:spcAft>
            </a:pPr>
            <a:r>
              <a:rPr lang="en-US" sz="2800" dirty="0"/>
              <a:t>This involves more planning/effort with document markup</a:t>
            </a:r>
            <a:endParaRPr lang="en-US" sz="2800" dirty="0">
              <a:ea typeface="Calibri"/>
              <a:cs typeface="Calibri"/>
            </a:endParaRPr>
          </a:p>
          <a:p>
            <a:pPr lvl="1">
              <a:lnSpc>
                <a:spcPct val="130000"/>
              </a:lnSpc>
              <a:spcBef>
                <a:spcPts val="0"/>
              </a:spcBef>
              <a:spcAft>
                <a:spcPts val="600"/>
              </a:spcAft>
            </a:pPr>
            <a:r>
              <a:rPr lang="en-US" sz="2400" dirty="0"/>
              <a:t>But can result in a better user experience</a:t>
            </a:r>
            <a:endParaRPr lang="en-US" sz="2400" dirty="0">
              <a:ea typeface="Calibri"/>
              <a:cs typeface="Calibri"/>
            </a:endParaRPr>
          </a:p>
          <a:p>
            <a:pPr lvl="1">
              <a:lnSpc>
                <a:spcPct val="130000"/>
              </a:lnSpc>
              <a:spcBef>
                <a:spcPts val="0"/>
              </a:spcBef>
              <a:spcAft>
                <a:spcPts val="600"/>
              </a:spcAft>
            </a:pPr>
            <a:r>
              <a:rPr lang="en-US" sz="2400" dirty="0"/>
              <a:t>It is also very important for manipulating elements in </a:t>
            </a:r>
            <a:r>
              <a:rPr lang="en-US" sz="2400" dirty="0" err="1"/>
              <a:t>Javascript</a:t>
            </a:r>
            <a:endParaRPr lang="en-US" sz="2400"/>
          </a:p>
          <a:p>
            <a:pPr lvl="1">
              <a:lnSpc>
                <a:spcPct val="130000"/>
              </a:lnSpc>
              <a:spcBef>
                <a:spcPts val="0"/>
              </a:spcBef>
              <a:spcAft>
                <a:spcPts val="600"/>
              </a:spcAft>
            </a:pPr>
            <a:r>
              <a:rPr lang="en-US" sz="2400" dirty="0"/>
              <a:t>The effort also pays off if you use libraries like </a:t>
            </a:r>
            <a:r>
              <a:rPr lang="en-US" sz="2400" dirty="0" err="1"/>
              <a:t>JQuery</a:t>
            </a:r>
            <a:endParaRPr lang="en-US" sz="2400"/>
          </a:p>
          <a:p>
            <a:pPr>
              <a:lnSpc>
                <a:spcPct val="130000"/>
              </a:lnSpc>
              <a:spcBef>
                <a:spcPts val="0"/>
              </a:spcBef>
              <a:spcAft>
                <a:spcPts val="600"/>
              </a:spcAft>
            </a:pPr>
            <a:r>
              <a:rPr lang="en-US" sz="2800" b="1" dirty="0"/>
              <a:t>Class selectors:</a:t>
            </a:r>
            <a:r>
              <a:rPr lang="en-US" sz="2800" dirty="0"/>
              <a:t> work on a set of specified elements through the </a:t>
            </a:r>
            <a:r>
              <a:rPr lang="en-US" sz="2800" b="1" dirty="0"/>
              <a:t>class attribute </a:t>
            </a:r>
            <a:endParaRPr lang="en-US" sz="2800" b="1" dirty="0">
              <a:ea typeface="Calibri"/>
              <a:cs typeface="Calibri"/>
            </a:endParaRPr>
          </a:p>
          <a:p>
            <a:pPr>
              <a:lnSpc>
                <a:spcPct val="130000"/>
              </a:lnSpc>
              <a:spcBef>
                <a:spcPts val="0"/>
              </a:spcBef>
              <a:spcAft>
                <a:spcPts val="600"/>
              </a:spcAft>
            </a:pPr>
            <a:r>
              <a:rPr lang="en-US" sz="2800" b="1" dirty="0"/>
              <a:t>ID selectors:</a:t>
            </a:r>
            <a:r>
              <a:rPr lang="en-US" sz="2800" dirty="0"/>
              <a:t> provide a way to stylize unique elements  through the </a:t>
            </a:r>
            <a:r>
              <a:rPr lang="en-US" sz="2800" b="1" dirty="0"/>
              <a:t>id attribute</a:t>
            </a:r>
            <a:endParaRPr lang="en-US" sz="2800" b="1" dirty="0">
              <a:ea typeface="Calibri"/>
              <a:cs typeface="Calibri"/>
            </a:endParaRPr>
          </a:p>
        </p:txBody>
      </p:sp>
    </p:spTree>
    <p:extLst>
      <p:ext uri="{BB962C8B-B14F-4D97-AF65-F5344CB8AC3E}">
        <p14:creationId xmlns:p14="http://schemas.microsoft.com/office/powerpoint/2010/main" val="461152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Class Selectors</a:t>
            </a:r>
          </a:p>
        </p:txBody>
      </p:sp>
      <p:sp>
        <p:nvSpPr>
          <p:cNvPr id="3" name="Content Placeholder 2"/>
          <p:cNvSpPr>
            <a:spLocks noGrp="1"/>
          </p:cNvSpPr>
          <p:nvPr>
            <p:ph idx="1"/>
          </p:nvPr>
        </p:nvSpPr>
        <p:spPr>
          <a:xfrm>
            <a:off x="457200" y="1417638"/>
            <a:ext cx="8229600" cy="3992561"/>
          </a:xfrm>
        </p:spPr>
        <p:txBody>
          <a:bodyPr>
            <a:normAutofit/>
          </a:bodyPr>
          <a:lstStyle/>
          <a:p>
            <a:r>
              <a:rPr lang="en-US"/>
              <a:t>Class selector allow you to style items with the same (X)HTML element differently </a:t>
            </a:r>
          </a:p>
          <a:p>
            <a:r>
              <a:rPr lang="en-US"/>
              <a:t>They work when the </a:t>
            </a:r>
            <a:r>
              <a:rPr lang="en-US" b="1"/>
              <a:t>class attribute</a:t>
            </a:r>
            <a:r>
              <a:rPr lang="en-US"/>
              <a:t> of an HTML tag is given a </a:t>
            </a:r>
            <a:r>
              <a:rPr lang="en-US" b="1"/>
              <a:t>name</a:t>
            </a:r>
            <a:r>
              <a:rPr lang="en-US"/>
              <a:t> </a:t>
            </a:r>
          </a:p>
          <a:p>
            <a:r>
              <a:rPr lang="en-US"/>
              <a:t>The </a:t>
            </a:r>
            <a:r>
              <a:rPr lang="en-US" b="1"/>
              <a:t>dot (.)</a:t>
            </a:r>
            <a:r>
              <a:rPr lang="en-US"/>
              <a:t> operator is used to define the class </a:t>
            </a:r>
            <a:endParaRPr lang="en-US" b="1"/>
          </a:p>
          <a:p>
            <a:pPr lvl="1"/>
            <a:endParaRPr lang="en-US"/>
          </a:p>
        </p:txBody>
      </p:sp>
      <p:sp>
        <p:nvSpPr>
          <p:cNvPr id="4" name="TextBox 3"/>
          <p:cNvSpPr txBox="1"/>
          <p:nvPr/>
        </p:nvSpPr>
        <p:spPr>
          <a:xfrm>
            <a:off x="1143000" y="4299514"/>
            <a:ext cx="6454036" cy="2246769"/>
          </a:xfrm>
          <a:prstGeom prst="rect">
            <a:avLst/>
          </a:prstGeom>
          <a:solidFill>
            <a:srgbClr val="C6D9F1"/>
          </a:solidFill>
          <a:ln>
            <a:solidFill>
              <a:srgbClr val="4F81BD"/>
            </a:solidFill>
          </a:ln>
        </p:spPr>
        <p:txBody>
          <a:bodyPr wrap="none" rtlCol="0">
            <a:spAutoFit/>
          </a:bodyPr>
          <a:lstStyle/>
          <a:p>
            <a:r>
              <a:rPr lang="en-US" sz="2000" b="1"/>
              <a:t>&lt;style&gt;</a:t>
            </a:r>
          </a:p>
          <a:p>
            <a:r>
              <a:rPr lang="en-US" sz="2000"/>
              <a:t>	</a:t>
            </a:r>
            <a:r>
              <a:rPr lang="en-US" sz="2000" b="1"/>
              <a:t>*.warning {font-weight: bold;}		</a:t>
            </a:r>
            <a:endParaRPr lang="en-US" sz="2000"/>
          </a:p>
          <a:p>
            <a:r>
              <a:rPr lang="en-US" sz="2000" b="1"/>
              <a:t>&lt;/style&gt;</a:t>
            </a:r>
          </a:p>
          <a:p>
            <a:endParaRPr lang="en-US" sz="2000"/>
          </a:p>
          <a:p>
            <a:r>
              <a:rPr lang="en-US" sz="2000" b="1"/>
              <a:t>&lt;</a:t>
            </a:r>
            <a:r>
              <a:rPr lang="en-US" sz="2000" b="1" err="1"/>
              <a:t>p</a:t>
            </a:r>
            <a:r>
              <a:rPr lang="en-US" sz="2000" b="1"/>
              <a:t> </a:t>
            </a:r>
            <a:r>
              <a:rPr lang="en-US" sz="2000" b="1">
                <a:solidFill>
                  <a:srgbClr val="FF0000"/>
                </a:solidFill>
              </a:rPr>
              <a:t>class="warning"</a:t>
            </a:r>
            <a:r>
              <a:rPr lang="en-US" sz="2000" b="1"/>
              <a:t>&gt;This text will be displayed in bold</a:t>
            </a:r>
            <a:r>
              <a:rPr lang="en-US" sz="2000"/>
              <a:t>.</a:t>
            </a:r>
            <a:r>
              <a:rPr lang="en-US" sz="2000" b="1"/>
              <a:t>&lt;/</a:t>
            </a:r>
            <a:r>
              <a:rPr lang="en-US" sz="2000" b="1" err="1"/>
              <a:t>p</a:t>
            </a:r>
            <a:r>
              <a:rPr lang="en-US" sz="2000" b="1"/>
              <a:t>&gt;</a:t>
            </a:r>
          </a:p>
          <a:p>
            <a:endParaRPr lang="en-US" sz="2000" b="1"/>
          </a:p>
          <a:p>
            <a:r>
              <a:rPr lang="en-US" sz="2000" b="1"/>
              <a:t>&lt;</a:t>
            </a:r>
            <a:r>
              <a:rPr lang="en-US" sz="2000" b="1" err="1"/>
              <a:t>p</a:t>
            </a:r>
            <a:r>
              <a:rPr lang="en-US" sz="2000" b="1"/>
              <a:t>&gt;</a:t>
            </a:r>
            <a:r>
              <a:rPr lang="en-US" sz="2000"/>
              <a:t>This text will NOT be displayed in bold.</a:t>
            </a:r>
            <a:r>
              <a:rPr lang="en-US" sz="2000" b="1"/>
              <a:t>&lt;/</a:t>
            </a:r>
            <a:r>
              <a:rPr lang="en-US" sz="2000" b="1" err="1"/>
              <a:t>p</a:t>
            </a:r>
            <a:r>
              <a:rPr lang="en-US" sz="2000" b="1"/>
              <a:t>&gt;</a:t>
            </a:r>
          </a:p>
        </p:txBody>
      </p:sp>
    </p:spTree>
    <p:extLst>
      <p:ext uri="{BB962C8B-B14F-4D97-AF65-F5344CB8AC3E}">
        <p14:creationId xmlns:p14="http://schemas.microsoft.com/office/powerpoint/2010/main" val="3179322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ID Selectors</a:t>
            </a:r>
          </a:p>
        </p:txBody>
      </p:sp>
      <p:sp>
        <p:nvSpPr>
          <p:cNvPr id="3" name="Content Placeholder 2"/>
          <p:cNvSpPr>
            <a:spLocks noGrp="1"/>
          </p:cNvSpPr>
          <p:nvPr>
            <p:ph idx="1"/>
          </p:nvPr>
        </p:nvSpPr>
        <p:spPr>
          <a:xfrm>
            <a:off x="457200" y="1600201"/>
            <a:ext cx="8229600" cy="2895600"/>
          </a:xfrm>
        </p:spPr>
        <p:txBody>
          <a:bodyPr>
            <a:normAutofit fontScale="92500" lnSpcReduction="20000"/>
          </a:bodyPr>
          <a:lstStyle/>
          <a:p>
            <a:pPr marL="342900" lvl="1" indent="-342900">
              <a:buFont typeface="Arial"/>
              <a:buChar char="•"/>
            </a:pPr>
            <a:r>
              <a:rPr lang="en-US" sz="2800">
                <a:solidFill>
                  <a:schemeClr val="tx1"/>
                </a:solidFill>
              </a:rPr>
              <a:t>Similar to class but they define a special case for an element</a:t>
            </a:r>
          </a:p>
          <a:p>
            <a:pPr lvl="1"/>
            <a:r>
              <a:rPr lang="en-US"/>
              <a:t>IDs are meant to be unique and only used once</a:t>
            </a:r>
          </a:p>
          <a:p>
            <a:pPr lvl="1"/>
            <a:r>
              <a:rPr lang="en-US"/>
              <a:t>However, browsers are not particularly fussy about enforcing the uniqueness of identifiers</a:t>
            </a:r>
          </a:p>
          <a:p>
            <a:r>
              <a:rPr lang="en-US"/>
              <a:t>The </a:t>
            </a:r>
            <a:r>
              <a:rPr lang="en-US" b="1"/>
              <a:t>hash symbol (#)</a:t>
            </a:r>
            <a:r>
              <a:rPr lang="en-US"/>
              <a:t> is used to specify a unique ID</a:t>
            </a:r>
          </a:p>
          <a:p>
            <a:pPr>
              <a:buNone/>
            </a:pPr>
            <a:endParaRPr lang="en-US"/>
          </a:p>
        </p:txBody>
      </p:sp>
      <p:sp>
        <p:nvSpPr>
          <p:cNvPr id="4" name="TextBox 3"/>
          <p:cNvSpPr txBox="1"/>
          <p:nvPr/>
        </p:nvSpPr>
        <p:spPr>
          <a:xfrm>
            <a:off x="1371600" y="4358150"/>
            <a:ext cx="6400800" cy="2246769"/>
          </a:xfrm>
          <a:prstGeom prst="rect">
            <a:avLst/>
          </a:prstGeom>
          <a:solidFill>
            <a:schemeClr val="tx2">
              <a:lumMod val="20000"/>
              <a:lumOff val="80000"/>
            </a:schemeClr>
          </a:solidFill>
          <a:ln>
            <a:solidFill>
              <a:srgbClr val="4F81BD"/>
            </a:solidFill>
          </a:ln>
        </p:spPr>
        <p:txBody>
          <a:bodyPr wrap="square" rtlCol="0">
            <a:spAutoFit/>
          </a:bodyPr>
          <a:lstStyle/>
          <a:p>
            <a:r>
              <a:rPr lang="en-US" sz="2000"/>
              <a:t>&lt;style&gt;</a:t>
            </a:r>
          </a:p>
          <a:p>
            <a:r>
              <a:rPr lang="en-US" sz="2000" b="1"/>
              <a:t>	#first-</a:t>
            </a:r>
            <a:r>
              <a:rPr lang="en-US" sz="2000" b="1" err="1"/>
              <a:t>para</a:t>
            </a:r>
            <a:r>
              <a:rPr lang="en-US" sz="2000" b="1"/>
              <a:t> { font-weight: bold; }</a:t>
            </a:r>
          </a:p>
          <a:p>
            <a:r>
              <a:rPr lang="en-US" sz="2000"/>
              <a:t>&lt;/style&gt;</a:t>
            </a:r>
          </a:p>
          <a:p>
            <a:endParaRPr lang="en-US" sz="2000"/>
          </a:p>
          <a:p>
            <a:r>
              <a:rPr lang="en-US" sz="2000"/>
              <a:t>&lt;p </a:t>
            </a:r>
            <a:r>
              <a:rPr lang="en-US" sz="2000" b="1">
                <a:solidFill>
                  <a:srgbClr val="FF0000"/>
                </a:solidFill>
              </a:rPr>
              <a:t>id=“first-</a:t>
            </a:r>
            <a:r>
              <a:rPr lang="en-US" sz="2000" b="1" err="1">
                <a:solidFill>
                  <a:srgbClr val="FF0000"/>
                </a:solidFill>
              </a:rPr>
              <a:t>para</a:t>
            </a:r>
            <a:r>
              <a:rPr lang="en-US" sz="2000" b="1">
                <a:solidFill>
                  <a:srgbClr val="FF0000"/>
                </a:solidFill>
              </a:rPr>
              <a:t>”</a:t>
            </a:r>
            <a:r>
              <a:rPr lang="en-US" sz="2000"/>
              <a:t>&gt;</a:t>
            </a:r>
            <a:r>
              <a:rPr lang="en-US" sz="2000" b="1"/>
              <a:t>This paragraph will be bold-faced</a:t>
            </a:r>
            <a:r>
              <a:rPr lang="en-US" sz="2000"/>
              <a:t>&lt;/p&gt;</a:t>
            </a:r>
          </a:p>
          <a:p>
            <a:endParaRPr lang="en-US" sz="2000"/>
          </a:p>
          <a:p>
            <a:r>
              <a:rPr lang="en-US" sz="2000"/>
              <a:t>&lt;</a:t>
            </a:r>
            <a:r>
              <a:rPr lang="en-US" sz="2000" err="1"/>
              <a:t>p</a:t>
            </a:r>
            <a:r>
              <a:rPr lang="en-US" sz="2000"/>
              <a:t>&gt;This will not be bold&lt;/</a:t>
            </a:r>
            <a:r>
              <a:rPr lang="en-US" sz="2000" err="1"/>
              <a:t>p</a:t>
            </a:r>
            <a:r>
              <a:rPr lang="en-US" sz="2000"/>
              <a:t>&gt;</a:t>
            </a:r>
          </a:p>
        </p:txBody>
      </p:sp>
    </p:spTree>
    <p:extLst>
      <p:ext uri="{BB962C8B-B14F-4D97-AF65-F5344CB8AC3E}">
        <p14:creationId xmlns:p14="http://schemas.microsoft.com/office/powerpoint/2010/main" val="765510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6455B-8929-B158-1C19-87B9BF6C2634}"/>
              </a:ext>
            </a:extLst>
          </p:cNvPr>
          <p:cNvSpPr>
            <a:spLocks noGrp="1"/>
          </p:cNvSpPr>
          <p:nvPr>
            <p:ph type="title"/>
          </p:nvPr>
        </p:nvSpPr>
        <p:spPr/>
        <p:txBody>
          <a:bodyPr/>
          <a:lstStyle/>
          <a:p>
            <a:r>
              <a:rPr lang="en-US"/>
              <a:t>Combining selectors</a:t>
            </a:r>
          </a:p>
        </p:txBody>
      </p:sp>
      <p:sp>
        <p:nvSpPr>
          <p:cNvPr id="3" name="Content Placeholder 2">
            <a:extLst>
              <a:ext uri="{FF2B5EF4-FFF2-40B4-BE49-F238E27FC236}">
                <a16:creationId xmlns:a16="http://schemas.microsoft.com/office/drawing/2014/main" id="{68C04C6B-5F93-AA0F-6173-5DB86E921A4B}"/>
              </a:ext>
            </a:extLst>
          </p:cNvPr>
          <p:cNvSpPr>
            <a:spLocks noGrp="1"/>
          </p:cNvSpPr>
          <p:nvPr>
            <p:ph idx="1"/>
          </p:nvPr>
        </p:nvSpPr>
        <p:spPr/>
        <p:txBody>
          <a:bodyPr/>
          <a:lstStyle/>
          <a:p>
            <a:r>
              <a:rPr lang="en-US"/>
              <a:t>You can combine selectors into lists</a:t>
            </a:r>
          </a:p>
        </p:txBody>
      </p:sp>
      <p:sp>
        <p:nvSpPr>
          <p:cNvPr id="4" name="TextBox 3">
            <a:extLst>
              <a:ext uri="{FF2B5EF4-FFF2-40B4-BE49-F238E27FC236}">
                <a16:creationId xmlns:a16="http://schemas.microsoft.com/office/drawing/2014/main" id="{753E4195-1D40-6F5A-8BD9-A215F166283A}"/>
              </a:ext>
            </a:extLst>
          </p:cNvPr>
          <p:cNvSpPr txBox="1"/>
          <p:nvPr/>
        </p:nvSpPr>
        <p:spPr>
          <a:xfrm>
            <a:off x="2161902" y="2914851"/>
            <a:ext cx="3877985" cy="1323439"/>
          </a:xfrm>
          <a:prstGeom prst="rect">
            <a:avLst/>
          </a:prstGeom>
          <a:solidFill>
            <a:srgbClr val="C6D9F1"/>
          </a:solidFill>
          <a:ln>
            <a:solidFill>
              <a:srgbClr val="4F81BD"/>
            </a:solidFill>
          </a:ln>
        </p:spPr>
        <p:txBody>
          <a:bodyPr wrap="none" rtlCol="0">
            <a:spAutoFit/>
          </a:bodyPr>
          <a:lstStyle/>
          <a:p>
            <a:r>
              <a:rPr lang="en-US" sz="2000" b="1"/>
              <a:t>&lt;style&gt;</a:t>
            </a:r>
          </a:p>
          <a:p>
            <a:r>
              <a:rPr lang="en-US" sz="2000"/>
              <a:t>	</a:t>
            </a:r>
            <a:r>
              <a:rPr lang="en-US" sz="2000" b="1"/>
              <a:t>.warning, h1 {color: red;}		</a:t>
            </a:r>
            <a:endParaRPr lang="en-US" sz="2000"/>
          </a:p>
          <a:p>
            <a:r>
              <a:rPr lang="en-US" sz="2000" b="1"/>
              <a:t>&lt;/style&gt;</a:t>
            </a:r>
          </a:p>
          <a:p>
            <a:endParaRPr lang="en-US" sz="2000"/>
          </a:p>
        </p:txBody>
      </p:sp>
    </p:spTree>
    <p:extLst>
      <p:ext uri="{BB962C8B-B14F-4D97-AF65-F5344CB8AC3E}">
        <p14:creationId xmlns:p14="http://schemas.microsoft.com/office/powerpoint/2010/main" val="3820382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5560-6BB7-4E8A-31B5-0A5E2C9411EC}"/>
              </a:ext>
            </a:extLst>
          </p:cNvPr>
          <p:cNvSpPr>
            <a:spLocks noGrp="1"/>
          </p:cNvSpPr>
          <p:nvPr>
            <p:ph type="title"/>
          </p:nvPr>
        </p:nvSpPr>
        <p:spPr/>
        <p:txBody>
          <a:bodyPr>
            <a:normAutofit fontScale="90000"/>
          </a:bodyPr>
          <a:lstStyle/>
          <a:p>
            <a:r>
              <a:rPr lang="en-US"/>
              <a:t>Pseudo-classes and pseudo-elements</a:t>
            </a:r>
          </a:p>
        </p:txBody>
      </p:sp>
      <p:sp>
        <p:nvSpPr>
          <p:cNvPr id="3" name="Content Placeholder 2">
            <a:extLst>
              <a:ext uri="{FF2B5EF4-FFF2-40B4-BE49-F238E27FC236}">
                <a16:creationId xmlns:a16="http://schemas.microsoft.com/office/drawing/2014/main" id="{9DEA9551-7A33-5D99-72BB-5E43DCD35D06}"/>
              </a:ext>
            </a:extLst>
          </p:cNvPr>
          <p:cNvSpPr>
            <a:spLocks noGrp="1"/>
          </p:cNvSpPr>
          <p:nvPr>
            <p:ph idx="1"/>
          </p:nvPr>
        </p:nvSpPr>
        <p:spPr/>
        <p:txBody>
          <a:bodyPr vert="horz" lIns="91440" tIns="45720" rIns="91440" bIns="45720" rtlCol="0" anchor="t">
            <a:normAutofit/>
          </a:bodyPr>
          <a:lstStyle/>
          <a:p>
            <a:r>
              <a:rPr lang="en-US"/>
              <a:t>You can also style certain states of an element or certain parts of elements</a:t>
            </a:r>
          </a:p>
        </p:txBody>
      </p:sp>
      <p:sp>
        <p:nvSpPr>
          <p:cNvPr id="4" name="TextBox 3">
            <a:extLst>
              <a:ext uri="{FF2B5EF4-FFF2-40B4-BE49-F238E27FC236}">
                <a16:creationId xmlns:a16="http://schemas.microsoft.com/office/drawing/2014/main" id="{CBB5ABA3-2773-8CEB-E85C-9F7261666F65}"/>
              </a:ext>
            </a:extLst>
          </p:cNvPr>
          <p:cNvSpPr txBox="1"/>
          <p:nvPr/>
        </p:nvSpPr>
        <p:spPr>
          <a:xfrm>
            <a:off x="2633007" y="3429000"/>
            <a:ext cx="3877985" cy="1631216"/>
          </a:xfrm>
          <a:prstGeom prst="rect">
            <a:avLst/>
          </a:prstGeom>
          <a:solidFill>
            <a:srgbClr val="C6D9F1"/>
          </a:solidFill>
          <a:ln>
            <a:solidFill>
              <a:srgbClr val="4F81BD"/>
            </a:solidFill>
          </a:ln>
        </p:spPr>
        <p:txBody>
          <a:bodyPr wrap="none" rtlCol="0">
            <a:spAutoFit/>
          </a:bodyPr>
          <a:lstStyle/>
          <a:p>
            <a:r>
              <a:rPr lang="en-US" sz="2000" b="1"/>
              <a:t>&lt;style&gt;</a:t>
            </a:r>
          </a:p>
          <a:p>
            <a:r>
              <a:rPr lang="en-US" sz="2000"/>
              <a:t>	</a:t>
            </a:r>
            <a:r>
              <a:rPr lang="en-US" sz="2000" b="1" err="1"/>
              <a:t>a:hover</a:t>
            </a:r>
            <a:r>
              <a:rPr lang="en-US" sz="2000" b="1"/>
              <a:t> {color: red;}</a:t>
            </a:r>
          </a:p>
          <a:p>
            <a:r>
              <a:rPr lang="en-US" sz="2000" b="1"/>
              <a:t>	p::first-line {color: blue;}		</a:t>
            </a:r>
            <a:endParaRPr lang="en-US" sz="2000"/>
          </a:p>
          <a:p>
            <a:r>
              <a:rPr lang="en-US" sz="2000" b="1"/>
              <a:t>&lt;/style&gt;</a:t>
            </a:r>
          </a:p>
          <a:p>
            <a:endParaRPr lang="en-US" sz="2000"/>
          </a:p>
        </p:txBody>
      </p:sp>
    </p:spTree>
    <p:extLst>
      <p:ext uri="{BB962C8B-B14F-4D97-AF65-F5344CB8AC3E}">
        <p14:creationId xmlns:p14="http://schemas.microsoft.com/office/powerpoint/2010/main" val="3808962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Descendent Selectors</a:t>
            </a:r>
          </a:p>
        </p:txBody>
      </p:sp>
      <p:sp>
        <p:nvSpPr>
          <p:cNvPr id="3" name="Content Placeholder 2"/>
          <p:cNvSpPr>
            <a:spLocks noGrp="1"/>
          </p:cNvSpPr>
          <p:nvPr>
            <p:ph idx="1"/>
          </p:nvPr>
        </p:nvSpPr>
        <p:spPr>
          <a:xfrm>
            <a:off x="457200" y="1397001"/>
            <a:ext cx="8229600" cy="3276600"/>
          </a:xfrm>
        </p:spPr>
        <p:txBody>
          <a:bodyPr>
            <a:normAutofit/>
          </a:bodyPr>
          <a:lstStyle/>
          <a:p>
            <a:r>
              <a:rPr lang="en-US"/>
              <a:t>Elements that are descended from a particular element are styled according to the rule of the </a:t>
            </a:r>
            <a:r>
              <a:rPr lang="en-US" b="1"/>
              <a:t>descendent selector</a:t>
            </a:r>
            <a:endParaRPr lang="en-US"/>
          </a:p>
          <a:p>
            <a:pPr lvl="1"/>
            <a:r>
              <a:rPr lang="en-US"/>
              <a:t>This means that the rules will be applied to a set of elements in one context but not in another</a:t>
            </a:r>
          </a:p>
        </p:txBody>
      </p:sp>
      <p:sp>
        <p:nvSpPr>
          <p:cNvPr id="4" name="TextBox 3"/>
          <p:cNvSpPr txBox="1"/>
          <p:nvPr/>
        </p:nvSpPr>
        <p:spPr>
          <a:xfrm>
            <a:off x="1371600" y="4000500"/>
            <a:ext cx="6096000" cy="2554545"/>
          </a:xfrm>
          <a:prstGeom prst="rect">
            <a:avLst/>
          </a:prstGeom>
          <a:solidFill>
            <a:srgbClr val="C6D9F1"/>
          </a:solidFill>
          <a:ln>
            <a:solidFill>
              <a:srgbClr val="4F81BD"/>
            </a:solidFill>
          </a:ln>
        </p:spPr>
        <p:txBody>
          <a:bodyPr wrap="square" rtlCol="0">
            <a:spAutoFit/>
          </a:bodyPr>
          <a:lstStyle/>
          <a:p>
            <a:r>
              <a:rPr lang="en-US" sz="2000"/>
              <a:t>&lt;style&gt;</a:t>
            </a:r>
          </a:p>
          <a:p>
            <a:r>
              <a:rPr lang="en-US" sz="2000"/>
              <a:t>	</a:t>
            </a:r>
            <a:r>
              <a:rPr lang="en-US" sz="2000" b="1"/>
              <a:t>p </a:t>
            </a:r>
            <a:r>
              <a:rPr lang="en-US" sz="2000" b="1" err="1"/>
              <a:t>em</a:t>
            </a:r>
            <a:r>
              <a:rPr lang="en-US" sz="2000" b="1"/>
              <a:t> { color: red; font-weight: bold;  }		</a:t>
            </a:r>
          </a:p>
          <a:p>
            <a:r>
              <a:rPr lang="en-US" sz="2000"/>
              <a:t>&lt;/style&gt;</a:t>
            </a:r>
            <a:r>
              <a:rPr lang="en-US" sz="2000" b="1"/>
              <a:t>	</a:t>
            </a:r>
          </a:p>
          <a:p>
            <a:r>
              <a:rPr lang="en-US" sz="2000"/>
              <a:t>&lt;body&gt; </a:t>
            </a:r>
          </a:p>
          <a:p>
            <a:r>
              <a:rPr lang="en-US" sz="2000"/>
              <a:t>	&lt;</a:t>
            </a:r>
            <a:r>
              <a:rPr lang="en-US" sz="2000" err="1"/>
              <a:t>p</a:t>
            </a:r>
            <a:r>
              <a:rPr lang="en-US" sz="2000"/>
              <a:t>&gt;this will be the default color</a:t>
            </a:r>
            <a:endParaRPr lang="en-US" sz="2000">
              <a:ln>
                <a:solidFill>
                  <a:srgbClr val="4F81BD"/>
                </a:solidFill>
              </a:ln>
            </a:endParaRPr>
          </a:p>
          <a:p>
            <a:r>
              <a:rPr lang="en-US" sz="2000">
                <a:ln>
                  <a:solidFill>
                    <a:srgbClr val="4F81BD"/>
                  </a:solidFill>
                </a:ln>
              </a:rPr>
              <a:t> </a:t>
            </a:r>
            <a:r>
              <a:rPr lang="en-US" sz="2000"/>
              <a:t>	&lt;</a:t>
            </a:r>
            <a:r>
              <a:rPr lang="en-US" sz="2000" err="1"/>
              <a:t>em</a:t>
            </a:r>
            <a:r>
              <a:rPr lang="en-US" sz="2000"/>
              <a:t>&gt;</a:t>
            </a:r>
            <a:r>
              <a:rPr lang="en-US" sz="2000" b="1">
                <a:solidFill>
                  <a:srgbClr val="FF0000"/>
                </a:solidFill>
              </a:rPr>
              <a:t>this will be </a:t>
            </a:r>
            <a:r>
              <a:rPr lang="en-US" sz="2000" b="1" err="1">
                <a:solidFill>
                  <a:srgbClr val="FF0000"/>
                </a:solidFill>
              </a:rPr>
              <a:t>coloured</a:t>
            </a:r>
            <a:r>
              <a:rPr lang="en-US" sz="2000" b="1">
                <a:solidFill>
                  <a:srgbClr val="FF0000"/>
                </a:solidFill>
              </a:rPr>
              <a:t> red and bold</a:t>
            </a:r>
            <a:r>
              <a:rPr lang="en-US" sz="2000"/>
              <a:t>&lt;/</a:t>
            </a:r>
            <a:r>
              <a:rPr lang="en-US" sz="2000" err="1"/>
              <a:t>em</a:t>
            </a:r>
            <a:r>
              <a:rPr lang="en-US" sz="2000"/>
              <a:t>&gt;</a:t>
            </a:r>
          </a:p>
          <a:p>
            <a:r>
              <a:rPr lang="en-US" sz="2000"/>
              <a:t>	 back to the default </a:t>
            </a:r>
            <a:r>
              <a:rPr lang="en-US" sz="2000" err="1"/>
              <a:t>colour</a:t>
            </a:r>
            <a:r>
              <a:rPr lang="en-US" sz="2000"/>
              <a:t>&lt;/</a:t>
            </a:r>
            <a:r>
              <a:rPr lang="en-US" sz="2000" err="1"/>
              <a:t>p</a:t>
            </a:r>
            <a:r>
              <a:rPr lang="en-US" sz="2000"/>
              <a:t>&gt;</a:t>
            </a:r>
          </a:p>
          <a:p>
            <a:r>
              <a:rPr lang="en-US" sz="2000"/>
              <a:t>&lt;/body&gt;</a:t>
            </a:r>
          </a:p>
        </p:txBody>
      </p:sp>
    </p:spTree>
    <p:extLst>
      <p:ext uri="{BB962C8B-B14F-4D97-AF65-F5344CB8AC3E}">
        <p14:creationId xmlns:p14="http://schemas.microsoft.com/office/powerpoint/2010/main" val="19855864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3335E-82A3-8043-5A6E-D48832948158}"/>
              </a:ext>
            </a:extLst>
          </p:cNvPr>
          <p:cNvSpPr>
            <a:spLocks noGrp="1"/>
          </p:cNvSpPr>
          <p:nvPr>
            <p:ph type="title"/>
          </p:nvPr>
        </p:nvSpPr>
        <p:spPr/>
        <p:txBody>
          <a:bodyPr/>
          <a:lstStyle/>
          <a:p>
            <a:r>
              <a:rPr lang="en-US" b="1"/>
              <a:t>Cascading</a:t>
            </a:r>
            <a:r>
              <a:rPr lang="en-US"/>
              <a:t>  Style Sheets</a:t>
            </a:r>
          </a:p>
        </p:txBody>
      </p:sp>
      <p:sp>
        <p:nvSpPr>
          <p:cNvPr id="3" name="Content Placeholder 2">
            <a:extLst>
              <a:ext uri="{FF2B5EF4-FFF2-40B4-BE49-F238E27FC236}">
                <a16:creationId xmlns:a16="http://schemas.microsoft.com/office/drawing/2014/main" id="{8BB79518-D8CA-E160-4BC8-84981B347AB6}"/>
              </a:ext>
            </a:extLst>
          </p:cNvPr>
          <p:cNvSpPr>
            <a:spLocks noGrp="1"/>
          </p:cNvSpPr>
          <p:nvPr>
            <p:ph idx="1"/>
          </p:nvPr>
        </p:nvSpPr>
        <p:spPr/>
        <p:txBody>
          <a:bodyPr vert="horz" lIns="91440" tIns="45720" rIns="91440" bIns="45720" rtlCol="0" anchor="t">
            <a:normAutofit/>
          </a:bodyPr>
          <a:lstStyle/>
          <a:p>
            <a:r>
              <a:rPr lang="en-US" dirty="0"/>
              <a:t>You might specify </a:t>
            </a:r>
            <a:r>
              <a:rPr lang="en-US" b="1" dirty="0"/>
              <a:t>conflicting rules</a:t>
            </a:r>
            <a:r>
              <a:rPr lang="en-US" dirty="0"/>
              <a:t> in your CSS e.g. different values of the same property apply to the same element</a:t>
            </a:r>
          </a:p>
          <a:p>
            <a:r>
              <a:rPr lang="en-US" dirty="0"/>
              <a:t>In this case it’s important to understand how these rules get sorted out through </a:t>
            </a:r>
            <a:r>
              <a:rPr lang="en-US" b="1" u="sng" dirty="0"/>
              <a:t>cascades</a:t>
            </a:r>
            <a:r>
              <a:rPr lang="en-US" dirty="0"/>
              <a:t>, </a:t>
            </a:r>
            <a:r>
              <a:rPr lang="en-US" b="1" u="sng" dirty="0"/>
              <a:t>specificity</a:t>
            </a:r>
            <a:r>
              <a:rPr lang="en-US" b="1" dirty="0"/>
              <a:t> </a:t>
            </a:r>
            <a:r>
              <a:rPr lang="en-US" dirty="0"/>
              <a:t>and </a:t>
            </a:r>
            <a:r>
              <a:rPr lang="en-US" b="1" u="sng" dirty="0"/>
              <a:t>inheritance</a:t>
            </a:r>
            <a:endParaRPr lang="en-US" u="sng" dirty="0">
              <a:ea typeface="Calibri"/>
              <a:cs typeface="Calibri"/>
            </a:endParaRPr>
          </a:p>
        </p:txBody>
      </p:sp>
    </p:spTree>
    <p:extLst>
      <p:ext uri="{BB962C8B-B14F-4D97-AF65-F5344CB8AC3E}">
        <p14:creationId xmlns:p14="http://schemas.microsoft.com/office/powerpoint/2010/main" val="1835371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Inheritance of Style</a:t>
            </a:r>
          </a:p>
        </p:txBody>
      </p:sp>
      <p:sp>
        <p:nvSpPr>
          <p:cNvPr id="3" name="Content Placeholder 2"/>
          <p:cNvSpPr>
            <a:spLocks noGrp="1"/>
          </p:cNvSpPr>
          <p:nvPr>
            <p:ph idx="1"/>
          </p:nvPr>
        </p:nvSpPr>
        <p:spPr>
          <a:xfrm>
            <a:off x="457200" y="1275597"/>
            <a:ext cx="8229600" cy="3124199"/>
          </a:xfrm>
        </p:spPr>
        <p:txBody>
          <a:bodyPr>
            <a:normAutofit/>
          </a:bodyPr>
          <a:lstStyle/>
          <a:p>
            <a:r>
              <a:rPr lang="en-US"/>
              <a:t>The order of application of styles is through inheritance</a:t>
            </a:r>
          </a:p>
          <a:p>
            <a:r>
              <a:rPr lang="en-US"/>
              <a:t>Styles are applied not only to a specified element, but also to its descendants</a:t>
            </a:r>
          </a:p>
          <a:p>
            <a:pPr lvl="1"/>
            <a:r>
              <a:rPr lang="en-US"/>
              <a:t>For example, below &lt;</a:t>
            </a:r>
            <a:r>
              <a:rPr lang="en-US" err="1"/>
              <a:t>em</a:t>
            </a:r>
            <a:r>
              <a:rPr lang="en-US"/>
              <a:t>&gt; will inherit the style of its parent &lt;</a:t>
            </a:r>
            <a:r>
              <a:rPr lang="en-US" err="1"/>
              <a:t>p</a:t>
            </a:r>
            <a:r>
              <a:rPr lang="en-US"/>
              <a:t>&gt;</a:t>
            </a:r>
          </a:p>
        </p:txBody>
      </p:sp>
      <p:sp>
        <p:nvSpPr>
          <p:cNvPr id="4" name="Rectangle 3"/>
          <p:cNvSpPr/>
          <p:nvPr/>
        </p:nvSpPr>
        <p:spPr>
          <a:xfrm>
            <a:off x="990600" y="4387096"/>
            <a:ext cx="7315200" cy="2246769"/>
          </a:xfrm>
          <a:prstGeom prst="rect">
            <a:avLst/>
          </a:prstGeom>
          <a:solidFill>
            <a:srgbClr val="C6D9F1"/>
          </a:solidFill>
          <a:ln>
            <a:solidFill>
              <a:schemeClr val="accent1"/>
            </a:solidFill>
          </a:ln>
        </p:spPr>
        <p:txBody>
          <a:bodyPr wrap="square">
            <a:spAutoFit/>
          </a:bodyPr>
          <a:lstStyle/>
          <a:p>
            <a:r>
              <a:rPr lang="en-US" sz="2000"/>
              <a:t>&lt;style&gt;</a:t>
            </a:r>
          </a:p>
          <a:p>
            <a:r>
              <a:rPr lang="en-US" sz="2000"/>
              <a:t>	p { color: red; </a:t>
            </a:r>
          </a:p>
          <a:p>
            <a:r>
              <a:rPr lang="en-US" sz="2000"/>
              <a:t>	      font-weight: bold  }</a:t>
            </a:r>
          </a:p>
          <a:p>
            <a:r>
              <a:rPr lang="en-US" sz="2000"/>
              <a:t>&lt;/style&gt;</a:t>
            </a:r>
          </a:p>
          <a:p>
            <a:r>
              <a:rPr lang="en-US" sz="2000"/>
              <a:t>&lt;body&gt;</a:t>
            </a:r>
          </a:p>
          <a:p>
            <a:r>
              <a:rPr lang="en-US" sz="2000"/>
              <a:t>&lt;p&gt;</a:t>
            </a:r>
            <a:r>
              <a:rPr lang="en-US" sz="2000" b="1">
                <a:solidFill>
                  <a:srgbClr val="FF0000"/>
                </a:solidFill>
              </a:rPr>
              <a:t>happily grey </a:t>
            </a:r>
            <a:r>
              <a:rPr lang="en-US" sz="2000"/>
              <a:t>&lt;</a:t>
            </a:r>
            <a:r>
              <a:rPr lang="en-US" sz="2000" err="1"/>
              <a:t>em</a:t>
            </a:r>
            <a:r>
              <a:rPr lang="en-US" sz="2000"/>
              <a:t>&gt;</a:t>
            </a:r>
            <a:r>
              <a:rPr lang="en-US" sz="2000" b="1" i="1">
                <a:solidFill>
                  <a:srgbClr val="FF0000"/>
                </a:solidFill>
              </a:rPr>
              <a:t>really emphasizing redness</a:t>
            </a:r>
            <a:r>
              <a:rPr lang="en-US" sz="2000"/>
              <a:t>&lt;/</a:t>
            </a:r>
            <a:r>
              <a:rPr lang="en-US" sz="2000" err="1"/>
              <a:t>em</a:t>
            </a:r>
            <a:r>
              <a:rPr lang="en-US" sz="2000"/>
              <a:t>&gt;&lt;/p&gt;</a:t>
            </a:r>
          </a:p>
          <a:p>
            <a:r>
              <a:rPr lang="en-US" sz="2000"/>
              <a:t>&lt;/body&gt;</a:t>
            </a:r>
          </a:p>
        </p:txBody>
      </p:sp>
    </p:spTree>
    <p:extLst>
      <p:ext uri="{BB962C8B-B14F-4D97-AF65-F5344CB8AC3E}">
        <p14:creationId xmlns:p14="http://schemas.microsoft.com/office/powerpoint/2010/main" val="2415511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06380-9FA3-05E9-0557-90F16B904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5CF78-0F48-F8AF-5A01-8DF6926733B1}"/>
              </a:ext>
            </a:extLst>
          </p:cNvPr>
          <p:cNvSpPr>
            <a:spLocks noGrp="1"/>
          </p:cNvSpPr>
          <p:nvPr>
            <p:ph type="title"/>
          </p:nvPr>
        </p:nvSpPr>
        <p:spPr/>
        <p:txBody>
          <a:bodyPr/>
          <a:lstStyle/>
          <a:p>
            <a:r>
              <a:rPr lang="en-US"/>
              <a:t>Specificity of Style</a:t>
            </a:r>
          </a:p>
        </p:txBody>
      </p:sp>
      <p:sp>
        <p:nvSpPr>
          <p:cNvPr id="3" name="Content Placeholder 2">
            <a:extLst>
              <a:ext uri="{FF2B5EF4-FFF2-40B4-BE49-F238E27FC236}">
                <a16:creationId xmlns:a16="http://schemas.microsoft.com/office/drawing/2014/main" id="{84AB8C49-CD00-5551-7FC0-EE61E26A48CE}"/>
              </a:ext>
            </a:extLst>
          </p:cNvPr>
          <p:cNvSpPr>
            <a:spLocks noGrp="1"/>
          </p:cNvSpPr>
          <p:nvPr>
            <p:ph idx="1"/>
          </p:nvPr>
        </p:nvSpPr>
        <p:spPr>
          <a:xfrm>
            <a:off x="457200" y="1231639"/>
            <a:ext cx="8229600" cy="5473961"/>
          </a:xfrm>
        </p:spPr>
        <p:txBody>
          <a:bodyPr vert="horz" lIns="91440" tIns="45720" rIns="91440" bIns="45720" rtlCol="0" anchor="t">
            <a:normAutofit fontScale="70000" lnSpcReduction="20000"/>
          </a:bodyPr>
          <a:lstStyle/>
          <a:p>
            <a:r>
              <a:rPr lang="en-US" dirty="0"/>
              <a:t>Sometimes more than one rules apply to the same element</a:t>
            </a:r>
            <a:endParaRPr lang="en-US" dirty="0">
              <a:ea typeface="Calibri"/>
              <a:cs typeface="Calibri"/>
            </a:endParaRPr>
          </a:p>
          <a:p>
            <a:r>
              <a:rPr lang="en-US" dirty="0">
                <a:ea typeface="Calibri"/>
                <a:cs typeface="Calibri"/>
              </a:rPr>
              <a:t>When rules conflict, CSS uses </a:t>
            </a:r>
            <a:r>
              <a:rPr lang="en-US" b="1" dirty="0">
                <a:ea typeface="Calibri"/>
                <a:cs typeface="Calibri"/>
              </a:rPr>
              <a:t>weights to decide which one applies</a:t>
            </a:r>
          </a:p>
          <a:p>
            <a:pPr lvl="1"/>
            <a:r>
              <a:rPr lang="en-US" b="1" dirty="0">
                <a:ea typeface="+mn-lt"/>
                <a:cs typeface="+mn-lt"/>
              </a:rPr>
              <a:t>Adds a specificity weight</a:t>
            </a:r>
          </a:p>
          <a:p>
            <a:r>
              <a:rPr lang="en-US" b="1" dirty="0">
                <a:ea typeface="+mn-lt"/>
                <a:cs typeface="+mn-lt"/>
              </a:rPr>
              <a:t>Specificity order (highest → lowest):</a:t>
            </a:r>
            <a:endParaRPr lang="en-US" b="1" dirty="0">
              <a:ea typeface="Calibri"/>
              <a:cs typeface="Calibri"/>
            </a:endParaRPr>
          </a:p>
          <a:p>
            <a:pPr marL="971550" lvl="1" indent="-514350"/>
            <a:r>
              <a:rPr lang="en-US" b="1" dirty="0">
                <a:ea typeface="+mn-lt"/>
                <a:cs typeface="+mn-lt"/>
              </a:rPr>
              <a:t>ID selectors</a:t>
            </a:r>
            <a:r>
              <a:rPr lang="en-US" dirty="0">
                <a:ea typeface="+mn-lt"/>
                <a:cs typeface="+mn-lt"/>
              </a:rPr>
              <a:t> </a:t>
            </a:r>
            <a:br>
              <a:rPr lang="en-US" dirty="0">
                <a:ea typeface="+mn-lt"/>
                <a:cs typeface="+mn-lt"/>
              </a:rPr>
            </a:br>
            <a:r>
              <a:rPr lang="en-US" dirty="0">
                <a:latin typeface="Consolas"/>
                <a:ea typeface="+mn-lt"/>
                <a:cs typeface="+mn-lt"/>
              </a:rPr>
              <a:t>#</a:t>
            </a:r>
            <a:r>
              <a:rPr lang="en-US" dirty="0">
                <a:latin typeface="Consolas"/>
              </a:rPr>
              <a:t>header</a:t>
            </a:r>
            <a:endParaRPr lang="en-US" dirty="0">
              <a:ea typeface="Calibri"/>
              <a:cs typeface="Calibri"/>
            </a:endParaRPr>
          </a:p>
          <a:p>
            <a:pPr marL="971550" lvl="1" indent="-514350"/>
            <a:r>
              <a:rPr lang="en-US" b="1" dirty="0">
                <a:ea typeface="+mn-lt"/>
                <a:cs typeface="+mn-lt"/>
              </a:rPr>
              <a:t>Class / attribute / pseudo-class</a:t>
            </a:r>
            <a:r>
              <a:rPr lang="en-US" dirty="0">
                <a:ea typeface="+mn-lt"/>
                <a:cs typeface="+mn-lt"/>
              </a:rPr>
              <a:t> </a:t>
            </a:r>
            <a:br>
              <a:rPr lang="en-US" dirty="0">
                <a:ea typeface="+mn-lt"/>
                <a:cs typeface="+mn-lt"/>
              </a:rPr>
            </a:br>
            <a:r>
              <a:rPr lang="en-US" dirty="0">
                <a:latin typeface="Consolas"/>
                <a:ea typeface="+mn-lt"/>
                <a:cs typeface="+mn-lt"/>
              </a:rPr>
              <a:t>.</a:t>
            </a:r>
            <a:r>
              <a:rPr lang="en-US" dirty="0">
                <a:latin typeface="Consolas"/>
              </a:rPr>
              <a:t>menu</a:t>
            </a:r>
            <a:r>
              <a:rPr lang="en-US" dirty="0">
                <a:ea typeface="+mn-lt"/>
                <a:cs typeface="+mn-lt"/>
              </a:rPr>
              <a:t>, </a:t>
            </a:r>
            <a:r>
              <a:rPr lang="en-US" dirty="0">
                <a:latin typeface="Consolas"/>
              </a:rPr>
              <a:t>[type="text"]</a:t>
            </a:r>
            <a:r>
              <a:rPr lang="en-US" dirty="0">
                <a:ea typeface="+mn-lt"/>
                <a:cs typeface="+mn-lt"/>
              </a:rPr>
              <a:t>, </a:t>
            </a:r>
            <a:r>
              <a:rPr lang="en-US" dirty="0">
                <a:latin typeface="Consolas"/>
              </a:rPr>
              <a:t>:hover</a:t>
            </a:r>
            <a:endParaRPr lang="en-US" dirty="0">
              <a:ea typeface="Calibri"/>
              <a:cs typeface="Calibri"/>
            </a:endParaRPr>
          </a:p>
          <a:p>
            <a:pPr marL="971550" lvl="1" indent="-514350"/>
            <a:r>
              <a:rPr lang="en-US" b="1" dirty="0">
                <a:ea typeface="+mn-lt"/>
                <a:cs typeface="+mn-lt"/>
              </a:rPr>
              <a:t>Element selectors</a:t>
            </a:r>
            <a:r>
              <a:rPr lang="en-US" dirty="0">
                <a:ea typeface="+mn-lt"/>
                <a:cs typeface="+mn-lt"/>
              </a:rPr>
              <a:t> </a:t>
            </a:r>
            <a:br>
              <a:rPr lang="en-US" dirty="0">
                <a:latin typeface="Calibri"/>
                <a:ea typeface="Calibri"/>
                <a:cs typeface="Calibri"/>
              </a:rPr>
            </a:br>
            <a:r>
              <a:rPr lang="en-US" dirty="0">
                <a:latin typeface="Consolas"/>
              </a:rPr>
              <a:t>div</a:t>
            </a:r>
            <a:r>
              <a:rPr lang="en-US" dirty="0">
                <a:ea typeface="+mn-lt"/>
                <a:cs typeface="+mn-lt"/>
              </a:rPr>
              <a:t>, </a:t>
            </a:r>
            <a:r>
              <a:rPr lang="en-US" dirty="0">
                <a:latin typeface="Consolas"/>
              </a:rPr>
              <a:t>p</a:t>
            </a:r>
            <a:r>
              <a:rPr lang="en-US" dirty="0">
                <a:ea typeface="+mn-lt"/>
                <a:cs typeface="+mn-lt"/>
              </a:rPr>
              <a:t>, </a:t>
            </a:r>
            <a:r>
              <a:rPr lang="en-US" dirty="0">
                <a:latin typeface="Consolas"/>
              </a:rPr>
              <a:t>h1</a:t>
            </a:r>
            <a:r>
              <a:rPr lang="en-US" dirty="0">
                <a:ea typeface="+mn-lt"/>
                <a:cs typeface="+mn-lt"/>
              </a:rPr>
              <a:t>, </a:t>
            </a:r>
            <a:r>
              <a:rPr lang="en-US" dirty="0">
                <a:latin typeface="Consolas"/>
              </a:rPr>
              <a:t>::before</a:t>
            </a:r>
            <a:endParaRPr lang="en-US" dirty="0">
              <a:ea typeface="Calibri"/>
              <a:cs typeface="Calibri"/>
            </a:endParaRPr>
          </a:p>
          <a:p>
            <a:pPr marL="971550" lvl="1" indent="-514350"/>
            <a:endParaRPr lang="en-US" dirty="0">
              <a:ea typeface="Calibri"/>
              <a:cs typeface="Calibri"/>
            </a:endParaRPr>
          </a:p>
          <a:p>
            <a:pPr marL="971550" lvl="1" indent="-514350"/>
            <a:endParaRPr lang="en-US" dirty="0">
              <a:ea typeface="Calibri"/>
              <a:cs typeface="Calibri"/>
            </a:endParaRPr>
          </a:p>
          <a:p>
            <a:endParaRPr lang="en-US" b="1" dirty="0">
              <a:ea typeface="Calibri"/>
              <a:cs typeface="Calibri"/>
            </a:endParaRPr>
          </a:p>
          <a:p>
            <a:pPr lvl="1"/>
            <a:endParaRPr lang="en-US">
              <a:ea typeface="Calibri"/>
              <a:cs typeface="Calibri"/>
            </a:endParaRPr>
          </a:p>
          <a:p>
            <a:pPr lvl="1"/>
            <a:endParaRPr lang="en-US">
              <a:ea typeface="Calibri"/>
              <a:cs typeface="Calibri"/>
            </a:endParaRPr>
          </a:p>
          <a:p>
            <a:pPr lvl="1"/>
            <a:endParaRPr lang="en-US" dirty="0">
              <a:ea typeface="Calibri"/>
              <a:cs typeface="Calibri"/>
            </a:endParaRPr>
          </a:p>
          <a:p>
            <a:pPr lvl="1"/>
            <a:endParaRPr lang="en-US" dirty="0">
              <a:ea typeface="Calibri"/>
              <a:cs typeface="Calibri"/>
            </a:endParaRPr>
          </a:p>
          <a:p>
            <a:pPr marL="457200" lvl="1" indent="0">
              <a:buNone/>
            </a:pPr>
            <a:r>
              <a:rPr lang="en-US" dirty="0"/>
              <a:t>Calculator: </a:t>
            </a:r>
            <a:r>
              <a:rPr lang="en-US" dirty="0">
                <a:hlinkClick r:id="rId3"/>
              </a:rPr>
              <a:t>https://specificity.keegan.st/</a:t>
            </a:r>
            <a:r>
              <a:rPr lang="en-US" dirty="0"/>
              <a:t> </a:t>
            </a:r>
            <a:endParaRPr lang="en-US">
              <a:ea typeface="Calibri"/>
              <a:cs typeface="Calibri"/>
            </a:endParaRPr>
          </a:p>
          <a:p>
            <a:endParaRPr lang="en-US"/>
          </a:p>
          <a:p>
            <a:endParaRPr lang="en-US"/>
          </a:p>
        </p:txBody>
      </p:sp>
      <p:sp>
        <p:nvSpPr>
          <p:cNvPr id="4" name="TextBox 3">
            <a:extLst>
              <a:ext uri="{FF2B5EF4-FFF2-40B4-BE49-F238E27FC236}">
                <a16:creationId xmlns:a16="http://schemas.microsoft.com/office/drawing/2014/main" id="{2A724EAA-C675-E518-4078-7F16887B71F2}"/>
              </a:ext>
            </a:extLst>
          </p:cNvPr>
          <p:cNvSpPr txBox="1"/>
          <p:nvPr/>
        </p:nvSpPr>
        <p:spPr>
          <a:xfrm>
            <a:off x="457200" y="4367255"/>
            <a:ext cx="8229600" cy="1938992"/>
          </a:xfrm>
          <a:prstGeom prst="rect">
            <a:avLst/>
          </a:prstGeom>
          <a:solidFill>
            <a:srgbClr val="C6D9F1"/>
          </a:solidFill>
          <a:ln>
            <a:solidFill>
              <a:srgbClr val="4F81BD"/>
            </a:solidFill>
          </a:ln>
        </p:spPr>
        <p:txBody>
          <a:bodyPr wrap="square" lIns="91440" tIns="45720" rIns="91440" bIns="45720" rtlCol="0" anchor="t">
            <a:spAutoFit/>
          </a:bodyPr>
          <a:lstStyle/>
          <a:p>
            <a:r>
              <a:rPr lang="en-US" sz="2400" dirty="0"/>
              <a:t>	h1 {color: red;}					/* specificity = 0,0,1 */</a:t>
            </a:r>
          </a:p>
          <a:p>
            <a:r>
              <a:rPr lang="en-US" sz="2400" dirty="0"/>
              <a:t>	body h1 {color: green;} 			/* specificity = 0,0,2 */</a:t>
            </a:r>
            <a:endParaRPr lang="en-US" sz="2400" dirty="0">
              <a:ea typeface="Calibri"/>
              <a:cs typeface="Calibri"/>
            </a:endParaRPr>
          </a:p>
          <a:p>
            <a:r>
              <a:rPr lang="en-US" sz="2400" dirty="0"/>
              <a:t>	#content h2 {color: silver;}		/* specificity = 1,0,1 */</a:t>
            </a:r>
            <a:endParaRPr lang="en-US" sz="2400" dirty="0">
              <a:ea typeface="Calibri"/>
              <a:cs typeface="Calibri"/>
            </a:endParaRPr>
          </a:p>
          <a:p>
            <a:r>
              <a:rPr lang="en-US" sz="2400" dirty="0"/>
              <a:t>	h2.grape {color: purple;}			/* specificity = 0,1,1 */</a:t>
            </a:r>
            <a:endParaRPr lang="en-US" sz="2400" dirty="0">
              <a:ea typeface="Calibri"/>
              <a:cs typeface="Calibri"/>
            </a:endParaRPr>
          </a:p>
          <a:p>
            <a:r>
              <a:rPr lang="en-US" sz="2400" dirty="0"/>
              <a:t>	h2 {color: silver;}					/* specificity = 0,0,1 */</a:t>
            </a:r>
            <a:endParaRPr lang="en-US" sz="2400" dirty="0">
              <a:ea typeface="Calibri"/>
              <a:cs typeface="Calibri"/>
            </a:endParaRPr>
          </a:p>
        </p:txBody>
      </p:sp>
    </p:spTree>
    <p:extLst>
      <p:ext uri="{BB962C8B-B14F-4D97-AF65-F5344CB8AC3E}">
        <p14:creationId xmlns:p14="http://schemas.microsoft.com/office/powerpoint/2010/main" val="3162373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Cascade of Style</a:t>
            </a:r>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r>
              <a:rPr lang="en-US" dirty="0"/>
              <a:t>However, sometimes there is still a conflict between two or more rules.</a:t>
            </a:r>
            <a:endParaRPr lang="en-US" dirty="0">
              <a:ea typeface="Calibri"/>
              <a:cs typeface="Calibri"/>
            </a:endParaRPr>
          </a:p>
          <a:p>
            <a:pPr lvl="1"/>
            <a:r>
              <a:rPr lang="en-US" dirty="0"/>
              <a:t>i.e. if they all have the same weight</a:t>
            </a:r>
            <a:endParaRPr lang="en-US" dirty="0">
              <a:ea typeface="Calibri"/>
              <a:cs typeface="Calibri"/>
            </a:endParaRPr>
          </a:p>
          <a:p>
            <a:r>
              <a:rPr lang="en-US" dirty="0"/>
              <a:t>CSS is based on a method of causing </a:t>
            </a:r>
            <a:r>
              <a:rPr lang="en-US" b="1" dirty="0"/>
              <a:t>styles to cascade together</a:t>
            </a:r>
            <a:r>
              <a:rPr lang="en-US" dirty="0"/>
              <a:t>, which is made possible by combining inheritance, specificity and order</a:t>
            </a:r>
            <a:endParaRPr lang="en-US" dirty="0">
              <a:ea typeface="Calibri"/>
              <a:cs typeface="Calibri"/>
            </a:endParaRPr>
          </a:p>
          <a:p>
            <a:r>
              <a:rPr lang="en-US" dirty="0"/>
              <a:t>The purpose of “</a:t>
            </a:r>
            <a:r>
              <a:rPr lang="en-US" b="1" dirty="0"/>
              <a:t>cascading</a:t>
            </a:r>
            <a:r>
              <a:rPr lang="en-US" dirty="0"/>
              <a:t>” is to find one winning rule among a set of rules that apply to a given element</a:t>
            </a:r>
            <a:endParaRPr lang="en-US" dirty="0">
              <a:ea typeface="Calibri"/>
              <a:cs typeface="Calibri"/>
            </a:endParaRPr>
          </a:p>
          <a:p>
            <a:r>
              <a:rPr lang="en-US" dirty="0"/>
              <a:t>In essence, </a:t>
            </a:r>
            <a:r>
              <a:rPr lang="en-US" b="1" dirty="0"/>
              <a:t>if two rules have the same specificity, then the one that is defined last in the stylesheet wins</a:t>
            </a:r>
            <a:r>
              <a:rPr lang="en-US" dirty="0"/>
              <a:t>!</a:t>
            </a:r>
            <a:endParaRPr lang="en-US" dirty="0">
              <a:ea typeface="Calibri"/>
              <a:cs typeface="Calibri"/>
            </a:endParaRPr>
          </a:p>
          <a:p>
            <a:endParaRPr lang="en-US"/>
          </a:p>
        </p:txBody>
      </p:sp>
    </p:spTree>
    <p:extLst>
      <p:ext uri="{BB962C8B-B14F-4D97-AF65-F5344CB8AC3E}">
        <p14:creationId xmlns:p14="http://schemas.microsoft.com/office/powerpoint/2010/main" val="789329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descr="2731730394_e52e5803a8_b.jpg"/>
          <p:cNvPicPr>
            <a:picLocks noChangeAspect="1"/>
          </p:cNvPicPr>
          <p:nvPr/>
        </p:nvPicPr>
        <p:blipFill>
          <a:blip r:embed="rId2"/>
          <a:srcRect l="20185" t="17895" b="4881"/>
          <a:stretch>
            <a:fillRect/>
          </a:stretch>
        </p:blipFill>
        <p:spPr>
          <a:xfrm>
            <a:off x="0" y="-38184"/>
            <a:ext cx="9503457" cy="6896184"/>
          </a:xfrm>
          <a:prstGeom prst="rect">
            <a:avLst/>
          </a:prstGeom>
        </p:spPr>
      </p:pic>
      <p:sp>
        <p:nvSpPr>
          <p:cNvPr id="5" name="Title 1"/>
          <p:cNvSpPr txBox="1">
            <a:spLocks/>
          </p:cNvSpPr>
          <p:nvPr/>
        </p:nvSpPr>
        <p:spPr>
          <a:xfrm>
            <a:off x="1752600" y="998538"/>
            <a:ext cx="5562600" cy="1143000"/>
          </a:xfrm>
          <a:prstGeom prst="rect">
            <a:avLst/>
          </a:prstGeom>
          <a:solidFill>
            <a:srgbClr val="DCE6F2">
              <a:alpha val="76000"/>
            </a:srgbClr>
          </a:solidFill>
          <a:ln>
            <a:solidFill>
              <a:schemeClr val="accent1"/>
            </a:solidFill>
          </a:ln>
        </p:spPr>
        <p:txBody>
          <a:bodyPr vert="horz" lIns="91440" tIns="45720" rIns="91440" bIns="45720" rtlCol="0" anchor="ctr">
            <a:norm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a:ln>
                  <a:noFill/>
                </a:ln>
                <a:solidFill>
                  <a:schemeClr val="tx1"/>
                </a:solidFill>
                <a:effectLst/>
                <a:uLnTx/>
                <a:uFillTx/>
                <a:latin typeface="American Typewriter"/>
                <a:ea typeface="+mj-ea"/>
                <a:cs typeface="American Typewriter"/>
              </a:rPr>
              <a:t>The Box Model</a:t>
            </a:r>
          </a:p>
        </p:txBody>
      </p:sp>
    </p:spTree>
    <p:extLst>
      <p:ext uri="{BB962C8B-B14F-4D97-AF65-F5344CB8AC3E}">
        <p14:creationId xmlns:p14="http://schemas.microsoft.com/office/powerpoint/2010/main" val="1615298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Box Model</a:t>
            </a:r>
          </a:p>
        </p:txBody>
      </p:sp>
      <p:pic>
        <p:nvPicPr>
          <p:cNvPr id="4" name="Picture 3" descr="mini-box-model.png"/>
          <p:cNvPicPr>
            <a:picLocks noChangeAspect="1"/>
          </p:cNvPicPr>
          <p:nvPr/>
        </p:nvPicPr>
        <p:blipFill>
          <a:blip r:embed="rId3"/>
          <a:stretch>
            <a:fillRect/>
          </a:stretch>
        </p:blipFill>
        <p:spPr>
          <a:xfrm>
            <a:off x="1524000" y="1417639"/>
            <a:ext cx="6248400" cy="3687761"/>
          </a:xfrm>
          <a:prstGeom prst="rect">
            <a:avLst/>
          </a:prstGeom>
        </p:spPr>
      </p:pic>
      <p:sp>
        <p:nvSpPr>
          <p:cNvPr id="5" name="TextBox 4"/>
          <p:cNvSpPr txBox="1"/>
          <p:nvPr/>
        </p:nvSpPr>
        <p:spPr>
          <a:xfrm>
            <a:off x="228600" y="5334000"/>
            <a:ext cx="8458200" cy="1200328"/>
          </a:xfrm>
          <a:prstGeom prst="rect">
            <a:avLst/>
          </a:prstGeom>
          <a:noFill/>
        </p:spPr>
        <p:txBody>
          <a:bodyPr wrap="square" rtlCol="0">
            <a:spAutoFit/>
          </a:bodyPr>
          <a:lstStyle/>
          <a:p>
            <a:pPr algn="ctr"/>
            <a:r>
              <a:rPr lang="en-US" sz="2400"/>
              <a:t>Every element generates one or more rectangular </a:t>
            </a:r>
            <a:r>
              <a:rPr lang="en-US" sz="2400" b="1"/>
              <a:t>element boxes </a:t>
            </a:r>
            <a:r>
              <a:rPr lang="en-US" sz="2400"/>
              <a:t> which houses the content. The element box is surrounded by optional amounts of </a:t>
            </a:r>
            <a:r>
              <a:rPr lang="en-US" sz="2400" b="1"/>
              <a:t>padding</a:t>
            </a:r>
            <a:r>
              <a:rPr lang="en-US" sz="2400"/>
              <a:t>, </a:t>
            </a:r>
            <a:r>
              <a:rPr lang="en-US" sz="2400" b="1"/>
              <a:t>borders</a:t>
            </a:r>
            <a:r>
              <a:rPr lang="en-US" sz="2400"/>
              <a:t>, and </a:t>
            </a:r>
            <a:r>
              <a:rPr lang="en-US" sz="2400" b="1"/>
              <a:t>margins</a:t>
            </a:r>
            <a:r>
              <a:rPr lang="en-US" sz="2400"/>
              <a:t>.</a:t>
            </a:r>
            <a:endParaRPr lang="en-US" sz="2400" b="1"/>
          </a:p>
        </p:txBody>
      </p:sp>
    </p:spTree>
    <p:extLst>
      <p:ext uri="{BB962C8B-B14F-4D97-AF65-F5344CB8AC3E}">
        <p14:creationId xmlns:p14="http://schemas.microsoft.com/office/powerpoint/2010/main" val="3990591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Box Model Properties</a:t>
            </a:r>
          </a:p>
        </p:txBody>
      </p:sp>
      <p:pic>
        <p:nvPicPr>
          <p:cNvPr id="5" name="Content Placeholder 4" descr="box-model.png"/>
          <p:cNvPicPr>
            <a:picLocks noGrp="1" noChangeAspect="1"/>
          </p:cNvPicPr>
          <p:nvPr>
            <p:ph idx="1"/>
          </p:nvPr>
        </p:nvPicPr>
        <p:blipFill>
          <a:blip r:embed="rId2"/>
          <a:srcRect t="-2073" b="-2073"/>
          <a:stretch>
            <a:fillRect/>
          </a:stretch>
        </p:blipFill>
        <p:spPr/>
      </p:pic>
    </p:spTree>
    <p:extLst>
      <p:ext uri="{BB962C8B-B14F-4D97-AF65-F5344CB8AC3E}">
        <p14:creationId xmlns:p14="http://schemas.microsoft.com/office/powerpoint/2010/main" val="59322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rot="210347">
            <a:off x="2056421" y="-122762"/>
            <a:ext cx="2974857" cy="1911237"/>
          </a:xfrm>
          <a:solidFill>
            <a:schemeClr val="tx1"/>
          </a:solidFill>
        </p:spPr>
        <p:txBody>
          <a:bodyPr/>
          <a:lstStyle/>
          <a:p>
            <a:r>
              <a:rPr lang="en-US">
                <a:solidFill>
                  <a:schemeClr val="bg1"/>
                </a:solidFill>
              </a:rPr>
              <a:t>Page Layout</a:t>
            </a:r>
          </a:p>
        </p:txBody>
      </p:sp>
    </p:spTree>
    <p:extLst>
      <p:ext uri="{BB962C8B-B14F-4D97-AF65-F5344CB8AC3E}">
        <p14:creationId xmlns:p14="http://schemas.microsoft.com/office/powerpoint/2010/main" val="38446345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Layout</a:t>
            </a:r>
          </a:p>
        </p:txBody>
      </p:sp>
      <p:sp>
        <p:nvSpPr>
          <p:cNvPr id="3" name="Content Placeholder 2"/>
          <p:cNvSpPr>
            <a:spLocks noGrp="1"/>
          </p:cNvSpPr>
          <p:nvPr>
            <p:ph idx="1"/>
          </p:nvPr>
        </p:nvSpPr>
        <p:spPr/>
        <p:txBody>
          <a:bodyPr>
            <a:normAutofit fontScale="85000" lnSpcReduction="20000"/>
          </a:bodyPr>
          <a:lstStyle/>
          <a:p>
            <a:r>
              <a:rPr lang="en-US"/>
              <a:t>Layout of major elements on a webpage (e.g. columns, navigation bars, sidebars, headers and footers) can be specified using CSS</a:t>
            </a:r>
          </a:p>
          <a:p>
            <a:r>
              <a:rPr lang="en-US"/>
              <a:t>In bygone days, tables were heavily used for layout</a:t>
            </a:r>
          </a:p>
          <a:p>
            <a:pPr lvl="1"/>
            <a:r>
              <a:rPr lang="en-US"/>
              <a:t>simple to use for simple tasks</a:t>
            </a:r>
          </a:p>
          <a:p>
            <a:pPr lvl="1"/>
            <a:r>
              <a:rPr lang="en-US"/>
              <a:t>painful for complex layout</a:t>
            </a:r>
          </a:p>
          <a:p>
            <a:pPr lvl="1"/>
            <a:r>
              <a:rPr lang="en-US"/>
              <a:t>tables are meant for content, not layout</a:t>
            </a:r>
          </a:p>
          <a:p>
            <a:pPr lvl="1"/>
            <a:r>
              <a:rPr lang="en-US"/>
              <a:t>not accessible for impaired users</a:t>
            </a:r>
          </a:p>
          <a:p>
            <a:r>
              <a:rPr lang="en-US"/>
              <a:t>The preferred solution is to divide a page into a collection of &lt;div&gt; (division/section) elements</a:t>
            </a:r>
          </a:p>
          <a:p>
            <a:pPr lvl="1"/>
            <a:r>
              <a:rPr lang="en-US" b="1">
                <a:solidFill>
                  <a:srgbClr val="000000"/>
                </a:solidFill>
              </a:rPr>
              <a:t>&lt;div id=“header”&gt; … &lt;/div&gt;</a:t>
            </a:r>
          </a:p>
          <a:p>
            <a:pPr lvl="1"/>
            <a:r>
              <a:rPr lang="en-US">
                <a:solidFill>
                  <a:srgbClr val="000000"/>
                </a:solidFill>
              </a:rPr>
              <a:t>&lt;div id=“sidebar”&gt; … &lt;/div&gt;</a:t>
            </a:r>
          </a:p>
        </p:txBody>
      </p:sp>
    </p:spTree>
    <p:extLst>
      <p:ext uri="{BB962C8B-B14F-4D97-AF65-F5344CB8AC3E}">
        <p14:creationId xmlns:p14="http://schemas.microsoft.com/office/powerpoint/2010/main" val="3818570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Floating</a:t>
            </a:r>
          </a:p>
        </p:txBody>
      </p:sp>
      <p:sp>
        <p:nvSpPr>
          <p:cNvPr id="5" name="Rectangle 4"/>
          <p:cNvSpPr/>
          <p:nvPr/>
        </p:nvSpPr>
        <p:spPr>
          <a:xfrm>
            <a:off x="4283968" y="1268760"/>
            <a:ext cx="4572000" cy="3785652"/>
          </a:xfrm>
          <a:prstGeom prst="rect">
            <a:avLst/>
          </a:prstGeom>
          <a:solidFill>
            <a:schemeClr val="tx2">
              <a:lumMod val="20000"/>
              <a:lumOff val="80000"/>
            </a:schemeClr>
          </a:solidFill>
          <a:ln>
            <a:solidFill>
              <a:srgbClr val="4F81BD"/>
            </a:solidFill>
          </a:ln>
        </p:spPr>
        <p:txBody>
          <a:bodyPr>
            <a:spAutoFit/>
          </a:bodyPr>
          <a:lstStyle/>
          <a:p>
            <a:r>
              <a:rPr lang="en-US" sz="1600" b="1"/>
              <a:t>&lt;head&gt;&lt;style type="text/</a:t>
            </a:r>
            <a:r>
              <a:rPr lang="en-US" sz="1600" b="1" err="1"/>
              <a:t>css</a:t>
            </a:r>
            <a:r>
              <a:rPr lang="en-US" sz="1600" b="1"/>
              <a:t>" media="screen"&gt;</a:t>
            </a:r>
          </a:p>
          <a:p>
            <a:r>
              <a:rPr lang="en-US" sz="1600" b="1"/>
              <a:t>	.thumbnail {</a:t>
            </a:r>
          </a:p>
          <a:p>
            <a:r>
              <a:rPr lang="en-US" sz="1600" b="1"/>
              <a:t>		</a:t>
            </a:r>
            <a:r>
              <a:rPr lang="en-US" sz="1600" b="1" err="1"/>
              <a:t>float:left</a:t>
            </a:r>
            <a:r>
              <a:rPr lang="en-US" sz="1600" b="1"/>
              <a:t>;</a:t>
            </a:r>
          </a:p>
          <a:p>
            <a:r>
              <a:rPr lang="en-US" sz="1600" b="1"/>
              <a:t>		width:110px;</a:t>
            </a:r>
          </a:p>
          <a:p>
            <a:r>
              <a:rPr lang="en-US" sz="1600" b="1"/>
              <a:t>		height:90px;</a:t>
            </a:r>
          </a:p>
          <a:p>
            <a:r>
              <a:rPr lang="en-US" sz="1600" b="1"/>
              <a:t>		margin:5px;	}  </a:t>
            </a:r>
          </a:p>
          <a:p>
            <a:r>
              <a:rPr lang="en-US" sz="1600" b="1"/>
              <a:t>  &lt;/style&gt; &lt;/head&gt;</a:t>
            </a:r>
          </a:p>
          <a:p>
            <a:endParaRPr lang="en-US" sz="1600" b="1"/>
          </a:p>
          <a:p>
            <a:r>
              <a:rPr lang="en-US" sz="1600" b="1"/>
              <a:t>&lt;body&gt;</a:t>
            </a:r>
          </a:p>
          <a:p>
            <a:endParaRPr lang="en-US" sz="1600" b="1"/>
          </a:p>
          <a:p>
            <a:r>
              <a:rPr lang="en-US" sz="1600" b="1"/>
              <a:t>&lt;</a:t>
            </a:r>
            <a:r>
              <a:rPr lang="en-US" sz="1600" b="1" err="1"/>
              <a:t>img</a:t>
            </a:r>
            <a:r>
              <a:rPr lang="en-US" sz="1600" b="1"/>
              <a:t> class="thumbnail" </a:t>
            </a:r>
            <a:r>
              <a:rPr lang="en-US" sz="1600" b="1" err="1"/>
              <a:t>src</a:t>
            </a:r>
            <a:r>
              <a:rPr lang="en-US" sz="1600" b="1"/>
              <a:t>="</a:t>
            </a:r>
            <a:r>
              <a:rPr lang="en-US" sz="1600" b="1" err="1"/>
              <a:t>klematis_small.jpg</a:t>
            </a:r>
            <a:r>
              <a:rPr lang="en-US" sz="1600" b="1"/>
              <a:t>”&gt;</a:t>
            </a:r>
          </a:p>
          <a:p>
            <a:r>
              <a:rPr lang="en-US" sz="1600" b="1"/>
              <a:t>&lt;</a:t>
            </a:r>
            <a:r>
              <a:rPr lang="en-US" sz="1600" b="1" err="1"/>
              <a:t>img</a:t>
            </a:r>
            <a:r>
              <a:rPr lang="en-US" sz="1600" b="1"/>
              <a:t> class="thumbnail" </a:t>
            </a:r>
            <a:r>
              <a:rPr lang="en-US" sz="1600" b="1" err="1"/>
              <a:t>src</a:t>
            </a:r>
            <a:r>
              <a:rPr lang="en-US" sz="1600" b="1"/>
              <a:t>="klematis2_small.jpg”&gt;</a:t>
            </a:r>
          </a:p>
          <a:p>
            <a:r>
              <a:rPr lang="en-US" sz="1600" b="1"/>
              <a:t>&lt;</a:t>
            </a:r>
            <a:r>
              <a:rPr lang="en-US" sz="1600" b="1" err="1"/>
              <a:t>img</a:t>
            </a:r>
            <a:r>
              <a:rPr lang="en-US" sz="1600" b="1"/>
              <a:t> class="thumbnail" </a:t>
            </a:r>
            <a:r>
              <a:rPr lang="en-US" sz="1600" b="1" err="1"/>
              <a:t>src</a:t>
            </a:r>
            <a:r>
              <a:rPr lang="en-US" sz="1600" b="1"/>
              <a:t>="klematis3_small.jpg"&gt;</a:t>
            </a:r>
          </a:p>
          <a:p>
            <a:endParaRPr lang="en-US" sz="1600" b="1"/>
          </a:p>
          <a:p>
            <a:r>
              <a:rPr lang="en-US" sz="1600" b="1"/>
              <a:t>&lt;/body&gt;</a:t>
            </a:r>
          </a:p>
        </p:txBody>
      </p:sp>
      <p:sp>
        <p:nvSpPr>
          <p:cNvPr id="7" name="TextBox 6"/>
          <p:cNvSpPr txBox="1"/>
          <p:nvPr/>
        </p:nvSpPr>
        <p:spPr>
          <a:xfrm>
            <a:off x="457200" y="1268760"/>
            <a:ext cx="3200400" cy="5262979"/>
          </a:xfrm>
          <a:prstGeom prst="rect">
            <a:avLst/>
          </a:prstGeom>
          <a:noFill/>
        </p:spPr>
        <p:txBody>
          <a:bodyPr wrap="square" rtlCol="0">
            <a:spAutoFit/>
          </a:bodyPr>
          <a:lstStyle/>
          <a:p>
            <a:r>
              <a:rPr lang="en-US" sz="2400"/>
              <a:t>CSS floating properties allow you to </a:t>
            </a:r>
            <a:r>
              <a:rPr lang="en-US" sz="2400" b="1">
                <a:solidFill>
                  <a:srgbClr val="008000"/>
                </a:solidFill>
              </a:rPr>
              <a:t>float</a:t>
            </a:r>
            <a:r>
              <a:rPr lang="en-US" sz="2400"/>
              <a:t> elements horizontally.</a:t>
            </a:r>
          </a:p>
          <a:p>
            <a:endParaRPr lang="en-US" sz="2400"/>
          </a:p>
          <a:p>
            <a:r>
              <a:rPr lang="en-US" sz="2400"/>
              <a:t>Elements can be floated: </a:t>
            </a:r>
            <a:r>
              <a:rPr lang="en-US" sz="2400" b="1">
                <a:solidFill>
                  <a:srgbClr val="008000"/>
                </a:solidFill>
              </a:rPr>
              <a:t>left</a:t>
            </a:r>
            <a:r>
              <a:rPr lang="en-US" sz="2400"/>
              <a:t> and </a:t>
            </a:r>
            <a:r>
              <a:rPr lang="en-US" sz="2400" b="1">
                <a:solidFill>
                  <a:srgbClr val="008000"/>
                </a:solidFill>
              </a:rPr>
              <a:t>right</a:t>
            </a:r>
            <a:r>
              <a:rPr lang="en-US" sz="2400"/>
              <a:t>, but not up and down!</a:t>
            </a:r>
          </a:p>
          <a:p>
            <a:endParaRPr lang="en-US" sz="2400"/>
          </a:p>
          <a:p>
            <a:r>
              <a:rPr lang="en-US" sz="2400"/>
              <a:t>Elements after the floating element will flow around. So if screen size changes elements will move down.</a:t>
            </a:r>
          </a:p>
        </p:txBody>
      </p:sp>
      <p:pic>
        <p:nvPicPr>
          <p:cNvPr id="4" name="Picture 3" descr="klematis_small.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3935" y="5279992"/>
            <a:ext cx="1430193" cy="1117758"/>
          </a:xfrm>
          <a:prstGeom prst="rect">
            <a:avLst/>
          </a:prstGeom>
        </p:spPr>
      </p:pic>
      <p:pic>
        <p:nvPicPr>
          <p:cNvPr id="8" name="Picture 7" descr="klematis2_small.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6136" y="5267157"/>
            <a:ext cx="1512168" cy="1130593"/>
          </a:xfrm>
          <a:prstGeom prst="rect">
            <a:avLst/>
          </a:prstGeom>
        </p:spPr>
      </p:pic>
      <p:pic>
        <p:nvPicPr>
          <p:cNvPr id="9" name="Picture 8" descr="klematis3_small.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0312" y="5279992"/>
            <a:ext cx="1414272" cy="1097280"/>
          </a:xfrm>
          <a:prstGeom prst="rect">
            <a:avLst/>
          </a:prstGeom>
        </p:spPr>
      </p:pic>
    </p:spTree>
    <p:extLst>
      <p:ext uri="{BB962C8B-B14F-4D97-AF65-F5344CB8AC3E}">
        <p14:creationId xmlns:p14="http://schemas.microsoft.com/office/powerpoint/2010/main" val="13488133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Positioning</a:t>
            </a:r>
          </a:p>
        </p:txBody>
      </p:sp>
      <p:sp>
        <p:nvSpPr>
          <p:cNvPr id="5" name="Rectangle 4"/>
          <p:cNvSpPr/>
          <p:nvPr/>
        </p:nvSpPr>
        <p:spPr>
          <a:xfrm>
            <a:off x="4355976" y="1417638"/>
            <a:ext cx="4572000" cy="5016759"/>
          </a:xfrm>
          <a:prstGeom prst="rect">
            <a:avLst/>
          </a:prstGeom>
          <a:solidFill>
            <a:schemeClr val="tx2">
              <a:lumMod val="20000"/>
              <a:lumOff val="80000"/>
            </a:schemeClr>
          </a:solidFill>
          <a:ln>
            <a:solidFill>
              <a:srgbClr val="4F81BD"/>
            </a:solidFill>
          </a:ln>
        </p:spPr>
        <p:txBody>
          <a:bodyPr>
            <a:spAutoFit/>
          </a:bodyPr>
          <a:lstStyle/>
          <a:p>
            <a:r>
              <a:rPr lang="en-US" sz="1600" b="1"/>
              <a:t>&lt;style type="text/</a:t>
            </a:r>
            <a:r>
              <a:rPr lang="en-US" sz="1600" b="1" err="1"/>
              <a:t>css</a:t>
            </a:r>
            <a:r>
              <a:rPr lang="en-US" sz="1600" b="1"/>
              <a:t>" media="screen"&gt;</a:t>
            </a:r>
          </a:p>
          <a:p>
            <a:r>
              <a:rPr lang="en-US" sz="1600" b="1"/>
              <a:t>    	div { 	</a:t>
            </a:r>
          </a:p>
          <a:p>
            <a:r>
              <a:rPr lang="en-US" sz="1600" b="1"/>
              <a:t>		border: 1px solid #999;</a:t>
            </a:r>
          </a:p>
          <a:p>
            <a:r>
              <a:rPr lang="en-US" sz="1600" b="1"/>
              <a:t>          	margin: 20px;	}</a:t>
            </a:r>
          </a:p>
          <a:p>
            <a:endParaRPr lang="en-US" sz="1600" b="1"/>
          </a:p>
          <a:p>
            <a:r>
              <a:rPr lang="en-US" sz="1600" b="1"/>
              <a:t>	</a:t>
            </a:r>
            <a:r>
              <a:rPr lang="en-US" sz="1600" b="1" err="1"/>
              <a:t>div.fixed</a:t>
            </a:r>
            <a:r>
              <a:rPr lang="en-US" sz="1600" b="1"/>
              <a:t> { </a:t>
            </a:r>
          </a:p>
          <a:p>
            <a:r>
              <a:rPr lang="en-US" sz="1600" b="1"/>
              <a:t>		</a:t>
            </a:r>
            <a:r>
              <a:rPr lang="en-US" sz="1600" b="1">
                <a:solidFill>
                  <a:srgbClr val="008000"/>
                </a:solidFill>
              </a:rPr>
              <a:t>position: fixed;</a:t>
            </a:r>
          </a:p>
          <a:p>
            <a:r>
              <a:rPr lang="en-US" sz="1600" b="1">
                <a:solidFill>
                  <a:srgbClr val="008000"/>
                </a:solidFill>
              </a:rPr>
              <a:t>	          top: 30px;</a:t>
            </a:r>
          </a:p>
          <a:p>
            <a:r>
              <a:rPr lang="en-US" sz="1600" b="1">
                <a:solidFill>
                  <a:srgbClr val="008000"/>
                </a:solidFill>
              </a:rPr>
              <a:t>		right: 5px</a:t>
            </a:r>
            <a:r>
              <a:rPr lang="en-US" sz="1600" b="1"/>
              <a:t>; 		}</a:t>
            </a:r>
          </a:p>
          <a:p>
            <a:endParaRPr lang="en-US" sz="1600" b="1"/>
          </a:p>
          <a:p>
            <a:r>
              <a:rPr lang="en-US" sz="1600" b="1"/>
              <a:t>	</a:t>
            </a:r>
            <a:r>
              <a:rPr lang="en-US" sz="1600" b="1" err="1"/>
              <a:t>div.Relative</a:t>
            </a:r>
            <a:r>
              <a:rPr lang="en-US" sz="1600" b="1"/>
              <a:t> { </a:t>
            </a:r>
          </a:p>
          <a:p>
            <a:r>
              <a:rPr lang="en-US" sz="1600" b="1"/>
              <a:t>		</a:t>
            </a:r>
            <a:r>
              <a:rPr lang="en-US" sz="1600" b="1">
                <a:solidFill>
                  <a:srgbClr val="008000"/>
                </a:solidFill>
              </a:rPr>
              <a:t>position: relative; </a:t>
            </a:r>
          </a:p>
          <a:p>
            <a:r>
              <a:rPr lang="en-US" sz="1600" b="1">
                <a:solidFill>
                  <a:srgbClr val="008000"/>
                </a:solidFill>
              </a:rPr>
              <a:t>		top: -50px;</a:t>
            </a:r>
            <a:r>
              <a:rPr lang="en-US" sz="1600" b="1"/>
              <a:t>	}</a:t>
            </a:r>
          </a:p>
          <a:p>
            <a:endParaRPr lang="en-US" sz="1600" b="1"/>
          </a:p>
          <a:p>
            <a:r>
              <a:rPr lang="en-US" sz="1600" b="1"/>
              <a:t>	</a:t>
            </a:r>
            <a:r>
              <a:rPr lang="en-US" sz="1600" b="1" err="1"/>
              <a:t>div.Absolute</a:t>
            </a:r>
            <a:r>
              <a:rPr lang="en-US" sz="1600" b="1"/>
              <a:t> { </a:t>
            </a:r>
          </a:p>
          <a:p>
            <a:r>
              <a:rPr lang="en-US" sz="1600" b="1"/>
              <a:t>		</a:t>
            </a:r>
            <a:r>
              <a:rPr lang="en-US" sz="1600" b="1">
                <a:solidFill>
                  <a:srgbClr val="008000"/>
                </a:solidFill>
              </a:rPr>
              <a:t>position: absolute;</a:t>
            </a:r>
          </a:p>
          <a:p>
            <a:r>
              <a:rPr lang="en-US" sz="1600" b="1">
                <a:solidFill>
                  <a:srgbClr val="008000"/>
                </a:solidFill>
              </a:rPr>
              <a:t>		left: 100px;</a:t>
            </a:r>
          </a:p>
          <a:p>
            <a:r>
              <a:rPr lang="en-US" sz="1600" b="1">
                <a:solidFill>
                  <a:srgbClr val="008000"/>
                </a:solidFill>
              </a:rPr>
              <a:t>		top: 150px; </a:t>
            </a:r>
            <a:r>
              <a:rPr lang="en-US" sz="1600" b="1"/>
              <a:t>	}</a:t>
            </a:r>
          </a:p>
          <a:p>
            <a:endParaRPr lang="en-US" sz="1600" b="1"/>
          </a:p>
          <a:p>
            <a:r>
              <a:rPr lang="en-US" sz="1600" b="1"/>
              <a:t>  &lt;/style&gt;</a:t>
            </a:r>
          </a:p>
        </p:txBody>
      </p:sp>
      <p:sp>
        <p:nvSpPr>
          <p:cNvPr id="4" name="TextBox 3"/>
          <p:cNvSpPr txBox="1"/>
          <p:nvPr/>
        </p:nvSpPr>
        <p:spPr>
          <a:xfrm>
            <a:off x="457200" y="1418507"/>
            <a:ext cx="3200400" cy="4893647"/>
          </a:xfrm>
          <a:prstGeom prst="rect">
            <a:avLst/>
          </a:prstGeom>
          <a:noFill/>
        </p:spPr>
        <p:txBody>
          <a:bodyPr wrap="square" rtlCol="0">
            <a:spAutoFit/>
          </a:bodyPr>
          <a:lstStyle/>
          <a:p>
            <a:r>
              <a:rPr lang="en-US" sz="2400"/>
              <a:t>CSS positioning properties allow you to </a:t>
            </a:r>
            <a:r>
              <a:rPr lang="en-US" sz="2400" b="1">
                <a:solidFill>
                  <a:srgbClr val="008000"/>
                </a:solidFill>
              </a:rPr>
              <a:t>position</a:t>
            </a:r>
            <a:r>
              <a:rPr lang="en-US" sz="2400"/>
              <a:t> an element.</a:t>
            </a:r>
          </a:p>
          <a:p>
            <a:endParaRPr lang="en-US" sz="2400"/>
          </a:p>
          <a:p>
            <a:r>
              <a:rPr lang="en-US" sz="2400"/>
              <a:t>Elements can be positioned using: </a:t>
            </a:r>
            <a:r>
              <a:rPr lang="en-US" sz="2400" b="1">
                <a:solidFill>
                  <a:srgbClr val="008000"/>
                </a:solidFill>
              </a:rPr>
              <a:t>top</a:t>
            </a:r>
            <a:r>
              <a:rPr lang="en-US" sz="2400"/>
              <a:t>, </a:t>
            </a:r>
            <a:r>
              <a:rPr lang="en-US" sz="2400" b="1">
                <a:solidFill>
                  <a:srgbClr val="008000"/>
                </a:solidFill>
              </a:rPr>
              <a:t>bottom</a:t>
            </a:r>
            <a:r>
              <a:rPr lang="en-US" sz="2400"/>
              <a:t>, </a:t>
            </a:r>
            <a:r>
              <a:rPr lang="en-US" sz="2400" b="1">
                <a:solidFill>
                  <a:srgbClr val="008000"/>
                </a:solidFill>
              </a:rPr>
              <a:t>left</a:t>
            </a:r>
            <a:r>
              <a:rPr lang="en-US" sz="2400"/>
              <a:t> and </a:t>
            </a:r>
            <a:r>
              <a:rPr lang="en-US" sz="2400" b="1">
                <a:solidFill>
                  <a:srgbClr val="008000"/>
                </a:solidFill>
              </a:rPr>
              <a:t>right</a:t>
            </a:r>
            <a:r>
              <a:rPr lang="en-US" sz="2400"/>
              <a:t> properties.</a:t>
            </a:r>
          </a:p>
          <a:p>
            <a:endParaRPr lang="en-US" sz="2400"/>
          </a:p>
          <a:p>
            <a:r>
              <a:rPr lang="en-US" sz="2400"/>
              <a:t>There are four different ways to position: static (default), </a:t>
            </a:r>
            <a:r>
              <a:rPr lang="en-US" sz="2400" b="1">
                <a:solidFill>
                  <a:srgbClr val="008000"/>
                </a:solidFill>
              </a:rPr>
              <a:t>fixed</a:t>
            </a:r>
            <a:r>
              <a:rPr lang="en-US" sz="2400"/>
              <a:t>, </a:t>
            </a:r>
            <a:r>
              <a:rPr lang="en-US" sz="2400" b="1">
                <a:solidFill>
                  <a:srgbClr val="008000"/>
                </a:solidFill>
              </a:rPr>
              <a:t>relative</a:t>
            </a:r>
            <a:r>
              <a:rPr lang="en-US" sz="2400"/>
              <a:t> and </a:t>
            </a:r>
            <a:r>
              <a:rPr lang="en-US" sz="2400" b="1">
                <a:solidFill>
                  <a:srgbClr val="008000"/>
                </a:solidFill>
              </a:rPr>
              <a:t>absolute</a:t>
            </a:r>
            <a:r>
              <a:rPr lang="en-US" sz="2400"/>
              <a:t>.</a:t>
            </a:r>
          </a:p>
        </p:txBody>
      </p:sp>
    </p:spTree>
    <p:extLst>
      <p:ext uri="{BB962C8B-B14F-4D97-AF65-F5344CB8AC3E}">
        <p14:creationId xmlns:p14="http://schemas.microsoft.com/office/powerpoint/2010/main" val="243374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Floating &amp; Positioning</a:t>
            </a:r>
          </a:p>
        </p:txBody>
      </p:sp>
      <p:pic>
        <p:nvPicPr>
          <p:cNvPr id="6" name="Picture 5" descr="Screen shot 2010-02-08 at 23.38.18.png"/>
          <p:cNvPicPr>
            <a:picLocks noChangeAspect="1"/>
          </p:cNvPicPr>
          <p:nvPr/>
        </p:nvPicPr>
        <p:blipFill>
          <a:blip r:embed="rId2"/>
          <a:stretch>
            <a:fillRect/>
          </a:stretch>
        </p:blipFill>
        <p:spPr>
          <a:xfrm>
            <a:off x="-304800" y="1219200"/>
            <a:ext cx="5897317" cy="5126038"/>
          </a:xfrm>
          <a:prstGeom prst="rect">
            <a:avLst/>
          </a:prstGeom>
        </p:spPr>
      </p:pic>
      <p:sp>
        <p:nvSpPr>
          <p:cNvPr id="5" name="Rectangle 4"/>
          <p:cNvSpPr/>
          <p:nvPr/>
        </p:nvSpPr>
        <p:spPr>
          <a:xfrm>
            <a:off x="4114800" y="2559586"/>
            <a:ext cx="4572000" cy="3785652"/>
          </a:xfrm>
          <a:prstGeom prst="rect">
            <a:avLst/>
          </a:prstGeom>
          <a:solidFill>
            <a:schemeClr val="tx2">
              <a:lumMod val="20000"/>
              <a:lumOff val="80000"/>
            </a:schemeClr>
          </a:solidFill>
          <a:ln>
            <a:solidFill>
              <a:srgbClr val="4F81BD"/>
            </a:solidFill>
          </a:ln>
        </p:spPr>
        <p:txBody>
          <a:bodyPr>
            <a:spAutoFit/>
          </a:bodyPr>
          <a:lstStyle/>
          <a:p>
            <a:r>
              <a:rPr lang="en-US" sz="1600" b="1"/>
              <a:t>&lt;head&gt;</a:t>
            </a:r>
          </a:p>
          <a:p>
            <a:r>
              <a:rPr lang="en-US" sz="1600" b="1"/>
              <a:t>  &lt;style type="text/</a:t>
            </a:r>
            <a:r>
              <a:rPr lang="en-US" sz="1600" b="1" err="1"/>
              <a:t>css</a:t>
            </a:r>
            <a:r>
              <a:rPr lang="en-US" sz="1600" b="1"/>
              <a:t>" media="screen"&gt;</a:t>
            </a:r>
          </a:p>
          <a:p>
            <a:r>
              <a:rPr lang="en-US" sz="1600" b="1"/>
              <a:t>    div { </a:t>
            </a:r>
            <a:r>
              <a:rPr lang="en-US" sz="1600" b="1">
                <a:solidFill>
                  <a:srgbClr val="FF0000"/>
                </a:solidFill>
              </a:rPr>
              <a:t>border: 1px solid #999;</a:t>
            </a:r>
          </a:p>
          <a:p>
            <a:r>
              <a:rPr lang="en-US" sz="1600" b="1">
                <a:solidFill>
                  <a:srgbClr val="FF0000"/>
                </a:solidFill>
              </a:rPr>
              <a:t>          margin: 20px;</a:t>
            </a:r>
            <a:r>
              <a:rPr lang="en-US" sz="1600" b="1"/>
              <a:t>}</a:t>
            </a:r>
          </a:p>
          <a:p>
            <a:r>
              <a:rPr lang="en-US" sz="1600" b="1"/>
              <a:t>  &lt;/style&gt;</a:t>
            </a:r>
          </a:p>
          <a:p>
            <a:r>
              <a:rPr lang="en-US" sz="1600" b="1"/>
              <a:t>&lt;/head&gt;</a:t>
            </a:r>
          </a:p>
          <a:p>
            <a:r>
              <a:rPr lang="en-US" sz="1600" b="1"/>
              <a:t>&lt;body&gt;</a:t>
            </a:r>
          </a:p>
          <a:p>
            <a:r>
              <a:rPr lang="en-US" sz="1600" b="1"/>
              <a:t>  &lt;div id="page"&gt;</a:t>
            </a:r>
          </a:p>
          <a:p>
            <a:r>
              <a:rPr lang="en-US" sz="1600" b="1"/>
              <a:t>    &lt;div id="</a:t>
            </a:r>
            <a:r>
              <a:rPr lang="en-US" sz="1600" b="1">
                <a:solidFill>
                  <a:srgbClr val="FF0000"/>
                </a:solidFill>
              </a:rPr>
              <a:t>header</a:t>
            </a:r>
            <a:r>
              <a:rPr lang="en-US" sz="1600" b="1"/>
              <a:t>"&gt; &lt;h1&gt;header&lt;/h1&gt; &lt;/div&gt;</a:t>
            </a:r>
          </a:p>
          <a:p>
            <a:r>
              <a:rPr lang="en-US" sz="1600" b="1"/>
              <a:t>    &lt;div id="</a:t>
            </a:r>
            <a:r>
              <a:rPr lang="en-US" sz="1600" b="1" err="1">
                <a:solidFill>
                  <a:srgbClr val="FF0000"/>
                </a:solidFill>
              </a:rPr>
              <a:t>navbar</a:t>
            </a:r>
            <a:r>
              <a:rPr lang="en-US" sz="1600" b="1"/>
              <a:t>"&gt; &lt;</a:t>
            </a:r>
            <a:r>
              <a:rPr lang="en-US" sz="1600" b="1" err="1"/>
              <a:t>p</a:t>
            </a:r>
            <a:r>
              <a:rPr lang="en-US" sz="1600" b="1"/>
              <a:t>&gt;</a:t>
            </a:r>
            <a:r>
              <a:rPr lang="en-US" sz="1600" b="1" err="1"/>
              <a:t>navbar</a:t>
            </a:r>
            <a:r>
              <a:rPr lang="en-US" sz="1600" b="1"/>
              <a:t>&lt;/</a:t>
            </a:r>
            <a:r>
              <a:rPr lang="en-US" sz="1600" b="1" err="1"/>
              <a:t>p</a:t>
            </a:r>
            <a:r>
              <a:rPr lang="en-US" sz="1600" b="1"/>
              <a:t>&gt; &lt;/div&gt;</a:t>
            </a:r>
          </a:p>
          <a:p>
            <a:r>
              <a:rPr lang="en-US" sz="1600" b="1"/>
              <a:t>    &lt;div id="</a:t>
            </a:r>
            <a:r>
              <a:rPr lang="en-US" sz="1600" b="1">
                <a:solidFill>
                  <a:srgbClr val="FF0000"/>
                </a:solidFill>
              </a:rPr>
              <a:t>content</a:t>
            </a:r>
            <a:r>
              <a:rPr lang="en-US" sz="1600" b="1"/>
              <a:t>"&gt; &lt;</a:t>
            </a:r>
            <a:r>
              <a:rPr lang="en-US" sz="1600" b="1" err="1"/>
              <a:t>p</a:t>
            </a:r>
            <a:r>
              <a:rPr lang="en-US" sz="1600" b="1"/>
              <a:t>&gt;content&lt;/</a:t>
            </a:r>
            <a:r>
              <a:rPr lang="en-US" sz="1600" b="1" err="1"/>
              <a:t>p</a:t>
            </a:r>
            <a:r>
              <a:rPr lang="en-US" sz="1600" b="1"/>
              <a:t>&gt; &lt;/div&gt;</a:t>
            </a:r>
          </a:p>
          <a:p>
            <a:r>
              <a:rPr lang="en-US" sz="1600" b="1"/>
              <a:t>    &lt;div id="</a:t>
            </a:r>
            <a:r>
              <a:rPr lang="en-US" sz="1600" b="1">
                <a:solidFill>
                  <a:srgbClr val="FF0000"/>
                </a:solidFill>
              </a:rPr>
              <a:t>sidebar</a:t>
            </a:r>
            <a:r>
              <a:rPr lang="en-US" sz="1600" b="1"/>
              <a:t>"&gt; &lt;</a:t>
            </a:r>
            <a:r>
              <a:rPr lang="en-US" sz="1600" b="1" err="1"/>
              <a:t>p</a:t>
            </a:r>
            <a:r>
              <a:rPr lang="en-US" sz="1600" b="1"/>
              <a:t>&gt;sidebar&lt;/</a:t>
            </a:r>
            <a:r>
              <a:rPr lang="en-US" sz="1600" b="1" err="1"/>
              <a:t>p</a:t>
            </a:r>
            <a:r>
              <a:rPr lang="en-US" sz="1600" b="1"/>
              <a:t>&gt; &lt;/div&gt;   </a:t>
            </a:r>
          </a:p>
          <a:p>
            <a:r>
              <a:rPr lang="en-US" sz="1600" b="1"/>
              <a:t>    &lt;div id="</a:t>
            </a:r>
            <a:r>
              <a:rPr lang="en-US" sz="1600" b="1">
                <a:solidFill>
                  <a:srgbClr val="FF0000"/>
                </a:solidFill>
              </a:rPr>
              <a:t>footer</a:t>
            </a:r>
            <a:r>
              <a:rPr lang="en-US" sz="1600" b="1"/>
              <a:t>"&gt; &lt;</a:t>
            </a:r>
            <a:r>
              <a:rPr lang="en-US" sz="1600" b="1" err="1"/>
              <a:t>p</a:t>
            </a:r>
            <a:r>
              <a:rPr lang="en-US" sz="1600" b="1"/>
              <a:t>&gt;footer&lt;/</a:t>
            </a:r>
            <a:r>
              <a:rPr lang="en-US" sz="1600" b="1" err="1"/>
              <a:t>p</a:t>
            </a:r>
            <a:r>
              <a:rPr lang="en-US" sz="1600" b="1"/>
              <a:t>&gt; &lt;/div&gt;</a:t>
            </a:r>
          </a:p>
          <a:p>
            <a:r>
              <a:rPr lang="en-US" sz="1600" b="1"/>
              <a:t>  &lt;/div&gt; &lt;!-- end of page --&gt;</a:t>
            </a:r>
          </a:p>
          <a:p>
            <a:r>
              <a:rPr lang="en-US" sz="1600" b="1"/>
              <a:t>&lt;/body&gt;</a:t>
            </a:r>
          </a:p>
        </p:txBody>
      </p:sp>
    </p:spTree>
    <p:extLst>
      <p:ext uri="{BB962C8B-B14F-4D97-AF65-F5344CB8AC3E}">
        <p14:creationId xmlns:p14="http://schemas.microsoft.com/office/powerpoint/2010/main" val="452172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Floating and Positioning</a:t>
            </a:r>
          </a:p>
        </p:txBody>
      </p:sp>
      <p:sp>
        <p:nvSpPr>
          <p:cNvPr id="4" name="Rectangle 3"/>
          <p:cNvSpPr/>
          <p:nvPr/>
        </p:nvSpPr>
        <p:spPr>
          <a:xfrm>
            <a:off x="457200" y="1417638"/>
            <a:ext cx="3276600" cy="3139321"/>
          </a:xfrm>
          <a:prstGeom prst="rect">
            <a:avLst/>
          </a:prstGeom>
          <a:solidFill>
            <a:srgbClr val="C6D9F1"/>
          </a:solidFill>
          <a:ln>
            <a:solidFill>
              <a:srgbClr val="4F81BD"/>
            </a:solidFill>
          </a:ln>
        </p:spPr>
        <p:txBody>
          <a:bodyPr wrap="square">
            <a:spAutoFit/>
          </a:bodyPr>
          <a:lstStyle/>
          <a:p>
            <a:r>
              <a:rPr lang="en-US" b="1">
                <a:solidFill>
                  <a:srgbClr val="FF0000"/>
                </a:solidFill>
              </a:rPr>
              <a:t>#content</a:t>
            </a:r>
            <a:r>
              <a:rPr lang="en-US" b="1"/>
              <a:t> {</a:t>
            </a:r>
          </a:p>
          <a:p>
            <a:r>
              <a:rPr lang="en-US" b="1"/>
              <a:t>       </a:t>
            </a:r>
            <a:r>
              <a:rPr lang="en-US" b="1">
                <a:solidFill>
                  <a:srgbClr val="FF0000"/>
                </a:solidFill>
              </a:rPr>
              <a:t>float: left;</a:t>
            </a:r>
          </a:p>
          <a:p>
            <a:r>
              <a:rPr lang="en-US" b="1"/>
              <a:t>       </a:t>
            </a:r>
            <a:r>
              <a:rPr lang="en-US" b="1">
                <a:solidFill>
                  <a:srgbClr val="FF0000"/>
                </a:solidFill>
              </a:rPr>
              <a:t>width: 67%;</a:t>
            </a:r>
          </a:p>
          <a:p>
            <a:r>
              <a:rPr lang="en-US" b="1"/>
              <a:t>       background: #</a:t>
            </a:r>
            <a:r>
              <a:rPr lang="en-US" b="1" err="1"/>
              <a:t>eee</a:t>
            </a:r>
            <a:r>
              <a:rPr lang="en-US" b="1"/>
              <a:t>;</a:t>
            </a:r>
          </a:p>
          <a:p>
            <a:r>
              <a:rPr lang="en-US" b="1"/>
              <a:t>       margin-top: 0;</a:t>
            </a:r>
          </a:p>
          <a:p>
            <a:r>
              <a:rPr lang="en-US" b="1"/>
              <a:t>       margin-right: 1.67em;</a:t>
            </a:r>
          </a:p>
          <a:p>
            <a:r>
              <a:rPr lang="en-US" b="1"/>
              <a:t>       border-right: 1px solid black;</a:t>
            </a:r>
          </a:p>
          <a:p>
            <a:r>
              <a:rPr lang="en-US" b="1"/>
              <a:t>       padding-top: 0;</a:t>
            </a:r>
          </a:p>
          <a:p>
            <a:r>
              <a:rPr lang="en-US" b="1"/>
              <a:t>       padding-right: 1em;</a:t>
            </a:r>
          </a:p>
          <a:p>
            <a:r>
              <a:rPr lang="en-US" b="1"/>
              <a:t>       padding-bottom: 20px;</a:t>
            </a:r>
          </a:p>
          <a:p>
            <a:r>
              <a:rPr lang="en-US" b="1"/>
              <a:t>    }</a:t>
            </a:r>
          </a:p>
        </p:txBody>
      </p:sp>
      <p:pic>
        <p:nvPicPr>
          <p:cNvPr id="5" name="Picture 4" descr="Screen shot 2010-02-08 at 23.53.42.png"/>
          <p:cNvPicPr>
            <a:picLocks noChangeAspect="1"/>
          </p:cNvPicPr>
          <p:nvPr/>
        </p:nvPicPr>
        <p:blipFill>
          <a:blip r:embed="rId2"/>
          <a:stretch>
            <a:fillRect/>
          </a:stretch>
        </p:blipFill>
        <p:spPr>
          <a:xfrm>
            <a:off x="3456000" y="2015490"/>
            <a:ext cx="5920740" cy="5147310"/>
          </a:xfrm>
          <a:prstGeom prst="rect">
            <a:avLst/>
          </a:prstGeom>
        </p:spPr>
      </p:pic>
    </p:spTree>
    <p:extLst>
      <p:ext uri="{BB962C8B-B14F-4D97-AF65-F5344CB8AC3E}">
        <p14:creationId xmlns:p14="http://schemas.microsoft.com/office/powerpoint/2010/main" val="492301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Floating and Positioning</a:t>
            </a:r>
          </a:p>
        </p:txBody>
      </p:sp>
      <p:pic>
        <p:nvPicPr>
          <p:cNvPr id="4" name="Content Placeholder 3" descr="Screen shot 2010-02-08 at 23.59.10.png"/>
          <p:cNvPicPr>
            <a:picLocks noGrp="1" noChangeAspect="1"/>
          </p:cNvPicPr>
          <p:nvPr>
            <p:ph idx="1"/>
          </p:nvPr>
        </p:nvPicPr>
        <p:blipFill>
          <a:blip r:embed="rId3"/>
          <a:srcRect l="-29039" r="-29039"/>
          <a:stretch>
            <a:fillRect/>
          </a:stretch>
        </p:blipFill>
        <p:spPr>
          <a:xfrm>
            <a:off x="1676400" y="2015490"/>
            <a:ext cx="9359387" cy="5147310"/>
          </a:xfrm>
        </p:spPr>
      </p:pic>
      <p:sp>
        <p:nvSpPr>
          <p:cNvPr id="5" name="TextBox 4"/>
          <p:cNvSpPr txBox="1"/>
          <p:nvPr/>
        </p:nvSpPr>
        <p:spPr>
          <a:xfrm>
            <a:off x="457201" y="1939290"/>
            <a:ext cx="3200400" cy="1569660"/>
          </a:xfrm>
          <a:prstGeom prst="rect">
            <a:avLst/>
          </a:prstGeom>
          <a:noFill/>
        </p:spPr>
        <p:txBody>
          <a:bodyPr wrap="square" rtlCol="0">
            <a:spAutoFit/>
          </a:bodyPr>
          <a:lstStyle/>
          <a:p>
            <a:r>
              <a:rPr lang="en-US" sz="2400"/>
              <a:t>Due to the natural flow </a:t>
            </a:r>
          </a:p>
          <a:p>
            <a:r>
              <a:rPr lang="en-US" sz="2400"/>
              <a:t>layout, the footer block</a:t>
            </a:r>
          </a:p>
          <a:p>
            <a:r>
              <a:rPr lang="en-US" sz="2400"/>
              <a:t>has appeared in the incorrect location.</a:t>
            </a:r>
          </a:p>
        </p:txBody>
      </p:sp>
    </p:spTree>
    <p:extLst>
      <p:ext uri="{BB962C8B-B14F-4D97-AF65-F5344CB8AC3E}">
        <p14:creationId xmlns:p14="http://schemas.microsoft.com/office/powerpoint/2010/main" val="15907129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a:t>Floating and Positioning </a:t>
            </a:r>
          </a:p>
        </p:txBody>
      </p:sp>
      <p:sp>
        <p:nvSpPr>
          <p:cNvPr id="4" name="Rectangle 3"/>
          <p:cNvSpPr/>
          <p:nvPr/>
        </p:nvSpPr>
        <p:spPr>
          <a:xfrm>
            <a:off x="457200" y="1417638"/>
            <a:ext cx="3048000" cy="1754327"/>
          </a:xfrm>
          <a:prstGeom prst="rect">
            <a:avLst/>
          </a:prstGeom>
          <a:solidFill>
            <a:srgbClr val="C6D9F1"/>
          </a:solidFill>
          <a:ln>
            <a:solidFill>
              <a:srgbClr val="4F81BD"/>
            </a:solidFill>
          </a:ln>
        </p:spPr>
        <p:txBody>
          <a:bodyPr wrap="square">
            <a:spAutoFit/>
          </a:bodyPr>
          <a:lstStyle/>
          <a:p>
            <a:r>
              <a:rPr lang="en-US" b="1">
                <a:solidFill>
                  <a:srgbClr val="FF0000"/>
                </a:solidFill>
              </a:rPr>
              <a:t>#footer</a:t>
            </a:r>
            <a:r>
              <a:rPr lang="en-US" b="1"/>
              <a:t> {</a:t>
            </a:r>
          </a:p>
          <a:p>
            <a:r>
              <a:rPr lang="en-US" b="1"/>
              <a:t>     </a:t>
            </a:r>
            <a:r>
              <a:rPr lang="en-US" b="1">
                <a:solidFill>
                  <a:srgbClr val="FF0000"/>
                </a:solidFill>
              </a:rPr>
              <a:t>clear: both;</a:t>
            </a:r>
          </a:p>
          <a:p>
            <a:r>
              <a:rPr lang="en-US" b="1"/>
              <a:t>     padding-bottom: 1em;</a:t>
            </a:r>
          </a:p>
          <a:p>
            <a:r>
              <a:rPr lang="en-US" b="1"/>
              <a:t>     border-top: 1px solid #333;</a:t>
            </a:r>
          </a:p>
          <a:p>
            <a:r>
              <a:rPr lang="en-US" b="1"/>
              <a:t>     text-align: center;</a:t>
            </a:r>
          </a:p>
          <a:p>
            <a:r>
              <a:rPr lang="en-US" b="1"/>
              <a:t>    }</a:t>
            </a:r>
          </a:p>
        </p:txBody>
      </p:sp>
      <p:pic>
        <p:nvPicPr>
          <p:cNvPr id="5" name="Picture 4" descr="Screen shot 2010-02-09 at 00.03.59.png"/>
          <p:cNvPicPr>
            <a:picLocks noChangeAspect="1"/>
          </p:cNvPicPr>
          <p:nvPr/>
        </p:nvPicPr>
        <p:blipFill>
          <a:blip r:embed="rId2"/>
          <a:stretch>
            <a:fillRect/>
          </a:stretch>
        </p:blipFill>
        <p:spPr>
          <a:xfrm>
            <a:off x="3505200" y="953770"/>
            <a:ext cx="5840730" cy="6285230"/>
          </a:xfrm>
          <a:prstGeom prst="rect">
            <a:avLst/>
          </a:prstGeom>
        </p:spPr>
      </p:pic>
    </p:spTree>
    <p:extLst>
      <p:ext uri="{BB962C8B-B14F-4D97-AF65-F5344CB8AC3E}">
        <p14:creationId xmlns:p14="http://schemas.microsoft.com/office/powerpoint/2010/main" val="27470174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4313-35DE-47D0-1976-0FCB8EE96B0D}"/>
              </a:ext>
            </a:extLst>
          </p:cNvPr>
          <p:cNvSpPr>
            <a:spLocks noGrp="1"/>
          </p:cNvSpPr>
          <p:nvPr>
            <p:ph type="title"/>
          </p:nvPr>
        </p:nvSpPr>
        <p:spPr/>
        <p:txBody>
          <a:bodyPr/>
          <a:lstStyle/>
          <a:p>
            <a:r>
              <a:rPr lang="en-US"/>
              <a:t>New Layouts</a:t>
            </a:r>
          </a:p>
        </p:txBody>
      </p:sp>
      <p:sp>
        <p:nvSpPr>
          <p:cNvPr id="3" name="Content Placeholder 2">
            <a:extLst>
              <a:ext uri="{FF2B5EF4-FFF2-40B4-BE49-F238E27FC236}">
                <a16:creationId xmlns:a16="http://schemas.microsoft.com/office/drawing/2014/main" id="{43FDCE87-A455-6C7E-5505-0934AC3042F6}"/>
              </a:ext>
            </a:extLst>
          </p:cNvPr>
          <p:cNvSpPr>
            <a:spLocks noGrp="1"/>
          </p:cNvSpPr>
          <p:nvPr>
            <p:ph idx="1"/>
          </p:nvPr>
        </p:nvSpPr>
        <p:spPr/>
        <p:txBody>
          <a:bodyPr/>
          <a:lstStyle/>
          <a:p>
            <a:r>
              <a:rPr lang="en-US"/>
              <a:t>Laying out pages with just floats and positioning is incredibly tricky and tedious</a:t>
            </a:r>
          </a:p>
          <a:p>
            <a:r>
              <a:rPr lang="en-US"/>
              <a:t>Newer methods like </a:t>
            </a:r>
            <a:r>
              <a:rPr lang="en-US" u="sng"/>
              <a:t>Flexbox</a:t>
            </a:r>
            <a:r>
              <a:rPr lang="en-US"/>
              <a:t> and </a:t>
            </a:r>
            <a:r>
              <a:rPr lang="en-US" u="sng"/>
              <a:t>Grids</a:t>
            </a:r>
            <a:r>
              <a:rPr lang="en-US"/>
              <a:t> solve some of these issues</a:t>
            </a:r>
          </a:p>
          <a:p>
            <a:r>
              <a:rPr lang="en-US"/>
              <a:t>These newer methods are also </a:t>
            </a:r>
            <a:r>
              <a:rPr lang="en-US" b="1"/>
              <a:t>responsive</a:t>
            </a:r>
            <a:r>
              <a:rPr lang="en-US"/>
              <a:t> so can deal with different screen sizes</a:t>
            </a:r>
          </a:p>
          <a:p>
            <a:endParaRPr lang="en-US" u="sng"/>
          </a:p>
          <a:p>
            <a:endParaRPr lang="en-US" u="sng"/>
          </a:p>
        </p:txBody>
      </p:sp>
    </p:spTree>
    <p:extLst>
      <p:ext uri="{BB962C8B-B14F-4D97-AF65-F5344CB8AC3E}">
        <p14:creationId xmlns:p14="http://schemas.microsoft.com/office/powerpoint/2010/main" val="13486101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 Properties</a:t>
            </a:r>
          </a:p>
        </p:txBody>
      </p:sp>
      <p:sp>
        <p:nvSpPr>
          <p:cNvPr id="3" name="Content Placeholder 2"/>
          <p:cNvSpPr>
            <a:spLocks noGrp="1"/>
          </p:cNvSpPr>
          <p:nvPr>
            <p:ph idx="1"/>
          </p:nvPr>
        </p:nvSpPr>
        <p:spPr>
          <a:xfrm>
            <a:off x="457200" y="1600200"/>
            <a:ext cx="8229600" cy="2440857"/>
          </a:xfrm>
        </p:spPr>
        <p:txBody>
          <a:bodyPr vert="horz" lIns="91440" tIns="45720" rIns="91440" bIns="45720" rtlCol="0" anchor="t">
            <a:normAutofit fontScale="85000" lnSpcReduction="10000"/>
          </a:bodyPr>
          <a:lstStyle/>
          <a:p>
            <a:pPr>
              <a:lnSpc>
                <a:spcPct val="120000"/>
              </a:lnSpc>
            </a:pPr>
            <a:r>
              <a:rPr lang="en-US"/>
              <a:t>The full list of properties can be found: </a:t>
            </a:r>
            <a:r>
              <a:rPr lang="en-US">
                <a:hlinkClick r:id="rId2"/>
              </a:rPr>
              <a:t>https://www.w3.org/TR/CSS/#css</a:t>
            </a:r>
            <a:endParaRPr lang="en-US"/>
          </a:p>
          <a:p>
            <a:pPr>
              <a:lnSpc>
                <a:spcPct val="120000"/>
              </a:lnSpc>
            </a:pPr>
            <a:r>
              <a:rPr lang="en-US"/>
              <a:t>Compact CSS Cheatsheets are useful: </a:t>
            </a:r>
            <a:r>
              <a:rPr lang="en-US">
                <a:hlinkClick r:id="rId3"/>
              </a:rPr>
              <a:t>http://www.lesliefranke.com/files/reference/csscheatsheet.html</a:t>
            </a:r>
            <a:r>
              <a:rPr lang="en-US"/>
              <a:t> </a:t>
            </a:r>
          </a:p>
          <a:p>
            <a:pPr lvl="1">
              <a:lnSpc>
                <a:spcPct val="120000"/>
              </a:lnSpc>
              <a:buNone/>
            </a:pPr>
            <a:endParaRPr lang="en-US"/>
          </a:p>
        </p:txBody>
      </p:sp>
      <p:graphicFrame>
        <p:nvGraphicFramePr>
          <p:cNvPr id="4" name="Table 3"/>
          <p:cNvGraphicFramePr>
            <a:graphicFrameLocks noGrp="1"/>
          </p:cNvGraphicFramePr>
          <p:nvPr/>
        </p:nvGraphicFramePr>
        <p:xfrm>
          <a:off x="762000" y="4267200"/>
          <a:ext cx="7696200" cy="1818746"/>
        </p:xfrm>
        <a:graphic>
          <a:graphicData uri="http://schemas.openxmlformats.org/drawingml/2006/table">
            <a:tbl>
              <a:tblPr firstRow="1" bandRow="1">
                <a:tableStyleId>{D7AC3CCA-C797-4891-BE02-D94E43425B78}</a:tableStyleId>
              </a:tblPr>
              <a:tblGrid>
                <a:gridCol w="1539240">
                  <a:extLst>
                    <a:ext uri="{9D8B030D-6E8A-4147-A177-3AD203B41FA5}">
                      <a16:colId xmlns:a16="http://schemas.microsoft.com/office/drawing/2014/main" val="20000"/>
                    </a:ext>
                  </a:extLst>
                </a:gridCol>
                <a:gridCol w="1539240">
                  <a:extLst>
                    <a:ext uri="{9D8B030D-6E8A-4147-A177-3AD203B41FA5}">
                      <a16:colId xmlns:a16="http://schemas.microsoft.com/office/drawing/2014/main" val="20001"/>
                    </a:ext>
                  </a:extLst>
                </a:gridCol>
                <a:gridCol w="1539240">
                  <a:extLst>
                    <a:ext uri="{9D8B030D-6E8A-4147-A177-3AD203B41FA5}">
                      <a16:colId xmlns:a16="http://schemas.microsoft.com/office/drawing/2014/main" val="20002"/>
                    </a:ext>
                  </a:extLst>
                </a:gridCol>
                <a:gridCol w="1539240">
                  <a:extLst>
                    <a:ext uri="{9D8B030D-6E8A-4147-A177-3AD203B41FA5}">
                      <a16:colId xmlns:a16="http://schemas.microsoft.com/office/drawing/2014/main" val="20003"/>
                    </a:ext>
                  </a:extLst>
                </a:gridCol>
                <a:gridCol w="1539240">
                  <a:extLst>
                    <a:ext uri="{9D8B030D-6E8A-4147-A177-3AD203B41FA5}">
                      <a16:colId xmlns:a16="http://schemas.microsoft.com/office/drawing/2014/main" val="20004"/>
                    </a:ext>
                  </a:extLst>
                </a:gridCol>
              </a:tblGrid>
              <a:tr h="538586">
                <a:tc>
                  <a:txBody>
                    <a:bodyPr/>
                    <a:lstStyle/>
                    <a:p>
                      <a:r>
                        <a:rPr lang="en-US" b="1"/>
                        <a:t>background-color</a:t>
                      </a:r>
                    </a:p>
                  </a:txBody>
                  <a:tcPr/>
                </a:tc>
                <a:tc>
                  <a:txBody>
                    <a:bodyPr/>
                    <a:lstStyle/>
                    <a:p>
                      <a:r>
                        <a:rPr lang="en-US" b="1"/>
                        <a:t>border-width</a:t>
                      </a:r>
                    </a:p>
                  </a:txBody>
                  <a:tcPr/>
                </a:tc>
                <a:tc>
                  <a:txBody>
                    <a:bodyPr/>
                    <a:lstStyle/>
                    <a:p>
                      <a:r>
                        <a:rPr lang="en-US" b="1"/>
                        <a:t>font-family</a:t>
                      </a:r>
                    </a:p>
                  </a:txBody>
                  <a:tcPr/>
                </a:tc>
                <a:tc>
                  <a:txBody>
                    <a:bodyPr/>
                    <a:lstStyle/>
                    <a:p>
                      <a:r>
                        <a:rPr lang="en-US" b="1"/>
                        <a:t>height</a:t>
                      </a:r>
                    </a:p>
                  </a:txBody>
                  <a:tcPr/>
                </a:tc>
                <a:tc>
                  <a:txBody>
                    <a:bodyPr/>
                    <a:lstStyle/>
                    <a:p>
                      <a:r>
                        <a:rPr lang="en-US" b="1"/>
                        <a:t>size</a:t>
                      </a:r>
                    </a:p>
                  </a:txBody>
                  <a:tcPr/>
                </a:tc>
                <a:extLst>
                  <a:ext uri="{0D108BD9-81ED-4DB2-BD59-A6C34878D82A}">
                    <a16:rowId xmlns:a16="http://schemas.microsoft.com/office/drawing/2014/main" val="10000"/>
                  </a:ext>
                </a:extLst>
              </a:tr>
              <a:tr h="538586">
                <a:tc>
                  <a:txBody>
                    <a:bodyPr/>
                    <a:lstStyle/>
                    <a:p>
                      <a:r>
                        <a:rPr lang="en-US" b="1"/>
                        <a:t>text-align</a:t>
                      </a:r>
                    </a:p>
                  </a:txBody>
                  <a:tcPr/>
                </a:tc>
                <a:tc>
                  <a:txBody>
                    <a:bodyPr/>
                    <a:lstStyle/>
                    <a:p>
                      <a:r>
                        <a:rPr lang="en-US" b="1"/>
                        <a:t>width</a:t>
                      </a:r>
                    </a:p>
                  </a:txBody>
                  <a:tcPr/>
                </a:tc>
                <a:tc>
                  <a:txBody>
                    <a:bodyPr/>
                    <a:lstStyle/>
                    <a:p>
                      <a:r>
                        <a:rPr lang="en-US" b="1"/>
                        <a:t>color</a:t>
                      </a:r>
                    </a:p>
                  </a:txBody>
                  <a:tcPr/>
                </a:tc>
                <a:tc>
                  <a:txBody>
                    <a:bodyPr/>
                    <a:lstStyle/>
                    <a:p>
                      <a:r>
                        <a:rPr lang="en-US" b="1"/>
                        <a:t>font-size</a:t>
                      </a:r>
                    </a:p>
                  </a:txBody>
                  <a:tcPr/>
                </a:tc>
                <a:tc>
                  <a:txBody>
                    <a:bodyPr/>
                    <a:lstStyle/>
                    <a:p>
                      <a:r>
                        <a:rPr lang="en-US" b="1"/>
                        <a:t>margin</a:t>
                      </a:r>
                    </a:p>
                  </a:txBody>
                  <a:tcPr/>
                </a:tc>
                <a:extLst>
                  <a:ext uri="{0D108BD9-81ED-4DB2-BD59-A6C34878D82A}">
                    <a16:rowId xmlns:a16="http://schemas.microsoft.com/office/drawing/2014/main" val="10001"/>
                  </a:ext>
                </a:extLst>
              </a:tr>
              <a:tr h="538586">
                <a:tc>
                  <a:txBody>
                    <a:bodyPr/>
                    <a:lstStyle/>
                    <a:p>
                      <a:r>
                        <a:rPr lang="en-US" b="1"/>
                        <a:t>padding</a:t>
                      </a:r>
                    </a:p>
                  </a:txBody>
                  <a:tcPr/>
                </a:tc>
                <a:tc>
                  <a:txBody>
                    <a:bodyPr/>
                    <a:lstStyle/>
                    <a:p>
                      <a:r>
                        <a:rPr lang="en-US" b="1"/>
                        <a:t>list-style</a:t>
                      </a:r>
                    </a:p>
                  </a:txBody>
                  <a:tcPr/>
                </a:tc>
                <a:tc>
                  <a:txBody>
                    <a:bodyPr/>
                    <a:lstStyle/>
                    <a:p>
                      <a:r>
                        <a:rPr lang="en-US" b="1"/>
                        <a:t>position</a:t>
                      </a:r>
                    </a:p>
                  </a:txBody>
                  <a:tcPr/>
                </a:tc>
                <a:tc>
                  <a:txBody>
                    <a:bodyPr/>
                    <a:lstStyle/>
                    <a:p>
                      <a:r>
                        <a:rPr lang="en-US" b="1"/>
                        <a:t>text-decorations</a:t>
                      </a:r>
                    </a:p>
                  </a:txBody>
                  <a:tcPr/>
                </a:tc>
                <a:tc>
                  <a:txBody>
                    <a:bodyPr/>
                    <a:lstStyle/>
                    <a:p>
                      <a:r>
                        <a:rPr lang="en-US" b="1"/>
                        <a:t>~100+ more!</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039642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4957C-2DBD-F34E-0C37-B48BD021FFF6}"/>
              </a:ext>
            </a:extLst>
          </p:cNvPr>
          <p:cNvSpPr>
            <a:spLocks noGrp="1"/>
          </p:cNvSpPr>
          <p:nvPr>
            <p:ph type="title"/>
          </p:nvPr>
        </p:nvSpPr>
        <p:spPr/>
        <p:txBody>
          <a:bodyPr/>
          <a:lstStyle/>
          <a:p>
            <a:r>
              <a:rPr lang="en-US"/>
              <a:t>Web sustainability and CSS</a:t>
            </a:r>
          </a:p>
        </p:txBody>
      </p:sp>
      <p:sp>
        <p:nvSpPr>
          <p:cNvPr id="3" name="Content Placeholder 2">
            <a:extLst>
              <a:ext uri="{FF2B5EF4-FFF2-40B4-BE49-F238E27FC236}">
                <a16:creationId xmlns:a16="http://schemas.microsoft.com/office/drawing/2014/main" id="{00B45409-D5DD-5EA8-B8EE-D567BCED876D}"/>
              </a:ext>
            </a:extLst>
          </p:cNvPr>
          <p:cNvSpPr>
            <a:spLocks noGrp="1"/>
          </p:cNvSpPr>
          <p:nvPr>
            <p:ph idx="1"/>
          </p:nvPr>
        </p:nvSpPr>
        <p:spPr/>
        <p:txBody>
          <a:bodyPr/>
          <a:lstStyle/>
          <a:p>
            <a:r>
              <a:rPr lang="en-US"/>
              <a:t>CSS helps avoid duplication</a:t>
            </a:r>
          </a:p>
          <a:p>
            <a:pPr lvl="1"/>
            <a:r>
              <a:rPr lang="en-US"/>
              <a:t>One CSS class to handle everything</a:t>
            </a:r>
          </a:p>
          <a:p>
            <a:r>
              <a:rPr lang="en-US"/>
              <a:t>CSS helps ease of management and code readability</a:t>
            </a:r>
          </a:p>
          <a:p>
            <a:r>
              <a:rPr lang="en-US"/>
              <a:t>CSS makes it easier to design responsive content for different devices</a:t>
            </a:r>
          </a:p>
        </p:txBody>
      </p:sp>
    </p:spTree>
    <p:extLst>
      <p:ext uri="{BB962C8B-B14F-4D97-AF65-F5344CB8AC3E}">
        <p14:creationId xmlns:p14="http://schemas.microsoft.com/office/powerpoint/2010/main" val="34114956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600E-28FA-BCB1-1E67-71C3A34E7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EBBD6-40EF-F57D-1F0F-E107E453345A}"/>
              </a:ext>
            </a:extLst>
          </p:cNvPr>
          <p:cNvSpPr>
            <a:spLocks noGrp="1"/>
          </p:cNvSpPr>
          <p:nvPr>
            <p:ph type="title"/>
          </p:nvPr>
        </p:nvSpPr>
        <p:spPr/>
        <p:txBody>
          <a:bodyPr/>
          <a:lstStyle/>
          <a:p>
            <a:r>
              <a:rPr lang="en-US"/>
              <a:t>Web sustainability and CSS</a:t>
            </a:r>
          </a:p>
        </p:txBody>
      </p:sp>
      <p:sp>
        <p:nvSpPr>
          <p:cNvPr id="3" name="Content Placeholder 2">
            <a:extLst>
              <a:ext uri="{FF2B5EF4-FFF2-40B4-BE49-F238E27FC236}">
                <a16:creationId xmlns:a16="http://schemas.microsoft.com/office/drawing/2014/main" id="{ABB7C5D6-A3FA-03AE-D4FC-E975BBCCCF95}"/>
              </a:ext>
            </a:extLst>
          </p:cNvPr>
          <p:cNvSpPr>
            <a:spLocks noGrp="1"/>
          </p:cNvSpPr>
          <p:nvPr>
            <p:ph idx="1"/>
          </p:nvPr>
        </p:nvSpPr>
        <p:spPr/>
        <p:txBody>
          <a:bodyPr/>
          <a:lstStyle/>
          <a:p>
            <a:pPr marL="0" indent="0">
              <a:buNone/>
            </a:pPr>
            <a:r>
              <a:rPr lang="en-US" b="1"/>
              <a:t>Guideline #3.6:</a:t>
            </a:r>
            <a:r>
              <a:rPr lang="en-US"/>
              <a:t> Avoid code duplication</a:t>
            </a:r>
          </a:p>
          <a:p>
            <a:pPr marL="0" indent="0">
              <a:buNone/>
            </a:pPr>
            <a:r>
              <a:rPr lang="en-US"/>
              <a:t>	- CSS add more code to your markup, but improve maintainability</a:t>
            </a:r>
          </a:p>
          <a:p>
            <a:pPr marL="0" indent="0">
              <a:buNone/>
            </a:pPr>
            <a:r>
              <a:rPr lang="en-US"/>
              <a:t>	- Repetitive code increases energy  </a:t>
            </a:r>
          </a:p>
        </p:txBody>
      </p:sp>
    </p:spTree>
    <p:extLst>
      <p:ext uri="{BB962C8B-B14F-4D97-AF65-F5344CB8AC3E}">
        <p14:creationId xmlns:p14="http://schemas.microsoft.com/office/powerpoint/2010/main" val="14844155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A167-376F-2165-1E95-8A3465C26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14B2E-9CAA-8588-2FB6-4939CF3FC41D}"/>
              </a:ext>
            </a:extLst>
          </p:cNvPr>
          <p:cNvSpPr>
            <a:spLocks noGrp="1"/>
          </p:cNvSpPr>
          <p:nvPr>
            <p:ph type="title"/>
          </p:nvPr>
        </p:nvSpPr>
        <p:spPr/>
        <p:txBody>
          <a:bodyPr/>
          <a:lstStyle/>
          <a:p>
            <a:r>
              <a:rPr lang="en-US"/>
              <a:t>Web sustainability and CSS</a:t>
            </a:r>
          </a:p>
        </p:txBody>
      </p:sp>
      <p:sp>
        <p:nvSpPr>
          <p:cNvPr id="3" name="Content Placeholder 2">
            <a:extLst>
              <a:ext uri="{FF2B5EF4-FFF2-40B4-BE49-F238E27FC236}">
                <a16:creationId xmlns:a16="http://schemas.microsoft.com/office/drawing/2014/main" id="{787075F9-DD21-345E-C863-3B7E52FE6DAC}"/>
              </a:ext>
            </a:extLst>
          </p:cNvPr>
          <p:cNvSpPr>
            <a:spLocks noGrp="1"/>
          </p:cNvSpPr>
          <p:nvPr>
            <p:ph idx="1"/>
          </p:nvPr>
        </p:nvSpPr>
        <p:spPr/>
        <p:txBody>
          <a:bodyPr/>
          <a:lstStyle/>
          <a:p>
            <a:pPr marL="0" indent="0">
              <a:buNone/>
            </a:pPr>
            <a:r>
              <a:rPr lang="en-US" b="1"/>
              <a:t>Guideline #3.6:</a:t>
            </a:r>
            <a:r>
              <a:rPr lang="en-US"/>
              <a:t> Avoid code duplication</a:t>
            </a:r>
          </a:p>
          <a:p>
            <a:pPr marL="0" indent="0">
              <a:buNone/>
            </a:pPr>
            <a:r>
              <a:rPr lang="en-US"/>
              <a:t>	- CSS add more code to your markup, but improve maintainability</a:t>
            </a:r>
          </a:p>
          <a:p>
            <a:pPr marL="0" indent="0">
              <a:buNone/>
            </a:pPr>
            <a:r>
              <a:rPr lang="en-US"/>
              <a:t>	- Repetitive code increases energy  </a:t>
            </a:r>
          </a:p>
        </p:txBody>
      </p:sp>
    </p:spTree>
    <p:extLst>
      <p:ext uri="{BB962C8B-B14F-4D97-AF65-F5344CB8AC3E}">
        <p14:creationId xmlns:p14="http://schemas.microsoft.com/office/powerpoint/2010/main" val="17157174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A376-16C4-4A4B-0825-78D954130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67B30-34E8-2176-B802-7B188BAB9765}"/>
              </a:ext>
            </a:extLst>
          </p:cNvPr>
          <p:cNvSpPr>
            <a:spLocks noGrp="1"/>
          </p:cNvSpPr>
          <p:nvPr>
            <p:ph type="title"/>
          </p:nvPr>
        </p:nvSpPr>
        <p:spPr/>
        <p:txBody>
          <a:bodyPr/>
          <a:lstStyle/>
          <a:p>
            <a:r>
              <a:rPr lang="en-US"/>
              <a:t>How should I structure my CSS?</a:t>
            </a:r>
          </a:p>
        </p:txBody>
      </p:sp>
      <p:sp>
        <p:nvSpPr>
          <p:cNvPr id="3" name="Content Placeholder 2">
            <a:extLst>
              <a:ext uri="{FF2B5EF4-FFF2-40B4-BE49-F238E27FC236}">
                <a16:creationId xmlns:a16="http://schemas.microsoft.com/office/drawing/2014/main" id="{6B439224-ABD9-C6F8-E9CB-FB95982D8C22}"/>
              </a:ext>
            </a:extLst>
          </p:cNvPr>
          <p:cNvSpPr>
            <a:spLocks noGrp="1"/>
          </p:cNvSpPr>
          <p:nvPr>
            <p:ph idx="1"/>
          </p:nvPr>
        </p:nvSpPr>
        <p:spPr/>
        <p:txBody>
          <a:bodyPr/>
          <a:lstStyle/>
          <a:p>
            <a:r>
              <a:rPr lang="en-US"/>
              <a:t>Write CSS for sections or files</a:t>
            </a:r>
          </a:p>
          <a:p>
            <a:r>
              <a:rPr lang="en-US"/>
              <a:t>Search for duplicate declarations</a:t>
            </a:r>
          </a:p>
          <a:p>
            <a:pPr lvl="1"/>
            <a:r>
              <a:rPr lang="en-US"/>
              <a:t>Check order</a:t>
            </a:r>
          </a:p>
          <a:p>
            <a:pPr lvl="1"/>
            <a:r>
              <a:rPr lang="en-US"/>
              <a:t>Determine which rule should come first</a:t>
            </a:r>
          </a:p>
          <a:p>
            <a:pPr lvl="1"/>
            <a:r>
              <a:rPr lang="en-US"/>
              <a:t>Remove duplicate declarations</a:t>
            </a:r>
          </a:p>
        </p:txBody>
      </p:sp>
    </p:spTree>
    <p:extLst>
      <p:ext uri="{BB962C8B-B14F-4D97-AF65-F5344CB8AC3E}">
        <p14:creationId xmlns:p14="http://schemas.microsoft.com/office/powerpoint/2010/main" val="23194668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81E14-085C-7F73-39D1-26DABA8F0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5E40B-4F66-9E6B-0877-2FC8A1897702}"/>
              </a:ext>
            </a:extLst>
          </p:cNvPr>
          <p:cNvSpPr>
            <a:spLocks noGrp="1"/>
          </p:cNvSpPr>
          <p:nvPr>
            <p:ph type="title"/>
          </p:nvPr>
        </p:nvSpPr>
        <p:spPr/>
        <p:txBody>
          <a:bodyPr/>
          <a:lstStyle/>
          <a:p>
            <a:r>
              <a:rPr lang="en-US"/>
              <a:t>Web sustainability and CSS</a:t>
            </a:r>
          </a:p>
        </p:txBody>
      </p:sp>
      <p:sp>
        <p:nvSpPr>
          <p:cNvPr id="3" name="Content Placeholder 2">
            <a:extLst>
              <a:ext uri="{FF2B5EF4-FFF2-40B4-BE49-F238E27FC236}">
                <a16:creationId xmlns:a16="http://schemas.microsoft.com/office/drawing/2014/main" id="{1968B8BA-8CDE-D5F9-2892-22A90A232499}"/>
              </a:ext>
            </a:extLst>
          </p:cNvPr>
          <p:cNvSpPr>
            <a:spLocks noGrp="1"/>
          </p:cNvSpPr>
          <p:nvPr>
            <p:ph idx="1"/>
          </p:nvPr>
        </p:nvSpPr>
        <p:spPr/>
        <p:txBody>
          <a:bodyPr/>
          <a:lstStyle/>
          <a:p>
            <a:pPr marL="0" indent="0">
              <a:buNone/>
            </a:pPr>
            <a:r>
              <a:rPr lang="en-US" b="1"/>
              <a:t>Guideline #3.13:</a:t>
            </a:r>
            <a:r>
              <a:rPr lang="en-US"/>
              <a:t> Adapt to User Preferences</a:t>
            </a:r>
          </a:p>
          <a:p>
            <a:pPr marL="0" indent="0">
              <a:buNone/>
            </a:pPr>
            <a:r>
              <a:rPr lang="en-US"/>
              <a:t>	- Users often have preferences that are more environmentally-friendly </a:t>
            </a:r>
          </a:p>
          <a:p>
            <a:pPr marL="0" indent="0">
              <a:buNone/>
            </a:pPr>
            <a:r>
              <a:rPr lang="en-US"/>
              <a:t>	- CSS media/preference queries should enable users, e.g. </a:t>
            </a:r>
            <a:r>
              <a:rPr lang="en-US">
                <a:latin typeface="Consolas" panose="020B0609020204030204" pitchFamily="49" charset="0"/>
                <a:cs typeface="Consolas" panose="020B0609020204030204" pitchFamily="49" charset="0"/>
              </a:rPr>
              <a:t>monochrome</a:t>
            </a:r>
            <a:r>
              <a:rPr lang="en-US"/>
              <a:t>, </a:t>
            </a:r>
            <a:r>
              <a:rPr lang="en-US">
                <a:latin typeface="Consolas" panose="020B0609020204030204" pitchFamily="49" charset="0"/>
                <a:cs typeface="Consolas" panose="020B0609020204030204" pitchFamily="49" charset="0"/>
              </a:rPr>
              <a:t>prefers-reduced-data, prefers-reduced motion, prefers-color-scheme </a:t>
            </a:r>
          </a:p>
        </p:txBody>
      </p:sp>
    </p:spTree>
    <p:extLst>
      <p:ext uri="{BB962C8B-B14F-4D97-AF65-F5344CB8AC3E}">
        <p14:creationId xmlns:p14="http://schemas.microsoft.com/office/powerpoint/2010/main" val="659929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86FC-CE52-9059-B799-D192DE7A1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C70FF-BEBC-2DCE-4929-A35A966247C8}"/>
              </a:ext>
            </a:extLst>
          </p:cNvPr>
          <p:cNvSpPr>
            <a:spLocks noGrp="1"/>
          </p:cNvSpPr>
          <p:nvPr>
            <p:ph type="title"/>
          </p:nvPr>
        </p:nvSpPr>
        <p:spPr/>
        <p:txBody>
          <a:bodyPr/>
          <a:lstStyle/>
          <a:p>
            <a:r>
              <a:rPr lang="en-US"/>
              <a:t>Web sustainability and CSS</a:t>
            </a:r>
          </a:p>
        </p:txBody>
      </p:sp>
      <p:sp>
        <p:nvSpPr>
          <p:cNvPr id="3" name="Content Placeholder 2">
            <a:extLst>
              <a:ext uri="{FF2B5EF4-FFF2-40B4-BE49-F238E27FC236}">
                <a16:creationId xmlns:a16="http://schemas.microsoft.com/office/drawing/2014/main" id="{65228D85-5F50-0813-52AE-5C997243806E}"/>
              </a:ext>
            </a:extLst>
          </p:cNvPr>
          <p:cNvSpPr>
            <a:spLocks noGrp="1"/>
          </p:cNvSpPr>
          <p:nvPr>
            <p:ph idx="1"/>
          </p:nvPr>
        </p:nvSpPr>
        <p:spPr/>
        <p:txBody>
          <a:bodyPr/>
          <a:lstStyle/>
          <a:p>
            <a:pPr marL="0" indent="0">
              <a:buNone/>
            </a:pPr>
            <a:r>
              <a:rPr lang="en-US" b="1"/>
              <a:t>Guideline #3.14:</a:t>
            </a:r>
            <a:r>
              <a:rPr lang="en-US"/>
              <a:t> Develop a Device-Adaptable Layout</a:t>
            </a:r>
          </a:p>
          <a:p>
            <a:pPr marL="0" indent="0">
              <a:buNone/>
            </a:pPr>
            <a:r>
              <a:rPr lang="en-US"/>
              <a:t>	- Many different types of devices: desktops/laptops, mobiles, tablets, watches, TVs with different screen sizes, memory, power/energy require appropriate layouts</a:t>
            </a:r>
          </a:p>
          <a:p>
            <a:pPr marL="0" indent="0">
              <a:buNone/>
            </a:pPr>
            <a:r>
              <a:rPr lang="en-US"/>
              <a:t>	- Smaller devices are underpowered</a:t>
            </a:r>
          </a:p>
        </p:txBody>
      </p:sp>
    </p:spTree>
    <p:extLst>
      <p:ext uri="{BB962C8B-B14F-4D97-AF65-F5344CB8AC3E}">
        <p14:creationId xmlns:p14="http://schemas.microsoft.com/office/powerpoint/2010/main" val="16842884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8B85A-279B-2714-5129-9209005AA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51ACB-1D27-DD41-5C57-150D320C3162}"/>
              </a:ext>
            </a:extLst>
          </p:cNvPr>
          <p:cNvSpPr>
            <a:spLocks noGrp="1"/>
          </p:cNvSpPr>
          <p:nvPr>
            <p:ph type="title"/>
          </p:nvPr>
        </p:nvSpPr>
        <p:spPr/>
        <p:txBody>
          <a:bodyPr/>
          <a:lstStyle/>
          <a:p>
            <a:r>
              <a:rPr lang="en-US"/>
              <a:t>Device-adaptable layouts</a:t>
            </a:r>
          </a:p>
        </p:txBody>
      </p:sp>
      <p:sp>
        <p:nvSpPr>
          <p:cNvPr id="3" name="Content Placeholder 2">
            <a:extLst>
              <a:ext uri="{FF2B5EF4-FFF2-40B4-BE49-F238E27FC236}">
                <a16:creationId xmlns:a16="http://schemas.microsoft.com/office/drawing/2014/main" id="{7B0BA46F-6367-01BE-8601-632349EC9131}"/>
              </a:ext>
            </a:extLst>
          </p:cNvPr>
          <p:cNvSpPr>
            <a:spLocks noGrp="1"/>
          </p:cNvSpPr>
          <p:nvPr>
            <p:ph idx="1"/>
          </p:nvPr>
        </p:nvSpPr>
        <p:spPr/>
        <p:txBody>
          <a:bodyPr>
            <a:normAutofit fontScale="92500" lnSpcReduction="10000"/>
          </a:bodyPr>
          <a:lstStyle/>
          <a:p>
            <a:r>
              <a:rPr lang="en-US"/>
              <a:t>Responsive design:</a:t>
            </a:r>
          </a:p>
          <a:p>
            <a:pPr lvl="1"/>
            <a:r>
              <a:rPr lang="en-US"/>
              <a:t>Fluid pages that adapt to screen size</a:t>
            </a:r>
          </a:p>
          <a:p>
            <a:pPr lvl="1"/>
            <a:r>
              <a:rPr lang="en-US"/>
              <a:t>Modern CSS layout methods are responsive (Flexbox, Grid)</a:t>
            </a:r>
          </a:p>
          <a:p>
            <a:r>
              <a:rPr lang="en-US"/>
              <a:t>Optimized photos, graphics, media</a:t>
            </a:r>
          </a:p>
          <a:p>
            <a:pPr lvl="1"/>
            <a:r>
              <a:rPr lang="en-US"/>
              <a:t>Resize images for different devices, reduce page weight</a:t>
            </a:r>
          </a:p>
          <a:p>
            <a:pPr lvl="2"/>
            <a:r>
              <a:rPr lang="en-US"/>
              <a:t>Images are ~50% of a desktop page weight </a:t>
            </a:r>
          </a:p>
          <a:p>
            <a:r>
              <a:rPr lang="en-US"/>
              <a:t>Dark mode - proceed with caution! </a:t>
            </a:r>
            <a:br>
              <a:rPr lang="en-US"/>
            </a:br>
            <a:r>
              <a:rPr lang="en-US" sz="2200">
                <a:hlinkClick r:id="rId2"/>
              </a:rPr>
              <a:t>https://www.businessinsider.com/guides/tech/does-dark-mode-save-battery?r=US&amp;IR=T</a:t>
            </a:r>
            <a:r>
              <a:rPr lang="en-US" sz="2200"/>
              <a:t> </a:t>
            </a:r>
            <a:endParaRPr lang="en-US"/>
          </a:p>
          <a:p>
            <a:pPr lvl="1"/>
            <a:endParaRPr lang="en-US"/>
          </a:p>
          <a:p>
            <a:pPr lvl="1"/>
            <a:endParaRPr lang="en-US"/>
          </a:p>
        </p:txBody>
      </p:sp>
    </p:spTree>
    <p:extLst>
      <p:ext uri="{BB962C8B-B14F-4D97-AF65-F5344CB8AC3E}">
        <p14:creationId xmlns:p14="http://schemas.microsoft.com/office/powerpoint/2010/main" val="20921758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C7547-2EBB-7BE8-1A1E-B962AE4C3F31}"/>
              </a:ext>
            </a:extLst>
          </p:cNvPr>
          <p:cNvSpPr>
            <a:spLocks noGrp="1"/>
          </p:cNvSpPr>
          <p:nvPr>
            <p:ph type="title"/>
          </p:nvPr>
        </p:nvSpPr>
        <p:spPr/>
        <p:txBody>
          <a:bodyPr/>
          <a:lstStyle/>
          <a:p>
            <a:r>
              <a:rPr lang="en-US"/>
              <a:t>Mobile First </a:t>
            </a:r>
          </a:p>
        </p:txBody>
      </p:sp>
      <p:sp>
        <p:nvSpPr>
          <p:cNvPr id="3" name="Content Placeholder 2">
            <a:extLst>
              <a:ext uri="{FF2B5EF4-FFF2-40B4-BE49-F238E27FC236}">
                <a16:creationId xmlns:a16="http://schemas.microsoft.com/office/drawing/2014/main" id="{2FB67EA3-31CD-3589-8B0C-C9787B8CDD5D}"/>
              </a:ext>
            </a:extLst>
          </p:cNvPr>
          <p:cNvSpPr>
            <a:spLocks noGrp="1"/>
          </p:cNvSpPr>
          <p:nvPr>
            <p:ph idx="1"/>
          </p:nvPr>
        </p:nvSpPr>
        <p:spPr/>
        <p:txBody>
          <a:bodyPr/>
          <a:lstStyle/>
          <a:p>
            <a:pPr marL="0" indent="0">
              <a:buNone/>
            </a:pPr>
            <a:r>
              <a:rPr lang="en-US"/>
              <a:t>Mobile First: A guideline for web designers to aid sustainability</a:t>
            </a:r>
          </a:p>
          <a:p>
            <a:r>
              <a:rPr lang="en-US"/>
              <a:t>Determine a budget for your page weight</a:t>
            </a:r>
          </a:p>
          <a:p>
            <a:pPr marL="0" indent="0" algn="r">
              <a:buNone/>
            </a:pPr>
            <a:r>
              <a:rPr lang="en-US" i="1"/>
              <a:t>						</a:t>
            </a:r>
            <a:r>
              <a:rPr lang="en-US" i="1">
                <a:solidFill>
                  <a:srgbClr val="FF0000"/>
                </a:solidFill>
              </a:rPr>
              <a:t>The median webpage is 2.3MB – 600% up in the last 10 years</a:t>
            </a:r>
          </a:p>
          <a:p>
            <a:r>
              <a:rPr lang="en-US"/>
              <a:t>Optimize media</a:t>
            </a:r>
          </a:p>
          <a:p>
            <a:r>
              <a:rPr lang="en-US"/>
              <a:t>Remove unnecessary elements</a:t>
            </a:r>
          </a:p>
          <a:p>
            <a:r>
              <a:rPr lang="en-US"/>
              <a:t>Minify HTML, CSS, </a:t>
            </a:r>
            <a:r>
              <a:rPr lang="en-US" err="1"/>
              <a:t>Javascript</a:t>
            </a:r>
            <a:endParaRPr lang="en-US"/>
          </a:p>
          <a:p>
            <a:endParaRPr lang="en-US"/>
          </a:p>
        </p:txBody>
      </p:sp>
    </p:spTree>
    <p:extLst>
      <p:ext uri="{BB962C8B-B14F-4D97-AF65-F5344CB8AC3E}">
        <p14:creationId xmlns:p14="http://schemas.microsoft.com/office/powerpoint/2010/main" val="4057240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24A430-FA7B-D83E-2221-E7CEA04F849F}"/>
              </a:ext>
            </a:extLst>
          </p:cNvPr>
          <p:cNvSpPr>
            <a:spLocks noGrp="1"/>
          </p:cNvSpPr>
          <p:nvPr>
            <p:ph type="title"/>
          </p:nvPr>
        </p:nvSpPr>
        <p:spPr/>
        <p:txBody>
          <a:bodyPr/>
          <a:lstStyle/>
          <a:p>
            <a:r>
              <a:rPr lang="en-US"/>
              <a:t>What is Bootstrap?</a:t>
            </a:r>
          </a:p>
        </p:txBody>
      </p:sp>
      <p:sp>
        <p:nvSpPr>
          <p:cNvPr id="5" name="Content Placeholder 4">
            <a:extLst>
              <a:ext uri="{FF2B5EF4-FFF2-40B4-BE49-F238E27FC236}">
                <a16:creationId xmlns:a16="http://schemas.microsoft.com/office/drawing/2014/main" id="{771D0AF3-866A-0BC1-63CE-16E1DD8F083A}"/>
              </a:ext>
            </a:extLst>
          </p:cNvPr>
          <p:cNvSpPr>
            <a:spLocks noGrp="1"/>
          </p:cNvSpPr>
          <p:nvPr>
            <p:ph idx="1"/>
          </p:nvPr>
        </p:nvSpPr>
        <p:spPr/>
        <p:txBody>
          <a:bodyPr>
            <a:normAutofit fontScale="92500" lnSpcReduction="20000"/>
          </a:bodyPr>
          <a:lstStyle/>
          <a:p>
            <a:r>
              <a:rPr lang="en-US"/>
              <a:t>Another web application framework (WAF) </a:t>
            </a:r>
            <a:r>
              <a:rPr lang="en-US" b="1"/>
              <a:t>for front-end development</a:t>
            </a:r>
            <a:endParaRPr lang="en-US"/>
          </a:p>
          <a:p>
            <a:r>
              <a:rPr lang="en-US"/>
              <a:t>Very commonly used toolkit for designing and styling responsive web applications</a:t>
            </a:r>
          </a:p>
          <a:p>
            <a:r>
              <a:rPr lang="en-US"/>
              <a:t>Provides layouts, containers, elements, examples, themes (and JavaScript!)</a:t>
            </a:r>
          </a:p>
          <a:p>
            <a:r>
              <a:rPr lang="en-US"/>
              <a:t>Advantages</a:t>
            </a:r>
          </a:p>
          <a:p>
            <a:pPr lvl="1"/>
            <a:r>
              <a:rPr lang="en-US"/>
              <a:t>Easy to use</a:t>
            </a:r>
          </a:p>
          <a:p>
            <a:pPr lvl="1"/>
            <a:r>
              <a:rPr lang="en-US"/>
              <a:t>Responsive features </a:t>
            </a:r>
          </a:p>
          <a:p>
            <a:pPr lvl="1"/>
            <a:r>
              <a:rPr lang="en-US"/>
              <a:t>Mobile-first approach</a:t>
            </a:r>
          </a:p>
          <a:p>
            <a:pPr lvl="1"/>
            <a:r>
              <a:rPr lang="en-US"/>
              <a:t>Cross-browser compatibility</a:t>
            </a:r>
          </a:p>
        </p:txBody>
      </p:sp>
    </p:spTree>
    <p:extLst>
      <p:ext uri="{BB962C8B-B14F-4D97-AF65-F5344CB8AC3E}">
        <p14:creationId xmlns:p14="http://schemas.microsoft.com/office/powerpoint/2010/main" val="26489500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B0A14-A8E9-499F-D927-845D855000ED}"/>
              </a:ext>
            </a:extLst>
          </p:cNvPr>
          <p:cNvSpPr>
            <a:spLocks noGrp="1"/>
          </p:cNvSpPr>
          <p:nvPr>
            <p:ph type="title"/>
          </p:nvPr>
        </p:nvSpPr>
        <p:spPr/>
        <p:txBody>
          <a:bodyPr/>
          <a:lstStyle/>
          <a:p>
            <a:r>
              <a:rPr lang="en-US" err="1"/>
              <a:t>Boostrap</a:t>
            </a:r>
            <a:r>
              <a:rPr lang="en-US"/>
              <a:t> examples</a:t>
            </a:r>
          </a:p>
        </p:txBody>
      </p:sp>
      <p:pic>
        <p:nvPicPr>
          <p:cNvPr id="11" name="Content Placeholder 10" descr="A screenshot of a computer&#10;&#10;AI-generated content may be incorrect.">
            <a:extLst>
              <a:ext uri="{FF2B5EF4-FFF2-40B4-BE49-F238E27FC236}">
                <a16:creationId xmlns:a16="http://schemas.microsoft.com/office/drawing/2014/main" id="{1B3B612C-64CE-2B03-2FA7-7F794B48F9DF}"/>
              </a:ext>
            </a:extLst>
          </p:cNvPr>
          <p:cNvPicPr>
            <a:picLocks noGrp="1" noChangeAspect="1"/>
          </p:cNvPicPr>
          <p:nvPr>
            <p:ph idx="1"/>
          </p:nvPr>
        </p:nvPicPr>
        <p:blipFill>
          <a:blip r:embed="rId2"/>
          <a:stretch>
            <a:fillRect/>
          </a:stretch>
        </p:blipFill>
        <p:spPr>
          <a:xfrm>
            <a:off x="457200" y="1685804"/>
            <a:ext cx="8229600" cy="4354755"/>
          </a:xfrm>
        </p:spPr>
      </p:pic>
    </p:spTree>
    <p:extLst>
      <p:ext uri="{BB962C8B-B14F-4D97-AF65-F5344CB8AC3E}">
        <p14:creationId xmlns:p14="http://schemas.microsoft.com/office/powerpoint/2010/main" val="4260963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542C5-04F8-5A94-8E82-B761BB806165}"/>
              </a:ext>
            </a:extLst>
          </p:cNvPr>
          <p:cNvSpPr>
            <a:spLocks noGrp="1"/>
          </p:cNvSpPr>
          <p:nvPr>
            <p:ph type="title"/>
          </p:nvPr>
        </p:nvSpPr>
        <p:spPr/>
        <p:txBody>
          <a:bodyPr/>
          <a:lstStyle/>
          <a:p>
            <a:r>
              <a:rPr lang="en-US"/>
              <a:t>Using Bootstrap</a:t>
            </a:r>
          </a:p>
        </p:txBody>
      </p:sp>
      <p:sp>
        <p:nvSpPr>
          <p:cNvPr id="3" name="Content Placeholder 2">
            <a:extLst>
              <a:ext uri="{FF2B5EF4-FFF2-40B4-BE49-F238E27FC236}">
                <a16:creationId xmlns:a16="http://schemas.microsoft.com/office/drawing/2014/main" id="{243F7397-90D8-63F4-C5A0-E86F7B53119D}"/>
              </a:ext>
            </a:extLst>
          </p:cNvPr>
          <p:cNvSpPr>
            <a:spLocks noGrp="1"/>
          </p:cNvSpPr>
          <p:nvPr>
            <p:ph idx="1"/>
          </p:nvPr>
        </p:nvSpPr>
        <p:spPr/>
        <p:txBody>
          <a:bodyPr/>
          <a:lstStyle/>
          <a:p>
            <a:r>
              <a:rPr lang="en-US">
                <a:hlinkClick r:id="rId2"/>
              </a:rPr>
              <a:t>https://getbootstrap.com/</a:t>
            </a:r>
            <a:r>
              <a:rPr lang="en-US"/>
              <a:t> provides different releases. Latest is 5.*, TWD book uses 4</a:t>
            </a:r>
          </a:p>
          <a:p>
            <a:endParaRPr lang="en-US"/>
          </a:p>
          <a:p>
            <a:r>
              <a:rPr lang="en-US"/>
              <a:t>Go to w3schools and follow the </a:t>
            </a:r>
            <a:r>
              <a:rPr lang="en-US">
                <a:hlinkClick r:id="rId3"/>
              </a:rPr>
              <a:t>tutorial</a:t>
            </a:r>
            <a:r>
              <a:rPr lang="en-US"/>
              <a:t> (also other good resources out there)</a:t>
            </a:r>
          </a:p>
          <a:p>
            <a:endParaRPr lang="en-US"/>
          </a:p>
          <a:p>
            <a:r>
              <a:rPr lang="en-US"/>
              <a:t>Download an example and adapt it</a:t>
            </a:r>
          </a:p>
          <a:p>
            <a:pPr marL="0" indent="0">
              <a:buNone/>
            </a:pPr>
            <a:endParaRPr lang="en-US"/>
          </a:p>
          <a:p>
            <a:pPr marL="0" indent="0">
              <a:buNone/>
            </a:pPr>
            <a:endParaRPr lang="en-US"/>
          </a:p>
          <a:p>
            <a:endParaRPr lang="en-US"/>
          </a:p>
          <a:p>
            <a:endParaRPr lang="en-US"/>
          </a:p>
        </p:txBody>
      </p:sp>
    </p:spTree>
    <p:extLst>
      <p:ext uri="{BB962C8B-B14F-4D97-AF65-F5344CB8AC3E}">
        <p14:creationId xmlns:p14="http://schemas.microsoft.com/office/powerpoint/2010/main" val="3975457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3" name="Content Placeholder 2"/>
          <p:cNvSpPr>
            <a:spLocks noGrp="1"/>
          </p:cNvSpPr>
          <p:nvPr>
            <p:ph idx="1"/>
          </p:nvPr>
        </p:nvSpPr>
        <p:spPr/>
        <p:txBody>
          <a:bodyPr>
            <a:normAutofit fontScale="92500"/>
          </a:bodyPr>
          <a:lstStyle/>
          <a:p>
            <a:r>
              <a:rPr lang="en-US"/>
              <a:t>Covered two major building blocks of web pages</a:t>
            </a:r>
          </a:p>
          <a:p>
            <a:r>
              <a:rPr lang="en-GB"/>
              <a:t>HTML is the basic building block of the web using a markup language to provide content and structure </a:t>
            </a:r>
          </a:p>
          <a:p>
            <a:r>
              <a:rPr lang="en-US"/>
              <a:t>CSS is a powerful method of specifying the style of web pages</a:t>
            </a:r>
          </a:p>
          <a:p>
            <a:pPr lvl="1"/>
            <a:r>
              <a:rPr lang="en-US"/>
              <a:t>separates presentation from structure and content</a:t>
            </a:r>
          </a:p>
          <a:p>
            <a:r>
              <a:rPr lang="en-US"/>
              <a:t>Bootstrap is a toolkit to help design responsive web pages</a:t>
            </a:r>
          </a:p>
        </p:txBody>
      </p:sp>
    </p:spTree>
    <p:extLst>
      <p:ext uri="{BB962C8B-B14F-4D97-AF65-F5344CB8AC3E}">
        <p14:creationId xmlns:p14="http://schemas.microsoft.com/office/powerpoint/2010/main" val="21241286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qrydh7q4gzk964kbixuiq9i9otuifb"/>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71</Slides>
  <Notes>20</Notes>
  <HiddenSlides>0</HiddenSlide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HTML, CSS and Bootstrap</vt:lpstr>
      <vt:lpstr>By the end of Week 3...</vt:lpstr>
      <vt:lpstr>What is in a page?</vt:lpstr>
      <vt:lpstr>Client-side</vt:lpstr>
      <vt:lpstr>HTML, CSS, Bootstrap: Evolution</vt:lpstr>
      <vt:lpstr>Books</vt:lpstr>
      <vt:lpstr>HTML</vt:lpstr>
      <vt:lpstr>What is HTML?</vt:lpstr>
      <vt:lpstr> (X)HTML Guide &amp;  Reference  or visit https://www.w3schools.com/html/ </vt:lpstr>
      <vt:lpstr>Basic HTML Example: Tags</vt:lpstr>
      <vt:lpstr>Basic HTML Example:  HTML Document Structure</vt:lpstr>
      <vt:lpstr>Basic HTML Example: HTML Elements</vt:lpstr>
      <vt:lpstr>Basic HTML Example: Empty Elements</vt:lpstr>
      <vt:lpstr>Basic HTML Example: Headers</vt:lpstr>
      <vt:lpstr>Basic HTML Example: Paragraph</vt:lpstr>
      <vt:lpstr>Other useful HTML tags</vt:lpstr>
      <vt:lpstr>HTML First</vt:lpstr>
      <vt:lpstr>HTML AND  WEB SUSTAINABILITY</vt:lpstr>
      <vt:lpstr>Web Sustainability</vt:lpstr>
      <vt:lpstr>Web Sustainability Guidelines</vt:lpstr>
      <vt:lpstr>Web Sustainability and HTML</vt:lpstr>
      <vt:lpstr>Web Sustainability and HTML</vt:lpstr>
      <vt:lpstr>Deprecated HTML Elements</vt:lpstr>
      <vt:lpstr>Deprecated HTML</vt:lpstr>
      <vt:lpstr>Cascading Style Sheets</vt:lpstr>
      <vt:lpstr>Style on the Web</vt:lpstr>
      <vt:lpstr>Benefits of CSS</vt:lpstr>
      <vt:lpstr> CSS Guide &amp;  Reference  or visit  https://www.w3schools.com/css/ </vt:lpstr>
      <vt:lpstr>Cascading Style Sheets </vt:lpstr>
      <vt:lpstr>CSS: How to Find and Apply Pattern</vt:lpstr>
      <vt:lpstr>CSS Values and Units</vt:lpstr>
      <vt:lpstr>CSS Length Units</vt:lpstr>
      <vt:lpstr>Using CSS with (X)HTML</vt:lpstr>
      <vt:lpstr>Inline CSS Specification</vt:lpstr>
      <vt:lpstr>Embedded CSS Specification</vt:lpstr>
      <vt:lpstr>External CSS Specification</vt:lpstr>
      <vt:lpstr>Specialization of Presentation</vt:lpstr>
      <vt:lpstr>Class Selectors</vt:lpstr>
      <vt:lpstr>ID Selectors</vt:lpstr>
      <vt:lpstr>Combining selectors</vt:lpstr>
      <vt:lpstr>Pseudo-classes and pseudo-elements</vt:lpstr>
      <vt:lpstr>Descendent Selectors</vt:lpstr>
      <vt:lpstr>Cascading  Style Sheets</vt:lpstr>
      <vt:lpstr>Inheritance of Style</vt:lpstr>
      <vt:lpstr>Specificity of Style</vt:lpstr>
      <vt:lpstr>Cascade of Style</vt:lpstr>
      <vt:lpstr>PowerPoint Presentation</vt:lpstr>
      <vt:lpstr>The Box Model</vt:lpstr>
      <vt:lpstr>Box Model Properties</vt:lpstr>
      <vt:lpstr>Page Layout</vt:lpstr>
      <vt:lpstr>Page Layout</vt:lpstr>
      <vt:lpstr>Floating</vt:lpstr>
      <vt:lpstr>Positioning</vt:lpstr>
      <vt:lpstr>Floating &amp; Positioning</vt:lpstr>
      <vt:lpstr>Floating and Positioning</vt:lpstr>
      <vt:lpstr>Floating and Positioning</vt:lpstr>
      <vt:lpstr>Floating and Positioning </vt:lpstr>
      <vt:lpstr>New Layouts</vt:lpstr>
      <vt:lpstr>CSS Properties</vt:lpstr>
      <vt:lpstr>Web sustainability and CSS</vt:lpstr>
      <vt:lpstr>Web sustainability and CSS</vt:lpstr>
      <vt:lpstr>Web sustainability and CSS</vt:lpstr>
      <vt:lpstr>How should I structure my CSS?</vt:lpstr>
      <vt:lpstr>Web sustainability and CSS</vt:lpstr>
      <vt:lpstr>Web sustainability and CSS</vt:lpstr>
      <vt:lpstr>Device-adaptable layouts</vt:lpstr>
      <vt:lpstr>Mobile First </vt:lpstr>
      <vt:lpstr>What is Bootstrap?</vt:lpstr>
      <vt:lpstr>Boostrap examples</vt:lpstr>
      <vt:lpstr>Using Bootstrap</vt:lpstr>
      <vt:lpstr>Summary</vt:lpstr>
    </vt:vector>
  </TitlesOfParts>
  <Company>University of Glasgow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Leif Azzopardi</dc:creator>
  <cp:revision>188</cp:revision>
  <dcterms:created xsi:type="dcterms:W3CDTF">2013-11-27T09:06:09Z</dcterms:created>
  <dcterms:modified xsi:type="dcterms:W3CDTF">2026-01-23T16:51:18Z</dcterms:modified>
</cp:coreProperties>
</file>