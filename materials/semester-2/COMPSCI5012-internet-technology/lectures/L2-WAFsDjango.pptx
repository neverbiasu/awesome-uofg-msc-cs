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handoutMasterIdLst>
    <p:handoutMasterId r:id="rId61"/>
  </p:handoutMasterIdLst>
  <p:sldIdLst>
    <p:sldId id="258" r:id="rId2"/>
    <p:sldId id="368" r:id="rId3"/>
    <p:sldId id="280" r:id="rId4"/>
    <p:sldId id="317" r:id="rId5"/>
    <p:sldId id="282" r:id="rId6"/>
    <p:sldId id="283" r:id="rId7"/>
    <p:sldId id="318" r:id="rId8"/>
    <p:sldId id="319" r:id="rId9"/>
    <p:sldId id="263" r:id="rId10"/>
    <p:sldId id="264" r:id="rId11"/>
    <p:sldId id="265" r:id="rId12"/>
    <p:sldId id="266" r:id="rId13"/>
    <p:sldId id="315" r:id="rId14"/>
    <p:sldId id="316" r:id="rId15"/>
    <p:sldId id="261" r:id="rId16"/>
    <p:sldId id="272" r:id="rId17"/>
    <p:sldId id="281" r:id="rId18"/>
    <p:sldId id="278" r:id="rId19"/>
    <p:sldId id="306" r:id="rId20"/>
    <p:sldId id="307" r:id="rId21"/>
    <p:sldId id="285" r:id="rId22"/>
    <p:sldId id="286" r:id="rId23"/>
    <p:sldId id="309" r:id="rId24"/>
    <p:sldId id="271" r:id="rId25"/>
    <p:sldId id="284" r:id="rId26"/>
    <p:sldId id="262" r:id="rId27"/>
    <p:sldId id="320" r:id="rId28"/>
    <p:sldId id="296" r:id="rId29"/>
    <p:sldId id="321" r:id="rId30"/>
    <p:sldId id="322" r:id="rId31"/>
    <p:sldId id="323" r:id="rId32"/>
    <p:sldId id="324" r:id="rId33"/>
    <p:sldId id="325" r:id="rId34"/>
    <p:sldId id="326" r:id="rId35"/>
    <p:sldId id="301" r:id="rId36"/>
    <p:sldId id="327" r:id="rId37"/>
    <p:sldId id="364" r:id="rId38"/>
    <p:sldId id="303" r:id="rId39"/>
    <p:sldId id="365" r:id="rId40"/>
    <p:sldId id="305" r:id="rId41"/>
    <p:sldId id="366" r:id="rId42"/>
    <p:sldId id="290" r:id="rId43"/>
    <p:sldId id="291" r:id="rId44"/>
    <p:sldId id="292" r:id="rId45"/>
    <p:sldId id="293" r:id="rId46"/>
    <p:sldId id="312" r:id="rId47"/>
    <p:sldId id="287" r:id="rId48"/>
    <p:sldId id="288" r:id="rId49"/>
    <p:sldId id="289" r:id="rId50"/>
    <p:sldId id="370" r:id="rId51"/>
    <p:sldId id="299" r:id="rId52"/>
    <p:sldId id="300" r:id="rId53"/>
    <p:sldId id="302" r:id="rId54"/>
    <p:sldId id="371" r:id="rId55"/>
    <p:sldId id="373" r:id="rId56"/>
    <p:sldId id="372" r:id="rId57"/>
    <p:sldId id="374" r:id="rId58"/>
    <p:sldId id="304" r:id="rId5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F2DF85-F70D-79C9-F11E-C2172ACCBB26}" v="95" dt="2026-01-16T17:03:27.918"/>
    <p1510:client id="{AC8460AD-0073-2EBA-2B98-B459594AC3E4}" v="1209" dt="2026-01-16T16:28:30.9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843"/>
    <p:restoredTop sz="81016" autoAdjust="0"/>
  </p:normalViewPr>
  <p:slideViewPr>
    <p:cSldViewPr snapToGrid="0" snapToObjects="1">
      <p:cViewPr varScale="1">
        <p:scale>
          <a:sx n="92" d="100"/>
          <a:sy n="92" d="100"/>
        </p:scale>
        <p:origin x="1672" y="192"/>
      </p:cViewPr>
      <p:guideLst>
        <p:guide orient="horz" pos="2160"/>
        <p:guide pos="2880"/>
      </p:guideLst>
    </p:cSldViewPr>
  </p:slideViewPr>
  <p:notesTextViewPr>
    <p:cViewPr>
      <p:scale>
        <a:sx n="100" d="100"/>
        <a:sy n="100" d="100"/>
      </p:scale>
      <p:origin x="0" y="0"/>
    </p:cViewPr>
  </p:notesTextViewPr>
  <p:sorterViewPr>
    <p:cViewPr>
      <p:scale>
        <a:sx n="140" d="100"/>
        <a:sy n="14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9F4C401E-0043-42C7-9DE6-615CCE5F4C2F}" type="datetimeFigureOut">
              <a:rPr lang="en-GB" smtClean="0"/>
              <a:t>16/01/2026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6873E5-A162-4AF7-B91C-E2995F10E11B}" type="slidenum">
              <a:rPr lang="en-GB" smtClean="0"/>
              <a:t>‹#›</a:t>
            </a:fld>
            <a:endParaRPr lang="en-GB"/>
          </a:p>
        </p:txBody>
      </p:sp>
    </p:spTree>
    <p:extLst>
      <p:ext uri="{BB962C8B-B14F-4D97-AF65-F5344CB8AC3E}">
        <p14:creationId xmlns:p14="http://schemas.microsoft.com/office/powerpoint/2010/main" val="24772666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785C8D-67BF-7747-9F33-11A5DB40BE31}" type="datetimeFigureOut">
              <a:rPr lang="en-US" smtClean="0"/>
              <a:t>1/16/2026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D2C9D08-8871-DB4F-BFFF-BCF546FB6706}" type="slidenum">
              <a:rPr lang="en-US" smtClean="0"/>
              <a:t>‹#›</a:t>
            </a:fld>
            <a:endParaRPr lang="en-US"/>
          </a:p>
        </p:txBody>
      </p:sp>
    </p:spTree>
    <p:extLst>
      <p:ext uri="{BB962C8B-B14F-4D97-AF65-F5344CB8AC3E}">
        <p14:creationId xmlns:p14="http://schemas.microsoft.com/office/powerpoint/2010/main" val="220717757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US" dirty="0"/>
              <a:t>Lets</a:t>
            </a:r>
            <a:r>
              <a:rPr lang="en-US" baseline="0" dirty="0"/>
              <a:t> get started by recapping the main concepts we have learnt so far –</a:t>
            </a:r>
          </a:p>
          <a:p>
            <a:endParaRPr lang="en-US" baseline="0" dirty="0"/>
          </a:p>
          <a:p>
            <a:r>
              <a:rPr lang="en-US" baseline="0" dirty="0"/>
              <a:t>N-tier architectures</a:t>
            </a:r>
          </a:p>
          <a:p>
            <a:r>
              <a:rPr lang="en-US" baseline="0" dirty="0"/>
              <a:t>Separation of Concerns</a:t>
            </a:r>
          </a:p>
          <a:p>
            <a:endParaRPr lang="en-US" baseline="0" dirty="0"/>
          </a:p>
          <a:p>
            <a:r>
              <a:rPr lang="en-US" baseline="0" dirty="0"/>
              <a:t>Top-Down vs. Bottom Up Design</a:t>
            </a:r>
          </a:p>
          <a:p>
            <a:endParaRPr lang="en-US" baseline="0" dirty="0"/>
          </a:p>
          <a:p>
            <a:r>
              <a:rPr lang="en-US" baseline="0" dirty="0"/>
              <a:t>Abstraction enables us to deal with complexities – and defer details – separate concerns – assign responsibilities</a:t>
            </a:r>
          </a:p>
          <a:p>
            <a:endParaRPr lang="en-US" baseline="0" dirty="0"/>
          </a:p>
          <a:p>
            <a:r>
              <a:rPr lang="en-US" baseline="0" dirty="0"/>
              <a:t>In passing, I also mentioned that there were ANTI-PATTERNS.. Paralysis by analysis (might result from top down)… while Spaghetti code (is likely to result from bottom up)</a:t>
            </a:r>
          </a:p>
          <a:p>
            <a:endParaRPr lang="en-US" baseline="0" dirty="0"/>
          </a:p>
          <a:p>
            <a:r>
              <a:rPr lang="en-US" baseline="0" dirty="0"/>
              <a:t>Pipe and Filter Architectures</a:t>
            </a:r>
          </a:p>
          <a:p>
            <a:r>
              <a:rPr lang="en-US" baseline="0" dirty="0"/>
              <a:t>Dataflow diagrams</a:t>
            </a:r>
            <a:endParaRPr lang="en-US" dirty="0"/>
          </a:p>
        </p:txBody>
      </p:sp>
      <p:sp>
        <p:nvSpPr>
          <p:cNvPr id="4" name="Slide Number Placeholder 3"/>
          <p:cNvSpPr>
            <a:spLocks noGrp="1"/>
          </p:cNvSpPr>
          <p:nvPr>
            <p:ph type="sldNum" sz="quarter" idx="10"/>
          </p:nvPr>
        </p:nvSpPr>
        <p:spPr/>
        <p:txBody>
          <a:bodyPr/>
          <a:lstStyle/>
          <a:p>
            <a:fld id="{7DE1B25F-D1C2-0240-A2FC-D999A37D4334}" type="slidenum">
              <a:rPr lang="en-US" smtClean="0"/>
              <a:pPr/>
              <a:t>1</a:t>
            </a:fld>
            <a:endParaRPr lang="en-US"/>
          </a:p>
        </p:txBody>
      </p:sp>
    </p:spTree>
    <p:extLst>
      <p:ext uri="{BB962C8B-B14F-4D97-AF65-F5344CB8AC3E}">
        <p14:creationId xmlns:p14="http://schemas.microsoft.com/office/powerpoint/2010/main" val="2044224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Already in the high level</a:t>
            </a:r>
            <a:r>
              <a:rPr lang="en-US" baseline="0" dirty="0"/>
              <a:t> SA presented, there are lots of moving parts, lots of components, that have to communicate with each other. This creates complexity (it also reduces complexity too – which we will go into detail in a later lecture.</a:t>
            </a:r>
          </a:p>
          <a:p>
            <a:endParaRPr lang="en-US" baseline="0" dirty="0"/>
          </a:p>
          <a:p>
            <a:r>
              <a:rPr lang="en-US" baseline="0" dirty="0"/>
              <a:t>However, the problem is even worse and compounded because of a number of things…</a:t>
            </a:r>
            <a:endParaRPr lang="en-US" dirty="0"/>
          </a:p>
        </p:txBody>
      </p:sp>
      <p:sp>
        <p:nvSpPr>
          <p:cNvPr id="4" name="Slide Number Placeholder 3"/>
          <p:cNvSpPr>
            <a:spLocks noGrp="1"/>
          </p:cNvSpPr>
          <p:nvPr>
            <p:ph type="sldNum" sz="quarter" idx="10"/>
          </p:nvPr>
        </p:nvSpPr>
        <p:spPr/>
        <p:txBody>
          <a:bodyPr/>
          <a:lstStyle/>
          <a:p>
            <a:fld id="{389B6646-B85B-CA4E-9FFB-370D03F15B01}" type="slidenum">
              <a:rPr lang="en-US" smtClean="0"/>
              <a:t>4</a:t>
            </a:fld>
            <a:endParaRPr lang="en-US"/>
          </a:p>
        </p:txBody>
      </p:sp>
    </p:spTree>
    <p:extLst>
      <p:ext uri="{BB962C8B-B14F-4D97-AF65-F5344CB8AC3E}">
        <p14:creationId xmlns:p14="http://schemas.microsoft.com/office/powerpoint/2010/main" val="40577693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factors also introduce</a:t>
            </a:r>
            <a:r>
              <a:rPr lang="en-US" baseline="0" dirty="0"/>
              <a:t> complexity on a number of different fronts.</a:t>
            </a:r>
          </a:p>
          <a:p>
            <a:endParaRPr lang="en-US" baseline="0" dirty="0"/>
          </a:p>
          <a:p>
            <a:r>
              <a:rPr lang="en-GB" sz="1200" b="1" i="0" kern="1200" dirty="0" err="1">
                <a:solidFill>
                  <a:schemeClr val="tx1"/>
                </a:solidFill>
                <a:effectLst/>
                <a:latin typeface="+mn-lt"/>
                <a:ea typeface="+mn-ea"/>
                <a:cs typeface="+mn-cs"/>
              </a:rPr>
              <a:t>Markup</a:t>
            </a:r>
            <a:r>
              <a:rPr lang="en-GB" sz="1200" b="1" i="0" kern="1200" dirty="0">
                <a:solidFill>
                  <a:schemeClr val="tx1"/>
                </a:solidFill>
                <a:effectLst/>
                <a:latin typeface="+mn-lt"/>
                <a:ea typeface="+mn-ea"/>
                <a:cs typeface="+mn-cs"/>
              </a:rPr>
              <a:t> languages</a:t>
            </a:r>
            <a:r>
              <a:rPr lang="en-GB" sz="1200" b="0" i="0" kern="1200" dirty="0">
                <a:solidFill>
                  <a:schemeClr val="tx1"/>
                </a:solidFill>
                <a:effectLst/>
                <a:latin typeface="+mn-lt"/>
                <a:ea typeface="+mn-ea"/>
                <a:cs typeface="+mn-cs"/>
              </a:rPr>
              <a:t> are designed for the processing, definition and presentation of text. The </a:t>
            </a:r>
            <a:r>
              <a:rPr lang="en-GB" sz="1200" b="1" i="0" kern="1200" dirty="0">
                <a:solidFill>
                  <a:schemeClr val="tx1"/>
                </a:solidFill>
                <a:effectLst/>
                <a:latin typeface="+mn-lt"/>
                <a:ea typeface="+mn-ea"/>
                <a:cs typeface="+mn-cs"/>
              </a:rPr>
              <a:t>language </a:t>
            </a:r>
            <a:r>
              <a:rPr lang="en-GB" sz="1200" b="0" i="0" kern="1200" dirty="0">
                <a:solidFill>
                  <a:schemeClr val="tx1"/>
                </a:solidFill>
                <a:effectLst/>
                <a:latin typeface="+mn-lt"/>
                <a:ea typeface="+mn-ea"/>
                <a:cs typeface="+mn-cs"/>
              </a:rPr>
              <a:t>specifies code for formatting, both the layout and style, within a text file. The code used to specify the formatting are called tags. HTML is a an example of a widely known and used </a:t>
            </a:r>
            <a:r>
              <a:rPr lang="en-GB" sz="1200" b="1" i="0" kern="1200" dirty="0" err="1">
                <a:solidFill>
                  <a:schemeClr val="tx1"/>
                </a:solidFill>
                <a:effectLst/>
                <a:latin typeface="+mn-lt"/>
                <a:ea typeface="+mn-ea"/>
                <a:cs typeface="+mn-cs"/>
              </a:rPr>
              <a:t>markup</a:t>
            </a:r>
            <a:r>
              <a:rPr lang="en-GB" sz="1200" b="1" i="0" kern="1200" dirty="0">
                <a:solidFill>
                  <a:schemeClr val="tx1"/>
                </a:solidFill>
                <a:effectLst/>
                <a:latin typeface="+mn-lt"/>
                <a:ea typeface="+mn-ea"/>
                <a:cs typeface="+mn-cs"/>
              </a:rPr>
              <a:t> language</a:t>
            </a:r>
            <a:r>
              <a:rPr lang="en-GB" sz="1200" b="0" i="0" kern="1200" dirty="0">
                <a:solidFill>
                  <a:schemeClr val="tx1"/>
                </a:solidFill>
                <a:effectLst/>
                <a:latin typeface="+mn-lt"/>
                <a:ea typeface="+mn-ea"/>
                <a:cs typeface="+mn-cs"/>
              </a:rPr>
              <a:t>.</a:t>
            </a:r>
          </a:p>
          <a:p>
            <a:endParaRPr lang="en-GB" sz="1200" b="0" i="0" kern="1200" dirty="0">
              <a:solidFill>
                <a:schemeClr val="tx1"/>
              </a:solidFill>
              <a:effectLst/>
              <a:latin typeface="+mn-lt"/>
              <a:ea typeface="+mn-ea"/>
              <a:cs typeface="+mn-cs"/>
            </a:endParaRPr>
          </a:p>
          <a:p>
            <a:r>
              <a:rPr lang="en-US" dirty="0"/>
              <a:t>Other factors also introduce</a:t>
            </a:r>
            <a:r>
              <a:rPr lang="en-US" baseline="0" dirty="0"/>
              <a:t> complexity on a number of different fronts.</a:t>
            </a:r>
          </a:p>
          <a:p>
            <a:endParaRPr lang="en-US" baseline="0" dirty="0"/>
          </a:p>
        </p:txBody>
      </p:sp>
      <p:sp>
        <p:nvSpPr>
          <p:cNvPr id="4" name="Slide Number Placeholder 3"/>
          <p:cNvSpPr>
            <a:spLocks noGrp="1"/>
          </p:cNvSpPr>
          <p:nvPr>
            <p:ph type="sldNum" sz="quarter" idx="10"/>
          </p:nvPr>
        </p:nvSpPr>
        <p:spPr/>
        <p:txBody>
          <a:bodyPr/>
          <a:lstStyle/>
          <a:p>
            <a:fld id="{389B6646-B85B-CA4E-9FFB-370D03F15B01}" type="slidenum">
              <a:rPr lang="en-US" smtClean="0"/>
              <a:t>5</a:t>
            </a:fld>
            <a:endParaRPr lang="en-US"/>
          </a:p>
        </p:txBody>
      </p:sp>
    </p:spTree>
    <p:extLst>
      <p:ext uri="{BB962C8B-B14F-4D97-AF65-F5344CB8AC3E}">
        <p14:creationId xmlns:p14="http://schemas.microsoft.com/office/powerpoint/2010/main" val="1890244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 the course,</a:t>
            </a:r>
            <a:r>
              <a:rPr lang="en-US" baseline="0" dirty="0"/>
              <a:t> we will be look at a number of different </a:t>
            </a:r>
            <a:r>
              <a:rPr lang="en-US" baseline="0" dirty="0" err="1"/>
              <a:t>api’s</a:t>
            </a:r>
            <a:r>
              <a:rPr lang="en-US" baseline="0" dirty="0"/>
              <a:t>, libraries, toolkits, and standards so that we can rapidly build a web application</a:t>
            </a:r>
            <a:endParaRPr lang="en-US" dirty="0"/>
          </a:p>
        </p:txBody>
      </p:sp>
      <p:sp>
        <p:nvSpPr>
          <p:cNvPr id="4" name="Slide Number Placeholder 3"/>
          <p:cNvSpPr>
            <a:spLocks noGrp="1"/>
          </p:cNvSpPr>
          <p:nvPr>
            <p:ph type="sldNum" sz="quarter" idx="10"/>
          </p:nvPr>
        </p:nvSpPr>
        <p:spPr/>
        <p:txBody>
          <a:bodyPr/>
          <a:lstStyle/>
          <a:p>
            <a:fld id="{389B6646-B85B-CA4E-9FFB-370D03F15B01}" type="slidenum">
              <a:rPr lang="en-US" smtClean="0"/>
              <a:t>6</a:t>
            </a:fld>
            <a:endParaRPr lang="en-US"/>
          </a:p>
        </p:txBody>
      </p:sp>
    </p:spTree>
    <p:extLst>
      <p:ext uri="{BB962C8B-B14F-4D97-AF65-F5344CB8AC3E}">
        <p14:creationId xmlns:p14="http://schemas.microsoft.com/office/powerpoint/2010/main" val="2121689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Consequently, you will be exposed to a number of different tools</a:t>
            </a:r>
            <a:r>
              <a:rPr lang="en-US" baseline="0" dirty="0"/>
              <a:t> -</a:t>
            </a:r>
            <a:endParaRPr lang="en-US" dirty="0"/>
          </a:p>
        </p:txBody>
      </p:sp>
      <p:sp>
        <p:nvSpPr>
          <p:cNvPr id="4" name="Slide Number Placeholder 3"/>
          <p:cNvSpPr>
            <a:spLocks noGrp="1"/>
          </p:cNvSpPr>
          <p:nvPr>
            <p:ph type="sldNum" sz="quarter" idx="10"/>
          </p:nvPr>
        </p:nvSpPr>
        <p:spPr/>
        <p:txBody>
          <a:bodyPr/>
          <a:lstStyle/>
          <a:p>
            <a:fld id="{389B6646-B85B-CA4E-9FFB-370D03F15B01}" type="slidenum">
              <a:rPr lang="en-US" smtClean="0"/>
              <a:t>7</a:t>
            </a:fld>
            <a:endParaRPr lang="en-US"/>
          </a:p>
        </p:txBody>
      </p:sp>
    </p:spTree>
    <p:extLst>
      <p:ext uri="{BB962C8B-B14F-4D97-AF65-F5344CB8AC3E}">
        <p14:creationId xmlns:p14="http://schemas.microsoft.com/office/powerpoint/2010/main" val="2492937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9B6646-B85B-CA4E-9FFB-370D03F15B01}" type="slidenum">
              <a:rPr lang="en-US" smtClean="0"/>
              <a:t>9</a:t>
            </a:fld>
            <a:endParaRPr lang="en-US"/>
          </a:p>
        </p:txBody>
      </p:sp>
    </p:spTree>
    <p:extLst>
      <p:ext uri="{BB962C8B-B14F-4D97-AF65-F5344CB8AC3E}">
        <p14:creationId xmlns:p14="http://schemas.microsoft.com/office/powerpoint/2010/main" val="3258212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E1B25F-D1C2-0240-A2FC-D999A37D4334}" type="slidenum">
              <a:rPr lang="en-US" smtClean="0"/>
              <a:pPr/>
              <a:t>10</a:t>
            </a:fld>
            <a:endParaRPr lang="en-US"/>
          </a:p>
        </p:txBody>
      </p:sp>
    </p:spTree>
    <p:extLst>
      <p:ext uri="{BB962C8B-B14F-4D97-AF65-F5344CB8AC3E}">
        <p14:creationId xmlns:p14="http://schemas.microsoft.com/office/powerpoint/2010/main" val="2613821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US" dirty="0"/>
              <a:t>Note the</a:t>
            </a:r>
            <a:r>
              <a:rPr lang="en-US" baseline="0" dirty="0"/>
              <a:t> commonalities – abstracted design/applications… prefabrication</a:t>
            </a:r>
            <a:endParaRPr lang="en-US" dirty="0"/>
          </a:p>
        </p:txBody>
      </p:sp>
      <p:sp>
        <p:nvSpPr>
          <p:cNvPr id="4" name="Slide Number Placeholder 3"/>
          <p:cNvSpPr>
            <a:spLocks noGrp="1"/>
          </p:cNvSpPr>
          <p:nvPr>
            <p:ph type="sldNum" sz="quarter" idx="10"/>
          </p:nvPr>
        </p:nvSpPr>
        <p:spPr/>
        <p:txBody>
          <a:bodyPr/>
          <a:lstStyle/>
          <a:p>
            <a:fld id="{7DE1B25F-D1C2-0240-A2FC-D999A37D4334}" type="slidenum">
              <a:rPr lang="en-US" smtClean="0"/>
              <a:pPr/>
              <a:t>11</a:t>
            </a:fld>
            <a:endParaRPr lang="en-US"/>
          </a:p>
        </p:txBody>
      </p:sp>
    </p:spTree>
    <p:extLst>
      <p:ext uri="{BB962C8B-B14F-4D97-AF65-F5344CB8AC3E}">
        <p14:creationId xmlns:p14="http://schemas.microsoft.com/office/powerpoint/2010/main" val="5427800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E1B25F-D1C2-0240-A2FC-D999A37D4334}" type="slidenum">
              <a:rPr lang="en-US" smtClean="0"/>
              <a:pPr/>
              <a:t>12</a:t>
            </a:fld>
            <a:endParaRPr lang="en-US"/>
          </a:p>
        </p:txBody>
      </p:sp>
    </p:spTree>
    <p:extLst>
      <p:ext uri="{BB962C8B-B14F-4D97-AF65-F5344CB8AC3E}">
        <p14:creationId xmlns:p14="http://schemas.microsoft.com/office/powerpoint/2010/main" val="39619190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2C9D08-8871-DB4F-BFFF-BCF546FB6706}" type="slidenum">
              <a:rPr lang="en-US" smtClean="0"/>
              <a:t>13</a:t>
            </a:fld>
            <a:endParaRPr lang="en-US"/>
          </a:p>
        </p:txBody>
      </p:sp>
    </p:spTree>
    <p:extLst>
      <p:ext uri="{BB962C8B-B14F-4D97-AF65-F5344CB8AC3E}">
        <p14:creationId xmlns:p14="http://schemas.microsoft.com/office/powerpoint/2010/main" val="34925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2C9D08-8871-DB4F-BFFF-BCF546FB6706}" type="slidenum">
              <a:rPr lang="en-US" smtClean="0"/>
              <a:t>14</a:t>
            </a:fld>
            <a:endParaRPr lang="en-US"/>
          </a:p>
        </p:txBody>
      </p:sp>
    </p:spTree>
    <p:extLst>
      <p:ext uri="{BB962C8B-B14F-4D97-AF65-F5344CB8AC3E}">
        <p14:creationId xmlns:p14="http://schemas.microsoft.com/office/powerpoint/2010/main" val="2823432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2C9D08-8871-DB4F-BFFF-BCF546FB6706}" type="slidenum">
              <a:rPr lang="en-US" smtClean="0"/>
              <a:t>15</a:t>
            </a:fld>
            <a:endParaRPr lang="en-US"/>
          </a:p>
        </p:txBody>
      </p:sp>
    </p:spTree>
    <p:extLst>
      <p:ext uri="{BB962C8B-B14F-4D97-AF65-F5344CB8AC3E}">
        <p14:creationId xmlns:p14="http://schemas.microsoft.com/office/powerpoint/2010/main" val="3500546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2C9D08-8871-DB4F-BFFF-BCF546FB6706}" type="slidenum">
              <a:rPr lang="en-US" smtClean="0"/>
              <a:t>16</a:t>
            </a:fld>
            <a:endParaRPr lang="en-US"/>
          </a:p>
        </p:txBody>
      </p:sp>
    </p:spTree>
    <p:extLst>
      <p:ext uri="{BB962C8B-B14F-4D97-AF65-F5344CB8AC3E}">
        <p14:creationId xmlns:p14="http://schemas.microsoft.com/office/powerpoint/2010/main" val="17165879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2C9D08-8871-DB4F-BFFF-BCF546FB6706}" type="slidenum">
              <a:rPr lang="en-US" smtClean="0"/>
              <a:t>16</a:t>
            </a:fld>
            <a:endParaRPr lang="en-US"/>
          </a:p>
        </p:txBody>
      </p:sp>
    </p:spTree>
    <p:extLst>
      <p:ext uri="{BB962C8B-B14F-4D97-AF65-F5344CB8AC3E}">
        <p14:creationId xmlns:p14="http://schemas.microsoft.com/office/powerpoint/2010/main" val="33426356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2C9D08-8871-DB4F-BFFF-BCF546FB6706}" type="slidenum">
              <a:rPr lang="en-US" smtClean="0"/>
              <a:t>17</a:t>
            </a:fld>
            <a:endParaRPr lang="en-US"/>
          </a:p>
        </p:txBody>
      </p:sp>
    </p:spTree>
    <p:extLst>
      <p:ext uri="{BB962C8B-B14F-4D97-AF65-F5344CB8AC3E}">
        <p14:creationId xmlns:p14="http://schemas.microsoft.com/office/powerpoint/2010/main" val="6929429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E1B25F-D1C2-0240-A2FC-D999A37D4334}" type="slidenum">
              <a:rPr lang="en-US" smtClean="0"/>
              <a:pPr/>
              <a:t>18</a:t>
            </a:fld>
            <a:endParaRPr lang="en-US"/>
          </a:p>
        </p:txBody>
      </p:sp>
    </p:spTree>
    <p:extLst>
      <p:ext uri="{BB962C8B-B14F-4D97-AF65-F5344CB8AC3E}">
        <p14:creationId xmlns:p14="http://schemas.microsoft.com/office/powerpoint/2010/main" val="5415019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2C9D08-8871-DB4F-BFFF-BCF546FB6706}" type="slidenum">
              <a:rPr lang="en-US" smtClean="0"/>
              <a:t>19</a:t>
            </a:fld>
            <a:endParaRPr lang="en-US"/>
          </a:p>
        </p:txBody>
      </p:sp>
    </p:spTree>
    <p:extLst>
      <p:ext uri="{BB962C8B-B14F-4D97-AF65-F5344CB8AC3E}">
        <p14:creationId xmlns:p14="http://schemas.microsoft.com/office/powerpoint/2010/main" val="32072573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2C9D08-8871-DB4F-BFFF-BCF546FB6706}" type="slidenum">
              <a:rPr lang="en-US" smtClean="0"/>
              <a:t>20</a:t>
            </a:fld>
            <a:endParaRPr lang="en-US"/>
          </a:p>
        </p:txBody>
      </p:sp>
    </p:spTree>
    <p:extLst>
      <p:ext uri="{BB962C8B-B14F-4D97-AF65-F5344CB8AC3E}">
        <p14:creationId xmlns:p14="http://schemas.microsoft.com/office/powerpoint/2010/main" val="23229391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2C9D08-8871-DB4F-BFFF-BCF546FB6706}" type="slidenum">
              <a:rPr lang="en-US" smtClean="0"/>
              <a:t>21</a:t>
            </a:fld>
            <a:endParaRPr lang="en-US"/>
          </a:p>
        </p:txBody>
      </p:sp>
    </p:spTree>
    <p:extLst>
      <p:ext uri="{BB962C8B-B14F-4D97-AF65-F5344CB8AC3E}">
        <p14:creationId xmlns:p14="http://schemas.microsoft.com/office/powerpoint/2010/main" val="6111746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2C9D08-8871-DB4F-BFFF-BCF546FB6706}" type="slidenum">
              <a:rPr lang="en-US" smtClean="0"/>
              <a:t>22</a:t>
            </a:fld>
            <a:endParaRPr lang="en-US"/>
          </a:p>
        </p:txBody>
      </p:sp>
    </p:spTree>
    <p:extLst>
      <p:ext uri="{BB962C8B-B14F-4D97-AF65-F5344CB8AC3E}">
        <p14:creationId xmlns:p14="http://schemas.microsoft.com/office/powerpoint/2010/main" val="13531344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2C9D08-8871-DB4F-BFFF-BCF546FB6706}" type="slidenum">
              <a:rPr lang="en-US" smtClean="0"/>
              <a:t>23</a:t>
            </a:fld>
            <a:endParaRPr lang="en-US"/>
          </a:p>
        </p:txBody>
      </p:sp>
    </p:spTree>
    <p:extLst>
      <p:ext uri="{BB962C8B-B14F-4D97-AF65-F5344CB8AC3E}">
        <p14:creationId xmlns:p14="http://schemas.microsoft.com/office/powerpoint/2010/main" val="28835033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E1B25F-D1C2-0240-A2FC-D999A37D4334}" type="slidenum">
              <a:rPr lang="en-US" smtClean="0"/>
              <a:pPr/>
              <a:t>25</a:t>
            </a:fld>
            <a:endParaRPr lang="en-US"/>
          </a:p>
        </p:txBody>
      </p:sp>
    </p:spTree>
    <p:extLst>
      <p:ext uri="{BB962C8B-B14F-4D97-AF65-F5344CB8AC3E}">
        <p14:creationId xmlns:p14="http://schemas.microsoft.com/office/powerpoint/2010/main" val="18106942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Django is a tool! Other technologies can be used to accomplish the same end-goal, yet in this course we’ll focus on Django because is fairly easy to understand</a:t>
            </a:r>
          </a:p>
          <a:p>
            <a:endParaRPr lang="en-GB" dirty="0"/>
          </a:p>
          <a:p>
            <a:r>
              <a:rPr lang="en-GB" dirty="0"/>
              <a:t>We will go over different web app technologies in the following lectures</a:t>
            </a:r>
          </a:p>
        </p:txBody>
      </p:sp>
      <p:sp>
        <p:nvSpPr>
          <p:cNvPr id="4" name="Slide Number Placeholder 3"/>
          <p:cNvSpPr>
            <a:spLocks noGrp="1"/>
          </p:cNvSpPr>
          <p:nvPr>
            <p:ph type="sldNum" sz="quarter" idx="10"/>
          </p:nvPr>
        </p:nvSpPr>
        <p:spPr/>
        <p:txBody>
          <a:bodyPr/>
          <a:lstStyle/>
          <a:p>
            <a:fld id="{6EC62AA8-AA5C-CD46-8FB0-AEE5D05DD673}" type="slidenum">
              <a:rPr lang="en-US" smtClean="0"/>
              <a:t>27</a:t>
            </a:fld>
            <a:endParaRPr lang="en-US"/>
          </a:p>
        </p:txBody>
      </p:sp>
    </p:spTree>
    <p:extLst>
      <p:ext uri="{BB962C8B-B14F-4D97-AF65-F5344CB8AC3E}">
        <p14:creationId xmlns:p14="http://schemas.microsoft.com/office/powerpoint/2010/main" val="34429588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2C9D08-8871-DB4F-BFFF-BCF546FB6706}" type="slidenum">
              <a:rPr lang="en-US" smtClean="0"/>
              <a:t>28</a:t>
            </a:fld>
            <a:endParaRPr lang="en-US"/>
          </a:p>
        </p:txBody>
      </p:sp>
    </p:spTree>
    <p:extLst>
      <p:ext uri="{BB962C8B-B14F-4D97-AF65-F5344CB8AC3E}">
        <p14:creationId xmlns:p14="http://schemas.microsoft.com/office/powerpoint/2010/main" val="6814667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a:t>[GAC]</a:t>
            </a:r>
            <a:r>
              <a:rPr lang="en-GB" baseline="0" dirty="0"/>
              <a:t> Django motivation</a:t>
            </a:r>
            <a:endParaRPr lang="en-GB" dirty="0"/>
          </a:p>
          <a:p>
            <a:endParaRPr lang="en-US" dirty="0"/>
          </a:p>
        </p:txBody>
      </p:sp>
      <p:sp>
        <p:nvSpPr>
          <p:cNvPr id="4" name="Slide Number Placeholder 3"/>
          <p:cNvSpPr>
            <a:spLocks noGrp="1"/>
          </p:cNvSpPr>
          <p:nvPr>
            <p:ph type="sldNum" sz="quarter" idx="10"/>
          </p:nvPr>
        </p:nvSpPr>
        <p:spPr/>
        <p:txBody>
          <a:bodyPr/>
          <a:lstStyle/>
          <a:p>
            <a:fld id="{6EC62AA8-AA5C-CD46-8FB0-AEE5D05DD673}" type="slidenum">
              <a:rPr lang="en-US" smtClean="0"/>
              <a:t>30</a:t>
            </a:fld>
            <a:endParaRPr lang="en-US"/>
          </a:p>
        </p:txBody>
      </p:sp>
    </p:spTree>
    <p:extLst>
      <p:ext uri="{BB962C8B-B14F-4D97-AF65-F5344CB8AC3E}">
        <p14:creationId xmlns:p14="http://schemas.microsoft.com/office/powerpoint/2010/main" val="3717764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US" dirty="0"/>
              <a:t>http://</a:t>
            </a:r>
            <a:r>
              <a:rPr lang="en-US" dirty="0" err="1"/>
              <a:t>docs.djangoproject.com</a:t>
            </a:r>
            <a:r>
              <a:rPr lang="en-US" dirty="0"/>
              <a:t>/</a:t>
            </a:r>
            <a:r>
              <a:rPr lang="en-US" dirty="0" err="1"/>
              <a:t>en</a:t>
            </a:r>
            <a:r>
              <a:rPr lang="en-US" dirty="0"/>
              <a:t>/dev/</a:t>
            </a:r>
            <a:r>
              <a:rPr lang="en-US" dirty="0" err="1"/>
              <a:t>misc</a:t>
            </a:r>
            <a:r>
              <a:rPr lang="en-US" dirty="0"/>
              <a:t>/design-philosophies/</a:t>
            </a:r>
          </a:p>
          <a:p>
            <a:endParaRPr lang="en-US" dirty="0"/>
          </a:p>
          <a:p>
            <a:r>
              <a:rPr lang="en-US" dirty="0"/>
              <a:t>Loose coupling: </a:t>
            </a:r>
            <a:r>
              <a:rPr lang="en-GB" sz="1200" b="0" i="0" kern="1200" dirty="0">
                <a:solidFill>
                  <a:schemeClr val="tx1"/>
                </a:solidFill>
                <a:effectLst/>
                <a:latin typeface="+mn-lt"/>
                <a:ea typeface="+mn-ea"/>
                <a:cs typeface="+mn-cs"/>
              </a:rPr>
              <a:t>The various layers of the framework shouldn’t “know” about each other unless absolutely necessary.  For example, the template system knows nothing about Web requests, the database layer knows nothing about data display and the view system doesn’t care which template system a programmer uses.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Explicit is better than implicit:</a:t>
            </a:r>
            <a:r>
              <a:rPr lang="en-GB" sz="1200" b="0" i="0" kern="1200" baseline="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Fields shouldn’t assume certain behaviours based solely on the name of the field. This requires too much knowledge of the system and is prone to errors. Instead, behaviours should be based on keyword arguments and, in some cases, on the type of the field.</a:t>
            </a:r>
          </a:p>
          <a:p>
            <a:endParaRPr lang="en-US" dirty="0"/>
          </a:p>
          <a:p>
            <a:endParaRPr lang="en-US" dirty="0"/>
          </a:p>
        </p:txBody>
      </p:sp>
      <p:sp>
        <p:nvSpPr>
          <p:cNvPr id="4" name="Slide Number Placeholder 3"/>
          <p:cNvSpPr>
            <a:spLocks noGrp="1"/>
          </p:cNvSpPr>
          <p:nvPr>
            <p:ph type="sldNum" sz="quarter" idx="10"/>
          </p:nvPr>
        </p:nvSpPr>
        <p:spPr/>
        <p:txBody>
          <a:bodyPr/>
          <a:lstStyle/>
          <a:p>
            <a:fld id="{7DE1B25F-D1C2-0240-A2FC-D999A37D4334}" type="slidenum">
              <a:rPr lang="en-US" smtClean="0"/>
              <a:pPr/>
              <a:t>32</a:t>
            </a:fld>
            <a:endParaRPr lang="en-US"/>
          </a:p>
        </p:txBody>
      </p:sp>
    </p:spTree>
    <p:extLst>
      <p:ext uri="{BB962C8B-B14F-4D97-AF65-F5344CB8AC3E}">
        <p14:creationId xmlns:p14="http://schemas.microsoft.com/office/powerpoint/2010/main" val="13593209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[GAC]</a:t>
            </a:r>
            <a:r>
              <a:rPr lang="en-GB" baseline="0" dirty="0"/>
              <a:t> </a:t>
            </a:r>
            <a:r>
              <a:rPr lang="en-US" dirty="0"/>
              <a:t>CRUD: Create,</a:t>
            </a:r>
            <a:r>
              <a:rPr lang="en-US" baseline="0" dirty="0"/>
              <a:t> Read, Update and Delete -&gt; basic functions of persistent storage</a:t>
            </a:r>
            <a:endParaRPr lang="en-GB" dirty="0"/>
          </a:p>
        </p:txBody>
      </p:sp>
      <p:sp>
        <p:nvSpPr>
          <p:cNvPr id="4" name="Slide Number Placeholder 3"/>
          <p:cNvSpPr>
            <a:spLocks noGrp="1"/>
          </p:cNvSpPr>
          <p:nvPr>
            <p:ph type="sldNum" sz="quarter" idx="10"/>
          </p:nvPr>
        </p:nvSpPr>
        <p:spPr/>
        <p:txBody>
          <a:bodyPr/>
          <a:lstStyle/>
          <a:p>
            <a:fld id="{6EC62AA8-AA5C-CD46-8FB0-AEE5D05DD673}" type="slidenum">
              <a:rPr lang="en-US" smtClean="0"/>
              <a:t>33</a:t>
            </a:fld>
            <a:endParaRPr lang="en-US"/>
          </a:p>
        </p:txBody>
      </p:sp>
    </p:spTree>
    <p:extLst>
      <p:ext uri="{BB962C8B-B14F-4D97-AF65-F5344CB8AC3E}">
        <p14:creationId xmlns:p14="http://schemas.microsoft.com/office/powerpoint/2010/main" val="4098681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[GAC]</a:t>
            </a:r>
            <a:r>
              <a:rPr lang="en-GB" baseline="0" dirty="0"/>
              <a:t> From Wikipedia, Model–view–controller (MVC) is a software architectural pattern for implementing user interfaces on computers. It divides a given software application into three interconnected parts, so as to separate internal representations of information from the ways that information is presented to or accepted from the user.[1][2]</a:t>
            </a:r>
          </a:p>
          <a:p>
            <a:endParaRPr lang="en-GB" baseline="0" dirty="0"/>
          </a:p>
          <a:p>
            <a:r>
              <a:rPr lang="en-GB" baseline="0" dirty="0"/>
              <a:t>Traditionally used for desktop graphical user interfaces (GUIs), this architecture has become popular for designing web applications.</a:t>
            </a:r>
            <a:endParaRPr lang="en-GB" dirty="0"/>
          </a:p>
        </p:txBody>
      </p:sp>
      <p:sp>
        <p:nvSpPr>
          <p:cNvPr id="4" name="Slide Number Placeholder 3"/>
          <p:cNvSpPr>
            <a:spLocks noGrp="1"/>
          </p:cNvSpPr>
          <p:nvPr>
            <p:ph type="sldNum" sz="quarter" idx="10"/>
          </p:nvPr>
        </p:nvSpPr>
        <p:spPr/>
        <p:txBody>
          <a:bodyPr/>
          <a:lstStyle/>
          <a:p>
            <a:fld id="{6EC62AA8-AA5C-CD46-8FB0-AEE5D05DD673}" type="slidenum">
              <a:rPr lang="en-US" smtClean="0"/>
              <a:t>34</a:t>
            </a:fld>
            <a:endParaRPr lang="en-US"/>
          </a:p>
        </p:txBody>
      </p:sp>
    </p:spTree>
    <p:extLst>
      <p:ext uri="{BB962C8B-B14F-4D97-AF65-F5344CB8AC3E}">
        <p14:creationId xmlns:p14="http://schemas.microsoft.com/office/powerpoint/2010/main" val="25602242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[GAC]</a:t>
            </a:r>
            <a:r>
              <a:rPr lang="en-GB" baseline="0" dirty="0"/>
              <a:t> ??</a:t>
            </a:r>
            <a:endParaRPr lang="en-GB" dirty="0"/>
          </a:p>
        </p:txBody>
      </p:sp>
      <p:sp>
        <p:nvSpPr>
          <p:cNvPr id="4" name="Slide Number Placeholder 3"/>
          <p:cNvSpPr>
            <a:spLocks noGrp="1"/>
          </p:cNvSpPr>
          <p:nvPr>
            <p:ph type="sldNum" sz="quarter" idx="10"/>
          </p:nvPr>
        </p:nvSpPr>
        <p:spPr/>
        <p:txBody>
          <a:bodyPr/>
          <a:lstStyle/>
          <a:p>
            <a:fld id="{6EC62AA8-AA5C-CD46-8FB0-AEE5D05DD673}" type="slidenum">
              <a:rPr lang="en-US" smtClean="0"/>
              <a:t>35</a:t>
            </a:fld>
            <a:endParaRPr lang="en-US"/>
          </a:p>
        </p:txBody>
      </p:sp>
    </p:spTree>
    <p:extLst>
      <p:ext uri="{BB962C8B-B14F-4D97-AF65-F5344CB8AC3E}">
        <p14:creationId xmlns:p14="http://schemas.microsoft.com/office/powerpoint/2010/main" val="2282096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EC62AA8-AA5C-CD46-8FB0-AEE5D05DD673}" type="slidenum">
              <a:rPr lang="en-US" smtClean="0"/>
              <a:t>37</a:t>
            </a:fld>
            <a:endParaRPr lang="en-US"/>
          </a:p>
        </p:txBody>
      </p:sp>
    </p:spTree>
    <p:extLst>
      <p:ext uri="{BB962C8B-B14F-4D97-AF65-F5344CB8AC3E}">
        <p14:creationId xmlns:p14="http://schemas.microsoft.com/office/powerpoint/2010/main" val="4033688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EC62AA8-AA5C-CD46-8FB0-AEE5D05DD673}" type="slidenum">
              <a:rPr lang="en-US" smtClean="0"/>
              <a:t>38</a:t>
            </a:fld>
            <a:endParaRPr lang="en-US"/>
          </a:p>
        </p:txBody>
      </p:sp>
    </p:spTree>
    <p:extLst>
      <p:ext uri="{BB962C8B-B14F-4D97-AF65-F5344CB8AC3E}">
        <p14:creationId xmlns:p14="http://schemas.microsoft.com/office/powerpoint/2010/main" val="4374669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EC62AA8-AA5C-CD46-8FB0-AEE5D05DD673}" type="slidenum">
              <a:rPr lang="en-US" smtClean="0"/>
              <a:t>39</a:t>
            </a:fld>
            <a:endParaRPr lang="en-US"/>
          </a:p>
        </p:txBody>
      </p:sp>
    </p:spTree>
    <p:extLst>
      <p:ext uri="{BB962C8B-B14F-4D97-AF65-F5344CB8AC3E}">
        <p14:creationId xmlns:p14="http://schemas.microsoft.com/office/powerpoint/2010/main" val="7109205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EC62AA8-AA5C-CD46-8FB0-AEE5D05DD673}" type="slidenum">
              <a:rPr lang="en-US" smtClean="0"/>
              <a:t>40</a:t>
            </a:fld>
            <a:endParaRPr lang="en-US"/>
          </a:p>
        </p:txBody>
      </p:sp>
    </p:spTree>
    <p:extLst>
      <p:ext uri="{BB962C8B-B14F-4D97-AF65-F5344CB8AC3E}">
        <p14:creationId xmlns:p14="http://schemas.microsoft.com/office/powerpoint/2010/main" val="781648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EC62AA8-AA5C-CD46-8FB0-AEE5D05DD673}" type="slidenum">
              <a:rPr lang="en-US" smtClean="0"/>
              <a:t>41</a:t>
            </a:fld>
            <a:endParaRPr lang="en-US"/>
          </a:p>
        </p:txBody>
      </p:sp>
    </p:spTree>
    <p:extLst>
      <p:ext uri="{BB962C8B-B14F-4D97-AF65-F5344CB8AC3E}">
        <p14:creationId xmlns:p14="http://schemas.microsoft.com/office/powerpoint/2010/main" val="6928543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2C9D08-8871-DB4F-BFFF-BCF546FB6706}" type="slidenum">
              <a:rPr lang="en-US" smtClean="0"/>
              <a:t>43</a:t>
            </a:fld>
            <a:endParaRPr lang="en-US"/>
          </a:p>
        </p:txBody>
      </p:sp>
    </p:spTree>
    <p:extLst>
      <p:ext uri="{BB962C8B-B14F-4D97-AF65-F5344CB8AC3E}">
        <p14:creationId xmlns:p14="http://schemas.microsoft.com/office/powerpoint/2010/main" val="19007583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2C9D08-8871-DB4F-BFFF-BCF546FB6706}" type="slidenum">
              <a:rPr lang="en-US" smtClean="0"/>
              <a:t>44</a:t>
            </a:fld>
            <a:endParaRPr lang="en-US"/>
          </a:p>
        </p:txBody>
      </p:sp>
    </p:spTree>
    <p:extLst>
      <p:ext uri="{BB962C8B-B14F-4D97-AF65-F5344CB8AC3E}">
        <p14:creationId xmlns:p14="http://schemas.microsoft.com/office/powerpoint/2010/main" val="17975005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2C9D08-8871-DB4F-BFFF-BCF546FB6706}" type="slidenum">
              <a:rPr lang="en-US" smtClean="0"/>
              <a:t>45</a:t>
            </a:fld>
            <a:endParaRPr lang="en-US"/>
          </a:p>
        </p:txBody>
      </p:sp>
    </p:spTree>
    <p:extLst>
      <p:ext uri="{BB962C8B-B14F-4D97-AF65-F5344CB8AC3E}">
        <p14:creationId xmlns:p14="http://schemas.microsoft.com/office/powerpoint/2010/main" val="28125793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2C9D08-8871-DB4F-BFFF-BCF546FB6706}" type="slidenum">
              <a:rPr lang="en-US" smtClean="0"/>
              <a:t>46</a:t>
            </a:fld>
            <a:endParaRPr lang="en-US"/>
          </a:p>
        </p:txBody>
      </p:sp>
    </p:spTree>
    <p:extLst>
      <p:ext uri="{BB962C8B-B14F-4D97-AF65-F5344CB8AC3E}">
        <p14:creationId xmlns:p14="http://schemas.microsoft.com/office/powerpoint/2010/main" val="13601682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optional ten minute video. You need to explain</a:t>
            </a:r>
            <a:r>
              <a:rPr lang="en-US" baseline="0" dirty="0"/>
              <a:t> it a bit though as there are no words. Basically the guy is making templates,  creating models – and then using scaffolding to build all the related infrastructure</a:t>
            </a:r>
            <a:endParaRPr lang="en-US" dirty="0"/>
          </a:p>
        </p:txBody>
      </p:sp>
      <p:sp>
        <p:nvSpPr>
          <p:cNvPr id="4" name="Slide Number Placeholder 3"/>
          <p:cNvSpPr>
            <a:spLocks noGrp="1"/>
          </p:cNvSpPr>
          <p:nvPr>
            <p:ph type="sldNum" sz="quarter" idx="10"/>
          </p:nvPr>
        </p:nvSpPr>
        <p:spPr/>
        <p:txBody>
          <a:bodyPr/>
          <a:lstStyle/>
          <a:p>
            <a:fld id="{2D2C9D08-8871-DB4F-BFFF-BCF546FB6706}" type="slidenum">
              <a:rPr lang="en-US" smtClean="0"/>
              <a:t>47</a:t>
            </a:fld>
            <a:endParaRPr lang="en-US"/>
          </a:p>
        </p:txBody>
      </p:sp>
    </p:spTree>
    <p:extLst>
      <p:ext uri="{BB962C8B-B14F-4D97-AF65-F5344CB8AC3E}">
        <p14:creationId xmlns:p14="http://schemas.microsoft.com/office/powerpoint/2010/main" val="3125038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2C9D08-8871-DB4F-BFFF-BCF546FB6706}" type="slidenum">
              <a:rPr lang="en-US" smtClean="0"/>
              <a:t>48</a:t>
            </a:fld>
            <a:endParaRPr lang="en-US"/>
          </a:p>
        </p:txBody>
      </p:sp>
    </p:spTree>
    <p:extLst>
      <p:ext uri="{BB962C8B-B14F-4D97-AF65-F5344CB8AC3E}">
        <p14:creationId xmlns:p14="http://schemas.microsoft.com/office/powerpoint/2010/main" val="11919947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2C9D08-8871-DB4F-BFFF-BCF546FB6706}" type="slidenum">
              <a:rPr lang="en-US" smtClean="0"/>
              <a:t>49</a:t>
            </a:fld>
            <a:endParaRPr lang="en-US"/>
          </a:p>
        </p:txBody>
      </p:sp>
    </p:spTree>
    <p:extLst>
      <p:ext uri="{BB962C8B-B14F-4D97-AF65-F5344CB8AC3E}">
        <p14:creationId xmlns:p14="http://schemas.microsoft.com/office/powerpoint/2010/main" val="19632995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lnSpcReduction="10000"/>
          </a:bodyPr>
          <a:lstStyle/>
          <a:p>
            <a:r>
              <a:rPr lang="en-US" sz="1200" kern="1200" dirty="0">
                <a:solidFill>
                  <a:schemeClr val="tx1"/>
                </a:solidFill>
                <a:latin typeface="+mn-lt"/>
                <a:ea typeface="+mn-ea"/>
                <a:cs typeface="+mn-cs"/>
              </a:rPr>
              <a:t>(This</a:t>
            </a:r>
            <a:r>
              <a:rPr lang="en-US" sz="1200" kern="1200" baseline="0" dirty="0">
                <a:solidFill>
                  <a:schemeClr val="tx1"/>
                </a:solidFill>
                <a:latin typeface="+mn-lt"/>
                <a:ea typeface="+mn-ea"/>
                <a:cs typeface="+mn-cs"/>
              </a:rPr>
              <a:t> is not really to be discussed in detail, only to point out that without these different frameworks, there are different components and structures. And that MVC is employed in some way, and there is lot of functionality that is provide common to most web apps.</a:t>
            </a:r>
            <a:endParaRPr lang="en-US" sz="1200" kern="1200" dirty="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Each class in the </a:t>
            </a:r>
            <a:r>
              <a:rPr lang="en-US" sz="1200" kern="1200" dirty="0" err="1">
                <a:solidFill>
                  <a:schemeClr val="tx1"/>
                </a:solidFill>
                <a:latin typeface="+mn-lt"/>
                <a:ea typeface="+mn-ea"/>
                <a:cs typeface="+mn-cs"/>
              </a:rPr>
              <a:t>symfony</a:t>
            </a:r>
            <a:r>
              <a:rPr lang="en-US" sz="1200" kern="1200" dirty="0">
                <a:solidFill>
                  <a:schemeClr val="tx1"/>
                </a:solidFill>
                <a:latin typeface="+mn-lt"/>
                <a:ea typeface="+mn-ea"/>
                <a:cs typeface="+mn-cs"/>
              </a:rPr>
              <a:t> platform is useable without the whole MVC architecture. The </a:t>
            </a:r>
            <a:r>
              <a:rPr lang="en-US" sz="1200" kern="1200" dirty="0" err="1">
                <a:solidFill>
                  <a:schemeClr val="tx1"/>
                </a:solidFill>
                <a:latin typeface="+mn-lt"/>
                <a:ea typeface="+mn-ea"/>
                <a:cs typeface="+mn-cs"/>
              </a:rPr>
              <a:t>symfony</a:t>
            </a:r>
            <a:r>
              <a:rPr lang="en-US" sz="1200" kern="1200" dirty="0">
                <a:solidFill>
                  <a:schemeClr val="tx1"/>
                </a:solidFill>
                <a:latin typeface="+mn-lt"/>
                <a:ea typeface="+mn-ea"/>
                <a:cs typeface="+mn-cs"/>
              </a:rPr>
              <a:t> platform classes have no dependency, and the only prerequisite to use them is the registration of the </a:t>
            </a:r>
            <a:r>
              <a:rPr lang="en-US" sz="1200" kern="1200" dirty="0" err="1">
                <a:solidFill>
                  <a:schemeClr val="tx1"/>
                </a:solidFill>
                <a:latin typeface="+mn-lt"/>
                <a:ea typeface="+mn-ea"/>
                <a:cs typeface="+mn-cs"/>
              </a:rPr>
              <a:t>symfony</a:t>
            </a:r>
            <a:r>
              <a:rPr lang="en-US" sz="1200" kern="1200" dirty="0">
                <a:solidFill>
                  <a:schemeClr val="tx1"/>
                </a:solidFill>
                <a:latin typeface="+mn-lt"/>
                <a:ea typeface="+mn-ea"/>
                <a:cs typeface="+mn-cs"/>
              </a:rPr>
              <a:t> autoloader:</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The </a:t>
            </a:r>
            <a:r>
              <a:rPr lang="en-US" sz="1200" kern="1200" dirty="0" err="1">
                <a:solidFill>
                  <a:schemeClr val="tx1"/>
                </a:solidFill>
                <a:latin typeface="+mn-lt"/>
                <a:ea typeface="+mn-ea"/>
                <a:cs typeface="+mn-cs"/>
              </a:rPr>
              <a:t>sfConfiguration</a:t>
            </a:r>
            <a:r>
              <a:rPr lang="en-US" sz="1200" kern="1200" dirty="0">
                <a:solidFill>
                  <a:schemeClr val="tx1"/>
                </a:solidFill>
                <a:latin typeface="+mn-lt"/>
                <a:ea typeface="+mn-ea"/>
                <a:cs typeface="+mn-cs"/>
              </a:rPr>
              <a:t> class provides a way to configure and to customize your applications. </a:t>
            </a:r>
          </a:p>
          <a:p>
            <a:r>
              <a:rPr lang="en-US" sz="1200" kern="1200" dirty="0">
                <a:solidFill>
                  <a:schemeClr val="tx1"/>
                </a:solidFill>
                <a:latin typeface="+mn-lt"/>
                <a:ea typeface="+mn-ea"/>
                <a:cs typeface="+mn-cs"/>
              </a:rPr>
              <a:t>The </a:t>
            </a:r>
            <a:r>
              <a:rPr lang="en-US" sz="1200" kern="1200" dirty="0" err="1">
                <a:solidFill>
                  <a:schemeClr val="tx1"/>
                </a:solidFill>
                <a:latin typeface="+mn-lt"/>
                <a:ea typeface="+mn-ea"/>
                <a:cs typeface="+mn-cs"/>
              </a:rPr>
              <a:t>sfContext</a:t>
            </a:r>
            <a:r>
              <a:rPr lang="en-US" sz="1200" kern="1200" dirty="0">
                <a:solidFill>
                  <a:schemeClr val="tx1"/>
                </a:solidFill>
                <a:latin typeface="+mn-lt"/>
                <a:ea typeface="+mn-ea"/>
                <a:cs typeface="+mn-cs"/>
              </a:rPr>
              <a:t> class acts as a registry that holds references to all core objects. And thanks to the </a:t>
            </a:r>
            <a:r>
              <a:rPr lang="en-US" sz="1200" kern="1200" dirty="0" err="1">
                <a:solidFill>
                  <a:schemeClr val="tx1"/>
                </a:solidFill>
                <a:latin typeface="+mn-lt"/>
                <a:ea typeface="+mn-ea"/>
                <a:cs typeface="+mn-cs"/>
              </a:rPr>
              <a:t>factories.yml</a:t>
            </a:r>
            <a:r>
              <a:rPr lang="en-US" sz="1200" kern="1200" dirty="0">
                <a:solidFill>
                  <a:schemeClr val="tx1"/>
                </a:solidFill>
                <a:latin typeface="+mn-lt"/>
                <a:ea typeface="+mn-ea"/>
                <a:cs typeface="+mn-cs"/>
              </a:rPr>
              <a:t> configuration file, you can customize all the registry classes very easily, just by editing a YAML file.</a:t>
            </a:r>
          </a:p>
          <a:p>
            <a:r>
              <a:rPr lang="en-US" sz="1200" kern="1200" dirty="0">
                <a:solidFill>
                  <a:schemeClr val="tx1"/>
                </a:solidFill>
                <a:latin typeface="+mn-lt"/>
                <a:ea typeface="+mn-ea"/>
                <a:cs typeface="+mn-cs"/>
              </a:rPr>
              <a:t>The </a:t>
            </a:r>
            <a:r>
              <a:rPr lang="en-US" sz="1200" kern="1200" dirty="0" err="1">
                <a:solidFill>
                  <a:schemeClr val="tx1"/>
                </a:solidFill>
                <a:latin typeface="+mn-lt"/>
                <a:ea typeface="+mn-ea"/>
                <a:cs typeface="+mn-cs"/>
              </a:rPr>
              <a:t>symfony</a:t>
            </a:r>
            <a:r>
              <a:rPr lang="en-US" sz="1200" kern="1200" dirty="0">
                <a:solidFill>
                  <a:schemeClr val="tx1"/>
                </a:solidFill>
                <a:latin typeface="+mn-lt"/>
                <a:ea typeface="+mn-ea"/>
                <a:cs typeface="+mn-cs"/>
              </a:rPr>
              <a:t> MVC framework is provided by a set of additional classes on top of the </a:t>
            </a:r>
            <a:r>
              <a:rPr lang="en-US" sz="1200" kern="1200" dirty="0" err="1">
                <a:solidFill>
                  <a:schemeClr val="tx1"/>
                </a:solidFill>
                <a:latin typeface="+mn-lt"/>
                <a:ea typeface="+mn-ea"/>
                <a:cs typeface="+mn-cs"/>
              </a:rPr>
              <a:t>symfony</a:t>
            </a:r>
            <a:r>
              <a:rPr lang="en-US" sz="1200" kern="1200" dirty="0">
                <a:solidFill>
                  <a:schemeClr val="tx1"/>
                </a:solidFill>
                <a:latin typeface="+mn-lt"/>
                <a:ea typeface="+mn-ea"/>
                <a:cs typeface="+mn-cs"/>
              </a:rPr>
              <a:t> framework as shown below:</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The Model layer is provided by third-party libraries, Propel or Doctrine. Even if </a:t>
            </a:r>
            <a:r>
              <a:rPr lang="en-US" sz="1200" kern="1200" dirty="0" err="1">
                <a:solidFill>
                  <a:schemeClr val="tx1"/>
                </a:solidFill>
                <a:latin typeface="+mn-lt"/>
                <a:ea typeface="+mn-ea"/>
                <a:cs typeface="+mn-cs"/>
              </a:rPr>
              <a:t>symfony</a:t>
            </a:r>
            <a:r>
              <a:rPr lang="en-US" sz="1200" kern="1200" dirty="0">
                <a:solidFill>
                  <a:schemeClr val="tx1"/>
                </a:solidFill>
                <a:latin typeface="+mn-lt"/>
                <a:ea typeface="+mn-ea"/>
                <a:cs typeface="+mn-cs"/>
              </a:rPr>
              <a:t> 1.1 is bundled with the Propel </a:t>
            </a:r>
            <a:r>
              <a:rPr lang="en-US" sz="1200" kern="1200" dirty="0" err="1">
                <a:solidFill>
                  <a:schemeClr val="tx1"/>
                </a:solidFill>
                <a:latin typeface="+mn-lt"/>
                <a:ea typeface="+mn-ea"/>
                <a:cs typeface="+mn-cs"/>
              </a:rPr>
              <a:t>plugin</a:t>
            </a:r>
            <a:r>
              <a:rPr lang="en-US" sz="1200" kern="1200" dirty="0">
                <a:solidFill>
                  <a:schemeClr val="tx1"/>
                </a:solidFill>
                <a:latin typeface="+mn-lt"/>
                <a:ea typeface="+mn-ea"/>
                <a:cs typeface="+mn-cs"/>
              </a:rPr>
              <a:t>, it's very easy to switch to Doctrine by installing the </a:t>
            </a:r>
            <a:r>
              <a:rPr lang="en-US" sz="1200" kern="1200" dirty="0" err="1">
                <a:solidFill>
                  <a:schemeClr val="tx1"/>
                </a:solidFill>
                <a:latin typeface="+mn-lt"/>
                <a:ea typeface="+mn-ea"/>
                <a:cs typeface="+mn-cs"/>
              </a:rPr>
              <a:t>sfDoctrinePlugin</a:t>
            </a:r>
            <a:r>
              <a:rPr lang="en-US" sz="1200" kern="1200" dirty="0">
                <a:solidFill>
                  <a:schemeClr val="tx1"/>
                </a:solidFill>
                <a:latin typeface="+mn-lt"/>
                <a:ea typeface="+mn-ea"/>
                <a:cs typeface="+mn-cs"/>
              </a:rPr>
              <a:t>. Both </a:t>
            </a:r>
            <a:r>
              <a:rPr lang="en-US" sz="1200" kern="1200" dirty="0" err="1">
                <a:solidFill>
                  <a:schemeClr val="tx1"/>
                </a:solidFill>
                <a:latin typeface="+mn-lt"/>
                <a:ea typeface="+mn-ea"/>
                <a:cs typeface="+mn-cs"/>
              </a:rPr>
              <a:t>ORMs</a:t>
            </a:r>
            <a:r>
              <a:rPr lang="en-US" sz="1200" kern="1200" dirty="0">
                <a:solidFill>
                  <a:schemeClr val="tx1"/>
                </a:solidFill>
                <a:latin typeface="+mn-lt"/>
                <a:ea typeface="+mn-ea"/>
                <a:cs typeface="+mn-cs"/>
              </a:rPr>
              <a:t> provide the same level of integration with </a:t>
            </a:r>
            <a:r>
              <a:rPr lang="en-US" sz="1200" kern="1200" dirty="0" err="1">
                <a:solidFill>
                  <a:schemeClr val="tx1"/>
                </a:solidFill>
                <a:latin typeface="+mn-lt"/>
                <a:ea typeface="+mn-ea"/>
                <a:cs typeface="+mn-cs"/>
              </a:rPr>
              <a:t>symfony</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The View layer is provided by the </a:t>
            </a:r>
            <a:r>
              <a:rPr lang="en-US" sz="1200" kern="1200" dirty="0" err="1">
                <a:solidFill>
                  <a:schemeClr val="tx1"/>
                </a:solidFill>
                <a:latin typeface="+mn-lt"/>
                <a:ea typeface="+mn-ea"/>
                <a:cs typeface="+mn-cs"/>
              </a:rPr>
              <a:t>sfView</a:t>
            </a:r>
            <a:r>
              <a:rPr lang="en-US" sz="1200" kern="1200" dirty="0">
                <a:solidFill>
                  <a:schemeClr val="tx1"/>
                </a:solidFill>
                <a:latin typeface="+mn-lt"/>
                <a:ea typeface="+mn-ea"/>
                <a:cs typeface="+mn-cs"/>
              </a:rPr>
              <a:t> class, a bunch of helpers, and templates written by the developer.</a:t>
            </a:r>
          </a:p>
          <a:p>
            <a:r>
              <a:rPr lang="en-US" sz="1200" kern="1200" dirty="0">
                <a:solidFill>
                  <a:schemeClr val="tx1"/>
                </a:solidFill>
                <a:latin typeface="+mn-lt"/>
                <a:ea typeface="+mn-ea"/>
                <a:cs typeface="+mn-cs"/>
              </a:rPr>
              <a:t>The Controller layer is based on a filter chain and actions defined by the developer.</a:t>
            </a:r>
            <a:endParaRPr lang="en-US" dirty="0"/>
          </a:p>
        </p:txBody>
      </p:sp>
      <p:sp>
        <p:nvSpPr>
          <p:cNvPr id="4" name="Slide Number Placeholder 3"/>
          <p:cNvSpPr>
            <a:spLocks noGrp="1"/>
          </p:cNvSpPr>
          <p:nvPr>
            <p:ph type="sldNum" sz="quarter" idx="10"/>
          </p:nvPr>
        </p:nvSpPr>
        <p:spPr/>
        <p:txBody>
          <a:bodyPr/>
          <a:lstStyle/>
          <a:p>
            <a:fld id="{7DE1B25F-D1C2-0240-A2FC-D999A37D4334}" type="slidenum">
              <a:rPr lang="en-US" smtClean="0"/>
              <a:pPr/>
              <a:t>50</a:t>
            </a:fld>
            <a:endParaRPr lang="en-US"/>
          </a:p>
        </p:txBody>
      </p:sp>
    </p:spTree>
    <p:extLst>
      <p:ext uri="{BB962C8B-B14F-4D97-AF65-F5344CB8AC3E}">
        <p14:creationId xmlns:p14="http://schemas.microsoft.com/office/powerpoint/2010/main" val="27696093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http://www.flickr.com/photos/cityhunter12/2370829473/sizes/l/in/photostream/</a:t>
            </a:r>
          </a:p>
        </p:txBody>
      </p:sp>
      <p:sp>
        <p:nvSpPr>
          <p:cNvPr id="4" name="Slide Number Placeholder 3"/>
          <p:cNvSpPr>
            <a:spLocks noGrp="1"/>
          </p:cNvSpPr>
          <p:nvPr>
            <p:ph type="sldNum" sz="quarter" idx="10"/>
          </p:nvPr>
        </p:nvSpPr>
        <p:spPr/>
        <p:txBody>
          <a:bodyPr/>
          <a:lstStyle/>
          <a:p>
            <a:fld id="{7DE1B25F-D1C2-0240-A2FC-D999A37D4334}" type="slidenum">
              <a:rPr lang="en-US" smtClean="0"/>
              <a:pPr/>
              <a:t>52</a:t>
            </a:fld>
            <a:endParaRPr lang="en-US"/>
          </a:p>
        </p:txBody>
      </p:sp>
    </p:spTree>
    <p:extLst>
      <p:ext uri="{BB962C8B-B14F-4D97-AF65-F5344CB8AC3E}">
        <p14:creationId xmlns:p14="http://schemas.microsoft.com/office/powerpoint/2010/main" val="35674641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US" dirty="0"/>
              <a:t>http://dev.markhaus.com/blog/2010/10/symfony-vs-django/</a:t>
            </a:r>
          </a:p>
        </p:txBody>
      </p:sp>
      <p:sp>
        <p:nvSpPr>
          <p:cNvPr id="4" name="Slide Number Placeholder 3"/>
          <p:cNvSpPr>
            <a:spLocks noGrp="1"/>
          </p:cNvSpPr>
          <p:nvPr>
            <p:ph type="sldNum" sz="quarter" idx="10"/>
          </p:nvPr>
        </p:nvSpPr>
        <p:spPr/>
        <p:txBody>
          <a:bodyPr/>
          <a:lstStyle/>
          <a:p>
            <a:fld id="{7DE1B25F-D1C2-0240-A2FC-D999A37D4334}" type="slidenum">
              <a:rPr lang="en-US" smtClean="0"/>
              <a:pPr/>
              <a:t>53</a:t>
            </a:fld>
            <a:endParaRPr lang="en-US"/>
          </a:p>
        </p:txBody>
      </p:sp>
    </p:spTree>
    <p:extLst>
      <p:ext uri="{BB962C8B-B14F-4D97-AF65-F5344CB8AC3E}">
        <p14:creationId xmlns:p14="http://schemas.microsoft.com/office/powerpoint/2010/main" val="27070785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US" dirty="0"/>
              <a:t>http://blog.ifabio.com/2010/03/02/django-rails-symfony-a-different-point-of-view/</a:t>
            </a:r>
          </a:p>
        </p:txBody>
      </p:sp>
      <p:sp>
        <p:nvSpPr>
          <p:cNvPr id="4" name="Slide Number Placeholder 3"/>
          <p:cNvSpPr>
            <a:spLocks noGrp="1"/>
          </p:cNvSpPr>
          <p:nvPr>
            <p:ph type="sldNum" sz="quarter" idx="10"/>
          </p:nvPr>
        </p:nvSpPr>
        <p:spPr/>
        <p:txBody>
          <a:bodyPr/>
          <a:lstStyle/>
          <a:p>
            <a:fld id="{7DE1B25F-D1C2-0240-A2FC-D999A37D4334}" type="slidenum">
              <a:rPr lang="en-US" smtClean="0"/>
              <a:pPr/>
              <a:t>54</a:t>
            </a:fld>
            <a:endParaRPr lang="en-US"/>
          </a:p>
        </p:txBody>
      </p:sp>
    </p:spTree>
    <p:extLst>
      <p:ext uri="{BB962C8B-B14F-4D97-AF65-F5344CB8AC3E}">
        <p14:creationId xmlns:p14="http://schemas.microsoft.com/office/powerpoint/2010/main" val="37368291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E1B25F-D1C2-0240-A2FC-D999A37D4334}" type="slidenum">
              <a:rPr lang="en-US" smtClean="0"/>
              <a:pPr/>
              <a:t>59</a:t>
            </a:fld>
            <a:endParaRPr lang="en-US"/>
          </a:p>
        </p:txBody>
      </p:sp>
    </p:spTree>
    <p:extLst>
      <p:ext uri="{BB962C8B-B14F-4D97-AF65-F5344CB8AC3E}">
        <p14:creationId xmlns:p14="http://schemas.microsoft.com/office/powerpoint/2010/main" val="19276930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4217" y="2130425"/>
            <a:ext cx="8451115" cy="1470025"/>
          </a:xfrm>
        </p:spPr>
        <p:txBody>
          <a:bodyPr/>
          <a:lstStyle/>
          <a:p>
            <a:r>
              <a:rPr lang="en-GB" dirty="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5" name="Footer Placeholder 4"/>
          <p:cNvSpPr>
            <a:spLocks noGrp="1"/>
          </p:cNvSpPr>
          <p:nvPr>
            <p:ph type="ftr" sz="quarter" idx="11"/>
          </p:nvPr>
        </p:nvSpPr>
        <p:spPr/>
        <p:txBody>
          <a:bodyPr/>
          <a:lstStyle/>
          <a:p>
            <a:r>
              <a:rPr lang="en-US" dirty="0"/>
              <a:t>DIM3</a:t>
            </a:r>
          </a:p>
        </p:txBody>
      </p:sp>
      <p:sp>
        <p:nvSpPr>
          <p:cNvPr id="6" name="Slide Number Placeholder 5"/>
          <p:cNvSpPr>
            <a:spLocks noGrp="1"/>
          </p:cNvSpPr>
          <p:nvPr>
            <p:ph type="sldNum" sz="quarter" idx="12"/>
          </p:nvPr>
        </p:nvSpPr>
        <p:spPr/>
        <p:txBody>
          <a:bodyPr/>
          <a:lstStyle/>
          <a:p>
            <a:fld id="{C2C9DDB0-81EE-D14D-B800-31495205A3AC}" type="slidenum">
              <a:rPr lang="en-US" smtClean="0"/>
              <a:t>‹#›</a:t>
            </a:fld>
            <a:endParaRPr lang="en-US"/>
          </a:p>
        </p:txBody>
      </p:sp>
      <p:pic>
        <p:nvPicPr>
          <p:cNvPr id="7" name="Picture 6" descr="Unknown-1.jpe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50000" y="250236"/>
            <a:ext cx="2336800" cy="711200"/>
          </a:xfrm>
          <a:prstGeom prst="rect">
            <a:avLst/>
          </a:prstGeom>
        </p:spPr>
      </p:pic>
    </p:spTree>
    <p:extLst>
      <p:ext uri="{BB962C8B-B14F-4D97-AF65-F5344CB8AC3E}">
        <p14:creationId xmlns:p14="http://schemas.microsoft.com/office/powerpoint/2010/main" val="1407751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295C18E-71E3-2445-B53D-B08FF66D11AD}"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696324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295C18E-71E3-2445-B53D-B08FF66D11AD}"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437238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1295C18E-71E3-2445-B53D-B08FF66D11AD}" type="datetimeFigureOut">
              <a:rPr lang="en-US" smtClean="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3491484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1295C18E-71E3-2445-B53D-B08FF66D11AD}" type="datetimeFigureOut">
              <a:rPr lang="en-US" smtClean="0"/>
              <a:t>1/16/2026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2449344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1295C18E-71E3-2445-B53D-B08FF66D11AD}" type="datetimeFigureOut">
              <a:rPr lang="en-US" smtClean="0"/>
              <a:t>1/16/2026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751781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95C18E-71E3-2445-B53D-B08FF66D11AD}" type="datetimeFigureOut">
              <a:rPr lang="en-US" smtClean="0"/>
              <a:t>1/16/2026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1048087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295C18E-71E3-2445-B53D-B08FF66D11AD}" type="datetimeFigureOut">
              <a:rPr lang="en-US" smtClean="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137875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295C18E-71E3-2445-B53D-B08FF66D11AD}" type="datetimeFigureOut">
              <a:rPr lang="en-US" smtClean="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131761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295C18E-71E3-2445-B53D-B08FF66D11AD}"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3918194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295C18E-71E3-2445-B53D-B08FF66D11AD}"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148812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628"/>
            <a:ext cx="9144000" cy="1143000"/>
          </a:xfrm>
          <a:prstGeom prst="rect">
            <a:avLst/>
          </a:prstGeom>
          <a:solidFill>
            <a:schemeClr val="tx1">
              <a:lumMod val="95000"/>
              <a:lumOff val="5000"/>
            </a:schemeClr>
          </a:solidFill>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95C18E-71E3-2445-B53D-B08FF66D11AD}" type="datetimeFigureOut">
              <a:rPr lang="en-US" smtClean="0"/>
              <a:t>1/16/2026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C9DDB0-81EE-D14D-B800-31495205A3AC}" type="slidenum">
              <a:rPr lang="en-US" smtClean="0"/>
              <a:t>‹#›</a:t>
            </a:fld>
            <a:endParaRPr lang="en-US"/>
          </a:p>
        </p:txBody>
      </p:sp>
    </p:spTree>
    <p:extLst>
      <p:ext uri="{BB962C8B-B14F-4D97-AF65-F5344CB8AC3E}">
        <p14:creationId xmlns:p14="http://schemas.microsoft.com/office/powerpoint/2010/main" val="33752707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bg1"/>
          </a:solidFill>
          <a:latin typeface="American Typewriter"/>
          <a:ea typeface="+mj-ea"/>
          <a:cs typeface="American Typewriter"/>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en.wikipedia.org/wiki/Comparison_of_web_application_frameworks"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docs.djangoproject.com/en/dev/misc/design-philosophies/"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hyperlink" Target="https://www.youtube.com/watch?v=U5j-lnRWSNE"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9"/>
            <a:ext cx="8610600" cy="1470025"/>
          </a:xfrm>
        </p:spPr>
        <p:txBody>
          <a:bodyPr>
            <a:normAutofit/>
          </a:bodyPr>
          <a:lstStyle/>
          <a:p>
            <a:r>
              <a:rPr lang="en-US" dirty="0"/>
              <a:t>Web Application Frameworks &amp; Django</a:t>
            </a:r>
            <a:endParaRPr lang="en-US" sz="3111" dirty="0"/>
          </a:p>
        </p:txBody>
      </p:sp>
      <p:sp>
        <p:nvSpPr>
          <p:cNvPr id="3" name="Subtitle 2"/>
          <p:cNvSpPr>
            <a:spLocks noGrp="1"/>
          </p:cNvSpPr>
          <p:nvPr>
            <p:ph type="subTitle" idx="1"/>
          </p:nvPr>
        </p:nvSpPr>
        <p:spPr>
          <a:xfrm>
            <a:off x="1371600" y="3600450"/>
            <a:ext cx="6400800" cy="2133600"/>
          </a:xfrm>
        </p:spPr>
        <p:txBody>
          <a:bodyPr>
            <a:normAutofit/>
          </a:bodyPr>
          <a:lstStyle/>
          <a:p>
            <a:endParaRPr lang="en-US" dirty="0"/>
          </a:p>
          <a:p>
            <a:r>
              <a:rPr lang="en-US" dirty="0"/>
              <a:t>Internet Technology</a:t>
            </a:r>
          </a:p>
          <a:p>
            <a:r>
              <a:rPr lang="en-US" dirty="0"/>
              <a:t>ITECH</a:t>
            </a:r>
          </a:p>
        </p:txBody>
      </p:sp>
    </p:spTree>
    <p:extLst>
      <p:ext uri="{BB962C8B-B14F-4D97-AF65-F5344CB8AC3E}">
        <p14:creationId xmlns:p14="http://schemas.microsoft.com/office/powerpoint/2010/main" val="4293158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294A9-8337-C4DD-BEE0-7FA374D01628}"/>
              </a:ext>
            </a:extLst>
          </p:cNvPr>
          <p:cNvSpPr>
            <a:spLocks noGrp="1"/>
          </p:cNvSpPr>
          <p:nvPr>
            <p:ph type="title"/>
          </p:nvPr>
        </p:nvSpPr>
        <p:spPr/>
        <p:txBody>
          <a:bodyPr/>
          <a:lstStyle/>
          <a:p>
            <a:r>
              <a:rPr lang="en-US" dirty="0"/>
              <a:t>Week 2 Learning Objectives</a:t>
            </a:r>
          </a:p>
        </p:txBody>
      </p:sp>
      <p:sp>
        <p:nvSpPr>
          <p:cNvPr id="3" name="Content Placeholder 2">
            <a:extLst>
              <a:ext uri="{FF2B5EF4-FFF2-40B4-BE49-F238E27FC236}">
                <a16:creationId xmlns:a16="http://schemas.microsoft.com/office/drawing/2014/main" id="{666B5A15-13FC-6549-BF64-58E6FB9063D3}"/>
              </a:ext>
            </a:extLst>
          </p:cNvPr>
          <p:cNvSpPr>
            <a:spLocks noGrp="1"/>
          </p:cNvSpPr>
          <p:nvPr>
            <p:ph idx="1"/>
          </p:nvPr>
        </p:nvSpPr>
        <p:spPr/>
        <p:txBody>
          <a:bodyPr vert="horz" lIns="91440" tIns="45720" rIns="91440" bIns="45720" rtlCol="0" anchor="t">
            <a:normAutofit/>
          </a:bodyPr>
          <a:lstStyle/>
          <a:p>
            <a:r>
              <a:rPr lang="en-US" dirty="0">
                <a:ea typeface="Calibri"/>
                <a:cs typeface="Calibri"/>
              </a:rPr>
              <a:t>By the end of Week 2 you should:</a:t>
            </a:r>
          </a:p>
          <a:p>
            <a:pPr lvl="1">
              <a:buFont typeface="Courier New"/>
              <a:buChar char="o"/>
            </a:pPr>
            <a:r>
              <a:rPr lang="en-US">
                <a:ea typeface="Calibri"/>
                <a:cs typeface="Calibri"/>
              </a:rPr>
              <a:t>Understand the </a:t>
            </a:r>
            <a:r>
              <a:rPr lang="en-US" b="1">
                <a:ea typeface="Calibri"/>
                <a:cs typeface="Calibri"/>
              </a:rPr>
              <a:t>complexity of web development </a:t>
            </a:r>
            <a:r>
              <a:rPr lang="en-US">
                <a:ea typeface="Calibri"/>
                <a:cs typeface="Calibri"/>
              </a:rPr>
              <a:t>and why we need </a:t>
            </a:r>
            <a:r>
              <a:rPr lang="en-US" b="1">
                <a:ea typeface="Calibri"/>
                <a:cs typeface="Calibri"/>
              </a:rPr>
              <a:t>frameworks</a:t>
            </a:r>
            <a:endParaRPr lang="en-US" b="1" dirty="0">
              <a:ea typeface="Calibri"/>
              <a:cs typeface="Calibri"/>
            </a:endParaRPr>
          </a:p>
          <a:p>
            <a:pPr lvl="1">
              <a:buFont typeface="Courier New"/>
              <a:buChar char="o"/>
            </a:pPr>
            <a:r>
              <a:rPr lang="en-US">
                <a:ea typeface="Calibri"/>
                <a:cs typeface="Calibri"/>
              </a:rPr>
              <a:t>Map the elements of your </a:t>
            </a:r>
            <a:r>
              <a:rPr lang="en-US" b="1">
                <a:ea typeface="Calibri"/>
                <a:cs typeface="Calibri"/>
              </a:rPr>
              <a:t>architecture design </a:t>
            </a:r>
            <a:r>
              <a:rPr lang="en-US">
                <a:ea typeface="Calibri"/>
                <a:cs typeface="Calibri"/>
              </a:rPr>
              <a:t>to </a:t>
            </a:r>
            <a:r>
              <a:rPr lang="en-US" b="1">
                <a:ea typeface="Calibri"/>
                <a:cs typeface="Calibri"/>
              </a:rPr>
              <a:t>Django modules </a:t>
            </a:r>
          </a:p>
          <a:p>
            <a:pPr lvl="2">
              <a:buFont typeface="Wingdings"/>
              <a:buChar char="§"/>
            </a:pPr>
            <a:r>
              <a:rPr lang="en-US">
                <a:ea typeface="Calibri"/>
                <a:cs typeface="Calibri"/>
              </a:rPr>
              <a:t>With a little help of the Tango with Django book and your own study</a:t>
            </a:r>
            <a:endParaRPr lang="en-US" dirty="0">
              <a:ea typeface="Calibri"/>
              <a:cs typeface="Calibri"/>
            </a:endParaRPr>
          </a:p>
          <a:p>
            <a:pPr lvl="1">
              <a:buFont typeface="Courier New"/>
              <a:buChar char="o"/>
            </a:pPr>
            <a:endParaRPr lang="en-US" b="1" dirty="0">
              <a:ea typeface="Calibri"/>
              <a:cs typeface="Calibri"/>
            </a:endParaRPr>
          </a:p>
          <a:p>
            <a:pPr lvl="1">
              <a:buFont typeface="Courier New"/>
              <a:buChar char="o"/>
            </a:pPr>
            <a:endParaRPr lang="en-US" dirty="0">
              <a:ea typeface="Calibri"/>
              <a:cs typeface="Calibri"/>
            </a:endParaRPr>
          </a:p>
        </p:txBody>
      </p:sp>
    </p:spTree>
    <p:extLst>
      <p:ext uri="{BB962C8B-B14F-4D97-AF65-F5344CB8AC3E}">
        <p14:creationId xmlns:p14="http://schemas.microsoft.com/office/powerpoint/2010/main" val="2638872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 of messy ethernet cables&#10;"/>
          <p:cNvPicPr>
            <a:picLocks noChangeAspect="1"/>
          </p:cNvPicPr>
          <p:nvPr/>
        </p:nvPicPr>
        <p:blipFill>
          <a:blip r:embed="rId3"/>
          <a:stretch>
            <a:fillRect/>
          </a:stretch>
        </p:blipFill>
        <p:spPr>
          <a:xfrm>
            <a:off x="-479422" y="0"/>
            <a:ext cx="10298312" cy="6868896"/>
          </a:xfrm>
          <a:prstGeom prst="rect">
            <a:avLst/>
          </a:prstGeom>
        </p:spPr>
      </p:pic>
      <p:sp>
        <p:nvSpPr>
          <p:cNvPr id="5" name="TextBox 4"/>
          <p:cNvSpPr txBox="1"/>
          <p:nvPr/>
        </p:nvSpPr>
        <p:spPr>
          <a:xfrm>
            <a:off x="3640569" y="5687706"/>
            <a:ext cx="5537994" cy="830997"/>
          </a:xfrm>
          <a:prstGeom prst="rect">
            <a:avLst/>
          </a:prstGeom>
          <a:solidFill>
            <a:schemeClr val="tx1">
              <a:alpha val="55000"/>
            </a:schemeClr>
          </a:solidFill>
        </p:spPr>
        <p:txBody>
          <a:bodyPr wrap="none" rtlCol="0">
            <a:spAutoFit/>
          </a:bodyPr>
          <a:lstStyle/>
          <a:p>
            <a:r>
              <a:rPr lang="en-US" sz="4800" b="1" dirty="0">
                <a:solidFill>
                  <a:schemeClr val="bg1"/>
                </a:solidFill>
              </a:rPr>
              <a:t>Web Dev Complexity</a:t>
            </a:r>
          </a:p>
        </p:txBody>
      </p:sp>
    </p:spTree>
    <p:extLst>
      <p:ext uri="{BB962C8B-B14F-4D97-AF65-F5344CB8AC3E}">
        <p14:creationId xmlns:p14="http://schemas.microsoft.com/office/powerpoint/2010/main" val="288388315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Development Complexity</a:t>
            </a:r>
          </a:p>
        </p:txBody>
      </p:sp>
      <p:sp>
        <p:nvSpPr>
          <p:cNvPr id="3" name="Content Placeholder 2"/>
          <p:cNvSpPr>
            <a:spLocks noGrp="1"/>
          </p:cNvSpPr>
          <p:nvPr>
            <p:ph idx="1"/>
          </p:nvPr>
        </p:nvSpPr>
        <p:spPr/>
        <p:txBody>
          <a:bodyPr>
            <a:normAutofit fontScale="85000" lnSpcReduction="20000"/>
          </a:bodyPr>
          <a:lstStyle/>
          <a:p>
            <a:pPr marL="0" indent="0">
              <a:buNone/>
            </a:pPr>
            <a:r>
              <a:rPr lang="en-US" b="1" dirty="0"/>
              <a:t>Collision of Languages</a:t>
            </a:r>
          </a:p>
          <a:p>
            <a:pPr lvl="1"/>
            <a:r>
              <a:rPr lang="en-US" dirty="0"/>
              <a:t>Markup Languages</a:t>
            </a:r>
          </a:p>
          <a:p>
            <a:pPr lvl="1"/>
            <a:r>
              <a:rPr lang="en-US" dirty="0"/>
              <a:t>Programming Languages</a:t>
            </a:r>
          </a:p>
          <a:p>
            <a:pPr lvl="1"/>
            <a:r>
              <a:rPr lang="en-US" dirty="0"/>
              <a:t>Database Query Languages</a:t>
            </a:r>
          </a:p>
          <a:p>
            <a:pPr marL="0" indent="0">
              <a:buNone/>
            </a:pPr>
            <a:r>
              <a:rPr lang="en-US" b="1" dirty="0"/>
              <a:t>Shifting Standards</a:t>
            </a:r>
          </a:p>
          <a:p>
            <a:pPr lvl="1"/>
            <a:r>
              <a:rPr lang="en-US" dirty="0"/>
              <a:t>Document Object Model</a:t>
            </a:r>
          </a:p>
          <a:p>
            <a:pPr lvl="1"/>
            <a:r>
              <a:rPr lang="en-US" dirty="0"/>
              <a:t>XML/JSON</a:t>
            </a:r>
          </a:p>
          <a:p>
            <a:pPr marL="0" indent="0">
              <a:buNone/>
            </a:pPr>
            <a:r>
              <a:rPr lang="en-US" b="1" dirty="0"/>
              <a:t>Web Browser Compatibility</a:t>
            </a:r>
          </a:p>
          <a:p>
            <a:pPr lvl="1"/>
            <a:r>
              <a:rPr lang="en-US" dirty="0"/>
              <a:t>Browser wars encourage new ‘unique’ features</a:t>
            </a:r>
          </a:p>
          <a:p>
            <a:pPr marL="0" indent="0">
              <a:buNone/>
            </a:pPr>
            <a:r>
              <a:rPr lang="en-US" b="1" dirty="0"/>
              <a:t>HTTP is a Stateless Protocol</a:t>
            </a:r>
          </a:p>
          <a:p>
            <a:pPr lvl="1"/>
            <a:r>
              <a:rPr lang="en-US" dirty="0"/>
              <a:t>But most applications require the persistence of state</a:t>
            </a:r>
          </a:p>
          <a:p>
            <a:endParaRPr lang="en-US" dirty="0"/>
          </a:p>
        </p:txBody>
      </p:sp>
    </p:spTree>
    <p:extLst>
      <p:ext uri="{BB962C8B-B14F-4D97-AF65-F5344CB8AC3E}">
        <p14:creationId xmlns:p14="http://schemas.microsoft.com/office/powerpoint/2010/main" val="1072547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Signs of Hope</a:t>
            </a:r>
          </a:p>
        </p:txBody>
      </p:sp>
      <p:sp>
        <p:nvSpPr>
          <p:cNvPr id="3" name="Content Placeholder 2"/>
          <p:cNvSpPr>
            <a:spLocks noGrp="1"/>
          </p:cNvSpPr>
          <p:nvPr>
            <p:ph idx="1"/>
          </p:nvPr>
        </p:nvSpPr>
        <p:spPr>
          <a:xfrm>
            <a:off x="457200" y="1600200"/>
            <a:ext cx="8229600" cy="5023624"/>
          </a:xfrm>
        </p:spPr>
        <p:txBody>
          <a:bodyPr>
            <a:normAutofit fontScale="92500"/>
          </a:bodyPr>
          <a:lstStyle/>
          <a:p>
            <a:pPr marL="0" indent="0">
              <a:buNone/>
            </a:pPr>
            <a:r>
              <a:rPr lang="en-US" b="1" dirty="0"/>
              <a:t>Web development has become a serious business</a:t>
            </a:r>
          </a:p>
          <a:p>
            <a:pPr marL="457200" lvl="1" indent="0">
              <a:buNone/>
            </a:pPr>
            <a:endParaRPr lang="en-US" dirty="0"/>
          </a:p>
          <a:p>
            <a:pPr marL="0" indent="0">
              <a:buNone/>
            </a:pPr>
            <a:r>
              <a:rPr lang="en-US" b="1" dirty="0"/>
              <a:t>In line with this, the methods of development are maturing and increasingly adopting good practices of ‘classical’ Software Engineering:</a:t>
            </a:r>
          </a:p>
          <a:p>
            <a:pPr lvl="1"/>
            <a:r>
              <a:rPr lang="en-US" dirty="0"/>
              <a:t>Application Programmer Interfaces (APIs)</a:t>
            </a:r>
          </a:p>
          <a:p>
            <a:pPr lvl="1"/>
            <a:r>
              <a:rPr lang="en-US" dirty="0"/>
              <a:t>Libraries</a:t>
            </a:r>
          </a:p>
          <a:p>
            <a:pPr lvl="1"/>
            <a:r>
              <a:rPr lang="en-US" dirty="0"/>
              <a:t>Frameworks</a:t>
            </a:r>
          </a:p>
          <a:p>
            <a:pPr lvl="1"/>
            <a:r>
              <a:rPr lang="en-US" dirty="0"/>
              <a:t>Tools</a:t>
            </a:r>
          </a:p>
          <a:p>
            <a:pPr lvl="1"/>
            <a:r>
              <a:rPr lang="en-US" dirty="0"/>
              <a:t>Standards</a:t>
            </a:r>
          </a:p>
          <a:p>
            <a:endParaRPr lang="en-US" dirty="0"/>
          </a:p>
        </p:txBody>
      </p:sp>
    </p:spTree>
    <p:extLst>
      <p:ext uri="{BB962C8B-B14F-4D97-AF65-F5344CB8AC3E}">
        <p14:creationId xmlns:p14="http://schemas.microsoft.com/office/powerpoint/2010/main" val="3834847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 of tools arranged on a desk"/>
          <p:cNvPicPr>
            <a:picLocks noChangeAspect="1"/>
          </p:cNvPicPr>
          <p:nvPr/>
        </p:nvPicPr>
        <p:blipFill>
          <a:blip r:embed="rId3"/>
          <a:stretch>
            <a:fillRect/>
          </a:stretch>
        </p:blipFill>
        <p:spPr>
          <a:xfrm>
            <a:off x="0" y="0"/>
            <a:ext cx="9144000" cy="6858000"/>
          </a:xfrm>
          <a:prstGeom prst="rect">
            <a:avLst/>
          </a:prstGeom>
        </p:spPr>
      </p:pic>
      <p:sp>
        <p:nvSpPr>
          <p:cNvPr id="5" name="TextBox 4"/>
          <p:cNvSpPr txBox="1"/>
          <p:nvPr/>
        </p:nvSpPr>
        <p:spPr>
          <a:xfrm>
            <a:off x="7649180" y="2"/>
            <a:ext cx="1548020" cy="830997"/>
          </a:xfrm>
          <a:prstGeom prst="rect">
            <a:avLst/>
          </a:prstGeom>
          <a:solidFill>
            <a:schemeClr val="tx1">
              <a:alpha val="25000"/>
            </a:schemeClr>
          </a:solidFill>
        </p:spPr>
        <p:txBody>
          <a:bodyPr wrap="none" rtlCol="0">
            <a:spAutoFit/>
          </a:bodyPr>
          <a:lstStyle/>
          <a:p>
            <a:r>
              <a:rPr lang="en-US" sz="4800" b="1" dirty="0">
                <a:solidFill>
                  <a:schemeClr val="bg1"/>
                </a:solidFill>
              </a:rPr>
              <a:t>Tools</a:t>
            </a:r>
          </a:p>
        </p:txBody>
      </p:sp>
    </p:spTree>
    <p:extLst>
      <p:ext uri="{BB962C8B-B14F-4D97-AF65-F5344CB8AC3E}">
        <p14:creationId xmlns:p14="http://schemas.microsoft.com/office/powerpoint/2010/main" val="4037747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Development Tools</a:t>
            </a:r>
          </a:p>
        </p:txBody>
      </p:sp>
      <p:sp>
        <p:nvSpPr>
          <p:cNvPr id="3" name="Content Placeholder 2"/>
          <p:cNvSpPr>
            <a:spLocks noGrp="1"/>
          </p:cNvSpPr>
          <p:nvPr>
            <p:ph idx="1"/>
          </p:nvPr>
        </p:nvSpPr>
        <p:spPr/>
        <p:txBody>
          <a:bodyPr>
            <a:normAutofit/>
          </a:bodyPr>
          <a:lstStyle/>
          <a:p>
            <a:pPr marL="0" indent="0">
              <a:buNone/>
            </a:pPr>
            <a:r>
              <a:rPr lang="en-US" b="1" dirty="0"/>
              <a:t>Web development tool support is not yet as advanced as with classic software development</a:t>
            </a:r>
          </a:p>
          <a:p>
            <a:pPr lvl="1"/>
            <a:r>
              <a:rPr lang="en-US" dirty="0"/>
              <a:t>Most languages have several complex IDEs (Integrated Development Environments) to chose from</a:t>
            </a:r>
          </a:p>
          <a:p>
            <a:pPr lvl="2"/>
            <a:r>
              <a:rPr lang="en-US" dirty="0"/>
              <a:t>Eclipse, </a:t>
            </a:r>
            <a:r>
              <a:rPr lang="en-US" dirty="0" err="1"/>
              <a:t>.Net</a:t>
            </a:r>
            <a:r>
              <a:rPr lang="en-US" dirty="0"/>
              <a:t> Framework, </a:t>
            </a:r>
            <a:r>
              <a:rPr lang="en-US" dirty="0" err="1"/>
              <a:t>Django</a:t>
            </a:r>
            <a:r>
              <a:rPr lang="en-US" dirty="0"/>
              <a:t>, </a:t>
            </a:r>
            <a:r>
              <a:rPr lang="en-US" dirty="0" err="1"/>
              <a:t>etc</a:t>
            </a:r>
            <a:endParaRPr lang="en-US" dirty="0"/>
          </a:p>
          <a:p>
            <a:pPr marL="0" indent="0">
              <a:buNone/>
            </a:pPr>
            <a:r>
              <a:rPr lang="en-US" b="1" dirty="0"/>
              <a:t>The nature of web development is disjoint </a:t>
            </a:r>
          </a:p>
          <a:p>
            <a:pPr lvl="1"/>
            <a:r>
              <a:rPr lang="en-US" dirty="0"/>
              <a:t>a developer must become familiar with a set of distinct and (typically) non-integrated tools	</a:t>
            </a:r>
          </a:p>
        </p:txBody>
      </p:sp>
    </p:spTree>
    <p:extLst>
      <p:ext uri="{BB962C8B-B14F-4D97-AF65-F5344CB8AC3E}">
        <p14:creationId xmlns:p14="http://schemas.microsoft.com/office/powerpoint/2010/main" val="2471812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you code in…</a:t>
            </a:r>
          </a:p>
        </p:txBody>
      </p:sp>
      <p:sp>
        <p:nvSpPr>
          <p:cNvPr id="3" name="Content Placeholder 2"/>
          <p:cNvSpPr>
            <a:spLocks noGrp="1"/>
          </p:cNvSpPr>
          <p:nvPr>
            <p:ph idx="1"/>
          </p:nvPr>
        </p:nvSpPr>
        <p:spPr>
          <a:xfrm>
            <a:off x="457200" y="1600200"/>
            <a:ext cx="8229600" cy="4900961"/>
          </a:xfrm>
        </p:spPr>
        <p:txBody>
          <a:bodyPr>
            <a:normAutofit fontScale="92500" lnSpcReduction="20000"/>
          </a:bodyPr>
          <a:lstStyle/>
          <a:p>
            <a:pPr marL="0" indent="0">
              <a:buNone/>
            </a:pPr>
            <a:r>
              <a:rPr lang="en-US" b="1" dirty="0"/>
              <a:t>An important tool is the IDE</a:t>
            </a:r>
          </a:p>
          <a:p>
            <a:pPr marL="0" indent="0">
              <a:buNone/>
            </a:pPr>
            <a:r>
              <a:rPr lang="en-US" b="1" dirty="0"/>
              <a:t>Its choice and your expertise in its usage can seriously affect your productivity</a:t>
            </a:r>
          </a:p>
          <a:p>
            <a:pPr lvl="1"/>
            <a:r>
              <a:rPr lang="en-US" dirty="0"/>
              <a:t>Syntax Awareness</a:t>
            </a:r>
          </a:p>
          <a:p>
            <a:pPr lvl="1"/>
            <a:r>
              <a:rPr lang="en-US" dirty="0"/>
              <a:t>Auto-completion</a:t>
            </a:r>
          </a:p>
          <a:p>
            <a:pPr lvl="1"/>
            <a:r>
              <a:rPr lang="en-US" dirty="0"/>
              <a:t>Snippets</a:t>
            </a:r>
          </a:p>
          <a:p>
            <a:pPr lvl="1"/>
            <a:r>
              <a:rPr lang="en-US" dirty="0"/>
              <a:t>Scripts &amp; Macros</a:t>
            </a:r>
          </a:p>
          <a:p>
            <a:pPr lvl="1"/>
            <a:r>
              <a:rPr lang="en-US" dirty="0"/>
              <a:t>Integration with other development tools (revision control)</a:t>
            </a:r>
          </a:p>
          <a:p>
            <a:pPr lvl="1"/>
            <a:endParaRPr lang="en-US" dirty="0"/>
          </a:p>
          <a:p>
            <a:pPr marL="0" indent="0">
              <a:buNone/>
            </a:pPr>
            <a:r>
              <a:rPr lang="en-US" b="1" dirty="0"/>
              <a:t>Some IDEs have plugins for scripting languages (e.g. Eclipse has a PHP plug-in)</a:t>
            </a:r>
          </a:p>
          <a:p>
            <a:pPr marL="0" indent="0">
              <a:buNone/>
            </a:pPr>
            <a:endParaRPr lang="en-US" b="1" dirty="0"/>
          </a:p>
          <a:p>
            <a:endParaRPr lang="en-US" dirty="0"/>
          </a:p>
        </p:txBody>
      </p:sp>
    </p:spTree>
    <p:extLst>
      <p:ext uri="{BB962C8B-B14F-4D97-AF65-F5344CB8AC3E}">
        <p14:creationId xmlns:p14="http://schemas.microsoft.com/office/powerpoint/2010/main" val="2682720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Frameworks</a:t>
            </a:r>
          </a:p>
        </p:txBody>
      </p:sp>
      <p:sp>
        <p:nvSpPr>
          <p:cNvPr id="3" name="Content Placeholder 2"/>
          <p:cNvSpPr>
            <a:spLocks noGrp="1"/>
          </p:cNvSpPr>
          <p:nvPr>
            <p:ph idx="1"/>
          </p:nvPr>
        </p:nvSpPr>
        <p:spPr/>
        <p:txBody>
          <a:bodyPr>
            <a:normAutofit fontScale="92500" lnSpcReduction="20000"/>
          </a:bodyPr>
          <a:lstStyle/>
          <a:p>
            <a:r>
              <a:rPr lang="en-US" dirty="0"/>
              <a:t>Frameworks provide design and partial implementations for a particular domain of applications</a:t>
            </a:r>
          </a:p>
          <a:p>
            <a:pPr lvl="1"/>
            <a:r>
              <a:rPr lang="en-US" dirty="0"/>
              <a:t>Drawing Applications (provide drawing primitives)</a:t>
            </a:r>
          </a:p>
          <a:p>
            <a:pPr lvl="1"/>
            <a:r>
              <a:rPr lang="en-US" dirty="0"/>
              <a:t>Distributed Middleware</a:t>
            </a:r>
          </a:p>
          <a:p>
            <a:pPr lvl="1"/>
            <a:r>
              <a:rPr lang="en-US" dirty="0"/>
              <a:t>Web Applications</a:t>
            </a:r>
          </a:p>
          <a:p>
            <a:pPr lvl="1"/>
            <a:endParaRPr lang="en-US" dirty="0"/>
          </a:p>
          <a:p>
            <a:r>
              <a:rPr lang="en-US" dirty="0"/>
              <a:t>Frameworks allow developers to create applications more efficiently by providing </a:t>
            </a:r>
            <a:r>
              <a:rPr lang="en-US" b="1" dirty="0"/>
              <a:t>default functionality</a:t>
            </a:r>
            <a:r>
              <a:rPr lang="en-US" dirty="0"/>
              <a:t>, whilst allowing them to </a:t>
            </a:r>
            <a:r>
              <a:rPr lang="en-US" b="1" dirty="0"/>
              <a:t>extend and override </a:t>
            </a:r>
            <a:r>
              <a:rPr lang="en-US" dirty="0"/>
              <a:t>to suit their specific purposes</a:t>
            </a:r>
          </a:p>
          <a:p>
            <a:pPr lvl="1"/>
            <a:endParaRPr lang="en-US" dirty="0"/>
          </a:p>
        </p:txBody>
      </p:sp>
    </p:spTree>
    <p:extLst>
      <p:ext uri="{BB962C8B-B14F-4D97-AF65-F5344CB8AC3E}">
        <p14:creationId xmlns:p14="http://schemas.microsoft.com/office/powerpoint/2010/main" val="2520619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Classic Framework Definitions</a:t>
            </a:r>
          </a:p>
        </p:txBody>
      </p:sp>
      <p:sp>
        <p:nvSpPr>
          <p:cNvPr id="3" name="Content Placeholder 2"/>
          <p:cNvSpPr>
            <a:spLocks noGrp="1"/>
          </p:cNvSpPr>
          <p:nvPr>
            <p:ph idx="1"/>
          </p:nvPr>
        </p:nvSpPr>
        <p:spPr/>
        <p:txBody>
          <a:bodyPr vert="horz" lIns="91440" tIns="45720" rIns="91440" bIns="45720" rtlCol="0" anchor="t">
            <a:normAutofit fontScale="85000" lnSpcReduction="20000"/>
          </a:bodyPr>
          <a:lstStyle/>
          <a:p>
            <a:r>
              <a:rPr lang="en-US" dirty="0"/>
              <a:t>There are several interpretations of a framework:</a:t>
            </a:r>
          </a:p>
          <a:p>
            <a:pPr lvl="1"/>
            <a:r>
              <a:rPr lang="en-US" dirty="0"/>
              <a:t>A framework is a set of classes that embodies an </a:t>
            </a:r>
            <a:r>
              <a:rPr lang="en-US" b="1" dirty="0">
                <a:solidFill>
                  <a:srgbClr val="FF0000"/>
                </a:solidFill>
              </a:rPr>
              <a:t>abstract </a:t>
            </a:r>
            <a:r>
              <a:rPr lang="en-US" b="1" dirty="0"/>
              <a:t>design </a:t>
            </a:r>
            <a:r>
              <a:rPr lang="en-US" dirty="0"/>
              <a:t>for solutions to a </a:t>
            </a:r>
            <a:r>
              <a:rPr lang="en-US" b="1" dirty="0"/>
              <a:t>family of problems</a:t>
            </a:r>
          </a:p>
          <a:p>
            <a:pPr lvl="1"/>
            <a:r>
              <a:rPr lang="en-US" dirty="0"/>
              <a:t>A framework is the </a:t>
            </a:r>
            <a:r>
              <a:rPr lang="en-US" b="1" dirty="0">
                <a:solidFill>
                  <a:srgbClr val="FF0000"/>
                </a:solidFill>
              </a:rPr>
              <a:t>reusable </a:t>
            </a:r>
            <a:r>
              <a:rPr lang="en-US" b="1" dirty="0"/>
              <a:t>design</a:t>
            </a:r>
            <a:r>
              <a:rPr lang="en-US" dirty="0"/>
              <a:t> of a system or a part of a system expressed as a set of </a:t>
            </a:r>
            <a:r>
              <a:rPr lang="en-US" b="1" dirty="0"/>
              <a:t>abstract classes </a:t>
            </a:r>
            <a:r>
              <a:rPr lang="en-US" dirty="0"/>
              <a:t>and the way the instances of those classes collaborate</a:t>
            </a:r>
          </a:p>
          <a:p>
            <a:pPr lvl="1"/>
            <a:r>
              <a:rPr lang="en-US" dirty="0"/>
              <a:t>A framework is a set of </a:t>
            </a:r>
            <a:r>
              <a:rPr lang="en-US" b="1" dirty="0">
                <a:solidFill>
                  <a:srgbClr val="FF0000"/>
                </a:solidFill>
              </a:rPr>
              <a:t>prefabricated </a:t>
            </a:r>
            <a:r>
              <a:rPr lang="en-US" b="1" dirty="0"/>
              <a:t>software building </a:t>
            </a:r>
            <a:r>
              <a:rPr lang="en-US" b="1" dirty="0">
                <a:solidFill>
                  <a:srgbClr val="FF0000"/>
                </a:solidFill>
              </a:rPr>
              <a:t>blocks </a:t>
            </a:r>
            <a:r>
              <a:rPr lang="en-US" dirty="0"/>
              <a:t>that programmers can </a:t>
            </a:r>
            <a:r>
              <a:rPr lang="en-US" b="1" dirty="0"/>
              <a:t>use, extend, or customize</a:t>
            </a:r>
            <a:r>
              <a:rPr lang="en-US" dirty="0"/>
              <a:t> for specific computing solutions; </a:t>
            </a:r>
          </a:p>
          <a:p>
            <a:pPr lvl="1"/>
            <a:r>
              <a:rPr lang="en-US" dirty="0"/>
              <a:t>Frameworks are large </a:t>
            </a:r>
            <a:r>
              <a:rPr lang="en-US" b="1" dirty="0">
                <a:solidFill>
                  <a:srgbClr val="FF0000"/>
                </a:solidFill>
              </a:rPr>
              <a:t>abstract applications</a:t>
            </a:r>
            <a:r>
              <a:rPr lang="en-US" b="1" dirty="0"/>
              <a:t> </a:t>
            </a:r>
            <a:r>
              <a:rPr lang="en-US" dirty="0"/>
              <a:t>in a </a:t>
            </a:r>
            <a:r>
              <a:rPr lang="en-US" b="1" dirty="0"/>
              <a:t>particular domain </a:t>
            </a:r>
            <a:r>
              <a:rPr lang="en-US" dirty="0"/>
              <a:t>that can be </a:t>
            </a:r>
            <a:r>
              <a:rPr lang="en-US" b="1" dirty="0"/>
              <a:t>tailored </a:t>
            </a:r>
            <a:r>
              <a:rPr lang="en-US" dirty="0"/>
              <a:t>for individual applications</a:t>
            </a:r>
          </a:p>
          <a:p>
            <a:pPr lvl="1"/>
            <a:r>
              <a:rPr lang="en-US" dirty="0"/>
              <a:t>A framework is a </a:t>
            </a:r>
            <a:r>
              <a:rPr lang="en-US" b="1" dirty="0">
                <a:solidFill>
                  <a:srgbClr val="FF0000"/>
                </a:solidFill>
              </a:rPr>
              <a:t>reusable software architecture</a:t>
            </a:r>
            <a:r>
              <a:rPr lang="en-US" b="1" dirty="0"/>
              <a:t> </a:t>
            </a:r>
            <a:r>
              <a:rPr lang="en-US" dirty="0"/>
              <a:t>comprising both </a:t>
            </a:r>
            <a:r>
              <a:rPr lang="en-US" b="1" dirty="0"/>
              <a:t>design and code</a:t>
            </a:r>
          </a:p>
          <a:p>
            <a:endParaRPr lang="en-US" dirty="0"/>
          </a:p>
        </p:txBody>
      </p:sp>
    </p:spTree>
    <p:extLst>
      <p:ext uri="{BB962C8B-B14F-4D97-AF65-F5344CB8AC3E}">
        <p14:creationId xmlns:p14="http://schemas.microsoft.com/office/powerpoint/2010/main" val="3626138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Framework Characteristics</a:t>
            </a:r>
          </a:p>
        </p:txBody>
      </p:sp>
      <p:sp>
        <p:nvSpPr>
          <p:cNvPr id="3" name="Content Placeholder 2"/>
          <p:cNvSpPr>
            <a:spLocks noGrp="1"/>
          </p:cNvSpPr>
          <p:nvPr>
            <p:ph idx="1"/>
          </p:nvPr>
        </p:nvSpPr>
        <p:spPr>
          <a:xfrm>
            <a:off x="457200" y="1293408"/>
            <a:ext cx="8229600" cy="5467586"/>
          </a:xfrm>
        </p:spPr>
        <p:txBody>
          <a:bodyPr>
            <a:normAutofit fontScale="85000" lnSpcReduction="20000"/>
          </a:bodyPr>
          <a:lstStyle/>
          <a:p>
            <a:r>
              <a:rPr lang="en-US" b="1" dirty="0"/>
              <a:t>Inversion of Control</a:t>
            </a:r>
          </a:p>
          <a:p>
            <a:pPr lvl="1"/>
            <a:r>
              <a:rPr lang="en-US" dirty="0"/>
              <a:t>Framework is responsible for the application control flow</a:t>
            </a:r>
          </a:p>
          <a:p>
            <a:r>
              <a:rPr lang="en-US" b="1" dirty="0"/>
              <a:t>Default </a:t>
            </a:r>
            <a:r>
              <a:rPr lang="en-US" b="1" dirty="0" err="1"/>
              <a:t>Behaviour</a:t>
            </a:r>
            <a:endParaRPr lang="en-US" b="1" dirty="0"/>
          </a:p>
          <a:p>
            <a:pPr lvl="1"/>
            <a:r>
              <a:rPr lang="en-US" dirty="0"/>
              <a:t>Framework must provide some ‘useful’ functionality related to the application domain</a:t>
            </a:r>
          </a:p>
          <a:p>
            <a:r>
              <a:rPr lang="en-US" b="1" dirty="0"/>
              <a:t>Extensibility</a:t>
            </a:r>
          </a:p>
          <a:p>
            <a:pPr lvl="1"/>
            <a:r>
              <a:rPr lang="en-US" dirty="0"/>
              <a:t>Hot-spots designed to be extended</a:t>
            </a:r>
          </a:p>
          <a:p>
            <a:pPr lvl="1"/>
            <a:r>
              <a:rPr lang="en-US" dirty="0"/>
              <a:t>Allow developer to customize their application specifically for a particular purpose</a:t>
            </a:r>
          </a:p>
          <a:p>
            <a:r>
              <a:rPr lang="en-US" b="1" dirty="0"/>
              <a:t>Non-modifiable Framework Code</a:t>
            </a:r>
          </a:p>
          <a:p>
            <a:pPr lvl="1"/>
            <a:r>
              <a:rPr lang="en-US" dirty="0"/>
              <a:t>Key components of the framework cannot be altered</a:t>
            </a:r>
          </a:p>
          <a:p>
            <a:pPr lvl="1"/>
            <a:r>
              <a:rPr lang="en-US" dirty="0"/>
              <a:t>Not strictly non-modifiable, but typically just used, though contributions back to the framework are often subject to the framework creators or open source community</a:t>
            </a:r>
          </a:p>
        </p:txBody>
      </p:sp>
    </p:spTree>
    <p:extLst>
      <p:ext uri="{BB962C8B-B14F-4D97-AF65-F5344CB8AC3E}">
        <p14:creationId xmlns:p14="http://schemas.microsoft.com/office/powerpoint/2010/main" val="2765394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Framework Characteristics</a:t>
            </a:r>
          </a:p>
        </p:txBody>
      </p:sp>
      <p:sp>
        <p:nvSpPr>
          <p:cNvPr id="3" name="Content Placeholder 2"/>
          <p:cNvSpPr>
            <a:spLocks noGrp="1"/>
          </p:cNvSpPr>
          <p:nvPr>
            <p:ph idx="1"/>
          </p:nvPr>
        </p:nvSpPr>
        <p:spPr>
          <a:xfrm>
            <a:off x="304800" y="1600204"/>
            <a:ext cx="8839200" cy="4525963"/>
          </a:xfrm>
        </p:spPr>
        <p:txBody>
          <a:bodyPr>
            <a:normAutofit fontScale="85000" lnSpcReduction="10000"/>
          </a:bodyPr>
          <a:lstStyle/>
          <a:p>
            <a:r>
              <a:rPr lang="en-US" b="1" dirty="0"/>
              <a:t>Advantages:</a:t>
            </a:r>
          </a:p>
          <a:p>
            <a:pPr lvl="1"/>
            <a:r>
              <a:rPr lang="en-US" dirty="0"/>
              <a:t>Enables rapid development</a:t>
            </a:r>
          </a:p>
          <a:p>
            <a:pPr lvl="1"/>
            <a:r>
              <a:rPr lang="en-US" dirty="0"/>
              <a:t>Concentrate on unique application logic</a:t>
            </a:r>
          </a:p>
          <a:p>
            <a:pPr lvl="1"/>
            <a:r>
              <a:rPr lang="en-US" dirty="0"/>
              <a:t>Reduces boiler plate code</a:t>
            </a:r>
          </a:p>
          <a:p>
            <a:r>
              <a:rPr lang="en-US" b="1" dirty="0"/>
              <a:t>Disadvantages:</a:t>
            </a:r>
          </a:p>
          <a:p>
            <a:pPr lvl="1"/>
            <a:r>
              <a:rPr lang="en-US" dirty="0"/>
              <a:t>Impose a certain model of development (80% easy / 20% hard)</a:t>
            </a:r>
          </a:p>
          <a:p>
            <a:pPr lvl="1"/>
            <a:r>
              <a:rPr lang="en-US" dirty="0"/>
              <a:t>Frameworks can introduce code bloat </a:t>
            </a:r>
          </a:p>
          <a:p>
            <a:pPr lvl="1"/>
            <a:r>
              <a:rPr lang="en-US" dirty="0"/>
              <a:t>Levels of abstraction generally introduce performance penalties</a:t>
            </a:r>
          </a:p>
          <a:p>
            <a:pPr lvl="1"/>
            <a:r>
              <a:rPr lang="en-US" dirty="0"/>
              <a:t>Difficult to overcome the steep learning curve</a:t>
            </a:r>
          </a:p>
          <a:p>
            <a:pPr lvl="1"/>
            <a:r>
              <a:rPr lang="en-US" dirty="0"/>
              <a:t>Traditionally poorly documented</a:t>
            </a:r>
          </a:p>
          <a:p>
            <a:endParaRPr lang="en-US" dirty="0"/>
          </a:p>
          <a:p>
            <a:pPr lvl="1"/>
            <a:endParaRPr lang="en-US" dirty="0"/>
          </a:p>
        </p:txBody>
      </p:sp>
    </p:spTree>
    <p:extLst>
      <p:ext uri="{BB962C8B-B14F-4D97-AF65-F5344CB8AC3E}">
        <p14:creationId xmlns:p14="http://schemas.microsoft.com/office/powerpoint/2010/main" val="923204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Framework </a:t>
            </a:r>
            <a:r>
              <a:rPr lang="en-US" dirty="0" err="1"/>
              <a:t>vs</a:t>
            </a:r>
            <a:r>
              <a:rPr lang="en-US" dirty="0"/>
              <a:t> Libraries?</a:t>
            </a:r>
          </a:p>
        </p:txBody>
      </p:sp>
      <p:sp>
        <p:nvSpPr>
          <p:cNvPr id="3" name="Content Placeholder 2"/>
          <p:cNvSpPr>
            <a:spLocks noGrp="1"/>
          </p:cNvSpPr>
          <p:nvPr>
            <p:ph idx="1"/>
          </p:nvPr>
        </p:nvSpPr>
        <p:spPr/>
        <p:txBody>
          <a:bodyPr/>
          <a:lstStyle/>
          <a:p>
            <a:r>
              <a:rPr lang="en-US" dirty="0"/>
              <a:t>A framework is about reusing </a:t>
            </a:r>
            <a:r>
              <a:rPr lang="en-US" dirty="0" err="1"/>
              <a:t>behaviours</a:t>
            </a:r>
            <a:r>
              <a:rPr lang="en-US" dirty="0"/>
              <a:t> by how abstract classes and components interact with each other</a:t>
            </a:r>
          </a:p>
          <a:p>
            <a:pPr lvl="1"/>
            <a:r>
              <a:rPr lang="en-US" dirty="0"/>
              <a:t>A framework calls your application code</a:t>
            </a:r>
          </a:p>
          <a:p>
            <a:r>
              <a:rPr lang="en-US" dirty="0"/>
              <a:t>A library is a collection of classes which provide reusable functionality</a:t>
            </a:r>
          </a:p>
          <a:p>
            <a:pPr lvl="1"/>
            <a:r>
              <a:rPr lang="en-US" dirty="0"/>
              <a:t>Your application code calls the library</a:t>
            </a:r>
          </a:p>
        </p:txBody>
      </p:sp>
    </p:spTree>
    <p:extLst>
      <p:ext uri="{BB962C8B-B14F-4D97-AF65-F5344CB8AC3E}">
        <p14:creationId xmlns:p14="http://schemas.microsoft.com/office/powerpoint/2010/main" val="3220360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Degrees of Activeness</a:t>
            </a:r>
          </a:p>
        </p:txBody>
      </p:sp>
      <p:sp>
        <p:nvSpPr>
          <p:cNvPr id="3" name="Content Placeholder 2"/>
          <p:cNvSpPr>
            <a:spLocks noGrp="1"/>
          </p:cNvSpPr>
          <p:nvPr>
            <p:ph idx="1"/>
          </p:nvPr>
        </p:nvSpPr>
        <p:spPr/>
        <p:txBody>
          <a:bodyPr>
            <a:normAutofit fontScale="92500" lnSpcReduction="10000"/>
          </a:bodyPr>
          <a:lstStyle/>
          <a:p>
            <a:r>
              <a:rPr lang="en-US" dirty="0"/>
              <a:t>Passive Framework:</a:t>
            </a:r>
          </a:p>
          <a:p>
            <a:pPr lvl="1"/>
            <a:r>
              <a:rPr lang="en-US" dirty="0"/>
              <a:t>Just a set of starting files that you unpack </a:t>
            </a:r>
          </a:p>
          <a:p>
            <a:pPr lvl="1"/>
            <a:r>
              <a:rPr lang="en-US" dirty="0"/>
              <a:t>And then use to build your application</a:t>
            </a:r>
          </a:p>
          <a:p>
            <a:r>
              <a:rPr lang="en-US" dirty="0"/>
              <a:t>Semi active frameworks</a:t>
            </a:r>
          </a:p>
          <a:p>
            <a:pPr lvl="1"/>
            <a:r>
              <a:rPr lang="en-US" dirty="0"/>
              <a:t>Generates your starting project code</a:t>
            </a:r>
          </a:p>
          <a:p>
            <a:pPr lvl="1"/>
            <a:r>
              <a:rPr lang="en-US" dirty="0"/>
              <a:t>Then you customize and fill in the app logic</a:t>
            </a:r>
          </a:p>
          <a:p>
            <a:r>
              <a:rPr lang="en-US" dirty="0"/>
              <a:t>Active Frameworks</a:t>
            </a:r>
          </a:p>
          <a:p>
            <a:pPr lvl="1"/>
            <a:r>
              <a:rPr lang="en-US" dirty="0"/>
              <a:t>They go beyond semi-active, and work in the background by generating additional code, without explicit commands from the developer</a:t>
            </a:r>
          </a:p>
          <a:p>
            <a:pPr marL="457200" lvl="1" indent="0">
              <a:buNone/>
            </a:pPr>
            <a:endParaRPr lang="en-US" dirty="0"/>
          </a:p>
        </p:txBody>
      </p:sp>
    </p:spTree>
    <p:extLst>
      <p:ext uri="{BB962C8B-B14F-4D97-AF65-F5344CB8AC3E}">
        <p14:creationId xmlns:p14="http://schemas.microsoft.com/office/powerpoint/2010/main" val="1962876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Pre-Fabricated Things</a:t>
            </a:r>
          </a:p>
        </p:txBody>
      </p:sp>
      <p:sp>
        <p:nvSpPr>
          <p:cNvPr id="3" name="Content Placeholder 2"/>
          <p:cNvSpPr>
            <a:spLocks noGrp="1"/>
          </p:cNvSpPr>
          <p:nvPr>
            <p:ph idx="1"/>
          </p:nvPr>
        </p:nvSpPr>
        <p:spPr/>
        <p:txBody>
          <a:bodyPr>
            <a:normAutofit fontScale="92500"/>
          </a:bodyPr>
          <a:lstStyle/>
          <a:p>
            <a:r>
              <a:rPr lang="en-US" dirty="0"/>
              <a:t>Web frameworks typically provide (some of) the following features:</a:t>
            </a:r>
          </a:p>
          <a:p>
            <a:pPr lvl="1"/>
            <a:r>
              <a:rPr lang="en-US" dirty="0"/>
              <a:t>User authentication, authorization, security</a:t>
            </a:r>
          </a:p>
          <a:p>
            <a:pPr lvl="1"/>
            <a:r>
              <a:rPr lang="en-US" dirty="0"/>
              <a:t>Database abstraction (or Object-Relational Mapping)</a:t>
            </a:r>
          </a:p>
          <a:p>
            <a:pPr lvl="1"/>
            <a:r>
              <a:rPr lang="en-US" dirty="0"/>
              <a:t>Template system</a:t>
            </a:r>
          </a:p>
          <a:p>
            <a:pPr lvl="1"/>
            <a:r>
              <a:rPr lang="en-US" dirty="0"/>
              <a:t>Ajax sub-framework</a:t>
            </a:r>
          </a:p>
          <a:p>
            <a:pPr lvl="1"/>
            <a:r>
              <a:rPr lang="en-US" dirty="0"/>
              <a:t>Session Management</a:t>
            </a:r>
          </a:p>
          <a:p>
            <a:pPr lvl="1"/>
            <a:r>
              <a:rPr lang="en-US" dirty="0"/>
              <a:t>An Architecture usually based on </a:t>
            </a:r>
            <a:r>
              <a:rPr lang="en-US" b="1" dirty="0"/>
              <a:t>Model-View-Controller</a:t>
            </a:r>
            <a:r>
              <a:rPr lang="en-US" dirty="0"/>
              <a:t> </a:t>
            </a:r>
          </a:p>
        </p:txBody>
      </p:sp>
    </p:spTree>
    <p:extLst>
      <p:ext uri="{BB962C8B-B14F-4D97-AF65-F5344CB8AC3E}">
        <p14:creationId xmlns:p14="http://schemas.microsoft.com/office/powerpoint/2010/main" val="293208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MVC Architecture</a:t>
            </a:r>
          </a:p>
        </p:txBody>
      </p:sp>
      <p:sp>
        <p:nvSpPr>
          <p:cNvPr id="4" name="Rounded Rectangle 3"/>
          <p:cNvSpPr/>
          <p:nvPr/>
        </p:nvSpPr>
        <p:spPr>
          <a:xfrm>
            <a:off x="3235570" y="1722440"/>
            <a:ext cx="2813538" cy="1219200"/>
          </a:xfrm>
          <a:prstGeom prst="round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solidFill>
                  <a:schemeClr val="tx2"/>
                </a:solidFill>
              </a:rPr>
              <a:t>Model</a:t>
            </a:r>
          </a:p>
        </p:txBody>
      </p:sp>
      <p:sp>
        <p:nvSpPr>
          <p:cNvPr id="6" name="Rounded Rectangle 5"/>
          <p:cNvSpPr/>
          <p:nvPr/>
        </p:nvSpPr>
        <p:spPr>
          <a:xfrm>
            <a:off x="984740" y="4572002"/>
            <a:ext cx="2813538" cy="1219200"/>
          </a:xfrm>
          <a:prstGeom prst="round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solidFill>
                  <a:schemeClr val="tx2"/>
                </a:solidFill>
              </a:rPr>
              <a:t>View</a:t>
            </a:r>
          </a:p>
        </p:txBody>
      </p:sp>
      <p:sp>
        <p:nvSpPr>
          <p:cNvPr id="7" name="Rounded Rectangle 6"/>
          <p:cNvSpPr/>
          <p:nvPr/>
        </p:nvSpPr>
        <p:spPr>
          <a:xfrm>
            <a:off x="5486401" y="4572002"/>
            <a:ext cx="2813538" cy="1219200"/>
          </a:xfrm>
          <a:prstGeom prst="round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solidFill>
                  <a:schemeClr val="tx2"/>
                </a:solidFill>
              </a:rPr>
              <a:t>Controller</a:t>
            </a:r>
          </a:p>
        </p:txBody>
      </p:sp>
      <p:cxnSp>
        <p:nvCxnSpPr>
          <p:cNvPr id="9" name="Straight Arrow Connector 8"/>
          <p:cNvCxnSpPr/>
          <p:nvPr/>
        </p:nvCxnSpPr>
        <p:spPr>
          <a:xfrm>
            <a:off x="3798278" y="4876802"/>
            <a:ext cx="1688123" cy="1588"/>
          </a:xfrm>
          <a:prstGeom prst="straightConnector1">
            <a:avLst/>
          </a:prstGeom>
          <a:ln w="38100">
            <a:prstDash val="dash"/>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rot="10800000">
            <a:off x="3798278" y="5486402"/>
            <a:ext cx="1688123" cy="1588"/>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13" name="Shape 12"/>
          <p:cNvCxnSpPr>
            <a:stCxn id="7" idx="0"/>
            <a:endCxn id="4" idx="3"/>
          </p:cNvCxnSpPr>
          <p:nvPr/>
        </p:nvCxnSpPr>
        <p:spPr>
          <a:xfrm rot="16200000" flipV="1">
            <a:off x="5351158" y="3029990"/>
            <a:ext cx="2239962" cy="844062"/>
          </a:xfrm>
          <a:prstGeom prst="bentConnector2">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14" name="Shape 13"/>
          <p:cNvCxnSpPr>
            <a:cxnSpLocks/>
            <a:endCxn id="4" idx="1"/>
          </p:cNvCxnSpPr>
          <p:nvPr/>
        </p:nvCxnSpPr>
        <p:spPr>
          <a:xfrm rot="5400000" flipH="1" flipV="1">
            <a:off x="1377035" y="2713470"/>
            <a:ext cx="2239964" cy="1477105"/>
          </a:xfrm>
          <a:prstGeom prst="bentConnector2">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18" name="Shape 13"/>
          <p:cNvCxnSpPr>
            <a:stCxn id="6" idx="0"/>
          </p:cNvCxnSpPr>
          <p:nvPr/>
        </p:nvCxnSpPr>
        <p:spPr>
          <a:xfrm rot="5400000" flipH="1" flipV="1">
            <a:off x="1845958" y="3182391"/>
            <a:ext cx="1935162" cy="844062"/>
          </a:xfrm>
          <a:prstGeom prst="bentConnector3">
            <a:avLst>
              <a:gd name="adj1" fmla="val 99048"/>
            </a:avLst>
          </a:prstGeom>
          <a:ln w="38100">
            <a:prstDash val="dash"/>
            <a:headEnd type="arrow"/>
            <a:tailEnd type="non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104185" y="3200400"/>
            <a:ext cx="1569660" cy="923330"/>
          </a:xfrm>
          <a:prstGeom prst="rect">
            <a:avLst/>
          </a:prstGeom>
          <a:noFill/>
        </p:spPr>
        <p:txBody>
          <a:bodyPr wrap="none" rtlCol="0">
            <a:spAutoFit/>
          </a:bodyPr>
          <a:lstStyle/>
          <a:p>
            <a:r>
              <a:rPr lang="en-US" dirty="0"/>
              <a:t>State Change /</a:t>
            </a:r>
          </a:p>
          <a:p>
            <a:r>
              <a:rPr lang="en-US" dirty="0"/>
              <a:t>Set State</a:t>
            </a:r>
          </a:p>
          <a:p>
            <a:endParaRPr lang="en-US" dirty="0"/>
          </a:p>
        </p:txBody>
      </p:sp>
      <p:sp>
        <p:nvSpPr>
          <p:cNvPr id="24" name="TextBox 23"/>
          <p:cNvSpPr txBox="1"/>
          <p:nvPr/>
        </p:nvSpPr>
        <p:spPr>
          <a:xfrm>
            <a:off x="3957353" y="4248838"/>
            <a:ext cx="1364476" cy="646331"/>
          </a:xfrm>
          <a:prstGeom prst="rect">
            <a:avLst/>
          </a:prstGeom>
          <a:noFill/>
        </p:spPr>
        <p:txBody>
          <a:bodyPr wrap="none" rtlCol="0">
            <a:spAutoFit/>
          </a:bodyPr>
          <a:lstStyle/>
          <a:p>
            <a:r>
              <a:rPr lang="en-US" dirty="0"/>
              <a:t>User Action/</a:t>
            </a:r>
          </a:p>
          <a:p>
            <a:r>
              <a:rPr lang="en-US" dirty="0"/>
              <a:t>Gesture</a:t>
            </a:r>
          </a:p>
        </p:txBody>
      </p:sp>
      <p:sp>
        <p:nvSpPr>
          <p:cNvPr id="25" name="TextBox 24"/>
          <p:cNvSpPr txBox="1"/>
          <p:nvPr/>
        </p:nvSpPr>
        <p:spPr>
          <a:xfrm>
            <a:off x="3978380" y="5606537"/>
            <a:ext cx="1558615" cy="646331"/>
          </a:xfrm>
          <a:prstGeom prst="rect">
            <a:avLst/>
          </a:prstGeom>
          <a:noFill/>
        </p:spPr>
        <p:txBody>
          <a:bodyPr wrap="none" rtlCol="0">
            <a:spAutoFit/>
          </a:bodyPr>
          <a:lstStyle/>
          <a:p>
            <a:r>
              <a:rPr lang="en-US" dirty="0"/>
              <a:t>View Selection</a:t>
            </a:r>
          </a:p>
          <a:p>
            <a:r>
              <a:rPr lang="en-US" dirty="0"/>
              <a:t>Change View</a:t>
            </a:r>
          </a:p>
        </p:txBody>
      </p:sp>
      <p:sp>
        <p:nvSpPr>
          <p:cNvPr id="26" name="TextBox 25"/>
          <p:cNvSpPr txBox="1"/>
          <p:nvPr/>
        </p:nvSpPr>
        <p:spPr>
          <a:xfrm>
            <a:off x="2579077" y="3395579"/>
            <a:ext cx="2185214" cy="646331"/>
          </a:xfrm>
          <a:prstGeom prst="rect">
            <a:avLst/>
          </a:prstGeom>
          <a:noFill/>
        </p:spPr>
        <p:txBody>
          <a:bodyPr wrap="none" rtlCol="0">
            <a:spAutoFit/>
          </a:bodyPr>
          <a:lstStyle/>
          <a:p>
            <a:r>
              <a:rPr lang="en-US" dirty="0"/>
              <a:t>Change Notification /</a:t>
            </a:r>
          </a:p>
          <a:p>
            <a:r>
              <a:rPr lang="en-US" dirty="0"/>
              <a:t>Update Event</a:t>
            </a:r>
          </a:p>
        </p:txBody>
      </p:sp>
      <p:sp>
        <p:nvSpPr>
          <p:cNvPr id="27" name="TextBox 26"/>
          <p:cNvSpPr txBox="1"/>
          <p:nvPr/>
        </p:nvSpPr>
        <p:spPr>
          <a:xfrm>
            <a:off x="635468" y="3034633"/>
            <a:ext cx="1060770" cy="646331"/>
          </a:xfrm>
          <a:prstGeom prst="rect">
            <a:avLst/>
          </a:prstGeom>
          <a:noFill/>
        </p:spPr>
        <p:txBody>
          <a:bodyPr wrap="none" rtlCol="0">
            <a:spAutoFit/>
          </a:bodyPr>
          <a:lstStyle/>
          <a:p>
            <a:r>
              <a:rPr lang="en-US" dirty="0"/>
              <a:t>Query /</a:t>
            </a:r>
          </a:p>
          <a:p>
            <a:r>
              <a:rPr lang="en-US" dirty="0"/>
              <a:t>Get State</a:t>
            </a:r>
          </a:p>
        </p:txBody>
      </p:sp>
      <p:cxnSp>
        <p:nvCxnSpPr>
          <p:cNvPr id="28" name="Straight Arrow Connector 27"/>
          <p:cNvCxnSpPr/>
          <p:nvPr/>
        </p:nvCxnSpPr>
        <p:spPr>
          <a:xfrm>
            <a:off x="1121048" y="6683414"/>
            <a:ext cx="989169" cy="1588"/>
          </a:xfrm>
          <a:prstGeom prst="straightConnector1">
            <a:avLst/>
          </a:prstGeom>
          <a:ln w="38100">
            <a:prstDash val="dash"/>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rot="10800000">
            <a:off x="1121048" y="6305590"/>
            <a:ext cx="989169" cy="1588"/>
          </a:xfrm>
          <a:prstGeom prst="straightConnector1">
            <a:avLst/>
          </a:prstGeom>
          <a:ln w="38100">
            <a:headEnd type="arrow"/>
            <a:tailEnd type="non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110218" y="6119336"/>
            <a:ext cx="2069797" cy="369332"/>
          </a:xfrm>
          <a:prstGeom prst="rect">
            <a:avLst/>
          </a:prstGeom>
          <a:noFill/>
        </p:spPr>
        <p:txBody>
          <a:bodyPr wrap="none" rtlCol="0">
            <a:spAutoFit/>
          </a:bodyPr>
          <a:lstStyle/>
          <a:p>
            <a:r>
              <a:rPr lang="en-US" dirty="0"/>
              <a:t>Method Invocations</a:t>
            </a:r>
          </a:p>
        </p:txBody>
      </p:sp>
      <p:sp>
        <p:nvSpPr>
          <p:cNvPr id="31" name="TextBox 30"/>
          <p:cNvSpPr txBox="1"/>
          <p:nvPr/>
        </p:nvSpPr>
        <p:spPr>
          <a:xfrm>
            <a:off x="2140846" y="6488668"/>
            <a:ext cx="805366" cy="369332"/>
          </a:xfrm>
          <a:prstGeom prst="rect">
            <a:avLst/>
          </a:prstGeom>
          <a:noFill/>
        </p:spPr>
        <p:txBody>
          <a:bodyPr wrap="none" rtlCol="0">
            <a:spAutoFit/>
          </a:bodyPr>
          <a:lstStyle/>
          <a:p>
            <a:r>
              <a:rPr lang="en-US" dirty="0"/>
              <a:t>Events</a:t>
            </a:r>
          </a:p>
        </p:txBody>
      </p:sp>
      <p:sp>
        <p:nvSpPr>
          <p:cNvPr id="20" name="TextBox 19"/>
          <p:cNvSpPr txBox="1"/>
          <p:nvPr/>
        </p:nvSpPr>
        <p:spPr>
          <a:xfrm>
            <a:off x="4111505" y="2572308"/>
            <a:ext cx="1192304" cy="369332"/>
          </a:xfrm>
          <a:prstGeom prst="rect">
            <a:avLst/>
          </a:prstGeom>
          <a:noFill/>
        </p:spPr>
        <p:txBody>
          <a:bodyPr wrap="none" rtlCol="0">
            <a:spAutoFit/>
          </a:bodyPr>
          <a:lstStyle/>
          <a:p>
            <a:r>
              <a:rPr lang="en-US" dirty="0"/>
              <a:t>Data/Logic</a:t>
            </a:r>
          </a:p>
        </p:txBody>
      </p:sp>
      <p:sp>
        <p:nvSpPr>
          <p:cNvPr id="21" name="TextBox 20"/>
          <p:cNvSpPr txBox="1"/>
          <p:nvPr/>
        </p:nvSpPr>
        <p:spPr>
          <a:xfrm>
            <a:off x="1606628" y="5421870"/>
            <a:ext cx="1627369" cy="369332"/>
          </a:xfrm>
          <a:prstGeom prst="rect">
            <a:avLst/>
          </a:prstGeom>
          <a:noFill/>
        </p:spPr>
        <p:txBody>
          <a:bodyPr wrap="none" rtlCol="0">
            <a:spAutoFit/>
          </a:bodyPr>
          <a:lstStyle/>
          <a:p>
            <a:r>
              <a:rPr lang="en-US" dirty="0"/>
              <a:t>Representation</a:t>
            </a:r>
          </a:p>
        </p:txBody>
      </p:sp>
      <p:sp>
        <p:nvSpPr>
          <p:cNvPr id="22" name="TextBox 21"/>
          <p:cNvSpPr txBox="1"/>
          <p:nvPr/>
        </p:nvSpPr>
        <p:spPr>
          <a:xfrm>
            <a:off x="6111749" y="5421870"/>
            <a:ext cx="1702434" cy="369332"/>
          </a:xfrm>
          <a:prstGeom prst="rect">
            <a:avLst/>
          </a:prstGeom>
          <a:noFill/>
        </p:spPr>
        <p:txBody>
          <a:bodyPr wrap="none" rtlCol="0">
            <a:spAutoFit/>
          </a:bodyPr>
          <a:lstStyle/>
          <a:p>
            <a:r>
              <a:rPr lang="en-US" dirty="0"/>
              <a:t>User Interaction</a:t>
            </a:r>
          </a:p>
        </p:txBody>
      </p:sp>
    </p:spTree>
    <p:extLst>
      <p:ext uri="{BB962C8B-B14F-4D97-AF65-F5344CB8AC3E}">
        <p14:creationId xmlns:p14="http://schemas.microsoft.com/office/powerpoint/2010/main" val="105690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Model-View-Controller</a:t>
            </a:r>
          </a:p>
        </p:txBody>
      </p:sp>
      <p:sp>
        <p:nvSpPr>
          <p:cNvPr id="3" name="Content Placeholder 2"/>
          <p:cNvSpPr>
            <a:spLocks noGrp="1"/>
          </p:cNvSpPr>
          <p:nvPr>
            <p:ph idx="1"/>
          </p:nvPr>
        </p:nvSpPr>
        <p:spPr>
          <a:xfrm>
            <a:off x="457200" y="1600204"/>
            <a:ext cx="8229600" cy="4710629"/>
          </a:xfrm>
        </p:spPr>
        <p:txBody>
          <a:bodyPr>
            <a:normAutofit fontScale="77500" lnSpcReduction="20000"/>
          </a:bodyPr>
          <a:lstStyle/>
          <a:p>
            <a:r>
              <a:rPr lang="en-US" dirty="0"/>
              <a:t>The model, this layer contains codes that operate on the application data. </a:t>
            </a:r>
          </a:p>
          <a:p>
            <a:pPr lvl="1"/>
            <a:r>
              <a:rPr lang="en-US" dirty="0"/>
              <a:t>Any actions that wanted to be executed on the raw data must go through this layer. Definitions of how the application work with data (commonly retrieve, create, update, or delete) are written here.</a:t>
            </a:r>
          </a:p>
          <a:p>
            <a:r>
              <a:rPr lang="en-US" dirty="0"/>
              <a:t>The view, this is the presentation layer.</a:t>
            </a:r>
          </a:p>
          <a:p>
            <a:pPr lvl="1"/>
            <a:r>
              <a:rPr lang="en-US" dirty="0"/>
              <a:t> It defines how your pages should look like to the user, how the application presents data, or how a user can submit certain instructions to be executed by the application.</a:t>
            </a:r>
          </a:p>
          <a:p>
            <a:r>
              <a:rPr lang="en-US" dirty="0"/>
              <a:t>The controller, this component acts as the orchestrator of the application. </a:t>
            </a:r>
          </a:p>
          <a:p>
            <a:pPr lvl="1"/>
            <a:r>
              <a:rPr lang="en-US" dirty="0"/>
              <a:t>It controls the flow of the program. It receives user commands, processes it, and then contacts the model, and finally instructs the view to display appropriately to the user.</a:t>
            </a:r>
          </a:p>
          <a:p>
            <a:endParaRPr lang="en-US" dirty="0"/>
          </a:p>
        </p:txBody>
      </p:sp>
      <p:sp>
        <p:nvSpPr>
          <p:cNvPr id="4" name="Rectangle 3"/>
          <p:cNvSpPr/>
          <p:nvPr/>
        </p:nvSpPr>
        <p:spPr>
          <a:xfrm>
            <a:off x="457200" y="6310831"/>
            <a:ext cx="8229600" cy="369332"/>
          </a:xfrm>
          <a:prstGeom prst="rect">
            <a:avLst/>
          </a:prstGeom>
        </p:spPr>
        <p:txBody>
          <a:bodyPr wrap="square">
            <a:spAutoFit/>
          </a:bodyPr>
          <a:lstStyle/>
          <a:p>
            <a:r>
              <a:rPr lang="en-US" b="1" dirty="0" err="1">
                <a:solidFill>
                  <a:srgbClr val="008000"/>
                </a:solidFill>
              </a:rPr>
              <a:t>http://www.slepi.net/blog/programming/design-principles-in-ruby-on-rails.html</a:t>
            </a:r>
            <a:endParaRPr lang="en-US" b="1" dirty="0">
              <a:solidFill>
                <a:srgbClr val="008000"/>
              </a:solidFill>
            </a:endParaRPr>
          </a:p>
        </p:txBody>
      </p:sp>
    </p:spTree>
    <p:extLst>
      <p:ext uri="{BB962C8B-B14F-4D97-AF65-F5344CB8AC3E}">
        <p14:creationId xmlns:p14="http://schemas.microsoft.com/office/powerpoint/2010/main" val="3321269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MVC pros and cons</a:t>
            </a:r>
          </a:p>
        </p:txBody>
      </p:sp>
      <p:sp>
        <p:nvSpPr>
          <p:cNvPr id="3" name="Content Placeholder 2"/>
          <p:cNvSpPr>
            <a:spLocks noGrp="1"/>
          </p:cNvSpPr>
          <p:nvPr>
            <p:ph idx="1"/>
          </p:nvPr>
        </p:nvSpPr>
        <p:spPr>
          <a:xfrm>
            <a:off x="633046" y="1600204"/>
            <a:ext cx="7737231" cy="4800599"/>
          </a:xfrm>
        </p:spPr>
        <p:txBody>
          <a:bodyPr>
            <a:normAutofit fontScale="92500" lnSpcReduction="20000"/>
          </a:bodyPr>
          <a:lstStyle/>
          <a:p>
            <a:pPr>
              <a:buNone/>
            </a:pPr>
            <a:r>
              <a:rPr lang="en-US" sz="2400" b="1" dirty="0"/>
              <a:t>Advantages</a:t>
            </a:r>
          </a:p>
          <a:p>
            <a:pPr>
              <a:buFontTx/>
              <a:buChar char="-"/>
            </a:pPr>
            <a:r>
              <a:rPr lang="en-US" sz="2400" dirty="0"/>
              <a:t>Enable independent development &amp; testing</a:t>
            </a:r>
          </a:p>
          <a:p>
            <a:pPr>
              <a:buFontTx/>
              <a:buChar char="-"/>
            </a:pPr>
            <a:r>
              <a:rPr lang="en-US" sz="2400" dirty="0"/>
              <a:t>Easier to maintain</a:t>
            </a:r>
          </a:p>
          <a:p>
            <a:pPr>
              <a:buFontTx/>
              <a:buChar char="-"/>
            </a:pPr>
            <a:r>
              <a:rPr lang="en-US" sz="2400" dirty="0"/>
              <a:t>Provides reusable views &amp; models</a:t>
            </a:r>
          </a:p>
          <a:p>
            <a:pPr>
              <a:buFontTx/>
              <a:buChar char="-"/>
            </a:pPr>
            <a:r>
              <a:rPr lang="en-US" sz="2400" dirty="0"/>
              <a:t>Synchronized views and multiple simultaneous views</a:t>
            </a:r>
          </a:p>
          <a:p>
            <a:pPr>
              <a:buFontTx/>
              <a:buChar char="-"/>
            </a:pPr>
            <a:r>
              <a:rPr lang="en-US" sz="2400" dirty="0"/>
              <a:t>Helps enforce logical separation of concerns</a:t>
            </a:r>
          </a:p>
          <a:p>
            <a:pPr>
              <a:buFontTx/>
              <a:buChar char="-"/>
            </a:pPr>
            <a:endParaRPr lang="en-US" sz="2400" dirty="0"/>
          </a:p>
          <a:p>
            <a:pPr>
              <a:buNone/>
            </a:pPr>
            <a:r>
              <a:rPr lang="en-US" sz="2400" b="1" dirty="0"/>
              <a:t>Disadvantages</a:t>
            </a:r>
          </a:p>
          <a:p>
            <a:pPr>
              <a:buFontTx/>
              <a:buChar char="-"/>
            </a:pPr>
            <a:r>
              <a:rPr lang="en-US" sz="2400" dirty="0"/>
              <a:t>Some initial overheads splitting out concerns</a:t>
            </a:r>
          </a:p>
          <a:p>
            <a:pPr>
              <a:buFontTx/>
              <a:buChar char="-"/>
            </a:pPr>
            <a:r>
              <a:rPr lang="en-US" sz="2400" dirty="0"/>
              <a:t>Increased overheads in development (i.e. 3 classes </a:t>
            </a:r>
            <a:r>
              <a:rPr lang="en-US" sz="2400" dirty="0" err="1"/>
              <a:t>vs</a:t>
            </a:r>
            <a:r>
              <a:rPr lang="en-US" sz="2400" dirty="0"/>
              <a:t> 1)</a:t>
            </a:r>
          </a:p>
          <a:p>
            <a:pPr lvl="1">
              <a:buFontTx/>
              <a:buChar char="-"/>
            </a:pPr>
            <a:r>
              <a:rPr lang="en-US" sz="2000" dirty="0"/>
              <a:t>Especially for very simple applications</a:t>
            </a:r>
          </a:p>
          <a:p>
            <a:pPr>
              <a:buFontTx/>
              <a:buChar char="-"/>
            </a:pPr>
            <a:r>
              <a:rPr lang="en-US" sz="2400" dirty="0"/>
              <a:t>Debugging it can sometimes be a problem</a:t>
            </a:r>
          </a:p>
          <a:p>
            <a:pPr>
              <a:buFontTx/>
              <a:buChar char="-"/>
            </a:pPr>
            <a:r>
              <a:rPr lang="en-US" sz="2400" dirty="0"/>
              <a:t>Potential for excessive updates</a:t>
            </a:r>
          </a:p>
          <a:p>
            <a:pPr>
              <a:buFontTx/>
              <a:buChar char="-"/>
            </a:pPr>
            <a:r>
              <a:rPr lang="en-US" sz="2400" dirty="0"/>
              <a:t>Requires the developers to think and understand patterns</a:t>
            </a:r>
          </a:p>
          <a:p>
            <a:pPr>
              <a:buNone/>
            </a:pPr>
            <a:endParaRPr lang="en-US" sz="2400" dirty="0"/>
          </a:p>
          <a:p>
            <a:pPr>
              <a:buNone/>
            </a:pPr>
            <a:endParaRPr lang="en-US" sz="2400" dirty="0"/>
          </a:p>
          <a:p>
            <a:pPr>
              <a:buNone/>
            </a:pPr>
            <a:endParaRPr lang="en-US" sz="2400" dirty="0"/>
          </a:p>
        </p:txBody>
      </p:sp>
    </p:spTree>
    <p:extLst>
      <p:ext uri="{BB962C8B-B14F-4D97-AF65-F5344CB8AC3E}">
        <p14:creationId xmlns:p14="http://schemas.microsoft.com/office/powerpoint/2010/main" val="3925381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use </a:t>
            </a:r>
            <a:r>
              <a:rPr lang="en-US" dirty="0" err="1"/>
              <a:t>WAFs</a:t>
            </a:r>
            <a:r>
              <a:rPr lang="en-US" dirty="0"/>
              <a:t>?</a:t>
            </a:r>
          </a:p>
        </p:txBody>
      </p:sp>
      <p:sp>
        <p:nvSpPr>
          <p:cNvPr id="3" name="Content Placeholder 2"/>
          <p:cNvSpPr>
            <a:spLocks noGrp="1"/>
          </p:cNvSpPr>
          <p:nvPr>
            <p:ph idx="1"/>
          </p:nvPr>
        </p:nvSpPr>
        <p:spPr/>
        <p:txBody>
          <a:bodyPr>
            <a:normAutofit fontScale="85000" lnSpcReduction="20000"/>
          </a:bodyPr>
          <a:lstStyle/>
          <a:p>
            <a:r>
              <a:rPr lang="en-US" dirty="0"/>
              <a:t>To enable rapid development that matches the rapid release cycle of the web</a:t>
            </a:r>
          </a:p>
          <a:p>
            <a:r>
              <a:rPr lang="en-US" dirty="0"/>
              <a:t>To reduce the development effort of programming in different languages/technologies</a:t>
            </a:r>
          </a:p>
          <a:p>
            <a:pPr lvl="1"/>
            <a:r>
              <a:rPr lang="en-US" dirty="0"/>
              <a:t>Database access (possibly Object-Relational Mapping)</a:t>
            </a:r>
          </a:p>
          <a:p>
            <a:pPr lvl="1"/>
            <a:r>
              <a:rPr lang="en-US" dirty="0" err="1"/>
              <a:t>Templating</a:t>
            </a:r>
            <a:r>
              <a:rPr lang="en-US" dirty="0"/>
              <a:t> HTML</a:t>
            </a:r>
          </a:p>
          <a:p>
            <a:r>
              <a:rPr lang="en-US" dirty="0"/>
              <a:t>To manage the complexity of the increasingly large and sophisticated web applications by including library support for:</a:t>
            </a:r>
          </a:p>
          <a:p>
            <a:pPr lvl="1"/>
            <a:r>
              <a:rPr lang="en-US" dirty="0"/>
              <a:t>User Authentication</a:t>
            </a:r>
          </a:p>
          <a:p>
            <a:pPr lvl="1"/>
            <a:r>
              <a:rPr lang="en-US" dirty="0"/>
              <a:t>Session Management</a:t>
            </a:r>
          </a:p>
          <a:p>
            <a:pPr lvl="1"/>
            <a:r>
              <a:rPr lang="en-US" dirty="0"/>
              <a:t>Creating a Web Service</a:t>
            </a:r>
          </a:p>
        </p:txBody>
      </p:sp>
    </p:spTree>
    <p:extLst>
      <p:ext uri="{BB962C8B-B14F-4D97-AF65-F5344CB8AC3E}">
        <p14:creationId xmlns:p14="http://schemas.microsoft.com/office/powerpoint/2010/main" val="518878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use </a:t>
            </a:r>
            <a:r>
              <a:rPr lang="en-US" dirty="0" err="1"/>
              <a:t>WAFs</a:t>
            </a:r>
            <a:r>
              <a:rPr lang="en-US" dirty="0"/>
              <a:t>? </a:t>
            </a:r>
          </a:p>
        </p:txBody>
      </p:sp>
      <p:sp>
        <p:nvSpPr>
          <p:cNvPr id="3" name="Content Placeholder 2"/>
          <p:cNvSpPr>
            <a:spLocks noGrp="1"/>
          </p:cNvSpPr>
          <p:nvPr>
            <p:ph idx="1"/>
          </p:nvPr>
        </p:nvSpPr>
        <p:spPr>
          <a:xfrm>
            <a:off x="457200" y="1600204"/>
            <a:ext cx="8382000" cy="4525963"/>
          </a:xfrm>
        </p:spPr>
        <p:txBody>
          <a:bodyPr>
            <a:normAutofit fontScale="92500" lnSpcReduction="10000"/>
          </a:bodyPr>
          <a:lstStyle/>
          <a:p>
            <a:r>
              <a:rPr lang="en-US" dirty="0"/>
              <a:t>To reduce 'boiler plate’ code in web applications</a:t>
            </a:r>
          </a:p>
          <a:p>
            <a:pPr lvl="1"/>
            <a:r>
              <a:rPr lang="en-US" dirty="0"/>
              <a:t>Particularly access and manipulation of DB</a:t>
            </a:r>
          </a:p>
          <a:p>
            <a:pPr lvl="1"/>
            <a:r>
              <a:rPr lang="en-US" dirty="0"/>
              <a:t>Session management across multiple pages</a:t>
            </a:r>
          </a:p>
          <a:p>
            <a:pPr lvl="1"/>
            <a:r>
              <a:rPr lang="en-US" dirty="0"/>
              <a:t>Often referred to as CRUD operations</a:t>
            </a:r>
          </a:p>
          <a:p>
            <a:r>
              <a:rPr lang="en-US" dirty="0"/>
              <a:t>Web-apps have matured to a point were software engineering practices (patterns (e.g. MVC) and frameworks) are becoming </a:t>
            </a:r>
          </a:p>
          <a:p>
            <a:pPr lvl="1"/>
            <a:r>
              <a:rPr lang="en-US" dirty="0"/>
              <a:t>increasingly useful,</a:t>
            </a:r>
          </a:p>
          <a:p>
            <a:pPr lvl="1"/>
            <a:r>
              <a:rPr lang="en-US" dirty="0"/>
              <a:t>necessary and</a:t>
            </a:r>
          </a:p>
          <a:p>
            <a:pPr lvl="1"/>
            <a:r>
              <a:rPr lang="en-US" dirty="0"/>
              <a:t>the norm. </a:t>
            </a:r>
          </a:p>
          <a:p>
            <a:endParaRPr lang="en-US" dirty="0"/>
          </a:p>
          <a:p>
            <a:pPr lvl="1"/>
            <a:endParaRPr lang="en-US" dirty="0"/>
          </a:p>
          <a:p>
            <a:endParaRPr lang="en-US" dirty="0"/>
          </a:p>
        </p:txBody>
      </p:sp>
    </p:spTree>
    <p:extLst>
      <p:ext uri="{BB962C8B-B14F-4D97-AF65-F5344CB8AC3E}">
        <p14:creationId xmlns:p14="http://schemas.microsoft.com/office/powerpoint/2010/main" val="1173616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fontScale="90000"/>
          </a:bodyPr>
          <a:lstStyle/>
          <a:p>
            <a:r>
              <a:rPr lang="en-US" dirty="0"/>
              <a:t>Common Framework Functionality</a:t>
            </a:r>
          </a:p>
        </p:txBody>
      </p:sp>
      <p:sp>
        <p:nvSpPr>
          <p:cNvPr id="3" name="Content Placeholder 2"/>
          <p:cNvSpPr>
            <a:spLocks noGrp="1"/>
          </p:cNvSpPr>
          <p:nvPr>
            <p:ph idx="1"/>
          </p:nvPr>
        </p:nvSpPr>
        <p:spPr>
          <a:xfrm>
            <a:off x="281354" y="1484785"/>
            <a:ext cx="8862646" cy="5220817"/>
          </a:xfrm>
        </p:spPr>
        <p:txBody>
          <a:bodyPr>
            <a:normAutofit lnSpcReduction="10000"/>
          </a:bodyPr>
          <a:lstStyle/>
          <a:p>
            <a:r>
              <a:rPr lang="en-US" b="1" dirty="0"/>
              <a:t>Web Template System </a:t>
            </a:r>
          </a:p>
          <a:p>
            <a:pPr lvl="1"/>
            <a:r>
              <a:rPr lang="en-US" dirty="0"/>
              <a:t> to provide pre-defined pages that load dynamic content</a:t>
            </a:r>
          </a:p>
          <a:p>
            <a:r>
              <a:rPr lang="en-US" b="1" dirty="0"/>
              <a:t>Caching</a:t>
            </a:r>
          </a:p>
          <a:p>
            <a:pPr lvl="1"/>
            <a:r>
              <a:rPr lang="en-US" dirty="0"/>
              <a:t> to reduce perceived lag</a:t>
            </a:r>
          </a:p>
          <a:p>
            <a:r>
              <a:rPr lang="en-US" b="1" dirty="0"/>
              <a:t>Security</a:t>
            </a:r>
          </a:p>
          <a:p>
            <a:pPr lvl="1"/>
            <a:r>
              <a:rPr lang="en-US" dirty="0"/>
              <a:t>to provide authentication and authorization functionality</a:t>
            </a:r>
          </a:p>
          <a:p>
            <a:r>
              <a:rPr lang="en-US" b="1" dirty="0"/>
              <a:t>Database access and mapping</a:t>
            </a:r>
          </a:p>
          <a:p>
            <a:pPr lvl="1"/>
            <a:r>
              <a:rPr lang="en-US" dirty="0"/>
              <a:t>To speed up working with databases and avoid using SQL</a:t>
            </a:r>
          </a:p>
          <a:p>
            <a:pPr marL="457200" lvl="1" indent="0">
              <a:buNone/>
            </a:pPr>
            <a:endParaRPr lang="en-US" dirty="0"/>
          </a:p>
        </p:txBody>
      </p:sp>
    </p:spTree>
    <p:extLst>
      <p:ext uri="{BB962C8B-B14F-4D97-AF65-F5344CB8AC3E}">
        <p14:creationId xmlns:p14="http://schemas.microsoft.com/office/powerpoint/2010/main" val="269061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fontScale="90000"/>
          </a:bodyPr>
          <a:lstStyle/>
          <a:p>
            <a:r>
              <a:rPr lang="en-US" dirty="0"/>
              <a:t>Common Framework Functionality</a:t>
            </a:r>
          </a:p>
        </p:txBody>
      </p:sp>
      <p:sp>
        <p:nvSpPr>
          <p:cNvPr id="3" name="Content Placeholder 2"/>
          <p:cNvSpPr>
            <a:spLocks noGrp="1"/>
          </p:cNvSpPr>
          <p:nvPr>
            <p:ph idx="1"/>
          </p:nvPr>
        </p:nvSpPr>
        <p:spPr>
          <a:xfrm>
            <a:off x="281354" y="1412776"/>
            <a:ext cx="8862646" cy="5292825"/>
          </a:xfrm>
        </p:spPr>
        <p:txBody>
          <a:bodyPr>
            <a:normAutofit lnSpcReduction="10000"/>
          </a:bodyPr>
          <a:lstStyle/>
          <a:p>
            <a:r>
              <a:rPr lang="en-US" b="1" dirty="0"/>
              <a:t>URL Mapping</a:t>
            </a:r>
          </a:p>
          <a:p>
            <a:pPr lvl="1"/>
            <a:r>
              <a:rPr lang="en-US" dirty="0"/>
              <a:t>To enable handling of URLs and friendlier URLS</a:t>
            </a:r>
          </a:p>
          <a:p>
            <a:r>
              <a:rPr lang="en-US" b="1" dirty="0"/>
              <a:t>Ajax handlers and handling</a:t>
            </a:r>
          </a:p>
          <a:p>
            <a:pPr lvl="1"/>
            <a:r>
              <a:rPr lang="en-US" dirty="0"/>
              <a:t>To create more dynamic pages that are more responsive</a:t>
            </a:r>
          </a:p>
          <a:p>
            <a:r>
              <a:rPr lang="en-US" b="1" dirty="0"/>
              <a:t>Automatic configuration</a:t>
            </a:r>
          </a:p>
          <a:p>
            <a:pPr lvl="1"/>
            <a:r>
              <a:rPr lang="en-US" dirty="0"/>
              <a:t>To decrease the setup hassles, usually uses introspection and/or following conventions</a:t>
            </a:r>
          </a:p>
          <a:p>
            <a:r>
              <a:rPr lang="en-US" b="1" dirty="0"/>
              <a:t>Form Management</a:t>
            </a:r>
          </a:p>
          <a:p>
            <a:pPr lvl="1"/>
            <a:r>
              <a:rPr lang="en-US" dirty="0"/>
              <a:t>To speed up the creation of forms and handling of forms</a:t>
            </a:r>
          </a:p>
          <a:p>
            <a:pPr lvl="1"/>
            <a:endParaRPr lang="en-US" dirty="0"/>
          </a:p>
        </p:txBody>
      </p:sp>
    </p:spTree>
    <p:extLst>
      <p:ext uri="{BB962C8B-B14F-4D97-AF65-F5344CB8AC3E}">
        <p14:creationId xmlns:p14="http://schemas.microsoft.com/office/powerpoint/2010/main" val="22643358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WAF Caveats</a:t>
            </a:r>
          </a:p>
        </p:txBody>
      </p:sp>
      <p:sp>
        <p:nvSpPr>
          <p:cNvPr id="3" name="Content Placeholder 2"/>
          <p:cNvSpPr>
            <a:spLocks noGrp="1"/>
          </p:cNvSpPr>
          <p:nvPr>
            <p:ph idx="1"/>
          </p:nvPr>
        </p:nvSpPr>
        <p:spPr>
          <a:xfrm>
            <a:off x="457200" y="1384518"/>
            <a:ext cx="8229600" cy="5205372"/>
          </a:xfrm>
        </p:spPr>
        <p:txBody>
          <a:bodyPr>
            <a:normAutofit fontScale="92500"/>
          </a:bodyPr>
          <a:lstStyle/>
          <a:p>
            <a:r>
              <a:rPr lang="en-US" dirty="0"/>
              <a:t>They require an investment in learning the framework</a:t>
            </a:r>
          </a:p>
          <a:p>
            <a:pPr lvl="1"/>
            <a:r>
              <a:rPr lang="en-US" b="1" dirty="0"/>
              <a:t>Learning vs. Building Trade-off</a:t>
            </a:r>
          </a:p>
          <a:p>
            <a:r>
              <a:rPr lang="en-US" dirty="0"/>
              <a:t>Sacrifice some flexibility for rapid development</a:t>
            </a:r>
          </a:p>
          <a:p>
            <a:pPr lvl="1"/>
            <a:r>
              <a:rPr lang="en-US" b="1" dirty="0"/>
              <a:t>Flexibility vs. Efficiency Trade-off</a:t>
            </a:r>
          </a:p>
          <a:p>
            <a:r>
              <a:rPr lang="en-US" dirty="0"/>
              <a:t>Knowledge of one framework does not necessarily transfer to another</a:t>
            </a:r>
          </a:p>
          <a:p>
            <a:r>
              <a:rPr lang="en-US" dirty="0"/>
              <a:t>Early stages of web framework eco-systems</a:t>
            </a:r>
          </a:p>
          <a:p>
            <a:pPr lvl="1"/>
            <a:r>
              <a:rPr lang="en-US" dirty="0"/>
              <a:t>There are many competing options at present</a:t>
            </a:r>
          </a:p>
          <a:p>
            <a:pPr lvl="1"/>
            <a:r>
              <a:rPr lang="en-US" dirty="0"/>
              <a:t>Eventually the most popular (few) will emerge</a:t>
            </a:r>
          </a:p>
        </p:txBody>
      </p:sp>
    </p:spTree>
    <p:extLst>
      <p:ext uri="{BB962C8B-B14F-4D97-AF65-F5344CB8AC3E}">
        <p14:creationId xmlns:p14="http://schemas.microsoft.com/office/powerpoint/2010/main" val="1443281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High Level System Architecture</a:t>
            </a:r>
          </a:p>
        </p:txBody>
      </p:sp>
      <p:sp>
        <p:nvSpPr>
          <p:cNvPr id="3" name="Content Placeholder 2"/>
          <p:cNvSpPr>
            <a:spLocks noGrp="1"/>
          </p:cNvSpPr>
          <p:nvPr>
            <p:ph idx="1"/>
          </p:nvPr>
        </p:nvSpPr>
        <p:spPr>
          <a:xfrm>
            <a:off x="468248" y="3902212"/>
            <a:ext cx="8229600" cy="3199988"/>
          </a:xfrm>
        </p:spPr>
        <p:txBody>
          <a:bodyPr>
            <a:normAutofit/>
          </a:bodyPr>
          <a:lstStyle/>
          <a:p>
            <a:r>
              <a:rPr lang="en-US" dirty="0"/>
              <a:t>Web application frameworks sit in the middleware, for building the application server.</a:t>
            </a:r>
          </a:p>
        </p:txBody>
      </p:sp>
      <p:pic>
        <p:nvPicPr>
          <p:cNvPr id="4" name="Picture 3" descr="A 3-tier web architectur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67912"/>
            <a:ext cx="8697848" cy="1421217"/>
          </a:xfrm>
          <a:prstGeom prst="rect">
            <a:avLst/>
          </a:prstGeom>
        </p:spPr>
      </p:pic>
      <p:sp>
        <p:nvSpPr>
          <p:cNvPr id="5" name="Oval 4">
            <a:extLst>
              <a:ext uri="{FF2B5EF4-FFF2-40B4-BE49-F238E27FC236}">
                <a16:creationId xmlns:a16="http://schemas.microsoft.com/office/drawing/2014/main" id="{F5EFA44C-1377-0D45-9482-559D028DB5AE}"/>
              </a:ext>
            </a:extLst>
          </p:cNvPr>
          <p:cNvSpPr/>
          <p:nvPr/>
        </p:nvSpPr>
        <p:spPr>
          <a:xfrm>
            <a:off x="4045527" y="2125856"/>
            <a:ext cx="2978727" cy="1563273"/>
          </a:xfrm>
          <a:prstGeom prst="ellipse">
            <a:avLst/>
          </a:prstGeom>
          <a:noFill/>
          <a:ln w="762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415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9143999" cy="1143000"/>
          </a:xfrm>
        </p:spPr>
        <p:txBody>
          <a:bodyPr/>
          <a:lstStyle/>
          <a:p>
            <a:r>
              <a:rPr lang="en-US" dirty="0"/>
              <a:t>Many Web App Frameworks</a:t>
            </a:r>
          </a:p>
        </p:txBody>
      </p:sp>
      <p:sp>
        <p:nvSpPr>
          <p:cNvPr id="3" name="Content Placeholder 2"/>
          <p:cNvSpPr>
            <a:spLocks noGrp="1"/>
          </p:cNvSpPr>
          <p:nvPr>
            <p:ph idx="1"/>
          </p:nvPr>
        </p:nvSpPr>
        <p:spPr>
          <a:xfrm>
            <a:off x="457200" y="1296738"/>
            <a:ext cx="8229600" cy="4919578"/>
          </a:xfrm>
        </p:spPr>
        <p:txBody>
          <a:bodyPr vert="horz" lIns="91440" tIns="45720" rIns="91440" bIns="45720" rtlCol="0" anchor="t">
            <a:normAutofit fontScale="77500" lnSpcReduction="20000"/>
          </a:bodyPr>
          <a:lstStyle/>
          <a:p>
            <a:endParaRPr lang="en-US" b="1" dirty="0"/>
          </a:p>
          <a:p>
            <a:r>
              <a:rPr lang="en-US" b="1" dirty="0"/>
              <a:t>Java</a:t>
            </a:r>
          </a:p>
          <a:p>
            <a:pPr lvl="1"/>
            <a:r>
              <a:rPr lang="en-US" dirty="0"/>
              <a:t>Spring,  Struts, Grails, Google Web Toolkit, </a:t>
            </a:r>
            <a:r>
              <a:rPr lang="en-US" dirty="0" err="1"/>
              <a:t>Jboss</a:t>
            </a:r>
            <a:r>
              <a:rPr lang="en-US" dirty="0"/>
              <a:t>, etc</a:t>
            </a:r>
          </a:p>
          <a:p>
            <a:r>
              <a:rPr lang="en-US" b="1" dirty="0"/>
              <a:t>PHP</a:t>
            </a:r>
          </a:p>
          <a:p>
            <a:pPr lvl="1"/>
            <a:r>
              <a:rPr lang="en-US" dirty="0"/>
              <a:t> </a:t>
            </a:r>
            <a:r>
              <a:rPr lang="en-US" b="1" dirty="0"/>
              <a:t>Symfony</a:t>
            </a:r>
            <a:r>
              <a:rPr lang="en-US" dirty="0"/>
              <a:t>, Cake, Alloy, </a:t>
            </a:r>
            <a:r>
              <a:rPr lang="en-US" dirty="0" err="1"/>
              <a:t>AppFlower</a:t>
            </a:r>
            <a:r>
              <a:rPr lang="en-US" dirty="0"/>
              <a:t>, Lithium, Seagull, Solar, etc</a:t>
            </a:r>
          </a:p>
          <a:p>
            <a:r>
              <a:rPr lang="en-US" b="1" dirty="0"/>
              <a:t>Python</a:t>
            </a:r>
          </a:p>
          <a:p>
            <a:pPr lvl="1"/>
            <a:r>
              <a:rPr lang="en-US" b="1"/>
              <a:t>Django</a:t>
            </a:r>
            <a:r>
              <a:rPr lang="en-US"/>
              <a:t>, </a:t>
            </a:r>
            <a:r>
              <a:rPr lang="en-US" b="1"/>
              <a:t>Flask</a:t>
            </a:r>
            <a:r>
              <a:rPr lang="en-US"/>
              <a:t>, TurboGears, Pylons, Pyramid, Grok, Zope,  etc</a:t>
            </a:r>
            <a:endParaRPr lang="en-US">
              <a:ea typeface="Calibri"/>
              <a:cs typeface="Calibri"/>
            </a:endParaRPr>
          </a:p>
          <a:p>
            <a:r>
              <a:rPr lang="en-US" b="1" dirty="0"/>
              <a:t>Ruby</a:t>
            </a:r>
          </a:p>
          <a:p>
            <a:pPr lvl="1"/>
            <a:r>
              <a:rPr lang="en-US" b="1" dirty="0"/>
              <a:t>Rails</a:t>
            </a:r>
            <a:r>
              <a:rPr lang="en-US" dirty="0"/>
              <a:t>, Camping, </a:t>
            </a:r>
            <a:r>
              <a:rPr lang="en-US" dirty="0" err="1"/>
              <a:t>MonkeyBars</a:t>
            </a:r>
            <a:r>
              <a:rPr lang="en-US" dirty="0"/>
              <a:t>, </a:t>
            </a:r>
            <a:r>
              <a:rPr lang="en-US" dirty="0" err="1"/>
              <a:t>Merb</a:t>
            </a:r>
            <a:r>
              <a:rPr lang="en-US" dirty="0"/>
              <a:t>, </a:t>
            </a:r>
            <a:r>
              <a:rPr lang="en-US" dirty="0" err="1"/>
              <a:t>Ramaze</a:t>
            </a:r>
            <a:r>
              <a:rPr lang="en-US" dirty="0"/>
              <a:t>, Nitro,  etc</a:t>
            </a:r>
          </a:p>
          <a:p>
            <a:r>
              <a:rPr lang="en-US" b="1" dirty="0"/>
              <a:t>Perl</a:t>
            </a:r>
          </a:p>
          <a:p>
            <a:pPr lvl="1"/>
            <a:r>
              <a:rPr lang="en-US" dirty="0" err="1"/>
              <a:t>Catlyst</a:t>
            </a:r>
            <a:r>
              <a:rPr lang="en-US" dirty="0"/>
              <a:t>, Dancer, Reaction, Interchange,  Mason, etc</a:t>
            </a:r>
          </a:p>
          <a:p>
            <a:r>
              <a:rPr lang="en-US" b="1" dirty="0"/>
              <a:t>ASP.NET</a:t>
            </a:r>
            <a:r>
              <a:rPr lang="en-US" dirty="0"/>
              <a:t>, </a:t>
            </a:r>
            <a:r>
              <a:rPr lang="en-US" dirty="0" err="1"/>
              <a:t>ColdFusion,C</a:t>
            </a:r>
            <a:r>
              <a:rPr lang="en-US" dirty="0"/>
              <a:t>++, </a:t>
            </a:r>
            <a:r>
              <a:rPr lang="en-US" dirty="0" err="1"/>
              <a:t>Tcl</a:t>
            </a:r>
            <a:r>
              <a:rPr lang="en-US" dirty="0"/>
              <a:t>, </a:t>
            </a:r>
            <a:r>
              <a:rPr lang="en-US" dirty="0" err="1"/>
              <a:t>Javascript</a:t>
            </a:r>
            <a:r>
              <a:rPr lang="en-US" dirty="0"/>
              <a:t>, </a:t>
            </a:r>
            <a:r>
              <a:rPr lang="en-US" dirty="0" err="1"/>
              <a:t>Ocaml,Scala</a:t>
            </a:r>
            <a:r>
              <a:rPr lang="en-US" dirty="0"/>
              <a:t>, Groovy, etc</a:t>
            </a:r>
          </a:p>
        </p:txBody>
      </p:sp>
      <p:sp>
        <p:nvSpPr>
          <p:cNvPr id="4" name="Rectangle 3"/>
          <p:cNvSpPr/>
          <p:nvPr/>
        </p:nvSpPr>
        <p:spPr>
          <a:xfrm>
            <a:off x="1" y="6143532"/>
            <a:ext cx="9144000" cy="369332"/>
          </a:xfrm>
          <a:prstGeom prst="rect">
            <a:avLst/>
          </a:prstGeom>
        </p:spPr>
        <p:txBody>
          <a:bodyPr wrap="square">
            <a:spAutoFit/>
          </a:bodyPr>
          <a:lstStyle/>
          <a:p>
            <a:pPr lvl="1"/>
            <a:r>
              <a:rPr lang="en-US" b="1" dirty="0">
                <a:solidFill>
                  <a:srgbClr val="008000"/>
                </a:solidFill>
                <a:hlinkClick r:id="rId3"/>
              </a:rPr>
              <a:t>http://en.wikipedia.org/wiki/Comparison_of_web_application_frameworks</a:t>
            </a:r>
            <a:r>
              <a:rPr lang="en-US" b="1" dirty="0">
                <a:solidFill>
                  <a:srgbClr val="008000"/>
                </a:solidFill>
              </a:rPr>
              <a:t> </a:t>
            </a:r>
          </a:p>
        </p:txBody>
      </p:sp>
    </p:spTree>
    <p:extLst>
      <p:ext uri="{BB962C8B-B14F-4D97-AF65-F5344CB8AC3E}">
        <p14:creationId xmlns:p14="http://schemas.microsoft.com/office/powerpoint/2010/main" val="3043724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Django</a:t>
            </a:r>
            <a:endParaRPr lang="en-US" dirty="0"/>
          </a:p>
        </p:txBody>
      </p:sp>
      <p:pic>
        <p:nvPicPr>
          <p:cNvPr id="6" name="Picture 5" descr="Django Framework logo"/>
          <p:cNvPicPr>
            <a:picLocks noChangeAspect="1"/>
          </p:cNvPicPr>
          <p:nvPr/>
        </p:nvPicPr>
        <p:blipFill>
          <a:blip r:embed="rId2"/>
          <a:stretch>
            <a:fillRect/>
          </a:stretch>
        </p:blipFill>
        <p:spPr>
          <a:xfrm>
            <a:off x="0" y="2"/>
            <a:ext cx="9144000" cy="6860791"/>
          </a:xfrm>
          <a:prstGeom prst="rect">
            <a:avLst/>
          </a:prstGeom>
        </p:spPr>
      </p:pic>
    </p:spTree>
    <p:extLst>
      <p:ext uri="{BB962C8B-B14F-4D97-AF65-F5344CB8AC3E}">
        <p14:creationId xmlns:p14="http://schemas.microsoft.com/office/powerpoint/2010/main" val="30857288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Django</a:t>
            </a:r>
            <a:endParaRPr lang="en-US" dirty="0"/>
          </a:p>
        </p:txBody>
      </p:sp>
      <p:sp>
        <p:nvSpPr>
          <p:cNvPr id="3" name="Content Placeholder 2"/>
          <p:cNvSpPr>
            <a:spLocks noGrp="1"/>
          </p:cNvSpPr>
          <p:nvPr>
            <p:ph idx="1"/>
          </p:nvPr>
        </p:nvSpPr>
        <p:spPr/>
        <p:txBody>
          <a:bodyPr/>
          <a:lstStyle/>
          <a:p>
            <a:r>
              <a:rPr lang="en-US" dirty="0"/>
              <a:t>Pronounced JANG-oh</a:t>
            </a:r>
          </a:p>
          <a:p>
            <a:endParaRPr lang="en-US" dirty="0"/>
          </a:p>
          <a:p>
            <a:r>
              <a:rPr lang="en-US" dirty="0"/>
              <a:t>“</a:t>
            </a:r>
            <a:r>
              <a:rPr lang="en-US" i="1" dirty="0" err="1"/>
              <a:t>Django</a:t>
            </a:r>
            <a:r>
              <a:rPr lang="en-US" i="1" dirty="0"/>
              <a:t> is a high-level  Python Web framework that encourages rapid development and clean, pragmatic design</a:t>
            </a:r>
            <a:r>
              <a:rPr lang="en-US" dirty="0"/>
              <a:t>”</a:t>
            </a:r>
          </a:p>
          <a:p>
            <a:endParaRPr lang="en-US" dirty="0"/>
          </a:p>
          <a:p>
            <a:r>
              <a:rPr lang="en-US" dirty="0"/>
              <a:t>Claimed to be the web framework for perfectionists with deadlines – you may differ!</a:t>
            </a:r>
          </a:p>
          <a:p>
            <a:endParaRPr lang="en-US" dirty="0"/>
          </a:p>
        </p:txBody>
      </p:sp>
    </p:spTree>
    <p:extLst>
      <p:ext uri="{BB962C8B-B14F-4D97-AF65-F5344CB8AC3E}">
        <p14:creationId xmlns:p14="http://schemas.microsoft.com/office/powerpoint/2010/main" val="3510308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Django</a:t>
            </a:r>
            <a:endParaRPr lang="en-US" dirty="0"/>
          </a:p>
        </p:txBody>
      </p:sp>
      <p:sp>
        <p:nvSpPr>
          <p:cNvPr id="3" name="Content Placeholder 2"/>
          <p:cNvSpPr>
            <a:spLocks noGrp="1"/>
          </p:cNvSpPr>
          <p:nvPr>
            <p:ph idx="1"/>
          </p:nvPr>
        </p:nvSpPr>
        <p:spPr/>
        <p:txBody>
          <a:bodyPr>
            <a:normAutofit fontScale="92500" lnSpcReduction="20000"/>
          </a:bodyPr>
          <a:lstStyle/>
          <a:p>
            <a:r>
              <a:rPr lang="en-US" dirty="0"/>
              <a:t>A </a:t>
            </a:r>
            <a:r>
              <a:rPr lang="en-US" b="1" dirty="0"/>
              <a:t>Python</a:t>
            </a:r>
            <a:r>
              <a:rPr lang="en-US" dirty="0"/>
              <a:t> Based Web Application Framework</a:t>
            </a:r>
          </a:p>
          <a:p>
            <a:r>
              <a:rPr lang="en-US" dirty="0"/>
              <a:t>Its primary goal is to ease the creation of complex, database-driven websites</a:t>
            </a:r>
          </a:p>
          <a:p>
            <a:r>
              <a:rPr lang="en-US" dirty="0"/>
              <a:t>Emphasizes </a:t>
            </a:r>
            <a:r>
              <a:rPr lang="en-US" b="1" dirty="0"/>
              <a:t>reusability</a:t>
            </a:r>
            <a:r>
              <a:rPr lang="en-US" dirty="0"/>
              <a:t> and </a:t>
            </a:r>
            <a:r>
              <a:rPr lang="en-US" b="1" dirty="0" err="1"/>
              <a:t>pluggability</a:t>
            </a:r>
            <a:r>
              <a:rPr lang="en-US" dirty="0"/>
              <a:t> of components and </a:t>
            </a:r>
            <a:r>
              <a:rPr lang="en-US" b="1" dirty="0"/>
              <a:t>rapid</a:t>
            </a:r>
            <a:r>
              <a:rPr lang="en-US" dirty="0"/>
              <a:t> </a:t>
            </a:r>
            <a:r>
              <a:rPr lang="en-US" b="1" dirty="0"/>
              <a:t>development</a:t>
            </a:r>
          </a:p>
          <a:p>
            <a:r>
              <a:rPr lang="en-US" dirty="0"/>
              <a:t>Provides an optional administrative CRUD (create, read, update and delete) interface</a:t>
            </a:r>
          </a:p>
          <a:p>
            <a:pPr lvl="1"/>
            <a:r>
              <a:rPr lang="en-US" dirty="0"/>
              <a:t>This is created dynamically through introspection.</a:t>
            </a:r>
          </a:p>
          <a:p>
            <a:r>
              <a:rPr lang="en-US" dirty="0"/>
              <a:t>Deviates from MVC employing </a:t>
            </a:r>
            <a:r>
              <a:rPr lang="en-US" b="1" dirty="0"/>
              <a:t>Model</a:t>
            </a:r>
            <a:r>
              <a:rPr lang="en-US" dirty="0"/>
              <a:t> </a:t>
            </a:r>
            <a:r>
              <a:rPr lang="en-US" b="1" dirty="0"/>
              <a:t>View</a:t>
            </a:r>
            <a:r>
              <a:rPr lang="en-US" dirty="0"/>
              <a:t> </a:t>
            </a:r>
            <a:r>
              <a:rPr lang="en-US" b="1" dirty="0"/>
              <a:t>Template</a:t>
            </a:r>
          </a:p>
        </p:txBody>
      </p:sp>
    </p:spTree>
    <p:extLst>
      <p:ext uri="{BB962C8B-B14F-4D97-AF65-F5344CB8AC3E}">
        <p14:creationId xmlns:p14="http://schemas.microsoft.com/office/powerpoint/2010/main" val="4072237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Django</a:t>
            </a:r>
            <a:endParaRPr lang="en-US" dirty="0"/>
          </a:p>
        </p:txBody>
      </p:sp>
      <p:sp>
        <p:nvSpPr>
          <p:cNvPr id="3" name="Content Placeholder 2"/>
          <p:cNvSpPr>
            <a:spLocks noGrp="1"/>
          </p:cNvSpPr>
          <p:nvPr>
            <p:ph idx="1"/>
          </p:nvPr>
        </p:nvSpPr>
        <p:spPr/>
        <p:txBody>
          <a:bodyPr>
            <a:normAutofit fontScale="77500" lnSpcReduction="20000"/>
          </a:bodyPr>
          <a:lstStyle/>
          <a:p>
            <a:r>
              <a:rPr lang="en-US" dirty="0"/>
              <a:t>History:</a:t>
            </a:r>
          </a:p>
          <a:p>
            <a:pPr lvl="1"/>
            <a:r>
              <a:rPr lang="en-US" dirty="0"/>
              <a:t>Created by Adrian </a:t>
            </a:r>
            <a:r>
              <a:rPr lang="en-US" dirty="0" err="1"/>
              <a:t>Holovaty</a:t>
            </a:r>
            <a:r>
              <a:rPr lang="en-US" dirty="0"/>
              <a:t> and Jacob Kaplan-Moss at World Online news for efficient development</a:t>
            </a:r>
          </a:p>
          <a:p>
            <a:pPr lvl="1"/>
            <a:r>
              <a:rPr lang="en-US" dirty="0"/>
              <a:t>Open Sourced in 2005, first major release in 2008</a:t>
            </a:r>
          </a:p>
          <a:p>
            <a:r>
              <a:rPr lang="en-US" dirty="0"/>
              <a:t>Primary Focus:</a:t>
            </a:r>
          </a:p>
          <a:p>
            <a:pPr lvl="1"/>
            <a:r>
              <a:rPr lang="en-US" dirty="0"/>
              <a:t>Dynamic and database driven websites</a:t>
            </a:r>
          </a:p>
          <a:p>
            <a:pPr lvl="1"/>
            <a:r>
              <a:rPr lang="en-US" dirty="0"/>
              <a:t>Content based websites</a:t>
            </a:r>
          </a:p>
          <a:p>
            <a:pPr lvl="1"/>
            <a:r>
              <a:rPr lang="en-US" dirty="0"/>
              <a:t>Examples:</a:t>
            </a:r>
          </a:p>
          <a:p>
            <a:pPr lvl="2"/>
            <a:r>
              <a:rPr lang="en-US" dirty="0"/>
              <a:t>eBay, Amazon, </a:t>
            </a:r>
            <a:r>
              <a:rPr lang="en-US" dirty="0" err="1"/>
              <a:t>GumTree</a:t>
            </a:r>
            <a:r>
              <a:rPr lang="en-US" dirty="0"/>
              <a:t>, </a:t>
            </a:r>
            <a:r>
              <a:rPr lang="en-US" dirty="0" err="1"/>
              <a:t>etc</a:t>
            </a:r>
            <a:endParaRPr lang="en-US" dirty="0"/>
          </a:p>
          <a:p>
            <a:pPr lvl="2"/>
            <a:r>
              <a:rPr lang="en-US" dirty="0"/>
              <a:t>The Guardian, Herald, </a:t>
            </a:r>
            <a:r>
              <a:rPr lang="en-US" dirty="0" err="1"/>
              <a:t>etc</a:t>
            </a:r>
            <a:endParaRPr lang="en-US" dirty="0"/>
          </a:p>
          <a:p>
            <a:pPr lvl="2"/>
            <a:r>
              <a:rPr lang="en-US" dirty="0"/>
              <a:t>Match, Twitter, </a:t>
            </a:r>
            <a:r>
              <a:rPr lang="en-US" dirty="0" err="1"/>
              <a:t>etc</a:t>
            </a:r>
            <a:endParaRPr lang="en-US" dirty="0"/>
          </a:p>
          <a:p>
            <a:r>
              <a:rPr lang="en-US" dirty="0"/>
              <a:t>Django is being used by…</a:t>
            </a:r>
          </a:p>
          <a:p>
            <a:pPr lvl="1"/>
            <a:r>
              <a:rPr lang="en-US" dirty="0"/>
              <a:t>Instagram, Spotify, </a:t>
            </a:r>
            <a:r>
              <a:rPr lang="en-US" dirty="0" err="1"/>
              <a:t>Disqus</a:t>
            </a:r>
            <a:r>
              <a:rPr lang="en-US" dirty="0"/>
              <a:t>, YouTube, to name a few.</a:t>
            </a:r>
          </a:p>
          <a:p>
            <a:pPr marL="914400" lvl="2" indent="0">
              <a:buNone/>
            </a:pPr>
            <a:endParaRPr lang="en-US" dirty="0"/>
          </a:p>
        </p:txBody>
      </p:sp>
    </p:spTree>
    <p:extLst>
      <p:ext uri="{BB962C8B-B14F-4D97-AF65-F5344CB8AC3E}">
        <p14:creationId xmlns:p14="http://schemas.microsoft.com/office/powerpoint/2010/main" val="200321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t>
            </a:r>
            <a:r>
              <a:rPr lang="en-US" dirty="0" err="1"/>
              <a:t>Django</a:t>
            </a:r>
            <a:r>
              <a:rPr lang="en-US" dirty="0"/>
              <a:t> for Web </a:t>
            </a:r>
            <a:r>
              <a:rPr lang="en-US" dirty="0" err="1"/>
              <a:t>Dev</a:t>
            </a:r>
            <a:endParaRPr lang="en-US" dirty="0"/>
          </a:p>
        </p:txBody>
      </p:sp>
      <p:sp>
        <p:nvSpPr>
          <p:cNvPr id="3" name="Content Placeholder 2"/>
          <p:cNvSpPr>
            <a:spLocks noGrp="1"/>
          </p:cNvSpPr>
          <p:nvPr>
            <p:ph idx="1"/>
          </p:nvPr>
        </p:nvSpPr>
        <p:spPr/>
        <p:txBody>
          <a:bodyPr>
            <a:normAutofit lnSpcReduction="10000"/>
          </a:bodyPr>
          <a:lstStyle/>
          <a:p>
            <a:r>
              <a:rPr lang="en-US" dirty="0"/>
              <a:t>Lets you divide code modules into logical groups</a:t>
            </a:r>
          </a:p>
          <a:p>
            <a:pPr lvl="1"/>
            <a:r>
              <a:rPr lang="en-US" dirty="0"/>
              <a:t>Providing flexibility and easier to change</a:t>
            </a:r>
          </a:p>
          <a:p>
            <a:pPr lvl="1"/>
            <a:r>
              <a:rPr lang="en-US" dirty="0"/>
              <a:t>Underpinned by the MVC/MVT design pattern</a:t>
            </a:r>
          </a:p>
          <a:p>
            <a:r>
              <a:rPr lang="en-US" dirty="0"/>
              <a:t>Provides automatically generated web administration</a:t>
            </a:r>
          </a:p>
          <a:p>
            <a:pPr lvl="1"/>
            <a:r>
              <a:rPr lang="en-US" dirty="0"/>
              <a:t>Easier to manage the database</a:t>
            </a:r>
          </a:p>
          <a:p>
            <a:r>
              <a:rPr lang="en-US" dirty="0"/>
              <a:t>Provides many pre-packaged APIs for common tasks </a:t>
            </a:r>
          </a:p>
        </p:txBody>
      </p:sp>
    </p:spTree>
    <p:extLst>
      <p:ext uri="{BB962C8B-B14F-4D97-AF65-F5344CB8AC3E}">
        <p14:creationId xmlns:p14="http://schemas.microsoft.com/office/powerpoint/2010/main" val="7357269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t>
            </a:r>
            <a:r>
              <a:rPr lang="en-US" dirty="0" err="1"/>
              <a:t>Django</a:t>
            </a:r>
            <a:r>
              <a:rPr lang="en-US" dirty="0"/>
              <a:t> for Web </a:t>
            </a:r>
            <a:r>
              <a:rPr lang="en-US" dirty="0" err="1"/>
              <a:t>Dev</a:t>
            </a:r>
            <a:endParaRPr lang="en-US" dirty="0"/>
          </a:p>
        </p:txBody>
      </p:sp>
      <p:sp>
        <p:nvSpPr>
          <p:cNvPr id="3" name="Content Placeholder 2"/>
          <p:cNvSpPr>
            <a:spLocks noGrp="1"/>
          </p:cNvSpPr>
          <p:nvPr>
            <p:ph idx="1"/>
          </p:nvPr>
        </p:nvSpPr>
        <p:spPr/>
        <p:txBody>
          <a:bodyPr>
            <a:normAutofit fontScale="92500" lnSpcReduction="20000"/>
          </a:bodyPr>
          <a:lstStyle/>
          <a:p>
            <a:r>
              <a:rPr lang="en-US" dirty="0"/>
              <a:t>Provides a template system to define HTML templates </a:t>
            </a:r>
          </a:p>
          <a:p>
            <a:pPr lvl="1"/>
            <a:r>
              <a:rPr lang="en-US" dirty="0"/>
              <a:t>Avoids code duplications</a:t>
            </a:r>
          </a:p>
          <a:p>
            <a:pPr lvl="1"/>
            <a:r>
              <a:rPr lang="en-US" dirty="0"/>
              <a:t>Subscribes to the Don’t-Repeat-Yourself (DRY) principle</a:t>
            </a:r>
          </a:p>
          <a:p>
            <a:r>
              <a:rPr lang="en-US" dirty="0"/>
              <a:t>Allows you to define what the URL will be for a given view</a:t>
            </a:r>
          </a:p>
          <a:p>
            <a:pPr lvl="1"/>
            <a:r>
              <a:rPr lang="en-US" dirty="0"/>
              <a:t>Loosely Coupled Principle</a:t>
            </a:r>
          </a:p>
          <a:p>
            <a:r>
              <a:rPr lang="en-US" dirty="0"/>
              <a:t>Allows you to separate business logic from the presentation</a:t>
            </a:r>
          </a:p>
          <a:p>
            <a:pPr lvl="1"/>
            <a:r>
              <a:rPr lang="en-US" dirty="0"/>
              <a:t>Separation of Concerns</a:t>
            </a:r>
          </a:p>
        </p:txBody>
      </p:sp>
    </p:spTree>
    <p:extLst>
      <p:ext uri="{BB962C8B-B14F-4D97-AF65-F5344CB8AC3E}">
        <p14:creationId xmlns:p14="http://schemas.microsoft.com/office/powerpoint/2010/main" val="3877260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merican Typewriter"/>
                <a:cs typeface="American Typewriter"/>
              </a:rPr>
              <a:t>Overall Design Philosophy</a:t>
            </a:r>
          </a:p>
        </p:txBody>
      </p:sp>
      <p:sp>
        <p:nvSpPr>
          <p:cNvPr id="3" name="Content Placeholder 2"/>
          <p:cNvSpPr>
            <a:spLocks noGrp="1"/>
          </p:cNvSpPr>
          <p:nvPr>
            <p:ph idx="1"/>
          </p:nvPr>
        </p:nvSpPr>
        <p:spPr>
          <a:xfrm>
            <a:off x="457200" y="1600202"/>
            <a:ext cx="8686800" cy="4525963"/>
          </a:xfrm>
        </p:spPr>
        <p:txBody>
          <a:bodyPr>
            <a:normAutofit lnSpcReduction="10000"/>
          </a:bodyPr>
          <a:lstStyle/>
          <a:p>
            <a:r>
              <a:rPr lang="en-US" b="1" dirty="0"/>
              <a:t>Loose Coupling</a:t>
            </a:r>
          </a:p>
          <a:p>
            <a:r>
              <a:rPr lang="en-US" b="1" dirty="0"/>
              <a:t>Less Code</a:t>
            </a:r>
          </a:p>
          <a:p>
            <a:r>
              <a:rPr lang="en-US" b="1" dirty="0"/>
              <a:t>Quick Development</a:t>
            </a:r>
          </a:p>
          <a:p>
            <a:r>
              <a:rPr lang="en-US" b="1" dirty="0"/>
              <a:t>Don’t Repeat Yourself (DRY)</a:t>
            </a:r>
          </a:p>
          <a:p>
            <a:r>
              <a:rPr lang="en-US" b="1" dirty="0"/>
              <a:t>Explicit is better than implicit</a:t>
            </a:r>
          </a:p>
          <a:p>
            <a:pPr lvl="1"/>
            <a:r>
              <a:rPr lang="en-US" dirty="0"/>
              <a:t>A core Python principle</a:t>
            </a:r>
          </a:p>
          <a:p>
            <a:r>
              <a:rPr lang="en-US" b="1" dirty="0"/>
              <a:t>Consistency</a:t>
            </a:r>
          </a:p>
          <a:p>
            <a:r>
              <a:rPr lang="en-US" sz="2162" dirty="0"/>
              <a:t>See </a:t>
            </a:r>
            <a:r>
              <a:rPr lang="en-US" sz="2162" dirty="0">
                <a:hlinkClick r:id="rId3"/>
              </a:rPr>
              <a:t>http://docs.djangoproject.com/en/dev/misc/design-philosophies/</a:t>
            </a:r>
            <a:r>
              <a:rPr lang="en-US" sz="2162" dirty="0"/>
              <a:t> for more details and more philosophies</a:t>
            </a:r>
          </a:p>
          <a:p>
            <a:pPr>
              <a:buNone/>
            </a:pPr>
            <a:endParaRPr lang="en-US" dirty="0"/>
          </a:p>
        </p:txBody>
      </p:sp>
    </p:spTree>
    <p:extLst>
      <p:ext uri="{BB962C8B-B14F-4D97-AF65-F5344CB8AC3E}">
        <p14:creationId xmlns:p14="http://schemas.microsoft.com/office/powerpoint/2010/main" val="379382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Django</a:t>
            </a:r>
            <a:r>
              <a:rPr lang="en-US" dirty="0"/>
              <a:t> Modules</a:t>
            </a:r>
          </a:p>
        </p:txBody>
      </p:sp>
      <p:sp>
        <p:nvSpPr>
          <p:cNvPr id="3" name="Content Placeholder 2"/>
          <p:cNvSpPr>
            <a:spLocks noGrp="1"/>
          </p:cNvSpPr>
          <p:nvPr>
            <p:ph idx="1"/>
          </p:nvPr>
        </p:nvSpPr>
        <p:spPr>
          <a:xfrm>
            <a:off x="457200" y="1465244"/>
            <a:ext cx="8229600" cy="5100810"/>
          </a:xfrm>
        </p:spPr>
        <p:txBody>
          <a:bodyPr>
            <a:normAutofit fontScale="92500" lnSpcReduction="10000"/>
          </a:bodyPr>
          <a:lstStyle/>
          <a:p>
            <a:r>
              <a:rPr lang="en-US" dirty="0"/>
              <a:t>Administration Interface (CRUD)</a:t>
            </a:r>
          </a:p>
          <a:p>
            <a:pPr lvl="1"/>
            <a:r>
              <a:rPr lang="en-US" dirty="0"/>
              <a:t>Create, Read, Update and Delete </a:t>
            </a:r>
          </a:p>
          <a:p>
            <a:r>
              <a:rPr lang="en-US" dirty="0"/>
              <a:t>Authentication Systems</a:t>
            </a:r>
          </a:p>
          <a:p>
            <a:r>
              <a:rPr lang="en-US" dirty="0"/>
              <a:t>Forms Handling</a:t>
            </a:r>
          </a:p>
          <a:p>
            <a:r>
              <a:rPr lang="en-US" dirty="0"/>
              <a:t>Session Handling</a:t>
            </a:r>
          </a:p>
          <a:p>
            <a:r>
              <a:rPr lang="en-US" dirty="0"/>
              <a:t>Syndication Frameworks</a:t>
            </a:r>
          </a:p>
          <a:p>
            <a:pPr lvl="1"/>
            <a:r>
              <a:rPr lang="en-US" dirty="0"/>
              <a:t>RSS and Atom feeds</a:t>
            </a:r>
          </a:p>
          <a:p>
            <a:r>
              <a:rPr lang="en-US" dirty="0"/>
              <a:t>Caching</a:t>
            </a:r>
          </a:p>
          <a:p>
            <a:r>
              <a:rPr lang="en-US" dirty="0"/>
              <a:t>Internationalization and Localization</a:t>
            </a:r>
          </a:p>
          <a:p>
            <a:r>
              <a:rPr lang="en-US" dirty="0"/>
              <a:t>And much, much more…</a:t>
            </a:r>
          </a:p>
        </p:txBody>
      </p:sp>
    </p:spTree>
    <p:extLst>
      <p:ext uri="{BB962C8B-B14F-4D97-AF65-F5344CB8AC3E}">
        <p14:creationId xmlns:p14="http://schemas.microsoft.com/office/powerpoint/2010/main" val="5393549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Model View Controller in Django</a:t>
            </a:r>
          </a:p>
        </p:txBody>
      </p:sp>
      <p:sp>
        <p:nvSpPr>
          <p:cNvPr id="3" name="Content Placeholder 2"/>
          <p:cNvSpPr>
            <a:spLocks noGrp="1"/>
          </p:cNvSpPr>
          <p:nvPr>
            <p:ph idx="1"/>
          </p:nvPr>
        </p:nvSpPr>
        <p:spPr>
          <a:xfrm>
            <a:off x="457200" y="1509311"/>
            <a:ext cx="8229600" cy="5012675"/>
          </a:xfrm>
        </p:spPr>
        <p:txBody>
          <a:bodyPr>
            <a:normAutofit/>
          </a:bodyPr>
          <a:lstStyle/>
          <a:p>
            <a:r>
              <a:rPr lang="en-US" b="1" dirty="0"/>
              <a:t>Models</a:t>
            </a:r>
            <a:r>
              <a:rPr lang="en-US" dirty="0"/>
              <a:t> describe your database</a:t>
            </a:r>
          </a:p>
          <a:p>
            <a:r>
              <a:rPr lang="en-US" b="1" dirty="0"/>
              <a:t>Views</a:t>
            </a:r>
            <a:r>
              <a:rPr lang="en-US" dirty="0"/>
              <a:t> determines what the user sees</a:t>
            </a:r>
          </a:p>
          <a:p>
            <a:r>
              <a:rPr lang="en-US" b="1" dirty="0"/>
              <a:t>Controller </a:t>
            </a:r>
            <a:r>
              <a:rPr lang="en-US" dirty="0"/>
              <a:t>is handled by </a:t>
            </a:r>
          </a:p>
          <a:p>
            <a:pPr lvl="1"/>
            <a:r>
              <a:rPr lang="en-US" dirty="0"/>
              <a:t>the Django Framework </a:t>
            </a:r>
          </a:p>
          <a:p>
            <a:pPr lvl="1"/>
            <a:r>
              <a:rPr lang="en-US" dirty="0"/>
              <a:t>URL parser maps URLs to views</a:t>
            </a:r>
          </a:p>
          <a:p>
            <a:r>
              <a:rPr lang="en-US" b="1" dirty="0"/>
              <a:t>Templates</a:t>
            </a:r>
            <a:r>
              <a:rPr lang="en-US" dirty="0"/>
              <a:t> describe how the data is presented</a:t>
            </a:r>
          </a:p>
          <a:p>
            <a:pPr lvl="1"/>
            <a:r>
              <a:rPr lang="en-US" dirty="0"/>
              <a:t>Additional to the MVC, i.e. MVCT</a:t>
            </a:r>
          </a:p>
        </p:txBody>
      </p:sp>
    </p:spTree>
    <p:extLst>
      <p:ext uri="{BB962C8B-B14F-4D97-AF65-F5344CB8AC3E}">
        <p14:creationId xmlns:p14="http://schemas.microsoft.com/office/powerpoint/2010/main" val="8649369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descr="An image of the Internal Control Flow in Django. &#10;&#10;Browser on top connects via HTTP to ModPythonHandler. HTTP requests are sent from the ModPythonHandler to Request Middleware. If there is response, this is handled by the ResponseMiddleware that responds in turn to ModPythonHandler. If not, the RequestMiddleware communicates with URLConf, which in turn communicates with the ViewMiddleware. If there is a response, this is passed to the ResponseMiddleware. Otherwise, the ViewMiddleware communicates with the View component. A response from the View component is sent to the Response Middleware. An Exception Middleware handles any exceptions in the process."/>
          <p:cNvPicPr>
            <a:picLocks noChangeAspect="1"/>
          </p:cNvPicPr>
          <p:nvPr/>
        </p:nvPicPr>
        <p:blipFill>
          <a:blip r:embed="rId3"/>
          <a:stretch>
            <a:fillRect/>
          </a:stretch>
        </p:blipFill>
        <p:spPr>
          <a:xfrm>
            <a:off x="457202" y="0"/>
            <a:ext cx="5240214" cy="6705600"/>
          </a:xfrm>
          <a:prstGeom prst="rect">
            <a:avLst/>
          </a:prstGeom>
        </p:spPr>
      </p:pic>
      <p:sp>
        <p:nvSpPr>
          <p:cNvPr id="2" name="Title 1"/>
          <p:cNvSpPr>
            <a:spLocks noGrp="1"/>
          </p:cNvSpPr>
          <p:nvPr>
            <p:ph type="title"/>
          </p:nvPr>
        </p:nvSpPr>
        <p:spPr>
          <a:xfrm>
            <a:off x="4572000" y="274638"/>
            <a:ext cx="4325815" cy="2087562"/>
          </a:xfrm>
        </p:spPr>
        <p:txBody>
          <a:bodyPr>
            <a:normAutofit fontScale="90000"/>
          </a:bodyPr>
          <a:lstStyle/>
          <a:p>
            <a:r>
              <a:rPr lang="en-US" dirty="0" err="1">
                <a:latin typeface="American Typewriter"/>
                <a:cs typeface="American Typewriter"/>
              </a:rPr>
              <a:t>Django</a:t>
            </a:r>
            <a:r>
              <a:rPr lang="en-US" dirty="0">
                <a:latin typeface="American Typewriter"/>
                <a:cs typeface="American Typewriter"/>
              </a:rPr>
              <a:t> Internal Control Flow</a:t>
            </a:r>
          </a:p>
        </p:txBody>
      </p:sp>
    </p:spTree>
    <p:extLst>
      <p:ext uri="{BB962C8B-B14F-4D97-AF65-F5344CB8AC3E}">
        <p14:creationId xmlns:p14="http://schemas.microsoft.com/office/powerpoint/2010/main" val="15362303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Simplified Internal Flow</a:t>
            </a:r>
          </a:p>
        </p:txBody>
      </p:sp>
      <p:grpSp>
        <p:nvGrpSpPr>
          <p:cNvPr id="3" name="Group 2" descr="A simplified internal view of Django. The Client communicates with the Django Midlleware that in turn communicates with the Backend (Services and Database). Requests from the Client are received by the URLs component in the Middleware and passed on to Views and Template that respond to the Client. Views communicate with Models that in turn communicate with the DataBase, and with Wrapper that communicates with Services&#10;"/>
          <p:cNvGrpSpPr/>
          <p:nvPr/>
        </p:nvGrpSpPr>
        <p:grpSpPr>
          <a:xfrm>
            <a:off x="304800" y="1417638"/>
            <a:ext cx="8488944" cy="5135563"/>
            <a:chOff x="304800" y="1417638"/>
            <a:chExt cx="8488944" cy="5135563"/>
          </a:xfrm>
        </p:grpSpPr>
        <p:sp>
          <p:nvSpPr>
            <p:cNvPr id="96" name="Rectangle 95"/>
            <p:cNvSpPr/>
            <p:nvPr/>
          </p:nvSpPr>
          <p:spPr>
            <a:xfrm>
              <a:off x="7269744" y="4245769"/>
              <a:ext cx="1524000" cy="2307432"/>
            </a:xfrm>
            <a:prstGeom prst="rect">
              <a:avLst/>
            </a:prstGeom>
            <a:solidFill>
              <a:schemeClr val="accent5">
                <a:lumMod val="40000"/>
                <a:lumOff val="60000"/>
              </a:schemeClr>
            </a:solidFill>
            <a:ln w="25400"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b"/>
            <a:lstStyle/>
            <a:p>
              <a:pPr algn="ctr"/>
              <a:r>
                <a:rPr lang="en-US" sz="2800" b="1" dirty="0">
                  <a:solidFill>
                    <a:schemeClr val="tx1"/>
                  </a:solidFill>
                </a:rPr>
                <a:t>Backend</a:t>
              </a:r>
            </a:p>
          </p:txBody>
        </p:sp>
        <p:sp>
          <p:nvSpPr>
            <p:cNvPr id="95" name="Rectangle 94"/>
            <p:cNvSpPr/>
            <p:nvPr/>
          </p:nvSpPr>
          <p:spPr>
            <a:xfrm>
              <a:off x="7269744" y="1417638"/>
              <a:ext cx="1524000" cy="2469357"/>
            </a:xfrm>
            <a:prstGeom prst="rect">
              <a:avLst/>
            </a:prstGeom>
            <a:solidFill>
              <a:schemeClr val="accent5">
                <a:lumMod val="40000"/>
                <a:lumOff val="60000"/>
              </a:schemeClr>
            </a:solidFill>
            <a:ln w="25400"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2800" b="1" dirty="0">
                  <a:solidFill>
                    <a:schemeClr val="tx1"/>
                  </a:solidFill>
                </a:rPr>
                <a:t>Backend</a:t>
              </a:r>
            </a:p>
          </p:txBody>
        </p:sp>
        <p:sp>
          <p:nvSpPr>
            <p:cNvPr id="24" name="Rectangle 23"/>
            <p:cNvSpPr/>
            <p:nvPr/>
          </p:nvSpPr>
          <p:spPr>
            <a:xfrm>
              <a:off x="304800" y="1417638"/>
              <a:ext cx="1644966" cy="5135562"/>
            </a:xfrm>
            <a:prstGeom prst="rect">
              <a:avLst/>
            </a:prstGeom>
            <a:solidFill>
              <a:schemeClr val="accent1">
                <a:lumMod val="20000"/>
                <a:lumOff val="80000"/>
              </a:schemeClr>
            </a:solidFill>
            <a:ln w="25400"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2800" b="1" dirty="0">
                  <a:solidFill>
                    <a:schemeClr val="tx1"/>
                  </a:solidFill>
                </a:rPr>
                <a:t>Client</a:t>
              </a:r>
            </a:p>
          </p:txBody>
        </p:sp>
        <p:sp>
          <p:nvSpPr>
            <p:cNvPr id="58" name="Rectangle 57"/>
            <p:cNvSpPr/>
            <p:nvPr/>
          </p:nvSpPr>
          <p:spPr>
            <a:xfrm>
              <a:off x="2753572" y="1417639"/>
              <a:ext cx="4016945" cy="5135562"/>
            </a:xfrm>
            <a:prstGeom prst="rect">
              <a:avLst/>
            </a:prstGeom>
            <a:solidFill>
              <a:schemeClr val="accent4">
                <a:lumMod val="20000"/>
                <a:lumOff val="80000"/>
              </a:schemeClr>
            </a:solidFill>
            <a:ln w="25400"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2800" b="1" dirty="0" err="1">
                  <a:solidFill>
                    <a:schemeClr val="tx1"/>
                  </a:solidFill>
                </a:rPr>
                <a:t>Django</a:t>
              </a:r>
              <a:r>
                <a:rPr lang="en-US" sz="2800" b="1" dirty="0">
                  <a:solidFill>
                    <a:schemeClr val="tx1"/>
                  </a:solidFill>
                </a:rPr>
                <a:t>/Middleware</a:t>
              </a:r>
            </a:p>
          </p:txBody>
        </p:sp>
        <p:sp>
          <p:nvSpPr>
            <p:cNvPr id="9" name="Rectangle 8"/>
            <p:cNvSpPr/>
            <p:nvPr/>
          </p:nvSpPr>
          <p:spPr>
            <a:xfrm rot="16200000">
              <a:off x="2478857" y="4799806"/>
              <a:ext cx="1752600" cy="838200"/>
            </a:xfrm>
            <a:prstGeom prst="rect">
              <a:avLst/>
            </a:prstGeom>
            <a:solidFill>
              <a:schemeClr val="bg1"/>
            </a:solidFill>
            <a:ln w="25400"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tx1"/>
                  </a:solidFill>
                </a:rPr>
                <a:t>Template</a:t>
              </a:r>
            </a:p>
          </p:txBody>
        </p:sp>
        <p:sp>
          <p:nvSpPr>
            <p:cNvPr id="10" name="Rectangle 9"/>
            <p:cNvSpPr/>
            <p:nvPr/>
          </p:nvSpPr>
          <p:spPr>
            <a:xfrm rot="16200000">
              <a:off x="3698057" y="4837905"/>
              <a:ext cx="1752600" cy="762000"/>
            </a:xfrm>
            <a:prstGeom prst="rect">
              <a:avLst/>
            </a:prstGeom>
            <a:solidFill>
              <a:schemeClr val="bg1"/>
            </a:solidFill>
            <a:ln w="25400"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tx1"/>
                  </a:solidFill>
                </a:rPr>
                <a:t>Views</a:t>
              </a:r>
            </a:p>
          </p:txBody>
        </p:sp>
        <p:sp>
          <p:nvSpPr>
            <p:cNvPr id="11" name="Rectangle 10"/>
            <p:cNvSpPr/>
            <p:nvPr/>
          </p:nvSpPr>
          <p:spPr>
            <a:xfrm rot="16200000">
              <a:off x="5241107" y="4830762"/>
              <a:ext cx="1752600" cy="762000"/>
            </a:xfrm>
            <a:prstGeom prst="rect">
              <a:avLst/>
            </a:prstGeom>
            <a:solidFill>
              <a:schemeClr val="bg1"/>
            </a:solidFill>
            <a:ln w="25400"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tx1"/>
                  </a:solidFill>
                </a:rPr>
                <a:t>Models</a:t>
              </a:r>
            </a:p>
          </p:txBody>
        </p:sp>
        <p:sp>
          <p:nvSpPr>
            <p:cNvPr id="12" name="Rectangle 11"/>
            <p:cNvSpPr/>
            <p:nvPr/>
          </p:nvSpPr>
          <p:spPr>
            <a:xfrm rot="16200000">
              <a:off x="7079244" y="2478087"/>
              <a:ext cx="1752600" cy="762000"/>
            </a:xfrm>
            <a:prstGeom prst="rect">
              <a:avLst/>
            </a:prstGeom>
            <a:solidFill>
              <a:schemeClr val="bg1"/>
            </a:solidFill>
            <a:ln w="25400"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tx1"/>
                  </a:solidFill>
                </a:rPr>
                <a:t>Services</a:t>
              </a:r>
            </a:p>
          </p:txBody>
        </p:sp>
        <p:sp>
          <p:nvSpPr>
            <p:cNvPr id="13" name="Rectangle 12"/>
            <p:cNvSpPr/>
            <p:nvPr/>
          </p:nvSpPr>
          <p:spPr>
            <a:xfrm rot="16200000">
              <a:off x="2478857" y="2441576"/>
              <a:ext cx="1752600" cy="838200"/>
            </a:xfrm>
            <a:prstGeom prst="rect">
              <a:avLst/>
            </a:prstGeom>
            <a:solidFill>
              <a:schemeClr val="bg1"/>
            </a:solidFill>
            <a:ln w="25400"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tx1"/>
                  </a:solidFill>
                </a:rPr>
                <a:t>URLS</a:t>
              </a:r>
            </a:p>
          </p:txBody>
        </p:sp>
        <p:cxnSp>
          <p:nvCxnSpPr>
            <p:cNvPr id="15" name="Straight Arrow Connector 14"/>
            <p:cNvCxnSpPr>
              <a:endCxn id="13" idx="0"/>
            </p:cNvCxnSpPr>
            <p:nvPr/>
          </p:nvCxnSpPr>
          <p:spPr>
            <a:xfrm flipV="1">
              <a:off x="1949766" y="2860676"/>
              <a:ext cx="986291" cy="1588"/>
            </a:xfrm>
            <a:prstGeom prst="straightConnector1">
              <a:avLst/>
            </a:prstGeom>
            <a:ln>
              <a:solidFill>
                <a:schemeClr val="tx1"/>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a:endCxn id="9" idx="0"/>
            </p:cNvCxnSpPr>
            <p:nvPr/>
          </p:nvCxnSpPr>
          <p:spPr>
            <a:xfrm flipV="1">
              <a:off x="1949766" y="5218906"/>
              <a:ext cx="986291" cy="1588"/>
            </a:xfrm>
            <a:prstGeom prst="straightConnector1">
              <a:avLst/>
            </a:prstGeom>
            <a:ln>
              <a:solidFill>
                <a:schemeClr val="tx1"/>
              </a:solidFill>
              <a:headEnd type="arrow"/>
              <a:tailEnd type="none"/>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stCxn id="9" idx="2"/>
              <a:endCxn id="10" idx="0"/>
            </p:cNvCxnSpPr>
            <p:nvPr/>
          </p:nvCxnSpPr>
          <p:spPr>
            <a:xfrm flipV="1">
              <a:off x="3774257" y="5218905"/>
              <a:ext cx="419100" cy="1"/>
            </a:xfrm>
            <a:prstGeom prst="straightConnector1">
              <a:avLst/>
            </a:prstGeom>
            <a:ln>
              <a:solidFill>
                <a:schemeClr val="tx1"/>
              </a:solidFill>
              <a:headEnd type="arrow"/>
              <a:tailEnd type="non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0" idx="2"/>
              <a:endCxn id="11" idx="0"/>
            </p:cNvCxnSpPr>
            <p:nvPr/>
          </p:nvCxnSpPr>
          <p:spPr>
            <a:xfrm flipV="1">
              <a:off x="4955357" y="5211762"/>
              <a:ext cx="781050" cy="7143"/>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a:stCxn id="88" idx="2"/>
            </p:cNvCxnSpPr>
            <p:nvPr/>
          </p:nvCxnSpPr>
          <p:spPr>
            <a:xfrm>
              <a:off x="6498407" y="2859087"/>
              <a:ext cx="771337" cy="1588"/>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a:stCxn id="13" idx="2"/>
              <a:endCxn id="10" idx="3"/>
            </p:cNvCxnSpPr>
            <p:nvPr/>
          </p:nvCxnSpPr>
          <p:spPr>
            <a:xfrm>
              <a:off x="3774257" y="2860676"/>
              <a:ext cx="800100" cy="1481929"/>
            </a:xfrm>
            <a:prstGeom prst="bentConnector2">
              <a:avLst/>
            </a:prstGeom>
            <a:ln>
              <a:solidFill>
                <a:schemeClr val="tx1"/>
              </a:solidFill>
              <a:headEnd type="none"/>
              <a:tailEnd type="arrow"/>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rot="16200000">
              <a:off x="5222057" y="2459037"/>
              <a:ext cx="1752600" cy="800100"/>
            </a:xfrm>
            <a:prstGeom prst="rect">
              <a:avLst/>
            </a:prstGeom>
            <a:solidFill>
              <a:schemeClr val="bg1"/>
            </a:solidFill>
            <a:ln w="25400"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tx1"/>
                  </a:solidFill>
                </a:rPr>
                <a:t>Wrapper</a:t>
              </a:r>
            </a:p>
          </p:txBody>
        </p:sp>
        <p:cxnSp>
          <p:nvCxnSpPr>
            <p:cNvPr id="131" name="Straight Arrow Connector 130"/>
            <p:cNvCxnSpPr>
              <a:stCxn id="10" idx="2"/>
              <a:endCxn id="88" idx="1"/>
            </p:cNvCxnSpPr>
            <p:nvPr/>
          </p:nvCxnSpPr>
          <p:spPr>
            <a:xfrm flipV="1">
              <a:off x="4955357" y="3735387"/>
              <a:ext cx="1143000" cy="1483518"/>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rot="16200000">
              <a:off x="7079244" y="4830761"/>
              <a:ext cx="1752600" cy="762000"/>
            </a:xfrm>
            <a:prstGeom prst="rect">
              <a:avLst/>
            </a:prstGeom>
            <a:solidFill>
              <a:schemeClr val="bg1"/>
            </a:solidFill>
            <a:ln w="25400"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tx1"/>
                  </a:solidFill>
                </a:rPr>
                <a:t>Database</a:t>
              </a:r>
            </a:p>
          </p:txBody>
        </p:sp>
        <p:cxnSp>
          <p:nvCxnSpPr>
            <p:cNvPr id="39" name="Straight Arrow Connector 38"/>
            <p:cNvCxnSpPr>
              <a:stCxn id="11" idx="2"/>
            </p:cNvCxnSpPr>
            <p:nvPr/>
          </p:nvCxnSpPr>
          <p:spPr>
            <a:xfrm>
              <a:off x="6498407" y="5211762"/>
              <a:ext cx="771337" cy="1588"/>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133066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Internal Sections/Components</a:t>
            </a:r>
            <a:endParaRPr lang="en-US" dirty="0">
              <a:latin typeface="American Typewriter"/>
              <a:cs typeface="American Typewriter"/>
            </a:endParaRPr>
          </a:p>
        </p:txBody>
      </p:sp>
      <p:pic>
        <p:nvPicPr>
          <p:cNvPr id="3" name="Picture 2" descr="File organization in the tango_with_django_project repository">
            <a:extLst>
              <a:ext uri="{FF2B5EF4-FFF2-40B4-BE49-F238E27FC236}">
                <a16:creationId xmlns:a16="http://schemas.microsoft.com/office/drawing/2014/main" id="{1323E6CF-E827-463A-BBE8-BEE1E9A69A49}"/>
              </a:ext>
            </a:extLst>
          </p:cNvPr>
          <p:cNvPicPr>
            <a:picLocks noChangeAspect="1"/>
          </p:cNvPicPr>
          <p:nvPr/>
        </p:nvPicPr>
        <p:blipFill rotWithShape="1">
          <a:blip r:embed="rId3"/>
          <a:srcRect t="18723"/>
          <a:stretch/>
        </p:blipFill>
        <p:spPr>
          <a:xfrm>
            <a:off x="2004654" y="1698171"/>
            <a:ext cx="5134692" cy="4281731"/>
          </a:xfrm>
          <a:prstGeom prst="rect">
            <a:avLst/>
          </a:prstGeom>
        </p:spPr>
      </p:pic>
    </p:spTree>
    <p:extLst>
      <p:ext uri="{BB962C8B-B14F-4D97-AF65-F5344CB8AC3E}">
        <p14:creationId xmlns:p14="http://schemas.microsoft.com/office/powerpoint/2010/main" val="3878845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Internal Sections/Components</a:t>
            </a:r>
            <a:endParaRPr lang="en-US" dirty="0">
              <a:latin typeface="American Typewriter"/>
              <a:cs typeface="American Typewriter"/>
            </a:endParaRPr>
          </a:p>
        </p:txBody>
      </p:sp>
      <p:sp>
        <p:nvSpPr>
          <p:cNvPr id="3" name="Content Placeholder 2"/>
          <p:cNvSpPr>
            <a:spLocks noGrp="1"/>
          </p:cNvSpPr>
          <p:nvPr>
            <p:ph idx="1"/>
          </p:nvPr>
        </p:nvSpPr>
        <p:spPr>
          <a:xfrm>
            <a:off x="470837" y="4281838"/>
            <a:ext cx="8229600" cy="2566335"/>
          </a:xfrm>
        </p:spPr>
        <p:txBody>
          <a:bodyPr>
            <a:normAutofit fontScale="92500" lnSpcReduction="10000"/>
          </a:bodyPr>
          <a:lstStyle/>
          <a:p>
            <a:r>
              <a:rPr lang="en-US" b="1" dirty="0"/>
              <a:t>Building Data Models (models.py): </a:t>
            </a:r>
          </a:p>
          <a:p>
            <a:pPr lvl="1"/>
            <a:r>
              <a:rPr lang="en-US" dirty="0"/>
              <a:t>The models specify the entities and relationships in the database – these provide an Object Relational Mapping to the actual database tables</a:t>
            </a:r>
          </a:p>
          <a:p>
            <a:pPr lvl="1"/>
            <a:r>
              <a:rPr lang="en-US" dirty="0"/>
              <a:t>Django constructs the database given the models defined</a:t>
            </a:r>
          </a:p>
        </p:txBody>
      </p:sp>
      <p:pic>
        <p:nvPicPr>
          <p:cNvPr id="4" name="Picture 2" descr="A depiction of the Internal Flow in Djan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757" y="1358326"/>
            <a:ext cx="4481761" cy="2818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35989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Internal Sections/Components</a:t>
            </a:r>
            <a:endParaRPr lang="en-US" dirty="0">
              <a:latin typeface="American Typewriter"/>
              <a:cs typeface="American Typewriter"/>
            </a:endParaRPr>
          </a:p>
        </p:txBody>
      </p:sp>
      <p:sp>
        <p:nvSpPr>
          <p:cNvPr id="3" name="Content Placeholder 2"/>
          <p:cNvSpPr>
            <a:spLocks noGrp="1"/>
          </p:cNvSpPr>
          <p:nvPr>
            <p:ph idx="1"/>
          </p:nvPr>
        </p:nvSpPr>
        <p:spPr>
          <a:xfrm>
            <a:off x="380082" y="4445603"/>
            <a:ext cx="8229600" cy="2175534"/>
          </a:xfrm>
        </p:spPr>
        <p:txBody>
          <a:bodyPr>
            <a:normAutofit lnSpcReduction="10000"/>
          </a:bodyPr>
          <a:lstStyle/>
          <a:p>
            <a:r>
              <a:rPr lang="en-US" b="1" dirty="0"/>
              <a:t>Defining Views (views.py): </a:t>
            </a:r>
          </a:p>
          <a:p>
            <a:pPr lvl="1"/>
            <a:r>
              <a:rPr lang="en-US" dirty="0"/>
              <a:t>Views are responsible for handling and processing the specific request, collating the data from databases/external services, then selecting the template, for the response to be generated</a:t>
            </a:r>
          </a:p>
        </p:txBody>
      </p:sp>
      <p:pic>
        <p:nvPicPr>
          <p:cNvPr id="4" name="Picture 2" descr="A depiction of the Internal Flow in Djan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757" y="1454748"/>
            <a:ext cx="4481761" cy="2818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04209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Internal Sections/Components</a:t>
            </a:r>
            <a:endParaRPr lang="en-US" dirty="0">
              <a:latin typeface="American Typewriter"/>
              <a:cs typeface="American Typewriter"/>
            </a:endParaRPr>
          </a:p>
        </p:txBody>
      </p:sp>
      <p:sp>
        <p:nvSpPr>
          <p:cNvPr id="3" name="Content Placeholder 2"/>
          <p:cNvSpPr>
            <a:spLocks noGrp="1"/>
          </p:cNvSpPr>
          <p:nvPr>
            <p:ph idx="1"/>
          </p:nvPr>
        </p:nvSpPr>
        <p:spPr>
          <a:xfrm>
            <a:off x="417588" y="4242090"/>
            <a:ext cx="8229600" cy="2577352"/>
          </a:xfrm>
        </p:spPr>
        <p:txBody>
          <a:bodyPr>
            <a:normAutofit fontScale="92500" lnSpcReduction="20000"/>
          </a:bodyPr>
          <a:lstStyle/>
          <a:p>
            <a:r>
              <a:rPr lang="en-US" b="1" dirty="0"/>
              <a:t>Controlling flow (urls.py): </a:t>
            </a:r>
            <a:endParaRPr lang="en-US" dirty="0"/>
          </a:p>
          <a:p>
            <a:pPr lvl="1"/>
            <a:r>
              <a:rPr lang="en-US" dirty="0"/>
              <a:t>To specify what view function should handle a particular URL (or part of), URL patterns are used to find matches with the URL, and to route this request to the appropriate view</a:t>
            </a:r>
          </a:p>
          <a:p>
            <a:pPr lvl="1"/>
            <a:r>
              <a:rPr lang="en-US" dirty="0"/>
              <a:t>The use of pattern matching means that different instantiations can be handled by a common pattern</a:t>
            </a:r>
          </a:p>
        </p:txBody>
      </p:sp>
      <p:pic>
        <p:nvPicPr>
          <p:cNvPr id="2050" name="Picture 2" descr="A depiciton of the Internal Flow in Djan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2525" y="1302349"/>
            <a:ext cx="4481761" cy="2818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94328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Internal Sections/Components</a:t>
            </a:r>
            <a:endParaRPr lang="en-US" dirty="0">
              <a:latin typeface="American Typewriter"/>
              <a:cs typeface="American Typewriter"/>
            </a:endParaRPr>
          </a:p>
        </p:txBody>
      </p:sp>
      <p:sp>
        <p:nvSpPr>
          <p:cNvPr id="3" name="Content Placeholder 2"/>
          <p:cNvSpPr>
            <a:spLocks noGrp="1"/>
          </p:cNvSpPr>
          <p:nvPr>
            <p:ph idx="1"/>
          </p:nvPr>
        </p:nvSpPr>
        <p:spPr>
          <a:xfrm>
            <a:off x="470837" y="4654924"/>
            <a:ext cx="8229600" cy="1867061"/>
          </a:xfrm>
        </p:spPr>
        <p:txBody>
          <a:bodyPr>
            <a:normAutofit lnSpcReduction="10000"/>
          </a:bodyPr>
          <a:lstStyle/>
          <a:p>
            <a:r>
              <a:rPr lang="en-US" b="1" dirty="0"/>
              <a:t>Providing Templates</a:t>
            </a:r>
          </a:p>
          <a:p>
            <a:pPr lvl="1"/>
            <a:r>
              <a:rPr lang="en-US" dirty="0"/>
              <a:t>The templates mean the response format (</a:t>
            </a:r>
            <a:r>
              <a:rPr lang="en-US" dirty="0" err="1"/>
              <a:t>HTML,XML,etc</a:t>
            </a:r>
            <a:r>
              <a:rPr lang="en-US" dirty="0"/>
              <a:t>) is decoupled from the data to be presented</a:t>
            </a:r>
          </a:p>
        </p:txBody>
      </p:sp>
      <p:pic>
        <p:nvPicPr>
          <p:cNvPr id="4" name="Picture 2" descr="A depiciton of the Internal Flow in Djan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757" y="1553899"/>
            <a:ext cx="4481761" cy="2818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37222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descr="ruby-on-rails logo"/>
          <p:cNvPicPr>
            <a:picLocks noChangeAspect="1"/>
          </p:cNvPicPr>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6249696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Ruby on Rails</a:t>
            </a:r>
          </a:p>
        </p:txBody>
      </p:sp>
      <p:sp>
        <p:nvSpPr>
          <p:cNvPr id="3" name="Content Placeholder 2"/>
          <p:cNvSpPr>
            <a:spLocks noGrp="1"/>
          </p:cNvSpPr>
          <p:nvPr>
            <p:ph idx="1"/>
          </p:nvPr>
        </p:nvSpPr>
        <p:spPr/>
        <p:txBody>
          <a:bodyPr>
            <a:normAutofit fontScale="92500" lnSpcReduction="10000"/>
          </a:bodyPr>
          <a:lstStyle/>
          <a:p>
            <a:r>
              <a:rPr lang="en-US" b="1" dirty="0"/>
              <a:t>A Ruby-based web framework</a:t>
            </a:r>
          </a:p>
          <a:p>
            <a:pPr lvl="1"/>
            <a:r>
              <a:rPr lang="en-US" dirty="0"/>
              <a:t>Sparked interest in developing web applications rapidly </a:t>
            </a:r>
          </a:p>
          <a:p>
            <a:pPr lvl="1"/>
            <a:r>
              <a:rPr lang="en-US" dirty="0"/>
              <a:t>Development of competing frameworks in other languages</a:t>
            </a:r>
          </a:p>
          <a:p>
            <a:pPr lvl="1"/>
            <a:r>
              <a:rPr lang="en-US" dirty="0"/>
              <a:t>Made popular by “</a:t>
            </a:r>
            <a:r>
              <a:rPr lang="en-US" b="1" dirty="0"/>
              <a:t>Blog in 15 minutes</a:t>
            </a:r>
            <a:r>
              <a:rPr lang="en-US" dirty="0"/>
              <a:t>” and other screen casts</a:t>
            </a:r>
          </a:p>
          <a:p>
            <a:pPr lvl="1"/>
            <a:r>
              <a:rPr lang="en-US" dirty="0"/>
              <a:t>Web development could be:</a:t>
            </a:r>
          </a:p>
          <a:p>
            <a:pPr marL="1371600" lvl="2" indent="-457200">
              <a:buFont typeface="+mj-lt"/>
              <a:buAutoNum type="alphaUcPeriod"/>
            </a:pPr>
            <a:r>
              <a:rPr lang="en-US" dirty="0"/>
              <a:t>Fast, </a:t>
            </a:r>
          </a:p>
          <a:p>
            <a:pPr marL="1371600" lvl="2" indent="-457200">
              <a:buFont typeface="+mj-lt"/>
              <a:buAutoNum type="alphaUcPeriod"/>
            </a:pPr>
            <a:r>
              <a:rPr lang="en-US" dirty="0"/>
              <a:t>Fun, </a:t>
            </a:r>
          </a:p>
          <a:p>
            <a:pPr marL="1371600" lvl="2" indent="-457200">
              <a:buFont typeface="+mj-lt"/>
              <a:buAutoNum type="alphaUcPeriod"/>
            </a:pPr>
            <a:r>
              <a:rPr lang="en-US" dirty="0"/>
              <a:t>Straightforward.</a:t>
            </a:r>
          </a:p>
          <a:p>
            <a:pPr marL="571500" indent="-457200">
              <a:buNone/>
            </a:pPr>
            <a:endParaRPr lang="en-US" dirty="0"/>
          </a:p>
        </p:txBody>
      </p:sp>
    </p:spTree>
    <p:extLst>
      <p:ext uri="{BB962C8B-B14F-4D97-AF65-F5344CB8AC3E}">
        <p14:creationId xmlns:p14="http://schemas.microsoft.com/office/powerpoint/2010/main" val="5630710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Rail Design</a:t>
            </a:r>
          </a:p>
        </p:txBody>
      </p:sp>
      <p:sp>
        <p:nvSpPr>
          <p:cNvPr id="3" name="Content Placeholder 2"/>
          <p:cNvSpPr>
            <a:spLocks noGrp="1"/>
          </p:cNvSpPr>
          <p:nvPr>
            <p:ph idx="1"/>
          </p:nvPr>
        </p:nvSpPr>
        <p:spPr/>
        <p:txBody>
          <a:bodyPr>
            <a:normAutofit fontScale="92500" lnSpcReduction="20000"/>
          </a:bodyPr>
          <a:lstStyle/>
          <a:p>
            <a:pPr>
              <a:buNone/>
            </a:pPr>
            <a:r>
              <a:rPr lang="en-US" dirty="0"/>
              <a:t>Employs several key design principles:</a:t>
            </a:r>
          </a:p>
          <a:p>
            <a:r>
              <a:rPr lang="en-US" b="1" dirty="0"/>
              <a:t>Convention over Configuration</a:t>
            </a:r>
          </a:p>
          <a:p>
            <a:pPr lvl="1"/>
            <a:r>
              <a:rPr lang="en-US" dirty="0"/>
              <a:t>Decreases the number of decisions a developer needs to make</a:t>
            </a:r>
          </a:p>
          <a:p>
            <a:pPr lvl="1"/>
            <a:r>
              <a:rPr lang="en-US" dirty="0"/>
              <a:t>Only specify unconventional aspects of the application</a:t>
            </a:r>
          </a:p>
          <a:p>
            <a:r>
              <a:rPr lang="en-US" b="1" dirty="0"/>
              <a:t>Don’t Repeat Yourself</a:t>
            </a:r>
          </a:p>
          <a:p>
            <a:pPr lvl="1"/>
            <a:r>
              <a:rPr lang="en-US" dirty="0"/>
              <a:t>Store information only in one unambiguous place</a:t>
            </a:r>
          </a:p>
          <a:p>
            <a:r>
              <a:rPr lang="en-US" b="1" dirty="0"/>
              <a:t>Model-View-Controller</a:t>
            </a:r>
          </a:p>
          <a:p>
            <a:pPr lvl="1"/>
            <a:r>
              <a:rPr lang="en-US" dirty="0"/>
              <a:t>A set of design patterns that allows the separation between data models, user interfaces and the control logics of the application</a:t>
            </a:r>
          </a:p>
          <a:p>
            <a:endParaRPr lang="en-US" dirty="0"/>
          </a:p>
        </p:txBody>
      </p:sp>
      <p:sp>
        <p:nvSpPr>
          <p:cNvPr id="4" name="Rectangle 3"/>
          <p:cNvSpPr/>
          <p:nvPr/>
        </p:nvSpPr>
        <p:spPr>
          <a:xfrm>
            <a:off x="1125415" y="6126165"/>
            <a:ext cx="7561385" cy="369332"/>
          </a:xfrm>
          <a:prstGeom prst="rect">
            <a:avLst/>
          </a:prstGeom>
        </p:spPr>
        <p:txBody>
          <a:bodyPr wrap="square">
            <a:spAutoFit/>
          </a:bodyPr>
          <a:lstStyle/>
          <a:p>
            <a:r>
              <a:rPr lang="en-US" b="1" dirty="0">
                <a:solidFill>
                  <a:srgbClr val="008000"/>
                </a:solidFill>
              </a:rPr>
              <a:t>https://speakerdeck.com/anildigital/solid-design-principles-in-ruby </a:t>
            </a:r>
          </a:p>
        </p:txBody>
      </p:sp>
    </p:spTree>
    <p:extLst>
      <p:ext uri="{BB962C8B-B14F-4D97-AF65-F5344CB8AC3E}">
        <p14:creationId xmlns:p14="http://schemas.microsoft.com/office/powerpoint/2010/main" val="13086641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sz="4000" dirty="0"/>
              <a:t>Ruby on Rails Architecture</a:t>
            </a:r>
          </a:p>
        </p:txBody>
      </p:sp>
      <p:pic>
        <p:nvPicPr>
          <p:cNvPr id="5" name="Picture 4" descr="Ruby on Rails architecture"/>
          <p:cNvPicPr>
            <a:picLocks noChangeAspect="1"/>
          </p:cNvPicPr>
          <p:nvPr/>
        </p:nvPicPr>
        <p:blipFill>
          <a:blip r:embed="rId3"/>
          <a:stretch>
            <a:fillRect/>
          </a:stretch>
        </p:blipFill>
        <p:spPr>
          <a:xfrm>
            <a:off x="338665" y="1341463"/>
            <a:ext cx="8497873" cy="5180904"/>
          </a:xfrm>
          <a:prstGeom prst="rect">
            <a:avLst/>
          </a:prstGeom>
        </p:spPr>
      </p:pic>
    </p:spTree>
    <p:extLst>
      <p:ext uri="{BB962C8B-B14F-4D97-AF65-F5344CB8AC3E}">
        <p14:creationId xmlns:p14="http://schemas.microsoft.com/office/powerpoint/2010/main" val="27382784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Ruby on Rails Example</a:t>
            </a:r>
          </a:p>
        </p:txBody>
      </p:sp>
      <p:sp>
        <p:nvSpPr>
          <p:cNvPr id="3" name="Content Placeholder 2"/>
          <p:cNvSpPr>
            <a:spLocks noGrp="1"/>
          </p:cNvSpPr>
          <p:nvPr>
            <p:ph idx="1"/>
          </p:nvPr>
        </p:nvSpPr>
        <p:spPr/>
        <p:txBody>
          <a:bodyPr/>
          <a:lstStyle/>
          <a:p>
            <a:r>
              <a:rPr lang="en-GB" dirty="0"/>
              <a:t>Build a Blog in 8 minutes with Ruby On Rails Ruby 2.4.2 Rails 5.1.4</a:t>
            </a:r>
          </a:p>
          <a:p>
            <a:pPr lvl="1"/>
            <a:r>
              <a:rPr lang="en-GB" dirty="0">
                <a:hlinkClick r:id="rId3"/>
              </a:rPr>
              <a:t>https://www.youtube.com/watch?v=U5j-lnRWSNE</a:t>
            </a:r>
            <a:r>
              <a:rPr lang="en-GB" dirty="0"/>
              <a:t> </a:t>
            </a:r>
          </a:p>
          <a:p>
            <a:endParaRPr lang="en-GB" dirty="0"/>
          </a:p>
        </p:txBody>
      </p:sp>
    </p:spTree>
    <p:extLst>
      <p:ext uri="{BB962C8B-B14F-4D97-AF65-F5344CB8AC3E}">
        <p14:creationId xmlns:p14="http://schemas.microsoft.com/office/powerpoint/2010/main" val="18678468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ymfony logo"/>
          <p:cNvPicPr>
            <a:picLocks noChangeAspect="1"/>
          </p:cNvPicPr>
          <p:nvPr/>
        </p:nvPicPr>
        <p:blipFill>
          <a:blip r:embed="rId3"/>
          <a:stretch>
            <a:fillRect/>
          </a:stretch>
        </p:blipFill>
        <p:spPr>
          <a:xfrm>
            <a:off x="211016" y="2057400"/>
            <a:ext cx="8651632" cy="2552360"/>
          </a:xfrm>
          <a:prstGeom prst="rect">
            <a:avLst/>
          </a:prstGeom>
        </p:spPr>
      </p:pic>
    </p:spTree>
    <p:extLst>
      <p:ext uri="{BB962C8B-B14F-4D97-AF65-F5344CB8AC3E}">
        <p14:creationId xmlns:p14="http://schemas.microsoft.com/office/powerpoint/2010/main" val="26502826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Symfony</a:t>
            </a:r>
            <a:endParaRPr lang="en-US" dirty="0"/>
          </a:p>
        </p:txBody>
      </p:sp>
      <p:sp>
        <p:nvSpPr>
          <p:cNvPr id="6" name="Content Placeholder 2"/>
          <p:cNvSpPr txBox="1">
            <a:spLocks/>
          </p:cNvSpPr>
          <p:nvPr/>
        </p:nvSpPr>
        <p:spPr>
          <a:xfrm>
            <a:off x="457200" y="1417640"/>
            <a:ext cx="8229600" cy="4963688"/>
          </a:xfrm>
          <a:prstGeom prst="rect">
            <a:avLst/>
          </a:prstGeom>
        </p:spPr>
        <p:txBody>
          <a:bodyPr vert="horz" lIns="91440" tIns="45720" rIns="91440" bIns="45720" rtlCol="0">
            <a:normAutofit/>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2800" b="0" i="0" u="none" strike="noStrike" kern="1200" cap="none" spc="0" normalizeH="0" baseline="0" noProof="0" dirty="0">
                <a:ln>
                  <a:noFill/>
                </a:ln>
                <a:solidFill>
                  <a:schemeClr val="tx1"/>
                </a:solidFill>
                <a:effectLst/>
                <a:uLnTx/>
                <a:uFillTx/>
                <a:latin typeface="+mn-lt"/>
                <a:ea typeface="+mn-ea"/>
                <a:cs typeface="+mn-cs"/>
              </a:rPr>
              <a:t>A PHP</a:t>
            </a:r>
            <a:r>
              <a:rPr kumimoji="0" lang="en-US" sz="2800" b="0" i="0" u="none" strike="noStrike" kern="1200" cap="none" spc="0" normalizeH="0" noProof="0" dirty="0">
                <a:ln>
                  <a:noFill/>
                </a:ln>
                <a:solidFill>
                  <a:schemeClr val="tx1"/>
                </a:solidFill>
                <a:effectLst/>
                <a:uLnTx/>
                <a:uFillTx/>
                <a:latin typeface="+mn-lt"/>
                <a:ea typeface="+mn-ea"/>
                <a:cs typeface="+mn-cs"/>
              </a:rPr>
              <a:t> based Web Application Framework</a:t>
            </a:r>
          </a:p>
          <a:p>
            <a:pPr marL="800100" lvl="1" indent="-342900">
              <a:spcBef>
                <a:spcPct val="20000"/>
              </a:spcBef>
              <a:buFont typeface="Arial"/>
              <a:buChar char="•"/>
            </a:pPr>
            <a:r>
              <a:rPr lang="en-US" sz="2800" b="1" dirty="0"/>
              <a:t>Its main goal is to speed up the creation and maintenance of web applications and replace repetitive coding tasks</a:t>
            </a:r>
          </a:p>
          <a:p>
            <a:pPr marL="800100" lvl="1" indent="-342900">
              <a:spcBef>
                <a:spcPct val="20000"/>
              </a:spcBef>
              <a:buFont typeface="Arial"/>
              <a:buChar char="•"/>
            </a:pPr>
            <a:r>
              <a:rPr lang="en-US" sz="2800" dirty="0"/>
              <a:t>Follows the MVC paradigm</a:t>
            </a:r>
          </a:p>
          <a:p>
            <a:pPr marL="800100" lvl="1" indent="-342900">
              <a:spcBef>
                <a:spcPct val="20000"/>
              </a:spcBef>
              <a:buFont typeface="Arial"/>
              <a:buChar char="•"/>
            </a:pPr>
            <a:r>
              <a:rPr kumimoji="0" lang="en-US" sz="2800" b="0" i="0" u="none" strike="noStrike" kern="1200" cap="none" spc="0" normalizeH="0" noProof="0" dirty="0">
                <a:ln>
                  <a:noFill/>
                </a:ln>
                <a:solidFill>
                  <a:schemeClr val="tx1"/>
                </a:solidFill>
                <a:effectLst/>
                <a:uLnTx/>
                <a:uFillTx/>
                <a:latin typeface="+mn-lt"/>
                <a:ea typeface="+mn-ea"/>
                <a:cs typeface="+mn-cs"/>
              </a:rPr>
              <a:t>Integrates with many existing technologies</a:t>
            </a:r>
          </a:p>
          <a:p>
            <a:pPr marL="800100" lvl="1" indent="-342900">
              <a:spcBef>
                <a:spcPct val="20000"/>
              </a:spcBef>
              <a:buFont typeface="Arial"/>
              <a:buChar char="•"/>
            </a:pPr>
            <a:r>
              <a:rPr lang="en-US" sz="2800" dirty="0"/>
              <a:t>Heavily inspired by WAFs such as:</a:t>
            </a:r>
          </a:p>
          <a:p>
            <a:pPr marL="1257300" lvl="2" indent="-342900">
              <a:spcBef>
                <a:spcPct val="20000"/>
              </a:spcBef>
              <a:buFont typeface="Arial"/>
              <a:buChar char="•"/>
            </a:pPr>
            <a:r>
              <a:rPr lang="en-US" sz="2800" dirty="0"/>
              <a:t>Ruby on Rails, </a:t>
            </a:r>
          </a:p>
          <a:p>
            <a:pPr marL="1257300" lvl="2" indent="-342900">
              <a:spcBef>
                <a:spcPct val="20000"/>
              </a:spcBef>
              <a:buFont typeface="Arial"/>
              <a:buChar char="•"/>
            </a:pPr>
            <a:r>
              <a:rPr lang="en-US" sz="2800" dirty="0" err="1"/>
              <a:t>Django</a:t>
            </a:r>
            <a:r>
              <a:rPr lang="en-US" sz="2800" dirty="0"/>
              <a:t>, and </a:t>
            </a:r>
          </a:p>
          <a:p>
            <a:pPr marL="1257300" lvl="2" indent="-342900">
              <a:spcBef>
                <a:spcPct val="20000"/>
              </a:spcBef>
              <a:buFont typeface="Arial"/>
              <a:buChar char="•"/>
            </a:pPr>
            <a:r>
              <a:rPr lang="en-US" sz="2800" dirty="0"/>
              <a:t>Spring.</a:t>
            </a:r>
            <a:endParaRPr kumimoji="0" lang="en-US" sz="2800" b="0" i="0" u="none" strike="noStrike" kern="1200" cap="none" spc="0" normalizeH="0" noProof="0" dirty="0">
              <a:ln>
                <a:noFill/>
              </a:ln>
              <a:solidFill>
                <a:schemeClr val="tx1"/>
              </a:solidFill>
              <a:effectLst/>
              <a:uLnTx/>
              <a:uFillTx/>
              <a:latin typeface="+mn-lt"/>
              <a:ea typeface="+mn-ea"/>
              <a:cs typeface="+mn-cs"/>
            </a:endParaRPr>
          </a:p>
          <a:p>
            <a:pPr marL="800100" lvl="1" indent="-342900">
              <a:spcBef>
                <a:spcPct val="20000"/>
              </a:spcBef>
            </a:pPr>
            <a:endParaRPr lang="en-US" sz="2800" dirty="0"/>
          </a:p>
        </p:txBody>
      </p:sp>
    </p:spTree>
    <p:extLst>
      <p:ext uri="{BB962C8B-B14F-4D97-AF65-F5344CB8AC3E}">
        <p14:creationId xmlns:p14="http://schemas.microsoft.com/office/powerpoint/2010/main" val="17980491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Symfony Architecture"/>
          <p:cNvPicPr>
            <a:picLocks noChangeAspect="1"/>
          </p:cNvPicPr>
          <p:nvPr/>
        </p:nvPicPr>
        <p:blipFill>
          <a:blip r:embed="rId3"/>
          <a:stretch>
            <a:fillRect/>
          </a:stretch>
        </p:blipFill>
        <p:spPr>
          <a:xfrm>
            <a:off x="140678" y="228600"/>
            <a:ext cx="9003323" cy="6223000"/>
          </a:xfrm>
          <a:prstGeom prst="rect">
            <a:avLst/>
          </a:prstGeom>
        </p:spPr>
      </p:pic>
      <p:sp>
        <p:nvSpPr>
          <p:cNvPr id="4" name="TextBox 3"/>
          <p:cNvSpPr txBox="1"/>
          <p:nvPr/>
        </p:nvSpPr>
        <p:spPr>
          <a:xfrm>
            <a:off x="3447820" y="6446253"/>
            <a:ext cx="5572484" cy="369332"/>
          </a:xfrm>
          <a:prstGeom prst="rect">
            <a:avLst/>
          </a:prstGeom>
          <a:noFill/>
        </p:spPr>
        <p:txBody>
          <a:bodyPr wrap="none" rtlCol="0">
            <a:spAutoFit/>
          </a:bodyPr>
          <a:lstStyle/>
          <a:p>
            <a:r>
              <a:rPr lang="en-US" b="1" dirty="0">
                <a:solidFill>
                  <a:srgbClr val="008000"/>
                </a:solidFill>
              </a:rPr>
              <a:t>http://symfony.com/blog/the-symfony-1-1-architecture</a:t>
            </a:r>
          </a:p>
        </p:txBody>
      </p:sp>
    </p:spTree>
    <p:extLst>
      <p:ext uri="{BB962C8B-B14F-4D97-AF65-F5344CB8AC3E}">
        <p14:creationId xmlns:p14="http://schemas.microsoft.com/office/powerpoint/2010/main" val="19169360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682CF-F834-CB0A-CFC7-AA27F674CBE7}"/>
              </a:ext>
            </a:extLst>
          </p:cNvPr>
          <p:cNvSpPr>
            <a:spLocks noGrp="1"/>
          </p:cNvSpPr>
          <p:nvPr>
            <p:ph type="title"/>
          </p:nvPr>
        </p:nvSpPr>
        <p:spPr/>
        <p:txBody>
          <a:bodyPr>
            <a:normAutofit fontScale="90000"/>
          </a:bodyPr>
          <a:lstStyle/>
          <a:p>
            <a:r>
              <a:rPr lang="en-US" dirty="0"/>
              <a:t>From Full Frameworks to Lightweight Frameworks</a:t>
            </a:r>
          </a:p>
        </p:txBody>
      </p:sp>
      <p:sp>
        <p:nvSpPr>
          <p:cNvPr id="3" name="Content Placeholder 2">
            <a:extLst>
              <a:ext uri="{FF2B5EF4-FFF2-40B4-BE49-F238E27FC236}">
                <a16:creationId xmlns:a16="http://schemas.microsoft.com/office/drawing/2014/main" id="{BA494218-2005-5CE2-B2F8-E73BB70F78C7}"/>
              </a:ext>
            </a:extLst>
          </p:cNvPr>
          <p:cNvSpPr>
            <a:spLocks noGrp="1"/>
          </p:cNvSpPr>
          <p:nvPr>
            <p:ph idx="1"/>
          </p:nvPr>
        </p:nvSpPr>
        <p:spPr/>
        <p:txBody>
          <a:bodyPr vert="horz" lIns="91440" tIns="45720" rIns="91440" bIns="45720" rtlCol="0" anchor="t">
            <a:normAutofit/>
          </a:bodyPr>
          <a:lstStyle/>
          <a:p>
            <a:r>
              <a:rPr lang="en-US" dirty="0">
                <a:ea typeface="Calibri"/>
                <a:cs typeface="Calibri"/>
              </a:rPr>
              <a:t>Django / Ruby on Rails: </a:t>
            </a:r>
            <a:r>
              <a:rPr lang="en-US" i="1" dirty="0">
                <a:ea typeface="Calibri"/>
                <a:cs typeface="Calibri"/>
              </a:rPr>
              <a:t>"Everything included"</a:t>
            </a:r>
          </a:p>
          <a:p>
            <a:pPr lvl="1">
              <a:buFont typeface="Courier New"/>
              <a:buChar char="o"/>
            </a:pPr>
            <a:r>
              <a:rPr lang="en-US" dirty="0">
                <a:ea typeface="Calibri"/>
                <a:cs typeface="Calibri"/>
              </a:rPr>
              <a:t>ORM, templates, admin, auth, migrations</a:t>
            </a:r>
          </a:p>
          <a:p>
            <a:pPr lvl="1">
              <a:buFont typeface="Courier New"/>
              <a:buChar char="o"/>
            </a:pPr>
            <a:r>
              <a:rPr lang="en-US" dirty="0">
                <a:ea typeface="Calibri"/>
                <a:cs typeface="Calibri"/>
              </a:rPr>
              <a:t>Great for large integrated apps</a:t>
            </a:r>
          </a:p>
          <a:p>
            <a:pPr lvl="1">
              <a:buFont typeface="Courier New"/>
              <a:buChar char="o"/>
            </a:pPr>
            <a:r>
              <a:rPr lang="en-US" dirty="0">
                <a:ea typeface="Calibri"/>
                <a:cs typeface="Calibri"/>
              </a:rPr>
              <a:t>Heavy for small experiments or microservices</a:t>
            </a:r>
          </a:p>
          <a:p>
            <a:pPr lvl="1">
              <a:buFont typeface="Courier New"/>
              <a:buChar char="o"/>
            </a:pPr>
            <a:endParaRPr lang="en-US" dirty="0">
              <a:ea typeface="Calibri"/>
              <a:cs typeface="Calibri"/>
            </a:endParaRPr>
          </a:p>
          <a:p>
            <a:r>
              <a:rPr lang="en-US" dirty="0">
                <a:ea typeface="Calibri"/>
                <a:cs typeface="Calibri"/>
              </a:rPr>
              <a:t>Flask: </a:t>
            </a:r>
            <a:r>
              <a:rPr lang="en-US" i="1" dirty="0">
                <a:ea typeface="Calibri"/>
                <a:cs typeface="Calibri"/>
              </a:rPr>
              <a:t>"Start small, add only what you need"</a:t>
            </a:r>
          </a:p>
          <a:p>
            <a:pPr lvl="1">
              <a:buFont typeface="Courier New"/>
              <a:buChar char="o"/>
            </a:pPr>
            <a:r>
              <a:rPr lang="en-US" dirty="0">
                <a:ea typeface="Calibri"/>
                <a:cs typeface="Calibri"/>
              </a:rPr>
              <a:t>A microframework – routing and a minimal core</a:t>
            </a:r>
          </a:p>
        </p:txBody>
      </p:sp>
    </p:spTree>
    <p:extLst>
      <p:ext uri="{BB962C8B-B14F-4D97-AF65-F5344CB8AC3E}">
        <p14:creationId xmlns:p14="http://schemas.microsoft.com/office/powerpoint/2010/main" val="28439293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n image of a jar of cookies"/>
          <p:cNvPicPr>
            <a:picLocks noChangeAspect="1"/>
          </p:cNvPicPr>
          <p:nvPr/>
        </p:nvPicPr>
        <p:blipFill>
          <a:blip r:embed="rId3"/>
          <a:srcRect t="6997" b="6997"/>
          <a:stretch>
            <a:fillRect/>
          </a:stretch>
        </p:blipFill>
        <p:spPr>
          <a:xfrm>
            <a:off x="0" y="-114725"/>
            <a:ext cx="9144000" cy="7020479"/>
          </a:xfrm>
          <a:prstGeom prst="rect">
            <a:avLst/>
          </a:prstGeom>
        </p:spPr>
      </p:pic>
      <p:sp>
        <p:nvSpPr>
          <p:cNvPr id="2" name="Title 1"/>
          <p:cNvSpPr>
            <a:spLocks noGrp="1"/>
          </p:cNvSpPr>
          <p:nvPr>
            <p:ph type="title"/>
          </p:nvPr>
        </p:nvSpPr>
        <p:spPr>
          <a:xfrm>
            <a:off x="211015" y="0"/>
            <a:ext cx="6541477" cy="1143000"/>
          </a:xfrm>
          <a:solidFill>
            <a:srgbClr val="595959">
              <a:alpha val="75000"/>
            </a:srgbClr>
          </a:solidFill>
        </p:spPr>
        <p:txBody>
          <a:bodyPr>
            <a:normAutofit/>
          </a:bodyPr>
          <a:lstStyle/>
          <a:p>
            <a:pPr algn="l"/>
            <a:r>
              <a:rPr lang="en-US" dirty="0"/>
              <a:t>So Many Frameworks…</a:t>
            </a:r>
          </a:p>
        </p:txBody>
      </p:sp>
      <p:sp>
        <p:nvSpPr>
          <p:cNvPr id="4" name="Title 1"/>
          <p:cNvSpPr txBox="1">
            <a:spLocks/>
          </p:cNvSpPr>
          <p:nvPr/>
        </p:nvSpPr>
        <p:spPr>
          <a:xfrm>
            <a:off x="3024554" y="5562600"/>
            <a:ext cx="5873262" cy="1143000"/>
          </a:xfrm>
          <a:prstGeom prst="rect">
            <a:avLst/>
          </a:prstGeom>
          <a:solidFill>
            <a:schemeClr val="tx1">
              <a:lumMod val="65000"/>
              <a:lumOff val="35000"/>
              <a:alpha val="75000"/>
            </a:schemeClr>
          </a:solidFill>
        </p:spPr>
        <p:txBody>
          <a:bodyPr vert="horz" lIns="91440" tIns="45720" rIns="91440" bIns="45720" rtlCol="0" anchor="ctr">
            <a:normAutofit fontScale="92500"/>
          </a:bodyPr>
          <a:lstStyle/>
          <a:p>
            <a:pPr marL="0" marR="0" lvl="0" indent="0" algn="r" defTabSz="4572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American Typewriter"/>
                <a:ea typeface="+mj-ea"/>
                <a:cs typeface="American Typewriter"/>
              </a:rPr>
              <a:t>Which one to choose?</a:t>
            </a:r>
          </a:p>
        </p:txBody>
      </p:sp>
    </p:spTree>
    <p:extLst>
      <p:ext uri="{BB962C8B-B14F-4D97-AF65-F5344CB8AC3E}">
        <p14:creationId xmlns:p14="http://schemas.microsoft.com/office/powerpoint/2010/main" val="6074053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choose?</a:t>
            </a:r>
          </a:p>
        </p:txBody>
      </p:sp>
      <p:sp>
        <p:nvSpPr>
          <p:cNvPr id="3" name="Content Placeholder 2"/>
          <p:cNvSpPr>
            <a:spLocks noGrp="1"/>
          </p:cNvSpPr>
          <p:nvPr>
            <p:ph idx="1"/>
          </p:nvPr>
        </p:nvSpPr>
        <p:spPr/>
        <p:txBody>
          <a:bodyPr vert="horz" lIns="91440" tIns="45720" rIns="91440" bIns="45720" rtlCol="0" anchor="t">
            <a:normAutofit fontScale="70000" lnSpcReduction="20000"/>
          </a:bodyPr>
          <a:lstStyle/>
          <a:p>
            <a:r>
              <a:rPr lang="en-US" dirty="0"/>
              <a:t>Ruby On Rails and Django are all good in many aspects</a:t>
            </a:r>
          </a:p>
          <a:p>
            <a:r>
              <a:rPr lang="en-US" dirty="0"/>
              <a:t>Documentation is excellent, with similar learning curves</a:t>
            </a:r>
            <a:endParaRPr lang="en-US" dirty="0">
              <a:ea typeface="Calibri"/>
              <a:cs typeface="Calibri"/>
            </a:endParaRPr>
          </a:p>
          <a:p>
            <a:endParaRPr lang="en-US" dirty="0"/>
          </a:p>
          <a:p>
            <a:r>
              <a:rPr lang="en-US" b="1" dirty="0"/>
              <a:t>Why go for Django? </a:t>
            </a:r>
          </a:p>
          <a:p>
            <a:pPr lvl="1"/>
            <a:r>
              <a:rPr lang="en-US" dirty="0"/>
              <a:t>makes life easier in terms of the structuring of files/folders (less is more)</a:t>
            </a:r>
          </a:p>
          <a:p>
            <a:pPr lvl="1"/>
            <a:r>
              <a:rPr lang="en-US" dirty="0"/>
              <a:t>Has easier form management</a:t>
            </a:r>
          </a:p>
          <a:p>
            <a:pPr lvl="1"/>
            <a:r>
              <a:rPr lang="en-US" dirty="0"/>
              <a:t>Templates in Django are more flexible (i.e. have inheritance to extend them, built in tags, filters, </a:t>
            </a:r>
            <a:r>
              <a:rPr lang="en-US" dirty="0" err="1"/>
              <a:t>etc</a:t>
            </a:r>
            <a:r>
              <a:rPr lang="en-US" dirty="0"/>
              <a:t>)</a:t>
            </a:r>
          </a:p>
          <a:p>
            <a:pPr lvl="1"/>
            <a:r>
              <a:rPr lang="en-US" dirty="0"/>
              <a:t>Django uses Python which is great (Yahoo uses php, Google uses python)</a:t>
            </a:r>
          </a:p>
          <a:p>
            <a:pPr lvl="1"/>
            <a:r>
              <a:rPr lang="en-US" dirty="0"/>
              <a:t>Tends to be more minimalist (no frills)</a:t>
            </a:r>
          </a:p>
          <a:p>
            <a:pPr lvl="1"/>
            <a:r>
              <a:rPr lang="en-US" dirty="0"/>
              <a:t>Sometimes the documentation is too minimalist, which requires exploring the code. </a:t>
            </a:r>
          </a:p>
          <a:p>
            <a:pPr marL="0" indent="0">
              <a:buNone/>
            </a:pPr>
            <a:endParaRPr lang="en-US" dirty="0"/>
          </a:p>
        </p:txBody>
      </p:sp>
    </p:spTree>
    <p:extLst>
      <p:ext uri="{BB962C8B-B14F-4D97-AF65-F5344CB8AC3E}">
        <p14:creationId xmlns:p14="http://schemas.microsoft.com/office/powerpoint/2010/main" val="25997826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But what about Ruby on Rails?</a:t>
            </a:r>
          </a:p>
        </p:txBody>
      </p:sp>
      <p:sp>
        <p:nvSpPr>
          <p:cNvPr id="3" name="Content Placeholder 2"/>
          <p:cNvSpPr>
            <a:spLocks noGrp="1"/>
          </p:cNvSpPr>
          <p:nvPr>
            <p:ph idx="1"/>
          </p:nvPr>
        </p:nvSpPr>
        <p:spPr/>
        <p:txBody>
          <a:bodyPr>
            <a:normAutofit fontScale="92500" lnSpcReduction="10000"/>
          </a:bodyPr>
          <a:lstStyle/>
          <a:p>
            <a:r>
              <a:rPr lang="en-US" b="1" dirty="0"/>
              <a:t>Ruby on Rails </a:t>
            </a:r>
            <a:r>
              <a:rPr lang="en-US" dirty="0"/>
              <a:t>is… more or less the same, but a different language.</a:t>
            </a:r>
          </a:p>
          <a:p>
            <a:pPr lvl="1"/>
            <a:r>
              <a:rPr lang="en-US" dirty="0"/>
              <a:t>It has a big community, where you can find almost everything</a:t>
            </a:r>
          </a:p>
          <a:p>
            <a:pPr lvl="1"/>
            <a:r>
              <a:rPr lang="en-US" dirty="0"/>
              <a:t>But, you often find what you need made by a clueless </a:t>
            </a:r>
            <a:r>
              <a:rPr lang="en-US" dirty="0" err="1"/>
              <a:t>noob</a:t>
            </a:r>
            <a:endParaRPr lang="en-US" dirty="0"/>
          </a:p>
          <a:p>
            <a:pPr lvl="1"/>
            <a:r>
              <a:rPr lang="en-US" dirty="0"/>
              <a:t>Perhaps, offers a false sense of ability, that you can do anything without effort.</a:t>
            </a:r>
          </a:p>
          <a:p>
            <a:pPr lvl="1"/>
            <a:r>
              <a:rPr lang="en-US" dirty="0"/>
              <a:t>When you realize the truth…… it is often too late.</a:t>
            </a:r>
          </a:p>
          <a:p>
            <a:pPr lvl="1"/>
            <a:r>
              <a:rPr lang="en-US" dirty="0"/>
              <a:t>Which leads to many rules being broken to kludge things together</a:t>
            </a:r>
          </a:p>
          <a:p>
            <a:pPr lvl="1">
              <a:buNone/>
            </a:pPr>
            <a:endParaRPr lang="en-US" dirty="0"/>
          </a:p>
          <a:p>
            <a:pPr lvl="1">
              <a:buNone/>
            </a:pPr>
            <a:endParaRPr lang="en-US" dirty="0"/>
          </a:p>
        </p:txBody>
      </p:sp>
    </p:spTree>
    <p:extLst>
      <p:ext uri="{BB962C8B-B14F-4D97-AF65-F5344CB8AC3E}">
        <p14:creationId xmlns:p14="http://schemas.microsoft.com/office/powerpoint/2010/main" val="545135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lask logo">
            <a:extLst>
              <a:ext uri="{FF2B5EF4-FFF2-40B4-BE49-F238E27FC236}">
                <a16:creationId xmlns:a16="http://schemas.microsoft.com/office/drawing/2014/main" id="{A45FC661-3A37-F998-E511-876013A745A9}"/>
              </a:ext>
            </a:extLst>
          </p:cNvPr>
          <p:cNvPicPr>
            <a:picLocks noChangeAspect="1"/>
          </p:cNvPicPr>
          <p:nvPr/>
        </p:nvPicPr>
        <p:blipFill>
          <a:blip r:embed="rId2"/>
          <a:stretch>
            <a:fillRect/>
          </a:stretch>
        </p:blipFill>
        <p:spPr>
          <a:xfrm>
            <a:off x="0" y="1639491"/>
            <a:ext cx="9144000" cy="3579019"/>
          </a:xfrm>
          <a:prstGeom prst="rect">
            <a:avLst/>
          </a:prstGeom>
        </p:spPr>
      </p:pic>
    </p:spTree>
    <p:extLst>
      <p:ext uri="{BB962C8B-B14F-4D97-AF65-F5344CB8AC3E}">
        <p14:creationId xmlns:p14="http://schemas.microsoft.com/office/powerpoint/2010/main" val="4863814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8807C-5F92-8655-B012-9C658CE59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C83909-EE34-E701-1FF3-24B731A9AC71}"/>
              </a:ext>
            </a:extLst>
          </p:cNvPr>
          <p:cNvSpPr>
            <a:spLocks noGrp="1"/>
          </p:cNvSpPr>
          <p:nvPr>
            <p:ph type="title"/>
          </p:nvPr>
        </p:nvSpPr>
        <p:spPr/>
        <p:txBody>
          <a:bodyPr>
            <a:normAutofit/>
          </a:bodyPr>
          <a:lstStyle/>
          <a:p>
            <a:r>
              <a:rPr lang="en-US" dirty="0"/>
              <a:t>Flask</a:t>
            </a:r>
          </a:p>
        </p:txBody>
      </p:sp>
      <p:sp>
        <p:nvSpPr>
          <p:cNvPr id="3" name="Content Placeholder 2">
            <a:extLst>
              <a:ext uri="{FF2B5EF4-FFF2-40B4-BE49-F238E27FC236}">
                <a16:creationId xmlns:a16="http://schemas.microsoft.com/office/drawing/2014/main" id="{8CA56BA1-E13D-D3D0-BB42-F2319EBA8A44}"/>
              </a:ext>
            </a:extLst>
          </p:cNvPr>
          <p:cNvSpPr>
            <a:spLocks noGrp="1"/>
          </p:cNvSpPr>
          <p:nvPr>
            <p:ph idx="1"/>
          </p:nvPr>
        </p:nvSpPr>
        <p:spPr>
          <a:xfrm>
            <a:off x="534838" y="1220636"/>
            <a:ext cx="8074324" cy="4422448"/>
          </a:xfrm>
        </p:spPr>
        <p:txBody>
          <a:bodyPr vert="horz" lIns="91440" tIns="45720" rIns="91440" bIns="45720" rtlCol="0" anchor="t">
            <a:normAutofit/>
          </a:bodyPr>
          <a:lstStyle/>
          <a:p>
            <a:r>
              <a:rPr lang="en-US" b="1" dirty="0">
                <a:ea typeface="+mn-lt"/>
                <a:cs typeface="+mn-lt"/>
              </a:rPr>
              <a:t>Flask: </a:t>
            </a:r>
            <a:r>
              <a:rPr lang="en-US" dirty="0">
                <a:ea typeface="+mn-lt"/>
                <a:cs typeface="+mn-lt"/>
              </a:rPr>
              <a:t>a lightweight web application framework in Python</a:t>
            </a:r>
          </a:p>
          <a:p>
            <a:r>
              <a:rPr lang="en-US" b="1" dirty="0">
                <a:ea typeface="+mn-lt"/>
                <a:cs typeface="+mn-lt"/>
              </a:rPr>
              <a:t>Philosophy:</a:t>
            </a:r>
            <a:r>
              <a:rPr lang="en-US" dirty="0">
                <a:ea typeface="+mn-lt"/>
                <a:cs typeface="+mn-lt"/>
              </a:rPr>
              <a:t> Minimal core, maximum flexibility</a:t>
            </a:r>
            <a:endParaRPr lang="en-US" dirty="0">
              <a:ea typeface="Calibri"/>
              <a:cs typeface="Calibri"/>
            </a:endParaRPr>
          </a:p>
          <a:p>
            <a:pPr lvl="1">
              <a:buFont typeface="Courier New"/>
              <a:buChar char="o"/>
            </a:pPr>
            <a:r>
              <a:rPr lang="en-US" dirty="0">
                <a:ea typeface="+mn-lt"/>
                <a:cs typeface="+mn-lt"/>
              </a:rPr>
              <a:t>Lets you choose your own:</a:t>
            </a:r>
            <a:endParaRPr lang="en-US" dirty="0">
              <a:ea typeface="Calibri"/>
              <a:cs typeface="Calibri"/>
            </a:endParaRPr>
          </a:p>
          <a:p>
            <a:pPr lvl="2">
              <a:buFont typeface="Wingdings"/>
              <a:buChar char="§"/>
            </a:pPr>
            <a:r>
              <a:rPr lang="en-US" dirty="0">
                <a:ea typeface="+mn-lt"/>
                <a:cs typeface="+mn-lt"/>
              </a:rPr>
              <a:t>Database layer (</a:t>
            </a:r>
            <a:r>
              <a:rPr lang="en-US" err="1">
                <a:ea typeface="+mn-lt"/>
                <a:cs typeface="+mn-lt"/>
              </a:rPr>
              <a:t>SQLAlchemy</a:t>
            </a:r>
            <a:r>
              <a:rPr lang="en-US" dirty="0">
                <a:ea typeface="+mn-lt"/>
                <a:cs typeface="+mn-lt"/>
              </a:rPr>
              <a:t>, Peewee, etc.)</a:t>
            </a:r>
            <a:endParaRPr lang="en-US">
              <a:ea typeface="Calibri"/>
              <a:cs typeface="Calibri"/>
            </a:endParaRPr>
          </a:p>
          <a:p>
            <a:pPr lvl="2">
              <a:buFont typeface="Wingdings"/>
              <a:buChar char="§"/>
            </a:pPr>
            <a:r>
              <a:rPr lang="en-US" dirty="0">
                <a:ea typeface="+mn-lt"/>
                <a:cs typeface="+mn-lt"/>
              </a:rPr>
              <a:t>Auth system</a:t>
            </a:r>
            <a:endParaRPr lang="en-US">
              <a:ea typeface="Calibri"/>
              <a:cs typeface="Calibri"/>
            </a:endParaRPr>
          </a:p>
          <a:p>
            <a:pPr lvl="2">
              <a:buFont typeface="Wingdings"/>
              <a:buChar char="§"/>
            </a:pPr>
            <a:r>
              <a:rPr lang="en-US" dirty="0">
                <a:ea typeface="+mn-lt"/>
                <a:cs typeface="+mn-lt"/>
              </a:rPr>
              <a:t>Extensions (Flask-Login, etc.)</a:t>
            </a:r>
            <a:endParaRPr lang="en-US" dirty="0">
              <a:ea typeface="Calibri"/>
              <a:cs typeface="Calibri"/>
            </a:endParaRPr>
          </a:p>
          <a:p>
            <a:endParaRPr lang="en-US" i="1" dirty="0">
              <a:ea typeface="Calibri"/>
              <a:cs typeface="Calibri"/>
            </a:endParaRPr>
          </a:p>
        </p:txBody>
      </p:sp>
      <p:sp>
        <p:nvSpPr>
          <p:cNvPr id="6" name="TextBox 5">
            <a:extLst>
              <a:ext uri="{FF2B5EF4-FFF2-40B4-BE49-F238E27FC236}">
                <a16:creationId xmlns:a16="http://schemas.microsoft.com/office/drawing/2014/main" id="{038FD515-7839-F806-1494-FA106274E132}"/>
              </a:ext>
            </a:extLst>
          </p:cNvPr>
          <p:cNvSpPr txBox="1"/>
          <p:nvPr/>
        </p:nvSpPr>
        <p:spPr>
          <a:xfrm>
            <a:off x="1725283" y="5710686"/>
            <a:ext cx="84538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ea typeface="Calibri"/>
                <a:cs typeface="Calibri"/>
              </a:rPr>
              <a:t>=</a:t>
            </a:r>
            <a:endParaRPr lang="en-US" sz="4000">
              <a:ea typeface="Calibri"/>
              <a:cs typeface="Calibri"/>
            </a:endParaRPr>
          </a:p>
        </p:txBody>
      </p:sp>
      <p:pic>
        <p:nvPicPr>
          <p:cNvPr id="7" name="Picture 6" descr="A yellow lego block on a white background&#10;&#10;AI-generated content may be incorrect.">
            <a:extLst>
              <a:ext uri="{FF2B5EF4-FFF2-40B4-BE49-F238E27FC236}">
                <a16:creationId xmlns:a16="http://schemas.microsoft.com/office/drawing/2014/main" id="{8F926CE2-9B4C-386D-552C-1C2BF281ECB7}"/>
              </a:ext>
            </a:extLst>
          </p:cNvPr>
          <p:cNvPicPr>
            <a:picLocks noChangeAspect="1"/>
          </p:cNvPicPr>
          <p:nvPr/>
        </p:nvPicPr>
        <p:blipFill>
          <a:blip r:embed="rId2"/>
          <a:stretch>
            <a:fillRect/>
          </a:stretch>
        </p:blipFill>
        <p:spPr>
          <a:xfrm>
            <a:off x="2147439" y="5367877"/>
            <a:ext cx="2054166" cy="1384361"/>
          </a:xfrm>
          <a:prstGeom prst="rect">
            <a:avLst/>
          </a:prstGeom>
        </p:spPr>
      </p:pic>
      <p:pic>
        <p:nvPicPr>
          <p:cNvPr id="9" name="Picture 8" descr="The logo of Flask as a bunch of Lego blocks">
            <a:extLst>
              <a:ext uri="{FF2B5EF4-FFF2-40B4-BE49-F238E27FC236}">
                <a16:creationId xmlns:a16="http://schemas.microsoft.com/office/drawing/2014/main" id="{1AAD19AF-8E0D-AEEB-A2C4-EE65A4E7BCD1}"/>
              </a:ext>
            </a:extLst>
          </p:cNvPr>
          <p:cNvPicPr>
            <a:picLocks noChangeAspect="1"/>
          </p:cNvPicPr>
          <p:nvPr/>
        </p:nvPicPr>
        <p:blipFill>
          <a:blip r:embed="rId3"/>
          <a:stretch>
            <a:fillRect/>
          </a:stretch>
        </p:blipFill>
        <p:spPr>
          <a:xfrm>
            <a:off x="4347713" y="5659400"/>
            <a:ext cx="2096220" cy="792688"/>
          </a:xfrm>
          <a:prstGeom prst="rect">
            <a:avLst/>
          </a:prstGeom>
        </p:spPr>
      </p:pic>
      <p:sp>
        <p:nvSpPr>
          <p:cNvPr id="10" name="TextBox 9">
            <a:extLst>
              <a:ext uri="{FF2B5EF4-FFF2-40B4-BE49-F238E27FC236}">
                <a16:creationId xmlns:a16="http://schemas.microsoft.com/office/drawing/2014/main" id="{DB3B09C1-F9E2-8F9E-BA69-713B3DD8FEB1}"/>
              </a:ext>
            </a:extLst>
          </p:cNvPr>
          <p:cNvSpPr txBox="1"/>
          <p:nvPr/>
        </p:nvSpPr>
        <p:spPr>
          <a:xfrm>
            <a:off x="6202392" y="5641675"/>
            <a:ext cx="84538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ea typeface="Calibri"/>
                <a:cs typeface="Calibri"/>
              </a:rPr>
              <a:t>=</a:t>
            </a:r>
            <a:endParaRPr lang="en-US" sz="4000">
              <a:ea typeface="Calibri"/>
              <a:cs typeface="Calibri"/>
            </a:endParaRPr>
          </a:p>
        </p:txBody>
      </p:sp>
      <p:pic>
        <p:nvPicPr>
          <p:cNvPr id="11" name="Picture 10" descr="A pile of colorful lego blocks&#10;&#10;AI-generated content may be incorrect.">
            <a:extLst>
              <a:ext uri="{FF2B5EF4-FFF2-40B4-BE49-F238E27FC236}">
                <a16:creationId xmlns:a16="http://schemas.microsoft.com/office/drawing/2014/main" id="{ED25D578-1F3C-A083-2755-30BA3E8E7F9B}"/>
              </a:ext>
            </a:extLst>
          </p:cNvPr>
          <p:cNvPicPr>
            <a:picLocks noChangeAspect="1"/>
          </p:cNvPicPr>
          <p:nvPr/>
        </p:nvPicPr>
        <p:blipFill>
          <a:blip r:embed="rId4"/>
          <a:stretch>
            <a:fillRect/>
          </a:stretch>
        </p:blipFill>
        <p:spPr>
          <a:xfrm>
            <a:off x="6921619" y="5484243"/>
            <a:ext cx="1839584" cy="1048110"/>
          </a:xfrm>
          <a:prstGeom prst="rect">
            <a:avLst/>
          </a:prstGeom>
        </p:spPr>
      </p:pic>
      <p:pic>
        <p:nvPicPr>
          <p:cNvPr id="4" name="Picture 3" descr="The logo of Django as a single lego block">
            <a:extLst>
              <a:ext uri="{FF2B5EF4-FFF2-40B4-BE49-F238E27FC236}">
                <a16:creationId xmlns:a16="http://schemas.microsoft.com/office/drawing/2014/main" id="{EFD2DA19-C6B1-99B9-7B4B-3E4F28E0EECB}"/>
              </a:ext>
            </a:extLst>
          </p:cNvPr>
          <p:cNvPicPr>
            <a:picLocks noChangeAspect="1"/>
          </p:cNvPicPr>
          <p:nvPr/>
        </p:nvPicPr>
        <p:blipFill>
          <a:blip r:embed="rId5"/>
          <a:stretch>
            <a:fillRect/>
          </a:stretch>
        </p:blipFill>
        <p:spPr>
          <a:xfrm>
            <a:off x="273080" y="5750583"/>
            <a:ext cx="1593192" cy="670704"/>
          </a:xfrm>
          <a:prstGeom prst="rect">
            <a:avLst/>
          </a:prstGeom>
        </p:spPr>
      </p:pic>
    </p:spTree>
    <p:extLst>
      <p:ext uri="{BB962C8B-B14F-4D97-AF65-F5344CB8AC3E}">
        <p14:creationId xmlns:p14="http://schemas.microsoft.com/office/powerpoint/2010/main" val="31593717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BEEAF-B24A-5194-EEA8-333E2441E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BEB2A-C6FA-A75C-F25C-9BCCAE395D59}"/>
              </a:ext>
            </a:extLst>
          </p:cNvPr>
          <p:cNvSpPr>
            <a:spLocks noGrp="1"/>
          </p:cNvSpPr>
          <p:nvPr>
            <p:ph type="title"/>
          </p:nvPr>
        </p:nvSpPr>
        <p:spPr/>
        <p:txBody>
          <a:bodyPr>
            <a:normAutofit/>
          </a:bodyPr>
          <a:lstStyle/>
          <a:p>
            <a:r>
              <a:rPr lang="en-US" dirty="0"/>
              <a:t>Why Flask</a:t>
            </a:r>
          </a:p>
        </p:txBody>
      </p:sp>
      <p:sp>
        <p:nvSpPr>
          <p:cNvPr id="16" name="Content Placeholder 15">
            <a:extLst>
              <a:ext uri="{FF2B5EF4-FFF2-40B4-BE49-F238E27FC236}">
                <a16:creationId xmlns:a16="http://schemas.microsoft.com/office/drawing/2014/main" id="{093A7868-0781-DA24-7CB9-FBCC9379D9A8}"/>
              </a:ext>
            </a:extLst>
          </p:cNvPr>
          <p:cNvSpPr>
            <a:spLocks noGrp="1"/>
          </p:cNvSpPr>
          <p:nvPr>
            <p:ph idx="1"/>
          </p:nvPr>
        </p:nvSpPr>
        <p:spPr/>
        <p:txBody>
          <a:bodyPr vert="horz" lIns="91440" tIns="45720" rIns="91440" bIns="45720" rtlCol="0" anchor="t">
            <a:normAutofit/>
          </a:bodyPr>
          <a:lstStyle/>
          <a:p>
            <a:r>
              <a:rPr lang="en-US" b="1" dirty="0">
                <a:ea typeface="Calibri"/>
                <a:cs typeface="Calibri"/>
              </a:rPr>
              <a:t>Lightweight: </a:t>
            </a:r>
            <a:r>
              <a:rPr lang="en-US" dirty="0">
                <a:ea typeface="Calibri"/>
                <a:cs typeface="Calibri"/>
              </a:rPr>
              <a:t>start from the essentials, add components as needed/if needed</a:t>
            </a:r>
            <a:endParaRPr lang="en-US" dirty="0"/>
          </a:p>
          <a:p>
            <a:r>
              <a:rPr lang="en-US" b="1" dirty="0">
                <a:ea typeface="Calibri"/>
                <a:cs typeface="Calibri"/>
              </a:rPr>
              <a:t>Easy to learn: </a:t>
            </a:r>
            <a:r>
              <a:rPr lang="en-US" dirty="0">
                <a:ea typeface="Calibri"/>
                <a:cs typeface="Calibri"/>
              </a:rPr>
              <a:t>small framework, easy for beginners, quick to prototype</a:t>
            </a:r>
          </a:p>
          <a:p>
            <a:r>
              <a:rPr lang="en-US" b="1" dirty="0">
                <a:ea typeface="Calibri"/>
                <a:cs typeface="Calibri"/>
              </a:rPr>
              <a:t>Customizable: </a:t>
            </a:r>
            <a:r>
              <a:rPr lang="en-US" dirty="0">
                <a:ea typeface="Calibri"/>
                <a:cs typeface="Calibri"/>
              </a:rPr>
              <a:t>plug in an extension, get a new feature</a:t>
            </a:r>
          </a:p>
          <a:p>
            <a:r>
              <a:rPr lang="en-US" b="1" dirty="0">
                <a:ea typeface="Calibri"/>
                <a:cs typeface="Calibri"/>
              </a:rPr>
              <a:t>Great for building APIs</a:t>
            </a:r>
          </a:p>
          <a:p>
            <a:endParaRPr lang="en-US" dirty="0">
              <a:ea typeface="Calibri"/>
              <a:cs typeface="Calibri"/>
            </a:endParaRPr>
          </a:p>
        </p:txBody>
      </p:sp>
    </p:spTree>
    <p:extLst>
      <p:ext uri="{BB962C8B-B14F-4D97-AF65-F5344CB8AC3E}">
        <p14:creationId xmlns:p14="http://schemas.microsoft.com/office/powerpoint/2010/main" val="27661069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30B5C-36A7-7D87-3506-98354F928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BF8219-F51A-524B-9D85-1010B6985219}"/>
              </a:ext>
            </a:extLst>
          </p:cNvPr>
          <p:cNvSpPr>
            <a:spLocks noGrp="1"/>
          </p:cNvSpPr>
          <p:nvPr>
            <p:ph type="title"/>
          </p:nvPr>
        </p:nvSpPr>
        <p:spPr/>
        <p:txBody>
          <a:bodyPr>
            <a:normAutofit/>
          </a:bodyPr>
          <a:lstStyle/>
          <a:p>
            <a:r>
              <a:rPr lang="en-US" dirty="0"/>
              <a:t>Django vs Flask</a:t>
            </a:r>
          </a:p>
        </p:txBody>
      </p:sp>
      <p:graphicFrame>
        <p:nvGraphicFramePr>
          <p:cNvPr id="3" name="Content Placeholder 2">
            <a:extLst>
              <a:ext uri="{FF2B5EF4-FFF2-40B4-BE49-F238E27FC236}">
                <a16:creationId xmlns:a16="http://schemas.microsoft.com/office/drawing/2014/main" id="{2901D164-E07D-EAB1-9047-0BE0EF7D3EC8}"/>
              </a:ext>
            </a:extLst>
          </p:cNvPr>
          <p:cNvGraphicFramePr>
            <a:graphicFrameLocks noGrp="1"/>
          </p:cNvGraphicFramePr>
          <p:nvPr>
            <p:ph idx="1"/>
          </p:nvPr>
        </p:nvGraphicFramePr>
        <p:xfrm>
          <a:off x="439947" y="1259456"/>
          <a:ext cx="8246845" cy="4869860"/>
        </p:xfrm>
        <a:graphic>
          <a:graphicData uri="http://schemas.openxmlformats.org/drawingml/2006/table">
            <a:tbl>
              <a:tblPr firstRow="1" firstCol="1" bandRow="1">
                <a:tableStyleId>{E8034E78-7F5D-4C2E-B375-FC64B27BC917}</a:tableStyleId>
              </a:tblPr>
              <a:tblGrid>
                <a:gridCol w="1759786">
                  <a:extLst>
                    <a:ext uri="{9D8B030D-6E8A-4147-A177-3AD203B41FA5}">
                      <a16:colId xmlns:a16="http://schemas.microsoft.com/office/drawing/2014/main" val="1580368289"/>
                    </a:ext>
                  </a:extLst>
                </a:gridCol>
                <a:gridCol w="3329796">
                  <a:extLst>
                    <a:ext uri="{9D8B030D-6E8A-4147-A177-3AD203B41FA5}">
                      <a16:colId xmlns:a16="http://schemas.microsoft.com/office/drawing/2014/main" val="2544884550"/>
                    </a:ext>
                  </a:extLst>
                </a:gridCol>
                <a:gridCol w="3157263">
                  <a:extLst>
                    <a:ext uri="{9D8B030D-6E8A-4147-A177-3AD203B41FA5}">
                      <a16:colId xmlns:a16="http://schemas.microsoft.com/office/drawing/2014/main" val="4171813"/>
                    </a:ext>
                  </a:extLst>
                </a:gridCol>
              </a:tblGrid>
              <a:tr h="543938">
                <a:tc>
                  <a:txBody>
                    <a:bodyPr/>
                    <a:lstStyle/>
                    <a:p>
                      <a:pPr lvl="0">
                        <a:buNone/>
                      </a:pPr>
                      <a:endParaRPr lang="en-US" sz="2400" dirty="0"/>
                    </a:p>
                  </a:txBody>
                  <a:tcPr>
                    <a:solidFill>
                      <a:schemeClr val="bg1"/>
                    </a:solidFill>
                  </a:tcPr>
                </a:tc>
                <a:tc>
                  <a:txBody>
                    <a:bodyPr/>
                    <a:lstStyle/>
                    <a:p>
                      <a:r>
                        <a:rPr lang="en-US" sz="2400" dirty="0"/>
                        <a:t>Django</a:t>
                      </a:r>
                    </a:p>
                  </a:txBody>
                  <a:tcPr/>
                </a:tc>
                <a:tc>
                  <a:txBody>
                    <a:bodyPr/>
                    <a:lstStyle/>
                    <a:p>
                      <a:r>
                        <a:rPr lang="en-US" sz="2400" dirty="0"/>
                        <a:t>Flask</a:t>
                      </a:r>
                    </a:p>
                  </a:txBody>
                  <a:tcPr/>
                </a:tc>
                <a:extLst>
                  <a:ext uri="{0D108BD9-81ED-4DB2-BD59-A6C34878D82A}">
                    <a16:rowId xmlns:a16="http://schemas.microsoft.com/office/drawing/2014/main" val="186073766"/>
                  </a:ext>
                </a:extLst>
              </a:tr>
              <a:tr h="543938">
                <a:tc>
                  <a:txBody>
                    <a:bodyPr/>
                    <a:lstStyle/>
                    <a:p>
                      <a:pPr lvl="0">
                        <a:buNone/>
                      </a:pPr>
                      <a:r>
                        <a:rPr lang="en-US" sz="2400" b="1" dirty="0">
                          <a:solidFill>
                            <a:schemeClr val="tx1"/>
                          </a:solidFill>
                        </a:rPr>
                        <a:t>Popularity</a:t>
                      </a:r>
                    </a:p>
                  </a:txBody>
                  <a:tcPr/>
                </a:tc>
                <a:tc>
                  <a:txBody>
                    <a:bodyPr/>
                    <a:lstStyle/>
                    <a:p>
                      <a:r>
                        <a:rPr lang="en-US" sz="2400" dirty="0">
                          <a:solidFill>
                            <a:schemeClr val="tx1"/>
                          </a:solidFill>
                        </a:rPr>
                        <a:t>High</a:t>
                      </a:r>
                    </a:p>
                  </a:txBody>
                  <a:tcPr/>
                </a:tc>
                <a:tc>
                  <a:txBody>
                    <a:bodyPr/>
                    <a:lstStyle/>
                    <a:p>
                      <a:r>
                        <a:rPr lang="en-US" sz="2400" dirty="0">
                          <a:solidFill>
                            <a:schemeClr val="tx1"/>
                          </a:solidFill>
                        </a:rPr>
                        <a:t>High</a:t>
                      </a:r>
                    </a:p>
                  </a:txBody>
                  <a:tcPr/>
                </a:tc>
                <a:extLst>
                  <a:ext uri="{0D108BD9-81ED-4DB2-BD59-A6C34878D82A}">
                    <a16:rowId xmlns:a16="http://schemas.microsoft.com/office/drawing/2014/main" val="2696021780"/>
                  </a:ext>
                </a:extLst>
              </a:tr>
              <a:tr h="543938">
                <a:tc>
                  <a:txBody>
                    <a:bodyPr/>
                    <a:lstStyle/>
                    <a:p>
                      <a:pPr lvl="0">
                        <a:buNone/>
                      </a:pPr>
                      <a:r>
                        <a:rPr lang="en-US" sz="2400" b="1" dirty="0">
                          <a:solidFill>
                            <a:schemeClr val="tx1"/>
                          </a:solidFill>
                        </a:rPr>
                        <a:t>Difficulty</a:t>
                      </a:r>
                    </a:p>
                  </a:txBody>
                  <a:tcPr/>
                </a:tc>
                <a:tc>
                  <a:txBody>
                    <a:bodyPr/>
                    <a:lstStyle/>
                    <a:p>
                      <a:r>
                        <a:rPr lang="en-US" sz="2400" dirty="0">
                          <a:solidFill>
                            <a:schemeClr val="tx1"/>
                          </a:solidFill>
                        </a:rPr>
                        <a:t>Moderate</a:t>
                      </a:r>
                    </a:p>
                  </a:txBody>
                  <a:tcPr/>
                </a:tc>
                <a:tc>
                  <a:txBody>
                    <a:bodyPr/>
                    <a:lstStyle/>
                    <a:p>
                      <a:r>
                        <a:rPr lang="en-US" sz="2400" dirty="0">
                          <a:solidFill>
                            <a:schemeClr val="tx1"/>
                          </a:solidFill>
                        </a:rPr>
                        <a:t>Low</a:t>
                      </a:r>
                    </a:p>
                  </a:txBody>
                  <a:tcPr/>
                </a:tc>
                <a:extLst>
                  <a:ext uri="{0D108BD9-81ED-4DB2-BD59-A6C34878D82A}">
                    <a16:rowId xmlns:a16="http://schemas.microsoft.com/office/drawing/2014/main" val="289242820"/>
                  </a:ext>
                </a:extLst>
              </a:tr>
              <a:tr h="543938">
                <a:tc>
                  <a:txBody>
                    <a:bodyPr/>
                    <a:lstStyle/>
                    <a:p>
                      <a:pPr lvl="0">
                        <a:buNone/>
                      </a:pPr>
                      <a:r>
                        <a:rPr lang="en-US" sz="2400" b="1" dirty="0">
                          <a:solidFill>
                            <a:schemeClr val="tx1"/>
                          </a:solidFill>
                        </a:rPr>
                        <a:t>Architecture</a:t>
                      </a:r>
                    </a:p>
                  </a:txBody>
                  <a:tcPr/>
                </a:tc>
                <a:tc>
                  <a:txBody>
                    <a:bodyPr/>
                    <a:lstStyle/>
                    <a:p>
                      <a:pPr lvl="0">
                        <a:buNone/>
                      </a:pPr>
                      <a:r>
                        <a:rPr lang="en-US" sz="2400" dirty="0">
                          <a:solidFill>
                            <a:schemeClr val="tx1"/>
                          </a:solidFill>
                        </a:rPr>
                        <a:t>Clear structure</a:t>
                      </a:r>
                    </a:p>
                  </a:txBody>
                  <a:tcPr/>
                </a:tc>
                <a:tc>
                  <a:txBody>
                    <a:bodyPr/>
                    <a:lstStyle/>
                    <a:p>
                      <a:pPr lvl="0">
                        <a:buNone/>
                      </a:pPr>
                      <a:r>
                        <a:rPr lang="en-US" sz="2400" dirty="0">
                          <a:solidFill>
                            <a:schemeClr val="tx1"/>
                          </a:solidFill>
                        </a:rPr>
                        <a:t>Easily extensible</a:t>
                      </a:r>
                    </a:p>
                  </a:txBody>
                  <a:tcPr/>
                </a:tc>
                <a:extLst>
                  <a:ext uri="{0D108BD9-81ED-4DB2-BD59-A6C34878D82A}">
                    <a16:rowId xmlns:a16="http://schemas.microsoft.com/office/drawing/2014/main" val="3956998048"/>
                  </a:ext>
                </a:extLst>
              </a:tr>
              <a:tr h="543938">
                <a:tc>
                  <a:txBody>
                    <a:bodyPr/>
                    <a:lstStyle/>
                    <a:p>
                      <a:pPr lvl="0">
                        <a:buNone/>
                      </a:pPr>
                      <a:r>
                        <a:rPr lang="en-US" sz="2400" b="1" dirty="0">
                          <a:solidFill>
                            <a:schemeClr val="tx1"/>
                          </a:solidFill>
                        </a:rPr>
                        <a:t>Templates</a:t>
                      </a:r>
                    </a:p>
                  </a:txBody>
                  <a:tcPr/>
                </a:tc>
                <a:tc>
                  <a:txBody>
                    <a:bodyPr/>
                    <a:lstStyle/>
                    <a:p>
                      <a:r>
                        <a:rPr lang="en-US" sz="2400" dirty="0">
                          <a:solidFill>
                            <a:schemeClr val="tx1"/>
                          </a:solidFill>
                        </a:rPr>
                        <a:t>Built-in template language</a:t>
                      </a:r>
                    </a:p>
                  </a:txBody>
                  <a:tcPr/>
                </a:tc>
                <a:tc>
                  <a:txBody>
                    <a:bodyPr/>
                    <a:lstStyle/>
                    <a:p>
                      <a:r>
                        <a:rPr lang="en-US" sz="2400" dirty="0">
                          <a:solidFill>
                            <a:schemeClr val="tx1"/>
                          </a:solidFill>
                        </a:rPr>
                        <a:t>Jinja2 templates</a:t>
                      </a:r>
                    </a:p>
                  </a:txBody>
                  <a:tcPr/>
                </a:tc>
                <a:extLst>
                  <a:ext uri="{0D108BD9-81ED-4DB2-BD59-A6C34878D82A}">
                    <a16:rowId xmlns:a16="http://schemas.microsoft.com/office/drawing/2014/main" val="2633052444"/>
                  </a:ext>
                </a:extLst>
              </a:tr>
              <a:tr h="935574">
                <a:tc>
                  <a:txBody>
                    <a:bodyPr/>
                    <a:lstStyle/>
                    <a:p>
                      <a:pPr lvl="0">
                        <a:buNone/>
                      </a:pPr>
                      <a:r>
                        <a:rPr lang="en-US" sz="2400" b="1" dirty="0">
                          <a:solidFill>
                            <a:schemeClr val="tx1"/>
                          </a:solidFill>
                        </a:rPr>
                        <a:t>Databases</a:t>
                      </a:r>
                    </a:p>
                  </a:txBody>
                  <a:tcPr/>
                </a:tc>
                <a:tc>
                  <a:txBody>
                    <a:bodyPr/>
                    <a:lstStyle/>
                    <a:p>
                      <a:r>
                        <a:rPr lang="en-US" sz="2400" dirty="0">
                          <a:solidFill>
                            <a:schemeClr val="tx1"/>
                          </a:solidFill>
                        </a:rPr>
                        <a:t>Built-in ORM, supporting specific databases</a:t>
                      </a:r>
                    </a:p>
                  </a:txBody>
                  <a:tcPr/>
                </a:tc>
                <a:tc>
                  <a:txBody>
                    <a:bodyPr/>
                    <a:lstStyle/>
                    <a:p>
                      <a:r>
                        <a:rPr lang="en-US" sz="2400" dirty="0">
                          <a:solidFill>
                            <a:schemeClr val="tx1"/>
                          </a:solidFill>
                        </a:rPr>
                        <a:t>ORM support through extensions</a:t>
                      </a:r>
                    </a:p>
                  </a:txBody>
                  <a:tcPr/>
                </a:tc>
                <a:extLst>
                  <a:ext uri="{0D108BD9-81ED-4DB2-BD59-A6C34878D82A}">
                    <a16:rowId xmlns:a16="http://schemas.microsoft.com/office/drawing/2014/main" val="722519133"/>
                  </a:ext>
                </a:extLst>
              </a:tr>
              <a:tr h="935574">
                <a:tc>
                  <a:txBody>
                    <a:bodyPr/>
                    <a:lstStyle/>
                    <a:p>
                      <a:pPr lvl="0">
                        <a:buNone/>
                      </a:pPr>
                      <a:r>
                        <a:rPr lang="en-US" sz="2400" b="1" dirty="0">
                          <a:solidFill>
                            <a:schemeClr val="tx1"/>
                          </a:solidFill>
                        </a:rPr>
                        <a:t>URLs</a:t>
                      </a:r>
                    </a:p>
                  </a:txBody>
                  <a:tcPr/>
                </a:tc>
                <a:tc>
                  <a:txBody>
                    <a:bodyPr/>
                    <a:lstStyle/>
                    <a:p>
                      <a:r>
                        <a:rPr lang="en-US" sz="2400" dirty="0">
                          <a:solidFill>
                            <a:schemeClr val="tx1"/>
                          </a:solidFill>
                        </a:rPr>
                        <a:t>Powerful routing - complex</a:t>
                      </a:r>
                    </a:p>
                  </a:txBody>
                  <a:tcPr/>
                </a:tc>
                <a:tc>
                  <a:txBody>
                    <a:bodyPr/>
                    <a:lstStyle/>
                    <a:p>
                      <a:r>
                        <a:rPr lang="en-US" sz="2400" dirty="0">
                          <a:solidFill>
                            <a:schemeClr val="tx1"/>
                          </a:solidFill>
                        </a:rPr>
                        <a:t>Routing and logic in one file - simple</a:t>
                      </a:r>
                    </a:p>
                  </a:txBody>
                  <a:tcPr/>
                </a:tc>
                <a:extLst>
                  <a:ext uri="{0D108BD9-81ED-4DB2-BD59-A6C34878D82A}">
                    <a16:rowId xmlns:a16="http://schemas.microsoft.com/office/drawing/2014/main" val="1674363081"/>
                  </a:ext>
                </a:extLst>
              </a:tr>
            </a:tbl>
          </a:graphicData>
        </a:graphic>
      </p:graphicFrame>
    </p:spTree>
    <p:extLst>
      <p:ext uri="{BB962C8B-B14F-4D97-AF65-F5344CB8AC3E}">
        <p14:creationId xmlns:p14="http://schemas.microsoft.com/office/powerpoint/2010/main" val="19036941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457200" y="1600200"/>
            <a:ext cx="8229600" cy="5060244"/>
          </a:xfrm>
        </p:spPr>
        <p:txBody>
          <a:bodyPr>
            <a:normAutofit fontScale="92500" lnSpcReduction="20000"/>
          </a:bodyPr>
          <a:lstStyle/>
          <a:p>
            <a:r>
              <a:rPr lang="en-US" dirty="0"/>
              <a:t>Using Web Application Frameworks saves you a lot of effort because they save you from coding common functionality repeatedly and integrate good SE practices </a:t>
            </a:r>
          </a:p>
          <a:p>
            <a:r>
              <a:rPr lang="en-US" dirty="0"/>
              <a:t>There are a lot of WAFs out there to choose from, each with their own benefits and disadvantages</a:t>
            </a:r>
          </a:p>
          <a:p>
            <a:r>
              <a:rPr lang="en-US" dirty="0"/>
              <a:t>But at the end of the day you can do more-or-less whatever you like with any of these frameworks, it all depends on your context.</a:t>
            </a:r>
          </a:p>
          <a:p>
            <a:r>
              <a:rPr lang="en-GB" sz="3200" dirty="0"/>
              <a:t>Django is a Python based framework that allows you to develop web applications quickly using modules and MVT</a:t>
            </a:r>
            <a:endParaRPr lang="en-US" dirty="0"/>
          </a:p>
          <a:p>
            <a:endParaRPr lang="en-US" dirty="0"/>
          </a:p>
        </p:txBody>
      </p:sp>
    </p:spTree>
    <p:extLst>
      <p:ext uri="{BB962C8B-B14F-4D97-AF65-F5344CB8AC3E}">
        <p14:creationId xmlns:p14="http://schemas.microsoft.com/office/powerpoint/2010/main" val="12148522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451</TotalTime>
  <Words>3400</Words>
  <Application>Microsoft Office PowerPoint</Application>
  <PresentationFormat>On-screen Show (4:3)</PresentationFormat>
  <Paragraphs>463</Paragraphs>
  <Slides>58</Slides>
  <Notes>46</Notes>
  <HiddenSlides>2</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Office Theme</vt:lpstr>
      <vt:lpstr>Web Application Frameworks &amp; Django</vt:lpstr>
      <vt:lpstr>Week 2 Learning Objectives</vt:lpstr>
      <vt:lpstr>PowerPoint Presentation</vt:lpstr>
      <vt:lpstr>Web Development Complexity</vt:lpstr>
      <vt:lpstr>Signs of Hope</vt:lpstr>
      <vt:lpstr>PowerPoint Presentation</vt:lpstr>
      <vt:lpstr>Web Development Tools</vt:lpstr>
      <vt:lpstr>What you code in…</vt:lpstr>
      <vt:lpstr>Frameworks</vt:lpstr>
      <vt:lpstr>Classic Framework Definitions</vt:lpstr>
      <vt:lpstr>Framework Characteristics</vt:lpstr>
      <vt:lpstr>Framework Characteristics</vt:lpstr>
      <vt:lpstr>Framework vs Libraries?</vt:lpstr>
      <vt:lpstr>Degrees of Activeness</vt:lpstr>
      <vt:lpstr>Pre-Fabricated Things</vt:lpstr>
      <vt:lpstr>MVC Architecture</vt:lpstr>
      <vt:lpstr>Model-View-Controller</vt:lpstr>
      <vt:lpstr>MVC pros and cons</vt:lpstr>
      <vt:lpstr>Why use WAFs?</vt:lpstr>
      <vt:lpstr>Why use WAFs? </vt:lpstr>
      <vt:lpstr>Common Framework Functionality</vt:lpstr>
      <vt:lpstr>Common Framework Functionality</vt:lpstr>
      <vt:lpstr>WAF Caveats</vt:lpstr>
      <vt:lpstr>High Level System Architecture</vt:lpstr>
      <vt:lpstr>Many Web App Frameworks</vt:lpstr>
      <vt:lpstr>Django</vt:lpstr>
      <vt:lpstr>Django</vt:lpstr>
      <vt:lpstr>Django</vt:lpstr>
      <vt:lpstr>Django</vt:lpstr>
      <vt:lpstr>Why Django for Web Dev</vt:lpstr>
      <vt:lpstr>Why Django for Web Dev</vt:lpstr>
      <vt:lpstr>Overall Design Philosophy</vt:lpstr>
      <vt:lpstr>Django Modules</vt:lpstr>
      <vt:lpstr>Model View Controller in Django</vt:lpstr>
      <vt:lpstr>Django Internal Control Flow</vt:lpstr>
      <vt:lpstr>Simplified Internal Flow</vt:lpstr>
      <vt:lpstr>Internal Sections/Components</vt:lpstr>
      <vt:lpstr>Internal Sections/Components</vt:lpstr>
      <vt:lpstr>Internal Sections/Components</vt:lpstr>
      <vt:lpstr>Internal Sections/Components</vt:lpstr>
      <vt:lpstr>Internal Sections/Components</vt:lpstr>
      <vt:lpstr>PowerPoint Presentation</vt:lpstr>
      <vt:lpstr>Ruby on Rails</vt:lpstr>
      <vt:lpstr>Rail Design</vt:lpstr>
      <vt:lpstr>Ruby on Rails Architecture</vt:lpstr>
      <vt:lpstr>Ruby on Rails Example</vt:lpstr>
      <vt:lpstr>PowerPoint Presentation</vt:lpstr>
      <vt:lpstr>Symfony</vt:lpstr>
      <vt:lpstr>PowerPoint Presentation</vt:lpstr>
      <vt:lpstr>From Full Frameworks to Lightweight Frameworks</vt:lpstr>
      <vt:lpstr>So Many Frameworks…</vt:lpstr>
      <vt:lpstr>How to choose?</vt:lpstr>
      <vt:lpstr>But what about Ruby on Rails?</vt:lpstr>
      <vt:lpstr>PowerPoint Presentation</vt:lpstr>
      <vt:lpstr>Flask</vt:lpstr>
      <vt:lpstr>Why Flask</vt:lpstr>
      <vt:lpstr>Django vs Flask</vt:lpstr>
      <vt:lpstr>Summary</vt:lpstr>
    </vt:vector>
  </TitlesOfParts>
  <Company>University of Glasgow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Gerardo Aragon</dc:creator>
  <cp:lastModifiedBy>Simone Stumpf</cp:lastModifiedBy>
  <cp:revision>339</cp:revision>
  <cp:lastPrinted>2017-01-31T09:17:25Z</cp:lastPrinted>
  <dcterms:created xsi:type="dcterms:W3CDTF">2013-11-27T09:06:09Z</dcterms:created>
  <dcterms:modified xsi:type="dcterms:W3CDTF">2026-01-16T17:04:39Z</dcterms:modified>
</cp:coreProperties>
</file>