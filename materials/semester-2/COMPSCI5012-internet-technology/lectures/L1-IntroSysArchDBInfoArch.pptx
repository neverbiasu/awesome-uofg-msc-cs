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4"/>
  </p:notesMasterIdLst>
  <p:handoutMasterIdLst>
    <p:handoutMasterId r:id="rId85"/>
  </p:handoutMasterIdLst>
  <p:sldIdLst>
    <p:sldId id="349" r:id="rId2"/>
    <p:sldId id="400" r:id="rId3"/>
    <p:sldId id="398" r:id="rId4"/>
    <p:sldId id="396" r:id="rId5"/>
    <p:sldId id="404" r:id="rId6"/>
    <p:sldId id="406" r:id="rId7"/>
    <p:sldId id="405" r:id="rId8"/>
    <p:sldId id="407" r:id="rId9"/>
    <p:sldId id="258" r:id="rId10"/>
    <p:sldId id="397" r:id="rId11"/>
    <p:sldId id="310" r:id="rId12"/>
    <p:sldId id="308" r:id="rId13"/>
    <p:sldId id="263" r:id="rId14"/>
    <p:sldId id="268" r:id="rId15"/>
    <p:sldId id="269" r:id="rId16"/>
    <p:sldId id="318" r:id="rId17"/>
    <p:sldId id="355" r:id="rId18"/>
    <p:sldId id="312" r:id="rId19"/>
    <p:sldId id="399" r:id="rId20"/>
    <p:sldId id="272" r:id="rId21"/>
    <p:sldId id="313" r:id="rId22"/>
    <p:sldId id="356" r:id="rId23"/>
    <p:sldId id="314" r:id="rId24"/>
    <p:sldId id="315" r:id="rId25"/>
    <p:sldId id="358" r:id="rId26"/>
    <p:sldId id="359" r:id="rId27"/>
    <p:sldId id="360" r:id="rId28"/>
    <p:sldId id="361" r:id="rId29"/>
    <p:sldId id="287" r:id="rId30"/>
    <p:sldId id="302" r:id="rId31"/>
    <p:sldId id="291" r:id="rId32"/>
    <p:sldId id="288" r:id="rId33"/>
    <p:sldId id="290" r:id="rId34"/>
    <p:sldId id="299" r:id="rId35"/>
    <p:sldId id="362" r:id="rId36"/>
    <p:sldId id="293" r:id="rId37"/>
    <p:sldId id="300" r:id="rId38"/>
    <p:sldId id="303" r:id="rId39"/>
    <p:sldId id="295" r:id="rId40"/>
    <p:sldId id="363" r:id="rId41"/>
    <p:sldId id="331" r:id="rId42"/>
    <p:sldId id="364" r:id="rId43"/>
    <p:sldId id="365" r:id="rId44"/>
    <p:sldId id="319" r:id="rId45"/>
    <p:sldId id="320" r:id="rId46"/>
    <p:sldId id="322" r:id="rId47"/>
    <p:sldId id="321" r:id="rId48"/>
    <p:sldId id="323" r:id="rId49"/>
    <p:sldId id="277" r:id="rId50"/>
    <p:sldId id="326" r:id="rId51"/>
    <p:sldId id="325" r:id="rId52"/>
    <p:sldId id="335" r:id="rId53"/>
    <p:sldId id="368" r:id="rId54"/>
    <p:sldId id="301" r:id="rId55"/>
    <p:sldId id="369" r:id="rId56"/>
    <p:sldId id="370" r:id="rId57"/>
    <p:sldId id="371" r:id="rId58"/>
    <p:sldId id="372" r:id="rId59"/>
    <p:sldId id="373" r:id="rId60"/>
    <p:sldId id="374" r:id="rId61"/>
    <p:sldId id="334" r:id="rId62"/>
    <p:sldId id="401" r:id="rId63"/>
    <p:sldId id="380" r:id="rId64"/>
    <p:sldId id="377" r:id="rId65"/>
    <p:sldId id="378" r:id="rId66"/>
    <p:sldId id="379" r:id="rId67"/>
    <p:sldId id="294" r:id="rId68"/>
    <p:sldId id="297" r:id="rId69"/>
    <p:sldId id="381" r:id="rId70"/>
    <p:sldId id="382" r:id="rId71"/>
    <p:sldId id="383" r:id="rId72"/>
    <p:sldId id="402" r:id="rId73"/>
    <p:sldId id="278" r:id="rId74"/>
    <p:sldId id="384" r:id="rId75"/>
    <p:sldId id="386" r:id="rId76"/>
    <p:sldId id="270" r:id="rId77"/>
    <p:sldId id="387" r:id="rId78"/>
    <p:sldId id="388" r:id="rId79"/>
    <p:sldId id="393" r:id="rId80"/>
    <p:sldId id="394" r:id="rId81"/>
    <p:sldId id="336" r:id="rId82"/>
    <p:sldId id="274" r:id="rId8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508480-FF70-98D2-FF6E-62C43C6473D8}" v="523" dt="2026-01-06T19:21:10.5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microsoft.com/office/2016/11/relationships/changesInfo" Target="changesInfos/changesInfo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9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kela Papadopoulou" userId="S::nikela.papadopoulou@glasgow.ac.uk::c442addc-b726-4e5b-a68e-b877e21a754f" providerId="AD" clId="Web-{2C508480-FF70-98D2-FF6E-62C43C6473D8}"/>
    <pc:docChg chg="addSld delSld modSld sldOrd">
      <pc:chgData name="Nikela Papadopoulou" userId="S::nikela.papadopoulou@glasgow.ac.uk::c442addc-b726-4e5b-a68e-b877e21a754f" providerId="AD" clId="Web-{2C508480-FF70-98D2-FF6E-62C43C6473D8}" dt="2026-01-06T19:21:10.504" v="641"/>
      <pc:docMkLst>
        <pc:docMk/>
      </pc:docMkLst>
      <pc:sldChg chg="modSp">
        <pc:chgData name="Nikela Papadopoulou" userId="S::nikela.papadopoulou@glasgow.ac.uk::c442addc-b726-4e5b-a68e-b877e21a754f" providerId="AD" clId="Web-{2C508480-FF70-98D2-FF6E-62C43C6473D8}" dt="2026-01-06T18:43:27.770" v="286" actId="20577"/>
        <pc:sldMkLst>
          <pc:docMk/>
          <pc:sldMk cId="1403687219" sldId="258"/>
        </pc:sldMkLst>
        <pc:spChg chg="mod">
          <ac:chgData name="Nikela Papadopoulou" userId="S::nikela.papadopoulou@glasgow.ac.uk::c442addc-b726-4e5b-a68e-b877e21a754f" providerId="AD" clId="Web-{2C508480-FF70-98D2-FF6E-62C43C6473D8}" dt="2026-01-06T18:43:27.770" v="286" actId="20577"/>
          <ac:spMkLst>
            <pc:docMk/>
            <pc:sldMk cId="1403687219" sldId="258"/>
            <ac:spMk id="2" creationId="{00000000-0000-0000-0000-000000000000}"/>
          </ac:spMkLst>
        </pc:spChg>
      </pc:sldChg>
      <pc:sldChg chg="ord">
        <pc:chgData name="Nikela Papadopoulou" userId="S::nikela.papadopoulou@glasgow.ac.uk::c442addc-b726-4e5b-a68e-b877e21a754f" providerId="AD" clId="Web-{2C508480-FF70-98D2-FF6E-62C43C6473D8}" dt="2026-01-06T18:47:22.376" v="303"/>
        <pc:sldMkLst>
          <pc:docMk/>
          <pc:sldMk cId="1904638504" sldId="308"/>
        </pc:sldMkLst>
      </pc:sldChg>
      <pc:sldChg chg="modSp">
        <pc:chgData name="Nikela Papadopoulou" userId="S::nikela.papadopoulou@glasgow.ac.uk::c442addc-b726-4e5b-a68e-b877e21a754f" providerId="AD" clId="Web-{2C508480-FF70-98D2-FF6E-62C43C6473D8}" dt="2026-01-06T18:44:02.755" v="293" actId="20577"/>
        <pc:sldMkLst>
          <pc:docMk/>
          <pc:sldMk cId="2961786555" sldId="310"/>
        </pc:sldMkLst>
        <pc:spChg chg="mod">
          <ac:chgData name="Nikela Papadopoulou" userId="S::nikela.papadopoulou@glasgow.ac.uk::c442addc-b726-4e5b-a68e-b877e21a754f" providerId="AD" clId="Web-{2C508480-FF70-98D2-FF6E-62C43C6473D8}" dt="2026-01-06T18:44:02.755" v="293" actId="20577"/>
          <ac:spMkLst>
            <pc:docMk/>
            <pc:sldMk cId="2961786555" sldId="310"/>
            <ac:spMk id="2" creationId="{00000000-0000-0000-0000-000000000000}"/>
          </ac:spMkLst>
        </pc:spChg>
      </pc:sldChg>
      <pc:sldChg chg="modSp">
        <pc:chgData name="Nikela Papadopoulou" userId="S::nikela.papadopoulou@glasgow.ac.uk::c442addc-b726-4e5b-a68e-b877e21a754f" providerId="AD" clId="Web-{2C508480-FF70-98D2-FF6E-62C43C6473D8}" dt="2026-01-06T18:25:46.399" v="147" actId="20577"/>
        <pc:sldMkLst>
          <pc:docMk/>
          <pc:sldMk cId="2317756204" sldId="336"/>
        </pc:sldMkLst>
        <pc:spChg chg="mod">
          <ac:chgData name="Nikela Papadopoulou" userId="S::nikela.papadopoulou@glasgow.ac.uk::c442addc-b726-4e5b-a68e-b877e21a754f" providerId="AD" clId="Web-{2C508480-FF70-98D2-FF6E-62C43C6473D8}" dt="2026-01-06T18:25:46.399" v="147" actId="20577"/>
          <ac:spMkLst>
            <pc:docMk/>
            <pc:sldMk cId="2317756204" sldId="336"/>
            <ac:spMk id="4" creationId="{869D752E-CBF7-0D49-ACF8-10938FE5E030}"/>
          </ac:spMkLst>
        </pc:spChg>
        <pc:spChg chg="mod">
          <ac:chgData name="Nikela Papadopoulou" userId="S::nikela.papadopoulou@glasgow.ac.uk::c442addc-b726-4e5b-a68e-b877e21a754f" providerId="AD" clId="Web-{2C508480-FF70-98D2-FF6E-62C43C6473D8}" dt="2026-01-06T18:25:43.930" v="145" actId="20577"/>
          <ac:spMkLst>
            <pc:docMk/>
            <pc:sldMk cId="2317756204" sldId="336"/>
            <ac:spMk id="6" creationId="{8E5DF390-524B-E945-8C67-30736AF66B56}"/>
          </ac:spMkLst>
        </pc:spChg>
      </pc:sldChg>
      <pc:sldChg chg="modSp">
        <pc:chgData name="Nikela Papadopoulou" userId="S::nikela.papadopoulou@glasgow.ac.uk::c442addc-b726-4e5b-a68e-b877e21a754f" providerId="AD" clId="Web-{2C508480-FF70-98D2-FF6E-62C43C6473D8}" dt="2026-01-06T17:39:24.257" v="58" actId="20577"/>
        <pc:sldMkLst>
          <pc:docMk/>
          <pc:sldMk cId="1503618226" sldId="381"/>
        </pc:sldMkLst>
        <pc:spChg chg="mod">
          <ac:chgData name="Nikela Papadopoulou" userId="S::nikela.papadopoulou@glasgow.ac.uk::c442addc-b726-4e5b-a68e-b877e21a754f" providerId="AD" clId="Web-{2C508480-FF70-98D2-FF6E-62C43C6473D8}" dt="2026-01-06T17:39:24.257" v="58" actId="20577"/>
          <ac:spMkLst>
            <pc:docMk/>
            <pc:sldMk cId="1503618226" sldId="381"/>
            <ac:spMk id="3" creationId="{9EBB177A-363B-7E40-B588-2DBA1A228299}"/>
          </ac:spMkLst>
        </pc:spChg>
      </pc:sldChg>
      <pc:sldChg chg="addSp delSp modSp">
        <pc:chgData name="Nikela Papadopoulou" userId="S::nikela.papadopoulou@glasgow.ac.uk::c442addc-b726-4e5b-a68e-b877e21a754f" providerId="AD" clId="Web-{2C508480-FF70-98D2-FF6E-62C43C6473D8}" dt="2026-01-06T19:21:10.504" v="641"/>
        <pc:sldMkLst>
          <pc:docMk/>
          <pc:sldMk cId="986389508" sldId="397"/>
        </pc:sldMkLst>
        <pc:spChg chg="mod">
          <ac:chgData name="Nikela Papadopoulou" userId="S::nikela.papadopoulou@glasgow.ac.uk::c442addc-b726-4e5b-a68e-b877e21a754f" providerId="AD" clId="Web-{2C508480-FF70-98D2-FF6E-62C43C6473D8}" dt="2026-01-06T18:43:58.224" v="290" actId="20577"/>
          <ac:spMkLst>
            <pc:docMk/>
            <pc:sldMk cId="986389508" sldId="397"/>
            <ac:spMk id="2" creationId="{00000000-0000-0000-0000-000000000000}"/>
          </ac:spMkLst>
        </pc:spChg>
        <pc:spChg chg="mod">
          <ac:chgData name="Nikela Papadopoulou" userId="S::nikela.papadopoulou@glasgow.ac.uk::c442addc-b726-4e5b-a68e-b877e21a754f" providerId="AD" clId="Web-{2C508480-FF70-98D2-FF6E-62C43C6473D8}" dt="2026-01-06T19:19:31.546" v="637" actId="20577"/>
          <ac:spMkLst>
            <pc:docMk/>
            <pc:sldMk cId="986389508" sldId="397"/>
            <ac:spMk id="3" creationId="{00000000-0000-0000-0000-000000000000}"/>
          </ac:spMkLst>
        </pc:spChg>
        <pc:picChg chg="add del mod">
          <ac:chgData name="Nikela Papadopoulou" userId="S::nikela.papadopoulou@glasgow.ac.uk::c442addc-b726-4e5b-a68e-b877e21a754f" providerId="AD" clId="Web-{2C508480-FF70-98D2-FF6E-62C43C6473D8}" dt="2026-01-06T19:21:10.504" v="641"/>
          <ac:picMkLst>
            <pc:docMk/>
            <pc:sldMk cId="986389508" sldId="397"/>
            <ac:picMk id="4" creationId="{8D9EF1D7-0773-1CEB-641C-CF6DD404F171}"/>
          </ac:picMkLst>
        </pc:picChg>
      </pc:sldChg>
      <pc:sldChg chg="modSp">
        <pc:chgData name="Nikela Papadopoulou" userId="S::nikela.papadopoulou@glasgow.ac.uk::c442addc-b726-4e5b-a68e-b877e21a754f" providerId="AD" clId="Web-{2C508480-FF70-98D2-FF6E-62C43C6473D8}" dt="2026-01-06T18:26:31.165" v="176" actId="20577"/>
        <pc:sldMkLst>
          <pc:docMk/>
          <pc:sldMk cId="2750777792" sldId="400"/>
        </pc:sldMkLst>
        <pc:spChg chg="mod">
          <ac:chgData name="Nikela Papadopoulou" userId="S::nikela.papadopoulou@glasgow.ac.uk::c442addc-b726-4e5b-a68e-b877e21a754f" providerId="AD" clId="Web-{2C508480-FF70-98D2-FF6E-62C43C6473D8}" dt="2026-01-06T18:26:31.165" v="176" actId="20577"/>
          <ac:spMkLst>
            <pc:docMk/>
            <pc:sldMk cId="2750777792" sldId="400"/>
            <ac:spMk id="3" creationId="{04B1DE5B-D29F-61B7-5B95-D09D3792B14D}"/>
          </ac:spMkLst>
        </pc:spChg>
      </pc:sldChg>
      <pc:sldChg chg="modSp add replId">
        <pc:chgData name="Nikela Papadopoulou" userId="S::nikela.papadopoulou@glasgow.ac.uk::c442addc-b726-4e5b-a68e-b877e21a754f" providerId="AD" clId="Web-{2C508480-FF70-98D2-FF6E-62C43C6473D8}" dt="2026-01-06T17:42:43.139" v="138" actId="20577"/>
        <pc:sldMkLst>
          <pc:docMk/>
          <pc:sldMk cId="1973463992" sldId="402"/>
        </pc:sldMkLst>
        <pc:spChg chg="mod">
          <ac:chgData name="Nikela Papadopoulou" userId="S::nikela.papadopoulou@glasgow.ac.uk::c442addc-b726-4e5b-a68e-b877e21a754f" providerId="AD" clId="Web-{2C508480-FF70-98D2-FF6E-62C43C6473D8}" dt="2026-01-06T17:39:38.320" v="63" actId="20577"/>
          <ac:spMkLst>
            <pc:docMk/>
            <pc:sldMk cId="1973463992" sldId="402"/>
            <ac:spMk id="2" creationId="{D43C76BA-9AE5-B878-C191-30282AEE420F}"/>
          </ac:spMkLst>
        </pc:spChg>
        <pc:spChg chg="mod">
          <ac:chgData name="Nikela Papadopoulou" userId="S::nikela.papadopoulou@glasgow.ac.uk::c442addc-b726-4e5b-a68e-b877e21a754f" providerId="AD" clId="Web-{2C508480-FF70-98D2-FF6E-62C43C6473D8}" dt="2026-01-06T17:42:43.139" v="138" actId="20577"/>
          <ac:spMkLst>
            <pc:docMk/>
            <pc:sldMk cId="1973463992" sldId="402"/>
            <ac:spMk id="3" creationId="{ABBDCBE1-2B45-3335-7B7B-4827EB6374A5}"/>
          </ac:spMkLst>
        </pc:spChg>
      </pc:sldChg>
      <pc:sldChg chg="addSp delSp modSp add del replId">
        <pc:chgData name="Nikela Papadopoulou" userId="S::nikela.papadopoulou@glasgow.ac.uk::c442addc-b726-4e5b-a68e-b877e21a754f" providerId="AD" clId="Web-{2C508480-FF70-98D2-FF6E-62C43C6473D8}" dt="2026-01-06T18:39:22.237" v="224"/>
        <pc:sldMkLst>
          <pc:docMk/>
          <pc:sldMk cId="3810318140" sldId="403"/>
        </pc:sldMkLst>
        <pc:graphicFrameChg chg="mod modVis modGraphic">
          <ac:chgData name="Nikela Papadopoulou" userId="S::nikela.papadopoulou@glasgow.ac.uk::c442addc-b726-4e5b-a68e-b877e21a754f" providerId="AD" clId="Web-{2C508480-FF70-98D2-FF6E-62C43C6473D8}" dt="2026-01-06T18:39:09.893" v="222"/>
          <ac:graphicFrameMkLst>
            <pc:docMk/>
            <pc:sldMk cId="3810318140" sldId="403"/>
            <ac:graphicFrameMk id="24" creationId="{B563049F-9967-EAC5-4DC5-E0039BCDB6CE}"/>
          </ac:graphicFrameMkLst>
        </pc:graphicFrameChg>
        <pc:graphicFrameChg chg="add del">
          <ac:chgData name="Nikela Papadopoulou" userId="S::nikela.papadopoulou@glasgow.ac.uk::c442addc-b726-4e5b-a68e-b877e21a754f" providerId="AD" clId="Web-{2C508480-FF70-98D2-FF6E-62C43C6473D8}" dt="2026-01-06T18:37:46.079" v="217"/>
          <ac:graphicFrameMkLst>
            <pc:docMk/>
            <pc:sldMk cId="3810318140" sldId="403"/>
            <ac:graphicFrameMk id="771" creationId="{FA158601-9D15-A6E8-D158-B7611B7996F4}"/>
          </ac:graphicFrameMkLst>
        </pc:graphicFrameChg>
      </pc:sldChg>
      <pc:sldChg chg="modSp add ord replId">
        <pc:chgData name="Nikela Papadopoulou" userId="S::nikela.papadopoulou@glasgow.ac.uk::c442addc-b726-4e5b-a68e-b877e21a754f" providerId="AD" clId="Web-{2C508480-FF70-98D2-FF6E-62C43C6473D8}" dt="2026-01-06T18:59:28.264" v="397"/>
        <pc:sldMkLst>
          <pc:docMk/>
          <pc:sldMk cId="4166156299" sldId="404"/>
        </pc:sldMkLst>
        <pc:graphicFrameChg chg="modGraphic">
          <ac:chgData name="Nikela Papadopoulou" userId="S::nikela.papadopoulou@glasgow.ac.uk::c442addc-b726-4e5b-a68e-b877e21a754f" providerId="AD" clId="Web-{2C508480-FF70-98D2-FF6E-62C43C6473D8}" dt="2026-01-06T18:47:07.672" v="302" actId="20577"/>
          <ac:graphicFrameMkLst>
            <pc:docMk/>
            <pc:sldMk cId="4166156299" sldId="404"/>
            <ac:graphicFrameMk id="24" creationId="{E2357668-E0BB-C6EA-66E9-B637F3B5B88A}"/>
          </ac:graphicFrameMkLst>
        </pc:graphicFrameChg>
      </pc:sldChg>
      <pc:sldChg chg="addSp delSp modSp new mod modClrScheme chgLayout">
        <pc:chgData name="Nikela Papadopoulou" userId="S::nikela.papadopoulou@glasgow.ac.uk::c442addc-b726-4e5b-a68e-b877e21a754f" providerId="AD" clId="Web-{2C508480-FF70-98D2-FF6E-62C43C6473D8}" dt="2026-01-06T19:12:19.396" v="558" actId="14100"/>
        <pc:sldMkLst>
          <pc:docMk/>
          <pc:sldMk cId="1423572447" sldId="405"/>
        </pc:sldMkLst>
        <pc:spChg chg="mod ord">
          <ac:chgData name="Nikela Papadopoulou" userId="S::nikela.papadopoulou@glasgow.ac.uk::c442addc-b726-4e5b-a68e-b877e21a754f" providerId="AD" clId="Web-{2C508480-FF70-98D2-FF6E-62C43C6473D8}" dt="2026-01-06T18:59:42.780" v="406" actId="20577"/>
          <ac:spMkLst>
            <pc:docMk/>
            <pc:sldMk cId="1423572447" sldId="405"/>
            <ac:spMk id="2" creationId="{958D24CC-DA86-DCFB-278A-40685CD62F0D}"/>
          </ac:spMkLst>
        </pc:spChg>
        <pc:spChg chg="del mod ord">
          <ac:chgData name="Nikela Papadopoulou" userId="S::nikela.papadopoulou@glasgow.ac.uk::c442addc-b726-4e5b-a68e-b877e21a754f" providerId="AD" clId="Web-{2C508480-FF70-98D2-FF6E-62C43C6473D8}" dt="2026-01-06T18:55:04.371" v="313"/>
          <ac:spMkLst>
            <pc:docMk/>
            <pc:sldMk cId="1423572447" sldId="405"/>
            <ac:spMk id="3" creationId="{EE33FC9B-5E54-6734-8288-50F507D9F1C5}"/>
          </ac:spMkLst>
        </pc:spChg>
        <pc:spChg chg="add mod ord">
          <ac:chgData name="Nikela Papadopoulou" userId="S::nikela.papadopoulou@glasgow.ac.uk::c442addc-b726-4e5b-a68e-b877e21a754f" providerId="AD" clId="Web-{2C508480-FF70-98D2-FF6E-62C43C6473D8}" dt="2026-01-06T19:02:44.788" v="453"/>
          <ac:spMkLst>
            <pc:docMk/>
            <pc:sldMk cId="1423572447" sldId="405"/>
            <ac:spMk id="4" creationId="{0370A0B5-3068-E10E-E0BB-0EC8549EF483}"/>
          </ac:spMkLst>
        </pc:spChg>
        <pc:spChg chg="add del mod">
          <ac:chgData name="Nikela Papadopoulou" userId="S::nikela.papadopoulou@glasgow.ac.uk::c442addc-b726-4e5b-a68e-b877e21a754f" providerId="AD" clId="Web-{2C508480-FF70-98D2-FF6E-62C43C6473D8}" dt="2026-01-06T19:00:23.545" v="408"/>
          <ac:spMkLst>
            <pc:docMk/>
            <pc:sldMk cId="1423572447" sldId="405"/>
            <ac:spMk id="8" creationId="{17629AF2-7F6E-6F24-7DBE-B89DD2CBE6D1}"/>
          </ac:spMkLst>
        </pc:spChg>
        <pc:spChg chg="add mod">
          <ac:chgData name="Nikela Papadopoulou" userId="S::nikela.papadopoulou@glasgow.ac.uk::c442addc-b726-4e5b-a68e-b877e21a754f" providerId="AD" clId="Web-{2C508480-FF70-98D2-FF6E-62C43C6473D8}" dt="2026-01-06T19:02:08.707" v="447" actId="20577"/>
          <ac:spMkLst>
            <pc:docMk/>
            <pc:sldMk cId="1423572447" sldId="405"/>
            <ac:spMk id="10" creationId="{8EEF2720-4E1B-84EA-3CFB-D5348B6B96B4}"/>
          </ac:spMkLst>
        </pc:spChg>
        <pc:spChg chg="add mod">
          <ac:chgData name="Nikela Papadopoulou" userId="S::nikela.papadopoulou@glasgow.ac.uk::c442addc-b726-4e5b-a68e-b877e21a754f" providerId="AD" clId="Web-{2C508480-FF70-98D2-FF6E-62C43C6473D8}" dt="2026-01-06T19:10:34.223" v="513" actId="1076"/>
          <ac:spMkLst>
            <pc:docMk/>
            <pc:sldMk cId="1423572447" sldId="405"/>
            <ac:spMk id="12" creationId="{08E80593-C7C8-DCCE-CD2F-14F5FDD8EB2F}"/>
          </ac:spMkLst>
        </pc:spChg>
        <pc:spChg chg="add del mod">
          <ac:chgData name="Nikela Papadopoulou" userId="S::nikela.papadopoulou@glasgow.ac.uk::c442addc-b726-4e5b-a68e-b877e21a754f" providerId="AD" clId="Web-{2C508480-FF70-98D2-FF6E-62C43C6473D8}" dt="2026-01-06T19:11:08.567" v="523"/>
          <ac:spMkLst>
            <pc:docMk/>
            <pc:sldMk cId="1423572447" sldId="405"/>
            <ac:spMk id="15" creationId="{D9D3432A-84D8-78EF-4D3C-EB77A8D62304}"/>
          </ac:spMkLst>
        </pc:spChg>
        <pc:spChg chg="add del mod">
          <ac:chgData name="Nikela Papadopoulou" userId="S::nikela.papadopoulou@glasgow.ac.uk::c442addc-b726-4e5b-a68e-b877e21a754f" providerId="AD" clId="Web-{2C508480-FF70-98D2-FF6E-62C43C6473D8}" dt="2026-01-06T19:11:10.583" v="524"/>
          <ac:spMkLst>
            <pc:docMk/>
            <pc:sldMk cId="1423572447" sldId="405"/>
            <ac:spMk id="16" creationId="{499C4012-A105-E41D-4E67-2DBAF301CF9E}"/>
          </ac:spMkLst>
        </pc:spChg>
        <pc:graphicFrameChg chg="add mod modGraphic">
          <ac:chgData name="Nikela Papadopoulou" userId="S::nikela.papadopoulou@glasgow.ac.uk::c442addc-b726-4e5b-a68e-b877e21a754f" providerId="AD" clId="Web-{2C508480-FF70-98D2-FF6E-62C43C6473D8}" dt="2026-01-06T19:12:19.396" v="558" actId="14100"/>
          <ac:graphicFrameMkLst>
            <pc:docMk/>
            <pc:sldMk cId="1423572447" sldId="405"/>
            <ac:graphicFrameMk id="17" creationId="{37308918-3FB8-3461-587D-B558908B2CDF}"/>
          </ac:graphicFrameMkLst>
        </pc:graphicFrameChg>
        <pc:picChg chg="add del mod ord modCrop">
          <ac:chgData name="Nikela Papadopoulou" userId="S::nikela.papadopoulou@glasgow.ac.uk::c442addc-b726-4e5b-a68e-b877e21a754f" providerId="AD" clId="Web-{2C508480-FF70-98D2-FF6E-62C43C6473D8}" dt="2026-01-06T19:00:28.967" v="410"/>
          <ac:picMkLst>
            <pc:docMk/>
            <pc:sldMk cId="1423572447" sldId="405"/>
            <ac:picMk id="5" creationId="{BE2A2446-029D-6C21-5797-F2CCB1744B68}"/>
          </ac:picMkLst>
        </pc:picChg>
        <pc:picChg chg="add del mod">
          <ac:chgData name="Nikela Papadopoulou" userId="S::nikela.papadopoulou@glasgow.ac.uk::c442addc-b726-4e5b-a68e-b877e21a754f" providerId="AD" clId="Web-{2C508480-FF70-98D2-FF6E-62C43C6473D8}" dt="2026-01-06T19:00:27.967" v="409"/>
          <ac:picMkLst>
            <pc:docMk/>
            <pc:sldMk cId="1423572447" sldId="405"/>
            <ac:picMk id="6" creationId="{F25E4DA5-7F35-A4B4-A15D-932C1AFB614F}"/>
          </ac:picMkLst>
        </pc:picChg>
        <pc:picChg chg="add mod">
          <ac:chgData name="Nikela Papadopoulou" userId="S::nikela.papadopoulou@glasgow.ac.uk::c442addc-b726-4e5b-a68e-b877e21a754f" providerId="AD" clId="Web-{2C508480-FF70-98D2-FF6E-62C43C6473D8}" dt="2026-01-06T19:10:28.145" v="511" actId="1076"/>
          <ac:picMkLst>
            <pc:docMk/>
            <pc:sldMk cId="1423572447" sldId="405"/>
            <ac:picMk id="11" creationId="{2423C704-A4AA-A78C-908F-87BE8BB3D163}"/>
          </ac:picMkLst>
        </pc:picChg>
        <pc:picChg chg="add mod">
          <ac:chgData name="Nikela Papadopoulou" userId="S::nikela.papadopoulou@glasgow.ac.uk::c442addc-b726-4e5b-a68e-b877e21a754f" providerId="AD" clId="Web-{2C508480-FF70-98D2-FF6E-62C43C6473D8}" dt="2026-01-06T19:10:30.801" v="512" actId="1076"/>
          <ac:picMkLst>
            <pc:docMk/>
            <pc:sldMk cId="1423572447" sldId="405"/>
            <ac:picMk id="14" creationId="{8BE1BD76-9F34-2B0A-C564-C3A97EF89FCE}"/>
          </ac:picMkLst>
        </pc:picChg>
      </pc:sldChg>
      <pc:sldChg chg="modSp add ord replId modNotes">
        <pc:chgData name="Nikela Papadopoulou" userId="S::nikela.papadopoulou@glasgow.ac.uk::c442addc-b726-4e5b-a68e-b877e21a754f" providerId="AD" clId="Web-{2C508480-FF70-98D2-FF6E-62C43C6473D8}" dt="2026-01-06T18:59:36.998" v="398"/>
        <pc:sldMkLst>
          <pc:docMk/>
          <pc:sldMk cId="3544332452" sldId="406"/>
        </pc:sldMkLst>
        <pc:spChg chg="mod">
          <ac:chgData name="Nikela Papadopoulou" userId="S::nikela.papadopoulou@glasgow.ac.uk::c442addc-b726-4e5b-a68e-b877e21a754f" providerId="AD" clId="Web-{2C508480-FF70-98D2-FF6E-62C43C6473D8}" dt="2026-01-06T18:58:48.607" v="378" actId="14100"/>
          <ac:spMkLst>
            <pc:docMk/>
            <pc:sldMk cId="3544332452" sldId="406"/>
            <ac:spMk id="8" creationId="{32AA89BC-711A-4B29-1B85-4D10106F9E14}"/>
          </ac:spMkLst>
        </pc:spChg>
      </pc:sldChg>
      <pc:sldChg chg="delSp modSp add del replId">
        <pc:chgData name="Nikela Papadopoulou" userId="S::nikela.papadopoulou@glasgow.ac.uk::c442addc-b726-4e5b-a68e-b877e21a754f" providerId="AD" clId="Web-{2C508480-FF70-98D2-FF6E-62C43C6473D8}" dt="2026-01-06T19:15:25.258" v="568"/>
        <pc:sldMkLst>
          <pc:docMk/>
          <pc:sldMk cId="568852158" sldId="407"/>
        </pc:sldMkLst>
        <pc:spChg chg="mod">
          <ac:chgData name="Nikela Papadopoulou" userId="S::nikela.papadopoulou@glasgow.ac.uk::c442addc-b726-4e5b-a68e-b877e21a754f" providerId="AD" clId="Web-{2C508480-FF70-98D2-FF6E-62C43C6473D8}" dt="2026-01-06T19:14:19.726" v="562" actId="20577"/>
          <ac:spMkLst>
            <pc:docMk/>
            <pc:sldMk cId="568852158" sldId="407"/>
            <ac:spMk id="2" creationId="{F144FBAE-51E8-6B87-D524-63FD43832CA5}"/>
          </ac:spMkLst>
        </pc:spChg>
        <pc:spChg chg="del mod">
          <ac:chgData name="Nikela Papadopoulou" userId="S::nikela.papadopoulou@glasgow.ac.uk::c442addc-b726-4e5b-a68e-b877e21a754f" providerId="AD" clId="Web-{2C508480-FF70-98D2-FF6E-62C43C6473D8}" dt="2026-01-06T19:15:24.023" v="567"/>
          <ac:spMkLst>
            <pc:docMk/>
            <pc:sldMk cId="568852158" sldId="407"/>
            <ac:spMk id="12" creationId="{BC272B83-8A7A-28C2-2EA2-5638D4BAA79F}"/>
          </ac:spMkLst>
        </pc:spChg>
        <pc:graphicFrameChg chg="del">
          <ac:chgData name="Nikela Papadopoulou" userId="S::nikela.papadopoulou@glasgow.ac.uk::c442addc-b726-4e5b-a68e-b877e21a754f" providerId="AD" clId="Web-{2C508480-FF70-98D2-FF6E-62C43C6473D8}" dt="2026-01-06T19:14:27.366" v="564"/>
          <ac:graphicFrameMkLst>
            <pc:docMk/>
            <pc:sldMk cId="568852158" sldId="407"/>
            <ac:graphicFrameMk id="17" creationId="{F10D40A7-2227-C1C0-CEFA-1A4626D0D5B6}"/>
          </ac:graphicFrameMkLst>
        </pc:graphicFrameChg>
        <pc:picChg chg="del">
          <ac:chgData name="Nikela Papadopoulou" userId="S::nikela.papadopoulou@glasgow.ac.uk::c442addc-b726-4e5b-a68e-b877e21a754f" providerId="AD" clId="Web-{2C508480-FF70-98D2-FF6E-62C43C6473D8}" dt="2026-01-06T19:14:24.179" v="563"/>
          <ac:picMkLst>
            <pc:docMk/>
            <pc:sldMk cId="568852158" sldId="407"/>
            <ac:picMk id="11" creationId="{EEB1EBFD-861A-632A-DD11-D81510F153E3}"/>
          </ac:picMkLst>
        </pc:picChg>
        <pc:picChg chg="del">
          <ac:chgData name="Nikela Papadopoulou" userId="S::nikela.papadopoulou@glasgow.ac.uk::c442addc-b726-4e5b-a68e-b877e21a754f" providerId="AD" clId="Web-{2C508480-FF70-98D2-FF6E-62C43C6473D8}" dt="2026-01-06T19:14:28.257" v="565"/>
          <ac:picMkLst>
            <pc:docMk/>
            <pc:sldMk cId="568852158" sldId="407"/>
            <ac:picMk id="14" creationId="{D547638F-7F6C-EBC7-864E-05DF1D1D5273}"/>
          </ac:picMkLst>
        </pc:picChg>
      </pc:sldChg>
      <pc:sldChg chg="addSp delSp modSp new">
        <pc:chgData name="Nikela Papadopoulou" userId="S::nikela.papadopoulou@glasgow.ac.uk::c442addc-b726-4e5b-a68e-b877e21a754f" providerId="AD" clId="Web-{2C508480-FF70-98D2-FF6E-62C43C6473D8}" dt="2026-01-06T19:19:18.733" v="635" actId="20577"/>
        <pc:sldMkLst>
          <pc:docMk/>
          <pc:sldMk cId="3135206001" sldId="407"/>
        </pc:sldMkLst>
        <pc:spChg chg="mod">
          <ac:chgData name="Nikela Papadopoulou" userId="S::nikela.papadopoulou@glasgow.ac.uk::c442addc-b726-4e5b-a68e-b877e21a754f" providerId="AD" clId="Web-{2C508480-FF70-98D2-FF6E-62C43C6473D8}" dt="2026-01-06T19:15:41.758" v="579" actId="20577"/>
          <ac:spMkLst>
            <pc:docMk/>
            <pc:sldMk cId="3135206001" sldId="407"/>
            <ac:spMk id="2" creationId="{8F378F9B-7CE3-C675-9BAE-F01058FC419F}"/>
          </ac:spMkLst>
        </pc:spChg>
        <pc:spChg chg="mod">
          <ac:chgData name="Nikela Papadopoulou" userId="S::nikela.papadopoulou@glasgow.ac.uk::c442addc-b726-4e5b-a68e-b877e21a754f" providerId="AD" clId="Web-{2C508480-FF70-98D2-FF6E-62C43C6473D8}" dt="2026-01-06T19:18:57.716" v="621" actId="20577"/>
          <ac:spMkLst>
            <pc:docMk/>
            <pc:sldMk cId="3135206001" sldId="407"/>
            <ac:spMk id="3" creationId="{5C22D44A-528F-B255-0947-E20F14DB9E2A}"/>
          </ac:spMkLst>
        </pc:spChg>
        <pc:spChg chg="del mod">
          <ac:chgData name="Nikela Papadopoulou" userId="S::nikela.papadopoulou@glasgow.ac.uk::c442addc-b726-4e5b-a68e-b877e21a754f" providerId="AD" clId="Web-{2C508480-FF70-98D2-FF6E-62C43C6473D8}" dt="2026-01-06T19:16:35.618" v="598"/>
          <ac:spMkLst>
            <pc:docMk/>
            <pc:sldMk cId="3135206001" sldId="407"/>
            <ac:spMk id="4" creationId="{F38F9586-64FB-44D4-CAD7-16F993B474A7}"/>
          </ac:spMkLst>
        </pc:spChg>
        <pc:spChg chg="add mod">
          <ac:chgData name="Nikela Papadopoulou" userId="S::nikela.papadopoulou@glasgow.ac.uk::c442addc-b726-4e5b-a68e-b877e21a754f" providerId="AD" clId="Web-{2C508480-FF70-98D2-FF6E-62C43C6473D8}" dt="2026-01-06T19:19:00.560" v="622" actId="20577"/>
          <ac:spMkLst>
            <pc:docMk/>
            <pc:sldMk cId="3135206001" sldId="407"/>
            <ac:spMk id="7" creationId="{04F933C4-89D2-B8CF-77E1-948C337F2919}"/>
          </ac:spMkLst>
        </pc:spChg>
        <pc:spChg chg="add mod">
          <ac:chgData name="Nikela Papadopoulou" userId="S::nikela.papadopoulou@glasgow.ac.uk::c442addc-b726-4e5b-a68e-b877e21a754f" providerId="AD" clId="Web-{2C508480-FF70-98D2-FF6E-62C43C6473D8}" dt="2026-01-06T19:19:18.733" v="635" actId="20577"/>
          <ac:spMkLst>
            <pc:docMk/>
            <pc:sldMk cId="3135206001" sldId="407"/>
            <ac:spMk id="9" creationId="{8B9B2C28-87B2-4CDF-E134-75065CB90099}"/>
          </ac:spMkLst>
        </pc:spChg>
        <pc:picChg chg="add mod">
          <ac:chgData name="Nikela Papadopoulou" userId="S::nikela.papadopoulou@glasgow.ac.uk::c442addc-b726-4e5b-a68e-b877e21a754f" providerId="AD" clId="Web-{2C508480-FF70-98D2-FF6E-62C43C6473D8}" dt="2026-01-06T19:17:04.165" v="602" actId="1076"/>
          <ac:picMkLst>
            <pc:docMk/>
            <pc:sldMk cId="3135206001" sldId="407"/>
            <ac:picMk id="5" creationId="{CCE8A671-ABB8-A8B6-EB7A-F84E0EB45DF3}"/>
          </ac:picMkLst>
        </pc:picChg>
        <pc:picChg chg="add mod">
          <ac:chgData name="Nikela Papadopoulou" userId="S::nikela.papadopoulou@glasgow.ac.uk::c442addc-b726-4e5b-a68e-b877e21a754f" providerId="AD" clId="Web-{2C508480-FF70-98D2-FF6E-62C43C6473D8}" dt="2026-01-06T19:18:32.840" v="615" actId="1076"/>
          <ac:picMkLst>
            <pc:docMk/>
            <pc:sldMk cId="3135206001" sldId="407"/>
            <ac:picMk id="8" creationId="{97EC6662-4A2E-ECE2-82C3-5121BF3DFE32}"/>
          </ac:picMkLst>
        </pc:picChg>
        <pc:picChg chg="add mod">
          <ac:chgData name="Nikela Papadopoulou" userId="S::nikela.papadopoulou@glasgow.ac.uk::c442addc-b726-4e5b-a68e-b877e21a754f" providerId="AD" clId="Web-{2C508480-FF70-98D2-FF6E-62C43C6473D8}" dt="2026-01-06T19:18:35.355" v="616" actId="1076"/>
          <ac:picMkLst>
            <pc:docMk/>
            <pc:sldMk cId="3135206001" sldId="407"/>
            <ac:picMk id="10" creationId="{E7F19EF5-4458-325A-2E41-39650B89D184}"/>
          </ac:picMkLst>
        </pc:pic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22.svg"/><Relationship Id="rId4" Type="http://schemas.openxmlformats.org/officeDocument/2006/relationships/image" Target="../media/image16.svg"/><Relationship Id="rId9" Type="http://schemas.openxmlformats.org/officeDocument/2006/relationships/image" Target="../media/image21.png"/></Relationships>
</file>

<file path=ppt/diagrams/_rels/data3.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3.png"/><Relationship Id="rId7" Type="http://schemas.openxmlformats.org/officeDocument/2006/relationships/image" Target="../media/image21.png"/><Relationship Id="rId2" Type="http://schemas.openxmlformats.org/officeDocument/2006/relationships/image" Target="../media/image33.svg"/><Relationship Id="rId1" Type="http://schemas.openxmlformats.org/officeDocument/2006/relationships/image" Target="../media/image15.png"/><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35.svg"/><Relationship Id="rId4" Type="http://schemas.openxmlformats.org/officeDocument/2006/relationships/image" Target="../media/image14.svg"/><Relationship Id="rId9" Type="http://schemas.openxmlformats.org/officeDocument/2006/relationships/image" Target="../media/image34.png"/></Relationships>
</file>

<file path=ppt/diagrams/_rels/drawing1.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22.svg"/><Relationship Id="rId4" Type="http://schemas.openxmlformats.org/officeDocument/2006/relationships/image" Target="../media/image16.svg"/><Relationship Id="rId9" Type="http://schemas.openxmlformats.org/officeDocument/2006/relationships/image" Target="../media/image21.png"/></Relationships>
</file>

<file path=ppt/diagrams/_rels/drawing3.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3.png"/><Relationship Id="rId7" Type="http://schemas.openxmlformats.org/officeDocument/2006/relationships/image" Target="../media/image21.png"/><Relationship Id="rId2" Type="http://schemas.openxmlformats.org/officeDocument/2006/relationships/image" Target="../media/image33.svg"/><Relationship Id="rId1" Type="http://schemas.openxmlformats.org/officeDocument/2006/relationships/image" Target="../media/image15.png"/><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35.svg"/><Relationship Id="rId4" Type="http://schemas.openxmlformats.org/officeDocument/2006/relationships/image" Target="../media/image14.svg"/><Relationship Id="rId9" Type="http://schemas.openxmlformats.org/officeDocument/2006/relationships/image" Target="../media/image34.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316D8C-BE1D-41B5-B150-074136307BEA}" type="doc">
      <dgm:prSet loTypeId="urn:microsoft.com/office/officeart/2018/2/layout/IconVerticalSolidList" loCatId="icon" qsTypeId="urn:microsoft.com/office/officeart/2005/8/quickstyle/simple1" qsCatId="simple" csTypeId="urn:microsoft.com/office/officeart/2005/8/colors/colorful1" csCatId="colorful" phldr="1"/>
      <dgm:spPr/>
      <dgm:t>
        <a:bodyPr/>
        <a:lstStyle/>
        <a:p>
          <a:endParaRPr lang="en-US"/>
        </a:p>
      </dgm:t>
    </dgm:pt>
    <dgm:pt modelId="{479C0B61-3025-454C-BC8F-9CAFC9FB61F8}">
      <dgm:prSet/>
      <dgm:spPr/>
      <dgm:t>
        <a:bodyPr/>
        <a:lstStyle/>
        <a:p>
          <a:pPr>
            <a:lnSpc>
              <a:spcPct val="100000"/>
            </a:lnSpc>
          </a:pPr>
          <a:r>
            <a:rPr lang="en-US" b="1" dirty="0">
              <a:latin typeface="Calibri"/>
            </a:rPr>
            <a:t>Software </a:t>
          </a:r>
          <a:r>
            <a:rPr lang="en-US" dirty="0">
              <a:latin typeface="Calibri"/>
            </a:rPr>
            <a:t>that you use on your </a:t>
          </a:r>
          <a:r>
            <a:rPr lang="en-US" b="1" dirty="0">
              <a:latin typeface="Calibri"/>
            </a:rPr>
            <a:t>browser</a:t>
          </a:r>
          <a:endParaRPr lang="en-US" b="1" dirty="0"/>
        </a:p>
      </dgm:t>
    </dgm:pt>
    <dgm:pt modelId="{2C6C3822-4913-4A40-8C3E-69F0E3EAD43E}" type="parTrans" cxnId="{D20B7848-B425-428D-8305-98E0B5DBB6FA}">
      <dgm:prSet/>
      <dgm:spPr/>
      <dgm:t>
        <a:bodyPr/>
        <a:lstStyle/>
        <a:p>
          <a:endParaRPr lang="en-US"/>
        </a:p>
      </dgm:t>
    </dgm:pt>
    <dgm:pt modelId="{B7A26C85-E56B-437A-8B5B-967E5532E391}" type="sibTrans" cxnId="{D20B7848-B425-428D-8305-98E0B5DBB6FA}">
      <dgm:prSet/>
      <dgm:spPr/>
      <dgm:t>
        <a:bodyPr/>
        <a:lstStyle/>
        <a:p>
          <a:endParaRPr lang="en-US"/>
        </a:p>
      </dgm:t>
    </dgm:pt>
    <dgm:pt modelId="{55E53E30-5C86-4491-9A4D-EEFBEBD9B054}">
      <dgm:prSet/>
      <dgm:spPr/>
      <dgm:t>
        <a:bodyPr/>
        <a:lstStyle/>
        <a:p>
          <a:pPr rtl="0">
            <a:lnSpc>
              <a:spcPct val="100000"/>
            </a:lnSpc>
          </a:pPr>
          <a:r>
            <a:rPr lang="en-US" b="0" dirty="0">
              <a:latin typeface="Calibri"/>
            </a:rPr>
            <a:t>The frontend and backend </a:t>
          </a:r>
          <a:r>
            <a:rPr lang="en-US" b="1" dirty="0">
              <a:latin typeface="Calibri"/>
            </a:rPr>
            <a:t>communicate</a:t>
          </a:r>
          <a:r>
            <a:rPr lang="en-US" b="1" dirty="0"/>
            <a:t> over the web</a:t>
          </a:r>
          <a:r>
            <a:rPr lang="en-US" dirty="0"/>
            <a:t> (requests and responses)</a:t>
          </a:r>
        </a:p>
      </dgm:t>
    </dgm:pt>
    <dgm:pt modelId="{B034ACC2-3E9F-44ED-B305-DFC2EA48BFD1}" type="parTrans" cxnId="{62E71C05-4816-4F6C-96E5-71136939F27C}">
      <dgm:prSet/>
      <dgm:spPr/>
      <dgm:t>
        <a:bodyPr/>
        <a:lstStyle/>
        <a:p>
          <a:endParaRPr lang="en-US"/>
        </a:p>
      </dgm:t>
    </dgm:pt>
    <dgm:pt modelId="{CC9A83A3-7C2A-45A8-85DC-696D16EFA0FE}" type="sibTrans" cxnId="{62E71C05-4816-4F6C-96E5-71136939F27C}">
      <dgm:prSet/>
      <dgm:spPr/>
      <dgm:t>
        <a:bodyPr/>
        <a:lstStyle/>
        <a:p>
          <a:endParaRPr lang="en-US"/>
        </a:p>
      </dgm:t>
    </dgm:pt>
    <dgm:pt modelId="{4BFB194B-FB36-4A01-8CF0-65B9EE1FD0EB}">
      <dgm:prSet/>
      <dgm:spPr/>
      <dgm:t>
        <a:bodyPr/>
        <a:lstStyle/>
        <a:p>
          <a:pPr>
            <a:lnSpc>
              <a:spcPct val="100000"/>
            </a:lnSpc>
          </a:pPr>
          <a:r>
            <a:rPr lang="en-US" b="1" dirty="0"/>
            <a:t>Many users </a:t>
          </a:r>
          <a:r>
            <a:rPr lang="en-US" dirty="0"/>
            <a:t>can use it </a:t>
          </a:r>
          <a:r>
            <a:rPr lang="en-US" dirty="0">
              <a:latin typeface="Calibri"/>
            </a:rPr>
            <a:t>at the same time, who need to access timely and useful information</a:t>
          </a:r>
          <a:endParaRPr lang="en-US" dirty="0"/>
        </a:p>
      </dgm:t>
    </dgm:pt>
    <dgm:pt modelId="{A0D22BBF-306A-4EA5-9A87-FCCC9A6BCC67}" type="parTrans" cxnId="{E3C5AA27-5B74-40AC-B4EE-609C01A63E1C}">
      <dgm:prSet/>
      <dgm:spPr/>
      <dgm:t>
        <a:bodyPr/>
        <a:lstStyle/>
        <a:p>
          <a:endParaRPr lang="en-US"/>
        </a:p>
      </dgm:t>
    </dgm:pt>
    <dgm:pt modelId="{1FFA5B5C-9523-4702-9E36-ABC174797DD5}" type="sibTrans" cxnId="{E3C5AA27-5B74-40AC-B4EE-609C01A63E1C}">
      <dgm:prSet/>
      <dgm:spPr/>
      <dgm:t>
        <a:bodyPr/>
        <a:lstStyle/>
        <a:p>
          <a:endParaRPr lang="en-US"/>
        </a:p>
      </dgm:t>
    </dgm:pt>
    <dgm:pt modelId="{79D04312-7BC0-4183-B855-084990DD9C77}">
      <dgm:prSet phldr="0"/>
      <dgm:spPr/>
      <dgm:t>
        <a:bodyPr/>
        <a:lstStyle/>
        <a:p>
          <a:pPr>
            <a:lnSpc>
              <a:spcPct val="100000"/>
            </a:lnSpc>
          </a:pPr>
          <a:r>
            <a:rPr lang="en-US" dirty="0">
              <a:latin typeface="Calibri"/>
            </a:rPr>
            <a:t> </a:t>
          </a:r>
          <a:r>
            <a:rPr lang="en-US" b="1" dirty="0"/>
            <a:t>Has two parts:</a:t>
          </a:r>
          <a:r>
            <a:rPr lang="en-US" dirty="0"/>
            <a:t> the page you see (</a:t>
          </a:r>
          <a:r>
            <a:rPr lang="en-US" b="1" dirty="0"/>
            <a:t>frontend</a:t>
          </a:r>
          <a:r>
            <a:rPr lang="en-US" dirty="0"/>
            <a:t>) + code on a server (</a:t>
          </a:r>
          <a:r>
            <a:rPr lang="en-US" b="1" dirty="0"/>
            <a:t>backend</a:t>
          </a:r>
          <a:r>
            <a:rPr lang="en-US" dirty="0"/>
            <a:t>)</a:t>
          </a:r>
        </a:p>
      </dgm:t>
    </dgm:pt>
    <dgm:pt modelId="{E425761F-2F86-490D-A2E1-9102CCB652F2}" type="parTrans" cxnId="{E5DB6FCB-2999-4B4E-A9D2-AA8E38901713}">
      <dgm:prSet/>
      <dgm:spPr/>
    </dgm:pt>
    <dgm:pt modelId="{94BC1F19-E41D-445B-A3D1-58130951C9DE}" type="sibTrans" cxnId="{E5DB6FCB-2999-4B4E-A9D2-AA8E38901713}">
      <dgm:prSet/>
      <dgm:spPr/>
    </dgm:pt>
    <dgm:pt modelId="{7DD54C20-E647-48F6-A248-8889FD2F2BD3}">
      <dgm:prSet phldr="0"/>
      <dgm:spPr/>
      <dgm:t>
        <a:bodyPr/>
        <a:lstStyle/>
        <a:p>
          <a:pPr>
            <a:lnSpc>
              <a:spcPct val="100000"/>
            </a:lnSpc>
          </a:pPr>
          <a:r>
            <a:rPr lang="en-US" b="1" dirty="0"/>
            <a:t>Stores and loads data</a:t>
          </a:r>
          <a:r>
            <a:rPr lang="en-US" dirty="0"/>
            <a:t> (often from a database)</a:t>
          </a:r>
          <a:endParaRPr lang="en-US" dirty="0">
            <a:latin typeface="Calibri"/>
          </a:endParaRPr>
        </a:p>
      </dgm:t>
    </dgm:pt>
    <dgm:pt modelId="{7BFB5436-18E9-49D4-9210-72602A18B3EE}" type="parTrans" cxnId="{46D3AC38-DE25-47AF-ABC5-2FD8B4DBA820}">
      <dgm:prSet/>
      <dgm:spPr/>
    </dgm:pt>
    <dgm:pt modelId="{6D1C9408-BA3B-413F-BC4E-B0493DADEB97}" type="sibTrans" cxnId="{46D3AC38-DE25-47AF-ABC5-2FD8B4DBA820}">
      <dgm:prSet/>
      <dgm:spPr/>
    </dgm:pt>
    <dgm:pt modelId="{CC18FA7D-D8A7-40D1-85D7-43452F9293F5}" type="pres">
      <dgm:prSet presAssocID="{DD316D8C-BE1D-41B5-B150-074136307BEA}" presName="root" presStyleCnt="0">
        <dgm:presLayoutVars>
          <dgm:dir/>
          <dgm:resizeHandles val="exact"/>
        </dgm:presLayoutVars>
      </dgm:prSet>
      <dgm:spPr/>
    </dgm:pt>
    <dgm:pt modelId="{80FF05A1-44B4-495D-9DB0-90C3CCC27EC1}" type="pres">
      <dgm:prSet presAssocID="{479C0B61-3025-454C-BC8F-9CAFC9FB61F8}" presName="compNode" presStyleCnt="0"/>
      <dgm:spPr/>
    </dgm:pt>
    <dgm:pt modelId="{026DD478-8F08-4D36-AA33-988199A16594}" type="pres">
      <dgm:prSet presAssocID="{479C0B61-3025-454C-BC8F-9CAFC9FB61F8}" presName="bgRect" presStyleLbl="bgShp" presStyleIdx="0" presStyleCnt="5"/>
      <dgm:spPr/>
    </dgm:pt>
    <dgm:pt modelId="{1B3B0FC5-880F-49BD-9EDB-D9A917E68EA1}" type="pres">
      <dgm:prSet presAssocID="{479C0B61-3025-454C-BC8F-9CAFC9FB61F8}"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grammer"/>
        </a:ext>
      </dgm:extLst>
    </dgm:pt>
    <dgm:pt modelId="{3FC36373-490C-4CB2-AB7C-0593B1AB1934}" type="pres">
      <dgm:prSet presAssocID="{479C0B61-3025-454C-BC8F-9CAFC9FB61F8}" presName="spaceRect" presStyleCnt="0"/>
      <dgm:spPr/>
    </dgm:pt>
    <dgm:pt modelId="{16E8370A-68A2-4947-A361-0B8C5CE50CE2}" type="pres">
      <dgm:prSet presAssocID="{479C0B61-3025-454C-BC8F-9CAFC9FB61F8}" presName="parTx" presStyleLbl="revTx" presStyleIdx="0" presStyleCnt="5">
        <dgm:presLayoutVars>
          <dgm:chMax val="0"/>
          <dgm:chPref val="0"/>
        </dgm:presLayoutVars>
      </dgm:prSet>
      <dgm:spPr/>
    </dgm:pt>
    <dgm:pt modelId="{91A62FC9-427D-47D4-ABE7-B74825CE8A6A}" type="pres">
      <dgm:prSet presAssocID="{B7A26C85-E56B-437A-8B5B-967E5532E391}" presName="sibTrans" presStyleCnt="0"/>
      <dgm:spPr/>
    </dgm:pt>
    <dgm:pt modelId="{72E4E27A-3BB7-493C-8D70-AE89C9E4CB13}" type="pres">
      <dgm:prSet presAssocID="{79D04312-7BC0-4183-B855-084990DD9C77}" presName="compNode" presStyleCnt="0"/>
      <dgm:spPr/>
    </dgm:pt>
    <dgm:pt modelId="{D3B1BB12-BDD4-463F-AE19-8A4B4C35CB16}" type="pres">
      <dgm:prSet presAssocID="{79D04312-7BC0-4183-B855-084990DD9C77}" presName="bgRect" presStyleLbl="bgShp" presStyleIdx="1" presStyleCnt="5"/>
      <dgm:spPr/>
    </dgm:pt>
    <dgm:pt modelId="{CCB88A14-A16F-4C95-8837-97EC913CA67A}" type="pres">
      <dgm:prSet presAssocID="{79D04312-7BC0-4183-B855-084990DD9C77}" presName="iconRect" presStyleLbl="node1" presStyleIdx="1" presStyleCnt="5"/>
      <dgm:spPr>
        <a:blipFill>
          <a:blip xmlns:r="http://schemas.openxmlformats.org/officeDocument/2006/relationships" r:embed="rId3">
            <a:extLs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erver with solid fill"/>
        </a:ext>
      </dgm:extLst>
    </dgm:pt>
    <dgm:pt modelId="{0F011496-CCD4-4838-89DF-B1753724DDBE}" type="pres">
      <dgm:prSet presAssocID="{79D04312-7BC0-4183-B855-084990DD9C77}" presName="spaceRect" presStyleCnt="0"/>
      <dgm:spPr/>
    </dgm:pt>
    <dgm:pt modelId="{9C14D990-064E-4C4B-9ED7-EF51790BE3CF}" type="pres">
      <dgm:prSet presAssocID="{79D04312-7BC0-4183-B855-084990DD9C77}" presName="parTx" presStyleLbl="revTx" presStyleIdx="1" presStyleCnt="5">
        <dgm:presLayoutVars>
          <dgm:chMax val="0"/>
          <dgm:chPref val="0"/>
        </dgm:presLayoutVars>
      </dgm:prSet>
      <dgm:spPr/>
    </dgm:pt>
    <dgm:pt modelId="{D77FAD7F-9AAC-4143-A207-C3A5CB04A1A4}" type="pres">
      <dgm:prSet presAssocID="{94BC1F19-E41D-445B-A3D1-58130951C9DE}" presName="sibTrans" presStyleCnt="0"/>
      <dgm:spPr/>
    </dgm:pt>
    <dgm:pt modelId="{02A88E4B-03D6-4D91-AFF2-8979967285FC}" type="pres">
      <dgm:prSet presAssocID="{55E53E30-5C86-4491-9A4D-EEFBEBD9B054}" presName="compNode" presStyleCnt="0"/>
      <dgm:spPr/>
    </dgm:pt>
    <dgm:pt modelId="{7CE21133-A5B1-4567-A108-BDE2B87D0B91}" type="pres">
      <dgm:prSet presAssocID="{55E53E30-5C86-4491-9A4D-EEFBEBD9B054}" presName="bgRect" presStyleLbl="bgShp" presStyleIdx="2" presStyleCnt="5"/>
      <dgm:spPr/>
    </dgm:pt>
    <dgm:pt modelId="{2B62587B-4EBF-47C9-A3DC-D79E7CFFD3A9}" type="pres">
      <dgm:prSet presAssocID="{55E53E30-5C86-4491-9A4D-EEFBEBD9B054}"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User Network"/>
        </a:ext>
      </dgm:extLst>
    </dgm:pt>
    <dgm:pt modelId="{5D4231AB-1583-44D3-9485-8C2A1BDA8ADB}" type="pres">
      <dgm:prSet presAssocID="{55E53E30-5C86-4491-9A4D-EEFBEBD9B054}" presName="spaceRect" presStyleCnt="0"/>
      <dgm:spPr/>
    </dgm:pt>
    <dgm:pt modelId="{9BE75A7E-1680-490D-A753-8210B5530491}" type="pres">
      <dgm:prSet presAssocID="{55E53E30-5C86-4491-9A4D-EEFBEBD9B054}" presName="parTx" presStyleLbl="revTx" presStyleIdx="2" presStyleCnt="5">
        <dgm:presLayoutVars>
          <dgm:chMax val="0"/>
          <dgm:chPref val="0"/>
        </dgm:presLayoutVars>
      </dgm:prSet>
      <dgm:spPr/>
    </dgm:pt>
    <dgm:pt modelId="{F600AF5A-168E-4DEE-B4F6-B0D5393DB22F}" type="pres">
      <dgm:prSet presAssocID="{CC9A83A3-7C2A-45A8-85DC-696D16EFA0FE}" presName="sibTrans" presStyleCnt="0"/>
      <dgm:spPr/>
    </dgm:pt>
    <dgm:pt modelId="{1D9058C4-DA31-4A31-8DC2-468F7AC15AFB}" type="pres">
      <dgm:prSet presAssocID="{7DD54C20-E647-48F6-A248-8889FD2F2BD3}" presName="compNode" presStyleCnt="0"/>
      <dgm:spPr/>
    </dgm:pt>
    <dgm:pt modelId="{307BF4AD-9503-4704-B6D9-9A694DE5C4B4}" type="pres">
      <dgm:prSet presAssocID="{7DD54C20-E647-48F6-A248-8889FD2F2BD3}" presName="bgRect" presStyleLbl="bgShp" presStyleIdx="3" presStyleCnt="5"/>
      <dgm:spPr/>
    </dgm:pt>
    <dgm:pt modelId="{D18C5667-E8B6-43FD-B38D-9A2BD15FAAC2}" type="pres">
      <dgm:prSet presAssocID="{7DD54C20-E647-48F6-A248-8889FD2F2BD3}" presName="iconRect" presStyleLbl="node1" presStyleIdx="3" presStyleCnt="5"/>
      <dgm:spPr>
        <a:blipFill>
          <a:blip xmlns:r="http://schemas.openxmlformats.org/officeDocument/2006/relationships" r:embed="rId7">
            <a:extLs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Research with solid fill"/>
        </a:ext>
      </dgm:extLst>
    </dgm:pt>
    <dgm:pt modelId="{7237FC56-32DA-4459-BDAF-EFC92A3BE1E9}" type="pres">
      <dgm:prSet presAssocID="{7DD54C20-E647-48F6-A248-8889FD2F2BD3}" presName="spaceRect" presStyleCnt="0"/>
      <dgm:spPr/>
    </dgm:pt>
    <dgm:pt modelId="{6BB8B1A4-68BD-43B4-BBDD-F060DCB4D6A3}" type="pres">
      <dgm:prSet presAssocID="{7DD54C20-E647-48F6-A248-8889FD2F2BD3}" presName="parTx" presStyleLbl="revTx" presStyleIdx="3" presStyleCnt="5">
        <dgm:presLayoutVars>
          <dgm:chMax val="0"/>
          <dgm:chPref val="0"/>
        </dgm:presLayoutVars>
      </dgm:prSet>
      <dgm:spPr/>
    </dgm:pt>
    <dgm:pt modelId="{9E668483-32AE-49A7-A9E8-39E7CBED0239}" type="pres">
      <dgm:prSet presAssocID="{6D1C9408-BA3B-413F-BC4E-B0493DADEB97}" presName="sibTrans" presStyleCnt="0"/>
      <dgm:spPr/>
    </dgm:pt>
    <dgm:pt modelId="{5D93E32F-AA09-4276-A727-F385B0B936AC}" type="pres">
      <dgm:prSet presAssocID="{4BFB194B-FB36-4A01-8CF0-65B9EE1FD0EB}" presName="compNode" presStyleCnt="0"/>
      <dgm:spPr/>
    </dgm:pt>
    <dgm:pt modelId="{6AA8FA89-0D83-41D0-8DE4-7AA7553A4A8A}" type="pres">
      <dgm:prSet presAssocID="{4BFB194B-FB36-4A01-8CF0-65B9EE1FD0EB}" presName="bgRect" presStyleLbl="bgShp" presStyleIdx="4" presStyleCnt="5"/>
      <dgm:spPr/>
    </dgm:pt>
    <dgm:pt modelId="{9F39F8B3-D502-4DD7-A7BF-93044BD742F9}" type="pres">
      <dgm:prSet presAssocID="{4BFB194B-FB36-4A01-8CF0-65B9EE1FD0E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roup of People"/>
        </a:ext>
      </dgm:extLst>
    </dgm:pt>
    <dgm:pt modelId="{C30F4B49-711B-49D6-92D0-DD8EEEBE3D85}" type="pres">
      <dgm:prSet presAssocID="{4BFB194B-FB36-4A01-8CF0-65B9EE1FD0EB}" presName="spaceRect" presStyleCnt="0"/>
      <dgm:spPr/>
    </dgm:pt>
    <dgm:pt modelId="{62A4970D-4FF3-409D-97B6-C36236A9B0E3}" type="pres">
      <dgm:prSet presAssocID="{4BFB194B-FB36-4A01-8CF0-65B9EE1FD0EB}" presName="parTx" presStyleLbl="revTx" presStyleIdx="4" presStyleCnt="5">
        <dgm:presLayoutVars>
          <dgm:chMax val="0"/>
          <dgm:chPref val="0"/>
        </dgm:presLayoutVars>
      </dgm:prSet>
      <dgm:spPr/>
    </dgm:pt>
  </dgm:ptLst>
  <dgm:cxnLst>
    <dgm:cxn modelId="{62E71C05-4816-4F6C-96E5-71136939F27C}" srcId="{DD316D8C-BE1D-41B5-B150-074136307BEA}" destId="{55E53E30-5C86-4491-9A4D-EEFBEBD9B054}" srcOrd="2" destOrd="0" parTransId="{B034ACC2-3E9F-44ED-B305-DFC2EA48BFD1}" sibTransId="{CC9A83A3-7C2A-45A8-85DC-696D16EFA0FE}"/>
    <dgm:cxn modelId="{E3C5AA27-5B74-40AC-B4EE-609C01A63E1C}" srcId="{DD316D8C-BE1D-41B5-B150-074136307BEA}" destId="{4BFB194B-FB36-4A01-8CF0-65B9EE1FD0EB}" srcOrd="4" destOrd="0" parTransId="{A0D22BBF-306A-4EA5-9A87-FCCC9A6BCC67}" sibTransId="{1FFA5B5C-9523-4702-9E36-ABC174797DD5}"/>
    <dgm:cxn modelId="{46D3AC38-DE25-47AF-ABC5-2FD8B4DBA820}" srcId="{DD316D8C-BE1D-41B5-B150-074136307BEA}" destId="{7DD54C20-E647-48F6-A248-8889FD2F2BD3}" srcOrd="3" destOrd="0" parTransId="{7BFB5436-18E9-49D4-9210-72602A18B3EE}" sibTransId="{6D1C9408-BA3B-413F-BC4E-B0493DADEB97}"/>
    <dgm:cxn modelId="{F608B05C-3042-4456-9A35-CB3D87C7B9ED}" type="presOf" srcId="{479C0B61-3025-454C-BC8F-9CAFC9FB61F8}" destId="{16E8370A-68A2-4947-A361-0B8C5CE50CE2}" srcOrd="0" destOrd="0" presId="urn:microsoft.com/office/officeart/2018/2/layout/IconVerticalSolidList"/>
    <dgm:cxn modelId="{3F2D7D5E-E212-41F7-AE47-578D80937DC1}" type="presOf" srcId="{79D04312-7BC0-4183-B855-084990DD9C77}" destId="{9C14D990-064E-4C4B-9ED7-EF51790BE3CF}" srcOrd="0" destOrd="0" presId="urn:microsoft.com/office/officeart/2018/2/layout/IconVerticalSolidList"/>
    <dgm:cxn modelId="{D20B7848-B425-428D-8305-98E0B5DBB6FA}" srcId="{DD316D8C-BE1D-41B5-B150-074136307BEA}" destId="{479C0B61-3025-454C-BC8F-9CAFC9FB61F8}" srcOrd="0" destOrd="0" parTransId="{2C6C3822-4913-4A40-8C3E-69F0E3EAD43E}" sibTransId="{B7A26C85-E56B-437A-8B5B-967E5532E391}"/>
    <dgm:cxn modelId="{B1C5E5A4-A253-4D69-B2D7-645BE007BA5E}" type="presOf" srcId="{4BFB194B-FB36-4A01-8CF0-65B9EE1FD0EB}" destId="{62A4970D-4FF3-409D-97B6-C36236A9B0E3}" srcOrd="0" destOrd="0" presId="urn:microsoft.com/office/officeart/2018/2/layout/IconVerticalSolidList"/>
    <dgm:cxn modelId="{E5DB6FCB-2999-4B4E-A9D2-AA8E38901713}" srcId="{DD316D8C-BE1D-41B5-B150-074136307BEA}" destId="{79D04312-7BC0-4183-B855-084990DD9C77}" srcOrd="1" destOrd="0" parTransId="{E425761F-2F86-490D-A2E1-9102CCB652F2}" sibTransId="{94BC1F19-E41D-445B-A3D1-58130951C9DE}"/>
    <dgm:cxn modelId="{6DA672E2-57B9-42B1-BA7F-C2FDE78E448D}" type="presOf" srcId="{7DD54C20-E647-48F6-A248-8889FD2F2BD3}" destId="{6BB8B1A4-68BD-43B4-BBDD-F060DCB4D6A3}" srcOrd="0" destOrd="0" presId="urn:microsoft.com/office/officeart/2018/2/layout/IconVerticalSolidList"/>
    <dgm:cxn modelId="{0BDF65EC-EE4D-4F37-83CA-618FBB9F9E14}" type="presOf" srcId="{55E53E30-5C86-4491-9A4D-EEFBEBD9B054}" destId="{9BE75A7E-1680-490D-A753-8210B5530491}" srcOrd="0" destOrd="0" presId="urn:microsoft.com/office/officeart/2018/2/layout/IconVerticalSolidList"/>
    <dgm:cxn modelId="{CC12CAFF-2F83-4763-ADC2-F2A97908B17D}" type="presOf" srcId="{DD316D8C-BE1D-41B5-B150-074136307BEA}" destId="{CC18FA7D-D8A7-40D1-85D7-43452F9293F5}" srcOrd="0" destOrd="0" presId="urn:microsoft.com/office/officeart/2018/2/layout/IconVerticalSolidList"/>
    <dgm:cxn modelId="{F02A0A94-6B9A-45B3-9D12-3BA504BCE6D4}" type="presParOf" srcId="{CC18FA7D-D8A7-40D1-85D7-43452F9293F5}" destId="{80FF05A1-44B4-495D-9DB0-90C3CCC27EC1}" srcOrd="0" destOrd="0" presId="urn:microsoft.com/office/officeart/2018/2/layout/IconVerticalSolidList"/>
    <dgm:cxn modelId="{2A455B55-DFF5-443F-B9FD-72AC64A08464}" type="presParOf" srcId="{80FF05A1-44B4-495D-9DB0-90C3CCC27EC1}" destId="{026DD478-8F08-4D36-AA33-988199A16594}" srcOrd="0" destOrd="0" presId="urn:microsoft.com/office/officeart/2018/2/layout/IconVerticalSolidList"/>
    <dgm:cxn modelId="{DD0399B4-4912-4AC6-AA9F-DD3C928138BC}" type="presParOf" srcId="{80FF05A1-44B4-495D-9DB0-90C3CCC27EC1}" destId="{1B3B0FC5-880F-49BD-9EDB-D9A917E68EA1}" srcOrd="1" destOrd="0" presId="urn:microsoft.com/office/officeart/2018/2/layout/IconVerticalSolidList"/>
    <dgm:cxn modelId="{EC44BE28-1AF4-454B-9692-E02ECBBEA473}" type="presParOf" srcId="{80FF05A1-44B4-495D-9DB0-90C3CCC27EC1}" destId="{3FC36373-490C-4CB2-AB7C-0593B1AB1934}" srcOrd="2" destOrd="0" presId="urn:microsoft.com/office/officeart/2018/2/layout/IconVerticalSolidList"/>
    <dgm:cxn modelId="{69467C21-7453-4B11-AAFC-15733AD30E35}" type="presParOf" srcId="{80FF05A1-44B4-495D-9DB0-90C3CCC27EC1}" destId="{16E8370A-68A2-4947-A361-0B8C5CE50CE2}" srcOrd="3" destOrd="0" presId="urn:microsoft.com/office/officeart/2018/2/layout/IconVerticalSolidList"/>
    <dgm:cxn modelId="{31A0B24C-A4DB-4B05-978F-07FE9081C03C}" type="presParOf" srcId="{CC18FA7D-D8A7-40D1-85D7-43452F9293F5}" destId="{91A62FC9-427D-47D4-ABE7-B74825CE8A6A}" srcOrd="1" destOrd="0" presId="urn:microsoft.com/office/officeart/2018/2/layout/IconVerticalSolidList"/>
    <dgm:cxn modelId="{D1003B92-D6C7-4FE0-BFBA-DCC237678D0C}" type="presParOf" srcId="{CC18FA7D-D8A7-40D1-85D7-43452F9293F5}" destId="{72E4E27A-3BB7-493C-8D70-AE89C9E4CB13}" srcOrd="2" destOrd="0" presId="urn:microsoft.com/office/officeart/2018/2/layout/IconVerticalSolidList"/>
    <dgm:cxn modelId="{24B0F3F8-8744-4D67-93F9-E5B761DD63FB}" type="presParOf" srcId="{72E4E27A-3BB7-493C-8D70-AE89C9E4CB13}" destId="{D3B1BB12-BDD4-463F-AE19-8A4B4C35CB16}" srcOrd="0" destOrd="0" presId="urn:microsoft.com/office/officeart/2018/2/layout/IconVerticalSolidList"/>
    <dgm:cxn modelId="{DD752F93-5077-43C8-8618-E77C52ABC1EF}" type="presParOf" srcId="{72E4E27A-3BB7-493C-8D70-AE89C9E4CB13}" destId="{CCB88A14-A16F-4C95-8837-97EC913CA67A}" srcOrd="1" destOrd="0" presId="urn:microsoft.com/office/officeart/2018/2/layout/IconVerticalSolidList"/>
    <dgm:cxn modelId="{1D8F2648-9954-482E-9975-66067DA6B717}" type="presParOf" srcId="{72E4E27A-3BB7-493C-8D70-AE89C9E4CB13}" destId="{0F011496-CCD4-4838-89DF-B1753724DDBE}" srcOrd="2" destOrd="0" presId="urn:microsoft.com/office/officeart/2018/2/layout/IconVerticalSolidList"/>
    <dgm:cxn modelId="{3EB2A73B-0FEB-4DCE-99BA-3BEDAA17E8D3}" type="presParOf" srcId="{72E4E27A-3BB7-493C-8D70-AE89C9E4CB13}" destId="{9C14D990-064E-4C4B-9ED7-EF51790BE3CF}" srcOrd="3" destOrd="0" presId="urn:microsoft.com/office/officeart/2018/2/layout/IconVerticalSolidList"/>
    <dgm:cxn modelId="{DA72DCBE-9B93-4AF7-ABF1-851A937C2524}" type="presParOf" srcId="{CC18FA7D-D8A7-40D1-85D7-43452F9293F5}" destId="{D77FAD7F-9AAC-4143-A207-C3A5CB04A1A4}" srcOrd="3" destOrd="0" presId="urn:microsoft.com/office/officeart/2018/2/layout/IconVerticalSolidList"/>
    <dgm:cxn modelId="{2448F10A-23EC-407B-A19B-7F09C9B87636}" type="presParOf" srcId="{CC18FA7D-D8A7-40D1-85D7-43452F9293F5}" destId="{02A88E4B-03D6-4D91-AFF2-8979967285FC}" srcOrd="4" destOrd="0" presId="urn:microsoft.com/office/officeart/2018/2/layout/IconVerticalSolidList"/>
    <dgm:cxn modelId="{50F63EA9-D3B8-473B-9980-78D5C0A5C74F}" type="presParOf" srcId="{02A88E4B-03D6-4D91-AFF2-8979967285FC}" destId="{7CE21133-A5B1-4567-A108-BDE2B87D0B91}" srcOrd="0" destOrd="0" presId="urn:microsoft.com/office/officeart/2018/2/layout/IconVerticalSolidList"/>
    <dgm:cxn modelId="{1C2BEBAF-1B47-432D-BEFF-79F6B6E8743D}" type="presParOf" srcId="{02A88E4B-03D6-4D91-AFF2-8979967285FC}" destId="{2B62587B-4EBF-47C9-A3DC-D79E7CFFD3A9}" srcOrd="1" destOrd="0" presId="urn:microsoft.com/office/officeart/2018/2/layout/IconVerticalSolidList"/>
    <dgm:cxn modelId="{282D179F-1BB2-4CBD-98E5-841BBC035229}" type="presParOf" srcId="{02A88E4B-03D6-4D91-AFF2-8979967285FC}" destId="{5D4231AB-1583-44D3-9485-8C2A1BDA8ADB}" srcOrd="2" destOrd="0" presId="urn:microsoft.com/office/officeart/2018/2/layout/IconVerticalSolidList"/>
    <dgm:cxn modelId="{11C7AAAC-461C-49D9-90B9-82C1FC20582E}" type="presParOf" srcId="{02A88E4B-03D6-4D91-AFF2-8979967285FC}" destId="{9BE75A7E-1680-490D-A753-8210B5530491}" srcOrd="3" destOrd="0" presId="urn:microsoft.com/office/officeart/2018/2/layout/IconVerticalSolidList"/>
    <dgm:cxn modelId="{38DC93F8-4605-4409-8D3E-56C58FA71770}" type="presParOf" srcId="{CC18FA7D-D8A7-40D1-85D7-43452F9293F5}" destId="{F600AF5A-168E-4DEE-B4F6-B0D5393DB22F}" srcOrd="5" destOrd="0" presId="urn:microsoft.com/office/officeart/2018/2/layout/IconVerticalSolidList"/>
    <dgm:cxn modelId="{E0E79D45-5844-4323-96EF-B431B98F0500}" type="presParOf" srcId="{CC18FA7D-D8A7-40D1-85D7-43452F9293F5}" destId="{1D9058C4-DA31-4A31-8DC2-468F7AC15AFB}" srcOrd="6" destOrd="0" presId="urn:microsoft.com/office/officeart/2018/2/layout/IconVerticalSolidList"/>
    <dgm:cxn modelId="{12E49064-2B9D-4176-8181-544B380BB521}" type="presParOf" srcId="{1D9058C4-DA31-4A31-8DC2-468F7AC15AFB}" destId="{307BF4AD-9503-4704-B6D9-9A694DE5C4B4}" srcOrd="0" destOrd="0" presId="urn:microsoft.com/office/officeart/2018/2/layout/IconVerticalSolidList"/>
    <dgm:cxn modelId="{BEC79418-6F81-454D-8D06-56A2729914D2}" type="presParOf" srcId="{1D9058C4-DA31-4A31-8DC2-468F7AC15AFB}" destId="{D18C5667-E8B6-43FD-B38D-9A2BD15FAAC2}" srcOrd="1" destOrd="0" presId="urn:microsoft.com/office/officeart/2018/2/layout/IconVerticalSolidList"/>
    <dgm:cxn modelId="{7B44C50C-E75D-4727-8F98-484F459244CA}" type="presParOf" srcId="{1D9058C4-DA31-4A31-8DC2-468F7AC15AFB}" destId="{7237FC56-32DA-4459-BDAF-EFC92A3BE1E9}" srcOrd="2" destOrd="0" presId="urn:microsoft.com/office/officeart/2018/2/layout/IconVerticalSolidList"/>
    <dgm:cxn modelId="{022A00A6-DB45-48F1-8031-99E03E43D4B3}" type="presParOf" srcId="{1D9058C4-DA31-4A31-8DC2-468F7AC15AFB}" destId="{6BB8B1A4-68BD-43B4-BBDD-F060DCB4D6A3}" srcOrd="3" destOrd="0" presId="urn:microsoft.com/office/officeart/2018/2/layout/IconVerticalSolidList"/>
    <dgm:cxn modelId="{856D134F-E5B8-4A3B-A9D9-1683E54F708B}" type="presParOf" srcId="{CC18FA7D-D8A7-40D1-85D7-43452F9293F5}" destId="{9E668483-32AE-49A7-A9E8-39E7CBED0239}" srcOrd="7" destOrd="0" presId="urn:microsoft.com/office/officeart/2018/2/layout/IconVerticalSolidList"/>
    <dgm:cxn modelId="{7A63C2A7-1DC3-492E-9CFF-C29191791B14}" type="presParOf" srcId="{CC18FA7D-D8A7-40D1-85D7-43452F9293F5}" destId="{5D93E32F-AA09-4276-A727-F385B0B936AC}" srcOrd="8" destOrd="0" presId="urn:microsoft.com/office/officeart/2018/2/layout/IconVerticalSolidList"/>
    <dgm:cxn modelId="{D189BAD0-EE85-47EF-BB22-EF946C69EABF}" type="presParOf" srcId="{5D93E32F-AA09-4276-A727-F385B0B936AC}" destId="{6AA8FA89-0D83-41D0-8DE4-7AA7553A4A8A}" srcOrd="0" destOrd="0" presId="urn:microsoft.com/office/officeart/2018/2/layout/IconVerticalSolidList"/>
    <dgm:cxn modelId="{3A60EF5F-DCB8-4A0C-A12A-5851AAA29FDD}" type="presParOf" srcId="{5D93E32F-AA09-4276-A727-F385B0B936AC}" destId="{9F39F8B3-D502-4DD7-A7BF-93044BD742F9}" srcOrd="1" destOrd="0" presId="urn:microsoft.com/office/officeart/2018/2/layout/IconVerticalSolidList"/>
    <dgm:cxn modelId="{86FBA69E-6930-46C0-90A9-C2F5194A2E6F}" type="presParOf" srcId="{5D93E32F-AA09-4276-A727-F385B0B936AC}" destId="{C30F4B49-711B-49D6-92D0-DD8EEEBE3D85}" srcOrd="2" destOrd="0" presId="urn:microsoft.com/office/officeart/2018/2/layout/IconVerticalSolidList"/>
    <dgm:cxn modelId="{967DE3F9-6AF8-4262-8D47-26DF4A6BECCD}" type="presParOf" srcId="{5D93E32F-AA09-4276-A727-F385B0B936AC}" destId="{62A4970D-4FF3-409D-97B6-C36236A9B0E3}"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B25CC16-3F08-4703-AA66-EC9D6D1F3344}" type="doc">
      <dgm:prSet loTypeId="urn:microsoft.com/office/officeart/2005/8/layout/arrow5" loCatId="relationship" qsTypeId="urn:microsoft.com/office/officeart/2005/8/quickstyle/simple1" qsCatId="simple" csTypeId="urn:microsoft.com/office/officeart/2005/8/colors/accent1_2" csCatId="accent1" phldr="1"/>
      <dgm:spPr/>
      <dgm:t>
        <a:bodyPr/>
        <a:lstStyle/>
        <a:p>
          <a:endParaRPr lang="en-US"/>
        </a:p>
      </dgm:t>
    </dgm:pt>
    <dgm:pt modelId="{C91C6ABD-0FF4-4522-AA99-9D70C5C41281}">
      <dgm:prSet phldrT="[Text]" phldr="0"/>
      <dgm:spPr/>
      <dgm:t>
        <a:bodyPr/>
        <a:lstStyle/>
        <a:p>
          <a:pPr rtl="0"/>
          <a:r>
            <a:rPr lang="en-US" dirty="0">
              <a:latin typeface="Calibri"/>
            </a:rPr>
            <a:t>Type password</a:t>
          </a:r>
          <a:endParaRPr lang="en-US" dirty="0"/>
        </a:p>
      </dgm:t>
    </dgm:pt>
    <dgm:pt modelId="{6074BB3C-7420-4030-A371-BC8B25DD2C0F}" type="parTrans" cxnId="{2E96CDD3-DB99-4AE8-9BCF-D4566AF191DC}">
      <dgm:prSet/>
      <dgm:spPr/>
      <dgm:t>
        <a:bodyPr/>
        <a:lstStyle/>
        <a:p>
          <a:endParaRPr lang="en-US"/>
        </a:p>
      </dgm:t>
    </dgm:pt>
    <dgm:pt modelId="{A48D1804-BEB1-4298-88F5-061FB3961B08}" type="sibTrans" cxnId="{2E96CDD3-DB99-4AE8-9BCF-D4566AF191DC}">
      <dgm:prSet/>
      <dgm:spPr/>
      <dgm:t>
        <a:bodyPr/>
        <a:lstStyle/>
        <a:p>
          <a:endParaRPr lang="en-US"/>
        </a:p>
      </dgm:t>
    </dgm:pt>
    <dgm:pt modelId="{80AE040D-F646-4C40-B1EF-69DD40B8EFFE}">
      <dgm:prSet phldrT="[Text]" phldr="0"/>
      <dgm:spPr/>
      <dgm:t>
        <a:bodyPr/>
        <a:lstStyle/>
        <a:p>
          <a:pPr rtl="0"/>
          <a:r>
            <a:rPr lang="en-US" dirty="0">
              <a:latin typeface="Calibri"/>
            </a:rPr>
            <a:t>Check password and permissions</a:t>
          </a:r>
          <a:endParaRPr lang="en-US" dirty="0"/>
        </a:p>
      </dgm:t>
    </dgm:pt>
    <dgm:pt modelId="{77D659E5-8053-4FCD-9ADE-307C495CF4E0}" type="parTrans" cxnId="{AC93911F-81EE-479C-8A49-8C0F17FEA2AD}">
      <dgm:prSet/>
      <dgm:spPr/>
      <dgm:t>
        <a:bodyPr/>
        <a:lstStyle/>
        <a:p>
          <a:endParaRPr lang="en-US"/>
        </a:p>
      </dgm:t>
    </dgm:pt>
    <dgm:pt modelId="{0A4E4877-DE19-43D5-856C-5BC3F6F733B0}" type="sibTrans" cxnId="{AC93911F-81EE-479C-8A49-8C0F17FEA2AD}">
      <dgm:prSet/>
      <dgm:spPr/>
      <dgm:t>
        <a:bodyPr/>
        <a:lstStyle/>
        <a:p>
          <a:endParaRPr lang="en-US"/>
        </a:p>
      </dgm:t>
    </dgm:pt>
    <dgm:pt modelId="{AB0435AA-C98E-4A97-817F-A60A98C1C960}" type="pres">
      <dgm:prSet presAssocID="{FB25CC16-3F08-4703-AA66-EC9D6D1F3344}" presName="diagram" presStyleCnt="0">
        <dgm:presLayoutVars>
          <dgm:dir/>
          <dgm:resizeHandles val="exact"/>
        </dgm:presLayoutVars>
      </dgm:prSet>
      <dgm:spPr/>
    </dgm:pt>
    <dgm:pt modelId="{05E6B780-3E2A-4C68-8654-F8F7959BE810}" type="pres">
      <dgm:prSet presAssocID="{C91C6ABD-0FF4-4522-AA99-9D70C5C41281}" presName="arrow" presStyleLbl="node1" presStyleIdx="0" presStyleCnt="2">
        <dgm:presLayoutVars>
          <dgm:bulletEnabled val="1"/>
        </dgm:presLayoutVars>
      </dgm:prSet>
      <dgm:spPr/>
    </dgm:pt>
    <dgm:pt modelId="{35D5AD5B-F41F-45E3-BEE0-6A5D53CF1045}" type="pres">
      <dgm:prSet presAssocID="{80AE040D-F646-4C40-B1EF-69DD40B8EFFE}" presName="arrow" presStyleLbl="node1" presStyleIdx="1" presStyleCnt="2">
        <dgm:presLayoutVars>
          <dgm:bulletEnabled val="1"/>
        </dgm:presLayoutVars>
      </dgm:prSet>
      <dgm:spPr/>
    </dgm:pt>
  </dgm:ptLst>
  <dgm:cxnLst>
    <dgm:cxn modelId="{AC93911F-81EE-479C-8A49-8C0F17FEA2AD}" srcId="{FB25CC16-3F08-4703-AA66-EC9D6D1F3344}" destId="{80AE040D-F646-4C40-B1EF-69DD40B8EFFE}" srcOrd="1" destOrd="0" parTransId="{77D659E5-8053-4FCD-9ADE-307C495CF4E0}" sibTransId="{0A4E4877-DE19-43D5-856C-5BC3F6F733B0}"/>
    <dgm:cxn modelId="{9110DE71-BC3B-4A20-BBC2-9EE935F10C69}" type="presOf" srcId="{C91C6ABD-0FF4-4522-AA99-9D70C5C41281}" destId="{05E6B780-3E2A-4C68-8654-F8F7959BE810}" srcOrd="0" destOrd="0" presId="urn:microsoft.com/office/officeart/2005/8/layout/arrow5"/>
    <dgm:cxn modelId="{6DE59BAB-7D20-47BD-965F-372681A6CE53}" type="presOf" srcId="{FB25CC16-3F08-4703-AA66-EC9D6D1F3344}" destId="{AB0435AA-C98E-4A97-817F-A60A98C1C960}" srcOrd="0" destOrd="0" presId="urn:microsoft.com/office/officeart/2005/8/layout/arrow5"/>
    <dgm:cxn modelId="{2E96CDD3-DB99-4AE8-9BCF-D4566AF191DC}" srcId="{FB25CC16-3F08-4703-AA66-EC9D6D1F3344}" destId="{C91C6ABD-0FF4-4522-AA99-9D70C5C41281}" srcOrd="0" destOrd="0" parTransId="{6074BB3C-7420-4030-A371-BC8B25DD2C0F}" sibTransId="{A48D1804-BEB1-4298-88F5-061FB3961B08}"/>
    <dgm:cxn modelId="{7BB5E5E5-64EC-4114-8F53-27D9040BCD02}" type="presOf" srcId="{80AE040D-F646-4C40-B1EF-69DD40B8EFFE}" destId="{35D5AD5B-F41F-45E3-BEE0-6A5D53CF1045}" srcOrd="0" destOrd="0" presId="urn:microsoft.com/office/officeart/2005/8/layout/arrow5"/>
    <dgm:cxn modelId="{4BED1768-3F2F-44A4-9C07-13AEB341D21E}" type="presParOf" srcId="{AB0435AA-C98E-4A97-817F-A60A98C1C960}" destId="{05E6B780-3E2A-4C68-8654-F8F7959BE810}" srcOrd="0" destOrd="0" presId="urn:microsoft.com/office/officeart/2005/8/layout/arrow5"/>
    <dgm:cxn modelId="{38466B9A-EC7E-4A55-89E6-F6A99AA14BF4}" type="presParOf" srcId="{AB0435AA-C98E-4A97-817F-A60A98C1C960}" destId="{35D5AD5B-F41F-45E3-BEE0-6A5D53CF1045}" srcOrd="1" destOrd="0" presId="urn:microsoft.com/office/officeart/2005/8/layout/arrow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316D8C-BE1D-41B5-B150-074136307BEA}" type="doc">
      <dgm:prSet loTypeId="urn:microsoft.com/office/officeart/2018/2/layout/IconVerticalSolidList" loCatId="icon" qsTypeId="urn:microsoft.com/office/officeart/2005/8/quickstyle/simple1" qsCatId="simple" csTypeId="urn:microsoft.com/office/officeart/2005/8/colors/colorful1" csCatId="colorful" phldr="1"/>
      <dgm:spPr/>
      <dgm:t>
        <a:bodyPr/>
        <a:lstStyle/>
        <a:p>
          <a:endParaRPr lang="en-US"/>
        </a:p>
      </dgm:t>
    </dgm:pt>
    <dgm:pt modelId="{3D6F21FA-076A-4DC0-9AAB-B1E5EEA7346A}">
      <dgm:prSet/>
      <dgm:spPr/>
      <dgm:t>
        <a:bodyPr/>
        <a:lstStyle/>
        <a:p>
          <a:pPr>
            <a:lnSpc>
              <a:spcPct val="100000"/>
            </a:lnSpc>
          </a:pPr>
          <a:r>
            <a:rPr lang="en-US"/>
            <a:t>It is a distributed information management system (DIM)</a:t>
          </a:r>
        </a:p>
      </dgm:t>
    </dgm:pt>
    <dgm:pt modelId="{5EA680B6-7CF6-47A0-8598-913AE53ED6A8}" type="parTrans" cxnId="{681983B6-97DB-42A1-9D96-632302CD027C}">
      <dgm:prSet/>
      <dgm:spPr/>
      <dgm:t>
        <a:bodyPr/>
        <a:lstStyle/>
        <a:p>
          <a:endParaRPr lang="en-US"/>
        </a:p>
      </dgm:t>
    </dgm:pt>
    <dgm:pt modelId="{22C2949A-DD90-431E-BA92-84BB3833C853}" type="sibTrans" cxnId="{681983B6-97DB-42A1-9D96-632302CD027C}">
      <dgm:prSet/>
      <dgm:spPr/>
      <dgm:t>
        <a:bodyPr/>
        <a:lstStyle/>
        <a:p>
          <a:endParaRPr lang="en-US"/>
        </a:p>
      </dgm:t>
    </dgm:pt>
    <dgm:pt modelId="{479C0B61-3025-454C-BC8F-9CAFC9FB61F8}">
      <dgm:prSet/>
      <dgm:spPr/>
      <dgm:t>
        <a:bodyPr/>
        <a:lstStyle/>
        <a:p>
          <a:pPr>
            <a:lnSpc>
              <a:spcPct val="100000"/>
            </a:lnSpc>
          </a:pPr>
          <a:r>
            <a:rPr lang="en-US"/>
            <a:t>Enables management, sharing, finding and presentation of information over the web</a:t>
          </a:r>
        </a:p>
      </dgm:t>
    </dgm:pt>
    <dgm:pt modelId="{2C6C3822-4913-4A40-8C3E-69F0E3EAD43E}" type="parTrans" cxnId="{D20B7848-B425-428D-8305-98E0B5DBB6FA}">
      <dgm:prSet/>
      <dgm:spPr/>
      <dgm:t>
        <a:bodyPr/>
        <a:lstStyle/>
        <a:p>
          <a:endParaRPr lang="en-US"/>
        </a:p>
      </dgm:t>
    </dgm:pt>
    <dgm:pt modelId="{B7A26C85-E56B-437A-8B5B-967E5532E391}" type="sibTrans" cxnId="{D20B7848-B425-428D-8305-98E0B5DBB6FA}">
      <dgm:prSet/>
      <dgm:spPr/>
      <dgm:t>
        <a:bodyPr/>
        <a:lstStyle/>
        <a:p>
          <a:endParaRPr lang="en-US"/>
        </a:p>
      </dgm:t>
    </dgm:pt>
    <dgm:pt modelId="{55E53E30-5C86-4491-9A4D-EEFBEBD9B054}">
      <dgm:prSet/>
      <dgm:spPr/>
      <dgm:t>
        <a:bodyPr/>
        <a:lstStyle/>
        <a:p>
          <a:pPr>
            <a:lnSpc>
              <a:spcPct val="100000"/>
            </a:lnSpc>
          </a:pPr>
          <a:r>
            <a:rPr lang="en-US"/>
            <a:t>Does so over a network, in a distributed fashion</a:t>
          </a:r>
        </a:p>
      </dgm:t>
    </dgm:pt>
    <dgm:pt modelId="{B034ACC2-3E9F-44ED-B305-DFC2EA48BFD1}" type="parTrans" cxnId="{62E71C05-4816-4F6C-96E5-71136939F27C}">
      <dgm:prSet/>
      <dgm:spPr/>
      <dgm:t>
        <a:bodyPr/>
        <a:lstStyle/>
        <a:p>
          <a:endParaRPr lang="en-US"/>
        </a:p>
      </dgm:t>
    </dgm:pt>
    <dgm:pt modelId="{CC9A83A3-7C2A-45A8-85DC-696D16EFA0FE}" type="sibTrans" cxnId="{62E71C05-4816-4F6C-96E5-71136939F27C}">
      <dgm:prSet/>
      <dgm:spPr/>
      <dgm:t>
        <a:bodyPr/>
        <a:lstStyle/>
        <a:p>
          <a:endParaRPr lang="en-US"/>
        </a:p>
      </dgm:t>
    </dgm:pt>
    <dgm:pt modelId="{4BFB194B-FB36-4A01-8CF0-65B9EE1FD0EB}">
      <dgm:prSet/>
      <dgm:spPr/>
      <dgm:t>
        <a:bodyPr/>
        <a:lstStyle/>
        <a:p>
          <a:pPr>
            <a:lnSpc>
              <a:spcPct val="100000"/>
            </a:lnSpc>
          </a:pPr>
          <a:r>
            <a:rPr lang="en-US"/>
            <a:t>Typically has many users, often geographically separated</a:t>
          </a:r>
        </a:p>
      </dgm:t>
    </dgm:pt>
    <dgm:pt modelId="{A0D22BBF-306A-4EA5-9A87-FCCC9A6BCC67}" type="parTrans" cxnId="{E3C5AA27-5B74-40AC-B4EE-609C01A63E1C}">
      <dgm:prSet/>
      <dgm:spPr/>
      <dgm:t>
        <a:bodyPr/>
        <a:lstStyle/>
        <a:p>
          <a:endParaRPr lang="en-US"/>
        </a:p>
      </dgm:t>
    </dgm:pt>
    <dgm:pt modelId="{1FFA5B5C-9523-4702-9E36-ABC174797DD5}" type="sibTrans" cxnId="{E3C5AA27-5B74-40AC-B4EE-609C01A63E1C}">
      <dgm:prSet/>
      <dgm:spPr/>
      <dgm:t>
        <a:bodyPr/>
        <a:lstStyle/>
        <a:p>
          <a:endParaRPr lang="en-US"/>
        </a:p>
      </dgm:t>
    </dgm:pt>
    <dgm:pt modelId="{AFCECFD3-85FD-4FA7-947F-882A8D4DBA78}">
      <dgm:prSet/>
      <dgm:spPr/>
      <dgm:t>
        <a:bodyPr/>
        <a:lstStyle/>
        <a:p>
          <a:pPr>
            <a:lnSpc>
              <a:spcPct val="100000"/>
            </a:lnSpc>
          </a:pPr>
          <a:r>
            <a:rPr lang="en-US"/>
            <a:t>Ideally DIMs enable users to access timely, relevant and useful information in a seamless manner</a:t>
          </a:r>
        </a:p>
      </dgm:t>
    </dgm:pt>
    <dgm:pt modelId="{A3162A0A-5FF9-4A7E-A959-9EA010213D4E}" type="parTrans" cxnId="{8150AD8C-1D34-4F00-A2ED-85912B1B263B}">
      <dgm:prSet/>
      <dgm:spPr/>
      <dgm:t>
        <a:bodyPr/>
        <a:lstStyle/>
        <a:p>
          <a:endParaRPr lang="en-US"/>
        </a:p>
      </dgm:t>
    </dgm:pt>
    <dgm:pt modelId="{F0B1875F-9B9A-41C8-B003-2A2346EAACCC}" type="sibTrans" cxnId="{8150AD8C-1D34-4F00-A2ED-85912B1B263B}">
      <dgm:prSet/>
      <dgm:spPr/>
      <dgm:t>
        <a:bodyPr/>
        <a:lstStyle/>
        <a:p>
          <a:endParaRPr lang="en-US"/>
        </a:p>
      </dgm:t>
    </dgm:pt>
    <dgm:pt modelId="{CC18FA7D-D8A7-40D1-85D7-43452F9293F5}" type="pres">
      <dgm:prSet presAssocID="{DD316D8C-BE1D-41B5-B150-074136307BEA}" presName="root" presStyleCnt="0">
        <dgm:presLayoutVars>
          <dgm:dir/>
          <dgm:resizeHandles val="exact"/>
        </dgm:presLayoutVars>
      </dgm:prSet>
      <dgm:spPr/>
    </dgm:pt>
    <dgm:pt modelId="{4CD3B49B-3AE4-4BEC-AA10-CE4FACA21152}" type="pres">
      <dgm:prSet presAssocID="{3D6F21FA-076A-4DC0-9AAB-B1E5EEA7346A}" presName="compNode" presStyleCnt="0"/>
      <dgm:spPr/>
    </dgm:pt>
    <dgm:pt modelId="{A462562B-F720-43A0-9A86-B9FADFA0F5F4}" type="pres">
      <dgm:prSet presAssocID="{3D6F21FA-076A-4DC0-9AAB-B1E5EEA7346A}" presName="bgRect" presStyleLbl="bgShp" presStyleIdx="0" presStyleCnt="5"/>
      <dgm:spPr/>
    </dgm:pt>
    <dgm:pt modelId="{CFF04D93-390C-4996-8880-352544A03FEB}" type="pres">
      <dgm:prSet presAssocID="{3D6F21FA-076A-4DC0-9AAB-B1E5EEA7346A}"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erver"/>
        </a:ext>
      </dgm:extLst>
    </dgm:pt>
    <dgm:pt modelId="{68B6AB78-6116-4CB6-BC35-1942D8216628}" type="pres">
      <dgm:prSet presAssocID="{3D6F21FA-076A-4DC0-9AAB-B1E5EEA7346A}" presName="spaceRect" presStyleCnt="0"/>
      <dgm:spPr/>
    </dgm:pt>
    <dgm:pt modelId="{1EC47949-756C-4B27-95B6-DB4B214226DB}" type="pres">
      <dgm:prSet presAssocID="{3D6F21FA-076A-4DC0-9AAB-B1E5EEA7346A}" presName="parTx" presStyleLbl="revTx" presStyleIdx="0" presStyleCnt="5">
        <dgm:presLayoutVars>
          <dgm:chMax val="0"/>
          <dgm:chPref val="0"/>
        </dgm:presLayoutVars>
      </dgm:prSet>
      <dgm:spPr/>
    </dgm:pt>
    <dgm:pt modelId="{01A358BD-AA39-4F93-A752-7F84DA7D76B9}" type="pres">
      <dgm:prSet presAssocID="{22C2949A-DD90-431E-BA92-84BB3833C853}" presName="sibTrans" presStyleCnt="0"/>
      <dgm:spPr/>
    </dgm:pt>
    <dgm:pt modelId="{80FF05A1-44B4-495D-9DB0-90C3CCC27EC1}" type="pres">
      <dgm:prSet presAssocID="{479C0B61-3025-454C-BC8F-9CAFC9FB61F8}" presName="compNode" presStyleCnt="0"/>
      <dgm:spPr/>
    </dgm:pt>
    <dgm:pt modelId="{026DD478-8F08-4D36-AA33-988199A16594}" type="pres">
      <dgm:prSet presAssocID="{479C0B61-3025-454C-BC8F-9CAFC9FB61F8}" presName="bgRect" presStyleLbl="bgShp" presStyleIdx="1" presStyleCnt="5"/>
      <dgm:spPr/>
    </dgm:pt>
    <dgm:pt modelId="{1B3B0FC5-880F-49BD-9EDB-D9A917E68EA1}" type="pres">
      <dgm:prSet presAssocID="{479C0B61-3025-454C-BC8F-9CAFC9FB61F8}"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rogrammer"/>
        </a:ext>
      </dgm:extLst>
    </dgm:pt>
    <dgm:pt modelId="{3FC36373-490C-4CB2-AB7C-0593B1AB1934}" type="pres">
      <dgm:prSet presAssocID="{479C0B61-3025-454C-BC8F-9CAFC9FB61F8}" presName="spaceRect" presStyleCnt="0"/>
      <dgm:spPr/>
    </dgm:pt>
    <dgm:pt modelId="{16E8370A-68A2-4947-A361-0B8C5CE50CE2}" type="pres">
      <dgm:prSet presAssocID="{479C0B61-3025-454C-BC8F-9CAFC9FB61F8}" presName="parTx" presStyleLbl="revTx" presStyleIdx="1" presStyleCnt="5">
        <dgm:presLayoutVars>
          <dgm:chMax val="0"/>
          <dgm:chPref val="0"/>
        </dgm:presLayoutVars>
      </dgm:prSet>
      <dgm:spPr/>
    </dgm:pt>
    <dgm:pt modelId="{91A62FC9-427D-47D4-ABE7-B74825CE8A6A}" type="pres">
      <dgm:prSet presAssocID="{B7A26C85-E56B-437A-8B5B-967E5532E391}" presName="sibTrans" presStyleCnt="0"/>
      <dgm:spPr/>
    </dgm:pt>
    <dgm:pt modelId="{02A88E4B-03D6-4D91-AFF2-8979967285FC}" type="pres">
      <dgm:prSet presAssocID="{55E53E30-5C86-4491-9A4D-EEFBEBD9B054}" presName="compNode" presStyleCnt="0"/>
      <dgm:spPr/>
    </dgm:pt>
    <dgm:pt modelId="{7CE21133-A5B1-4567-A108-BDE2B87D0B91}" type="pres">
      <dgm:prSet presAssocID="{55E53E30-5C86-4491-9A4D-EEFBEBD9B054}" presName="bgRect" presStyleLbl="bgShp" presStyleIdx="2" presStyleCnt="5"/>
      <dgm:spPr/>
    </dgm:pt>
    <dgm:pt modelId="{2B62587B-4EBF-47C9-A3DC-D79E7CFFD3A9}" type="pres">
      <dgm:prSet presAssocID="{55E53E30-5C86-4491-9A4D-EEFBEBD9B054}"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User Network"/>
        </a:ext>
      </dgm:extLst>
    </dgm:pt>
    <dgm:pt modelId="{5D4231AB-1583-44D3-9485-8C2A1BDA8ADB}" type="pres">
      <dgm:prSet presAssocID="{55E53E30-5C86-4491-9A4D-EEFBEBD9B054}" presName="spaceRect" presStyleCnt="0"/>
      <dgm:spPr/>
    </dgm:pt>
    <dgm:pt modelId="{9BE75A7E-1680-490D-A753-8210B5530491}" type="pres">
      <dgm:prSet presAssocID="{55E53E30-5C86-4491-9A4D-EEFBEBD9B054}" presName="parTx" presStyleLbl="revTx" presStyleIdx="2" presStyleCnt="5">
        <dgm:presLayoutVars>
          <dgm:chMax val="0"/>
          <dgm:chPref val="0"/>
        </dgm:presLayoutVars>
      </dgm:prSet>
      <dgm:spPr/>
    </dgm:pt>
    <dgm:pt modelId="{F600AF5A-168E-4DEE-B4F6-B0D5393DB22F}" type="pres">
      <dgm:prSet presAssocID="{CC9A83A3-7C2A-45A8-85DC-696D16EFA0FE}" presName="sibTrans" presStyleCnt="0"/>
      <dgm:spPr/>
    </dgm:pt>
    <dgm:pt modelId="{5D93E32F-AA09-4276-A727-F385B0B936AC}" type="pres">
      <dgm:prSet presAssocID="{4BFB194B-FB36-4A01-8CF0-65B9EE1FD0EB}" presName="compNode" presStyleCnt="0"/>
      <dgm:spPr/>
    </dgm:pt>
    <dgm:pt modelId="{6AA8FA89-0D83-41D0-8DE4-7AA7553A4A8A}" type="pres">
      <dgm:prSet presAssocID="{4BFB194B-FB36-4A01-8CF0-65B9EE1FD0EB}" presName="bgRect" presStyleLbl="bgShp" presStyleIdx="3" presStyleCnt="5"/>
      <dgm:spPr/>
    </dgm:pt>
    <dgm:pt modelId="{9F39F8B3-D502-4DD7-A7BF-93044BD742F9}" type="pres">
      <dgm:prSet presAssocID="{4BFB194B-FB36-4A01-8CF0-65B9EE1FD0EB}"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Group of People"/>
        </a:ext>
      </dgm:extLst>
    </dgm:pt>
    <dgm:pt modelId="{C30F4B49-711B-49D6-92D0-DD8EEEBE3D85}" type="pres">
      <dgm:prSet presAssocID="{4BFB194B-FB36-4A01-8CF0-65B9EE1FD0EB}" presName="spaceRect" presStyleCnt="0"/>
      <dgm:spPr/>
    </dgm:pt>
    <dgm:pt modelId="{62A4970D-4FF3-409D-97B6-C36236A9B0E3}" type="pres">
      <dgm:prSet presAssocID="{4BFB194B-FB36-4A01-8CF0-65B9EE1FD0EB}" presName="parTx" presStyleLbl="revTx" presStyleIdx="3" presStyleCnt="5">
        <dgm:presLayoutVars>
          <dgm:chMax val="0"/>
          <dgm:chPref val="0"/>
        </dgm:presLayoutVars>
      </dgm:prSet>
      <dgm:spPr/>
    </dgm:pt>
    <dgm:pt modelId="{3E3F31E2-3E5D-4847-AB18-91008B2B4CB8}" type="pres">
      <dgm:prSet presAssocID="{1FFA5B5C-9523-4702-9E36-ABC174797DD5}" presName="sibTrans" presStyleCnt="0"/>
      <dgm:spPr/>
    </dgm:pt>
    <dgm:pt modelId="{156BF7F5-AFA2-4B2C-8DF5-519B889CBFC2}" type="pres">
      <dgm:prSet presAssocID="{AFCECFD3-85FD-4FA7-947F-882A8D4DBA78}" presName="compNode" presStyleCnt="0"/>
      <dgm:spPr/>
    </dgm:pt>
    <dgm:pt modelId="{109D08BC-894C-4E96-BE22-9FF25D891FED}" type="pres">
      <dgm:prSet presAssocID="{AFCECFD3-85FD-4FA7-947F-882A8D4DBA78}" presName="bgRect" presStyleLbl="bgShp" presStyleIdx="4" presStyleCnt="5"/>
      <dgm:spPr/>
    </dgm:pt>
    <dgm:pt modelId="{78190B0D-06FD-4911-A5D1-2044161FA302}" type="pres">
      <dgm:prSet presAssocID="{AFCECFD3-85FD-4FA7-947F-882A8D4DBA78}"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Lock"/>
        </a:ext>
      </dgm:extLst>
    </dgm:pt>
    <dgm:pt modelId="{C81CB1ED-2976-431C-9596-160FFD3DF281}" type="pres">
      <dgm:prSet presAssocID="{AFCECFD3-85FD-4FA7-947F-882A8D4DBA78}" presName="spaceRect" presStyleCnt="0"/>
      <dgm:spPr/>
    </dgm:pt>
    <dgm:pt modelId="{A2454272-57E0-4B31-BFAA-8850F0F6724A}" type="pres">
      <dgm:prSet presAssocID="{AFCECFD3-85FD-4FA7-947F-882A8D4DBA78}" presName="parTx" presStyleLbl="revTx" presStyleIdx="4" presStyleCnt="5">
        <dgm:presLayoutVars>
          <dgm:chMax val="0"/>
          <dgm:chPref val="0"/>
        </dgm:presLayoutVars>
      </dgm:prSet>
      <dgm:spPr/>
    </dgm:pt>
  </dgm:ptLst>
  <dgm:cxnLst>
    <dgm:cxn modelId="{62E71C05-4816-4F6C-96E5-71136939F27C}" srcId="{DD316D8C-BE1D-41B5-B150-074136307BEA}" destId="{55E53E30-5C86-4491-9A4D-EEFBEBD9B054}" srcOrd="2" destOrd="0" parTransId="{B034ACC2-3E9F-44ED-B305-DFC2EA48BFD1}" sibTransId="{CC9A83A3-7C2A-45A8-85DC-696D16EFA0FE}"/>
    <dgm:cxn modelId="{E3C5AA27-5B74-40AC-B4EE-609C01A63E1C}" srcId="{DD316D8C-BE1D-41B5-B150-074136307BEA}" destId="{4BFB194B-FB36-4A01-8CF0-65B9EE1FD0EB}" srcOrd="3" destOrd="0" parTransId="{A0D22BBF-306A-4EA5-9A87-FCCC9A6BCC67}" sibTransId="{1FFA5B5C-9523-4702-9E36-ABC174797DD5}"/>
    <dgm:cxn modelId="{D20B7848-B425-428D-8305-98E0B5DBB6FA}" srcId="{DD316D8C-BE1D-41B5-B150-074136307BEA}" destId="{479C0B61-3025-454C-BC8F-9CAFC9FB61F8}" srcOrd="1" destOrd="0" parTransId="{2C6C3822-4913-4A40-8C3E-69F0E3EAD43E}" sibTransId="{B7A26C85-E56B-437A-8B5B-967E5532E391}"/>
    <dgm:cxn modelId="{51F47254-9971-43E1-89FC-4217D4FBBBA3}" type="presOf" srcId="{4BFB194B-FB36-4A01-8CF0-65B9EE1FD0EB}" destId="{62A4970D-4FF3-409D-97B6-C36236A9B0E3}" srcOrd="0" destOrd="0" presId="urn:microsoft.com/office/officeart/2018/2/layout/IconVerticalSolidList"/>
    <dgm:cxn modelId="{23539D81-B0E6-4CF6-AD9E-5749E36778F0}" type="presOf" srcId="{AFCECFD3-85FD-4FA7-947F-882A8D4DBA78}" destId="{A2454272-57E0-4B31-BFAA-8850F0F6724A}" srcOrd="0" destOrd="0" presId="urn:microsoft.com/office/officeart/2018/2/layout/IconVerticalSolidList"/>
    <dgm:cxn modelId="{252AA888-8FB2-4CD8-85E9-F9388350ECA4}" type="presOf" srcId="{479C0B61-3025-454C-BC8F-9CAFC9FB61F8}" destId="{16E8370A-68A2-4947-A361-0B8C5CE50CE2}" srcOrd="0" destOrd="0" presId="urn:microsoft.com/office/officeart/2018/2/layout/IconVerticalSolidList"/>
    <dgm:cxn modelId="{8150AD8C-1D34-4F00-A2ED-85912B1B263B}" srcId="{DD316D8C-BE1D-41B5-B150-074136307BEA}" destId="{AFCECFD3-85FD-4FA7-947F-882A8D4DBA78}" srcOrd="4" destOrd="0" parTransId="{A3162A0A-5FF9-4A7E-A959-9EA010213D4E}" sibTransId="{F0B1875F-9B9A-41C8-B003-2A2346EAACCC}"/>
    <dgm:cxn modelId="{A5BBF5A2-0624-4551-9766-B9640A29EC2D}" type="presOf" srcId="{55E53E30-5C86-4491-9A4D-EEFBEBD9B054}" destId="{9BE75A7E-1680-490D-A753-8210B5530491}" srcOrd="0" destOrd="0" presId="urn:microsoft.com/office/officeart/2018/2/layout/IconVerticalSolidList"/>
    <dgm:cxn modelId="{681983B6-97DB-42A1-9D96-632302CD027C}" srcId="{DD316D8C-BE1D-41B5-B150-074136307BEA}" destId="{3D6F21FA-076A-4DC0-9AAB-B1E5EEA7346A}" srcOrd="0" destOrd="0" parTransId="{5EA680B6-7CF6-47A0-8598-913AE53ED6A8}" sibTransId="{22C2949A-DD90-431E-BA92-84BB3833C853}"/>
    <dgm:cxn modelId="{73FF12C1-1A1F-4D67-9DB3-220A79BA62E3}" type="presOf" srcId="{3D6F21FA-076A-4DC0-9AAB-B1E5EEA7346A}" destId="{1EC47949-756C-4B27-95B6-DB4B214226DB}" srcOrd="0" destOrd="0" presId="urn:microsoft.com/office/officeart/2018/2/layout/IconVerticalSolidList"/>
    <dgm:cxn modelId="{CC12CAFF-2F83-4763-ADC2-F2A97908B17D}" type="presOf" srcId="{DD316D8C-BE1D-41B5-B150-074136307BEA}" destId="{CC18FA7D-D8A7-40D1-85D7-43452F9293F5}" srcOrd="0" destOrd="0" presId="urn:microsoft.com/office/officeart/2018/2/layout/IconVerticalSolidList"/>
    <dgm:cxn modelId="{AB857E2D-E583-4FBC-BD0E-86C5FA35F238}" type="presParOf" srcId="{CC18FA7D-D8A7-40D1-85D7-43452F9293F5}" destId="{4CD3B49B-3AE4-4BEC-AA10-CE4FACA21152}" srcOrd="0" destOrd="0" presId="urn:microsoft.com/office/officeart/2018/2/layout/IconVerticalSolidList"/>
    <dgm:cxn modelId="{BDFA99D4-3E5E-494E-A999-B18349F5309E}" type="presParOf" srcId="{4CD3B49B-3AE4-4BEC-AA10-CE4FACA21152}" destId="{A462562B-F720-43A0-9A86-B9FADFA0F5F4}" srcOrd="0" destOrd="0" presId="urn:microsoft.com/office/officeart/2018/2/layout/IconVerticalSolidList"/>
    <dgm:cxn modelId="{7D0858B9-31AD-4EBB-8E94-19716A3B6F37}" type="presParOf" srcId="{4CD3B49B-3AE4-4BEC-AA10-CE4FACA21152}" destId="{CFF04D93-390C-4996-8880-352544A03FEB}" srcOrd="1" destOrd="0" presId="urn:microsoft.com/office/officeart/2018/2/layout/IconVerticalSolidList"/>
    <dgm:cxn modelId="{B7591DE2-C2E9-43E1-8D83-B4F07CAB52EF}" type="presParOf" srcId="{4CD3B49B-3AE4-4BEC-AA10-CE4FACA21152}" destId="{68B6AB78-6116-4CB6-BC35-1942D8216628}" srcOrd="2" destOrd="0" presId="urn:microsoft.com/office/officeart/2018/2/layout/IconVerticalSolidList"/>
    <dgm:cxn modelId="{EFC8B821-FB6C-4DE9-9A80-EEB9FEEEE455}" type="presParOf" srcId="{4CD3B49B-3AE4-4BEC-AA10-CE4FACA21152}" destId="{1EC47949-756C-4B27-95B6-DB4B214226DB}" srcOrd="3" destOrd="0" presId="urn:microsoft.com/office/officeart/2018/2/layout/IconVerticalSolidList"/>
    <dgm:cxn modelId="{B36DE7ED-39ED-4CE9-9D78-28AD640072A6}" type="presParOf" srcId="{CC18FA7D-D8A7-40D1-85D7-43452F9293F5}" destId="{01A358BD-AA39-4F93-A752-7F84DA7D76B9}" srcOrd="1" destOrd="0" presId="urn:microsoft.com/office/officeart/2018/2/layout/IconVerticalSolidList"/>
    <dgm:cxn modelId="{FB0C2DDD-B369-4DE7-A282-0B68B8D85911}" type="presParOf" srcId="{CC18FA7D-D8A7-40D1-85D7-43452F9293F5}" destId="{80FF05A1-44B4-495D-9DB0-90C3CCC27EC1}" srcOrd="2" destOrd="0" presId="urn:microsoft.com/office/officeart/2018/2/layout/IconVerticalSolidList"/>
    <dgm:cxn modelId="{731B6D02-8BDD-42A5-BB54-709634C51E52}" type="presParOf" srcId="{80FF05A1-44B4-495D-9DB0-90C3CCC27EC1}" destId="{026DD478-8F08-4D36-AA33-988199A16594}" srcOrd="0" destOrd="0" presId="urn:microsoft.com/office/officeart/2018/2/layout/IconVerticalSolidList"/>
    <dgm:cxn modelId="{D44F86D1-6A26-48FC-B594-6036490DD111}" type="presParOf" srcId="{80FF05A1-44B4-495D-9DB0-90C3CCC27EC1}" destId="{1B3B0FC5-880F-49BD-9EDB-D9A917E68EA1}" srcOrd="1" destOrd="0" presId="urn:microsoft.com/office/officeart/2018/2/layout/IconVerticalSolidList"/>
    <dgm:cxn modelId="{1A593D71-8FA6-46D0-9443-5047097D225A}" type="presParOf" srcId="{80FF05A1-44B4-495D-9DB0-90C3CCC27EC1}" destId="{3FC36373-490C-4CB2-AB7C-0593B1AB1934}" srcOrd="2" destOrd="0" presId="urn:microsoft.com/office/officeart/2018/2/layout/IconVerticalSolidList"/>
    <dgm:cxn modelId="{82D6CE50-9CDA-4238-8F3E-A67148955A63}" type="presParOf" srcId="{80FF05A1-44B4-495D-9DB0-90C3CCC27EC1}" destId="{16E8370A-68A2-4947-A361-0B8C5CE50CE2}" srcOrd="3" destOrd="0" presId="urn:microsoft.com/office/officeart/2018/2/layout/IconVerticalSolidList"/>
    <dgm:cxn modelId="{BE934786-5EE2-4E33-A647-114FD361A8A4}" type="presParOf" srcId="{CC18FA7D-D8A7-40D1-85D7-43452F9293F5}" destId="{91A62FC9-427D-47D4-ABE7-B74825CE8A6A}" srcOrd="3" destOrd="0" presId="urn:microsoft.com/office/officeart/2018/2/layout/IconVerticalSolidList"/>
    <dgm:cxn modelId="{D7DF4224-D97E-49CA-BD68-1D8611CD6AD2}" type="presParOf" srcId="{CC18FA7D-D8A7-40D1-85D7-43452F9293F5}" destId="{02A88E4B-03D6-4D91-AFF2-8979967285FC}" srcOrd="4" destOrd="0" presId="urn:microsoft.com/office/officeart/2018/2/layout/IconVerticalSolidList"/>
    <dgm:cxn modelId="{04478E95-13DD-4F92-A2DF-C47CEB8CF5E6}" type="presParOf" srcId="{02A88E4B-03D6-4D91-AFF2-8979967285FC}" destId="{7CE21133-A5B1-4567-A108-BDE2B87D0B91}" srcOrd="0" destOrd="0" presId="urn:microsoft.com/office/officeart/2018/2/layout/IconVerticalSolidList"/>
    <dgm:cxn modelId="{865CDEBF-8C72-435C-B39C-57ECE6026E03}" type="presParOf" srcId="{02A88E4B-03D6-4D91-AFF2-8979967285FC}" destId="{2B62587B-4EBF-47C9-A3DC-D79E7CFFD3A9}" srcOrd="1" destOrd="0" presId="urn:microsoft.com/office/officeart/2018/2/layout/IconVerticalSolidList"/>
    <dgm:cxn modelId="{BCB03E4E-1DC6-4ED7-81A2-77223C4E90EF}" type="presParOf" srcId="{02A88E4B-03D6-4D91-AFF2-8979967285FC}" destId="{5D4231AB-1583-44D3-9485-8C2A1BDA8ADB}" srcOrd="2" destOrd="0" presId="urn:microsoft.com/office/officeart/2018/2/layout/IconVerticalSolidList"/>
    <dgm:cxn modelId="{B128397A-CF0F-46FC-9A58-9CF752446B7A}" type="presParOf" srcId="{02A88E4B-03D6-4D91-AFF2-8979967285FC}" destId="{9BE75A7E-1680-490D-A753-8210B5530491}" srcOrd="3" destOrd="0" presId="urn:microsoft.com/office/officeart/2018/2/layout/IconVerticalSolidList"/>
    <dgm:cxn modelId="{D22C2B4A-2EB6-4B7B-BC50-FF370BB6040D}" type="presParOf" srcId="{CC18FA7D-D8A7-40D1-85D7-43452F9293F5}" destId="{F600AF5A-168E-4DEE-B4F6-B0D5393DB22F}" srcOrd="5" destOrd="0" presId="urn:microsoft.com/office/officeart/2018/2/layout/IconVerticalSolidList"/>
    <dgm:cxn modelId="{BFE7B26A-FD15-499C-B21C-EB705BDF4BAA}" type="presParOf" srcId="{CC18FA7D-D8A7-40D1-85D7-43452F9293F5}" destId="{5D93E32F-AA09-4276-A727-F385B0B936AC}" srcOrd="6" destOrd="0" presId="urn:microsoft.com/office/officeart/2018/2/layout/IconVerticalSolidList"/>
    <dgm:cxn modelId="{291F1D4F-E1CA-4305-90B6-0F95CB3B9396}" type="presParOf" srcId="{5D93E32F-AA09-4276-A727-F385B0B936AC}" destId="{6AA8FA89-0D83-41D0-8DE4-7AA7553A4A8A}" srcOrd="0" destOrd="0" presId="urn:microsoft.com/office/officeart/2018/2/layout/IconVerticalSolidList"/>
    <dgm:cxn modelId="{12965E56-05FA-489D-B572-09F5D668E696}" type="presParOf" srcId="{5D93E32F-AA09-4276-A727-F385B0B936AC}" destId="{9F39F8B3-D502-4DD7-A7BF-93044BD742F9}" srcOrd="1" destOrd="0" presId="urn:microsoft.com/office/officeart/2018/2/layout/IconVerticalSolidList"/>
    <dgm:cxn modelId="{8419EC66-A8BA-49E8-BE49-67F298E49E49}" type="presParOf" srcId="{5D93E32F-AA09-4276-A727-F385B0B936AC}" destId="{C30F4B49-711B-49D6-92D0-DD8EEEBE3D85}" srcOrd="2" destOrd="0" presId="urn:microsoft.com/office/officeart/2018/2/layout/IconVerticalSolidList"/>
    <dgm:cxn modelId="{68D14BE6-30DF-42A4-8F28-246A8CDD3176}" type="presParOf" srcId="{5D93E32F-AA09-4276-A727-F385B0B936AC}" destId="{62A4970D-4FF3-409D-97B6-C36236A9B0E3}" srcOrd="3" destOrd="0" presId="urn:microsoft.com/office/officeart/2018/2/layout/IconVerticalSolidList"/>
    <dgm:cxn modelId="{D0F8A3D0-CF4F-4DE0-9130-1554C85593DC}" type="presParOf" srcId="{CC18FA7D-D8A7-40D1-85D7-43452F9293F5}" destId="{3E3F31E2-3E5D-4847-AB18-91008B2B4CB8}" srcOrd="7" destOrd="0" presId="urn:microsoft.com/office/officeart/2018/2/layout/IconVerticalSolidList"/>
    <dgm:cxn modelId="{ED799EA0-AB55-4A82-9769-A9AB5FAABA2E}" type="presParOf" srcId="{CC18FA7D-D8A7-40D1-85D7-43452F9293F5}" destId="{156BF7F5-AFA2-4B2C-8DF5-519B889CBFC2}" srcOrd="8" destOrd="0" presId="urn:microsoft.com/office/officeart/2018/2/layout/IconVerticalSolidList"/>
    <dgm:cxn modelId="{8B50F7BF-6BA6-462E-A792-9C376DDD2DD9}" type="presParOf" srcId="{156BF7F5-AFA2-4B2C-8DF5-519B889CBFC2}" destId="{109D08BC-894C-4E96-BE22-9FF25D891FED}" srcOrd="0" destOrd="0" presId="urn:microsoft.com/office/officeart/2018/2/layout/IconVerticalSolidList"/>
    <dgm:cxn modelId="{01E2B503-CFD1-42E3-8170-E99461979736}" type="presParOf" srcId="{156BF7F5-AFA2-4B2C-8DF5-519B889CBFC2}" destId="{78190B0D-06FD-4911-A5D1-2044161FA302}" srcOrd="1" destOrd="0" presId="urn:microsoft.com/office/officeart/2018/2/layout/IconVerticalSolidList"/>
    <dgm:cxn modelId="{588DD93B-1113-4100-A9FE-4EBF5956DA78}" type="presParOf" srcId="{156BF7F5-AFA2-4B2C-8DF5-519B889CBFC2}" destId="{C81CB1ED-2976-431C-9596-160FFD3DF281}" srcOrd="2" destOrd="0" presId="urn:microsoft.com/office/officeart/2018/2/layout/IconVerticalSolidList"/>
    <dgm:cxn modelId="{D7C6D03A-7FC0-4ABF-805B-3FE1CA36491A}" type="presParOf" srcId="{156BF7F5-AFA2-4B2C-8DF5-519B889CBFC2}" destId="{A2454272-57E0-4B31-BFAA-8850F0F672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64C0EE9-0B34-41B5-BC74-5462C714EC4A}" type="doc">
      <dgm:prSet loTypeId="urn:microsoft.com/office/officeart/2005/8/layout/arrow5" loCatId="relationship" qsTypeId="urn:microsoft.com/office/officeart/2005/8/quickstyle/simple1" qsCatId="simple" csTypeId="urn:microsoft.com/office/officeart/2005/8/colors/accent0_3" csCatId="mainScheme" phldr="1"/>
      <dgm:spPr/>
      <dgm:t>
        <a:bodyPr/>
        <a:lstStyle/>
        <a:p>
          <a:endParaRPr lang="en-US"/>
        </a:p>
      </dgm:t>
    </dgm:pt>
    <dgm:pt modelId="{E90205FC-61C8-43F7-B9BB-3A57D0EAE4E5}">
      <dgm:prSet phldrT="[Text]" phldr="0"/>
      <dgm:spPr/>
      <dgm:t>
        <a:bodyPr/>
        <a:lstStyle/>
        <a:p>
          <a:pPr rtl="0"/>
          <a:r>
            <a:rPr lang="en-US">
              <a:latin typeface="Calibri"/>
            </a:rPr>
            <a:t>System Architecture</a:t>
          </a:r>
          <a:endParaRPr lang="en-US"/>
        </a:p>
      </dgm:t>
    </dgm:pt>
    <dgm:pt modelId="{BB579CBD-792D-416C-8A5F-246224DB9279}" type="parTrans" cxnId="{2708DA32-CF70-4B5C-9737-7F1D5D0081B9}">
      <dgm:prSet/>
      <dgm:spPr/>
      <dgm:t>
        <a:bodyPr/>
        <a:lstStyle/>
        <a:p>
          <a:endParaRPr lang="en-US"/>
        </a:p>
      </dgm:t>
    </dgm:pt>
    <dgm:pt modelId="{2EEAC7E2-5A02-4555-84CC-FF2E6DF1AE7E}" type="sibTrans" cxnId="{2708DA32-CF70-4B5C-9737-7F1D5D0081B9}">
      <dgm:prSet/>
      <dgm:spPr/>
      <dgm:t>
        <a:bodyPr/>
        <a:lstStyle/>
        <a:p>
          <a:endParaRPr lang="en-US"/>
        </a:p>
      </dgm:t>
    </dgm:pt>
    <dgm:pt modelId="{DA889846-A6C4-4FE5-A5FC-EEA45DDD5D0C}">
      <dgm:prSet phldrT="[Text]" phldr="0"/>
      <dgm:spPr/>
      <dgm:t>
        <a:bodyPr/>
        <a:lstStyle/>
        <a:p>
          <a:pPr rtl="0"/>
          <a:r>
            <a:rPr lang="en-US">
              <a:latin typeface="Calibri"/>
            </a:rPr>
            <a:t>Information Architecture</a:t>
          </a:r>
          <a:endParaRPr lang="en-US"/>
        </a:p>
      </dgm:t>
    </dgm:pt>
    <dgm:pt modelId="{FBAD8417-4611-4621-AD17-F9D62F966BBE}" type="parTrans" cxnId="{7325EC4A-CBAF-4A6D-8E8C-339C882C7FD8}">
      <dgm:prSet/>
      <dgm:spPr/>
      <dgm:t>
        <a:bodyPr/>
        <a:lstStyle/>
        <a:p>
          <a:endParaRPr lang="en-US"/>
        </a:p>
      </dgm:t>
    </dgm:pt>
    <dgm:pt modelId="{A096F4F9-4EAA-44D0-914E-7AC0ACE8D458}" type="sibTrans" cxnId="{7325EC4A-CBAF-4A6D-8E8C-339C882C7FD8}">
      <dgm:prSet/>
      <dgm:spPr/>
      <dgm:t>
        <a:bodyPr/>
        <a:lstStyle/>
        <a:p>
          <a:endParaRPr lang="en-US"/>
        </a:p>
      </dgm:t>
    </dgm:pt>
    <dgm:pt modelId="{40FDD51A-188C-4A21-B118-CABFE77A854E}" type="pres">
      <dgm:prSet presAssocID="{D64C0EE9-0B34-41B5-BC74-5462C714EC4A}" presName="diagram" presStyleCnt="0">
        <dgm:presLayoutVars>
          <dgm:dir/>
          <dgm:resizeHandles val="exact"/>
        </dgm:presLayoutVars>
      </dgm:prSet>
      <dgm:spPr/>
    </dgm:pt>
    <dgm:pt modelId="{F1A99ACA-8E41-44B2-AD38-DAD54D8DD073}" type="pres">
      <dgm:prSet presAssocID="{E90205FC-61C8-43F7-B9BB-3A57D0EAE4E5}" presName="arrow" presStyleLbl="node1" presStyleIdx="0" presStyleCnt="2">
        <dgm:presLayoutVars>
          <dgm:bulletEnabled val="1"/>
        </dgm:presLayoutVars>
      </dgm:prSet>
      <dgm:spPr/>
    </dgm:pt>
    <dgm:pt modelId="{77FA322C-D57E-4DB7-8A3D-129258060EC2}" type="pres">
      <dgm:prSet presAssocID="{DA889846-A6C4-4FE5-A5FC-EEA45DDD5D0C}" presName="arrow" presStyleLbl="node1" presStyleIdx="1" presStyleCnt="2">
        <dgm:presLayoutVars>
          <dgm:bulletEnabled val="1"/>
        </dgm:presLayoutVars>
      </dgm:prSet>
      <dgm:spPr/>
    </dgm:pt>
  </dgm:ptLst>
  <dgm:cxnLst>
    <dgm:cxn modelId="{73CE151C-D441-4F48-B11A-DC19E69E4726}" type="presOf" srcId="{E90205FC-61C8-43F7-B9BB-3A57D0EAE4E5}" destId="{F1A99ACA-8E41-44B2-AD38-DAD54D8DD073}" srcOrd="0" destOrd="0" presId="urn:microsoft.com/office/officeart/2005/8/layout/arrow5"/>
    <dgm:cxn modelId="{2708DA32-CF70-4B5C-9737-7F1D5D0081B9}" srcId="{D64C0EE9-0B34-41B5-BC74-5462C714EC4A}" destId="{E90205FC-61C8-43F7-B9BB-3A57D0EAE4E5}" srcOrd="0" destOrd="0" parTransId="{BB579CBD-792D-416C-8A5F-246224DB9279}" sibTransId="{2EEAC7E2-5A02-4555-84CC-FF2E6DF1AE7E}"/>
    <dgm:cxn modelId="{8C9D6441-7FA8-4B84-ABF6-48A56D7FF42A}" type="presOf" srcId="{D64C0EE9-0B34-41B5-BC74-5462C714EC4A}" destId="{40FDD51A-188C-4A21-B118-CABFE77A854E}" srcOrd="0" destOrd="0" presId="urn:microsoft.com/office/officeart/2005/8/layout/arrow5"/>
    <dgm:cxn modelId="{7325EC4A-CBAF-4A6D-8E8C-339C882C7FD8}" srcId="{D64C0EE9-0B34-41B5-BC74-5462C714EC4A}" destId="{DA889846-A6C4-4FE5-A5FC-EEA45DDD5D0C}" srcOrd="1" destOrd="0" parTransId="{FBAD8417-4611-4621-AD17-F9D62F966BBE}" sibTransId="{A096F4F9-4EAA-44D0-914E-7AC0ACE8D458}"/>
    <dgm:cxn modelId="{C5014BD0-D26C-4AF2-8980-7179846257BD}" type="presOf" srcId="{DA889846-A6C4-4FE5-A5FC-EEA45DDD5D0C}" destId="{77FA322C-D57E-4DB7-8A3D-129258060EC2}" srcOrd="0" destOrd="0" presId="urn:microsoft.com/office/officeart/2005/8/layout/arrow5"/>
    <dgm:cxn modelId="{C664EE6D-C1FF-4DB0-8D80-52DC08A367FB}" type="presParOf" srcId="{40FDD51A-188C-4A21-B118-CABFE77A854E}" destId="{F1A99ACA-8E41-44B2-AD38-DAD54D8DD073}" srcOrd="0" destOrd="0" presId="urn:microsoft.com/office/officeart/2005/8/layout/arrow5"/>
    <dgm:cxn modelId="{13AF96F9-CFB6-4E7C-8564-2E92A19BBB70}" type="presParOf" srcId="{40FDD51A-188C-4A21-B118-CABFE77A854E}" destId="{77FA322C-D57E-4DB7-8A3D-129258060EC2}" srcOrd="1" destOrd="0" presId="urn:microsoft.com/office/officeart/2005/8/layout/arrow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6DD478-8F08-4D36-AA33-988199A16594}">
      <dsp:nvSpPr>
        <dsp:cNvPr id="0" name=""/>
        <dsp:cNvSpPr/>
      </dsp:nvSpPr>
      <dsp:spPr>
        <a:xfrm>
          <a:off x="0" y="3404"/>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3B0FC5-880F-49BD-9EDB-D9A917E68EA1}">
      <dsp:nvSpPr>
        <dsp:cNvPr id="0" name=""/>
        <dsp:cNvSpPr/>
      </dsp:nvSpPr>
      <dsp:spPr>
        <a:xfrm>
          <a:off x="219348" y="166556"/>
          <a:ext cx="398815" cy="39881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6E8370A-68A2-4947-A361-0B8C5CE50CE2}">
      <dsp:nvSpPr>
        <dsp:cNvPr id="0" name=""/>
        <dsp:cNvSpPr/>
      </dsp:nvSpPr>
      <dsp:spPr>
        <a:xfrm>
          <a:off x="837512" y="3404"/>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dirty="0">
              <a:latin typeface="Calibri"/>
            </a:rPr>
            <a:t>Software </a:t>
          </a:r>
          <a:r>
            <a:rPr lang="en-US" sz="1800" kern="1200" dirty="0">
              <a:latin typeface="Calibri"/>
            </a:rPr>
            <a:t>that you use on your </a:t>
          </a:r>
          <a:r>
            <a:rPr lang="en-US" sz="1800" b="1" kern="1200" dirty="0">
              <a:latin typeface="Calibri"/>
            </a:rPr>
            <a:t>browser</a:t>
          </a:r>
          <a:endParaRPr lang="en-US" sz="1800" b="1" kern="1200" dirty="0"/>
        </a:p>
      </dsp:txBody>
      <dsp:txXfrm>
        <a:off x="837512" y="3404"/>
        <a:ext cx="7049187" cy="725119"/>
      </dsp:txXfrm>
    </dsp:sp>
    <dsp:sp modelId="{D3B1BB12-BDD4-463F-AE19-8A4B4C35CB16}">
      <dsp:nvSpPr>
        <dsp:cNvPr id="0" name=""/>
        <dsp:cNvSpPr/>
      </dsp:nvSpPr>
      <dsp:spPr>
        <a:xfrm>
          <a:off x="0" y="909803"/>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B88A14-A16F-4C95-8837-97EC913CA67A}">
      <dsp:nvSpPr>
        <dsp:cNvPr id="0" name=""/>
        <dsp:cNvSpPr/>
      </dsp:nvSpPr>
      <dsp:spPr>
        <a:xfrm>
          <a:off x="219348" y="1072955"/>
          <a:ext cx="398815" cy="398815"/>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C14D990-064E-4C4B-9ED7-EF51790BE3CF}">
      <dsp:nvSpPr>
        <dsp:cNvPr id="0" name=""/>
        <dsp:cNvSpPr/>
      </dsp:nvSpPr>
      <dsp:spPr>
        <a:xfrm>
          <a:off x="837512" y="909803"/>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dirty="0">
              <a:latin typeface="Calibri"/>
            </a:rPr>
            <a:t> </a:t>
          </a:r>
          <a:r>
            <a:rPr lang="en-US" sz="1800" b="1" kern="1200" dirty="0"/>
            <a:t>Has two parts:</a:t>
          </a:r>
          <a:r>
            <a:rPr lang="en-US" sz="1800" kern="1200" dirty="0"/>
            <a:t> the page you see (</a:t>
          </a:r>
          <a:r>
            <a:rPr lang="en-US" sz="1800" b="1" kern="1200" dirty="0"/>
            <a:t>frontend</a:t>
          </a:r>
          <a:r>
            <a:rPr lang="en-US" sz="1800" kern="1200" dirty="0"/>
            <a:t>) + code on a server (</a:t>
          </a:r>
          <a:r>
            <a:rPr lang="en-US" sz="1800" b="1" kern="1200" dirty="0"/>
            <a:t>backend</a:t>
          </a:r>
          <a:r>
            <a:rPr lang="en-US" sz="1800" kern="1200" dirty="0"/>
            <a:t>)</a:t>
          </a:r>
        </a:p>
      </dsp:txBody>
      <dsp:txXfrm>
        <a:off x="837512" y="909803"/>
        <a:ext cx="7049187" cy="725119"/>
      </dsp:txXfrm>
    </dsp:sp>
    <dsp:sp modelId="{7CE21133-A5B1-4567-A108-BDE2B87D0B91}">
      <dsp:nvSpPr>
        <dsp:cNvPr id="0" name=""/>
        <dsp:cNvSpPr/>
      </dsp:nvSpPr>
      <dsp:spPr>
        <a:xfrm>
          <a:off x="0" y="1816202"/>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62587B-4EBF-47C9-A3DC-D79E7CFFD3A9}">
      <dsp:nvSpPr>
        <dsp:cNvPr id="0" name=""/>
        <dsp:cNvSpPr/>
      </dsp:nvSpPr>
      <dsp:spPr>
        <a:xfrm>
          <a:off x="219348" y="1979354"/>
          <a:ext cx="398815" cy="39881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BE75A7E-1680-490D-A753-8210B5530491}">
      <dsp:nvSpPr>
        <dsp:cNvPr id="0" name=""/>
        <dsp:cNvSpPr/>
      </dsp:nvSpPr>
      <dsp:spPr>
        <a:xfrm>
          <a:off x="837512" y="1816202"/>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rtl="0">
            <a:lnSpc>
              <a:spcPct val="100000"/>
            </a:lnSpc>
            <a:spcBef>
              <a:spcPct val="0"/>
            </a:spcBef>
            <a:spcAft>
              <a:spcPct val="35000"/>
            </a:spcAft>
            <a:buNone/>
          </a:pPr>
          <a:r>
            <a:rPr lang="en-US" sz="1800" b="0" kern="1200" dirty="0">
              <a:latin typeface="Calibri"/>
            </a:rPr>
            <a:t>The frontend and backend </a:t>
          </a:r>
          <a:r>
            <a:rPr lang="en-US" sz="1800" b="1" kern="1200" dirty="0">
              <a:latin typeface="Calibri"/>
            </a:rPr>
            <a:t>communicate</a:t>
          </a:r>
          <a:r>
            <a:rPr lang="en-US" sz="1800" b="1" kern="1200" dirty="0"/>
            <a:t> over the web</a:t>
          </a:r>
          <a:r>
            <a:rPr lang="en-US" sz="1800" kern="1200" dirty="0"/>
            <a:t> (requests and responses)</a:t>
          </a:r>
        </a:p>
      </dsp:txBody>
      <dsp:txXfrm>
        <a:off x="837512" y="1816202"/>
        <a:ext cx="7049187" cy="725119"/>
      </dsp:txXfrm>
    </dsp:sp>
    <dsp:sp modelId="{307BF4AD-9503-4704-B6D9-9A694DE5C4B4}">
      <dsp:nvSpPr>
        <dsp:cNvPr id="0" name=""/>
        <dsp:cNvSpPr/>
      </dsp:nvSpPr>
      <dsp:spPr>
        <a:xfrm>
          <a:off x="0" y="2722601"/>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8C5667-E8B6-43FD-B38D-9A2BD15FAAC2}">
      <dsp:nvSpPr>
        <dsp:cNvPr id="0" name=""/>
        <dsp:cNvSpPr/>
      </dsp:nvSpPr>
      <dsp:spPr>
        <a:xfrm>
          <a:off x="219348" y="2885753"/>
          <a:ext cx="398815" cy="398815"/>
        </a:xfrm>
        <a:prstGeom prst="rect">
          <a:avLst/>
        </a:prstGeom>
        <a:blipFill>
          <a:blip xmlns:r="http://schemas.openxmlformats.org/officeDocument/2006/relationships" r:embed="rId7">
            <a:extLst>
              <a:ext uri="{96DAC541-7B7A-43D3-8B79-37D633B846F1}">
                <asvg:svgBlip xmlns:asvg="http://schemas.microsoft.com/office/drawing/2016/SVG/main"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BB8B1A4-68BD-43B4-BBDD-F060DCB4D6A3}">
      <dsp:nvSpPr>
        <dsp:cNvPr id="0" name=""/>
        <dsp:cNvSpPr/>
      </dsp:nvSpPr>
      <dsp:spPr>
        <a:xfrm>
          <a:off x="837512" y="2722601"/>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dirty="0"/>
            <a:t>Stores and loads data</a:t>
          </a:r>
          <a:r>
            <a:rPr lang="en-US" sz="1800" kern="1200" dirty="0"/>
            <a:t> (often from a database)</a:t>
          </a:r>
          <a:endParaRPr lang="en-US" sz="1800" kern="1200" dirty="0">
            <a:latin typeface="Calibri"/>
          </a:endParaRPr>
        </a:p>
      </dsp:txBody>
      <dsp:txXfrm>
        <a:off x="837512" y="2722601"/>
        <a:ext cx="7049187" cy="725119"/>
      </dsp:txXfrm>
    </dsp:sp>
    <dsp:sp modelId="{6AA8FA89-0D83-41D0-8DE4-7AA7553A4A8A}">
      <dsp:nvSpPr>
        <dsp:cNvPr id="0" name=""/>
        <dsp:cNvSpPr/>
      </dsp:nvSpPr>
      <dsp:spPr>
        <a:xfrm>
          <a:off x="0" y="3629000"/>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F39F8B3-D502-4DD7-A7BF-93044BD742F9}">
      <dsp:nvSpPr>
        <dsp:cNvPr id="0" name=""/>
        <dsp:cNvSpPr/>
      </dsp:nvSpPr>
      <dsp:spPr>
        <a:xfrm>
          <a:off x="219348" y="3792152"/>
          <a:ext cx="398815" cy="39881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2A4970D-4FF3-409D-97B6-C36236A9B0E3}">
      <dsp:nvSpPr>
        <dsp:cNvPr id="0" name=""/>
        <dsp:cNvSpPr/>
      </dsp:nvSpPr>
      <dsp:spPr>
        <a:xfrm>
          <a:off x="837512" y="3629000"/>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dirty="0"/>
            <a:t>Many users </a:t>
          </a:r>
          <a:r>
            <a:rPr lang="en-US" sz="1800" kern="1200" dirty="0"/>
            <a:t>can use it </a:t>
          </a:r>
          <a:r>
            <a:rPr lang="en-US" sz="1800" kern="1200" dirty="0">
              <a:latin typeface="Calibri"/>
            </a:rPr>
            <a:t>at the same time, who need to access timely and useful information</a:t>
          </a:r>
          <a:endParaRPr lang="en-US" sz="1800" kern="1200" dirty="0"/>
        </a:p>
      </dsp:txBody>
      <dsp:txXfrm>
        <a:off x="837512" y="3629000"/>
        <a:ext cx="7049187" cy="72511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E6B780-3E2A-4C68-8654-F8F7959BE810}">
      <dsp:nvSpPr>
        <dsp:cNvPr id="0" name=""/>
        <dsp:cNvSpPr/>
      </dsp:nvSpPr>
      <dsp:spPr>
        <a:xfrm rot="16200000">
          <a:off x="1456" y="979"/>
          <a:ext cx="1298405" cy="1298405"/>
        </a:xfrm>
        <a:prstGeom prst="downArrow">
          <a:avLst>
            <a:gd name="adj1" fmla="val 50000"/>
            <a:gd name="adj2" fmla="val 35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rtl="0">
            <a:lnSpc>
              <a:spcPct val="90000"/>
            </a:lnSpc>
            <a:spcBef>
              <a:spcPct val="0"/>
            </a:spcBef>
            <a:spcAft>
              <a:spcPct val="35000"/>
            </a:spcAft>
            <a:buNone/>
          </a:pPr>
          <a:r>
            <a:rPr lang="en-US" sz="1100" kern="1200" dirty="0">
              <a:latin typeface="Calibri"/>
            </a:rPr>
            <a:t>Type password</a:t>
          </a:r>
          <a:endParaRPr lang="en-US" sz="1100" kern="1200" dirty="0"/>
        </a:p>
      </dsp:txBody>
      <dsp:txXfrm rot="5400000">
        <a:off x="1457" y="325579"/>
        <a:ext cx="1071184" cy="649203"/>
      </dsp:txXfrm>
    </dsp:sp>
    <dsp:sp modelId="{35D5AD5B-F41F-45E3-BEE0-6A5D53CF1045}">
      <dsp:nvSpPr>
        <dsp:cNvPr id="0" name=""/>
        <dsp:cNvSpPr/>
      </dsp:nvSpPr>
      <dsp:spPr>
        <a:xfrm rot="5400000">
          <a:off x="3615358" y="979"/>
          <a:ext cx="1298405" cy="1298405"/>
        </a:xfrm>
        <a:prstGeom prst="downArrow">
          <a:avLst>
            <a:gd name="adj1" fmla="val 50000"/>
            <a:gd name="adj2" fmla="val 35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rtl="0">
            <a:lnSpc>
              <a:spcPct val="90000"/>
            </a:lnSpc>
            <a:spcBef>
              <a:spcPct val="0"/>
            </a:spcBef>
            <a:spcAft>
              <a:spcPct val="35000"/>
            </a:spcAft>
            <a:buNone/>
          </a:pPr>
          <a:r>
            <a:rPr lang="en-US" sz="1100" kern="1200" dirty="0">
              <a:latin typeface="Calibri"/>
            </a:rPr>
            <a:t>Check password and permissions</a:t>
          </a:r>
          <a:endParaRPr lang="en-US" sz="1100" kern="1200" dirty="0"/>
        </a:p>
      </dsp:txBody>
      <dsp:txXfrm rot="-5400000">
        <a:off x="3842580" y="325580"/>
        <a:ext cx="1071184" cy="6492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62562B-F720-43A0-9A86-B9FADFA0F5F4}">
      <dsp:nvSpPr>
        <dsp:cNvPr id="0" name=""/>
        <dsp:cNvSpPr/>
      </dsp:nvSpPr>
      <dsp:spPr>
        <a:xfrm>
          <a:off x="0" y="3404"/>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FF04D93-390C-4996-8880-352544A03FEB}">
      <dsp:nvSpPr>
        <dsp:cNvPr id="0" name=""/>
        <dsp:cNvSpPr/>
      </dsp:nvSpPr>
      <dsp:spPr>
        <a:xfrm>
          <a:off x="219348" y="166556"/>
          <a:ext cx="398815" cy="39881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EC47949-756C-4B27-95B6-DB4B214226DB}">
      <dsp:nvSpPr>
        <dsp:cNvPr id="0" name=""/>
        <dsp:cNvSpPr/>
      </dsp:nvSpPr>
      <dsp:spPr>
        <a:xfrm>
          <a:off x="837512" y="3404"/>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It is a distributed information management system (DIM)</a:t>
          </a:r>
        </a:p>
      </dsp:txBody>
      <dsp:txXfrm>
        <a:off x="837512" y="3404"/>
        <a:ext cx="7049187" cy="725119"/>
      </dsp:txXfrm>
    </dsp:sp>
    <dsp:sp modelId="{026DD478-8F08-4D36-AA33-988199A16594}">
      <dsp:nvSpPr>
        <dsp:cNvPr id="0" name=""/>
        <dsp:cNvSpPr/>
      </dsp:nvSpPr>
      <dsp:spPr>
        <a:xfrm>
          <a:off x="0" y="909803"/>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3B0FC5-880F-49BD-9EDB-D9A917E68EA1}">
      <dsp:nvSpPr>
        <dsp:cNvPr id="0" name=""/>
        <dsp:cNvSpPr/>
      </dsp:nvSpPr>
      <dsp:spPr>
        <a:xfrm>
          <a:off x="219348" y="1072955"/>
          <a:ext cx="398815" cy="39881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6E8370A-68A2-4947-A361-0B8C5CE50CE2}">
      <dsp:nvSpPr>
        <dsp:cNvPr id="0" name=""/>
        <dsp:cNvSpPr/>
      </dsp:nvSpPr>
      <dsp:spPr>
        <a:xfrm>
          <a:off x="837512" y="909803"/>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Enables management, sharing, finding and presentation of information over the web</a:t>
          </a:r>
        </a:p>
      </dsp:txBody>
      <dsp:txXfrm>
        <a:off x="837512" y="909803"/>
        <a:ext cx="7049187" cy="725119"/>
      </dsp:txXfrm>
    </dsp:sp>
    <dsp:sp modelId="{7CE21133-A5B1-4567-A108-BDE2B87D0B91}">
      <dsp:nvSpPr>
        <dsp:cNvPr id="0" name=""/>
        <dsp:cNvSpPr/>
      </dsp:nvSpPr>
      <dsp:spPr>
        <a:xfrm>
          <a:off x="0" y="1816202"/>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62587B-4EBF-47C9-A3DC-D79E7CFFD3A9}">
      <dsp:nvSpPr>
        <dsp:cNvPr id="0" name=""/>
        <dsp:cNvSpPr/>
      </dsp:nvSpPr>
      <dsp:spPr>
        <a:xfrm>
          <a:off x="219348" y="1979354"/>
          <a:ext cx="398815" cy="39881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BE75A7E-1680-490D-A753-8210B5530491}">
      <dsp:nvSpPr>
        <dsp:cNvPr id="0" name=""/>
        <dsp:cNvSpPr/>
      </dsp:nvSpPr>
      <dsp:spPr>
        <a:xfrm>
          <a:off x="837512" y="1816202"/>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Does so over a network, in a distributed fashion</a:t>
          </a:r>
        </a:p>
      </dsp:txBody>
      <dsp:txXfrm>
        <a:off x="837512" y="1816202"/>
        <a:ext cx="7049187" cy="725119"/>
      </dsp:txXfrm>
    </dsp:sp>
    <dsp:sp modelId="{6AA8FA89-0D83-41D0-8DE4-7AA7553A4A8A}">
      <dsp:nvSpPr>
        <dsp:cNvPr id="0" name=""/>
        <dsp:cNvSpPr/>
      </dsp:nvSpPr>
      <dsp:spPr>
        <a:xfrm>
          <a:off x="0" y="2722601"/>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F39F8B3-D502-4DD7-A7BF-93044BD742F9}">
      <dsp:nvSpPr>
        <dsp:cNvPr id="0" name=""/>
        <dsp:cNvSpPr/>
      </dsp:nvSpPr>
      <dsp:spPr>
        <a:xfrm>
          <a:off x="219348" y="2885753"/>
          <a:ext cx="398815" cy="39881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2A4970D-4FF3-409D-97B6-C36236A9B0E3}">
      <dsp:nvSpPr>
        <dsp:cNvPr id="0" name=""/>
        <dsp:cNvSpPr/>
      </dsp:nvSpPr>
      <dsp:spPr>
        <a:xfrm>
          <a:off x="837512" y="2722601"/>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Typically has many users, often geographically separated</a:t>
          </a:r>
        </a:p>
      </dsp:txBody>
      <dsp:txXfrm>
        <a:off x="837512" y="2722601"/>
        <a:ext cx="7049187" cy="725119"/>
      </dsp:txXfrm>
    </dsp:sp>
    <dsp:sp modelId="{109D08BC-894C-4E96-BE22-9FF25D891FED}">
      <dsp:nvSpPr>
        <dsp:cNvPr id="0" name=""/>
        <dsp:cNvSpPr/>
      </dsp:nvSpPr>
      <dsp:spPr>
        <a:xfrm>
          <a:off x="0" y="3629000"/>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8190B0D-06FD-4911-A5D1-2044161FA302}">
      <dsp:nvSpPr>
        <dsp:cNvPr id="0" name=""/>
        <dsp:cNvSpPr/>
      </dsp:nvSpPr>
      <dsp:spPr>
        <a:xfrm>
          <a:off x="219348" y="3792152"/>
          <a:ext cx="398815" cy="39881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454272-57E0-4B31-BFAA-8850F0F6724A}">
      <dsp:nvSpPr>
        <dsp:cNvPr id="0" name=""/>
        <dsp:cNvSpPr/>
      </dsp:nvSpPr>
      <dsp:spPr>
        <a:xfrm>
          <a:off x="837512" y="3629000"/>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Ideally DIMs enable users to access timely, relevant and useful information in a seamless manner</a:t>
          </a:r>
        </a:p>
      </dsp:txBody>
      <dsp:txXfrm>
        <a:off x="837512" y="3629000"/>
        <a:ext cx="7049187" cy="72511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1A99ACA-8E41-44B2-AD38-DAD54D8DD073}">
      <dsp:nvSpPr>
        <dsp:cNvPr id="0" name=""/>
        <dsp:cNvSpPr/>
      </dsp:nvSpPr>
      <dsp:spPr>
        <a:xfrm rot="16200000">
          <a:off x="503" y="248494"/>
          <a:ext cx="3160611" cy="3160611"/>
        </a:xfrm>
        <a:prstGeom prst="downArrow">
          <a:avLst>
            <a:gd name="adj1" fmla="val 50000"/>
            <a:gd name="adj2" fmla="val 35000"/>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234696" rIns="234696" bIns="234696" numCol="1" spcCol="1270" anchor="ctr" anchorCtr="0">
          <a:noAutofit/>
        </a:bodyPr>
        <a:lstStyle/>
        <a:p>
          <a:pPr marL="0" lvl="0" indent="0" algn="ctr" defTabSz="1466850" rtl="0">
            <a:lnSpc>
              <a:spcPct val="90000"/>
            </a:lnSpc>
            <a:spcBef>
              <a:spcPct val="0"/>
            </a:spcBef>
            <a:spcAft>
              <a:spcPct val="35000"/>
            </a:spcAft>
            <a:buNone/>
          </a:pPr>
          <a:r>
            <a:rPr lang="en-US" sz="3300" kern="1200">
              <a:latin typeface="Calibri"/>
            </a:rPr>
            <a:t>System Architecture</a:t>
          </a:r>
          <a:endParaRPr lang="en-US" sz="3300" kern="1200"/>
        </a:p>
      </dsp:txBody>
      <dsp:txXfrm rot="5400000">
        <a:off x="504" y="1038646"/>
        <a:ext cx="2607504" cy="1580305"/>
      </dsp:txXfrm>
    </dsp:sp>
    <dsp:sp modelId="{77FA322C-D57E-4DB7-8A3D-129258060EC2}">
      <dsp:nvSpPr>
        <dsp:cNvPr id="0" name=""/>
        <dsp:cNvSpPr/>
      </dsp:nvSpPr>
      <dsp:spPr>
        <a:xfrm rot="5400000">
          <a:off x="3344344" y="248494"/>
          <a:ext cx="3160611" cy="3160611"/>
        </a:xfrm>
        <a:prstGeom prst="downArrow">
          <a:avLst>
            <a:gd name="adj1" fmla="val 50000"/>
            <a:gd name="adj2" fmla="val 35000"/>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234696" rIns="234696" bIns="234696" numCol="1" spcCol="1270" anchor="ctr" anchorCtr="0">
          <a:noAutofit/>
        </a:bodyPr>
        <a:lstStyle/>
        <a:p>
          <a:pPr marL="0" lvl="0" indent="0" algn="ctr" defTabSz="1466850" rtl="0">
            <a:lnSpc>
              <a:spcPct val="90000"/>
            </a:lnSpc>
            <a:spcBef>
              <a:spcPct val="0"/>
            </a:spcBef>
            <a:spcAft>
              <a:spcPct val="35000"/>
            </a:spcAft>
            <a:buNone/>
          </a:pPr>
          <a:r>
            <a:rPr lang="en-US" sz="3300" kern="1200">
              <a:latin typeface="Calibri"/>
            </a:rPr>
            <a:t>Information Architecture</a:t>
          </a:r>
          <a:endParaRPr lang="en-US" sz="3300" kern="1200"/>
        </a:p>
      </dsp:txBody>
      <dsp:txXfrm rot="-5400000">
        <a:off x="3897452" y="1038647"/>
        <a:ext cx="2607504" cy="158030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346BA77-9349-5249-89B9-6CED0F95EAF2}" type="datetimeFigureOut">
              <a:rPr lang="en-US" smtClean="0"/>
              <a:t>1/6/2026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AA93544-07E8-6244-A16F-A2C52B363348}" type="slidenum">
              <a:rPr lang="en-US" smtClean="0"/>
              <a:t>‹#›</a:t>
            </a:fld>
            <a:endParaRPr lang="en-US"/>
          </a:p>
        </p:txBody>
      </p:sp>
    </p:spTree>
    <p:extLst>
      <p:ext uri="{BB962C8B-B14F-4D97-AF65-F5344CB8AC3E}">
        <p14:creationId xmlns:p14="http://schemas.microsoft.com/office/powerpoint/2010/main" val="2095194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AE188DF-623E-0B4A-BE16-24FF0B4D9555}" type="datetimeFigureOut">
              <a:rPr lang="en-US" smtClean="0"/>
              <a:t>1/6/2026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89B6646-B85B-CA4E-9FFB-370D03F15B01}" type="slidenum">
              <a:rPr lang="en-US" smtClean="0"/>
              <a:t>‹#›</a:t>
            </a:fld>
            <a:endParaRPr lang="en-US"/>
          </a:p>
        </p:txBody>
      </p:sp>
    </p:spTree>
    <p:extLst>
      <p:ext uri="{BB962C8B-B14F-4D97-AF65-F5344CB8AC3E}">
        <p14:creationId xmlns:p14="http://schemas.microsoft.com/office/powerpoint/2010/main" val="241162786"/>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a:t>Students will be familiar with web applications – they are in use within the University (e.g., Moodle, </a:t>
            </a:r>
            <a:r>
              <a:rPr lang="en-US" sz="1200" err="1"/>
              <a:t>MyCampus</a:t>
            </a:r>
            <a:r>
              <a:rPr lang="en-US" sz="1200"/>
              <a:t>) and of course in all areas of life outside of University (social media online shopping, news websites, streaming media,…)</a:t>
            </a:r>
          </a:p>
          <a:p>
            <a:endParaRPr lang="en-US"/>
          </a:p>
        </p:txBody>
      </p:sp>
      <p:sp>
        <p:nvSpPr>
          <p:cNvPr id="4" name="Slide Number Placeholder 3"/>
          <p:cNvSpPr>
            <a:spLocks noGrp="1"/>
          </p:cNvSpPr>
          <p:nvPr>
            <p:ph type="sldNum" sz="quarter" idx="10"/>
          </p:nvPr>
        </p:nvSpPr>
        <p:spPr/>
        <p:txBody>
          <a:bodyPr/>
          <a:lstStyle/>
          <a:p>
            <a:fld id="{389B6646-B85B-CA4E-9FFB-370D03F15B01}" type="slidenum">
              <a:rPr lang="en-US" smtClean="0"/>
              <a:t>4</a:t>
            </a:fld>
            <a:endParaRPr lang="en-US"/>
          </a:p>
        </p:txBody>
      </p:sp>
    </p:spTree>
    <p:extLst>
      <p:ext uri="{BB962C8B-B14F-4D97-AF65-F5344CB8AC3E}">
        <p14:creationId xmlns:p14="http://schemas.microsoft.com/office/powerpoint/2010/main" val="14159990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26B55-99A0-31B6-8DA6-D399AA979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413E28-C64D-250A-05A0-90D2583C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780CC0-772C-39C5-7486-E375A4D2A63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F854FEA-DBE9-571A-6A64-F8E402D460E3}"/>
              </a:ext>
            </a:extLst>
          </p:cNvPr>
          <p:cNvSpPr>
            <a:spLocks noGrp="1"/>
          </p:cNvSpPr>
          <p:nvPr>
            <p:ph type="sldNum" sz="quarter" idx="10"/>
          </p:nvPr>
        </p:nvSpPr>
        <p:spPr/>
        <p:txBody>
          <a:bodyPr/>
          <a:lstStyle/>
          <a:p>
            <a:fld id="{389B6646-B85B-CA4E-9FFB-370D03F15B01}" type="slidenum">
              <a:rPr lang="en-US" smtClean="0"/>
              <a:t>6</a:t>
            </a:fld>
            <a:endParaRPr lang="en-US"/>
          </a:p>
        </p:txBody>
      </p:sp>
    </p:spTree>
    <p:extLst>
      <p:ext uri="{BB962C8B-B14F-4D97-AF65-F5344CB8AC3E}">
        <p14:creationId xmlns:p14="http://schemas.microsoft.com/office/powerpoint/2010/main" val="9760316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Internet: the road network</a:t>
            </a:r>
          </a:p>
          <a:p>
            <a:r>
              <a:rPr lang="en-US" dirty="0">
                <a:ea typeface="Calibri"/>
                <a:cs typeface="Calibri"/>
              </a:rPr>
              <a:t>Web: cars and traffic laws</a:t>
            </a:r>
          </a:p>
        </p:txBody>
      </p:sp>
      <p:sp>
        <p:nvSpPr>
          <p:cNvPr id="4" name="Slide Number Placeholder 3"/>
          <p:cNvSpPr>
            <a:spLocks noGrp="1"/>
          </p:cNvSpPr>
          <p:nvPr>
            <p:ph type="sldNum" sz="quarter" idx="5"/>
          </p:nvPr>
        </p:nvSpPr>
        <p:spPr/>
        <p:txBody>
          <a:bodyPr/>
          <a:lstStyle/>
          <a:p>
            <a:fld id="{389B6646-B85B-CA4E-9FFB-370D03F15B01}" type="slidenum">
              <a:rPr lang="en-US" smtClean="0"/>
              <a:t>6</a:t>
            </a:fld>
            <a:endParaRPr lang="en-US"/>
          </a:p>
        </p:txBody>
      </p:sp>
    </p:spTree>
    <p:extLst>
      <p:ext uri="{BB962C8B-B14F-4D97-AF65-F5344CB8AC3E}">
        <p14:creationId xmlns:p14="http://schemas.microsoft.com/office/powerpoint/2010/main" val="4191165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89B6646-B85B-CA4E-9FFB-370D03F15B01}" type="slidenum">
              <a:rPr lang="en-US" smtClean="0"/>
              <a:t>5</a:t>
            </a:fld>
            <a:endParaRPr lang="en-US"/>
          </a:p>
        </p:txBody>
      </p:sp>
    </p:spTree>
    <p:extLst>
      <p:ext uri="{BB962C8B-B14F-4D97-AF65-F5344CB8AC3E}">
        <p14:creationId xmlns:p14="http://schemas.microsoft.com/office/powerpoint/2010/main" val="1423847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aseline="0"/>
              <a:t>https://en.yeeply.com/blog/6-different-kinds-web-app-development/</a:t>
            </a:r>
          </a:p>
        </p:txBody>
      </p:sp>
      <p:sp>
        <p:nvSpPr>
          <p:cNvPr id="4" name="Slide Number Placeholder 3"/>
          <p:cNvSpPr>
            <a:spLocks noGrp="1"/>
          </p:cNvSpPr>
          <p:nvPr>
            <p:ph type="sldNum" sz="quarter" idx="10"/>
          </p:nvPr>
        </p:nvSpPr>
        <p:spPr/>
        <p:txBody>
          <a:bodyPr/>
          <a:lstStyle/>
          <a:p>
            <a:fld id="{5BDE4225-DC2A-7B45-8E12-E6B41726FB0F}" type="slidenum">
              <a:rPr lang="en-US" smtClean="0"/>
              <a:t>7</a:t>
            </a:fld>
            <a:endParaRPr lang="en-US"/>
          </a:p>
        </p:txBody>
      </p:sp>
    </p:spTree>
    <p:extLst>
      <p:ext uri="{BB962C8B-B14F-4D97-AF65-F5344CB8AC3E}">
        <p14:creationId xmlns:p14="http://schemas.microsoft.com/office/powerpoint/2010/main" val="31476597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95376">
              <a:defRPr/>
            </a:pPr>
            <a:r>
              <a:rPr lang="en-GB"/>
              <a:t>https://en.yeeply.com/blog/6-different-kinds-web-app-development/</a:t>
            </a:r>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8</a:t>
            </a:fld>
            <a:endParaRPr lang="en-US"/>
          </a:p>
        </p:txBody>
      </p:sp>
    </p:spTree>
    <p:extLst>
      <p:ext uri="{BB962C8B-B14F-4D97-AF65-F5344CB8AC3E}">
        <p14:creationId xmlns:p14="http://schemas.microsoft.com/office/powerpoint/2010/main" val="37867263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6</a:t>
            </a:fld>
            <a:endParaRPr lang="en-US"/>
          </a:p>
        </p:txBody>
      </p:sp>
    </p:spTree>
    <p:extLst>
      <p:ext uri="{BB962C8B-B14F-4D97-AF65-F5344CB8AC3E}">
        <p14:creationId xmlns:p14="http://schemas.microsoft.com/office/powerpoint/2010/main" val="24608093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a:t>
            </a:r>
            <a:r>
              <a:rPr lang="en-GB" b="1"/>
              <a:t>hypertext structure</a:t>
            </a:r>
            <a:r>
              <a:rPr lang="en-GB"/>
              <a:t> means there is a need to</a:t>
            </a:r>
          </a:p>
          <a:p>
            <a:pPr lvl="1"/>
            <a:r>
              <a:rPr lang="en-GB" sz="1800"/>
              <a:t>avoid user disorientation and cognitive overload</a:t>
            </a:r>
          </a:p>
          <a:p>
            <a:pPr lvl="1"/>
            <a:r>
              <a:rPr lang="en-GB" sz="1800"/>
              <a:t>provide multiple paths to support users with different requirements</a:t>
            </a:r>
          </a:p>
          <a:p>
            <a:pPr lvl="1"/>
            <a:r>
              <a:rPr lang="en-GB" sz="1800"/>
              <a:t>provide a good superstructure including site maps, search facilities and guided tours</a:t>
            </a:r>
          </a:p>
          <a:p>
            <a:r>
              <a:rPr lang="en-GB"/>
              <a:t>The </a:t>
            </a:r>
            <a:r>
              <a:rPr lang="en-GB" b="1"/>
              <a:t>presentation or user interface</a:t>
            </a:r>
            <a:r>
              <a:rPr lang="en-GB"/>
              <a:t> must be</a:t>
            </a:r>
          </a:p>
          <a:p>
            <a:pPr lvl="1"/>
            <a:r>
              <a:rPr lang="en-GB" sz="1800"/>
              <a:t>self-explanatory with no user manuals for web sites!</a:t>
            </a:r>
          </a:p>
          <a:p>
            <a:pPr lvl="1"/>
            <a:r>
              <a:rPr lang="en-GB" sz="1800"/>
              <a:t>aesthetically pleasing and adaptable to different contexts</a:t>
            </a:r>
          </a:p>
          <a:p>
            <a:pPr lvl="2"/>
            <a:r>
              <a:rPr lang="en-GB" sz="1800"/>
              <a:t>ideally self-adapting, but somehow there must be a version of the user interface which works in each context</a:t>
            </a:r>
          </a:p>
          <a:p>
            <a:r>
              <a:rPr lang="en-GB" b="1"/>
              <a:t>Content</a:t>
            </a:r>
            <a:r>
              <a:rPr lang="en-GB"/>
              <a:t> delivery must</a:t>
            </a:r>
          </a:p>
          <a:p>
            <a:pPr lvl="1"/>
            <a:r>
              <a:rPr lang="en-GB" sz="1800"/>
              <a:t>be fast, up-to-date, consistent and reliable</a:t>
            </a:r>
          </a:p>
          <a:p>
            <a:pPr lvl="1"/>
            <a:r>
              <a:rPr lang="en-GB" sz="1800"/>
              <a:t>be secure -  particularly for financial transactions</a:t>
            </a:r>
          </a:p>
          <a:p>
            <a:pPr lvl="1"/>
            <a:r>
              <a:rPr lang="en-GB" sz="1800"/>
              <a:t>adapt to different contexts in terms of how much can be delivered</a:t>
            </a:r>
          </a:p>
          <a:p>
            <a:pPr lvl="1"/>
            <a:endParaRPr lang="en-GB" sz="1800"/>
          </a:p>
          <a:p>
            <a:r>
              <a:rPr lang="en-GB"/>
              <a:t>Users expect </a:t>
            </a:r>
            <a:r>
              <a:rPr lang="en-GB" b="1"/>
              <a:t>immediate</a:t>
            </a:r>
            <a:r>
              <a:rPr lang="en-GB"/>
              <a:t> and </a:t>
            </a:r>
            <a:r>
              <a:rPr lang="en-GB" b="1"/>
              <a:t>fast</a:t>
            </a:r>
            <a:r>
              <a:rPr lang="en-GB"/>
              <a:t> availability</a:t>
            </a:r>
          </a:p>
          <a:p>
            <a:r>
              <a:rPr lang="en-GB"/>
              <a:t>They also expect </a:t>
            </a:r>
            <a:r>
              <a:rPr lang="en-GB" b="1"/>
              <a:t>permanent</a:t>
            </a:r>
            <a:r>
              <a:rPr lang="en-GB"/>
              <a:t> availability</a:t>
            </a:r>
          </a:p>
          <a:p>
            <a:r>
              <a:rPr lang="en-GB"/>
              <a:t>They come from a very </a:t>
            </a:r>
            <a:r>
              <a:rPr lang="en-GB" b="1"/>
              <a:t>diverse background</a:t>
            </a:r>
            <a:r>
              <a:rPr lang="en-GB"/>
              <a:t> culturally and linguistically</a:t>
            </a:r>
          </a:p>
          <a:p>
            <a:r>
              <a:rPr lang="en-GB"/>
              <a:t>They have a low tolerance threshold for slow or hard to use sites</a:t>
            </a:r>
          </a:p>
          <a:p>
            <a:r>
              <a:rPr lang="en-GB"/>
              <a:t>There may be lots of them!</a:t>
            </a:r>
          </a:p>
          <a:p>
            <a:r>
              <a:rPr lang="en-GB"/>
              <a:t>They also expect access on a </a:t>
            </a:r>
            <a:r>
              <a:rPr lang="en-GB" b="1"/>
              <a:t>variety of devices</a:t>
            </a:r>
          </a:p>
          <a:p>
            <a:pPr lvl="2"/>
            <a:r>
              <a:rPr lang="en-GB"/>
              <a:t>quality of service becomes an issue</a:t>
            </a:r>
          </a:p>
          <a:p>
            <a:endParaRPr lang="en-GB"/>
          </a:p>
          <a:p>
            <a:r>
              <a:rPr lang="en-GB"/>
              <a:t>The nature of the </a:t>
            </a:r>
            <a:r>
              <a:rPr lang="en-GB" b="1"/>
              <a:t>developers</a:t>
            </a:r>
          </a:p>
          <a:p>
            <a:pPr lvl="1"/>
            <a:r>
              <a:rPr lang="en-GB" sz="1800"/>
              <a:t>Professional development is by a multidisciplinary team</a:t>
            </a:r>
          </a:p>
          <a:p>
            <a:pPr lvl="2"/>
            <a:r>
              <a:rPr lang="en-GB" sz="1800"/>
              <a:t>programmers, UX designers, visual designers, content designers, domain experts</a:t>
            </a:r>
          </a:p>
          <a:p>
            <a:pPr lvl="1"/>
            <a:r>
              <a:rPr lang="en-GB" sz="1800"/>
              <a:t>Much development is by amateurs or inexperienced programmers</a:t>
            </a:r>
          </a:p>
          <a:p>
            <a:pPr lvl="1"/>
            <a:r>
              <a:rPr lang="en-GB" sz="1800"/>
              <a:t>Development can be communal by a geographically distributed group</a:t>
            </a:r>
          </a:p>
          <a:p>
            <a:r>
              <a:rPr lang="en-GB"/>
              <a:t>The </a:t>
            </a:r>
            <a:r>
              <a:rPr lang="en-GB" b="1"/>
              <a:t>development environment</a:t>
            </a:r>
            <a:r>
              <a:rPr lang="en-GB"/>
              <a:t> consists of</a:t>
            </a:r>
          </a:p>
          <a:p>
            <a:pPr lvl="1"/>
            <a:r>
              <a:rPr lang="en-GB" sz="1800"/>
              <a:t>a wide variety of technologies each of which is programmed differently</a:t>
            </a:r>
          </a:p>
          <a:p>
            <a:pPr lvl="1"/>
            <a:r>
              <a:rPr lang="en-GB" sz="1800"/>
              <a:t>many of the technologies are immature but some are legacy technologies</a:t>
            </a:r>
          </a:p>
          <a:p>
            <a:pPr lvl="1"/>
            <a:r>
              <a:rPr lang="en-GB" sz="1800"/>
              <a:t>each of the technologies has multiple competing products and upgrades to the site often mean a change of product</a:t>
            </a:r>
          </a:p>
          <a:p>
            <a:r>
              <a:rPr lang="en-GB"/>
              <a:t>The </a:t>
            </a:r>
            <a:r>
              <a:rPr lang="en-GB" b="1"/>
              <a:t>development process</a:t>
            </a:r>
          </a:p>
          <a:p>
            <a:pPr lvl="1"/>
            <a:r>
              <a:rPr lang="en-GB" sz="1800"/>
              <a:t>follows no accepted internet application development methodologies</a:t>
            </a:r>
          </a:p>
          <a:p>
            <a:pPr lvl="1"/>
            <a:r>
              <a:rPr lang="en-GB" sz="1800"/>
              <a:t>must be flexible and not rigid</a:t>
            </a:r>
          </a:p>
          <a:p>
            <a:pPr lvl="1"/>
            <a:r>
              <a:rPr lang="en-GB" sz="1800"/>
              <a:t>Parallel development of components (and even of versions) is necessary</a:t>
            </a:r>
          </a:p>
          <a:p>
            <a:pPr lvl="1"/>
            <a:r>
              <a:rPr lang="en-GB" sz="1800"/>
              <a:t>Agile processes seem valuable here</a:t>
            </a:r>
          </a:p>
          <a:p>
            <a:endParaRPr lang="en-GB"/>
          </a:p>
          <a:p>
            <a:pPr lvl="1"/>
            <a:endParaRPr lang="en-GB" sz="1800"/>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9</a:t>
            </a:fld>
            <a:endParaRPr lang="en-US"/>
          </a:p>
        </p:txBody>
      </p:sp>
    </p:spTree>
    <p:extLst>
      <p:ext uri="{BB962C8B-B14F-4D97-AF65-F5344CB8AC3E}">
        <p14:creationId xmlns:p14="http://schemas.microsoft.com/office/powerpoint/2010/main" val="997508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t>System architecture – to build the</a:t>
            </a:r>
            <a:r>
              <a:rPr lang="en-US" baseline="0"/>
              <a:t> infrastructure for the distributed information management system</a:t>
            </a:r>
          </a:p>
          <a:p>
            <a:r>
              <a:rPr lang="en-US" baseline="0"/>
              <a:t>Information architecture – to create the environment for users and clients to interact with the system effectively and efficiently. Tailoring the system to their needs</a:t>
            </a:r>
          </a:p>
          <a:p>
            <a:endParaRPr lang="en-US" baseline="0"/>
          </a:p>
          <a:p>
            <a:r>
              <a:rPr lang="en-US" baseline="0"/>
              <a:t>Each architecture has a number of design elements that should be created in order to under a principled and disciplined approach to developing an application.</a:t>
            </a:r>
          </a:p>
          <a:p>
            <a:endParaRPr lang="en-US" baseline="0"/>
          </a:p>
          <a:p>
            <a:endParaRPr lang="en-US"/>
          </a:p>
        </p:txBody>
      </p:sp>
      <p:sp>
        <p:nvSpPr>
          <p:cNvPr id="4" name="Slide Number Placeholder 3"/>
          <p:cNvSpPr>
            <a:spLocks noGrp="1"/>
          </p:cNvSpPr>
          <p:nvPr>
            <p:ph type="sldNum" sz="quarter" idx="10"/>
          </p:nvPr>
        </p:nvSpPr>
        <p:spPr/>
        <p:txBody>
          <a:bodyPr/>
          <a:lstStyle/>
          <a:p>
            <a:fld id="{7DE1B25F-D1C2-0240-A2FC-D999A37D4334}" type="slidenum">
              <a:rPr lang="en-US" smtClean="0"/>
              <a:pPr/>
              <a:t>10</a:t>
            </a:fld>
            <a:endParaRPr lang="en-US"/>
          </a:p>
        </p:txBody>
      </p:sp>
    </p:spTree>
    <p:extLst>
      <p:ext uri="{BB962C8B-B14F-4D97-AF65-F5344CB8AC3E}">
        <p14:creationId xmlns:p14="http://schemas.microsoft.com/office/powerpoint/2010/main" val="22770123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During</a:t>
            </a:r>
            <a:r>
              <a:rPr lang="en-US" baseline="0"/>
              <a:t> the course we will be going through how to produce a number of these design elements to provide the basis for the design of our applications.</a:t>
            </a:r>
          </a:p>
          <a:p>
            <a:endParaRPr lang="en-US" baseline="0"/>
          </a:p>
          <a:p>
            <a:r>
              <a:rPr lang="en-US" baseline="0"/>
              <a:t>This is because it is important to be able to communicate to others how the system is going to work, what information it captures, how the user interacts with it. These elements provide a way to formally describe, but often quite quickly describe how and what should be built.</a:t>
            </a:r>
          </a:p>
        </p:txBody>
      </p:sp>
      <p:sp>
        <p:nvSpPr>
          <p:cNvPr id="4" name="Slide Number Placeholder 3"/>
          <p:cNvSpPr>
            <a:spLocks noGrp="1"/>
          </p:cNvSpPr>
          <p:nvPr>
            <p:ph type="sldNum" sz="quarter" idx="10"/>
          </p:nvPr>
        </p:nvSpPr>
        <p:spPr/>
        <p:txBody>
          <a:bodyPr/>
          <a:lstStyle/>
          <a:p>
            <a:fld id="{389B6646-B85B-CA4E-9FFB-370D03F15B01}" type="slidenum">
              <a:rPr lang="en-US" smtClean="0"/>
              <a:t>11</a:t>
            </a:fld>
            <a:endParaRPr lang="en-US"/>
          </a:p>
        </p:txBody>
      </p:sp>
    </p:spTree>
    <p:extLst>
      <p:ext uri="{BB962C8B-B14F-4D97-AF65-F5344CB8AC3E}">
        <p14:creationId xmlns:p14="http://schemas.microsoft.com/office/powerpoint/2010/main" val="2226365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13</a:t>
            </a:fld>
            <a:endParaRPr lang="en-US"/>
          </a:p>
        </p:txBody>
      </p:sp>
    </p:spTree>
    <p:extLst>
      <p:ext uri="{BB962C8B-B14F-4D97-AF65-F5344CB8AC3E}">
        <p14:creationId xmlns:p14="http://schemas.microsoft.com/office/powerpoint/2010/main" val="22435285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https://mobidev.biz/blog/web-application-architecture-types</a:t>
            </a:r>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14</a:t>
            </a:fld>
            <a:endParaRPr lang="en-US"/>
          </a:p>
        </p:txBody>
      </p:sp>
    </p:spTree>
    <p:extLst>
      <p:ext uri="{BB962C8B-B14F-4D97-AF65-F5344CB8AC3E}">
        <p14:creationId xmlns:p14="http://schemas.microsoft.com/office/powerpoint/2010/main" val="3911822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p:spPr>
        <p:txBody>
          <a:bodyPr/>
          <a:lstStyle/>
          <a:p>
            <a:fld id="{E967AE5C-073C-7640-B28F-F65452D2496E}" type="slidenum">
              <a:rPr lang="en-GB"/>
              <a:pPr/>
              <a:t>15</a:t>
            </a:fld>
            <a:endParaRPr lang="en-GB"/>
          </a:p>
        </p:txBody>
      </p:sp>
      <p:sp>
        <p:nvSpPr>
          <p:cNvPr id="80899" name="Rectangle 2"/>
          <p:cNvSpPr>
            <a:spLocks noGrp="1" noRot="1" noChangeAspect="1" noChangeArrowheads="1" noTextEdit="1"/>
          </p:cNvSpPr>
          <p:nvPr>
            <p:ph type="sldImg"/>
          </p:nvPr>
        </p:nvSpPr>
        <p:spPr>
          <a:xfrm>
            <a:off x="995363" y="768350"/>
            <a:ext cx="5113337" cy="3836988"/>
          </a:xfrm>
          <a:ln/>
        </p:spPr>
      </p:sp>
      <p:sp>
        <p:nvSpPr>
          <p:cNvPr id="80900" name="Rectangle 3"/>
          <p:cNvSpPr>
            <a:spLocks noGrp="1" noChangeArrowheads="1"/>
          </p:cNvSpPr>
          <p:nvPr>
            <p:ph type="body" idx="1"/>
          </p:nvPr>
        </p:nvSpPr>
        <p:spPr>
          <a:noFill/>
          <a:ln/>
        </p:spPr>
        <p:txBody>
          <a:bodyPr/>
          <a:lstStyle/>
          <a:p>
            <a:pPr defTabSz="495376">
              <a:defRPr/>
            </a:pPr>
            <a:r>
              <a:rPr lang="en-US" sz="1300"/>
              <a:t>1-Tier Architecture is the simplest, single tier on single user, and is the equivalent of running an application on a personal computer. All the required component to run the application are located within it. User interface, business logic, and data storage are all located on the same machine. They are the easiest to design, but the least scalable. Because they are not part of a network, they are useless for designing web applications. </a:t>
            </a:r>
          </a:p>
          <a:p>
            <a:pPr eaLnBrk="1" hangingPunct="1"/>
            <a:endParaRPr lang="en-US">
              <a:latin typeface="Times New Roman" pitchFamily="-108" charset="0"/>
            </a:endParaRPr>
          </a:p>
        </p:txBody>
      </p:sp>
    </p:spTree>
    <p:extLst>
      <p:ext uri="{BB962C8B-B14F-4D97-AF65-F5344CB8AC3E}">
        <p14:creationId xmlns:p14="http://schemas.microsoft.com/office/powerpoint/2010/main" val="4411387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p:spPr>
        <p:txBody>
          <a:bodyPr/>
          <a:lstStyle/>
          <a:p>
            <a:fld id="{E967AE5C-073C-7640-B28F-F65452D2496E}" type="slidenum">
              <a:rPr lang="en-GB"/>
              <a:pPr/>
              <a:t>16</a:t>
            </a:fld>
            <a:endParaRPr lang="en-GB"/>
          </a:p>
        </p:txBody>
      </p:sp>
      <p:sp>
        <p:nvSpPr>
          <p:cNvPr id="80899" name="Rectangle 2"/>
          <p:cNvSpPr>
            <a:spLocks noGrp="1" noRot="1" noChangeAspect="1" noChangeArrowheads="1" noTextEdit="1"/>
          </p:cNvSpPr>
          <p:nvPr>
            <p:ph type="sldImg"/>
          </p:nvPr>
        </p:nvSpPr>
        <p:spPr>
          <a:xfrm>
            <a:off x="995363" y="768350"/>
            <a:ext cx="5113337" cy="3836988"/>
          </a:xfrm>
          <a:ln/>
        </p:spPr>
      </p:sp>
      <p:sp>
        <p:nvSpPr>
          <p:cNvPr id="80900" name="Rectangle 3"/>
          <p:cNvSpPr>
            <a:spLocks noGrp="1" noChangeArrowheads="1"/>
          </p:cNvSpPr>
          <p:nvPr>
            <p:ph type="body" idx="1"/>
          </p:nvPr>
        </p:nvSpPr>
        <p:spPr>
          <a:noFill/>
          <a:ln/>
        </p:spPr>
        <p:txBody>
          <a:bodyPr/>
          <a:lstStyle/>
          <a:p>
            <a:pPr defTabSz="495376">
              <a:defRPr/>
            </a:pPr>
            <a:r>
              <a:rPr lang="en-US" sz="1300"/>
              <a:t>1-Tier Architecture is the simplest, single tier on single user, and is the equivalent of running an application on a personal computer. All the required component to run the application are located within it. User interface, business logic, and data storage are all located on the same machine. They are the easiest to design, but the least scalable. Because they are not part of a network, they are useless for designing web applications. </a:t>
            </a:r>
          </a:p>
          <a:p>
            <a:pPr eaLnBrk="1" hangingPunct="1"/>
            <a:endParaRPr lang="en-US">
              <a:latin typeface="Times New Roman" pitchFamily="-108" charset="0"/>
            </a:endParaRPr>
          </a:p>
        </p:txBody>
      </p:sp>
    </p:spTree>
    <p:extLst>
      <p:ext uri="{BB962C8B-B14F-4D97-AF65-F5344CB8AC3E}">
        <p14:creationId xmlns:p14="http://schemas.microsoft.com/office/powerpoint/2010/main" val="40411603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1-Tier Architecture is the simplest, single tier on single user, and is the equivalent of running an application on a personal computer. All the required component to run the application are located within it. User interface, business logic, and data storage are all located on the same machine. They are the easiest to design, but the least scalable. Because they are not part of a network, they are useless for designing web applications. </a:t>
            </a:r>
            <a:endParaRPr lang="en-GB"/>
          </a:p>
          <a:p>
            <a:endParaRPr lang="en-GB">
              <a:ea typeface="Calibri"/>
              <a:cs typeface="Calibri"/>
            </a:endParaRPr>
          </a:p>
        </p:txBody>
      </p:sp>
      <p:sp>
        <p:nvSpPr>
          <p:cNvPr id="4" name="Slide Number Placeholder 3"/>
          <p:cNvSpPr>
            <a:spLocks noGrp="1"/>
          </p:cNvSpPr>
          <p:nvPr>
            <p:ph type="sldNum" sz="quarter" idx="10"/>
          </p:nvPr>
        </p:nvSpPr>
        <p:spPr/>
        <p:txBody>
          <a:bodyPr/>
          <a:lstStyle/>
          <a:p>
            <a:fld id="{5BDE4225-DC2A-7B45-8E12-E6B41726FB0F}" type="slidenum">
              <a:rPr lang="en-US" smtClean="0"/>
              <a:t>17</a:t>
            </a:fld>
            <a:endParaRPr lang="en-US"/>
          </a:p>
        </p:txBody>
      </p:sp>
    </p:spTree>
    <p:extLst>
      <p:ext uri="{BB962C8B-B14F-4D97-AF65-F5344CB8AC3E}">
        <p14:creationId xmlns:p14="http://schemas.microsoft.com/office/powerpoint/2010/main" val="33897432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95376"/>
            <a:r>
              <a:rPr lang="en-US" sz="1300"/>
              <a:t>2-Tier Architectures supply a basic network between a client and a server. For example, the basic web model is a 2-Tier Architecture. A web browser makes a request from a web server, which then processes the request and returns the desired response, in this case, web pages. This approach improves scalability and divides the user interface from the data layers. However, it does not divide application layers so they can be utilized separately. This makes them difficult to update and not specialized. The entire application must be updated because layers aren’t separated.</a:t>
            </a:r>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18</a:t>
            </a:fld>
            <a:endParaRPr lang="en-US"/>
          </a:p>
        </p:txBody>
      </p:sp>
    </p:spTree>
    <p:extLst>
      <p:ext uri="{BB962C8B-B14F-4D97-AF65-F5344CB8AC3E}">
        <p14:creationId xmlns:p14="http://schemas.microsoft.com/office/powerpoint/2010/main" val="5851818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20</a:t>
            </a:fld>
            <a:endParaRPr lang="en-US"/>
          </a:p>
        </p:txBody>
      </p:sp>
    </p:spTree>
    <p:extLst>
      <p:ext uri="{BB962C8B-B14F-4D97-AF65-F5344CB8AC3E}">
        <p14:creationId xmlns:p14="http://schemas.microsoft.com/office/powerpoint/2010/main" val="769842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p:spPr>
        <p:txBody>
          <a:bodyPr/>
          <a:lstStyle/>
          <a:p>
            <a:fld id="{CCDBAACB-6424-7E49-A1C7-18C3D425414B}" type="slidenum">
              <a:rPr lang="en-GB"/>
              <a:pPr/>
              <a:t>21</a:t>
            </a:fld>
            <a:endParaRPr lang="en-GB"/>
          </a:p>
        </p:txBody>
      </p:sp>
      <p:sp>
        <p:nvSpPr>
          <p:cNvPr id="84995" name="Rectangle 2"/>
          <p:cNvSpPr>
            <a:spLocks noGrp="1" noRot="1" noChangeAspect="1" noChangeArrowheads="1" noTextEdit="1"/>
          </p:cNvSpPr>
          <p:nvPr>
            <p:ph type="sldImg"/>
          </p:nvPr>
        </p:nvSpPr>
        <p:spPr>
          <a:xfrm>
            <a:off x="995363" y="768350"/>
            <a:ext cx="5113337" cy="3836988"/>
          </a:xfrm>
          <a:ln/>
        </p:spPr>
      </p:sp>
      <p:sp>
        <p:nvSpPr>
          <p:cNvPr id="84996"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11040989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0423B97B-022F-D841-B42A-332A5DF1B502}" type="slidenum">
              <a:rPr lang="en-GB"/>
              <a:pPr/>
              <a:t>22</a:t>
            </a:fld>
            <a:endParaRPr lang="en-GB"/>
          </a:p>
        </p:txBody>
      </p:sp>
      <p:sp>
        <p:nvSpPr>
          <p:cNvPr id="92163" name="Rectangle 2"/>
          <p:cNvSpPr>
            <a:spLocks noGrp="1" noRot="1" noChangeAspect="1" noChangeArrowheads="1" noTextEdit="1"/>
          </p:cNvSpPr>
          <p:nvPr>
            <p:ph type="sldImg"/>
          </p:nvPr>
        </p:nvSpPr>
        <p:spPr>
          <a:xfrm>
            <a:off x="995363" y="768350"/>
            <a:ext cx="5113337" cy="3836988"/>
          </a:xfrm>
          <a:ln/>
        </p:spPr>
      </p:sp>
      <p:sp>
        <p:nvSpPr>
          <p:cNvPr id="92164"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34149490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p:spPr>
        <p:txBody>
          <a:bodyPr/>
          <a:lstStyle/>
          <a:p>
            <a:fld id="{7BC47AAC-183F-084E-B912-508CD7D4DD50}" type="slidenum">
              <a:rPr lang="en-GB"/>
              <a:pPr/>
              <a:t>23</a:t>
            </a:fld>
            <a:endParaRPr lang="en-GB"/>
          </a:p>
        </p:txBody>
      </p:sp>
      <p:sp>
        <p:nvSpPr>
          <p:cNvPr id="95235" name="Rectangle 2"/>
          <p:cNvSpPr>
            <a:spLocks noGrp="1" noRot="1" noChangeAspect="1" noChangeArrowheads="1" noTextEdit="1"/>
          </p:cNvSpPr>
          <p:nvPr>
            <p:ph type="sldImg"/>
          </p:nvPr>
        </p:nvSpPr>
        <p:spPr>
          <a:xfrm>
            <a:off x="995363" y="768350"/>
            <a:ext cx="5113337" cy="3836988"/>
          </a:xfrm>
          <a:ln/>
        </p:spPr>
      </p:sp>
      <p:sp>
        <p:nvSpPr>
          <p:cNvPr id="95236"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21330080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0423B97B-022F-D841-B42A-332A5DF1B502}" type="slidenum">
              <a:rPr lang="en-GB"/>
              <a:pPr/>
              <a:t>24</a:t>
            </a:fld>
            <a:endParaRPr lang="en-GB"/>
          </a:p>
        </p:txBody>
      </p:sp>
      <p:sp>
        <p:nvSpPr>
          <p:cNvPr id="92163" name="Rectangle 2"/>
          <p:cNvSpPr>
            <a:spLocks noGrp="1" noRot="1" noChangeAspect="1" noChangeArrowheads="1" noTextEdit="1"/>
          </p:cNvSpPr>
          <p:nvPr>
            <p:ph type="sldImg"/>
          </p:nvPr>
        </p:nvSpPr>
        <p:spPr>
          <a:xfrm>
            <a:off x="995363" y="768350"/>
            <a:ext cx="5113337" cy="3836988"/>
          </a:xfrm>
          <a:ln/>
        </p:spPr>
      </p:sp>
      <p:sp>
        <p:nvSpPr>
          <p:cNvPr id="92164"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41903564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0423B97B-022F-D841-B42A-332A5DF1B502}" type="slidenum">
              <a:rPr lang="en-GB"/>
              <a:pPr/>
              <a:t>25</a:t>
            </a:fld>
            <a:endParaRPr lang="en-GB"/>
          </a:p>
        </p:txBody>
      </p:sp>
      <p:sp>
        <p:nvSpPr>
          <p:cNvPr id="92163" name="Rectangle 2"/>
          <p:cNvSpPr>
            <a:spLocks noGrp="1" noRot="1" noChangeAspect="1" noChangeArrowheads="1" noTextEdit="1"/>
          </p:cNvSpPr>
          <p:nvPr>
            <p:ph type="sldImg"/>
          </p:nvPr>
        </p:nvSpPr>
        <p:spPr>
          <a:xfrm>
            <a:off x="995363" y="768350"/>
            <a:ext cx="5113337" cy="3836988"/>
          </a:xfrm>
          <a:ln/>
        </p:spPr>
      </p:sp>
      <p:sp>
        <p:nvSpPr>
          <p:cNvPr id="92164"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14714008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p:cNvSpPr>
            <a:spLocks noGrp="1" noChangeArrowheads="1"/>
          </p:cNvSpPr>
          <p:nvPr>
            <p:ph type="sldNum" sz="quarter" idx="5"/>
          </p:nvPr>
        </p:nvSpPr>
        <p:spPr>
          <a:noFill/>
        </p:spPr>
        <p:txBody>
          <a:bodyPr/>
          <a:lstStyle/>
          <a:p>
            <a:fld id="{6FFE03E9-B126-CC42-A965-D399D95B5D17}" type="slidenum">
              <a:rPr lang="en-GB"/>
              <a:pPr/>
              <a:t>27</a:t>
            </a:fld>
            <a:endParaRPr lang="en-GB"/>
          </a:p>
        </p:txBody>
      </p:sp>
      <p:sp>
        <p:nvSpPr>
          <p:cNvPr id="83971" name="Rectangle 2"/>
          <p:cNvSpPr>
            <a:spLocks noGrp="1" noRot="1" noChangeAspect="1" noChangeArrowheads="1" noTextEdit="1"/>
          </p:cNvSpPr>
          <p:nvPr>
            <p:ph type="sldImg"/>
          </p:nvPr>
        </p:nvSpPr>
        <p:spPr>
          <a:xfrm>
            <a:off x="995363" y="768350"/>
            <a:ext cx="5113337" cy="3836988"/>
          </a:xfrm>
          <a:ln/>
        </p:spPr>
      </p:sp>
      <p:sp>
        <p:nvSpPr>
          <p:cNvPr id="83972" name="Rectangle 3"/>
          <p:cNvSpPr>
            <a:spLocks noGrp="1" noChangeArrowheads="1"/>
          </p:cNvSpPr>
          <p:nvPr>
            <p:ph type="body" idx="1"/>
          </p:nvPr>
        </p:nvSpPr>
        <p:spPr>
          <a:noFill/>
          <a:ln/>
        </p:spPr>
        <p:txBody>
          <a:bodyPr/>
          <a:lstStyle/>
          <a:p>
            <a:pPr eaLnBrk="1" hangingPunct="1"/>
            <a:r>
              <a:rPr lang="en-US">
                <a:latin typeface="Times New Roman" pitchFamily="-108" charset="0"/>
              </a:rPr>
              <a:t>Vertical and Horizontal</a:t>
            </a:r>
          </a:p>
        </p:txBody>
      </p:sp>
    </p:spTree>
    <p:extLst>
      <p:ext uri="{BB962C8B-B14F-4D97-AF65-F5344CB8AC3E}">
        <p14:creationId xmlns:p14="http://schemas.microsoft.com/office/powerpoint/2010/main" val="34985799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p:spPr>
        <p:txBody>
          <a:bodyPr/>
          <a:lstStyle/>
          <a:p>
            <a:fld id="{A08A5742-F710-6141-96B4-FAD2B318F557}" type="slidenum">
              <a:rPr lang="en-GB"/>
              <a:pPr/>
              <a:t>29</a:t>
            </a:fld>
            <a:endParaRPr lang="en-GB"/>
          </a:p>
        </p:txBody>
      </p:sp>
      <p:sp>
        <p:nvSpPr>
          <p:cNvPr id="106499" name="Rectangle 2"/>
          <p:cNvSpPr>
            <a:spLocks noGrp="1" noRot="1" noChangeAspect="1" noChangeArrowheads="1" noTextEdit="1"/>
          </p:cNvSpPr>
          <p:nvPr>
            <p:ph type="sldImg"/>
          </p:nvPr>
        </p:nvSpPr>
        <p:spPr>
          <a:xfrm>
            <a:off x="995363" y="768350"/>
            <a:ext cx="5113337" cy="3836988"/>
          </a:xfrm>
          <a:ln/>
        </p:spPr>
      </p:sp>
      <p:sp>
        <p:nvSpPr>
          <p:cNvPr id="106500" name="Rectangle 3"/>
          <p:cNvSpPr>
            <a:spLocks noGrp="1" noChangeArrowheads="1"/>
          </p:cNvSpPr>
          <p:nvPr>
            <p:ph type="body" idx="1"/>
          </p:nvPr>
        </p:nvSpPr>
        <p:spPr>
          <a:noFill/>
          <a:ln/>
        </p:spPr>
        <p:txBody>
          <a:bodyPr/>
          <a:lstStyle/>
          <a:p>
            <a:pPr defTabSz="495376">
              <a:defRPr/>
            </a:pPr>
            <a:r>
              <a:rPr lang="en-US" sz="1300"/>
              <a:t>3-Tier Architecture is most commonly used to build web applications. In this model, the browser acts like a client, middleware or an application server contains the business logic, and database servers handle data functions. This approach separates business logic from display and data. So the 3 layers commonly known as: Presentation Layer(PL/UI),Business Logic Layer(BLL) &amp; Data Access Layer(DAL).</a:t>
            </a:r>
            <a:endParaRPr lang="en-US">
              <a:latin typeface="Times New Roman" pitchFamily="-108" charset="0"/>
            </a:endParaRPr>
          </a:p>
          <a:p>
            <a:pPr eaLnBrk="1" hangingPunct="1"/>
            <a:endParaRPr lang="en-US">
              <a:latin typeface="Times New Roman" pitchFamily="-108" charset="0"/>
            </a:endParaRPr>
          </a:p>
        </p:txBody>
      </p:sp>
    </p:spTree>
    <p:extLst>
      <p:ext uri="{BB962C8B-B14F-4D97-AF65-F5344CB8AC3E}">
        <p14:creationId xmlns:p14="http://schemas.microsoft.com/office/powerpoint/2010/main" val="15409866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p:spPr>
        <p:txBody>
          <a:bodyPr/>
          <a:lstStyle/>
          <a:p>
            <a:fld id="{A08A5742-F710-6141-96B4-FAD2B318F557}" type="slidenum">
              <a:rPr lang="en-GB"/>
              <a:pPr/>
              <a:t>31</a:t>
            </a:fld>
            <a:endParaRPr lang="en-GB"/>
          </a:p>
        </p:txBody>
      </p:sp>
      <p:sp>
        <p:nvSpPr>
          <p:cNvPr id="106499" name="Rectangle 2"/>
          <p:cNvSpPr>
            <a:spLocks noGrp="1" noRot="1" noChangeAspect="1" noChangeArrowheads="1" noTextEdit="1"/>
          </p:cNvSpPr>
          <p:nvPr>
            <p:ph type="sldImg"/>
          </p:nvPr>
        </p:nvSpPr>
        <p:spPr>
          <a:xfrm>
            <a:off x="995363" y="768350"/>
            <a:ext cx="5113337" cy="3836988"/>
          </a:xfrm>
          <a:ln/>
        </p:spPr>
      </p:sp>
      <p:sp>
        <p:nvSpPr>
          <p:cNvPr id="106500" name="Rectangle 3"/>
          <p:cNvSpPr>
            <a:spLocks noGrp="1" noChangeArrowheads="1"/>
          </p:cNvSpPr>
          <p:nvPr>
            <p:ph type="body" idx="1"/>
          </p:nvPr>
        </p:nvSpPr>
        <p:spPr>
          <a:noFill/>
          <a:ln/>
        </p:spPr>
        <p:txBody>
          <a:bodyPr/>
          <a:lstStyle/>
          <a:p>
            <a:pPr eaLnBrk="1" hangingPunct="1"/>
            <a:r>
              <a:rPr lang="en-GB" sz="1300"/>
              <a:t>N-tier data applications are data applications that are separated into multiple tiers. Also called "distributed applications" and "multitier applications," n-tier applications separate processing into discrete tiers that are distributed between the client and the server.</a:t>
            </a:r>
            <a:endParaRPr lang="en-US">
              <a:latin typeface="Times New Roman" pitchFamily="-108" charset="0"/>
            </a:endParaRPr>
          </a:p>
          <a:p>
            <a:pPr eaLnBrk="1" hangingPunct="1"/>
            <a:endParaRPr lang="en-US">
              <a:latin typeface="Times New Roman" pitchFamily="-108" charset="0"/>
            </a:endParaRPr>
          </a:p>
        </p:txBody>
      </p:sp>
    </p:spTree>
    <p:extLst>
      <p:ext uri="{BB962C8B-B14F-4D97-AF65-F5344CB8AC3E}">
        <p14:creationId xmlns:p14="http://schemas.microsoft.com/office/powerpoint/2010/main" val="22850644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[GAC]</a:t>
            </a:r>
            <a:r>
              <a:rPr lang="en-GB" baseline="0"/>
              <a:t> load balancing improves the distribution of workloads across multiple computing resources, such as computers, a computer cluster, network links, central processing units, or disk drives.</a:t>
            </a:r>
          </a:p>
          <a:p>
            <a:endParaRPr lang="en-GB" baseline="0"/>
          </a:p>
          <a:p>
            <a:r>
              <a:rPr lang="en-GB"/>
              <a:t>DNS is the Internet’s equivalent of a phone book</a:t>
            </a:r>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32</a:t>
            </a:fld>
            <a:endParaRPr lang="en-US"/>
          </a:p>
        </p:txBody>
      </p:sp>
    </p:spTree>
    <p:extLst>
      <p:ext uri="{BB962C8B-B14F-4D97-AF65-F5344CB8AC3E}">
        <p14:creationId xmlns:p14="http://schemas.microsoft.com/office/powerpoint/2010/main" val="28595194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33</a:t>
            </a:fld>
            <a:endParaRPr lang="en-US"/>
          </a:p>
        </p:txBody>
      </p:sp>
    </p:spTree>
    <p:extLst>
      <p:ext uri="{BB962C8B-B14F-4D97-AF65-F5344CB8AC3E}">
        <p14:creationId xmlns:p14="http://schemas.microsoft.com/office/powerpoint/2010/main" val="1433556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34</a:t>
            </a:fld>
            <a:endParaRPr lang="en-US"/>
          </a:p>
        </p:txBody>
      </p:sp>
    </p:spTree>
    <p:extLst>
      <p:ext uri="{BB962C8B-B14F-4D97-AF65-F5344CB8AC3E}">
        <p14:creationId xmlns:p14="http://schemas.microsoft.com/office/powerpoint/2010/main" val="4209457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35</a:t>
            </a:fld>
            <a:endParaRPr lang="en-US"/>
          </a:p>
        </p:txBody>
      </p:sp>
    </p:spTree>
    <p:extLst>
      <p:ext uri="{BB962C8B-B14F-4D97-AF65-F5344CB8AC3E}">
        <p14:creationId xmlns:p14="http://schemas.microsoft.com/office/powerpoint/2010/main" val="10092047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bottom up design model starts with most specific and basic components. It proceeds with composing higher level of components by using basic or lower level components. It keeps creating higher level components until the desired system is not evolved as one single component. With each higher level, the amount of abstraction is increased.</a:t>
            </a:r>
          </a:p>
          <a:p>
            <a:endParaRPr lang="en-GB"/>
          </a:p>
          <a:p>
            <a:r>
              <a:rPr lang="en-GB"/>
              <a:t>Bottom-up strategy is more suitable when a system needs to be created from some existing system, where the basic primitives can be used in the newer system.</a:t>
            </a:r>
          </a:p>
          <a:p>
            <a:endParaRPr lang="en-GB"/>
          </a:p>
          <a:p>
            <a:r>
              <a:rPr lang="en-GB"/>
              <a:t>Both, top-down and bottom-up approaches are not practical individually. Instead, a good combination of both is used.</a:t>
            </a:r>
          </a:p>
        </p:txBody>
      </p:sp>
      <p:sp>
        <p:nvSpPr>
          <p:cNvPr id="4" name="Slide Number Placeholder 3"/>
          <p:cNvSpPr>
            <a:spLocks noGrp="1"/>
          </p:cNvSpPr>
          <p:nvPr>
            <p:ph type="sldNum" sz="quarter" idx="10"/>
          </p:nvPr>
        </p:nvSpPr>
        <p:spPr/>
        <p:txBody>
          <a:bodyPr/>
          <a:lstStyle/>
          <a:p>
            <a:fld id="{5BDE4225-DC2A-7B45-8E12-E6B41726FB0F}" type="slidenum">
              <a:rPr lang="en-US" smtClean="0"/>
              <a:t>36</a:t>
            </a:fld>
            <a:endParaRPr lang="en-US"/>
          </a:p>
        </p:txBody>
      </p:sp>
    </p:spTree>
    <p:extLst>
      <p:ext uri="{BB962C8B-B14F-4D97-AF65-F5344CB8AC3E}">
        <p14:creationId xmlns:p14="http://schemas.microsoft.com/office/powerpoint/2010/main" val="4327065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3775" y="768350"/>
            <a:ext cx="5116513" cy="3836988"/>
          </a:xfrm>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7DE1B25F-D1C2-0240-A2FC-D999A37D4334}" type="slidenum">
              <a:rPr lang="en-US" smtClean="0"/>
              <a:pPr/>
              <a:t>37</a:t>
            </a:fld>
            <a:endParaRPr lang="en-US"/>
          </a:p>
        </p:txBody>
      </p:sp>
    </p:spTree>
    <p:extLst>
      <p:ext uri="{BB962C8B-B14F-4D97-AF65-F5344CB8AC3E}">
        <p14:creationId xmlns:p14="http://schemas.microsoft.com/office/powerpoint/2010/main" val="37418287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GB"/>
              <a:t>[GAC]</a:t>
            </a:r>
            <a:r>
              <a:rPr lang="en-GB" baseline="0"/>
              <a:t> Messaging is the outer layer of the middleware and how client and serve communicate. This slide gives a general overview of how messages are sent across. Make an analogy on how people communicate with WhatsApp or any other chatting app and how English is used to structure messages</a:t>
            </a:r>
            <a:endParaRPr lang="en-GB"/>
          </a:p>
          <a:p>
            <a:endParaRPr lang="en-US"/>
          </a:p>
        </p:txBody>
      </p:sp>
      <p:sp>
        <p:nvSpPr>
          <p:cNvPr id="4" name="Slide Number Placeholder 3"/>
          <p:cNvSpPr>
            <a:spLocks noGrp="1"/>
          </p:cNvSpPr>
          <p:nvPr>
            <p:ph type="sldNum" sz="quarter" idx="10"/>
          </p:nvPr>
        </p:nvSpPr>
        <p:spPr/>
        <p:txBody>
          <a:bodyPr/>
          <a:lstStyle/>
          <a:p>
            <a:fld id="{389B6646-B85B-CA4E-9FFB-370D03F15B01}" type="slidenum">
              <a:rPr lang="en-US" smtClean="0"/>
              <a:t>45</a:t>
            </a:fld>
            <a:endParaRPr lang="en-US"/>
          </a:p>
        </p:txBody>
      </p:sp>
    </p:spTree>
    <p:extLst>
      <p:ext uri="{BB962C8B-B14F-4D97-AF65-F5344CB8AC3E}">
        <p14:creationId xmlns:p14="http://schemas.microsoft.com/office/powerpoint/2010/main" val="2005809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[GAC] http://www.conceptdraw.com/examples/crowfoot-notation</a:t>
            </a:r>
          </a:p>
          <a:p>
            <a:endParaRPr lang="en-GB"/>
          </a:p>
          <a:p>
            <a:r>
              <a:rPr lang="en-GB"/>
              <a:t>-</a:t>
            </a:r>
            <a:r>
              <a:rPr lang="en-GB" baseline="0"/>
              <a:t> </a:t>
            </a:r>
            <a:r>
              <a:rPr lang="en-GB" baseline="0" err="1"/>
              <a:t>YeD</a:t>
            </a:r>
            <a:r>
              <a:rPr lang="en-GB" baseline="0"/>
              <a:t> free ER diagram app: https://www.yworks.com/products/yed</a:t>
            </a:r>
            <a:endParaRPr lang="en-GB"/>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51</a:t>
            </a:fld>
            <a:endParaRPr lang="en-US"/>
          </a:p>
        </p:txBody>
      </p:sp>
    </p:spTree>
    <p:extLst>
      <p:ext uri="{BB962C8B-B14F-4D97-AF65-F5344CB8AC3E}">
        <p14:creationId xmlns:p14="http://schemas.microsoft.com/office/powerpoint/2010/main" val="23481704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Information architecture is a task often shared by designers, developers, and content strategists. But regardless of who takes on the task, IA is a field of its own, with influences, tools, and resources that are worth investigation.</a:t>
            </a:r>
          </a:p>
          <a:p>
            <a:endParaRPr lang="en-GB"/>
          </a:p>
          <a:p>
            <a:r>
              <a:rPr lang="en-GB"/>
              <a:t>http://www.uxbooth.com/articles/complete-beginners-guide-to-information-architecture/</a:t>
            </a:r>
          </a:p>
          <a:p>
            <a:endParaRPr lang="en-GB"/>
          </a:p>
          <a:p>
            <a:r>
              <a:rPr lang="en-GB"/>
              <a:t>the purpose of IA is to help users understand where they are, what they’ve found, what’s around, and what to expect.</a:t>
            </a:r>
          </a:p>
          <a:p>
            <a:endParaRPr lang="en-GB"/>
          </a:p>
          <a:p>
            <a:r>
              <a:rPr lang="en-GB"/>
              <a:t>Information Architecture is concerned with organizing information – concepts, entities, relationships, functionality, events, content – into a coherent structure or “information space” that is comprehensible, navigable, and searchable.</a:t>
            </a:r>
          </a:p>
          <a:p>
            <a:endParaRPr lang="en-GB"/>
          </a:p>
        </p:txBody>
      </p:sp>
      <p:sp>
        <p:nvSpPr>
          <p:cNvPr id="4" name="Slide Number Placeholder 3"/>
          <p:cNvSpPr>
            <a:spLocks noGrp="1"/>
          </p:cNvSpPr>
          <p:nvPr>
            <p:ph type="sldNum" sz="quarter" idx="10"/>
          </p:nvPr>
        </p:nvSpPr>
        <p:spPr/>
        <p:txBody>
          <a:bodyPr/>
          <a:lstStyle/>
          <a:p>
            <a:fld id="{3DC66A65-0000-E94C-8157-9AB4EB6ABBD4}" type="slidenum">
              <a:rPr lang="en-US" smtClean="0"/>
              <a:t>57</a:t>
            </a:fld>
            <a:endParaRPr lang="en-US"/>
          </a:p>
        </p:txBody>
      </p:sp>
    </p:spTree>
    <p:extLst>
      <p:ext uri="{BB962C8B-B14F-4D97-AF65-F5344CB8AC3E}">
        <p14:creationId xmlns:p14="http://schemas.microsoft.com/office/powerpoint/2010/main" val="188850728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95376">
              <a:defRPr/>
            </a:pPr>
            <a:r>
              <a:rPr lang="en-GB"/>
              <a:t>[GAC] An information architect is the designer of information</a:t>
            </a:r>
            <a:r>
              <a:rPr lang="en-GB" baseline="0"/>
              <a:t> – analogous to a graphic designer</a:t>
            </a:r>
            <a:endParaRPr lang="en-GB"/>
          </a:p>
          <a:p>
            <a:endParaRPr lang="en-GB"/>
          </a:p>
        </p:txBody>
      </p:sp>
      <p:sp>
        <p:nvSpPr>
          <p:cNvPr id="4" name="Slide Number Placeholder 3"/>
          <p:cNvSpPr>
            <a:spLocks noGrp="1"/>
          </p:cNvSpPr>
          <p:nvPr>
            <p:ph type="sldNum" sz="quarter" idx="10"/>
          </p:nvPr>
        </p:nvSpPr>
        <p:spPr/>
        <p:txBody>
          <a:bodyPr/>
          <a:lstStyle/>
          <a:p>
            <a:fld id="{3DC66A65-0000-E94C-8157-9AB4EB6ABBD4}" type="slidenum">
              <a:rPr lang="en-US" smtClean="0"/>
              <a:t>59</a:t>
            </a:fld>
            <a:endParaRPr lang="en-US"/>
          </a:p>
        </p:txBody>
      </p:sp>
    </p:spTree>
    <p:extLst>
      <p:ext uri="{BB962C8B-B14F-4D97-AF65-F5344CB8AC3E}">
        <p14:creationId xmlns:p14="http://schemas.microsoft.com/office/powerpoint/2010/main" val="26865391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https://www.usability.gov/what-and-why/information-architecture.html</a:t>
            </a:r>
          </a:p>
          <a:p>
            <a:endParaRPr lang="en-GB"/>
          </a:p>
          <a:p>
            <a:r>
              <a:rPr lang="en-GB"/>
              <a:t>In order to create these systems of information, you need to understand the interdependent nature of users, content, and context.  Rosenfeld and </a:t>
            </a:r>
            <a:r>
              <a:rPr lang="en-GB" err="1"/>
              <a:t>Morville</a:t>
            </a:r>
            <a:r>
              <a:rPr lang="en-GB"/>
              <a:t> referred to this as the “information ecology” and visualized it as a </a:t>
            </a:r>
            <a:r>
              <a:rPr lang="en-GB" err="1"/>
              <a:t>venn</a:t>
            </a:r>
            <a:r>
              <a:rPr lang="en-GB"/>
              <a:t> diagram.  Each circle refers to…</a:t>
            </a:r>
          </a:p>
          <a:p>
            <a:endParaRPr lang="en-GB"/>
          </a:p>
          <a:p>
            <a:r>
              <a:rPr lang="en-GB"/>
              <a:t>More in:</a:t>
            </a:r>
            <a:r>
              <a:rPr lang="en-GB" baseline="0"/>
              <a:t> http://shop.oreilly.com/product/9780596527341.do</a:t>
            </a:r>
            <a:endParaRPr lang="en-GB"/>
          </a:p>
          <a:p>
            <a:endParaRPr lang="en-GB"/>
          </a:p>
        </p:txBody>
      </p:sp>
      <p:sp>
        <p:nvSpPr>
          <p:cNvPr id="4" name="Slide Number Placeholder 3"/>
          <p:cNvSpPr>
            <a:spLocks noGrp="1"/>
          </p:cNvSpPr>
          <p:nvPr>
            <p:ph type="sldNum" sz="quarter" idx="10"/>
          </p:nvPr>
        </p:nvSpPr>
        <p:spPr/>
        <p:txBody>
          <a:bodyPr/>
          <a:lstStyle/>
          <a:p>
            <a:fld id="{3DC66A65-0000-E94C-8157-9AB4EB6ABBD4}" type="slidenum">
              <a:rPr lang="en-US" smtClean="0"/>
              <a:t>60</a:t>
            </a:fld>
            <a:endParaRPr lang="en-US"/>
          </a:p>
        </p:txBody>
      </p:sp>
    </p:spTree>
    <p:extLst>
      <p:ext uri="{BB962C8B-B14F-4D97-AF65-F5344CB8AC3E}">
        <p14:creationId xmlns:p14="http://schemas.microsoft.com/office/powerpoint/2010/main" val="3847467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C101CFDD-C9B8-7A46-BB9E-14EB3802C3C5}" type="slidenum">
              <a:rPr lang="en-US">
                <a:latin typeface="Arial" pitchFamily="-106" charset="0"/>
                <a:ea typeface="Arial" pitchFamily="-106" charset="0"/>
                <a:cs typeface="Arial" pitchFamily="-106" charset="0"/>
              </a:rPr>
              <a:pPr/>
              <a:t>61</a:t>
            </a:fld>
            <a:endParaRPr lang="en-US">
              <a:latin typeface="Arial" pitchFamily="-106" charset="0"/>
              <a:ea typeface="Arial" pitchFamily="-106" charset="0"/>
              <a:cs typeface="Arial" pitchFamily="-106" charset="0"/>
            </a:endParaRPr>
          </a:p>
        </p:txBody>
      </p:sp>
      <p:sp>
        <p:nvSpPr>
          <p:cNvPr id="26627" name="Rectangle 2"/>
          <p:cNvSpPr>
            <a:spLocks noGrp="1" noRot="1" noChangeAspect="1" noChangeArrowheads="1" noTextEdit="1"/>
          </p:cNvSpPr>
          <p:nvPr>
            <p:ph type="sldImg"/>
          </p:nvPr>
        </p:nvSpPr>
        <p:spPr>
          <a:xfrm>
            <a:off x="995363" y="768350"/>
            <a:ext cx="5113337" cy="3836988"/>
          </a:xfrm>
          <a:ln/>
        </p:spPr>
      </p:sp>
      <p:sp>
        <p:nvSpPr>
          <p:cNvPr id="26628" name="Rectangle 3"/>
          <p:cNvSpPr>
            <a:spLocks noGrp="1" noChangeArrowheads="1"/>
          </p:cNvSpPr>
          <p:nvPr>
            <p:ph type="body" idx="1"/>
          </p:nvPr>
        </p:nvSpPr>
        <p:spPr>
          <a:noFill/>
          <a:ln/>
        </p:spPr>
        <p:txBody>
          <a:bodyPr/>
          <a:lstStyle/>
          <a:p>
            <a:pPr defTabSz="495376">
              <a:defRPr/>
            </a:pPr>
            <a:r>
              <a:rPr lang="en-US">
                <a:solidFill>
                  <a:srgbClr val="EBBF03"/>
                </a:solidFill>
              </a:rPr>
              <a:t>Intranets, Web applications, websites, software, etc.</a:t>
            </a:r>
          </a:p>
          <a:p>
            <a:pPr eaLnBrk="1" hangingPunct="1"/>
            <a:endParaRPr lang="en-US">
              <a:latin typeface="Arial" pitchFamily="-106" charset="0"/>
            </a:endParaRPr>
          </a:p>
        </p:txBody>
      </p:sp>
    </p:spTree>
    <p:extLst>
      <p:ext uri="{BB962C8B-B14F-4D97-AF65-F5344CB8AC3E}">
        <p14:creationId xmlns:p14="http://schemas.microsoft.com/office/powerpoint/2010/main" val="14366452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C101CFDD-C9B8-7A46-BB9E-14EB3802C3C5}" type="slidenum">
              <a:rPr lang="en-US">
                <a:latin typeface="Arial" pitchFamily="-106" charset="0"/>
                <a:ea typeface="Arial" pitchFamily="-106" charset="0"/>
                <a:cs typeface="Arial" pitchFamily="-106" charset="0"/>
              </a:rPr>
              <a:pPr/>
              <a:t>62</a:t>
            </a:fld>
            <a:endParaRPr lang="en-US">
              <a:latin typeface="Arial" pitchFamily="-106" charset="0"/>
              <a:ea typeface="Arial" pitchFamily="-106" charset="0"/>
              <a:cs typeface="Arial" pitchFamily="-106" charset="0"/>
            </a:endParaRPr>
          </a:p>
        </p:txBody>
      </p:sp>
      <p:sp>
        <p:nvSpPr>
          <p:cNvPr id="26627" name="Rectangle 2"/>
          <p:cNvSpPr>
            <a:spLocks noGrp="1" noRot="1" noChangeAspect="1" noChangeArrowheads="1" noTextEdit="1"/>
          </p:cNvSpPr>
          <p:nvPr>
            <p:ph type="sldImg"/>
          </p:nvPr>
        </p:nvSpPr>
        <p:spPr>
          <a:xfrm>
            <a:off x="995363" y="768350"/>
            <a:ext cx="5113337" cy="3836988"/>
          </a:xfrm>
          <a:ln/>
        </p:spPr>
      </p:sp>
      <p:sp>
        <p:nvSpPr>
          <p:cNvPr id="26628" name="Rectangle 3"/>
          <p:cNvSpPr>
            <a:spLocks noGrp="1" noChangeArrowheads="1"/>
          </p:cNvSpPr>
          <p:nvPr>
            <p:ph type="body" idx="1"/>
          </p:nvPr>
        </p:nvSpPr>
        <p:spPr>
          <a:noFill/>
          <a:ln/>
        </p:spPr>
        <p:txBody>
          <a:bodyPr/>
          <a:lstStyle/>
          <a:p>
            <a:pPr eaLnBrk="1" hangingPunct="1"/>
            <a:endParaRPr lang="en-US">
              <a:latin typeface="Arial" pitchFamily="-106" charset="0"/>
            </a:endParaRPr>
          </a:p>
        </p:txBody>
      </p:sp>
    </p:spTree>
    <p:extLst>
      <p:ext uri="{BB962C8B-B14F-4D97-AF65-F5344CB8AC3E}">
        <p14:creationId xmlns:p14="http://schemas.microsoft.com/office/powerpoint/2010/main" val="29166641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89B6646-B85B-CA4E-9FFB-370D03F15B01}" type="slidenum">
              <a:rPr lang="en-US" smtClean="0"/>
              <a:t>63</a:t>
            </a:fld>
            <a:endParaRPr lang="en-US"/>
          </a:p>
        </p:txBody>
      </p:sp>
    </p:spTree>
    <p:extLst>
      <p:ext uri="{BB962C8B-B14F-4D97-AF65-F5344CB8AC3E}">
        <p14:creationId xmlns:p14="http://schemas.microsoft.com/office/powerpoint/2010/main" val="10165099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95376">
              <a:defRPr/>
            </a:pPr>
            <a:r>
              <a:rPr lang="en-GB"/>
              <a:t>[GAC]</a:t>
            </a:r>
            <a:r>
              <a:rPr lang="en-GB" baseline="0"/>
              <a:t> http://www.fatpurple.com/2010/03/01/using-information-architecture-deliverables-examples-and-samples/</a:t>
            </a:r>
            <a:endParaRPr lang="en-GB"/>
          </a:p>
          <a:p>
            <a:endParaRPr lang="en-GB"/>
          </a:p>
        </p:txBody>
      </p:sp>
      <p:sp>
        <p:nvSpPr>
          <p:cNvPr id="4" name="Slide Number Placeholder 3"/>
          <p:cNvSpPr>
            <a:spLocks noGrp="1"/>
          </p:cNvSpPr>
          <p:nvPr>
            <p:ph type="sldNum" sz="quarter" idx="10"/>
          </p:nvPr>
        </p:nvSpPr>
        <p:spPr/>
        <p:txBody>
          <a:bodyPr/>
          <a:lstStyle/>
          <a:p>
            <a:fld id="{3DC66A65-0000-E94C-8157-9AB4EB6ABBD4}" type="slidenum">
              <a:rPr lang="en-US" smtClean="0"/>
              <a:t>64</a:t>
            </a:fld>
            <a:endParaRPr lang="en-US"/>
          </a:p>
        </p:txBody>
      </p:sp>
    </p:spTree>
    <p:extLst>
      <p:ext uri="{BB962C8B-B14F-4D97-AF65-F5344CB8AC3E}">
        <p14:creationId xmlns:p14="http://schemas.microsoft.com/office/powerpoint/2010/main" val="14876166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p:spPr>
        <p:txBody>
          <a:bodyPr/>
          <a:lstStyle/>
          <a:p>
            <a:fld id="{315AA74A-F375-E545-8FBB-6DCE044BB382}" type="slidenum">
              <a:rPr lang="en-US">
                <a:latin typeface="Arial" pitchFamily="-106" charset="0"/>
                <a:ea typeface="Arial" pitchFamily="-106" charset="0"/>
                <a:cs typeface="Arial" pitchFamily="-106" charset="0"/>
              </a:rPr>
              <a:pPr/>
              <a:t>66</a:t>
            </a:fld>
            <a:endParaRPr lang="en-US">
              <a:latin typeface="Arial" pitchFamily="-106" charset="0"/>
              <a:ea typeface="Arial" pitchFamily="-106" charset="0"/>
              <a:cs typeface="Arial" pitchFamily="-106" charset="0"/>
            </a:endParaRPr>
          </a:p>
        </p:txBody>
      </p:sp>
      <p:sp>
        <p:nvSpPr>
          <p:cNvPr id="57347" name="Rectangle 2"/>
          <p:cNvSpPr>
            <a:spLocks noGrp="1" noRot="1" noChangeAspect="1" noChangeArrowheads="1" noTextEdit="1"/>
          </p:cNvSpPr>
          <p:nvPr>
            <p:ph type="sldImg"/>
          </p:nvPr>
        </p:nvSpPr>
        <p:spPr>
          <a:xfrm>
            <a:off x="995363" y="768350"/>
            <a:ext cx="5113337" cy="3836988"/>
          </a:xfrm>
          <a:ln/>
        </p:spPr>
      </p:sp>
      <p:sp>
        <p:nvSpPr>
          <p:cNvPr id="57348" name="Rectangle 3"/>
          <p:cNvSpPr>
            <a:spLocks noGrp="1" noChangeArrowheads="1"/>
          </p:cNvSpPr>
          <p:nvPr>
            <p:ph type="body" idx="1"/>
          </p:nvPr>
        </p:nvSpPr>
        <p:spPr>
          <a:noFill/>
          <a:ln/>
        </p:spPr>
        <p:txBody>
          <a:bodyPr/>
          <a:lstStyle/>
          <a:p>
            <a:pPr defTabSz="495376">
              <a:defRPr/>
            </a:pPr>
            <a:r>
              <a:rPr lang="en-GB" b="1">
                <a:latin typeface="Arial" pitchFamily="-106" charset="0"/>
              </a:rPr>
              <a:t>Matrix structures are often useful for enabling users with different needs to navigate through the same content, because each user need can be associated with one "axis" of the matrix. For example, if some of your users really want to browse products by </a:t>
            </a:r>
            <a:r>
              <a:rPr lang="en-GB" b="1" err="1">
                <a:latin typeface="Arial" pitchFamily="-106" charset="0"/>
              </a:rPr>
              <a:t>color</a:t>
            </a:r>
            <a:r>
              <a:rPr lang="en-GB" b="1">
                <a:latin typeface="Arial" pitchFamily="-106" charset="0"/>
              </a:rPr>
              <a:t>, but others need to browse by size, a matrix can accommodate both groups. A matrix of more than three dimensions can cause problems, however, if you expect users to rely on it as their primary navigational tool. The human brain simply isn't very well equipped to visualize movement in four or more dimensions.</a:t>
            </a:r>
            <a:endParaRPr lang="en-US" b="1">
              <a:latin typeface="Arial" pitchFamily="-106" charset="0"/>
            </a:endParaRPr>
          </a:p>
          <a:p>
            <a:pPr eaLnBrk="1" hangingPunct="1"/>
            <a:endParaRPr lang="en-US" b="1">
              <a:latin typeface="Arial" pitchFamily="-106" charset="0"/>
            </a:endParaRPr>
          </a:p>
        </p:txBody>
      </p:sp>
    </p:spTree>
    <p:extLst>
      <p:ext uri="{BB962C8B-B14F-4D97-AF65-F5344CB8AC3E}">
        <p14:creationId xmlns:p14="http://schemas.microsoft.com/office/powerpoint/2010/main" val="154952921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p:spPr>
        <p:txBody>
          <a:bodyPr/>
          <a:lstStyle/>
          <a:p>
            <a:fld id="{E93C1D19-8FA8-D848-8FCB-300FA393843A}" type="slidenum">
              <a:rPr lang="en-US">
                <a:latin typeface="Arial" pitchFamily="-106" charset="0"/>
                <a:ea typeface="Arial" pitchFamily="-106" charset="0"/>
                <a:cs typeface="Arial" pitchFamily="-106" charset="0"/>
              </a:rPr>
              <a:pPr/>
              <a:t>67</a:t>
            </a:fld>
            <a:endParaRPr lang="en-US">
              <a:latin typeface="Arial" pitchFamily="-106" charset="0"/>
              <a:ea typeface="Arial" pitchFamily="-106" charset="0"/>
              <a:cs typeface="Arial" pitchFamily="-106" charset="0"/>
            </a:endParaRPr>
          </a:p>
        </p:txBody>
      </p:sp>
      <p:sp>
        <p:nvSpPr>
          <p:cNvPr id="61443" name="Rectangle 2"/>
          <p:cNvSpPr>
            <a:spLocks noGrp="1" noRot="1" noChangeAspect="1" noChangeArrowheads="1" noTextEdit="1"/>
          </p:cNvSpPr>
          <p:nvPr>
            <p:ph type="sldImg"/>
          </p:nvPr>
        </p:nvSpPr>
        <p:spPr>
          <a:xfrm>
            <a:off x="995363" y="768350"/>
            <a:ext cx="5113337" cy="3836988"/>
          </a:xfrm>
          <a:ln/>
        </p:spPr>
      </p:sp>
      <p:sp>
        <p:nvSpPr>
          <p:cNvPr id="61444" name="Rectangle 3"/>
          <p:cNvSpPr>
            <a:spLocks noGrp="1" noChangeArrowheads="1"/>
          </p:cNvSpPr>
          <p:nvPr>
            <p:ph type="body" idx="1"/>
          </p:nvPr>
        </p:nvSpPr>
        <p:spPr>
          <a:noFill/>
          <a:ln/>
        </p:spPr>
        <p:txBody>
          <a:bodyPr/>
          <a:lstStyle/>
          <a:p>
            <a:pPr eaLnBrk="1" hangingPunct="1"/>
            <a:r>
              <a:rPr lang="en-US" b="1">
                <a:latin typeface="Arial" pitchFamily="-106" charset="0"/>
              </a:rPr>
              <a:t>[GAC] More info: https://www.usability.gov/how-to-and-tools/methods/personas.html</a:t>
            </a:r>
          </a:p>
          <a:p>
            <a:pPr eaLnBrk="1" hangingPunct="1"/>
            <a:endParaRPr lang="en-US" b="1">
              <a:latin typeface="Arial" pitchFamily="-106" charset="0"/>
            </a:endParaRPr>
          </a:p>
          <a:p>
            <a:pPr eaLnBrk="1" hangingPunct="1"/>
            <a:r>
              <a:rPr lang="en-GB" b="1">
                <a:latin typeface="Arial" pitchFamily="-106" charset="0"/>
              </a:rPr>
              <a:t>Personas help to focus decisions surrounding site components by adding a layer of real-world consideration to the conversation. They also offer a quick and inexpensive way to test and prioritize those features throughout the development process.</a:t>
            </a:r>
            <a:endParaRPr lang="en-US" b="1">
              <a:latin typeface="Arial" pitchFamily="-106" charset="0"/>
            </a:endParaRPr>
          </a:p>
          <a:p>
            <a:pPr eaLnBrk="1" hangingPunct="1"/>
            <a:endParaRPr lang="en-US" b="1">
              <a:latin typeface="Arial" pitchFamily="-106" charset="0"/>
            </a:endParaRPr>
          </a:p>
        </p:txBody>
      </p:sp>
    </p:spTree>
    <p:extLst>
      <p:ext uri="{BB962C8B-B14F-4D97-AF65-F5344CB8AC3E}">
        <p14:creationId xmlns:p14="http://schemas.microsoft.com/office/powerpoint/2010/main" val="419648786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p>
            <a:fld id="{FEB02B88-F985-B142-B40A-8D9A5193F879}" type="slidenum">
              <a:rPr lang="en-US">
                <a:latin typeface="Arial" pitchFamily="-106" charset="0"/>
                <a:ea typeface="Arial" pitchFamily="-106" charset="0"/>
                <a:cs typeface="Arial" pitchFamily="-106" charset="0"/>
              </a:rPr>
              <a:pPr/>
              <a:t>69</a:t>
            </a:fld>
            <a:endParaRPr lang="en-US">
              <a:latin typeface="Arial" pitchFamily="-106" charset="0"/>
              <a:ea typeface="Arial" pitchFamily="-106" charset="0"/>
              <a:cs typeface="Arial" pitchFamily="-106" charset="0"/>
            </a:endParaRPr>
          </a:p>
        </p:txBody>
      </p:sp>
      <p:sp>
        <p:nvSpPr>
          <p:cNvPr id="59395" name="Rectangle 2"/>
          <p:cNvSpPr>
            <a:spLocks noGrp="1" noRot="1" noChangeAspect="1" noChangeArrowheads="1" noTextEdit="1"/>
          </p:cNvSpPr>
          <p:nvPr>
            <p:ph type="sldImg"/>
          </p:nvPr>
        </p:nvSpPr>
        <p:spPr>
          <a:xfrm>
            <a:off x="995363" y="768350"/>
            <a:ext cx="5113337" cy="3836988"/>
          </a:xfrm>
          <a:ln/>
        </p:spPr>
      </p:sp>
      <p:sp>
        <p:nvSpPr>
          <p:cNvPr id="59396" name="Rectangle 3"/>
          <p:cNvSpPr>
            <a:spLocks noGrp="1" noChangeArrowheads="1"/>
          </p:cNvSpPr>
          <p:nvPr>
            <p:ph type="body" idx="1"/>
          </p:nvPr>
        </p:nvSpPr>
        <p:spPr>
          <a:noFill/>
          <a:ln/>
        </p:spPr>
        <p:txBody>
          <a:bodyPr/>
          <a:lstStyle/>
          <a:p>
            <a:pPr eaLnBrk="1" hangingPunct="1"/>
            <a:endParaRPr lang="en-US" b="1">
              <a:latin typeface="Arial" pitchFamily="-106" charset="0"/>
            </a:endParaRPr>
          </a:p>
        </p:txBody>
      </p:sp>
    </p:spTree>
    <p:extLst>
      <p:ext uri="{BB962C8B-B14F-4D97-AF65-F5344CB8AC3E}">
        <p14:creationId xmlns:p14="http://schemas.microsoft.com/office/powerpoint/2010/main" val="132400559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a:t>http://</a:t>
            </a:r>
            <a:r>
              <a:rPr lang="en-US" sz="1300" b="1" err="1"/>
              <a:t>www.mtu.edu</a:t>
            </a:r>
            <a:r>
              <a:rPr lang="en-US" sz="1300" b="1"/>
              <a:t>/</a:t>
            </a:r>
            <a:r>
              <a:rPr lang="en-US" sz="1300" b="1" err="1"/>
              <a:t>umc</a:t>
            </a:r>
            <a:r>
              <a:rPr lang="en-US" sz="1300" b="1"/>
              <a:t>/services/web/resources/great-</a:t>
            </a:r>
            <a:r>
              <a:rPr lang="en-US" sz="1300" b="1" err="1"/>
              <a:t>url</a:t>
            </a:r>
            <a:r>
              <a:rPr lang="en-US" sz="1300" b="1"/>
              <a:t>/</a:t>
            </a:r>
          </a:p>
          <a:p>
            <a:endParaRPr lang="en-US" sz="1300" b="1"/>
          </a:p>
          <a:p>
            <a:r>
              <a:rPr lang="en-US" sz="1300" b="1"/>
              <a:t>It should be obvious.</a:t>
            </a:r>
            <a:r>
              <a:rPr lang="en-US" sz="1300"/>
              <a:t> If a user can look at your URL and make an accurate guess about the contents of your page, you’re on the right track.</a:t>
            </a:r>
          </a:p>
          <a:p>
            <a:r>
              <a:rPr lang="en-US" sz="1300" b="1"/>
              <a:t>Use keywords when you can.</a:t>
            </a:r>
            <a:r>
              <a:rPr lang="en-US" sz="1300"/>
              <a:t> Those golden keywords that you spent so much time researching can be utilized in your URL structure. Name your directories accordingly, using the keywords where appropriate.</a:t>
            </a:r>
          </a:p>
          <a:p>
            <a:r>
              <a:rPr lang="en-US" sz="1300" b="1"/>
              <a:t>Shorter is better.</a:t>
            </a:r>
            <a:r>
              <a:rPr lang="en-US" sz="1300"/>
              <a:t> A short URL is easier to copy, paste, say, and write.</a:t>
            </a:r>
          </a:p>
          <a:p>
            <a:r>
              <a:rPr lang="en-US" sz="1300" b="1"/>
              <a:t>Never use multiple subdomains.</a:t>
            </a:r>
            <a:r>
              <a:rPr lang="en-US" sz="1300"/>
              <a:t> If you can, avoid using subdomains altogether. They can be viewed separately from the primary domain, thereby negatively influencing your search engine ranking. If you must use a subdomain, make sure it is well interlinked within your site.</a:t>
            </a:r>
          </a:p>
          <a:p>
            <a:r>
              <a:rPr lang="en-US" sz="1300" b="1"/>
              <a:t>Avoid too many folders.</a:t>
            </a:r>
            <a:r>
              <a:rPr lang="en-US" sz="1300"/>
              <a:t> A folder creates one more layer that search engines have to crawl through—omit unnecessary folders from your site structure.</a:t>
            </a:r>
          </a:p>
          <a:p>
            <a:r>
              <a:rPr lang="en-US" sz="1300" b="1"/>
              <a:t>Don’t use uppercase characters.</a:t>
            </a:r>
            <a:r>
              <a:rPr lang="en-US" sz="1300"/>
              <a:t> URLs can accept both upper and lowercase characters, but that doesn’t mean you should do it. Keep your URLs simple and concise by using lowercase text—always.</a:t>
            </a:r>
          </a:p>
          <a:p>
            <a:r>
              <a:rPr lang="en-US" sz="1300" b="1"/>
              <a:t>Use static URLs when you can.</a:t>
            </a:r>
            <a:r>
              <a:rPr lang="en-US" sz="1300"/>
              <a:t> Search engines treat dynamic and static URLs differently, so keep yours static—that means no random characters. “?^&amp;” means nothing to your user.</a:t>
            </a:r>
            <a:endParaRPr lang="en-US"/>
          </a:p>
        </p:txBody>
      </p:sp>
      <p:sp>
        <p:nvSpPr>
          <p:cNvPr id="4" name="Slide Number Placeholder 3"/>
          <p:cNvSpPr>
            <a:spLocks noGrp="1"/>
          </p:cNvSpPr>
          <p:nvPr>
            <p:ph type="sldNum" sz="quarter" idx="10"/>
          </p:nvPr>
        </p:nvSpPr>
        <p:spPr/>
        <p:txBody>
          <a:bodyPr/>
          <a:lstStyle/>
          <a:p>
            <a:fld id="{7DE1B25F-D1C2-0240-A2FC-D999A37D4334}" type="slidenum">
              <a:rPr lang="en-US" smtClean="0"/>
              <a:pPr/>
              <a:t>70</a:t>
            </a:fld>
            <a:endParaRPr lang="en-US"/>
          </a:p>
        </p:txBody>
      </p:sp>
    </p:spTree>
    <p:extLst>
      <p:ext uri="{BB962C8B-B14F-4D97-AF65-F5344CB8AC3E}">
        <p14:creationId xmlns:p14="http://schemas.microsoft.com/office/powerpoint/2010/main" val="11468642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t>http://www.wireframewednesday.com/top-10-wireframe-tips-ux-booth</a:t>
            </a:r>
          </a:p>
          <a:p>
            <a:r>
              <a:rPr lang="en-US"/>
              <a:t>http://blogdesignguy.com/6-w</a:t>
            </a:r>
          </a:p>
          <a:p>
            <a:endParaRPr lang="en-US"/>
          </a:p>
        </p:txBody>
      </p:sp>
      <p:sp>
        <p:nvSpPr>
          <p:cNvPr id="4" name="Slide Number Placeholder 3"/>
          <p:cNvSpPr>
            <a:spLocks noGrp="1"/>
          </p:cNvSpPr>
          <p:nvPr>
            <p:ph type="sldNum" sz="quarter" idx="10"/>
          </p:nvPr>
        </p:nvSpPr>
        <p:spPr/>
        <p:txBody>
          <a:bodyPr/>
          <a:lstStyle/>
          <a:p>
            <a:fld id="{7DE1B25F-D1C2-0240-A2FC-D999A37D4334}" type="slidenum">
              <a:rPr lang="en-US" smtClean="0"/>
              <a:pPr/>
              <a:t>73</a:t>
            </a:fld>
            <a:endParaRPr lang="en-US"/>
          </a:p>
        </p:txBody>
      </p:sp>
    </p:spTree>
    <p:extLst>
      <p:ext uri="{BB962C8B-B14F-4D97-AF65-F5344CB8AC3E}">
        <p14:creationId xmlns:p14="http://schemas.microsoft.com/office/powerpoint/2010/main" val="189233652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t>http://www.wireframewednesday.com/top-10-wireframe-tips-ux-booth</a:t>
            </a:r>
          </a:p>
          <a:p>
            <a:r>
              <a:rPr lang="en-US"/>
              <a:t>http://blogdesignguy.com/6-web-wireframing-tips-for-the-absolute-beginner/</a:t>
            </a:r>
          </a:p>
        </p:txBody>
      </p:sp>
      <p:sp>
        <p:nvSpPr>
          <p:cNvPr id="4" name="Slide Number Placeholder 3"/>
          <p:cNvSpPr>
            <a:spLocks noGrp="1"/>
          </p:cNvSpPr>
          <p:nvPr>
            <p:ph type="sldNum" sz="quarter" idx="10"/>
          </p:nvPr>
        </p:nvSpPr>
        <p:spPr/>
        <p:txBody>
          <a:bodyPr/>
          <a:lstStyle/>
          <a:p>
            <a:fld id="{7DE1B25F-D1C2-0240-A2FC-D999A37D4334}" type="slidenum">
              <a:rPr lang="en-US" smtClean="0"/>
              <a:pPr/>
              <a:t>74</a:t>
            </a:fld>
            <a:endParaRPr lang="en-US"/>
          </a:p>
        </p:txBody>
      </p:sp>
    </p:spTree>
    <p:extLst>
      <p:ext uri="{BB962C8B-B14F-4D97-AF65-F5344CB8AC3E}">
        <p14:creationId xmlns:p14="http://schemas.microsoft.com/office/powerpoint/2010/main" val="220420804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44217" y="2130425"/>
            <a:ext cx="8451115" cy="1470025"/>
          </a:xfrm>
        </p:spPr>
        <p:txBody>
          <a:bodyPr/>
          <a:lstStyle/>
          <a:p>
            <a:r>
              <a:rPr lang="en-GB"/>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a:p>
        </p:txBody>
      </p:sp>
      <p:sp>
        <p:nvSpPr>
          <p:cNvPr id="5" name="Footer Placeholder 4"/>
          <p:cNvSpPr>
            <a:spLocks noGrp="1"/>
          </p:cNvSpPr>
          <p:nvPr>
            <p:ph type="ftr" sz="quarter" idx="11"/>
          </p:nvPr>
        </p:nvSpPr>
        <p:spPr/>
        <p:txBody>
          <a:bodyPr/>
          <a:lstStyle/>
          <a:p>
            <a:r>
              <a:rPr lang="en-US"/>
              <a:t>DIM3</a:t>
            </a:r>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pic>
        <p:nvPicPr>
          <p:cNvPr id="8" name="Picture 7" descr="Logo&#10;&#10;Description automatically generated with medium confidence">
            <a:extLst>
              <a:ext uri="{FF2B5EF4-FFF2-40B4-BE49-F238E27FC236}">
                <a16:creationId xmlns:a16="http://schemas.microsoft.com/office/drawing/2014/main" id="{74EAD0C4-4D15-D32D-95A4-DE4166EFB56F}"/>
              </a:ext>
            </a:extLst>
          </p:cNvPr>
          <p:cNvPicPr>
            <a:picLocks noChangeAspect="1"/>
          </p:cNvPicPr>
          <p:nvPr userDrawn="1"/>
        </p:nvPicPr>
        <p:blipFill>
          <a:blip r:embed="rId2"/>
          <a:stretch>
            <a:fillRect/>
          </a:stretch>
        </p:blipFill>
        <p:spPr>
          <a:xfrm>
            <a:off x="6826832" y="142875"/>
            <a:ext cx="1968500" cy="609600"/>
          </a:xfrm>
          <a:prstGeom prst="rect">
            <a:avLst/>
          </a:prstGeom>
        </p:spPr>
      </p:pic>
    </p:spTree>
    <p:extLst>
      <p:ext uri="{BB962C8B-B14F-4D97-AF65-F5344CB8AC3E}">
        <p14:creationId xmlns:p14="http://schemas.microsoft.com/office/powerpoint/2010/main" val="14077515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295C18E-71E3-2445-B53D-B08FF66D11AD}"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6963245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GB"/>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1295C18E-71E3-2445-B53D-B08FF66D11AD}"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4372383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1295C18E-71E3-2445-B53D-B08FF66D11AD}" type="datetimeFigureOut">
              <a:rPr lang="en-US" smtClean="0"/>
              <a:t>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34914841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1295C18E-71E3-2445-B53D-B08FF66D11AD}" type="datetimeFigureOut">
              <a:rPr lang="en-US" smtClean="0"/>
              <a:t>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2449344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1295C18E-71E3-2445-B53D-B08FF66D11AD}" type="datetimeFigureOut">
              <a:rPr lang="en-US" smtClean="0"/>
              <a:t>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751781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95C18E-71E3-2445-B53D-B08FF66D11AD}" type="datetimeFigureOut">
              <a:rPr lang="en-US" smtClean="0"/>
              <a:t>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10480870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GB"/>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295C18E-71E3-2445-B53D-B08FF66D11AD}" type="datetimeFigureOut">
              <a:rPr lang="en-US" smtClean="0"/>
              <a:t>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1378755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GB"/>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295C18E-71E3-2445-B53D-B08FF66D11AD}" type="datetimeFigureOut">
              <a:rPr lang="en-US" smtClean="0"/>
              <a:t>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13176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295C18E-71E3-2445-B53D-B08FF66D11AD}"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39181942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295C18E-71E3-2445-B53D-B08FF66D11AD}"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1488127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533400"/>
          </a:xfrm>
        </p:spPr>
        <p:txBody>
          <a:bodyPr/>
          <a:lstStyle/>
          <a:p>
            <a:r>
              <a:rPr lang="en-US"/>
              <a:t>Click to edit Master title style</a:t>
            </a:r>
            <a:endParaRPr lang="en-GB"/>
          </a:p>
        </p:txBody>
      </p:sp>
      <p:sp>
        <p:nvSpPr>
          <p:cNvPr id="3" name="Text Placeholder 2"/>
          <p:cNvSpPr>
            <a:spLocks noGrp="1"/>
          </p:cNvSpPr>
          <p:nvPr>
            <p:ph type="body" sz="half" idx="1"/>
          </p:nvPr>
        </p:nvSpPr>
        <p:spPr>
          <a:xfrm>
            <a:off x="685800" y="914401"/>
            <a:ext cx="3810000" cy="53943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914401"/>
            <a:ext cx="3810000" cy="53943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4"/>
          <p:cNvSpPr>
            <a:spLocks noGrp="1" noChangeArrowheads="1"/>
          </p:cNvSpPr>
          <p:nvPr>
            <p:ph type="dt" sz="half" idx="10"/>
          </p:nvPr>
        </p:nvSpPr>
        <p:spPr>
          <a:ln/>
        </p:spPr>
        <p:txBody>
          <a:bodyPr/>
          <a:lstStyle>
            <a:lvl1pPr>
              <a:defRPr/>
            </a:lvl1pPr>
          </a:lstStyle>
          <a:p>
            <a:pPr>
              <a:defRPr/>
            </a:pPr>
            <a:r>
              <a:rPr lang="en-GB"/>
              <a:t>11/1/2010</a:t>
            </a:r>
          </a:p>
        </p:txBody>
      </p:sp>
      <p:sp>
        <p:nvSpPr>
          <p:cNvPr id="6" name="Rectangle 5"/>
          <p:cNvSpPr>
            <a:spLocks noGrp="1" noChangeArrowheads="1"/>
          </p:cNvSpPr>
          <p:nvPr>
            <p:ph type="ftr" sz="quarter" idx="11"/>
          </p:nvPr>
        </p:nvSpPr>
        <p:spPr>
          <a:ln/>
        </p:spPr>
        <p:txBody>
          <a:bodyPr/>
          <a:lstStyle>
            <a:lvl1pPr>
              <a:defRPr/>
            </a:lvl1pPr>
          </a:lstStyle>
          <a:p>
            <a:pPr>
              <a:defRPr/>
            </a:pPr>
            <a:r>
              <a:rPr lang="en-GB"/>
              <a:t>DIM3 - Introduction </a:t>
            </a:r>
          </a:p>
        </p:txBody>
      </p:sp>
    </p:spTree>
    <p:extLst>
      <p:ext uri="{BB962C8B-B14F-4D97-AF65-F5344CB8AC3E}">
        <p14:creationId xmlns:p14="http://schemas.microsoft.com/office/powerpoint/2010/main" val="7267381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628"/>
            <a:ext cx="9144000" cy="1143000"/>
          </a:xfrm>
          <a:prstGeom prst="rect">
            <a:avLst/>
          </a:prstGeom>
          <a:solidFill>
            <a:schemeClr val="tx1">
              <a:lumMod val="95000"/>
              <a:lumOff val="5000"/>
            </a:schemeClr>
          </a:solidFill>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295C18E-71E3-2445-B53D-B08FF66D11AD}" type="datetimeFigureOut">
              <a:rPr lang="en-US" smtClean="0"/>
              <a:t>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C9DDB0-81EE-D14D-B800-31495205A3AC}" type="slidenum">
              <a:rPr lang="en-US" smtClean="0"/>
              <a:t>‹#›</a:t>
            </a:fld>
            <a:endParaRPr lang="en-US"/>
          </a:p>
        </p:txBody>
      </p:sp>
    </p:spTree>
    <p:extLst>
      <p:ext uri="{BB962C8B-B14F-4D97-AF65-F5344CB8AC3E}">
        <p14:creationId xmlns:p14="http://schemas.microsoft.com/office/powerpoint/2010/main" val="33752707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bg1"/>
          </a:solidFill>
          <a:latin typeface="American Typewriter"/>
          <a:ea typeface="+mj-ea"/>
          <a:cs typeface="American Typewriter"/>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jpeg"/></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24.jpeg"/></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hyperlink" Target="http://serverfault.com/questions/529733/customize-the-outlook-web-app-owa-overall-theme-in-exchange-2013" TargetMode="External"/><Relationship Id="rId7" Type="http://schemas.openxmlformats.org/officeDocument/2006/relationships/diagramQuickStyle" Target="../diagrams/quickStyle2.xml"/><Relationship Id="rId2" Type="http://schemas.openxmlformats.org/officeDocument/2006/relationships/image" Target="../media/image25.png"/><Relationship Id="rId1" Type="http://schemas.openxmlformats.org/officeDocument/2006/relationships/slideLayout" Target="../slideLayouts/slideLayout4.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6.png"/><Relationship Id="rId9" Type="http://schemas.microsoft.com/office/2007/relationships/diagramDrawing" Target="../diagrams/drawing2.xml"/></Relationships>
</file>

<file path=ppt/slides/_rels/slide8.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image" Target="../media/image27.png"/><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png"/></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eb.eecs.umich.edu/~harshavm/papers/imc11.pdf"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hyperlink" Target="https://docs.djangoproject.com/en/1.10/topics/db/examples/"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hyperlink" Target="http://www.uxbooth.com/articles/complete-beginners-guide-to-information-architecture/"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www.w3.org/WAI/standards-guidelines/wcag/" TargetMode="External"/><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Intro to ITECH</a:t>
            </a:r>
          </a:p>
        </p:txBody>
      </p:sp>
      <p:sp>
        <p:nvSpPr>
          <p:cNvPr id="4" name="Subtitle 3">
            <a:extLst>
              <a:ext uri="{FF2B5EF4-FFF2-40B4-BE49-F238E27FC236}">
                <a16:creationId xmlns:a16="http://schemas.microsoft.com/office/drawing/2014/main" id="{16CE6D9C-83B7-36CE-3F75-637CC194815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766660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12243-6D04-F145-FB43-570F58869F98}"/>
              </a:ext>
            </a:extLst>
          </p:cNvPr>
          <p:cNvSpPr>
            <a:spLocks noGrp="1"/>
          </p:cNvSpPr>
          <p:nvPr>
            <p:ph type="title"/>
          </p:nvPr>
        </p:nvSpPr>
        <p:spPr/>
        <p:txBody>
          <a:bodyPr/>
          <a:lstStyle/>
          <a:p>
            <a:r>
              <a:rPr lang="en-US"/>
              <a:t>By the end of Week 1...</a:t>
            </a:r>
          </a:p>
        </p:txBody>
      </p:sp>
      <p:sp>
        <p:nvSpPr>
          <p:cNvPr id="3" name="Content Placeholder 2">
            <a:extLst>
              <a:ext uri="{FF2B5EF4-FFF2-40B4-BE49-F238E27FC236}">
                <a16:creationId xmlns:a16="http://schemas.microsoft.com/office/drawing/2014/main" id="{04B1DE5B-D29F-61B7-5B95-D09D3792B14D}"/>
              </a:ext>
            </a:extLst>
          </p:cNvPr>
          <p:cNvSpPr>
            <a:spLocks noGrp="1"/>
          </p:cNvSpPr>
          <p:nvPr>
            <p:ph idx="1"/>
          </p:nvPr>
        </p:nvSpPr>
        <p:spPr/>
        <p:txBody>
          <a:bodyPr vert="horz" lIns="91440" tIns="45720" rIns="91440" bIns="45720" rtlCol="0" anchor="t">
            <a:normAutofit fontScale="77500" lnSpcReduction="20000"/>
          </a:bodyPr>
          <a:lstStyle/>
          <a:p>
            <a:pPr marL="0" indent="0">
              <a:buNone/>
            </a:pPr>
            <a:r>
              <a:rPr lang="en-US" dirty="0">
                <a:ea typeface="Calibri"/>
                <a:cs typeface="Calibri"/>
              </a:rPr>
              <a:t>By the end of Week 1, you should be able to:</a:t>
            </a:r>
          </a:p>
          <a:p>
            <a:pPr marL="0" indent="0">
              <a:buNone/>
            </a:pPr>
            <a:endParaRPr lang="en-US">
              <a:ea typeface="Calibri"/>
              <a:cs typeface="Calibri"/>
            </a:endParaRPr>
          </a:p>
          <a:p>
            <a:pPr marL="0" indent="0">
              <a:buNone/>
            </a:pPr>
            <a:r>
              <a:rPr lang="en-US" dirty="0">
                <a:ea typeface="Calibri"/>
                <a:cs typeface="Calibri"/>
              </a:rPr>
              <a:t>1. Understand the </a:t>
            </a:r>
            <a:r>
              <a:rPr lang="en-US" b="1" dirty="0">
                <a:ea typeface="Calibri"/>
                <a:cs typeface="Calibri"/>
              </a:rPr>
              <a:t>types of web applications</a:t>
            </a:r>
          </a:p>
          <a:p>
            <a:pPr marL="0" indent="0">
              <a:buNone/>
            </a:pPr>
            <a:r>
              <a:rPr lang="en-US" dirty="0">
                <a:ea typeface="Calibri"/>
                <a:cs typeface="Calibri"/>
              </a:rPr>
              <a:t>2. Understand </a:t>
            </a:r>
            <a:r>
              <a:rPr lang="en-US" b="1" dirty="0">
                <a:ea typeface="Calibri"/>
                <a:cs typeface="Calibri"/>
              </a:rPr>
              <a:t>tiered architectures</a:t>
            </a:r>
            <a:r>
              <a:rPr lang="en-US" dirty="0">
                <a:ea typeface="Calibri"/>
                <a:cs typeface="Calibri"/>
              </a:rPr>
              <a:t> and their benefits</a:t>
            </a:r>
          </a:p>
          <a:p>
            <a:pPr marL="0" indent="0">
              <a:buNone/>
            </a:pPr>
            <a:r>
              <a:rPr lang="en-US" dirty="0">
                <a:ea typeface="Calibri"/>
                <a:cs typeface="Calibri"/>
              </a:rPr>
              <a:t>3. Interpret and create </a:t>
            </a:r>
            <a:r>
              <a:rPr lang="en-US" b="1" dirty="0">
                <a:ea typeface="Calibri"/>
                <a:cs typeface="Calibri"/>
              </a:rPr>
              <a:t>high-level architecture diagrams</a:t>
            </a:r>
          </a:p>
          <a:p>
            <a:pPr marL="0" indent="0">
              <a:buNone/>
            </a:pPr>
            <a:r>
              <a:rPr lang="en-US" dirty="0">
                <a:ea typeface="Calibri"/>
                <a:cs typeface="Calibri"/>
              </a:rPr>
              <a:t>4. Understand </a:t>
            </a:r>
            <a:r>
              <a:rPr lang="en-US" b="1" dirty="0">
                <a:ea typeface="Calibri"/>
                <a:cs typeface="Calibri"/>
              </a:rPr>
              <a:t>data modeling</a:t>
            </a:r>
            <a:r>
              <a:rPr lang="en-US" dirty="0">
                <a:ea typeface="Calibri"/>
                <a:cs typeface="Calibri"/>
              </a:rPr>
              <a:t> and create </a:t>
            </a:r>
            <a:r>
              <a:rPr lang="en-US" b="1" dirty="0">
                <a:ea typeface="Calibri"/>
                <a:cs typeface="Calibri"/>
              </a:rPr>
              <a:t>ER diagrams</a:t>
            </a:r>
          </a:p>
          <a:p>
            <a:pPr marL="0" indent="0">
              <a:buNone/>
            </a:pPr>
            <a:r>
              <a:rPr lang="en-US" dirty="0">
                <a:ea typeface="Calibri"/>
                <a:cs typeface="Calibri"/>
              </a:rPr>
              <a:t>5. Apply Information Architecture principles to develop </a:t>
            </a:r>
            <a:r>
              <a:rPr lang="en-US" b="1" dirty="0">
                <a:ea typeface="Calibri"/>
                <a:cs typeface="Calibri"/>
              </a:rPr>
              <a:t>user requirements</a:t>
            </a:r>
            <a:r>
              <a:rPr lang="en-US" dirty="0">
                <a:ea typeface="Calibri"/>
                <a:cs typeface="Calibri"/>
              </a:rPr>
              <a:t>, </a:t>
            </a:r>
            <a:r>
              <a:rPr lang="en-US" b="1" dirty="0">
                <a:ea typeface="Calibri"/>
                <a:cs typeface="Calibri"/>
              </a:rPr>
              <a:t>sitemaps</a:t>
            </a:r>
            <a:r>
              <a:rPr lang="en-US" dirty="0">
                <a:ea typeface="Calibri"/>
                <a:cs typeface="Calibri"/>
              </a:rPr>
              <a:t>, </a:t>
            </a:r>
            <a:r>
              <a:rPr lang="en-US" b="1" dirty="0">
                <a:ea typeface="Calibri"/>
                <a:cs typeface="Calibri"/>
              </a:rPr>
              <a:t>user flows</a:t>
            </a:r>
            <a:r>
              <a:rPr lang="en-US" dirty="0">
                <a:ea typeface="Calibri"/>
                <a:cs typeface="Calibri"/>
              </a:rPr>
              <a:t>, and </a:t>
            </a:r>
            <a:r>
              <a:rPr lang="en-US" b="1" dirty="0">
                <a:ea typeface="Calibri"/>
                <a:cs typeface="Calibri"/>
              </a:rPr>
              <a:t>wireframes </a:t>
            </a:r>
          </a:p>
          <a:p>
            <a:pPr marL="0" indent="0">
              <a:buNone/>
            </a:pPr>
            <a:endParaRPr lang="en-US" b="1" dirty="0">
              <a:ea typeface="Calibri"/>
              <a:cs typeface="Calibri"/>
            </a:endParaRPr>
          </a:p>
          <a:p>
            <a:pPr marL="0" indent="0">
              <a:buNone/>
            </a:pPr>
            <a:r>
              <a:rPr lang="en-US" b="1" dirty="0">
                <a:ea typeface="Calibri"/>
                <a:cs typeface="Calibri"/>
              </a:rPr>
              <a:t>This lecture covers most of what you need for the first part of your group coursework!</a:t>
            </a:r>
          </a:p>
        </p:txBody>
      </p:sp>
    </p:spTree>
    <p:extLst>
      <p:ext uri="{BB962C8B-B14F-4D97-AF65-F5344CB8AC3E}">
        <p14:creationId xmlns:p14="http://schemas.microsoft.com/office/powerpoint/2010/main" val="275077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D3F12-EC89-347D-0300-E52F4A7AEE8E}"/>
              </a:ext>
            </a:extLst>
          </p:cNvPr>
          <p:cNvSpPr>
            <a:spLocks noGrp="1"/>
          </p:cNvSpPr>
          <p:nvPr>
            <p:ph type="title"/>
          </p:nvPr>
        </p:nvSpPr>
        <p:spPr/>
        <p:txBody>
          <a:bodyPr/>
          <a:lstStyle/>
          <a:p>
            <a:r>
              <a:rPr lang="en-US"/>
              <a:t>What is A Web APPLICATION?</a:t>
            </a:r>
          </a:p>
        </p:txBody>
      </p:sp>
      <p:sp>
        <p:nvSpPr>
          <p:cNvPr id="3" name="Content Placeholder 2">
            <a:extLst>
              <a:ext uri="{FF2B5EF4-FFF2-40B4-BE49-F238E27FC236}">
                <a16:creationId xmlns:a16="http://schemas.microsoft.com/office/drawing/2014/main" id="{EF5252B5-DBD3-5FA3-7757-000EF222983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09800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descr="Icons of logos of well-known web applications; Instagram, Twitter, Facebook, Expedia, Messenger, Booking, Skype, Youtube, Amazon, Wikipedia, Trainline&#10;"/>
          <p:cNvSpPr>
            <a:spLocks noGrp="1"/>
          </p:cNvSpPr>
          <p:nvPr>
            <p:ph type="title"/>
          </p:nvPr>
        </p:nvSpPr>
        <p:spPr/>
        <p:txBody>
          <a:bodyPr>
            <a:normAutofit/>
          </a:bodyPr>
          <a:lstStyle/>
          <a:p>
            <a:r>
              <a:rPr lang="en-US"/>
              <a:t>Web Applications Examples</a:t>
            </a:r>
          </a:p>
        </p:txBody>
      </p:sp>
      <p:pic>
        <p:nvPicPr>
          <p:cNvPr id="1026" name="Picture 2" descr="Image result for facebook lo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95235" y="1122181"/>
            <a:ext cx="2075996" cy="2075997"/>
          </a:xfrm>
          <a:prstGeom prst="rect">
            <a:avLst/>
          </a:prstGeom>
          <a:noFill/>
          <a:extLst>
            <a:ext uri="{909E8E84-426E-40DD-AFC4-6F175D3DCCD1}">
              <a14:hiddenFill xmlns:a14="http://schemas.microsoft.com/office/drawing/2010/main">
                <a:solidFill>
                  <a:srgbClr val="FFFFFF"/>
                </a:solidFill>
              </a14:hiddenFill>
            </a:ext>
          </a:extLst>
        </p:spPr>
      </p:pic>
      <p:sp>
        <p:nvSpPr>
          <p:cNvPr id="6" name="AutoShape 6" descr="Image result for twitter logo"/>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032" name="Picture 8" descr="File:Twitter bird logo 2012.sv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68436" y="1614714"/>
            <a:ext cx="1351793" cy="1099458"/>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youtube log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5827" y="4019097"/>
            <a:ext cx="2878506" cy="179115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amazon logo"/>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7683" y="5669369"/>
            <a:ext cx="2559542" cy="933167"/>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Image result for instagram logo"/>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17946" y="1424689"/>
            <a:ext cx="1479508" cy="1479508"/>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Booking.com Online Hotel Reservations"/>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613378" y="3248901"/>
            <a:ext cx="2857500" cy="476250"/>
          </a:xfrm>
          <a:prstGeom prst="rect">
            <a:avLst/>
          </a:prstGeom>
          <a:solidFill>
            <a:schemeClr val="tx2"/>
          </a:solidFill>
        </p:spPr>
      </p:pic>
      <p:pic>
        <p:nvPicPr>
          <p:cNvPr id="15" name="Picture 18" descr="Image result for expedia logo"/>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607054" y="1402300"/>
            <a:ext cx="1934834" cy="1443143"/>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Image result for wikipedia logo"/>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19445" y="4193087"/>
            <a:ext cx="2199496" cy="2007383"/>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Image result for trainline logo"/>
          <p:cNvPicPr>
            <a:picLocks noChangeAspect="1" noChangeArrowheads="1"/>
          </p:cNvPicPr>
          <p:nvPr/>
        </p:nvPicPr>
        <p:blipFill rotWithShape="1">
          <a:blip r:embed="rId11">
            <a:extLst>
              <a:ext uri="{28A0092B-C50C-407E-A947-70E740481C1C}">
                <a14:useLocalDpi xmlns:a14="http://schemas.microsoft.com/office/drawing/2010/main" val="0"/>
              </a:ext>
            </a:extLst>
          </a:blip>
          <a:srcRect t="15455" b="22294"/>
          <a:stretch/>
        </p:blipFill>
        <p:spPr bwMode="auto">
          <a:xfrm>
            <a:off x="6371230" y="4706673"/>
            <a:ext cx="2406481" cy="1498054"/>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8" descr="Image result for messenger logo"/>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 name="AutoShape 30" descr="Image result for messenger logo"/>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056" name="Picture 32" descr="https://encrypted-tbn1.gstatic.com/images?q=tbn:ANd9GcTbgK07xc75USF16bC9HXsQh1gtYLp56tE1aOe_YGnQLIaaDvHcp8mkGQ"/>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81437" y="3093403"/>
            <a:ext cx="11525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https://encrypted-tbn1.gstatic.com/images?q=tbn:ANd9GcTUDx6CGDo91aZwCywlmDRb55zg6VqlUeCFdl3DtG4i2r_1VXqOprTWjw"/>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758543" y="3144126"/>
            <a:ext cx="1162050" cy="1162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9197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C64C3E-8AC4-E9F0-2C4F-D6BD21F4345B}"/>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92DCC947-E889-11A2-540A-35B968E97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2B0082-5FC5-D265-A340-A807BD58E82E}"/>
              </a:ext>
            </a:extLst>
          </p:cNvPr>
          <p:cNvSpPr>
            <a:spLocks noGrp="1"/>
          </p:cNvSpPr>
          <p:nvPr>
            <p:ph type="title"/>
          </p:nvPr>
        </p:nvSpPr>
        <p:spPr>
          <a:xfrm>
            <a:off x="630936" y="256032"/>
            <a:ext cx="7879842" cy="1014984"/>
          </a:xfrm>
        </p:spPr>
        <p:txBody>
          <a:bodyPr anchor="b">
            <a:normAutofit/>
          </a:bodyPr>
          <a:lstStyle/>
          <a:p>
            <a:r>
              <a:rPr lang="en-US"/>
              <a:t>What is a Web Application?</a:t>
            </a:r>
          </a:p>
        </p:txBody>
      </p:sp>
      <p:sp>
        <p:nvSpPr>
          <p:cNvPr id="22" name="Rectangle 21">
            <a:extLst>
              <a:ext uri="{FF2B5EF4-FFF2-40B4-BE49-F238E27FC236}">
                <a16:creationId xmlns:a16="http://schemas.microsoft.com/office/drawing/2014/main" id="{46B3AC8F-1FA0-2BB4-3456-2B56D88919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3" name="Rectangle 22">
            <a:extLst>
              <a:ext uri="{FF2B5EF4-FFF2-40B4-BE49-F238E27FC236}">
                <a16:creationId xmlns:a16="http://schemas.microsoft.com/office/drawing/2014/main" id="{93363AF2-85DE-92A9-5DBC-55407B004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24" name="Content Placeholder 2">
            <a:extLst>
              <a:ext uri="{FF2B5EF4-FFF2-40B4-BE49-F238E27FC236}">
                <a16:creationId xmlns:a16="http://schemas.microsoft.com/office/drawing/2014/main" id="{E2357668-E0BB-C6EA-66E9-B637F3B5B88A}"/>
              </a:ext>
            </a:extLst>
          </p:cNvPr>
          <p:cNvGraphicFramePr>
            <a:graphicFrameLocks noGrp="1"/>
          </p:cNvGraphicFramePr>
          <p:nvPr>
            <p:ph idx="1"/>
          </p:nvPr>
        </p:nvGraphicFramePr>
        <p:xfrm>
          <a:off x="628650" y="1926266"/>
          <a:ext cx="7886700" cy="43575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66156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D70B7-868D-E0D5-CCC5-7C1F25ED6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2B768D-B9E3-12D4-0663-7D8A6D616B93}"/>
              </a:ext>
            </a:extLst>
          </p:cNvPr>
          <p:cNvSpPr>
            <a:spLocks noGrp="1"/>
          </p:cNvSpPr>
          <p:nvPr>
            <p:ph type="title"/>
          </p:nvPr>
        </p:nvSpPr>
        <p:spPr/>
        <p:txBody>
          <a:bodyPr/>
          <a:lstStyle/>
          <a:p>
            <a:r>
              <a:rPr lang="en-US" dirty="0"/>
              <a:t>Internet vs Web</a:t>
            </a:r>
          </a:p>
        </p:txBody>
      </p:sp>
      <p:pic>
        <p:nvPicPr>
          <p:cNvPr id="5" name="Content Placeholder 4" descr="A close up of a network&#10;&#10;AI-generated content may be incorrect.">
            <a:extLst>
              <a:ext uri="{FF2B5EF4-FFF2-40B4-BE49-F238E27FC236}">
                <a16:creationId xmlns:a16="http://schemas.microsoft.com/office/drawing/2014/main" id="{F998BAA1-B6DE-C4A1-4BD3-3EA137869FB3}"/>
              </a:ext>
            </a:extLst>
          </p:cNvPr>
          <p:cNvPicPr>
            <a:picLocks noGrp="1" noChangeAspect="1"/>
          </p:cNvPicPr>
          <p:nvPr>
            <p:ph sz="half" idx="1"/>
          </p:nvPr>
        </p:nvPicPr>
        <p:blipFill>
          <a:blip r:embed="rId3"/>
          <a:srcRect l="13109" t="102"/>
          <a:stretch>
            <a:fillRect/>
          </a:stretch>
        </p:blipFill>
        <p:spPr>
          <a:xfrm>
            <a:off x="953972" y="1597521"/>
            <a:ext cx="3509172" cy="2269403"/>
          </a:xfrm>
          <a:prstGeom prst="rect">
            <a:avLst/>
          </a:prstGeom>
        </p:spPr>
      </p:pic>
      <p:sp>
        <p:nvSpPr>
          <p:cNvPr id="4" name="Content Placeholder 3">
            <a:extLst>
              <a:ext uri="{FF2B5EF4-FFF2-40B4-BE49-F238E27FC236}">
                <a16:creationId xmlns:a16="http://schemas.microsoft.com/office/drawing/2014/main" id="{6DD218E5-1262-F6F8-0AD9-CC5F0790D900}"/>
              </a:ext>
            </a:extLst>
          </p:cNvPr>
          <p:cNvSpPr>
            <a:spLocks noGrp="1"/>
          </p:cNvSpPr>
          <p:nvPr>
            <p:ph sz="half" idx="2"/>
          </p:nvPr>
        </p:nvSpPr>
        <p:spPr/>
        <p:txBody>
          <a:bodyPr vert="horz" lIns="91440" tIns="45720" rIns="91440" bIns="45720" rtlCol="0" anchor="t">
            <a:normAutofit/>
          </a:bodyPr>
          <a:lstStyle/>
          <a:p>
            <a:pPr marL="0" indent="0">
              <a:buNone/>
            </a:pPr>
            <a:r>
              <a:rPr lang="en-US" b="1" dirty="0">
                <a:ea typeface="Calibri"/>
                <a:cs typeface="Calibri"/>
              </a:rPr>
              <a:t>Internet: </a:t>
            </a:r>
            <a:r>
              <a:rPr lang="en-US" dirty="0">
                <a:ea typeface="Calibri"/>
                <a:cs typeface="Calibri"/>
              </a:rPr>
              <a:t>the network connecting computers </a:t>
            </a:r>
          </a:p>
        </p:txBody>
      </p:sp>
      <p:pic>
        <p:nvPicPr>
          <p:cNvPr id="6" name="Picture 5">
            <a:extLst>
              <a:ext uri="{FF2B5EF4-FFF2-40B4-BE49-F238E27FC236}">
                <a16:creationId xmlns:a16="http://schemas.microsoft.com/office/drawing/2014/main" id="{08840746-4AD3-969A-6F55-935596472E30}"/>
              </a:ext>
            </a:extLst>
          </p:cNvPr>
          <p:cNvPicPr>
            <a:picLocks noChangeAspect="1"/>
          </p:cNvPicPr>
          <p:nvPr/>
        </p:nvPicPr>
        <p:blipFill>
          <a:blip r:embed="rId4"/>
          <a:stretch>
            <a:fillRect/>
          </a:stretch>
        </p:blipFill>
        <p:spPr>
          <a:xfrm>
            <a:off x="4920343" y="4328635"/>
            <a:ext cx="3499758" cy="2299203"/>
          </a:xfrm>
          <a:prstGeom prst="rect">
            <a:avLst/>
          </a:prstGeom>
        </p:spPr>
      </p:pic>
      <p:sp>
        <p:nvSpPr>
          <p:cNvPr id="8" name="Content Placeholder 3">
            <a:extLst>
              <a:ext uri="{FF2B5EF4-FFF2-40B4-BE49-F238E27FC236}">
                <a16:creationId xmlns:a16="http://schemas.microsoft.com/office/drawing/2014/main" id="{32AA89BC-711A-4B29-1B85-4D10106F9E14}"/>
              </a:ext>
            </a:extLst>
          </p:cNvPr>
          <p:cNvSpPr txBox="1">
            <a:spLocks/>
          </p:cNvSpPr>
          <p:nvPr/>
        </p:nvSpPr>
        <p:spPr>
          <a:xfrm>
            <a:off x="914400" y="4327071"/>
            <a:ext cx="4005943" cy="2305277"/>
          </a:xfrm>
          <a:prstGeom prst="rect">
            <a:avLst/>
          </a:prstGeom>
        </p:spPr>
        <p:txBody>
          <a:bodyPr vert="horz" lIns="91440" tIns="45720" rIns="91440" bIns="45720" rtlCol="0" anchor="t">
            <a:normAutofit/>
          </a:bodyPr>
          <a:lstStyle>
            <a:lvl1pPr marL="342900" indent="-342900" algn="l" defTabSz="457200" rtl="0" eaLnBrk="1" latinLnBrk="0" hangingPunct="1">
              <a:spcBef>
                <a:spcPct val="20000"/>
              </a:spcBef>
              <a:buFont typeface="Arial"/>
              <a:buChar char="•"/>
              <a:defRPr sz="2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8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800" kern="1200">
                <a:solidFill>
                  <a:schemeClr val="tx1"/>
                </a:solidFill>
                <a:latin typeface="+mn-lt"/>
                <a:ea typeface="+mn-ea"/>
                <a:cs typeface="+mn-cs"/>
              </a:defRPr>
            </a:lvl9pPr>
          </a:lstStyle>
          <a:p>
            <a:pPr marL="0" indent="0">
              <a:buFont typeface="Arial"/>
              <a:buNone/>
            </a:pPr>
            <a:r>
              <a:rPr lang="en-US" b="1" dirty="0">
                <a:ea typeface="Calibri"/>
                <a:cs typeface="Calibri"/>
              </a:rPr>
              <a:t>Web: </a:t>
            </a:r>
            <a:r>
              <a:rPr lang="en-US" dirty="0">
                <a:ea typeface="Calibri"/>
                <a:cs typeface="Calibri"/>
              </a:rPr>
              <a:t>what browsers use on that network – links, pages, web applications</a:t>
            </a:r>
            <a:endParaRPr lang="en-US"/>
          </a:p>
          <a:p>
            <a:pPr marL="0" indent="0">
              <a:buFont typeface="Arial"/>
              <a:buNone/>
            </a:pPr>
            <a:r>
              <a:rPr lang="en-US" dirty="0">
                <a:ea typeface="Calibri"/>
                <a:cs typeface="Calibri"/>
              </a:rPr>
              <a:t> </a:t>
            </a:r>
          </a:p>
        </p:txBody>
      </p:sp>
    </p:spTree>
    <p:extLst>
      <p:ext uri="{BB962C8B-B14F-4D97-AF65-F5344CB8AC3E}">
        <p14:creationId xmlns:p14="http://schemas.microsoft.com/office/powerpoint/2010/main" val="35443324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D24CC-DA86-DCFB-278A-40685CD62F0D}"/>
              </a:ext>
            </a:extLst>
          </p:cNvPr>
          <p:cNvSpPr>
            <a:spLocks noGrp="1"/>
          </p:cNvSpPr>
          <p:nvPr>
            <p:ph type="title"/>
          </p:nvPr>
        </p:nvSpPr>
        <p:spPr/>
        <p:txBody>
          <a:bodyPr/>
          <a:lstStyle/>
          <a:p>
            <a:r>
              <a:rPr lang="en-US" dirty="0"/>
              <a:t>Frontend vs Backend</a:t>
            </a:r>
          </a:p>
        </p:txBody>
      </p:sp>
      <p:sp>
        <p:nvSpPr>
          <p:cNvPr id="4" name="Content Placeholder 3">
            <a:extLst>
              <a:ext uri="{FF2B5EF4-FFF2-40B4-BE49-F238E27FC236}">
                <a16:creationId xmlns:a16="http://schemas.microsoft.com/office/drawing/2014/main" id="{0370A0B5-3068-E10E-E0BB-0EC8549EF483}"/>
              </a:ext>
            </a:extLst>
          </p:cNvPr>
          <p:cNvSpPr>
            <a:spLocks noGrp="1"/>
          </p:cNvSpPr>
          <p:nvPr>
            <p:ph sz="half" idx="2"/>
          </p:nvPr>
        </p:nvSpPr>
        <p:spPr>
          <a:xfrm>
            <a:off x="594274" y="1600200"/>
            <a:ext cx="3870226" cy="4525963"/>
          </a:xfrm>
        </p:spPr>
        <p:txBody>
          <a:bodyPr vert="horz" lIns="91440" tIns="45720" rIns="91440" bIns="45720" rtlCol="0" anchor="t">
            <a:normAutofit/>
          </a:bodyPr>
          <a:lstStyle/>
          <a:p>
            <a:pPr marL="0" indent="0">
              <a:buNone/>
            </a:pPr>
            <a:r>
              <a:rPr lang="en-US" b="1" dirty="0">
                <a:ea typeface="Calibri"/>
                <a:cs typeface="Calibri"/>
              </a:rPr>
              <a:t>Frontend: what you see</a:t>
            </a:r>
          </a:p>
          <a:p>
            <a:pPr marL="0" indent="0">
              <a:buNone/>
            </a:pPr>
            <a:r>
              <a:rPr lang="en-US" b="1">
                <a:ea typeface="Calibri"/>
                <a:cs typeface="Calibri"/>
              </a:rPr>
              <a:t>(text, images, buttons, forms)</a:t>
            </a:r>
            <a:endParaRPr lang="en-US" b="1" dirty="0">
              <a:ea typeface="Calibri"/>
              <a:cs typeface="Calibri"/>
            </a:endParaRPr>
          </a:p>
          <a:p>
            <a:pPr marL="0" indent="0">
              <a:buNone/>
            </a:pPr>
            <a:endParaRPr lang="en-US" b="1" dirty="0">
              <a:ea typeface="Calibri"/>
              <a:cs typeface="Calibri"/>
            </a:endParaRPr>
          </a:p>
        </p:txBody>
      </p:sp>
      <p:sp>
        <p:nvSpPr>
          <p:cNvPr id="10" name="Content Placeholder 9">
            <a:extLst>
              <a:ext uri="{FF2B5EF4-FFF2-40B4-BE49-F238E27FC236}">
                <a16:creationId xmlns:a16="http://schemas.microsoft.com/office/drawing/2014/main" id="{8EEF2720-4E1B-84EA-3CFB-D5348B6B96B4}"/>
              </a:ext>
            </a:extLst>
          </p:cNvPr>
          <p:cNvSpPr>
            <a:spLocks noGrp="1"/>
          </p:cNvSpPr>
          <p:nvPr>
            <p:ph sz="half" idx="1"/>
          </p:nvPr>
        </p:nvSpPr>
        <p:spPr>
          <a:xfrm>
            <a:off x="4692452" y="1600200"/>
            <a:ext cx="4129263" cy="4525963"/>
          </a:xfrm>
        </p:spPr>
        <p:txBody>
          <a:bodyPr vert="horz" lIns="91440" tIns="45720" rIns="91440" bIns="45720" rtlCol="0" anchor="t">
            <a:normAutofit/>
          </a:bodyPr>
          <a:lstStyle/>
          <a:p>
            <a:pPr marL="0" indent="0">
              <a:buNone/>
            </a:pPr>
            <a:r>
              <a:rPr lang="en-US" b="1" dirty="0">
                <a:ea typeface="Calibri"/>
                <a:cs typeface="Calibri"/>
              </a:rPr>
              <a:t>Backend: what happens </a:t>
            </a:r>
            <a:r>
              <a:rPr lang="en-US" dirty="0">
                <a:ea typeface="Calibri"/>
                <a:cs typeface="Calibri"/>
              </a:rPr>
              <a:t>(</a:t>
            </a:r>
            <a:r>
              <a:rPr lang="en-US" err="1">
                <a:ea typeface="Calibri"/>
                <a:cs typeface="Calibri"/>
              </a:rPr>
              <a:t>rules,processing</a:t>
            </a:r>
            <a:r>
              <a:rPr lang="en-US" dirty="0">
                <a:ea typeface="Calibri"/>
                <a:cs typeface="Calibri"/>
              </a:rPr>
              <a:t>, </a:t>
            </a:r>
            <a:r>
              <a:rPr lang="en-US" err="1">
                <a:ea typeface="Calibri"/>
                <a:cs typeface="Calibri"/>
              </a:rPr>
              <a:t>security,data</a:t>
            </a:r>
            <a:r>
              <a:rPr lang="en-US" dirty="0">
                <a:ea typeface="Calibri"/>
                <a:cs typeface="Calibri"/>
              </a:rPr>
              <a:t>)</a:t>
            </a:r>
          </a:p>
        </p:txBody>
      </p:sp>
      <p:pic>
        <p:nvPicPr>
          <p:cNvPr id="11" name="Picture 10" descr="A screenshot of a login form&#10;&#10;AI-generated content may be incorrect.">
            <a:extLst>
              <a:ext uri="{FF2B5EF4-FFF2-40B4-BE49-F238E27FC236}">
                <a16:creationId xmlns:a16="http://schemas.microsoft.com/office/drawing/2014/main" id="{2423C704-A4AA-A78C-908F-87BE8BB3D163}"/>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475982" y="3205493"/>
            <a:ext cx="3613564" cy="1651534"/>
          </a:xfrm>
          <a:prstGeom prst="rect">
            <a:avLst/>
          </a:prstGeom>
        </p:spPr>
      </p:pic>
      <p:sp>
        <p:nvSpPr>
          <p:cNvPr id="12" name="TextBox 11">
            <a:extLst>
              <a:ext uri="{FF2B5EF4-FFF2-40B4-BE49-F238E27FC236}">
                <a16:creationId xmlns:a16="http://schemas.microsoft.com/office/drawing/2014/main" id="{08E80593-C7C8-DCCE-CD2F-14F5FDD8EB2F}"/>
              </a:ext>
            </a:extLst>
          </p:cNvPr>
          <p:cNvSpPr txBox="1"/>
          <p:nvPr/>
        </p:nvSpPr>
        <p:spPr>
          <a:xfrm>
            <a:off x="475981" y="4857071"/>
            <a:ext cx="1703168" cy="129697"/>
          </a:xfrm>
          <a:prstGeom prst="rect">
            <a:avLst/>
          </a:prstGeom>
        </p:spPr>
        <p:txBody>
          <a:bodyPr>
            <a:normAutofit fontScale="25000" lnSpcReduction="20000"/>
          </a:bodyPr>
          <a:lstStyle/>
          <a:p>
            <a:r>
              <a:rPr lang="en-US"/>
              <a:t>ThePhoto by PhotoAuthor is licensed under CCYYSA.</a:t>
            </a:r>
          </a:p>
        </p:txBody>
      </p:sp>
      <p:pic>
        <p:nvPicPr>
          <p:cNvPr id="14" name="Picture 13" descr="Clipart - web server">
            <a:extLst>
              <a:ext uri="{FF2B5EF4-FFF2-40B4-BE49-F238E27FC236}">
                <a16:creationId xmlns:a16="http://schemas.microsoft.com/office/drawing/2014/main" id="{8BE1BD76-9F34-2B0A-C564-C3A97EF89FCE}"/>
              </a:ext>
            </a:extLst>
          </p:cNvPr>
          <p:cNvPicPr>
            <a:picLocks noChangeAspect="1"/>
          </p:cNvPicPr>
          <p:nvPr/>
        </p:nvPicPr>
        <p:blipFill>
          <a:blip r:embed="rId4"/>
          <a:stretch>
            <a:fillRect/>
          </a:stretch>
        </p:blipFill>
        <p:spPr>
          <a:xfrm>
            <a:off x="5610495" y="3099844"/>
            <a:ext cx="1491244" cy="1759222"/>
          </a:xfrm>
          <a:prstGeom prst="rect">
            <a:avLst/>
          </a:prstGeom>
        </p:spPr>
      </p:pic>
      <p:graphicFrame>
        <p:nvGraphicFramePr>
          <p:cNvPr id="17" name="Diagram 16">
            <a:extLst>
              <a:ext uri="{FF2B5EF4-FFF2-40B4-BE49-F238E27FC236}">
                <a16:creationId xmlns:a16="http://schemas.microsoft.com/office/drawing/2014/main" id="{37308918-3FB8-3461-587D-B558908B2CDF}"/>
              </a:ext>
            </a:extLst>
          </p:cNvPr>
          <p:cNvGraphicFramePr/>
          <p:nvPr>
            <p:extLst>
              <p:ext uri="{D42A27DB-BD31-4B8C-83A1-F6EECF244321}">
                <p14:modId xmlns:p14="http://schemas.microsoft.com/office/powerpoint/2010/main" val="550366466"/>
              </p:ext>
            </p:extLst>
          </p:nvPr>
        </p:nvGraphicFramePr>
        <p:xfrm>
          <a:off x="2201816" y="5382137"/>
          <a:ext cx="4915220" cy="130036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423572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78F9B-7CE3-C675-9BAE-F01058FC419F}"/>
              </a:ext>
            </a:extLst>
          </p:cNvPr>
          <p:cNvSpPr>
            <a:spLocks noGrp="1"/>
          </p:cNvSpPr>
          <p:nvPr>
            <p:ph type="title"/>
          </p:nvPr>
        </p:nvSpPr>
        <p:spPr/>
        <p:txBody>
          <a:bodyPr/>
          <a:lstStyle/>
          <a:p>
            <a:r>
              <a:rPr lang="en-US" dirty="0"/>
              <a:t>Frontend Building Blocks</a:t>
            </a:r>
          </a:p>
        </p:txBody>
      </p:sp>
      <p:sp>
        <p:nvSpPr>
          <p:cNvPr id="3" name="Content Placeholder 2">
            <a:extLst>
              <a:ext uri="{FF2B5EF4-FFF2-40B4-BE49-F238E27FC236}">
                <a16:creationId xmlns:a16="http://schemas.microsoft.com/office/drawing/2014/main" id="{5C22D44A-528F-B255-0947-E20F14DB9E2A}"/>
              </a:ext>
            </a:extLst>
          </p:cNvPr>
          <p:cNvSpPr>
            <a:spLocks noGrp="1"/>
          </p:cNvSpPr>
          <p:nvPr>
            <p:ph sz="half" idx="1"/>
          </p:nvPr>
        </p:nvSpPr>
        <p:spPr>
          <a:xfrm>
            <a:off x="560614" y="1600200"/>
            <a:ext cx="2667000" cy="4525963"/>
          </a:xfrm>
        </p:spPr>
        <p:txBody>
          <a:bodyPr vert="horz" lIns="91440" tIns="45720" rIns="91440" bIns="45720" rtlCol="0" anchor="t">
            <a:normAutofit/>
          </a:bodyPr>
          <a:lstStyle/>
          <a:p>
            <a:pPr marL="0" indent="0" algn="ctr">
              <a:buNone/>
            </a:pPr>
            <a:r>
              <a:rPr lang="en-US" b="1" dirty="0">
                <a:ea typeface="Calibri"/>
                <a:cs typeface="Calibri"/>
              </a:rPr>
              <a:t>HTML = </a:t>
            </a:r>
            <a:endParaRPr lang="en-US">
              <a:ea typeface="Calibri"/>
              <a:cs typeface="Calibri"/>
            </a:endParaRPr>
          </a:p>
          <a:p>
            <a:pPr marL="0" indent="0" algn="ctr">
              <a:buNone/>
            </a:pPr>
            <a:r>
              <a:rPr lang="en-US" b="1">
                <a:ea typeface="Calibri"/>
                <a:cs typeface="Calibri"/>
              </a:rPr>
              <a:t>content</a:t>
            </a:r>
            <a:endParaRPr lang="en-US">
              <a:ea typeface="Calibri"/>
              <a:cs typeface="Calibri"/>
            </a:endParaRPr>
          </a:p>
        </p:txBody>
      </p:sp>
      <p:pic>
        <p:nvPicPr>
          <p:cNvPr id="5" name="Graphic 4" descr="Skeleton with solid fill">
            <a:extLst>
              <a:ext uri="{FF2B5EF4-FFF2-40B4-BE49-F238E27FC236}">
                <a16:creationId xmlns:a16="http://schemas.microsoft.com/office/drawing/2014/main" id="{CCE8A671-ABB8-A8B6-EB7A-F84E0EB45DF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7200" y="2726871"/>
            <a:ext cx="2868385" cy="2868385"/>
          </a:xfrm>
          <a:prstGeom prst="rect">
            <a:avLst/>
          </a:prstGeom>
        </p:spPr>
      </p:pic>
      <p:sp>
        <p:nvSpPr>
          <p:cNvPr id="7" name="Content Placeholder 2">
            <a:extLst>
              <a:ext uri="{FF2B5EF4-FFF2-40B4-BE49-F238E27FC236}">
                <a16:creationId xmlns:a16="http://schemas.microsoft.com/office/drawing/2014/main" id="{04F933C4-89D2-B8CF-77E1-948C337F2919}"/>
              </a:ext>
            </a:extLst>
          </p:cNvPr>
          <p:cNvSpPr txBox="1">
            <a:spLocks/>
          </p:cNvSpPr>
          <p:nvPr/>
        </p:nvSpPr>
        <p:spPr>
          <a:xfrm>
            <a:off x="3238499" y="1600200"/>
            <a:ext cx="2667000" cy="4525963"/>
          </a:xfrm>
          <a:prstGeom prst="rect">
            <a:avLst/>
          </a:prstGeom>
        </p:spPr>
        <p:txBody>
          <a:bodyPr vert="horz" lIns="91440" tIns="45720" rIns="91440" bIns="45720" rtlCol="0" anchor="t">
            <a:normAutofit/>
          </a:bodyPr>
          <a:lstStyle>
            <a:lvl1pPr marL="342900" indent="-342900" algn="l" defTabSz="457200" rtl="0" eaLnBrk="1" latinLnBrk="0" hangingPunct="1">
              <a:spcBef>
                <a:spcPct val="20000"/>
              </a:spcBef>
              <a:buFont typeface="Arial"/>
              <a:buChar char="•"/>
              <a:defRPr sz="2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8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800" kern="1200">
                <a:solidFill>
                  <a:schemeClr val="tx1"/>
                </a:solidFill>
                <a:latin typeface="+mn-lt"/>
                <a:ea typeface="+mn-ea"/>
                <a:cs typeface="+mn-cs"/>
              </a:defRPr>
            </a:lvl9pPr>
          </a:lstStyle>
          <a:p>
            <a:pPr marL="0" indent="0" algn="ctr">
              <a:buFont typeface="Arial"/>
              <a:buNone/>
            </a:pPr>
            <a:r>
              <a:rPr lang="en-US" b="1">
                <a:ea typeface="Calibri"/>
                <a:cs typeface="Calibri"/>
              </a:rPr>
              <a:t>CSS = appearance</a:t>
            </a:r>
            <a:endParaRPr lang="en-US"/>
          </a:p>
        </p:txBody>
      </p:sp>
      <p:pic>
        <p:nvPicPr>
          <p:cNvPr id="8" name="Graphic 7" descr="Woman with solid fill">
            <a:extLst>
              <a:ext uri="{FF2B5EF4-FFF2-40B4-BE49-F238E27FC236}">
                <a16:creationId xmlns:a16="http://schemas.microsoft.com/office/drawing/2014/main" id="{97EC6662-4A2E-ECE2-82C3-5121BF3DFE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82685" y="2726871"/>
            <a:ext cx="2868385" cy="2868385"/>
          </a:xfrm>
          <a:prstGeom prst="rect">
            <a:avLst/>
          </a:prstGeom>
        </p:spPr>
      </p:pic>
      <p:sp>
        <p:nvSpPr>
          <p:cNvPr id="9" name="Content Placeholder 2">
            <a:extLst>
              <a:ext uri="{FF2B5EF4-FFF2-40B4-BE49-F238E27FC236}">
                <a16:creationId xmlns:a16="http://schemas.microsoft.com/office/drawing/2014/main" id="{8B9B2C28-87B2-4CDF-E134-75065CB90099}"/>
              </a:ext>
            </a:extLst>
          </p:cNvPr>
          <p:cNvSpPr txBox="1">
            <a:spLocks/>
          </p:cNvSpPr>
          <p:nvPr/>
        </p:nvSpPr>
        <p:spPr>
          <a:xfrm>
            <a:off x="6204856" y="1600200"/>
            <a:ext cx="2667000" cy="4525963"/>
          </a:xfrm>
          <a:prstGeom prst="rect">
            <a:avLst/>
          </a:prstGeom>
        </p:spPr>
        <p:txBody>
          <a:bodyPr vert="horz" lIns="91440" tIns="45720" rIns="91440" bIns="45720" rtlCol="0" anchor="t">
            <a:normAutofit/>
          </a:bodyPr>
          <a:lstStyle>
            <a:lvl1pPr marL="342900" indent="-342900" algn="l" defTabSz="457200" rtl="0" eaLnBrk="1" latinLnBrk="0" hangingPunct="1">
              <a:spcBef>
                <a:spcPct val="20000"/>
              </a:spcBef>
              <a:buFont typeface="Arial"/>
              <a:buChar char="•"/>
              <a:defRPr sz="2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8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800" kern="1200">
                <a:solidFill>
                  <a:schemeClr val="tx1"/>
                </a:solidFill>
                <a:latin typeface="+mn-lt"/>
                <a:ea typeface="+mn-ea"/>
                <a:cs typeface="+mn-cs"/>
              </a:defRPr>
            </a:lvl9pPr>
          </a:lstStyle>
          <a:p>
            <a:pPr marL="0" indent="0" algn="ctr">
              <a:buNone/>
            </a:pPr>
            <a:r>
              <a:rPr lang="en-US" b="1">
                <a:ea typeface="Calibri"/>
                <a:cs typeface="Calibri"/>
              </a:rPr>
              <a:t>JavaScript = </a:t>
            </a:r>
            <a:endParaRPr lang="en-US"/>
          </a:p>
          <a:p>
            <a:pPr marL="0" indent="0" algn="ctr">
              <a:buNone/>
            </a:pPr>
            <a:r>
              <a:rPr lang="en-US" b="1">
                <a:ea typeface="Calibri"/>
                <a:cs typeface="Calibri"/>
              </a:rPr>
              <a:t>behavior</a:t>
            </a:r>
            <a:endParaRPr lang="en-US" b="1" dirty="0">
              <a:ea typeface="Calibri"/>
              <a:cs typeface="Calibri"/>
            </a:endParaRPr>
          </a:p>
        </p:txBody>
      </p:sp>
      <p:pic>
        <p:nvPicPr>
          <p:cNvPr id="10" name="Graphic 9" descr="Run with solid fill">
            <a:extLst>
              <a:ext uri="{FF2B5EF4-FFF2-40B4-BE49-F238E27FC236}">
                <a16:creationId xmlns:a16="http://schemas.microsoft.com/office/drawing/2014/main" id="{E7F19EF5-4458-325A-2E41-39650B89D1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51070" y="2726871"/>
            <a:ext cx="2868385" cy="2868385"/>
          </a:xfrm>
          <a:prstGeom prst="rect">
            <a:avLst/>
          </a:prstGeom>
        </p:spPr>
      </p:pic>
    </p:spTree>
    <p:extLst>
      <p:ext uri="{BB962C8B-B14F-4D97-AF65-F5344CB8AC3E}">
        <p14:creationId xmlns:p14="http://schemas.microsoft.com/office/powerpoint/2010/main" val="3135206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256032"/>
            <a:ext cx="7879842" cy="1014984"/>
          </a:xfrm>
        </p:spPr>
        <p:txBody>
          <a:bodyPr vert="horz" lIns="91440" tIns="45720" rIns="91440" bIns="45720" rtlCol="0" anchor="b">
            <a:noAutofit/>
          </a:bodyPr>
          <a:lstStyle/>
          <a:p>
            <a:r>
              <a:rPr lang="en-US" sz="2800" dirty="0"/>
              <a:t>What is a Web Application?</a:t>
            </a:r>
            <a:br>
              <a:rPr lang="en-US" sz="2800" dirty="0"/>
            </a:br>
            <a:r>
              <a:rPr lang="en-US" sz="2800" dirty="0"/>
              <a:t>(some jargon)</a:t>
            </a:r>
          </a:p>
        </p:txBody>
      </p:sp>
      <p:sp>
        <p:nvSpPr>
          <p:cNvPr id="22" name="Rectangle 21">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3" name="Rectangle 2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24" name="Content Placeholder 2">
            <a:extLst>
              <a:ext uri="{FF2B5EF4-FFF2-40B4-BE49-F238E27FC236}">
                <a16:creationId xmlns:a16="http://schemas.microsoft.com/office/drawing/2014/main" id="{854A633E-06A6-1605-C336-A08D5E6E80B8}"/>
              </a:ext>
            </a:extLst>
          </p:cNvPr>
          <p:cNvGraphicFramePr>
            <a:graphicFrameLocks noGrp="1"/>
          </p:cNvGraphicFramePr>
          <p:nvPr>
            <p:ph idx="1"/>
            <p:extLst>
              <p:ext uri="{D42A27DB-BD31-4B8C-83A1-F6EECF244321}">
                <p14:modId xmlns:p14="http://schemas.microsoft.com/office/powerpoint/2010/main" val="1553121213"/>
              </p:ext>
            </p:extLst>
          </p:nvPr>
        </p:nvGraphicFramePr>
        <p:xfrm>
          <a:off x="628650" y="1926266"/>
          <a:ext cx="7886700" cy="43575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036872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Web Apps (1)</a:t>
            </a:r>
          </a:p>
        </p:txBody>
      </p:sp>
      <p:sp>
        <p:nvSpPr>
          <p:cNvPr id="3" name="Content Placeholder 2"/>
          <p:cNvSpPr>
            <a:spLocks noGrp="1"/>
          </p:cNvSpPr>
          <p:nvPr>
            <p:ph idx="1"/>
          </p:nvPr>
        </p:nvSpPr>
        <p:spPr/>
        <p:txBody>
          <a:bodyPr vert="horz" lIns="91440" tIns="45720" rIns="91440" bIns="45720" rtlCol="0" anchor="t">
            <a:normAutofit fontScale="85000" lnSpcReduction="20000"/>
          </a:bodyPr>
          <a:lstStyle/>
          <a:p>
            <a:r>
              <a:rPr lang="en-GB" b="1" dirty="0"/>
              <a:t>Static</a:t>
            </a:r>
          </a:p>
          <a:p>
            <a:pPr lvl="1"/>
            <a:r>
              <a:rPr lang="en-GB" sz="1800" dirty="0"/>
              <a:t>Originally web applications were just collections of hand-built HTML pages</a:t>
            </a:r>
            <a:endParaRPr lang="en-GB" sz="1800" dirty="0">
              <a:ea typeface="Calibri"/>
              <a:cs typeface="Calibri"/>
            </a:endParaRPr>
          </a:p>
          <a:p>
            <a:pPr lvl="1"/>
            <a:r>
              <a:rPr lang="en-GB" sz="1800" dirty="0"/>
              <a:t>These required manual update and introduced the possibility of inconsistency</a:t>
            </a:r>
            <a:endParaRPr lang="en-GB" sz="1800" dirty="0">
              <a:ea typeface="Calibri"/>
              <a:cs typeface="Calibri"/>
            </a:endParaRPr>
          </a:p>
          <a:p>
            <a:r>
              <a:rPr lang="en-GB" b="1" dirty="0"/>
              <a:t>Interactive</a:t>
            </a:r>
            <a:endParaRPr lang="en-GB" b="1" dirty="0">
              <a:ea typeface="Calibri"/>
              <a:cs typeface="Calibri"/>
            </a:endParaRPr>
          </a:p>
          <a:p>
            <a:pPr lvl="1"/>
            <a:r>
              <a:rPr lang="en-GB" sz="1800" dirty="0"/>
              <a:t>Forms, selection menus and radio buttons on web pages offer the possibility of selectively chosen pages generated by server-side programs</a:t>
            </a:r>
            <a:endParaRPr lang="en-GB" sz="1800" dirty="0">
              <a:ea typeface="Calibri"/>
              <a:cs typeface="Calibri"/>
            </a:endParaRPr>
          </a:p>
          <a:p>
            <a:pPr lvl="1"/>
            <a:r>
              <a:rPr lang="en-GB" sz="1800" dirty="0"/>
              <a:t>CGI was the first technology but has been superseded by others (ASP, JSP, PHP, Cold Fusion, etc.)</a:t>
            </a:r>
            <a:endParaRPr lang="en-GB" sz="1800" dirty="0">
              <a:ea typeface="Calibri"/>
              <a:cs typeface="Calibri"/>
            </a:endParaRPr>
          </a:p>
          <a:p>
            <a:pPr lvl="2"/>
            <a:r>
              <a:rPr lang="en-GB" sz="1600" dirty="0">
                <a:ea typeface="Calibri"/>
                <a:cs typeface="Calibri"/>
              </a:rPr>
              <a:t>e.g. an online survey site</a:t>
            </a:r>
          </a:p>
          <a:p>
            <a:r>
              <a:rPr lang="en-GB" b="1" dirty="0"/>
              <a:t>Transactional</a:t>
            </a:r>
            <a:endParaRPr lang="en-GB" b="1" dirty="0">
              <a:ea typeface="Calibri"/>
              <a:cs typeface="Calibri"/>
            </a:endParaRPr>
          </a:p>
          <a:p>
            <a:pPr lvl="1"/>
            <a:r>
              <a:rPr lang="en-GB" sz="1800" dirty="0"/>
              <a:t>Forms also offer the capture of data and database storage at the server</a:t>
            </a:r>
            <a:endParaRPr lang="en-GB" sz="1800" dirty="0">
              <a:ea typeface="Calibri"/>
              <a:cs typeface="Calibri"/>
            </a:endParaRPr>
          </a:p>
          <a:p>
            <a:pPr lvl="1"/>
            <a:r>
              <a:rPr lang="en-GB" sz="1800" dirty="0"/>
              <a:t>Although the data management may be separated from the internet server</a:t>
            </a:r>
            <a:endParaRPr lang="en-GB" sz="1800" dirty="0">
              <a:ea typeface="Calibri"/>
              <a:cs typeface="Calibri"/>
            </a:endParaRPr>
          </a:p>
          <a:p>
            <a:pPr lvl="2"/>
            <a:r>
              <a:rPr lang="en-GB" sz="1600" dirty="0">
                <a:ea typeface="Calibri"/>
                <a:cs typeface="Calibri"/>
              </a:rPr>
              <a:t>e.g. e-commerce checkout/payment process</a:t>
            </a:r>
          </a:p>
          <a:p>
            <a:r>
              <a:rPr lang="en-GB" b="1" dirty="0"/>
              <a:t>Workflow-based</a:t>
            </a:r>
            <a:endParaRPr lang="en-GB" b="1" dirty="0">
              <a:ea typeface="Calibri"/>
              <a:cs typeface="Calibri"/>
            </a:endParaRPr>
          </a:p>
          <a:p>
            <a:pPr lvl="1"/>
            <a:r>
              <a:rPr lang="en-GB" sz="1800" dirty="0"/>
              <a:t>Support for functionality express as a sequence of pages reflecting a business process</a:t>
            </a:r>
            <a:endParaRPr lang="en-GB" sz="1800" dirty="0">
              <a:ea typeface="Calibri"/>
              <a:cs typeface="Calibri"/>
            </a:endParaRPr>
          </a:p>
          <a:p>
            <a:pPr lvl="2"/>
            <a:r>
              <a:rPr lang="en-GB" sz="1600" dirty="0"/>
              <a:t>e.g. hotel booking, flight booking</a:t>
            </a:r>
            <a:endParaRPr lang="en-GB" sz="1600" dirty="0">
              <a:ea typeface="Calibri"/>
              <a:cs typeface="Calibri"/>
            </a:endParaRPr>
          </a:p>
        </p:txBody>
      </p:sp>
    </p:spTree>
    <p:extLst>
      <p:ext uri="{BB962C8B-B14F-4D97-AF65-F5344CB8AC3E}">
        <p14:creationId xmlns:p14="http://schemas.microsoft.com/office/powerpoint/2010/main" val="986389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Web Apps (2)</a:t>
            </a:r>
          </a:p>
        </p:txBody>
      </p:sp>
      <p:sp>
        <p:nvSpPr>
          <p:cNvPr id="3" name="Content Placeholder 2"/>
          <p:cNvSpPr>
            <a:spLocks noGrp="1"/>
          </p:cNvSpPr>
          <p:nvPr>
            <p:ph idx="1"/>
          </p:nvPr>
        </p:nvSpPr>
        <p:spPr/>
        <p:txBody>
          <a:bodyPr vert="horz" lIns="91440" tIns="45720" rIns="91440" bIns="45720" rtlCol="0" anchor="t">
            <a:normAutofit fontScale="92500" lnSpcReduction="10000"/>
          </a:bodyPr>
          <a:lstStyle/>
          <a:p>
            <a:r>
              <a:rPr lang="en-GB" b="1"/>
              <a:t>Portal Oriented</a:t>
            </a:r>
          </a:p>
          <a:p>
            <a:pPr lvl="1"/>
            <a:r>
              <a:rPr lang="en-GB" sz="1800"/>
              <a:t>One point of access is given to multiple web sites</a:t>
            </a:r>
          </a:p>
          <a:p>
            <a:pPr lvl="2"/>
            <a:r>
              <a:rPr lang="en-GB" sz="1800"/>
              <a:t>e.g. Virtual Shopping malls</a:t>
            </a:r>
          </a:p>
          <a:p>
            <a:r>
              <a:rPr lang="en-GB" b="1"/>
              <a:t>Collaborative</a:t>
            </a:r>
          </a:p>
          <a:p>
            <a:pPr lvl="1"/>
            <a:r>
              <a:rPr lang="en-GB" sz="1800"/>
              <a:t>Web sites which permit multiple users to share information management</a:t>
            </a:r>
          </a:p>
          <a:p>
            <a:pPr lvl="2"/>
            <a:r>
              <a:rPr lang="en-GB" sz="1800"/>
              <a:t>e.g. Wikis such as Wikipedia</a:t>
            </a:r>
          </a:p>
          <a:p>
            <a:r>
              <a:rPr lang="en-GB" b="1"/>
              <a:t>Social Web</a:t>
            </a:r>
          </a:p>
          <a:p>
            <a:pPr lvl="1"/>
            <a:r>
              <a:rPr lang="en-GB" sz="1800"/>
              <a:t>Many sites provide a focal point for communities</a:t>
            </a:r>
          </a:p>
          <a:p>
            <a:pPr lvl="2"/>
            <a:r>
              <a:rPr lang="en-GB" sz="1800"/>
              <a:t>e.g. Photo sharing sites, Facebook, etc.</a:t>
            </a:r>
          </a:p>
          <a:p>
            <a:r>
              <a:rPr lang="en-GB" b="1"/>
              <a:t>Mobile and Ubiquitous</a:t>
            </a:r>
          </a:p>
          <a:p>
            <a:pPr lvl="1"/>
            <a:r>
              <a:rPr lang="en-GB" sz="1800"/>
              <a:t>“Web” applications increasingly provide access by small, mobile and non-visual devices (i.e. phones) as well as data capture by sensors</a:t>
            </a:r>
          </a:p>
          <a:p>
            <a:pPr lvl="2"/>
            <a:r>
              <a:rPr lang="en-GB" sz="1700">
                <a:ea typeface="Calibri"/>
                <a:cs typeface="Calibri"/>
              </a:rPr>
              <a:t>e.g. Maps applications</a:t>
            </a:r>
          </a:p>
          <a:p>
            <a:pPr marL="0" indent="0">
              <a:buNone/>
            </a:pPr>
            <a:endParaRPr lang="en-US">
              <a:ea typeface="Calibri"/>
              <a:cs typeface="Calibri"/>
            </a:endParaRPr>
          </a:p>
        </p:txBody>
      </p:sp>
    </p:spTree>
    <p:extLst>
      <p:ext uri="{BB962C8B-B14F-4D97-AF65-F5344CB8AC3E}">
        <p14:creationId xmlns:p14="http://schemas.microsoft.com/office/powerpoint/2010/main" val="29617865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Web App Evolution</a:t>
            </a:r>
          </a:p>
        </p:txBody>
      </p:sp>
      <p:sp>
        <p:nvSpPr>
          <p:cNvPr id="4" name="Line 3"/>
          <p:cNvSpPr>
            <a:spLocks noChangeShapeType="1"/>
          </p:cNvSpPr>
          <p:nvPr/>
        </p:nvSpPr>
        <p:spPr bwMode="auto">
          <a:xfrm flipV="1">
            <a:off x="623817" y="1542933"/>
            <a:ext cx="25401" cy="3594793"/>
          </a:xfrm>
          <a:prstGeom prst="line">
            <a:avLst/>
          </a:prstGeom>
          <a:noFill/>
          <a:ln w="76200">
            <a:solidFill>
              <a:schemeClr val="tx1"/>
            </a:solidFill>
            <a:round/>
            <a:headEnd/>
            <a:tailEnd type="triangle" w="med" len="med"/>
          </a:ln>
          <a:effectLst/>
        </p:spPr>
        <p:txBody>
          <a:bodyPr>
            <a:prstTxWarp prst="textNoShape">
              <a:avLst/>
            </a:prstTxWarp>
          </a:bodyPr>
          <a:lstStyle/>
          <a:p>
            <a:endParaRPr lang="en-US"/>
          </a:p>
        </p:txBody>
      </p:sp>
      <p:sp>
        <p:nvSpPr>
          <p:cNvPr id="5" name="Line 4"/>
          <p:cNvSpPr>
            <a:spLocks noChangeShapeType="1"/>
          </p:cNvSpPr>
          <p:nvPr/>
        </p:nvSpPr>
        <p:spPr bwMode="auto">
          <a:xfrm>
            <a:off x="1892709" y="6308725"/>
            <a:ext cx="7093742" cy="0"/>
          </a:xfrm>
          <a:prstGeom prst="line">
            <a:avLst/>
          </a:prstGeom>
          <a:noFill/>
          <a:ln w="76200">
            <a:solidFill>
              <a:schemeClr val="tx1"/>
            </a:solidFill>
            <a:round/>
            <a:headEnd/>
            <a:tailEnd type="triangle" w="med" len="med"/>
          </a:ln>
          <a:effectLst/>
        </p:spPr>
        <p:txBody>
          <a:bodyPr>
            <a:prstTxWarp prst="textNoShape">
              <a:avLst/>
            </a:prstTxWarp>
          </a:bodyPr>
          <a:lstStyle/>
          <a:p>
            <a:endParaRPr lang="en-US"/>
          </a:p>
        </p:txBody>
      </p:sp>
      <p:sp>
        <p:nvSpPr>
          <p:cNvPr id="6" name="Text Box 5"/>
          <p:cNvSpPr txBox="1">
            <a:spLocks noChangeArrowheads="1"/>
          </p:cNvSpPr>
          <p:nvPr/>
        </p:nvSpPr>
        <p:spPr bwMode="auto">
          <a:xfrm>
            <a:off x="-18167" y="2767014"/>
            <a:ext cx="615553" cy="1776889"/>
          </a:xfrm>
          <a:prstGeom prst="rect">
            <a:avLst/>
          </a:prstGeom>
          <a:noFill/>
          <a:ln w="9525">
            <a:noFill/>
            <a:miter lim="800000"/>
            <a:headEnd/>
            <a:tailEnd/>
          </a:ln>
          <a:effectLst/>
        </p:spPr>
        <p:txBody>
          <a:bodyPr vert="eaVert" wrap="none">
            <a:prstTxWarp prst="textNoShape">
              <a:avLst/>
            </a:prstTxWarp>
            <a:spAutoFit/>
          </a:bodyPr>
          <a:lstStyle/>
          <a:p>
            <a:r>
              <a:rPr lang="en-GB" sz="2800" b="1">
                <a:ea typeface="Arial" pitchFamily="-108" charset="0"/>
                <a:cs typeface="Arial" pitchFamily="-108" charset="0"/>
              </a:rPr>
              <a:t>Complexity</a:t>
            </a:r>
          </a:p>
        </p:txBody>
      </p:sp>
      <p:sp>
        <p:nvSpPr>
          <p:cNvPr id="7" name="Text Box 6"/>
          <p:cNvSpPr txBox="1">
            <a:spLocks noChangeArrowheads="1"/>
          </p:cNvSpPr>
          <p:nvPr/>
        </p:nvSpPr>
        <p:spPr bwMode="auto">
          <a:xfrm>
            <a:off x="4067175" y="6308725"/>
            <a:ext cx="923500" cy="523220"/>
          </a:xfrm>
          <a:prstGeom prst="rect">
            <a:avLst/>
          </a:prstGeom>
          <a:noFill/>
          <a:ln w="9525">
            <a:noFill/>
            <a:miter lim="800000"/>
            <a:headEnd/>
            <a:tailEnd/>
          </a:ln>
          <a:effectLst/>
        </p:spPr>
        <p:txBody>
          <a:bodyPr wrap="none">
            <a:prstTxWarp prst="textNoShape">
              <a:avLst/>
            </a:prstTxWarp>
            <a:spAutoFit/>
          </a:bodyPr>
          <a:lstStyle/>
          <a:p>
            <a:r>
              <a:rPr lang="en-GB" sz="2800" b="1">
                <a:ea typeface="Arial" pitchFamily="-108" charset="0"/>
                <a:cs typeface="Arial" pitchFamily="-108" charset="0"/>
              </a:rPr>
              <a:t>Time</a:t>
            </a:r>
          </a:p>
        </p:txBody>
      </p:sp>
      <p:sp>
        <p:nvSpPr>
          <p:cNvPr id="8" name="Oval 7"/>
          <p:cNvSpPr>
            <a:spLocks noChangeArrowheads="1"/>
          </p:cNvSpPr>
          <p:nvPr/>
        </p:nvSpPr>
        <p:spPr bwMode="auto">
          <a:xfrm>
            <a:off x="165754" y="5565839"/>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Static</a:t>
            </a:r>
          </a:p>
        </p:txBody>
      </p:sp>
      <p:sp>
        <p:nvSpPr>
          <p:cNvPr id="9" name="Oval 8"/>
          <p:cNvSpPr>
            <a:spLocks noChangeArrowheads="1"/>
          </p:cNvSpPr>
          <p:nvPr/>
        </p:nvSpPr>
        <p:spPr bwMode="auto">
          <a:xfrm>
            <a:off x="922197" y="4652170"/>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Interactive</a:t>
            </a:r>
          </a:p>
        </p:txBody>
      </p:sp>
      <p:sp>
        <p:nvSpPr>
          <p:cNvPr id="10" name="Oval 9"/>
          <p:cNvSpPr>
            <a:spLocks noChangeArrowheads="1"/>
          </p:cNvSpPr>
          <p:nvPr/>
        </p:nvSpPr>
        <p:spPr bwMode="auto">
          <a:xfrm>
            <a:off x="2124076" y="3661258"/>
            <a:ext cx="1512888"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Transactional</a:t>
            </a:r>
          </a:p>
        </p:txBody>
      </p:sp>
      <p:sp>
        <p:nvSpPr>
          <p:cNvPr id="11" name="Oval 10"/>
          <p:cNvSpPr>
            <a:spLocks noChangeArrowheads="1"/>
          </p:cNvSpPr>
          <p:nvPr/>
        </p:nvSpPr>
        <p:spPr bwMode="auto">
          <a:xfrm>
            <a:off x="2627312" y="4247684"/>
            <a:ext cx="1512888"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Workflow</a:t>
            </a:r>
          </a:p>
          <a:p>
            <a:pPr algn="ctr"/>
            <a:r>
              <a:rPr lang="en-GB" sz="1800" b="0">
                <a:ea typeface="Arial" pitchFamily="-108" charset="0"/>
                <a:cs typeface="Arial" pitchFamily="-108" charset="0"/>
              </a:rPr>
              <a:t>Based</a:t>
            </a:r>
          </a:p>
        </p:txBody>
      </p:sp>
      <p:sp>
        <p:nvSpPr>
          <p:cNvPr id="12" name="Oval 11"/>
          <p:cNvSpPr>
            <a:spLocks noChangeArrowheads="1"/>
          </p:cNvSpPr>
          <p:nvPr/>
        </p:nvSpPr>
        <p:spPr bwMode="auto">
          <a:xfrm>
            <a:off x="4067175" y="3017586"/>
            <a:ext cx="1512888"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Collaborative</a:t>
            </a:r>
          </a:p>
        </p:txBody>
      </p:sp>
      <p:sp>
        <p:nvSpPr>
          <p:cNvPr id="13" name="Oval 12"/>
          <p:cNvSpPr>
            <a:spLocks noChangeArrowheads="1"/>
          </p:cNvSpPr>
          <p:nvPr/>
        </p:nvSpPr>
        <p:spPr bwMode="auto">
          <a:xfrm>
            <a:off x="5770046" y="2478882"/>
            <a:ext cx="1512887"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Social</a:t>
            </a:r>
          </a:p>
        </p:txBody>
      </p:sp>
      <p:sp>
        <p:nvSpPr>
          <p:cNvPr id="14" name="Oval 13"/>
          <p:cNvSpPr>
            <a:spLocks noChangeArrowheads="1"/>
          </p:cNvSpPr>
          <p:nvPr/>
        </p:nvSpPr>
        <p:spPr bwMode="auto">
          <a:xfrm>
            <a:off x="4896644" y="3593848"/>
            <a:ext cx="1512887"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Ubiquitous</a:t>
            </a:r>
          </a:p>
        </p:txBody>
      </p:sp>
      <p:sp>
        <p:nvSpPr>
          <p:cNvPr id="16" name="Oval 15"/>
          <p:cNvSpPr>
            <a:spLocks noChangeArrowheads="1"/>
          </p:cNvSpPr>
          <p:nvPr/>
        </p:nvSpPr>
        <p:spPr bwMode="auto">
          <a:xfrm>
            <a:off x="3636963" y="4652170"/>
            <a:ext cx="1512888"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Portal</a:t>
            </a:r>
          </a:p>
          <a:p>
            <a:pPr algn="ctr"/>
            <a:r>
              <a:rPr lang="en-GB" sz="1800" b="0">
                <a:ea typeface="Arial" pitchFamily="-108" charset="0"/>
                <a:cs typeface="Arial" pitchFamily="-108" charset="0"/>
              </a:rPr>
              <a:t>Oriented</a:t>
            </a:r>
          </a:p>
        </p:txBody>
      </p:sp>
      <p:sp>
        <p:nvSpPr>
          <p:cNvPr id="17" name="Text Box 6"/>
          <p:cNvSpPr txBox="1">
            <a:spLocks noChangeArrowheads="1"/>
          </p:cNvSpPr>
          <p:nvPr/>
        </p:nvSpPr>
        <p:spPr bwMode="auto">
          <a:xfrm>
            <a:off x="0" y="6092827"/>
            <a:ext cx="1277937" cy="646331"/>
          </a:xfrm>
          <a:prstGeom prst="rect">
            <a:avLst/>
          </a:prstGeom>
          <a:noFill/>
          <a:ln w="9525">
            <a:noFill/>
            <a:miter lim="800000"/>
            <a:headEnd/>
            <a:tailEnd/>
          </a:ln>
          <a:effectLst/>
        </p:spPr>
        <p:txBody>
          <a:bodyPr wrap="square">
            <a:prstTxWarp prst="textNoShape">
              <a:avLst/>
            </a:prstTxWarp>
            <a:spAutoFit/>
          </a:bodyPr>
          <a:lstStyle/>
          <a:p>
            <a:r>
              <a:rPr lang="en-GB" b="1">
                <a:ea typeface="Arial" pitchFamily="-108" charset="0"/>
                <a:cs typeface="Arial" pitchFamily="-108" charset="0"/>
              </a:rPr>
              <a:t>Beginning of the Web</a:t>
            </a:r>
          </a:p>
        </p:txBody>
      </p:sp>
      <p:sp>
        <p:nvSpPr>
          <p:cNvPr id="18" name="Oval 13"/>
          <p:cNvSpPr>
            <a:spLocks noChangeArrowheads="1"/>
          </p:cNvSpPr>
          <p:nvPr/>
        </p:nvSpPr>
        <p:spPr bwMode="auto">
          <a:xfrm>
            <a:off x="6839743" y="1901154"/>
            <a:ext cx="1512887"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Mobile</a:t>
            </a:r>
          </a:p>
        </p:txBody>
      </p:sp>
      <p:sp>
        <p:nvSpPr>
          <p:cNvPr id="19" name="Oval 8"/>
          <p:cNvSpPr>
            <a:spLocks noChangeArrowheads="1"/>
          </p:cNvSpPr>
          <p:nvPr/>
        </p:nvSpPr>
        <p:spPr bwMode="auto">
          <a:xfrm>
            <a:off x="2880520" y="5137726"/>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Dynamic</a:t>
            </a:r>
          </a:p>
        </p:txBody>
      </p:sp>
      <p:sp>
        <p:nvSpPr>
          <p:cNvPr id="20" name="Oval 8"/>
          <p:cNvSpPr>
            <a:spLocks noChangeArrowheads="1"/>
          </p:cNvSpPr>
          <p:nvPr/>
        </p:nvSpPr>
        <p:spPr bwMode="auto">
          <a:xfrm>
            <a:off x="1471302" y="3084996"/>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Search</a:t>
            </a:r>
          </a:p>
        </p:txBody>
      </p:sp>
      <p:sp>
        <p:nvSpPr>
          <p:cNvPr id="21" name="Oval 8"/>
          <p:cNvSpPr>
            <a:spLocks noChangeArrowheads="1"/>
          </p:cNvSpPr>
          <p:nvPr/>
        </p:nvSpPr>
        <p:spPr bwMode="auto">
          <a:xfrm>
            <a:off x="1612693" y="5425857"/>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Navigational</a:t>
            </a:r>
          </a:p>
        </p:txBody>
      </p:sp>
    </p:spTree>
    <p:extLst>
      <p:ext uri="{BB962C8B-B14F-4D97-AF65-F5344CB8AC3E}">
        <p14:creationId xmlns:p14="http://schemas.microsoft.com/office/powerpoint/2010/main" val="19046385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Web Complexities</a:t>
            </a:r>
            <a:endParaRPr lang="en-US"/>
          </a:p>
        </p:txBody>
      </p:sp>
      <p:sp>
        <p:nvSpPr>
          <p:cNvPr id="3" name="Content Placeholder 2"/>
          <p:cNvSpPr>
            <a:spLocks noGrp="1"/>
          </p:cNvSpPr>
          <p:nvPr>
            <p:ph idx="1"/>
          </p:nvPr>
        </p:nvSpPr>
        <p:spPr>
          <a:xfrm>
            <a:off x="457200" y="1600200"/>
            <a:ext cx="8229600" cy="4900808"/>
          </a:xfrm>
        </p:spPr>
        <p:txBody>
          <a:bodyPr>
            <a:normAutofit fontScale="70000" lnSpcReduction="20000"/>
          </a:bodyPr>
          <a:lstStyle/>
          <a:p>
            <a:r>
              <a:rPr lang="en-GB" b="1"/>
              <a:t>The nature and structure of the application</a:t>
            </a:r>
          </a:p>
          <a:p>
            <a:pPr lvl="1"/>
            <a:r>
              <a:rPr lang="en-GB"/>
              <a:t>The hypertext structure</a:t>
            </a:r>
          </a:p>
          <a:p>
            <a:pPr lvl="1"/>
            <a:r>
              <a:rPr lang="en-GB"/>
              <a:t>The presentation and layout</a:t>
            </a:r>
          </a:p>
          <a:p>
            <a:pPr lvl="1"/>
            <a:r>
              <a:rPr lang="en-GB"/>
              <a:t>Content usage and management</a:t>
            </a:r>
          </a:p>
          <a:p>
            <a:pPr lvl="1"/>
            <a:r>
              <a:rPr lang="en-GB"/>
              <a:t>Service usage</a:t>
            </a:r>
          </a:p>
          <a:p>
            <a:r>
              <a:rPr lang="en-GB" b="1"/>
              <a:t>The users and usage of the application</a:t>
            </a:r>
          </a:p>
          <a:p>
            <a:pPr lvl="1"/>
            <a:r>
              <a:rPr lang="en-GB"/>
              <a:t>Instant online access, with permanent availability</a:t>
            </a:r>
          </a:p>
          <a:p>
            <a:pPr lvl="1"/>
            <a:r>
              <a:rPr lang="en-GB"/>
              <a:t>A wide variety of usually anonymous users</a:t>
            </a:r>
          </a:p>
          <a:p>
            <a:pPr lvl="1"/>
            <a:r>
              <a:rPr lang="en-GB"/>
              <a:t>On a variety of devices</a:t>
            </a:r>
          </a:p>
          <a:p>
            <a:r>
              <a:rPr lang="en-GB" b="1"/>
              <a:t>The development process behind the application</a:t>
            </a:r>
          </a:p>
          <a:p>
            <a:pPr lvl="1"/>
            <a:r>
              <a:rPr lang="en-GB"/>
              <a:t>by a multidisciplinary team </a:t>
            </a:r>
          </a:p>
          <a:p>
            <a:pPr lvl="1"/>
            <a:r>
              <a:rPr lang="en-GB"/>
              <a:t>In a state of continuous development</a:t>
            </a:r>
          </a:p>
          <a:p>
            <a:pPr lvl="1"/>
            <a:r>
              <a:rPr lang="en-GB"/>
              <a:t>A mixture of legacy technologies and immature technologies</a:t>
            </a:r>
          </a:p>
          <a:p>
            <a:r>
              <a:rPr lang="en-GB" b="1"/>
              <a:t>Understanding Website Complexity?</a:t>
            </a:r>
          </a:p>
          <a:p>
            <a:pPr lvl="1"/>
            <a:r>
              <a:rPr lang="en-GB">
                <a:hlinkClick r:id="rId3"/>
              </a:rPr>
              <a:t>https://web.eecs.umich.edu/~harshavm/papers/imc11.pdf</a:t>
            </a:r>
            <a:r>
              <a:rPr lang="en-GB"/>
              <a:t> </a:t>
            </a:r>
          </a:p>
          <a:p>
            <a:endParaRPr lang="en-US"/>
          </a:p>
        </p:txBody>
      </p:sp>
    </p:spTree>
    <p:extLst>
      <p:ext uri="{BB962C8B-B14F-4D97-AF65-F5344CB8AC3E}">
        <p14:creationId xmlns:p14="http://schemas.microsoft.com/office/powerpoint/2010/main" val="99360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t>Need for principled and disciplined approach…</a:t>
            </a:r>
          </a:p>
        </p:txBody>
      </p:sp>
      <p:sp>
        <p:nvSpPr>
          <p:cNvPr id="4" name="Oval 3">
            <a:extLst>
              <a:ext uri="{FF2B5EF4-FFF2-40B4-BE49-F238E27FC236}">
                <a16:creationId xmlns:a16="http://schemas.microsoft.com/office/drawing/2014/main" id="{DD5987C5-E0E4-D387-E7A4-48980B73AF79}"/>
              </a:ext>
            </a:extLst>
          </p:cNvPr>
          <p:cNvSpPr/>
          <p:nvPr/>
        </p:nvSpPr>
        <p:spPr>
          <a:xfrm>
            <a:off x="481160" y="1265093"/>
            <a:ext cx="7971018" cy="5349994"/>
          </a:xfrm>
          <a:custGeom>
            <a:avLst/>
            <a:gdLst>
              <a:gd name="csX0" fmla="*/ 0 w 7971018"/>
              <a:gd name="csY0" fmla="*/ 2674997 h 5349994"/>
              <a:gd name="csX1" fmla="*/ 3985509 w 7971018"/>
              <a:gd name="csY1" fmla="*/ 0 h 5349994"/>
              <a:gd name="csX2" fmla="*/ 7971018 w 7971018"/>
              <a:gd name="csY2" fmla="*/ 2674997 h 5349994"/>
              <a:gd name="csX3" fmla="*/ 3985509 w 7971018"/>
              <a:gd name="csY3" fmla="*/ 5349994 h 5349994"/>
              <a:gd name="csX4" fmla="*/ 0 w 7971018"/>
              <a:gd name="csY4" fmla="*/ 2674997 h 5349994"/>
            </a:gdLst>
            <a:ahLst/>
            <a:cxnLst>
              <a:cxn ang="0">
                <a:pos x="csX0" y="csY0"/>
              </a:cxn>
              <a:cxn ang="0">
                <a:pos x="csX1" y="csY1"/>
              </a:cxn>
              <a:cxn ang="0">
                <a:pos x="csX2" y="csY2"/>
              </a:cxn>
              <a:cxn ang="0">
                <a:pos x="csX3" y="csY3"/>
              </a:cxn>
              <a:cxn ang="0">
                <a:pos x="csX4" y="csY4"/>
              </a:cxn>
            </a:cxnLst>
            <a:rect l="l" t="t" r="r" b="b"/>
            <a:pathLst>
              <a:path w="7971018" h="5349994" extrusionOk="0">
                <a:moveTo>
                  <a:pt x="0" y="2674997"/>
                </a:moveTo>
                <a:cubicBezTo>
                  <a:pt x="-255283" y="1040173"/>
                  <a:pt x="1344832" y="164967"/>
                  <a:pt x="3985509" y="0"/>
                </a:cubicBezTo>
                <a:cubicBezTo>
                  <a:pt x="6467379" y="59101"/>
                  <a:pt x="7757594" y="1204423"/>
                  <a:pt x="7971018" y="2674997"/>
                </a:cubicBezTo>
                <a:cubicBezTo>
                  <a:pt x="7819129" y="4300685"/>
                  <a:pt x="6177037" y="5403098"/>
                  <a:pt x="3985509" y="5349994"/>
                </a:cubicBezTo>
                <a:cubicBezTo>
                  <a:pt x="1581004" y="5238726"/>
                  <a:pt x="65265" y="4183541"/>
                  <a:pt x="0" y="2674997"/>
                </a:cubicBezTo>
                <a:close/>
              </a:path>
            </a:pathLst>
          </a:custGeom>
          <a:noFill/>
          <a:ln w="76200" cmpd="sng">
            <a:solidFill>
              <a:srgbClr val="C00000"/>
            </a:solidFill>
            <a:prstDash val="solid"/>
            <a:extLst>
              <a:ext uri="{C807C97D-BFC1-408E-A445-0C87EB9F89A2}">
                <ask:lineSketchStyleProps xmlns:ask="http://schemas.microsoft.com/office/drawing/2018/sketchyshapes" sd="1219033472">
                  <a:prstGeom prst="ellipse">
                    <a:avLst/>
                  </a:prstGeom>
                  <ask:type>
                    <ask:lineSketchFreehand/>
                  </ask:type>
                </ask:lineSketchStyleProps>
              </a:ext>
            </a:extLst>
          </a:ln>
        </p:spPr>
        <p:style>
          <a:lnRef idx="1">
            <a:schemeClr val="accent1"/>
          </a:lnRef>
          <a:fillRef idx="3">
            <a:schemeClr val="accent1"/>
          </a:fillRef>
          <a:effectRef idx="2">
            <a:schemeClr val="accent1"/>
          </a:effectRef>
          <a:fontRef idx="minor">
            <a:schemeClr val="lt1"/>
          </a:fontRef>
        </p:style>
        <p:txBody>
          <a:bodyPr lIns="91440" tIns="45720" rIns="91440" bIns="45720" rtlCol="0" anchor="b"/>
          <a:lstStyle/>
          <a:p>
            <a:pPr lvl="1" algn="ctr"/>
            <a:r>
              <a:rPr lang="en-US" sz="6000">
                <a:solidFill>
                  <a:srgbClr val="C00000"/>
                </a:solidFill>
                <a:latin typeface="Andale Mono"/>
              </a:rPr>
              <a:t>Design</a:t>
            </a:r>
            <a:endParaRPr lang="en-US"/>
          </a:p>
        </p:txBody>
      </p:sp>
      <p:graphicFrame>
        <p:nvGraphicFramePr>
          <p:cNvPr id="13" name="Diagram 12">
            <a:extLst>
              <a:ext uri="{FF2B5EF4-FFF2-40B4-BE49-F238E27FC236}">
                <a16:creationId xmlns:a16="http://schemas.microsoft.com/office/drawing/2014/main" id="{6D9A43F1-7A77-5B61-4BE0-5EB60BACAAC1}"/>
              </a:ext>
            </a:extLst>
          </p:cNvPr>
          <p:cNvGraphicFramePr/>
          <p:nvPr>
            <p:extLst>
              <p:ext uri="{D42A27DB-BD31-4B8C-83A1-F6EECF244321}">
                <p14:modId xmlns:p14="http://schemas.microsoft.com/office/powerpoint/2010/main" val="3638567552"/>
              </p:ext>
            </p:extLst>
          </p:nvPr>
        </p:nvGraphicFramePr>
        <p:xfrm>
          <a:off x="1195331" y="1715877"/>
          <a:ext cx="6505459" cy="3657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201815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Architecture Design</a:t>
            </a:r>
          </a:p>
        </p:txBody>
      </p:sp>
      <p:sp>
        <p:nvSpPr>
          <p:cNvPr id="3" name="Content Placeholder 2"/>
          <p:cNvSpPr>
            <a:spLocks noGrp="1"/>
          </p:cNvSpPr>
          <p:nvPr>
            <p:ph sz="half" idx="1"/>
          </p:nvPr>
        </p:nvSpPr>
        <p:spPr/>
        <p:txBody>
          <a:bodyPr vert="horz" lIns="91440" tIns="45720" rIns="91440" bIns="45720" rtlCol="0" anchor="t">
            <a:normAutofit/>
          </a:bodyPr>
          <a:lstStyle/>
          <a:p>
            <a:r>
              <a:rPr lang="en-US"/>
              <a:t>System Architecture (system focused)</a:t>
            </a:r>
          </a:p>
          <a:p>
            <a:pPr lvl="1"/>
            <a:r>
              <a:rPr lang="en-US"/>
              <a:t>Specifications and Technical Requirements</a:t>
            </a:r>
          </a:p>
          <a:p>
            <a:pPr lvl="1"/>
            <a:r>
              <a:rPr lang="en-US"/>
              <a:t>High Level System Architecture</a:t>
            </a:r>
          </a:p>
          <a:p>
            <a:pPr lvl="1"/>
            <a:r>
              <a:rPr lang="en-US"/>
              <a:t>Sequence Diagrams</a:t>
            </a:r>
          </a:p>
          <a:p>
            <a:pPr lvl="1"/>
            <a:r>
              <a:rPr lang="en-US"/>
              <a:t>Entity Relationship Diagrams</a:t>
            </a:r>
          </a:p>
        </p:txBody>
      </p:sp>
      <p:sp>
        <p:nvSpPr>
          <p:cNvPr id="4" name="Content Placeholder 3">
            <a:extLst>
              <a:ext uri="{FF2B5EF4-FFF2-40B4-BE49-F238E27FC236}">
                <a16:creationId xmlns:a16="http://schemas.microsoft.com/office/drawing/2014/main" id="{2207AB0D-7B34-654C-63B4-1C57A61D2683}"/>
              </a:ext>
            </a:extLst>
          </p:cNvPr>
          <p:cNvSpPr>
            <a:spLocks noGrp="1"/>
          </p:cNvSpPr>
          <p:nvPr>
            <p:ph sz="half" idx="2"/>
          </p:nvPr>
        </p:nvSpPr>
        <p:spPr/>
        <p:txBody>
          <a:bodyPr vert="horz" lIns="91440" tIns="45720" rIns="91440" bIns="45720" rtlCol="0" anchor="t">
            <a:normAutofit/>
          </a:bodyPr>
          <a:lstStyle/>
          <a:p>
            <a:r>
              <a:rPr lang="en-US" sz="2600">
                <a:ea typeface="Calibri"/>
                <a:cs typeface="Calibri"/>
              </a:rPr>
              <a:t>Information Architecture (user focused)</a:t>
            </a:r>
          </a:p>
          <a:p>
            <a:pPr lvl="1"/>
            <a:r>
              <a:rPr lang="en-US">
                <a:ea typeface="Calibri"/>
                <a:cs typeface="Calibri"/>
              </a:rPr>
              <a:t>User Requirements</a:t>
            </a:r>
          </a:p>
          <a:p>
            <a:pPr lvl="1"/>
            <a:r>
              <a:rPr lang="en-US">
                <a:ea typeface="Calibri"/>
                <a:cs typeface="Calibri"/>
              </a:rPr>
              <a:t>Site maps</a:t>
            </a:r>
          </a:p>
          <a:p>
            <a:pPr lvl="1"/>
            <a:r>
              <a:rPr lang="en-US">
                <a:ea typeface="Calibri"/>
                <a:cs typeface="Calibri"/>
              </a:rPr>
              <a:t>User Flows / Journeys</a:t>
            </a:r>
          </a:p>
          <a:p>
            <a:pPr lvl="1"/>
            <a:r>
              <a:rPr lang="en-US">
                <a:ea typeface="Calibri"/>
                <a:cs typeface="Calibri"/>
              </a:rPr>
              <a:t>Wireframes</a:t>
            </a:r>
          </a:p>
          <a:p>
            <a:endParaRPr lang="en-US">
              <a:ea typeface="Calibri"/>
              <a:cs typeface="Calibri"/>
            </a:endParaRPr>
          </a:p>
        </p:txBody>
      </p:sp>
      <p:sp>
        <p:nvSpPr>
          <p:cNvPr id="5" name="TextBox 4">
            <a:extLst>
              <a:ext uri="{FF2B5EF4-FFF2-40B4-BE49-F238E27FC236}">
                <a16:creationId xmlns:a16="http://schemas.microsoft.com/office/drawing/2014/main" id="{94CB35C6-9B1C-2523-8BE1-EDA71637407B}"/>
              </a:ext>
            </a:extLst>
          </p:cNvPr>
          <p:cNvSpPr txBox="1"/>
          <p:nvPr/>
        </p:nvSpPr>
        <p:spPr>
          <a:xfrm>
            <a:off x="454582" y="5818657"/>
            <a:ext cx="824034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i="1">
                <a:solidFill>
                  <a:schemeClr val="accent2"/>
                </a:solidFill>
                <a:ea typeface="Calibri"/>
                <a:cs typeface="Calibri"/>
              </a:rPr>
              <a:t>We will learn how to produce a number of these design elements during the course. </a:t>
            </a:r>
            <a:br>
              <a:rPr lang="en-US" i="1">
                <a:solidFill>
                  <a:schemeClr val="accent2"/>
                </a:solidFill>
                <a:ea typeface="Calibri"/>
                <a:cs typeface="Calibri"/>
              </a:rPr>
            </a:br>
            <a:r>
              <a:rPr lang="en-US" i="1">
                <a:solidFill>
                  <a:schemeClr val="accent2"/>
                </a:solidFill>
                <a:ea typeface="Calibri"/>
                <a:cs typeface="Calibri"/>
              </a:rPr>
              <a:t>They are also a significant component of your group project.</a:t>
            </a:r>
          </a:p>
        </p:txBody>
      </p:sp>
    </p:spTree>
    <p:extLst>
      <p:ext uri="{BB962C8B-B14F-4D97-AF65-F5344CB8AC3E}">
        <p14:creationId xmlns:p14="http://schemas.microsoft.com/office/powerpoint/2010/main" val="1083058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Design and Diagrams</a:t>
            </a:r>
          </a:p>
        </p:txBody>
      </p:sp>
      <p:sp>
        <p:nvSpPr>
          <p:cNvPr id="3" name="Content Placeholder 2"/>
          <p:cNvSpPr>
            <a:spLocks noGrp="1"/>
          </p:cNvSpPr>
          <p:nvPr>
            <p:ph idx="1"/>
          </p:nvPr>
        </p:nvSpPr>
        <p:spPr/>
        <p:txBody>
          <a:bodyPr>
            <a:normAutofit/>
          </a:bodyPr>
          <a:lstStyle/>
          <a:p>
            <a:r>
              <a:rPr lang="en-US"/>
              <a:t>Architects need to communicate to developers how the application and its components fit together and who is responsible for what</a:t>
            </a:r>
          </a:p>
          <a:p>
            <a:r>
              <a:rPr lang="en-US"/>
              <a:t>The designs also serve as a communication tool with the client</a:t>
            </a:r>
          </a:p>
          <a:p>
            <a:r>
              <a:rPr lang="en-US"/>
              <a:t>It is important to be able to draw and read such diagrams especially when projects become large and complex</a:t>
            </a:r>
          </a:p>
        </p:txBody>
      </p:sp>
    </p:spTree>
    <p:extLst>
      <p:ext uri="{BB962C8B-B14F-4D97-AF65-F5344CB8AC3E}">
        <p14:creationId xmlns:p14="http://schemas.microsoft.com/office/powerpoint/2010/main" val="2691373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System Architecture</a:t>
            </a:r>
          </a:p>
        </p:txBody>
      </p:sp>
      <p:sp>
        <p:nvSpPr>
          <p:cNvPr id="5" name="Text Placeholder 4">
            <a:extLst>
              <a:ext uri="{FF2B5EF4-FFF2-40B4-BE49-F238E27FC236}">
                <a16:creationId xmlns:a16="http://schemas.microsoft.com/office/drawing/2014/main" id="{A2664362-236F-657C-3A37-F4EE7A476B1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571807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System Architecture	</a:t>
            </a:r>
          </a:p>
        </p:txBody>
      </p:sp>
      <p:sp>
        <p:nvSpPr>
          <p:cNvPr id="3" name="Content Placeholder 2"/>
          <p:cNvSpPr>
            <a:spLocks noGrp="1"/>
          </p:cNvSpPr>
          <p:nvPr>
            <p:ph idx="1"/>
          </p:nvPr>
        </p:nvSpPr>
        <p:spPr>
          <a:xfrm>
            <a:off x="298051" y="1282837"/>
            <a:ext cx="8656427" cy="5390511"/>
          </a:xfrm>
        </p:spPr>
        <p:txBody>
          <a:bodyPr vert="horz" lIns="91440" tIns="45720" rIns="91440" bIns="45720" rtlCol="0" anchor="t">
            <a:normAutofit fontScale="92500"/>
          </a:bodyPr>
          <a:lstStyle/>
          <a:p>
            <a:r>
              <a:rPr lang="en-US"/>
              <a:t>Every </a:t>
            </a:r>
            <a:r>
              <a:rPr lang="en-US" b="1"/>
              <a:t>component</a:t>
            </a:r>
            <a:r>
              <a:rPr lang="en-US"/>
              <a:t> of a system must be </a:t>
            </a:r>
            <a:r>
              <a:rPr lang="en-US" b="1"/>
              <a:t>designed</a:t>
            </a:r>
            <a:endParaRPr lang="en-US" b="1">
              <a:ea typeface="Calibri"/>
              <a:cs typeface="Calibri"/>
            </a:endParaRPr>
          </a:p>
          <a:p>
            <a:r>
              <a:rPr lang="en-US"/>
              <a:t>The </a:t>
            </a:r>
            <a:r>
              <a:rPr lang="en-US" b="1"/>
              <a:t>architecture</a:t>
            </a:r>
            <a:r>
              <a:rPr lang="en-US"/>
              <a:t> of the </a:t>
            </a:r>
            <a:r>
              <a:rPr lang="en-US" b="1"/>
              <a:t>system</a:t>
            </a:r>
            <a:r>
              <a:rPr lang="en-US"/>
              <a:t> shows the </a:t>
            </a:r>
            <a:r>
              <a:rPr lang="en-US" b="1"/>
              <a:t>blueprint</a:t>
            </a:r>
            <a:r>
              <a:rPr lang="en-US"/>
              <a:t> or plans of </a:t>
            </a:r>
            <a:r>
              <a:rPr lang="en-US" b="1"/>
              <a:t>how</a:t>
            </a:r>
            <a:r>
              <a:rPr lang="en-US"/>
              <a:t> </a:t>
            </a:r>
            <a:r>
              <a:rPr lang="en-US" b="1"/>
              <a:t>each</a:t>
            </a:r>
            <a:r>
              <a:rPr lang="en-US"/>
              <a:t> </a:t>
            </a:r>
            <a:r>
              <a:rPr lang="en-US" b="1"/>
              <a:t>component</a:t>
            </a:r>
            <a:r>
              <a:rPr lang="en-US"/>
              <a:t> </a:t>
            </a:r>
            <a:r>
              <a:rPr lang="en-US" b="1"/>
              <a:t>fits</a:t>
            </a:r>
            <a:r>
              <a:rPr lang="en-US"/>
              <a:t> </a:t>
            </a:r>
            <a:r>
              <a:rPr lang="en-US" b="1"/>
              <a:t>together</a:t>
            </a:r>
            <a:r>
              <a:rPr lang="en-US"/>
              <a:t>.</a:t>
            </a:r>
          </a:p>
          <a:p>
            <a:r>
              <a:rPr lang="en-US"/>
              <a:t>Architectural diagrams can be at various levels</a:t>
            </a:r>
          </a:p>
          <a:p>
            <a:pPr lvl="1"/>
            <a:r>
              <a:rPr lang="en-US"/>
              <a:t>Data structure / algorithm / object level</a:t>
            </a:r>
          </a:p>
          <a:p>
            <a:pPr lvl="1"/>
            <a:r>
              <a:rPr lang="en-US"/>
              <a:t>Component / library level </a:t>
            </a:r>
          </a:p>
          <a:p>
            <a:pPr lvl="1"/>
            <a:r>
              <a:rPr lang="en-US"/>
              <a:t>Application level</a:t>
            </a:r>
          </a:p>
          <a:p>
            <a:r>
              <a:rPr lang="en-US"/>
              <a:t>Various diagrams are needed</a:t>
            </a:r>
          </a:p>
          <a:p>
            <a:pPr marL="0" indent="0">
              <a:buNone/>
            </a:pPr>
            <a:r>
              <a:rPr lang="en-US" i="1">
                <a:solidFill>
                  <a:schemeClr val="accent2"/>
                </a:solidFill>
              </a:rPr>
              <a:t>We focus on the application level or the </a:t>
            </a:r>
            <a:r>
              <a:rPr lang="en-US" b="1" i="1">
                <a:solidFill>
                  <a:schemeClr val="accent2"/>
                </a:solidFill>
              </a:rPr>
              <a:t>high-level system architecture</a:t>
            </a:r>
            <a:endParaRPr lang="en-US" b="1" i="1">
              <a:solidFill>
                <a:schemeClr val="accent2"/>
              </a:solidFill>
              <a:ea typeface="Calibri"/>
              <a:cs typeface="Calibri"/>
            </a:endParaRPr>
          </a:p>
        </p:txBody>
      </p:sp>
    </p:spTree>
    <p:extLst>
      <p:ext uri="{BB962C8B-B14F-4D97-AF65-F5344CB8AC3E}">
        <p14:creationId xmlns:p14="http://schemas.microsoft.com/office/powerpoint/2010/main" val="12718189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Rectangle 2"/>
          <p:cNvSpPr>
            <a:spLocks noGrp="1" noChangeArrowheads="1"/>
          </p:cNvSpPr>
          <p:nvPr>
            <p:ph type="title"/>
          </p:nvPr>
        </p:nvSpPr>
        <p:spPr/>
        <p:txBody>
          <a:bodyPr>
            <a:normAutofit/>
          </a:bodyPr>
          <a:lstStyle/>
          <a:p>
            <a:r>
              <a:rPr lang="en-GB"/>
              <a:t>Tasks of an application</a:t>
            </a:r>
            <a:endParaRPr lang="en-US"/>
          </a:p>
        </p:txBody>
      </p:sp>
      <p:sp>
        <p:nvSpPr>
          <p:cNvPr id="25605" name="Rectangle 3"/>
          <p:cNvSpPr>
            <a:spLocks noGrp="1" noChangeArrowheads="1"/>
          </p:cNvSpPr>
          <p:nvPr>
            <p:ph type="body" idx="1"/>
          </p:nvPr>
        </p:nvSpPr>
        <p:spPr>
          <a:xfrm>
            <a:off x="298051" y="1600200"/>
            <a:ext cx="8552757" cy="4917654"/>
          </a:xfrm>
        </p:spPr>
        <p:txBody>
          <a:bodyPr vert="horz" lIns="91440" tIns="45720" rIns="91440" bIns="45720" rtlCol="0" anchor="t">
            <a:normAutofit/>
          </a:bodyPr>
          <a:lstStyle/>
          <a:p>
            <a:r>
              <a:rPr lang="en-GB"/>
              <a:t>The main tasks that any application must support:</a:t>
            </a:r>
          </a:p>
          <a:p>
            <a:pPr lvl="1" eaLnBrk="1" hangingPunct="1"/>
            <a:r>
              <a:rPr lang="en-GB" b="1"/>
              <a:t>user interface</a:t>
            </a:r>
            <a:r>
              <a:rPr lang="en-GB"/>
              <a:t> management</a:t>
            </a:r>
          </a:p>
          <a:p>
            <a:pPr lvl="1" eaLnBrk="1" hangingPunct="1"/>
            <a:r>
              <a:rPr lang="en-GB"/>
              <a:t>the implementation of </a:t>
            </a:r>
            <a:r>
              <a:rPr lang="en-GB" b="1"/>
              <a:t>algorithms</a:t>
            </a:r>
            <a:r>
              <a:rPr lang="en-GB"/>
              <a:t> – the business logic</a:t>
            </a:r>
          </a:p>
          <a:p>
            <a:pPr lvl="1" eaLnBrk="1" hangingPunct="1"/>
            <a:r>
              <a:rPr lang="en-GB" b="1"/>
              <a:t>information manipulation</a:t>
            </a:r>
          </a:p>
          <a:p>
            <a:pPr lvl="1" eaLnBrk="1" hangingPunct="1"/>
            <a:r>
              <a:rPr lang="en-GB" b="1"/>
              <a:t>data storage</a:t>
            </a:r>
            <a:endParaRPr lang="en-US"/>
          </a:p>
        </p:txBody>
      </p:sp>
    </p:spTree>
    <p:extLst>
      <p:ext uri="{BB962C8B-B14F-4D97-AF65-F5344CB8AC3E}">
        <p14:creationId xmlns:p14="http://schemas.microsoft.com/office/powerpoint/2010/main" val="22405671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Rectangle 2"/>
          <p:cNvSpPr>
            <a:spLocks noGrp="1" noChangeArrowheads="1"/>
          </p:cNvSpPr>
          <p:nvPr>
            <p:ph type="title"/>
          </p:nvPr>
        </p:nvSpPr>
        <p:spPr/>
        <p:txBody>
          <a:bodyPr/>
          <a:lstStyle/>
          <a:p>
            <a:pPr eaLnBrk="1" hangingPunct="1"/>
            <a:r>
              <a:rPr lang="en-GB"/>
              <a:t>Monolithic Programs</a:t>
            </a:r>
            <a:endParaRPr lang="en-US"/>
          </a:p>
        </p:txBody>
      </p:sp>
      <p:sp>
        <p:nvSpPr>
          <p:cNvPr id="25605" name="Rectangle 3"/>
          <p:cNvSpPr>
            <a:spLocks noGrp="1" noChangeArrowheads="1"/>
          </p:cNvSpPr>
          <p:nvPr>
            <p:ph type="body" idx="1"/>
          </p:nvPr>
        </p:nvSpPr>
        <p:spPr>
          <a:xfrm>
            <a:off x="298051" y="1600200"/>
            <a:ext cx="8552757" cy="4917654"/>
          </a:xfrm>
        </p:spPr>
        <p:txBody>
          <a:bodyPr vert="horz" lIns="91440" tIns="45720" rIns="91440" bIns="45720" rtlCol="0" anchor="t">
            <a:normAutofit lnSpcReduction="10000"/>
          </a:bodyPr>
          <a:lstStyle/>
          <a:p>
            <a:r>
              <a:rPr lang="en-GB"/>
              <a:t>Example: A monolithic program in JAVA performs all the tasks</a:t>
            </a:r>
            <a:endParaRPr lang="en-GB">
              <a:ea typeface="Calibri"/>
              <a:cs typeface="Calibri"/>
            </a:endParaRPr>
          </a:p>
          <a:p>
            <a:pPr lvl="1" eaLnBrk="1" hangingPunct="1"/>
            <a:r>
              <a:rPr lang="en-GB"/>
              <a:t>user interface with SWING</a:t>
            </a:r>
          </a:p>
          <a:p>
            <a:pPr lvl="1" eaLnBrk="1" hangingPunct="1"/>
            <a:r>
              <a:rPr lang="en-GB"/>
              <a:t>algorithms in methods</a:t>
            </a:r>
          </a:p>
          <a:p>
            <a:pPr lvl="1" eaLnBrk="1" hangingPunct="1"/>
            <a:r>
              <a:rPr lang="en-GB"/>
              <a:t>information manipulation in methods, e.g. sort methods</a:t>
            </a:r>
          </a:p>
          <a:p>
            <a:pPr lvl="1" eaLnBrk="1" hangingPunct="1"/>
            <a:r>
              <a:rPr lang="en-GB"/>
              <a:t>data storage using File I/O</a:t>
            </a:r>
          </a:p>
          <a:p>
            <a:pPr lvl="1"/>
            <a:endParaRPr lang="en-GB">
              <a:ea typeface="Calibri"/>
              <a:cs typeface="Calibri"/>
            </a:endParaRPr>
          </a:p>
          <a:p>
            <a:r>
              <a:rPr lang="en-GB">
                <a:ea typeface="Calibri"/>
                <a:cs typeface="Calibri"/>
              </a:rPr>
              <a:t>This reflects a 1-tier architecture – not suitable for web applications!</a:t>
            </a:r>
          </a:p>
        </p:txBody>
      </p:sp>
    </p:spTree>
    <p:extLst>
      <p:ext uri="{BB962C8B-B14F-4D97-AF65-F5344CB8AC3E}">
        <p14:creationId xmlns:p14="http://schemas.microsoft.com/office/powerpoint/2010/main" val="22751618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Tiered Architectures</a:t>
            </a:r>
          </a:p>
        </p:txBody>
      </p:sp>
      <p:sp>
        <p:nvSpPr>
          <p:cNvPr id="3" name="Content Placeholder 2"/>
          <p:cNvSpPr>
            <a:spLocks noGrp="1"/>
          </p:cNvSpPr>
          <p:nvPr>
            <p:ph idx="1"/>
          </p:nvPr>
        </p:nvSpPr>
        <p:spPr>
          <a:xfrm>
            <a:off x="298051" y="1321712"/>
            <a:ext cx="8656427" cy="5260931"/>
          </a:xfrm>
        </p:spPr>
        <p:txBody>
          <a:bodyPr vert="horz" lIns="91440" tIns="45720" rIns="91440" bIns="45720" rtlCol="0" anchor="t">
            <a:normAutofit fontScale="85000" lnSpcReduction="20000"/>
          </a:bodyPr>
          <a:lstStyle/>
          <a:p>
            <a:r>
              <a:rPr lang="en-GB"/>
              <a:t>The </a:t>
            </a:r>
            <a:r>
              <a:rPr lang="en-GB" b="1"/>
              <a:t>structure</a:t>
            </a:r>
            <a:r>
              <a:rPr lang="en-GB"/>
              <a:t> of </a:t>
            </a:r>
            <a:r>
              <a:rPr lang="en-GB" b="1"/>
              <a:t>applications</a:t>
            </a:r>
            <a:r>
              <a:rPr lang="en-GB"/>
              <a:t> have changed from: </a:t>
            </a:r>
          </a:p>
          <a:p>
            <a:pPr lvl="1"/>
            <a:r>
              <a:rPr lang="en-GB" b="1"/>
              <a:t>Monolithic</a:t>
            </a:r>
            <a:r>
              <a:rPr lang="en-GB"/>
              <a:t> programs in which every aspect of the application is coded</a:t>
            </a:r>
          </a:p>
          <a:p>
            <a:pPr lvl="1"/>
            <a:r>
              <a:rPr lang="en-GB"/>
              <a:t>To </a:t>
            </a:r>
            <a:r>
              <a:rPr lang="en-GB" b="1"/>
              <a:t>tiered</a:t>
            </a:r>
            <a:r>
              <a:rPr lang="en-GB"/>
              <a:t> structures in which different aspects are separated into different levels</a:t>
            </a:r>
          </a:p>
          <a:p>
            <a:r>
              <a:rPr lang="en-GB"/>
              <a:t>The </a:t>
            </a:r>
            <a:r>
              <a:rPr lang="en-GB" b="1"/>
              <a:t>advantage</a:t>
            </a:r>
            <a:r>
              <a:rPr lang="en-GB"/>
              <a:t> of the </a:t>
            </a:r>
            <a:r>
              <a:rPr lang="en-GB" b="1"/>
              <a:t>tiered</a:t>
            </a:r>
            <a:r>
              <a:rPr lang="en-GB"/>
              <a:t> </a:t>
            </a:r>
            <a:r>
              <a:rPr lang="en-GB" b="1"/>
              <a:t>architectures</a:t>
            </a:r>
            <a:r>
              <a:rPr lang="en-GB"/>
              <a:t> are </a:t>
            </a:r>
          </a:p>
          <a:p>
            <a:pPr lvl="1"/>
            <a:r>
              <a:rPr lang="en-GB"/>
              <a:t>Each tier can be coded </a:t>
            </a:r>
            <a:r>
              <a:rPr lang="en-GB" b="1"/>
              <a:t>separately</a:t>
            </a:r>
            <a:r>
              <a:rPr lang="en-GB"/>
              <a:t> without the programmer having to deal with everything</a:t>
            </a:r>
          </a:p>
          <a:p>
            <a:pPr lvl="1"/>
            <a:r>
              <a:rPr lang="en-GB"/>
              <a:t>The different tiers can be </a:t>
            </a:r>
            <a:r>
              <a:rPr lang="en-GB" b="1"/>
              <a:t>distributed over the network</a:t>
            </a:r>
            <a:r>
              <a:rPr lang="en-GB"/>
              <a:t> leading to increased efficiency</a:t>
            </a:r>
          </a:p>
          <a:p>
            <a:r>
              <a:rPr lang="en-GB"/>
              <a:t>The </a:t>
            </a:r>
            <a:r>
              <a:rPr lang="en-GB" b="1"/>
              <a:t>tiers</a:t>
            </a:r>
            <a:r>
              <a:rPr lang="en-GB"/>
              <a:t> must </a:t>
            </a:r>
            <a:r>
              <a:rPr lang="en-GB" b="1"/>
              <a:t>interact</a:t>
            </a:r>
            <a:r>
              <a:rPr lang="en-GB"/>
              <a:t> </a:t>
            </a:r>
            <a:r>
              <a:rPr lang="en-GB" b="1"/>
              <a:t>effectively!</a:t>
            </a:r>
            <a:endParaRPr lang="en-GB" b="1">
              <a:ea typeface="Calibri"/>
              <a:cs typeface="Calibri"/>
            </a:endParaRPr>
          </a:p>
          <a:p>
            <a:pPr lvl="1"/>
            <a:r>
              <a:rPr lang="en-GB"/>
              <a:t>There must be well defined interfaces between adjacent tiers</a:t>
            </a:r>
          </a:p>
          <a:p>
            <a:pPr lvl="1"/>
            <a:r>
              <a:rPr lang="en-GB"/>
              <a:t>Internet protocols and database connection software do this well</a:t>
            </a:r>
          </a:p>
          <a:p>
            <a:endParaRPr lang="en-US"/>
          </a:p>
        </p:txBody>
      </p:sp>
    </p:spTree>
    <p:extLst>
      <p:ext uri="{BB962C8B-B14F-4D97-AF65-F5344CB8AC3E}">
        <p14:creationId xmlns:p14="http://schemas.microsoft.com/office/powerpoint/2010/main" val="878109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Two-Tier Architectures</a:t>
            </a:r>
          </a:p>
        </p:txBody>
      </p:sp>
      <p:sp>
        <p:nvSpPr>
          <p:cNvPr id="3" name="Text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7837963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a:t>Data Management (1)</a:t>
            </a:r>
            <a:endParaRPr lang="en-US"/>
          </a:p>
        </p:txBody>
      </p:sp>
      <p:sp>
        <p:nvSpPr>
          <p:cNvPr id="3" name="Content Placeholder 2"/>
          <p:cNvSpPr>
            <a:spLocks noGrp="1"/>
          </p:cNvSpPr>
          <p:nvPr>
            <p:ph idx="1"/>
          </p:nvPr>
        </p:nvSpPr>
        <p:spPr>
          <a:xfrm>
            <a:off x="336927" y="1600200"/>
            <a:ext cx="8526841" cy="4525963"/>
          </a:xfrm>
        </p:spPr>
        <p:txBody>
          <a:bodyPr>
            <a:normAutofit fontScale="92500" lnSpcReduction="10000"/>
          </a:bodyPr>
          <a:lstStyle/>
          <a:p>
            <a:r>
              <a:rPr lang="en-GB"/>
              <a:t>Data and Information Management is common to many applications</a:t>
            </a:r>
          </a:p>
          <a:p>
            <a:pPr lvl="1"/>
            <a:r>
              <a:rPr lang="en-GB"/>
              <a:t>Handling and dealing with large amounts of data is required by many applications</a:t>
            </a:r>
          </a:p>
          <a:p>
            <a:pPr lvl="1"/>
            <a:r>
              <a:rPr lang="en-GB"/>
              <a:t>Access to a shared repository of data is highly beneficial to facilitate information flows between actors</a:t>
            </a:r>
          </a:p>
          <a:p>
            <a:pPr lvl="1"/>
            <a:r>
              <a:rPr lang="en-GB"/>
              <a:t>Storing, retrieving, modifying and securing are common to many application</a:t>
            </a:r>
          </a:p>
          <a:p>
            <a:pPr lvl="1"/>
            <a:r>
              <a:rPr lang="en-GB"/>
              <a:t>Databases Systems and Information Retrieval Systems provide ways to manage this data and information (efficiently)</a:t>
            </a:r>
          </a:p>
          <a:p>
            <a:pPr lvl="1"/>
            <a:endParaRPr lang="en-GB"/>
          </a:p>
          <a:p>
            <a:endParaRPr lang="en-US"/>
          </a:p>
        </p:txBody>
      </p:sp>
    </p:spTree>
    <p:extLst>
      <p:ext uri="{BB962C8B-B14F-4D97-AF65-F5344CB8AC3E}">
        <p14:creationId xmlns:p14="http://schemas.microsoft.com/office/powerpoint/2010/main" val="1536054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Data Management (2)</a:t>
            </a:r>
          </a:p>
        </p:txBody>
      </p:sp>
      <p:sp>
        <p:nvSpPr>
          <p:cNvPr id="3" name="Content Placeholder 2"/>
          <p:cNvSpPr>
            <a:spLocks noGrp="1"/>
          </p:cNvSpPr>
          <p:nvPr>
            <p:ph idx="1"/>
          </p:nvPr>
        </p:nvSpPr>
        <p:spPr>
          <a:xfrm>
            <a:off x="259175" y="1412418"/>
            <a:ext cx="8604594" cy="5105436"/>
          </a:xfrm>
        </p:spPr>
        <p:txBody>
          <a:bodyPr>
            <a:normAutofit fontScale="92500"/>
          </a:bodyPr>
          <a:lstStyle/>
          <a:p>
            <a:r>
              <a:rPr lang="en-GB"/>
              <a:t>It is </a:t>
            </a:r>
            <a:r>
              <a:rPr lang="en-GB" b="1"/>
              <a:t>hard</a:t>
            </a:r>
            <a:r>
              <a:rPr lang="en-GB"/>
              <a:t>/</a:t>
            </a:r>
            <a:r>
              <a:rPr lang="en-GB" b="1"/>
              <a:t>difficult</a:t>
            </a:r>
            <a:r>
              <a:rPr lang="en-GB"/>
              <a:t>/</a:t>
            </a:r>
            <a:r>
              <a:rPr lang="en-GB" b="1"/>
              <a:t>time</a:t>
            </a:r>
            <a:r>
              <a:rPr lang="en-GB"/>
              <a:t>-</a:t>
            </a:r>
            <a:r>
              <a:rPr lang="en-GB" b="1"/>
              <a:t>consuming</a:t>
            </a:r>
            <a:r>
              <a:rPr lang="en-GB"/>
              <a:t> to write the code which accesses large amounts of data efficiently</a:t>
            </a:r>
          </a:p>
          <a:p>
            <a:r>
              <a:rPr lang="en-GB" b="1"/>
              <a:t>Solution: Separate the concerns</a:t>
            </a:r>
          </a:p>
          <a:p>
            <a:pPr lvl="1"/>
            <a:r>
              <a:rPr lang="en-GB"/>
              <a:t>Let</a:t>
            </a:r>
            <a:r>
              <a:rPr lang="en-GB" b="1"/>
              <a:t> Database Systems</a:t>
            </a:r>
            <a:r>
              <a:rPr lang="en-GB"/>
              <a:t> to handle the data management</a:t>
            </a:r>
          </a:p>
          <a:p>
            <a:pPr lvl="1"/>
            <a:r>
              <a:rPr lang="en-GB"/>
              <a:t>And then use a </a:t>
            </a:r>
            <a:r>
              <a:rPr lang="en-GB" b="1"/>
              <a:t>Client application</a:t>
            </a:r>
            <a:r>
              <a:rPr lang="en-GB"/>
              <a:t> to interact with the database:</a:t>
            </a:r>
          </a:p>
          <a:p>
            <a:pPr lvl="2"/>
            <a:r>
              <a:rPr lang="en-GB"/>
              <a:t>The client acts like a database user sending in queries and updates and making use of the result</a:t>
            </a:r>
          </a:p>
          <a:p>
            <a:pPr lvl="2"/>
            <a:r>
              <a:rPr lang="en-GB"/>
              <a:t>The standard mechanism is to code </a:t>
            </a:r>
            <a:r>
              <a:rPr lang="en-GB" b="1"/>
              <a:t>SQL statements</a:t>
            </a:r>
            <a:r>
              <a:rPr lang="en-GB"/>
              <a:t> as strings inside the program</a:t>
            </a:r>
          </a:p>
          <a:p>
            <a:endParaRPr lang="en-US"/>
          </a:p>
        </p:txBody>
      </p:sp>
    </p:spTree>
    <p:extLst>
      <p:ext uri="{BB962C8B-B14F-4D97-AF65-F5344CB8AC3E}">
        <p14:creationId xmlns:p14="http://schemas.microsoft.com/office/powerpoint/2010/main" val="932492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Rectangle 2"/>
          <p:cNvSpPr>
            <a:spLocks noGrp="1" noChangeArrowheads="1"/>
          </p:cNvSpPr>
          <p:nvPr>
            <p:ph type="title"/>
          </p:nvPr>
        </p:nvSpPr>
        <p:spPr/>
        <p:txBody>
          <a:bodyPr/>
          <a:lstStyle/>
          <a:p>
            <a:pPr eaLnBrk="1" hangingPunct="1"/>
            <a:r>
              <a:rPr lang="en-GB"/>
              <a:t>Static Web Application</a:t>
            </a:r>
          </a:p>
        </p:txBody>
      </p:sp>
      <p:sp>
        <p:nvSpPr>
          <p:cNvPr id="30725" name="Rectangle 3"/>
          <p:cNvSpPr>
            <a:spLocks noGrp="1" noChangeArrowheads="1"/>
          </p:cNvSpPr>
          <p:nvPr>
            <p:ph type="body" idx="1"/>
          </p:nvPr>
        </p:nvSpPr>
        <p:spPr>
          <a:xfrm>
            <a:off x="304800" y="1600202"/>
            <a:ext cx="8839200" cy="4525963"/>
          </a:xfrm>
        </p:spPr>
        <p:txBody>
          <a:bodyPr>
            <a:normAutofit fontScale="92500" lnSpcReduction="20000"/>
          </a:bodyPr>
          <a:lstStyle/>
          <a:p>
            <a:r>
              <a:rPr lang="en-GB"/>
              <a:t>Static web sites consist of a set of hyper-linked HTML files</a:t>
            </a:r>
          </a:p>
          <a:p>
            <a:endParaRPr lang="en-GB"/>
          </a:p>
          <a:p>
            <a:r>
              <a:rPr lang="en-GB"/>
              <a:t>Each HTML file describes one page of the web site</a:t>
            </a:r>
          </a:p>
          <a:p>
            <a:endParaRPr lang="en-GB"/>
          </a:p>
          <a:p>
            <a:r>
              <a:rPr lang="en-GB"/>
              <a:t>Each page includes one or more links to other pages</a:t>
            </a:r>
          </a:p>
          <a:p>
            <a:endParaRPr lang="en-GB"/>
          </a:p>
          <a:p>
            <a:r>
              <a:rPr lang="en-GB"/>
              <a:t>If a user clicks a links or enters a URL then a request is sent to the web server identifying the next page to load </a:t>
            </a:r>
          </a:p>
        </p:txBody>
      </p:sp>
    </p:spTree>
    <p:extLst>
      <p:ext uri="{BB962C8B-B14F-4D97-AF65-F5344CB8AC3E}">
        <p14:creationId xmlns:p14="http://schemas.microsoft.com/office/powerpoint/2010/main" val="12740390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3"/>
          <p:cNvSpPr txBox="1">
            <a:spLocks noChangeArrowheads="1"/>
          </p:cNvSpPr>
          <p:nvPr/>
        </p:nvSpPr>
        <p:spPr>
          <a:xfrm>
            <a:off x="457200" y="1357899"/>
            <a:ext cx="8229600" cy="1438971"/>
          </a:xfrm>
          <a:prstGeom prst="rect">
            <a:avLst/>
          </a:prstGeom>
        </p:spPr>
        <p:txBody>
          <a:bodyPr>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a:t>	</a:t>
            </a:r>
            <a:r>
              <a:rPr lang="en-US" b="1"/>
              <a:t>Thin Client: </a:t>
            </a:r>
            <a:r>
              <a:rPr lang="en-US"/>
              <a:t>This is the standard architecture for serving up static content on the web.</a:t>
            </a:r>
          </a:p>
          <a:p>
            <a:pPr>
              <a:buFontTx/>
              <a:buNone/>
            </a:pPr>
            <a:r>
              <a:rPr lang="en-US"/>
              <a:t>		</a:t>
            </a:r>
          </a:p>
          <a:p>
            <a:pPr lvl="1"/>
            <a:endParaRPr lang="en-US"/>
          </a:p>
          <a:p>
            <a:pPr lvl="1"/>
            <a:endParaRPr lang="en-US"/>
          </a:p>
          <a:p>
            <a:pPr lvl="1"/>
            <a:endParaRPr lang="en-US"/>
          </a:p>
          <a:p>
            <a:pPr lvl="1"/>
            <a:endParaRPr lang="en-US"/>
          </a:p>
          <a:p>
            <a:endParaRPr lang="en-US"/>
          </a:p>
        </p:txBody>
      </p:sp>
      <p:sp>
        <p:nvSpPr>
          <p:cNvPr id="37892" name="Rectangle 2"/>
          <p:cNvSpPr>
            <a:spLocks noGrp="1" noChangeArrowheads="1"/>
          </p:cNvSpPr>
          <p:nvPr>
            <p:ph type="title"/>
          </p:nvPr>
        </p:nvSpPr>
        <p:spPr/>
        <p:txBody>
          <a:bodyPr>
            <a:normAutofit/>
          </a:bodyPr>
          <a:lstStyle/>
          <a:p>
            <a:pPr eaLnBrk="1" hangingPunct="1"/>
            <a:r>
              <a:rPr lang="en-US"/>
              <a:t>Two Tier Architecture</a:t>
            </a:r>
          </a:p>
        </p:txBody>
      </p:sp>
      <p:grpSp>
        <p:nvGrpSpPr>
          <p:cNvPr id="4" name="Group 11"/>
          <p:cNvGrpSpPr>
            <a:grpSpLocks/>
          </p:cNvGrpSpPr>
          <p:nvPr/>
        </p:nvGrpSpPr>
        <p:grpSpPr bwMode="auto">
          <a:xfrm>
            <a:off x="3223952" y="2464100"/>
            <a:ext cx="1970088" cy="962026"/>
            <a:chOff x="1351" y="1506"/>
            <a:chExt cx="1241" cy="606"/>
          </a:xfrm>
        </p:grpSpPr>
        <p:sp>
          <p:nvSpPr>
            <p:cNvPr id="37901" name="Text Box 12"/>
            <p:cNvSpPr txBox="1">
              <a:spLocks noChangeArrowheads="1"/>
            </p:cNvSpPr>
            <p:nvPr/>
          </p:nvSpPr>
          <p:spPr bwMode="auto">
            <a:xfrm>
              <a:off x="1351" y="1506"/>
              <a:ext cx="851" cy="233"/>
            </a:xfrm>
            <a:prstGeom prst="rect">
              <a:avLst/>
            </a:prstGeom>
            <a:noFill/>
            <a:ln w="9525">
              <a:noFill/>
              <a:miter lim="800000"/>
              <a:headEnd/>
              <a:tailEnd/>
            </a:ln>
          </p:spPr>
          <p:txBody>
            <a:bodyPr wrap="none">
              <a:prstTxWarp prst="textNoShape">
                <a:avLst/>
              </a:prstTxWarp>
              <a:spAutoFit/>
            </a:bodyPr>
            <a:lstStyle/>
            <a:p>
              <a:pPr eaLnBrk="0" hangingPunct="0"/>
              <a:r>
                <a:rPr lang="en-US" b="0">
                  <a:solidFill>
                    <a:srgbClr val="FF0000"/>
                  </a:solidFill>
                </a:rPr>
                <a:t>The Request</a:t>
              </a:r>
              <a:endParaRPr lang="en-US" b="0"/>
            </a:p>
          </p:txBody>
        </p:sp>
        <p:sp>
          <p:nvSpPr>
            <p:cNvPr id="37902" name="Line 13"/>
            <p:cNvSpPr>
              <a:spLocks noChangeShapeType="1"/>
            </p:cNvSpPr>
            <p:nvPr/>
          </p:nvSpPr>
          <p:spPr bwMode="auto">
            <a:xfrm>
              <a:off x="2256" y="1680"/>
              <a:ext cx="336" cy="432"/>
            </a:xfrm>
            <a:prstGeom prst="line">
              <a:avLst/>
            </a:prstGeom>
            <a:noFill/>
            <a:ln w="9525">
              <a:solidFill>
                <a:schemeClr val="tx1"/>
              </a:solidFill>
              <a:round/>
              <a:headEnd/>
              <a:tailEnd type="triangle" w="med" len="med"/>
            </a:ln>
          </p:spPr>
          <p:txBody>
            <a:bodyPr wrap="none" anchor="ctr">
              <a:prstTxWarp prst="textNoShape">
                <a:avLst/>
              </a:prstTxWarp>
            </a:bodyPr>
            <a:lstStyle/>
            <a:p>
              <a:endParaRPr lang="en-US"/>
            </a:p>
          </p:txBody>
        </p:sp>
      </p:grpSp>
      <p:grpSp>
        <p:nvGrpSpPr>
          <p:cNvPr id="5" name="Group 14"/>
          <p:cNvGrpSpPr>
            <a:grpSpLocks/>
          </p:cNvGrpSpPr>
          <p:nvPr/>
        </p:nvGrpSpPr>
        <p:grpSpPr bwMode="auto">
          <a:xfrm>
            <a:off x="3425565" y="4931036"/>
            <a:ext cx="1768475" cy="944563"/>
            <a:chOff x="1382" y="2976"/>
            <a:chExt cx="1114" cy="595"/>
          </a:xfrm>
        </p:grpSpPr>
        <p:sp>
          <p:nvSpPr>
            <p:cNvPr id="37899" name="Text Box 15"/>
            <p:cNvSpPr txBox="1">
              <a:spLocks noChangeArrowheads="1"/>
            </p:cNvSpPr>
            <p:nvPr/>
          </p:nvSpPr>
          <p:spPr bwMode="auto">
            <a:xfrm>
              <a:off x="1382" y="3338"/>
              <a:ext cx="936" cy="233"/>
            </a:xfrm>
            <a:prstGeom prst="rect">
              <a:avLst/>
            </a:prstGeom>
            <a:noFill/>
            <a:ln w="9525">
              <a:noFill/>
              <a:miter lim="800000"/>
              <a:headEnd/>
              <a:tailEnd/>
            </a:ln>
          </p:spPr>
          <p:txBody>
            <a:bodyPr wrap="none">
              <a:prstTxWarp prst="textNoShape">
                <a:avLst/>
              </a:prstTxWarp>
              <a:spAutoFit/>
            </a:bodyPr>
            <a:lstStyle/>
            <a:p>
              <a:pPr eaLnBrk="0" hangingPunct="0"/>
              <a:r>
                <a:rPr lang="en-US" b="0">
                  <a:solidFill>
                    <a:srgbClr val="FF0000"/>
                  </a:solidFill>
                </a:rPr>
                <a:t>The Response</a:t>
              </a:r>
              <a:endParaRPr lang="en-US" b="0"/>
            </a:p>
          </p:txBody>
        </p:sp>
        <p:sp>
          <p:nvSpPr>
            <p:cNvPr id="37900" name="Line 16"/>
            <p:cNvSpPr>
              <a:spLocks noChangeShapeType="1"/>
            </p:cNvSpPr>
            <p:nvPr/>
          </p:nvSpPr>
          <p:spPr bwMode="auto">
            <a:xfrm flipV="1">
              <a:off x="2064" y="2976"/>
              <a:ext cx="432" cy="336"/>
            </a:xfrm>
            <a:prstGeom prst="line">
              <a:avLst/>
            </a:prstGeom>
            <a:noFill/>
            <a:ln w="9525">
              <a:solidFill>
                <a:schemeClr val="tx1"/>
              </a:solidFill>
              <a:round/>
              <a:headEnd/>
              <a:tailEnd type="triangle" w="med" len="med"/>
            </a:ln>
          </p:spPr>
          <p:txBody>
            <a:bodyPr wrap="none" anchor="ctr">
              <a:prstTxWarp prst="textNoShape">
                <a:avLst/>
              </a:prstTxWarp>
            </a:bodyPr>
            <a:lstStyle/>
            <a:p>
              <a:endParaRPr lang="en-US"/>
            </a:p>
          </p:txBody>
        </p:sp>
      </p:grpSp>
      <p:pic>
        <p:nvPicPr>
          <p:cNvPr id="7" name="Picture 6" descr="2-tier-thin.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705" y="3543989"/>
            <a:ext cx="8010196" cy="1387047"/>
          </a:xfrm>
          <a:prstGeom prst="rect">
            <a:avLst/>
          </a:prstGeom>
        </p:spPr>
      </p:pic>
    </p:spTree>
    <p:extLst>
      <p:ext uri="{BB962C8B-B14F-4D97-AF65-F5344CB8AC3E}">
        <p14:creationId xmlns:p14="http://schemas.microsoft.com/office/powerpoint/2010/main" val="566086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4" name="Rectangle 2"/>
          <p:cNvSpPr>
            <a:spLocks noGrp="1" noChangeArrowheads="1"/>
          </p:cNvSpPr>
          <p:nvPr>
            <p:ph type="title"/>
          </p:nvPr>
        </p:nvSpPr>
        <p:spPr/>
        <p:txBody>
          <a:bodyPr>
            <a:normAutofit/>
          </a:bodyPr>
          <a:lstStyle/>
          <a:p>
            <a:pPr eaLnBrk="1" hangingPunct="1"/>
            <a:r>
              <a:rPr lang="en-US"/>
              <a:t>Style and Substance</a:t>
            </a:r>
          </a:p>
        </p:txBody>
      </p:sp>
      <p:sp>
        <p:nvSpPr>
          <p:cNvPr id="40965" name="Rectangle 3"/>
          <p:cNvSpPr>
            <a:spLocks noGrp="1" noChangeArrowheads="1"/>
          </p:cNvSpPr>
          <p:nvPr>
            <p:ph type="body" idx="1"/>
          </p:nvPr>
        </p:nvSpPr>
        <p:spPr/>
        <p:txBody>
          <a:bodyPr>
            <a:normAutofit fontScale="85000" lnSpcReduction="10000"/>
          </a:bodyPr>
          <a:lstStyle/>
          <a:p>
            <a:r>
              <a:rPr lang="en-US"/>
              <a:t>Initially, the HTML files contained all the information on how to render the page</a:t>
            </a:r>
          </a:p>
          <a:p>
            <a:pPr lvl="1"/>
            <a:r>
              <a:rPr lang="en-US"/>
              <a:t>The text/data (html) and the style (</a:t>
            </a:r>
            <a:r>
              <a:rPr lang="en-US" err="1"/>
              <a:t>css</a:t>
            </a:r>
            <a:r>
              <a:rPr lang="en-US"/>
              <a:t>), </a:t>
            </a:r>
          </a:p>
          <a:p>
            <a:r>
              <a:rPr lang="en-US"/>
              <a:t>With lots of pages there is lots of overhead in creating and maintaining the site.</a:t>
            </a:r>
          </a:p>
          <a:p>
            <a:r>
              <a:rPr lang="en-US" b="1"/>
              <a:t>Solution: Separate the concerns</a:t>
            </a:r>
          </a:p>
          <a:p>
            <a:pPr lvl="1" eaLnBrk="1" hangingPunct="1"/>
            <a:r>
              <a:rPr lang="en-US"/>
              <a:t>Use external Cascading Style Sheets (CSS) which act upon the different elements in the html.</a:t>
            </a:r>
          </a:p>
          <a:p>
            <a:pPr lvl="1" eaLnBrk="1" hangingPunct="1"/>
            <a:r>
              <a:rPr lang="en-US"/>
              <a:t>The web server/application returns a html file and </a:t>
            </a:r>
            <a:r>
              <a:rPr lang="en-US" err="1"/>
              <a:t>css</a:t>
            </a:r>
            <a:r>
              <a:rPr lang="en-US"/>
              <a:t> file.</a:t>
            </a:r>
          </a:p>
          <a:p>
            <a:pPr lvl="1"/>
            <a:r>
              <a:rPr lang="en-US"/>
              <a:t>i.e. one to hold the Content and one to represent the Style</a:t>
            </a:r>
          </a:p>
        </p:txBody>
      </p:sp>
    </p:spTree>
    <p:extLst>
      <p:ext uri="{BB962C8B-B14F-4D97-AF65-F5344CB8AC3E}">
        <p14:creationId xmlns:p14="http://schemas.microsoft.com/office/powerpoint/2010/main" val="2787482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3"/>
          <p:cNvSpPr txBox="1">
            <a:spLocks noChangeArrowheads="1"/>
          </p:cNvSpPr>
          <p:nvPr/>
        </p:nvSpPr>
        <p:spPr>
          <a:xfrm>
            <a:off x="457200" y="1357899"/>
            <a:ext cx="8229600" cy="1438971"/>
          </a:xfrm>
          <a:prstGeom prst="rect">
            <a:avLst/>
          </a:prstGeom>
        </p:spPr>
        <p:txBody>
          <a:bodyPr>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a:t>	</a:t>
            </a:r>
            <a:r>
              <a:rPr lang="en-US" b="1"/>
              <a:t>Extended Thin Client: </a:t>
            </a:r>
            <a:r>
              <a:rPr lang="en-US"/>
              <a:t>Layers within the client tier handles the content and look/feel.</a:t>
            </a:r>
          </a:p>
          <a:p>
            <a:pPr>
              <a:buFontTx/>
              <a:buNone/>
            </a:pPr>
            <a:r>
              <a:rPr lang="en-US"/>
              <a:t>		</a:t>
            </a:r>
          </a:p>
          <a:p>
            <a:pPr lvl="1"/>
            <a:endParaRPr lang="en-US"/>
          </a:p>
          <a:p>
            <a:pPr lvl="1"/>
            <a:endParaRPr lang="en-US"/>
          </a:p>
          <a:p>
            <a:pPr lvl="1"/>
            <a:endParaRPr lang="en-US"/>
          </a:p>
          <a:p>
            <a:pPr lvl="1"/>
            <a:endParaRPr lang="en-US"/>
          </a:p>
          <a:p>
            <a:endParaRPr lang="en-US"/>
          </a:p>
        </p:txBody>
      </p:sp>
      <p:sp>
        <p:nvSpPr>
          <p:cNvPr id="37892" name="Rectangle 2"/>
          <p:cNvSpPr>
            <a:spLocks noGrp="1" noChangeArrowheads="1"/>
          </p:cNvSpPr>
          <p:nvPr>
            <p:ph type="title"/>
          </p:nvPr>
        </p:nvSpPr>
        <p:spPr/>
        <p:txBody>
          <a:bodyPr>
            <a:normAutofit/>
          </a:bodyPr>
          <a:lstStyle/>
          <a:p>
            <a:pPr eaLnBrk="1" hangingPunct="1"/>
            <a:r>
              <a:rPr lang="en-US"/>
              <a:t>Two Tier with Layers</a:t>
            </a:r>
          </a:p>
        </p:txBody>
      </p:sp>
      <p:sp>
        <p:nvSpPr>
          <p:cNvPr id="25" name="Rectangle 3"/>
          <p:cNvSpPr txBox="1">
            <a:spLocks noChangeArrowheads="1"/>
          </p:cNvSpPr>
          <p:nvPr/>
        </p:nvSpPr>
        <p:spPr>
          <a:xfrm>
            <a:off x="609600" y="4866542"/>
            <a:ext cx="8229600" cy="1438971"/>
          </a:xfrm>
          <a:prstGeom prst="rect">
            <a:avLst/>
          </a:prstGeom>
        </p:spPr>
        <p:txBody>
          <a:bodyPr>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a:t>The </a:t>
            </a:r>
            <a:r>
              <a:rPr lang="en-US" b="1"/>
              <a:t>content layer </a:t>
            </a:r>
            <a:r>
              <a:rPr lang="en-US"/>
              <a:t>represents/stores the data</a:t>
            </a:r>
          </a:p>
          <a:p>
            <a:pPr>
              <a:buFontTx/>
              <a:buNone/>
            </a:pPr>
            <a:r>
              <a:rPr lang="en-US"/>
              <a:t>The </a:t>
            </a:r>
            <a:r>
              <a:rPr lang="en-US" b="1"/>
              <a:t>presentation layer </a:t>
            </a:r>
            <a:r>
              <a:rPr lang="en-US"/>
              <a:t>renders the data</a:t>
            </a:r>
          </a:p>
          <a:p>
            <a:pPr>
              <a:buFontTx/>
              <a:buNone/>
            </a:pPr>
            <a:r>
              <a:rPr lang="en-US"/>
              <a:t>		</a:t>
            </a:r>
          </a:p>
          <a:p>
            <a:pPr lvl="1"/>
            <a:endParaRPr lang="en-US"/>
          </a:p>
          <a:p>
            <a:pPr lvl="1"/>
            <a:endParaRPr lang="en-US"/>
          </a:p>
          <a:p>
            <a:pPr lvl="1"/>
            <a:endParaRPr lang="en-US"/>
          </a:p>
          <a:p>
            <a:pPr lvl="1"/>
            <a:endParaRPr lang="en-US"/>
          </a:p>
          <a:p>
            <a:endParaRPr lang="en-US"/>
          </a:p>
        </p:txBody>
      </p:sp>
      <p:pic>
        <p:nvPicPr>
          <p:cNvPr id="9" name="Picture 8" descr="2-tier-fat-2.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2645689"/>
            <a:ext cx="8077200" cy="1923143"/>
          </a:xfrm>
          <a:prstGeom prst="rect">
            <a:avLst/>
          </a:prstGeom>
        </p:spPr>
      </p:pic>
    </p:spTree>
    <p:extLst>
      <p:ext uri="{BB962C8B-B14F-4D97-AF65-F5344CB8AC3E}">
        <p14:creationId xmlns:p14="http://schemas.microsoft.com/office/powerpoint/2010/main" val="5742513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p:txBody>
          <a:bodyPr>
            <a:normAutofit/>
          </a:bodyPr>
          <a:lstStyle/>
          <a:p>
            <a:pPr eaLnBrk="1" hangingPunct="1"/>
            <a:r>
              <a:rPr lang="en-US"/>
              <a:t>Two Tier with Layers &amp; Servers</a:t>
            </a:r>
          </a:p>
        </p:txBody>
      </p:sp>
      <p:pic>
        <p:nvPicPr>
          <p:cNvPr id="6" name="Picture 5" descr="2-tier-fa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6335" y="2921102"/>
            <a:ext cx="7745664" cy="1844205"/>
          </a:xfrm>
          <a:prstGeom prst="rect">
            <a:avLst/>
          </a:prstGeom>
        </p:spPr>
      </p:pic>
      <p:sp>
        <p:nvSpPr>
          <p:cNvPr id="22" name="Rectangle 3"/>
          <p:cNvSpPr txBox="1">
            <a:spLocks noChangeArrowheads="1"/>
          </p:cNvSpPr>
          <p:nvPr/>
        </p:nvSpPr>
        <p:spPr>
          <a:xfrm>
            <a:off x="457200" y="1357899"/>
            <a:ext cx="8229600" cy="2077215"/>
          </a:xfrm>
          <a:prstGeom prst="rect">
            <a:avLst/>
          </a:prstGeom>
        </p:spPr>
        <p:txBody>
          <a:bodyPr>
            <a:normAutofit fontScale="6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sz="4800"/>
              <a:t>	</a:t>
            </a:r>
            <a:r>
              <a:rPr lang="en-US" sz="4800" b="1"/>
              <a:t>Extended Thin Client and Extended Server: </a:t>
            </a:r>
            <a:r>
              <a:rPr lang="en-US" sz="4800"/>
              <a:t>Layers within the client tier handles the content and look/feel. The server now houses a web server and an application server.</a:t>
            </a:r>
          </a:p>
          <a:p>
            <a:pPr>
              <a:buFontTx/>
              <a:buNone/>
            </a:pPr>
            <a:r>
              <a:rPr lang="en-US"/>
              <a:t>		</a:t>
            </a:r>
          </a:p>
          <a:p>
            <a:pPr lvl="1"/>
            <a:endParaRPr lang="en-US"/>
          </a:p>
          <a:p>
            <a:pPr lvl="1"/>
            <a:endParaRPr lang="en-US"/>
          </a:p>
          <a:p>
            <a:pPr lvl="1"/>
            <a:endParaRPr lang="en-US"/>
          </a:p>
          <a:p>
            <a:pPr lvl="1"/>
            <a:endParaRPr lang="en-US"/>
          </a:p>
          <a:p>
            <a:endParaRPr lang="en-US"/>
          </a:p>
        </p:txBody>
      </p:sp>
      <p:sp>
        <p:nvSpPr>
          <p:cNvPr id="23" name="Rectangle 3"/>
          <p:cNvSpPr txBox="1">
            <a:spLocks noChangeArrowheads="1"/>
          </p:cNvSpPr>
          <p:nvPr/>
        </p:nvSpPr>
        <p:spPr>
          <a:xfrm>
            <a:off x="609600" y="4812561"/>
            <a:ext cx="8229600" cy="2077215"/>
          </a:xfrm>
          <a:prstGeom prst="rect">
            <a:avLst/>
          </a:prstGeom>
        </p:spPr>
        <p:txBody>
          <a:bodyPr>
            <a:normAutofit fontScale="550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sz="4800"/>
              <a:t>	</a:t>
            </a:r>
            <a:r>
              <a:rPr lang="en-US" sz="4800" b="1"/>
              <a:t>Web Server </a:t>
            </a:r>
            <a:r>
              <a:rPr lang="en-US" sz="4800"/>
              <a:t>handles incoming requests and send outgoing responses, routing them to/from the correct application server</a:t>
            </a:r>
          </a:p>
          <a:p>
            <a:pPr>
              <a:buFontTx/>
              <a:buNone/>
            </a:pPr>
            <a:r>
              <a:rPr lang="en-US" sz="4800"/>
              <a:t>	</a:t>
            </a:r>
            <a:r>
              <a:rPr lang="en-US" sz="4800" b="1"/>
              <a:t>Application Server</a:t>
            </a:r>
            <a:r>
              <a:rPr lang="en-US" sz="4800"/>
              <a:t> is typically a script that dynamically generates a response given a request</a:t>
            </a:r>
          </a:p>
          <a:p>
            <a:pPr>
              <a:buFontTx/>
              <a:buNone/>
            </a:pPr>
            <a:r>
              <a:rPr lang="en-US"/>
              <a:t>		</a:t>
            </a:r>
          </a:p>
          <a:p>
            <a:pPr lvl="1"/>
            <a:endParaRPr lang="en-US"/>
          </a:p>
          <a:p>
            <a:pPr lvl="1"/>
            <a:endParaRPr lang="en-US"/>
          </a:p>
          <a:p>
            <a:pPr lvl="1"/>
            <a:endParaRPr lang="en-US"/>
          </a:p>
          <a:p>
            <a:pPr lvl="1"/>
            <a:endParaRPr lang="en-US"/>
          </a:p>
          <a:p>
            <a:endParaRPr lang="en-US"/>
          </a:p>
        </p:txBody>
      </p:sp>
    </p:spTree>
    <p:extLst>
      <p:ext uri="{BB962C8B-B14F-4D97-AF65-F5344CB8AC3E}">
        <p14:creationId xmlns:p14="http://schemas.microsoft.com/office/powerpoint/2010/main" val="28899886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Two Tier Issues</a:t>
            </a:r>
          </a:p>
        </p:txBody>
      </p:sp>
      <p:sp>
        <p:nvSpPr>
          <p:cNvPr id="3" name="Content Placeholder 2"/>
          <p:cNvSpPr>
            <a:spLocks noGrp="1"/>
          </p:cNvSpPr>
          <p:nvPr>
            <p:ph idx="1"/>
          </p:nvPr>
        </p:nvSpPr>
        <p:spPr/>
        <p:txBody>
          <a:bodyPr>
            <a:normAutofit lnSpcReduction="10000"/>
          </a:bodyPr>
          <a:lstStyle/>
          <a:p>
            <a:r>
              <a:rPr lang="en-GB"/>
              <a:t>Distributed applications with a </a:t>
            </a:r>
            <a:r>
              <a:rPr lang="en-GB" b="1"/>
              <a:t>two-tiered architecture</a:t>
            </a:r>
            <a:r>
              <a:rPr lang="en-GB"/>
              <a:t> distinguish only:</a:t>
            </a:r>
            <a:endParaRPr lang="en-GB" b="1"/>
          </a:p>
          <a:p>
            <a:pPr lvl="1"/>
            <a:r>
              <a:rPr lang="en-GB" b="1"/>
              <a:t>client</a:t>
            </a:r>
            <a:r>
              <a:rPr lang="en-GB"/>
              <a:t> processes – control the application logic and the user interface</a:t>
            </a:r>
            <a:endParaRPr lang="en-GB" b="1"/>
          </a:p>
          <a:p>
            <a:pPr lvl="1"/>
            <a:r>
              <a:rPr lang="en-GB" b="1"/>
              <a:t>server</a:t>
            </a:r>
            <a:r>
              <a:rPr lang="en-GB"/>
              <a:t> processes – supply resources, such as data, to the clients</a:t>
            </a:r>
          </a:p>
          <a:p>
            <a:pPr lvl="1"/>
            <a:r>
              <a:rPr lang="en-GB"/>
              <a:t>however this:</a:t>
            </a:r>
          </a:p>
          <a:p>
            <a:pPr lvl="2"/>
            <a:r>
              <a:rPr lang="en-GB"/>
              <a:t>puts a lot of the load on the client</a:t>
            </a:r>
          </a:p>
          <a:p>
            <a:pPr lvl="2"/>
            <a:r>
              <a:rPr lang="en-GB"/>
              <a:t>ties the client software to the database software so changes in each affect the other</a:t>
            </a:r>
          </a:p>
          <a:p>
            <a:pPr marL="0" indent="0">
              <a:buNone/>
            </a:pPr>
            <a:endParaRPr lang="en-US"/>
          </a:p>
        </p:txBody>
      </p:sp>
    </p:spTree>
    <p:extLst>
      <p:ext uri="{BB962C8B-B14F-4D97-AF65-F5344CB8AC3E}">
        <p14:creationId xmlns:p14="http://schemas.microsoft.com/office/powerpoint/2010/main" val="14616423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00" name="Rectangle 2"/>
          <p:cNvSpPr>
            <a:spLocks noGrp="1" noChangeArrowheads="1"/>
          </p:cNvSpPr>
          <p:nvPr>
            <p:ph type="title"/>
          </p:nvPr>
        </p:nvSpPr>
        <p:spPr>
          <a:xfrm>
            <a:off x="0" y="-1"/>
            <a:ext cx="9144000" cy="1023679"/>
          </a:xfrm>
        </p:spPr>
        <p:txBody>
          <a:bodyPr>
            <a:normAutofit/>
          </a:bodyPr>
          <a:lstStyle/>
          <a:p>
            <a:pPr eaLnBrk="1" hangingPunct="1"/>
            <a:r>
              <a:rPr lang="en-GB"/>
              <a:t>Further Tiered Architectures</a:t>
            </a:r>
          </a:p>
        </p:txBody>
      </p:sp>
      <p:sp>
        <p:nvSpPr>
          <p:cNvPr id="135171" name="Rectangle 3"/>
          <p:cNvSpPr>
            <a:spLocks noGrp="1" noChangeArrowheads="1"/>
          </p:cNvSpPr>
          <p:nvPr>
            <p:ph type="body" sz="half" idx="1"/>
          </p:nvPr>
        </p:nvSpPr>
        <p:spPr>
          <a:xfrm>
            <a:off x="685801" y="1108770"/>
            <a:ext cx="8062913" cy="5181600"/>
          </a:xfrm>
        </p:spPr>
        <p:txBody>
          <a:bodyPr>
            <a:normAutofit/>
          </a:bodyPr>
          <a:lstStyle/>
          <a:p>
            <a:pPr>
              <a:spcBef>
                <a:spcPct val="50000"/>
              </a:spcBef>
            </a:pPr>
            <a:r>
              <a:rPr lang="en-GB"/>
              <a:t>An improvement is to separate the application into </a:t>
            </a:r>
            <a:r>
              <a:rPr lang="en-GB" b="1"/>
              <a:t>three (or N-) tiers</a:t>
            </a:r>
            <a:r>
              <a:rPr lang="en-GB"/>
              <a:t>:</a:t>
            </a:r>
            <a:endParaRPr lang="en-GB" b="1"/>
          </a:p>
          <a:p>
            <a:pPr lvl="1" eaLnBrk="1" hangingPunct="1"/>
            <a:r>
              <a:rPr lang="en-GB" b="1"/>
              <a:t>presentation</a:t>
            </a:r>
            <a:r>
              <a:rPr lang="en-GB"/>
              <a:t> processes deal exclusively with the user interface – this might, for instance, be through the use of a browser or other user agent</a:t>
            </a:r>
            <a:endParaRPr lang="en-GB" b="1"/>
          </a:p>
          <a:p>
            <a:pPr lvl="1" eaLnBrk="1" hangingPunct="1"/>
            <a:r>
              <a:rPr lang="en-GB" b="1"/>
              <a:t>application </a:t>
            </a:r>
            <a:r>
              <a:rPr lang="en-GB"/>
              <a:t>processes deal with the logic of the application, queries, calculations, etc. – there is either one (3-tier) or more (N-tier) of such processes</a:t>
            </a:r>
            <a:endParaRPr lang="en-GB" b="1"/>
          </a:p>
          <a:p>
            <a:pPr lvl="1" eaLnBrk="1" hangingPunct="1"/>
            <a:r>
              <a:rPr lang="en-GB" b="1"/>
              <a:t>data source</a:t>
            </a:r>
            <a:r>
              <a:rPr lang="en-GB"/>
              <a:t> processes supply the data from a database (binary) or a file (for instance, XML)</a:t>
            </a:r>
          </a:p>
        </p:txBody>
      </p:sp>
    </p:spTree>
    <p:extLst>
      <p:ext uri="{BB962C8B-B14F-4D97-AF65-F5344CB8AC3E}">
        <p14:creationId xmlns:p14="http://schemas.microsoft.com/office/powerpoint/2010/main" val="18247265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3- To N-Tier Architectures</a:t>
            </a:r>
          </a:p>
        </p:txBody>
      </p:sp>
      <p:sp>
        <p:nvSpPr>
          <p:cNvPr id="3" name="Text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8043760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4" name="Rectangle 2"/>
          <p:cNvSpPr>
            <a:spLocks noGrp="1" noChangeArrowheads="1"/>
          </p:cNvSpPr>
          <p:nvPr>
            <p:ph type="title"/>
          </p:nvPr>
        </p:nvSpPr>
        <p:spPr/>
        <p:txBody>
          <a:bodyPr>
            <a:normAutofit/>
          </a:bodyPr>
          <a:lstStyle/>
          <a:p>
            <a:pPr eaLnBrk="1" hangingPunct="1"/>
            <a:r>
              <a:rPr lang="en-US"/>
              <a:t>Three Tier Architecture</a:t>
            </a:r>
          </a:p>
        </p:txBody>
      </p:sp>
      <p:pic>
        <p:nvPicPr>
          <p:cNvPr id="6" name="Picture 5" descr="3-tier.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7880" y="2874456"/>
            <a:ext cx="8697848" cy="1421217"/>
          </a:xfrm>
          <a:prstGeom prst="rect">
            <a:avLst/>
          </a:prstGeom>
        </p:spPr>
      </p:pic>
      <p:sp>
        <p:nvSpPr>
          <p:cNvPr id="22" name="Rectangle 3"/>
          <p:cNvSpPr txBox="1">
            <a:spLocks noChangeArrowheads="1"/>
          </p:cNvSpPr>
          <p:nvPr/>
        </p:nvSpPr>
        <p:spPr>
          <a:xfrm>
            <a:off x="457200" y="1357900"/>
            <a:ext cx="8229600" cy="1662767"/>
          </a:xfrm>
          <a:prstGeom prst="rect">
            <a:avLst/>
          </a:prstGeom>
        </p:spPr>
        <p:txBody>
          <a:bodyPr>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a:t>	</a:t>
            </a:r>
            <a:r>
              <a:rPr lang="en-US" b="1"/>
              <a:t>Basic Three Tier Architecture: </a:t>
            </a:r>
            <a:r>
              <a:rPr lang="en-US"/>
              <a:t>where the client handle the interaction with the user, the middleware handles the application logic, and the database stores the data.</a:t>
            </a:r>
          </a:p>
          <a:p>
            <a:pPr lvl="1"/>
            <a:endParaRPr lang="en-US"/>
          </a:p>
          <a:p>
            <a:pPr lvl="1"/>
            <a:endParaRPr lang="en-US"/>
          </a:p>
          <a:p>
            <a:pPr lvl="1"/>
            <a:endParaRPr lang="en-US"/>
          </a:p>
          <a:p>
            <a:endParaRPr lang="en-US"/>
          </a:p>
        </p:txBody>
      </p:sp>
      <p:sp>
        <p:nvSpPr>
          <p:cNvPr id="23" name="Rectangle 3"/>
          <p:cNvSpPr txBox="1">
            <a:spLocks noChangeArrowheads="1"/>
          </p:cNvSpPr>
          <p:nvPr/>
        </p:nvSpPr>
        <p:spPr>
          <a:xfrm>
            <a:off x="354662" y="4485232"/>
            <a:ext cx="8484538" cy="2185407"/>
          </a:xfrm>
          <a:prstGeom prst="rect">
            <a:avLst/>
          </a:prstGeom>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sz="2000" b="1"/>
              <a:t>	</a:t>
            </a:r>
            <a:r>
              <a:rPr lang="en-US" sz="2400" b="1"/>
              <a:t>Database: </a:t>
            </a:r>
            <a:r>
              <a:rPr lang="en-US" sz="2400"/>
              <a:t>persists and manages the data associated with the application.</a:t>
            </a:r>
          </a:p>
          <a:p>
            <a:pPr>
              <a:buFontTx/>
              <a:buNone/>
            </a:pPr>
            <a:endParaRPr lang="en-US" sz="2400"/>
          </a:p>
          <a:p>
            <a:pPr>
              <a:buFontTx/>
              <a:buNone/>
            </a:pPr>
            <a:r>
              <a:rPr lang="en-US" sz="2000"/>
              <a:t>		</a:t>
            </a:r>
          </a:p>
          <a:p>
            <a:pPr lvl="1"/>
            <a:endParaRPr lang="en-US" sz="2000"/>
          </a:p>
          <a:p>
            <a:pPr lvl="1"/>
            <a:endParaRPr lang="en-US" sz="2000"/>
          </a:p>
          <a:p>
            <a:pPr lvl="1"/>
            <a:endParaRPr lang="en-US" sz="2000"/>
          </a:p>
          <a:p>
            <a:pPr lvl="1"/>
            <a:endParaRPr lang="en-US" sz="2000"/>
          </a:p>
          <a:p>
            <a:endParaRPr lang="en-US" sz="2000"/>
          </a:p>
        </p:txBody>
      </p:sp>
    </p:spTree>
    <p:extLst>
      <p:ext uri="{BB962C8B-B14F-4D97-AF65-F5344CB8AC3E}">
        <p14:creationId xmlns:p14="http://schemas.microsoft.com/office/powerpoint/2010/main" val="7669904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3-tier-expanded-2.png"/>
          <p:cNvPicPr>
            <a:picLocks noChangeAspect="1"/>
          </p:cNvPicPr>
          <p:nvPr/>
        </p:nvPicPr>
        <p:blipFill rotWithShape="1">
          <a:blip r:embed="rId2">
            <a:extLst>
              <a:ext uri="{28A0092B-C50C-407E-A947-70E740481C1C}">
                <a14:useLocalDpi xmlns:a14="http://schemas.microsoft.com/office/drawing/2010/main" val="0"/>
              </a:ext>
            </a:extLst>
          </a:blip>
          <a:srcRect l="32824" r="12616"/>
          <a:stretch/>
        </p:blipFill>
        <p:spPr>
          <a:xfrm>
            <a:off x="4728309" y="2645318"/>
            <a:ext cx="3958491" cy="3954042"/>
          </a:xfrm>
          <a:prstGeom prst="rect">
            <a:avLst/>
          </a:prstGeom>
        </p:spPr>
      </p:pic>
      <p:sp>
        <p:nvSpPr>
          <p:cNvPr id="2" name="Title 1"/>
          <p:cNvSpPr>
            <a:spLocks noGrp="1"/>
          </p:cNvSpPr>
          <p:nvPr>
            <p:ph type="title"/>
          </p:nvPr>
        </p:nvSpPr>
        <p:spPr/>
        <p:txBody>
          <a:bodyPr/>
          <a:lstStyle/>
          <a:p>
            <a:r>
              <a:rPr lang="en-US"/>
              <a:t> Middleware (Zoomed in)</a:t>
            </a:r>
          </a:p>
        </p:txBody>
      </p:sp>
      <p:sp>
        <p:nvSpPr>
          <p:cNvPr id="3" name="Content Placeholder 2"/>
          <p:cNvSpPr>
            <a:spLocks noGrp="1"/>
          </p:cNvSpPr>
          <p:nvPr>
            <p:ph idx="1"/>
          </p:nvPr>
        </p:nvSpPr>
        <p:spPr>
          <a:xfrm>
            <a:off x="457200" y="1348478"/>
            <a:ext cx="8229600" cy="1546328"/>
          </a:xfrm>
        </p:spPr>
        <p:txBody>
          <a:bodyPr>
            <a:normAutofit/>
          </a:bodyPr>
          <a:lstStyle/>
          <a:p>
            <a:pPr marL="0" indent="0">
              <a:buNone/>
            </a:pPr>
            <a:r>
              <a:rPr lang="en-US" sz="2800"/>
              <a:t>Within the middleware tier, usually there is a webserver, an application server, and potential media servers. </a:t>
            </a:r>
          </a:p>
          <a:p>
            <a:pPr marL="0" indent="0">
              <a:buNone/>
            </a:pPr>
            <a:endParaRPr lang="en-US" sz="2800"/>
          </a:p>
          <a:p>
            <a:endParaRPr lang="en-US" sz="2800"/>
          </a:p>
        </p:txBody>
      </p:sp>
      <p:sp>
        <p:nvSpPr>
          <p:cNvPr id="5" name="Content Placeholder 2"/>
          <p:cNvSpPr txBox="1">
            <a:spLocks/>
          </p:cNvSpPr>
          <p:nvPr/>
        </p:nvSpPr>
        <p:spPr>
          <a:xfrm>
            <a:off x="609600" y="3285817"/>
            <a:ext cx="3875164" cy="3041563"/>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2800" b="1"/>
              <a:t>Webserver</a:t>
            </a:r>
            <a:r>
              <a:rPr lang="en-US" sz="2800"/>
              <a:t>: handles incoming responses, directing them to the appropriate server.</a:t>
            </a:r>
          </a:p>
          <a:p>
            <a:pPr marL="0" indent="0">
              <a:buFont typeface="Arial"/>
              <a:buNone/>
            </a:pPr>
            <a:endParaRPr lang="en-US" sz="2800"/>
          </a:p>
          <a:p>
            <a:pPr marL="0" indent="0">
              <a:buNone/>
            </a:pPr>
            <a:r>
              <a:rPr lang="en-US" sz="2800"/>
              <a:t>Servers could be on the same machine or different machines.</a:t>
            </a:r>
          </a:p>
        </p:txBody>
      </p:sp>
    </p:spTree>
    <p:extLst>
      <p:ext uri="{BB962C8B-B14F-4D97-AF65-F5344CB8AC3E}">
        <p14:creationId xmlns:p14="http://schemas.microsoft.com/office/powerpoint/2010/main" val="4553528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4" name="Rectangle 2"/>
          <p:cNvSpPr>
            <a:spLocks noGrp="1" noChangeArrowheads="1"/>
          </p:cNvSpPr>
          <p:nvPr>
            <p:ph type="title"/>
          </p:nvPr>
        </p:nvSpPr>
        <p:spPr>
          <a:xfrm>
            <a:off x="0" y="-5794"/>
            <a:ext cx="9144000" cy="1143000"/>
          </a:xfrm>
        </p:spPr>
        <p:txBody>
          <a:bodyPr>
            <a:normAutofit/>
          </a:bodyPr>
          <a:lstStyle/>
          <a:p>
            <a:pPr eaLnBrk="1" hangingPunct="1"/>
            <a:r>
              <a:rPr lang="en-US"/>
              <a:t>N-Tier Architecture</a:t>
            </a:r>
          </a:p>
        </p:txBody>
      </p:sp>
      <p:sp>
        <p:nvSpPr>
          <p:cNvPr id="51206" name="Rectangle 4"/>
          <p:cNvSpPr>
            <a:spLocks noChangeArrowheads="1"/>
          </p:cNvSpPr>
          <p:nvPr/>
        </p:nvSpPr>
        <p:spPr bwMode="auto">
          <a:xfrm>
            <a:off x="2692401" y="28194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Web Server</a:t>
            </a:r>
          </a:p>
        </p:txBody>
      </p:sp>
      <p:sp>
        <p:nvSpPr>
          <p:cNvPr id="51218" name="Line 6"/>
          <p:cNvSpPr>
            <a:spLocks noChangeShapeType="1"/>
          </p:cNvSpPr>
          <p:nvPr/>
        </p:nvSpPr>
        <p:spPr bwMode="auto">
          <a:xfrm>
            <a:off x="2349501" y="1722438"/>
            <a:ext cx="2222500" cy="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1216" name="Line 9"/>
          <p:cNvSpPr>
            <a:spLocks noChangeShapeType="1"/>
          </p:cNvSpPr>
          <p:nvPr/>
        </p:nvSpPr>
        <p:spPr bwMode="auto">
          <a:xfrm flipH="1">
            <a:off x="2349501" y="2133600"/>
            <a:ext cx="2222500" cy="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20" name="Can 19"/>
          <p:cNvSpPr/>
          <p:nvPr/>
        </p:nvSpPr>
        <p:spPr>
          <a:xfrm>
            <a:off x="4800599" y="5486400"/>
            <a:ext cx="1676403" cy="1066800"/>
          </a:xfrm>
          <a:prstGeom prst="can">
            <a:avLst/>
          </a:prstGeom>
        </p:spPr>
        <p:style>
          <a:lnRef idx="1">
            <a:schemeClr val="accent1"/>
          </a:lnRef>
          <a:fillRef idx="3">
            <a:schemeClr val="accent1"/>
          </a:fillRef>
          <a:effectRef idx="2">
            <a:schemeClr val="accent1"/>
          </a:effectRef>
          <a:fontRef idx="minor">
            <a:schemeClr val="lt1"/>
          </a:fontRef>
        </p:style>
        <p:txBody>
          <a:bodyPr rtlCol="0" anchor="ctr"/>
          <a:lstStyle/>
          <a:p>
            <a:pPr algn="ctr" eaLnBrk="0" hangingPunct="0"/>
            <a:r>
              <a:rPr lang="en-US"/>
              <a:t>Data Repository</a:t>
            </a:r>
          </a:p>
        </p:txBody>
      </p:sp>
      <p:sp>
        <p:nvSpPr>
          <p:cNvPr id="51212" name="Line 16"/>
          <p:cNvSpPr>
            <a:spLocks noChangeShapeType="1"/>
          </p:cNvSpPr>
          <p:nvPr/>
        </p:nvSpPr>
        <p:spPr bwMode="auto">
          <a:xfrm flipV="1">
            <a:off x="5867398" y="5029199"/>
            <a:ext cx="0" cy="6029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21" name="Rectangle 3"/>
          <p:cNvSpPr>
            <a:spLocks noChangeArrowheads="1"/>
          </p:cNvSpPr>
          <p:nvPr/>
        </p:nvSpPr>
        <p:spPr bwMode="auto">
          <a:xfrm>
            <a:off x="303212" y="1189038"/>
            <a:ext cx="2057400" cy="1524000"/>
          </a:xfrm>
          <a:prstGeom prst="rect">
            <a:avLst/>
          </a:prstGeom>
          <a:solidFill>
            <a:schemeClr val="accent2"/>
          </a:solidFill>
          <a:ln w="9525">
            <a:solidFill>
              <a:schemeClr val="tx1"/>
            </a:solidFill>
            <a:miter lim="800000"/>
            <a:headEnd/>
            <a:tailEnd/>
          </a:ln>
        </p:spPr>
        <p:txBody>
          <a:bodyPr wrap="none" anchor="ctr">
            <a:prstTxWarp prst="textNoShape">
              <a:avLst/>
            </a:prstTxWarp>
          </a:bodyPr>
          <a:lstStyle/>
          <a:p>
            <a:pPr algn="ctr" eaLnBrk="0" hangingPunct="0"/>
            <a:r>
              <a:rPr lang="en-US" b="0"/>
              <a:t>Client/Browser</a:t>
            </a:r>
          </a:p>
        </p:txBody>
      </p:sp>
      <p:sp>
        <p:nvSpPr>
          <p:cNvPr id="22" name="Rectangle 3"/>
          <p:cNvSpPr>
            <a:spLocks noChangeArrowheads="1"/>
          </p:cNvSpPr>
          <p:nvPr/>
        </p:nvSpPr>
        <p:spPr bwMode="auto">
          <a:xfrm>
            <a:off x="454024" y="1282700"/>
            <a:ext cx="1752600" cy="439738"/>
          </a:xfrm>
          <a:prstGeom prst="rect">
            <a:avLst/>
          </a:prstGeom>
          <a:solidFill>
            <a:schemeClr val="accent2">
              <a:lumMod val="20000"/>
              <a:lumOff val="80000"/>
            </a:schemeClr>
          </a:solidFill>
          <a:ln w="9525">
            <a:solidFill>
              <a:schemeClr val="tx1"/>
            </a:solidFill>
            <a:miter lim="800000"/>
            <a:headEnd/>
            <a:tailEnd/>
          </a:ln>
        </p:spPr>
        <p:txBody>
          <a:bodyPr wrap="none" anchor="ctr">
            <a:prstTxWarp prst="textNoShape">
              <a:avLst/>
            </a:prstTxWarp>
          </a:bodyPr>
          <a:lstStyle/>
          <a:p>
            <a:pPr algn="ctr" eaLnBrk="0" hangingPunct="0"/>
            <a:r>
              <a:rPr lang="en-US" b="0"/>
              <a:t>Content</a:t>
            </a:r>
          </a:p>
        </p:txBody>
      </p:sp>
      <p:sp>
        <p:nvSpPr>
          <p:cNvPr id="23" name="Rectangle 3"/>
          <p:cNvSpPr>
            <a:spLocks noChangeArrowheads="1"/>
          </p:cNvSpPr>
          <p:nvPr/>
        </p:nvSpPr>
        <p:spPr bwMode="auto">
          <a:xfrm>
            <a:off x="454024" y="2232502"/>
            <a:ext cx="1752600" cy="392668"/>
          </a:xfrm>
          <a:prstGeom prst="rect">
            <a:avLst/>
          </a:prstGeom>
          <a:solidFill>
            <a:schemeClr val="accent2">
              <a:lumMod val="20000"/>
              <a:lumOff val="80000"/>
            </a:schemeClr>
          </a:solidFill>
          <a:ln w="9525">
            <a:solidFill>
              <a:schemeClr val="tx1"/>
            </a:solidFill>
            <a:miter lim="800000"/>
            <a:headEnd/>
            <a:tailEnd/>
          </a:ln>
        </p:spPr>
        <p:txBody>
          <a:bodyPr wrap="none" anchor="ctr">
            <a:prstTxWarp prst="textNoShape">
              <a:avLst/>
            </a:prstTxWarp>
          </a:bodyPr>
          <a:lstStyle/>
          <a:p>
            <a:pPr algn="ctr" eaLnBrk="0" hangingPunct="0"/>
            <a:r>
              <a:rPr lang="en-US" b="0"/>
              <a:t>Look and Feel</a:t>
            </a:r>
          </a:p>
        </p:txBody>
      </p:sp>
      <p:sp>
        <p:nvSpPr>
          <p:cNvPr id="25" name="Rectangle 4"/>
          <p:cNvSpPr>
            <a:spLocks noChangeArrowheads="1"/>
          </p:cNvSpPr>
          <p:nvPr/>
        </p:nvSpPr>
        <p:spPr bwMode="auto">
          <a:xfrm>
            <a:off x="4572001" y="1516540"/>
            <a:ext cx="1905000" cy="92186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Load Balance </a:t>
            </a:r>
          </a:p>
          <a:p>
            <a:pPr algn="ctr" eaLnBrk="0" hangingPunct="0"/>
            <a:r>
              <a:rPr lang="en-US"/>
              <a:t>Server</a:t>
            </a:r>
            <a:endParaRPr lang="en-US" b="0"/>
          </a:p>
        </p:txBody>
      </p:sp>
      <p:sp>
        <p:nvSpPr>
          <p:cNvPr id="51214" name="Line 13"/>
          <p:cNvSpPr>
            <a:spLocks noChangeShapeType="1"/>
          </p:cNvSpPr>
          <p:nvPr/>
        </p:nvSpPr>
        <p:spPr bwMode="auto">
          <a:xfrm>
            <a:off x="5410198" y="5029199"/>
            <a:ext cx="0" cy="631122"/>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0" name="Can 29"/>
          <p:cNvSpPr/>
          <p:nvPr/>
        </p:nvSpPr>
        <p:spPr>
          <a:xfrm>
            <a:off x="2514601" y="5486400"/>
            <a:ext cx="1676403" cy="1066800"/>
          </a:xfrm>
          <a:prstGeom prst="can">
            <a:avLst/>
          </a:prstGeom>
        </p:spPr>
        <p:style>
          <a:lnRef idx="1">
            <a:schemeClr val="accent1"/>
          </a:lnRef>
          <a:fillRef idx="3">
            <a:schemeClr val="accent1"/>
          </a:fillRef>
          <a:effectRef idx="2">
            <a:schemeClr val="accent1"/>
          </a:effectRef>
          <a:fontRef idx="minor">
            <a:schemeClr val="lt1"/>
          </a:fontRef>
        </p:style>
        <p:txBody>
          <a:bodyPr rtlCol="0" anchor="ctr"/>
          <a:lstStyle/>
          <a:p>
            <a:pPr algn="ctr" eaLnBrk="0" hangingPunct="0"/>
            <a:r>
              <a:rPr lang="en-US"/>
              <a:t>Data Repository</a:t>
            </a:r>
          </a:p>
        </p:txBody>
      </p:sp>
      <p:sp>
        <p:nvSpPr>
          <p:cNvPr id="31" name="Line 16"/>
          <p:cNvSpPr>
            <a:spLocks noChangeShapeType="1"/>
          </p:cNvSpPr>
          <p:nvPr/>
        </p:nvSpPr>
        <p:spPr bwMode="auto">
          <a:xfrm flipV="1">
            <a:off x="3581400" y="5257798"/>
            <a:ext cx="0" cy="374301"/>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2" name="Line 13"/>
          <p:cNvSpPr>
            <a:spLocks noChangeShapeType="1"/>
          </p:cNvSpPr>
          <p:nvPr/>
        </p:nvSpPr>
        <p:spPr bwMode="auto">
          <a:xfrm>
            <a:off x="3124200" y="5029201"/>
            <a:ext cx="0" cy="631121"/>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3" name="Can 32"/>
          <p:cNvSpPr/>
          <p:nvPr/>
        </p:nvSpPr>
        <p:spPr>
          <a:xfrm>
            <a:off x="7010401" y="5486400"/>
            <a:ext cx="1676403" cy="1066800"/>
          </a:xfrm>
          <a:prstGeom prst="can">
            <a:avLst/>
          </a:prstGeom>
        </p:spPr>
        <p:style>
          <a:lnRef idx="1">
            <a:schemeClr val="accent1"/>
          </a:lnRef>
          <a:fillRef idx="3">
            <a:schemeClr val="accent1"/>
          </a:fillRef>
          <a:effectRef idx="2">
            <a:schemeClr val="accent1"/>
          </a:effectRef>
          <a:fontRef idx="minor">
            <a:schemeClr val="lt1"/>
          </a:fontRef>
        </p:style>
        <p:txBody>
          <a:bodyPr rtlCol="0" anchor="ctr"/>
          <a:lstStyle/>
          <a:p>
            <a:pPr algn="ctr" eaLnBrk="0" hangingPunct="0"/>
            <a:r>
              <a:rPr lang="en-US"/>
              <a:t>Data Repository</a:t>
            </a:r>
          </a:p>
        </p:txBody>
      </p:sp>
      <p:sp>
        <p:nvSpPr>
          <p:cNvPr id="34" name="Line 16"/>
          <p:cNvSpPr>
            <a:spLocks noChangeShapeType="1"/>
          </p:cNvSpPr>
          <p:nvPr/>
        </p:nvSpPr>
        <p:spPr bwMode="auto">
          <a:xfrm flipV="1">
            <a:off x="8077200" y="5029199"/>
            <a:ext cx="0" cy="6029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5" name="Line 13"/>
          <p:cNvSpPr>
            <a:spLocks noChangeShapeType="1"/>
          </p:cNvSpPr>
          <p:nvPr/>
        </p:nvSpPr>
        <p:spPr bwMode="auto">
          <a:xfrm>
            <a:off x="7620000" y="5029199"/>
            <a:ext cx="0" cy="631122"/>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6" name="Rectangle 4"/>
          <p:cNvSpPr>
            <a:spLocks noChangeArrowheads="1"/>
          </p:cNvSpPr>
          <p:nvPr/>
        </p:nvSpPr>
        <p:spPr bwMode="auto">
          <a:xfrm>
            <a:off x="7202311" y="4800600"/>
            <a:ext cx="1371603" cy="457199"/>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Data Server</a:t>
            </a:r>
            <a:endParaRPr lang="en-US" b="0"/>
          </a:p>
        </p:txBody>
      </p:sp>
      <p:sp>
        <p:nvSpPr>
          <p:cNvPr id="37" name="Rectangle 4"/>
          <p:cNvSpPr>
            <a:spLocks noChangeArrowheads="1"/>
          </p:cNvSpPr>
          <p:nvPr/>
        </p:nvSpPr>
        <p:spPr bwMode="auto">
          <a:xfrm>
            <a:off x="4952999" y="4800600"/>
            <a:ext cx="1371603" cy="457199"/>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Data Server</a:t>
            </a:r>
            <a:endParaRPr lang="en-US" b="0"/>
          </a:p>
        </p:txBody>
      </p:sp>
      <p:sp>
        <p:nvSpPr>
          <p:cNvPr id="38" name="Rectangle 4"/>
          <p:cNvSpPr>
            <a:spLocks noChangeArrowheads="1"/>
          </p:cNvSpPr>
          <p:nvPr/>
        </p:nvSpPr>
        <p:spPr bwMode="auto">
          <a:xfrm>
            <a:off x="2692401" y="4800600"/>
            <a:ext cx="1371603" cy="457199"/>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Data Server</a:t>
            </a:r>
            <a:endParaRPr lang="en-US" b="0"/>
          </a:p>
        </p:txBody>
      </p:sp>
      <p:sp>
        <p:nvSpPr>
          <p:cNvPr id="40" name="Rectangle 4"/>
          <p:cNvSpPr>
            <a:spLocks noChangeArrowheads="1"/>
          </p:cNvSpPr>
          <p:nvPr/>
        </p:nvSpPr>
        <p:spPr bwMode="auto">
          <a:xfrm>
            <a:off x="4923693" y="28194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Web Server</a:t>
            </a:r>
          </a:p>
        </p:txBody>
      </p:sp>
      <p:sp>
        <p:nvSpPr>
          <p:cNvPr id="41" name="Rectangle 4"/>
          <p:cNvSpPr>
            <a:spLocks noChangeArrowheads="1"/>
          </p:cNvSpPr>
          <p:nvPr/>
        </p:nvSpPr>
        <p:spPr bwMode="auto">
          <a:xfrm>
            <a:off x="7202313" y="28575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Web Server</a:t>
            </a:r>
          </a:p>
        </p:txBody>
      </p:sp>
      <p:sp>
        <p:nvSpPr>
          <p:cNvPr id="42" name="Line 16"/>
          <p:cNvSpPr>
            <a:spLocks noChangeShapeType="1"/>
          </p:cNvSpPr>
          <p:nvPr/>
        </p:nvSpPr>
        <p:spPr bwMode="auto">
          <a:xfrm flipV="1">
            <a:off x="5867398" y="4273901"/>
            <a:ext cx="0" cy="526699"/>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3" name="Line 13"/>
          <p:cNvSpPr>
            <a:spLocks noChangeShapeType="1"/>
          </p:cNvSpPr>
          <p:nvPr/>
        </p:nvSpPr>
        <p:spPr bwMode="auto">
          <a:xfrm>
            <a:off x="5410198" y="4229100"/>
            <a:ext cx="0" cy="5715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4" name="Line 16"/>
          <p:cNvSpPr>
            <a:spLocks noChangeShapeType="1"/>
          </p:cNvSpPr>
          <p:nvPr/>
        </p:nvSpPr>
        <p:spPr bwMode="auto">
          <a:xfrm flipV="1">
            <a:off x="3581400" y="4270551"/>
            <a:ext cx="0" cy="530049"/>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5" name="Line 13"/>
          <p:cNvSpPr>
            <a:spLocks noChangeShapeType="1"/>
          </p:cNvSpPr>
          <p:nvPr/>
        </p:nvSpPr>
        <p:spPr bwMode="auto">
          <a:xfrm>
            <a:off x="3124200" y="4229099"/>
            <a:ext cx="0" cy="5715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6" name="Line 16"/>
          <p:cNvSpPr>
            <a:spLocks noChangeShapeType="1"/>
          </p:cNvSpPr>
          <p:nvPr/>
        </p:nvSpPr>
        <p:spPr bwMode="auto">
          <a:xfrm flipV="1">
            <a:off x="8077200" y="4273901"/>
            <a:ext cx="0" cy="526699"/>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7" name="Line 13"/>
          <p:cNvSpPr>
            <a:spLocks noChangeShapeType="1"/>
          </p:cNvSpPr>
          <p:nvPr/>
        </p:nvSpPr>
        <p:spPr bwMode="auto">
          <a:xfrm>
            <a:off x="7620000" y="4229100"/>
            <a:ext cx="0" cy="5715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8" name="Line 16"/>
          <p:cNvSpPr>
            <a:spLocks noChangeShapeType="1"/>
          </p:cNvSpPr>
          <p:nvPr/>
        </p:nvSpPr>
        <p:spPr bwMode="auto">
          <a:xfrm flipV="1">
            <a:off x="5867398" y="24384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9" name="Line 13"/>
          <p:cNvSpPr>
            <a:spLocks noChangeShapeType="1"/>
          </p:cNvSpPr>
          <p:nvPr/>
        </p:nvSpPr>
        <p:spPr bwMode="auto">
          <a:xfrm>
            <a:off x="5410198" y="24384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0" name="Line 16"/>
          <p:cNvSpPr>
            <a:spLocks noChangeShapeType="1"/>
          </p:cNvSpPr>
          <p:nvPr/>
        </p:nvSpPr>
        <p:spPr bwMode="auto">
          <a:xfrm flipH="1" flipV="1">
            <a:off x="6477002" y="2133600"/>
            <a:ext cx="978875" cy="7239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1" name="Line 13"/>
          <p:cNvSpPr>
            <a:spLocks noChangeShapeType="1"/>
          </p:cNvSpPr>
          <p:nvPr/>
        </p:nvSpPr>
        <p:spPr bwMode="auto">
          <a:xfrm>
            <a:off x="6324603" y="2438400"/>
            <a:ext cx="877710" cy="6858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2" name="Line 16"/>
          <p:cNvSpPr>
            <a:spLocks noChangeShapeType="1"/>
          </p:cNvSpPr>
          <p:nvPr/>
        </p:nvSpPr>
        <p:spPr bwMode="auto">
          <a:xfrm flipV="1">
            <a:off x="4064003" y="2438400"/>
            <a:ext cx="736595" cy="6858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3" name="Line 13"/>
          <p:cNvSpPr>
            <a:spLocks noChangeShapeType="1"/>
          </p:cNvSpPr>
          <p:nvPr/>
        </p:nvSpPr>
        <p:spPr bwMode="auto">
          <a:xfrm flipH="1">
            <a:off x="3798276" y="2232502"/>
            <a:ext cx="773724" cy="586898"/>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9" name="Rectangle 4"/>
          <p:cNvSpPr>
            <a:spLocks noChangeArrowheads="1"/>
          </p:cNvSpPr>
          <p:nvPr/>
        </p:nvSpPr>
        <p:spPr bwMode="auto">
          <a:xfrm>
            <a:off x="2692401" y="37338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App</a:t>
            </a:r>
            <a:r>
              <a:rPr lang="en-US" b="0"/>
              <a:t> Server</a:t>
            </a:r>
          </a:p>
        </p:txBody>
      </p:sp>
      <p:sp>
        <p:nvSpPr>
          <p:cNvPr id="55" name="Rectangle 4"/>
          <p:cNvSpPr>
            <a:spLocks noChangeArrowheads="1"/>
          </p:cNvSpPr>
          <p:nvPr/>
        </p:nvSpPr>
        <p:spPr bwMode="auto">
          <a:xfrm>
            <a:off x="4952999" y="37338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App Server</a:t>
            </a:r>
          </a:p>
        </p:txBody>
      </p:sp>
      <p:sp>
        <p:nvSpPr>
          <p:cNvPr id="56" name="Rectangle 4"/>
          <p:cNvSpPr>
            <a:spLocks noChangeArrowheads="1"/>
          </p:cNvSpPr>
          <p:nvPr/>
        </p:nvSpPr>
        <p:spPr bwMode="auto">
          <a:xfrm>
            <a:off x="7202312" y="37338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App Server</a:t>
            </a:r>
          </a:p>
        </p:txBody>
      </p:sp>
      <p:sp>
        <p:nvSpPr>
          <p:cNvPr id="57" name="Line 16"/>
          <p:cNvSpPr>
            <a:spLocks noChangeShapeType="1"/>
          </p:cNvSpPr>
          <p:nvPr/>
        </p:nvSpPr>
        <p:spPr bwMode="auto">
          <a:xfrm flipV="1">
            <a:off x="5867398"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8" name="Line 13"/>
          <p:cNvSpPr>
            <a:spLocks noChangeShapeType="1"/>
          </p:cNvSpPr>
          <p:nvPr/>
        </p:nvSpPr>
        <p:spPr bwMode="auto">
          <a:xfrm>
            <a:off x="5410198"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9" name="Line 16"/>
          <p:cNvSpPr>
            <a:spLocks noChangeShapeType="1"/>
          </p:cNvSpPr>
          <p:nvPr/>
        </p:nvSpPr>
        <p:spPr bwMode="auto">
          <a:xfrm flipV="1">
            <a:off x="8077200"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60" name="Line 13"/>
          <p:cNvSpPr>
            <a:spLocks noChangeShapeType="1"/>
          </p:cNvSpPr>
          <p:nvPr/>
        </p:nvSpPr>
        <p:spPr bwMode="auto">
          <a:xfrm>
            <a:off x="7620000"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61" name="Line 16"/>
          <p:cNvSpPr>
            <a:spLocks noChangeShapeType="1"/>
          </p:cNvSpPr>
          <p:nvPr/>
        </p:nvSpPr>
        <p:spPr bwMode="auto">
          <a:xfrm flipV="1">
            <a:off x="3581400"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62" name="Line 13"/>
          <p:cNvSpPr>
            <a:spLocks noChangeShapeType="1"/>
          </p:cNvSpPr>
          <p:nvPr/>
        </p:nvSpPr>
        <p:spPr bwMode="auto">
          <a:xfrm>
            <a:off x="3124200"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Tree>
    <p:extLst>
      <p:ext uri="{BB962C8B-B14F-4D97-AF65-F5344CB8AC3E}">
        <p14:creationId xmlns:p14="http://schemas.microsoft.com/office/powerpoint/2010/main" val="40029208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Load Balancing</a:t>
            </a:r>
          </a:p>
        </p:txBody>
      </p:sp>
      <p:sp>
        <p:nvSpPr>
          <p:cNvPr id="3" name="Content Placeholder 2"/>
          <p:cNvSpPr>
            <a:spLocks noGrp="1"/>
          </p:cNvSpPr>
          <p:nvPr>
            <p:ph idx="1"/>
          </p:nvPr>
        </p:nvSpPr>
        <p:spPr/>
        <p:txBody>
          <a:bodyPr/>
          <a:lstStyle/>
          <a:p>
            <a:r>
              <a:rPr lang="en-US"/>
              <a:t>There are two main ways to balance the load</a:t>
            </a:r>
          </a:p>
          <a:p>
            <a:pPr lvl="1"/>
            <a:r>
              <a:rPr lang="en-US"/>
              <a:t>Using a </a:t>
            </a:r>
            <a:r>
              <a:rPr lang="en-US" b="1"/>
              <a:t>Domain Name Server </a:t>
            </a:r>
            <a:r>
              <a:rPr lang="en-US"/>
              <a:t>such that when a URL is resolved, it rotates through a series of IP addresses that route the message to that machine.</a:t>
            </a:r>
          </a:p>
          <a:p>
            <a:pPr lvl="1"/>
            <a:r>
              <a:rPr lang="en-US"/>
              <a:t>Using a </a:t>
            </a:r>
            <a:r>
              <a:rPr lang="en-US" b="1"/>
              <a:t>Load Balancing Server</a:t>
            </a:r>
            <a:r>
              <a:rPr lang="en-US"/>
              <a:t>, which farms out the requests to available machines. </a:t>
            </a:r>
          </a:p>
          <a:p>
            <a:pPr lvl="2"/>
            <a:r>
              <a:rPr lang="en-US"/>
              <a:t>Machines in the farm inform the LB Server of their load so that the load can be balanced.</a:t>
            </a:r>
          </a:p>
        </p:txBody>
      </p:sp>
    </p:spTree>
    <p:extLst>
      <p:ext uri="{BB962C8B-B14F-4D97-AF65-F5344CB8AC3E}">
        <p14:creationId xmlns:p14="http://schemas.microsoft.com/office/powerpoint/2010/main" val="9046099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Tiered Architecture Benefits</a:t>
            </a:r>
          </a:p>
        </p:txBody>
      </p:sp>
      <p:sp>
        <p:nvSpPr>
          <p:cNvPr id="3" name="Content Placeholder 2"/>
          <p:cNvSpPr>
            <a:spLocks noGrp="1"/>
          </p:cNvSpPr>
          <p:nvPr>
            <p:ph idx="1"/>
          </p:nvPr>
        </p:nvSpPr>
        <p:spPr/>
        <p:txBody>
          <a:bodyPr>
            <a:normAutofit fontScale="92500" lnSpcReduction="10000"/>
          </a:bodyPr>
          <a:lstStyle/>
          <a:p>
            <a:r>
              <a:rPr lang="en-US"/>
              <a:t>Tiers enable the separation of concerns</a:t>
            </a:r>
          </a:p>
          <a:p>
            <a:r>
              <a:rPr lang="en-US"/>
              <a:t>Tier encapsulate complexity </a:t>
            </a:r>
          </a:p>
          <a:p>
            <a:pPr lvl="1"/>
            <a:r>
              <a:rPr lang="en-US"/>
              <a:t>they can be broken down into layers or into sub-tiers</a:t>
            </a:r>
          </a:p>
          <a:p>
            <a:r>
              <a:rPr lang="en-US"/>
              <a:t>Tiers can be distributed across a number of machines</a:t>
            </a:r>
          </a:p>
          <a:p>
            <a:pPr lvl="1"/>
            <a:r>
              <a:rPr lang="en-US"/>
              <a:t>Providing flexibility</a:t>
            </a:r>
          </a:p>
          <a:p>
            <a:r>
              <a:rPr lang="en-US"/>
              <a:t>Tiers can be replicated across a number of machines</a:t>
            </a:r>
          </a:p>
          <a:p>
            <a:pPr lvl="1"/>
            <a:r>
              <a:rPr lang="en-US"/>
              <a:t>Providing scalability</a:t>
            </a:r>
          </a:p>
        </p:txBody>
      </p:sp>
    </p:spTree>
    <p:extLst>
      <p:ext uri="{BB962C8B-B14F-4D97-AF65-F5344CB8AC3E}">
        <p14:creationId xmlns:p14="http://schemas.microsoft.com/office/powerpoint/2010/main" val="5485347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System Architecture Design</a:t>
            </a:r>
          </a:p>
        </p:txBody>
      </p:sp>
      <p:sp>
        <p:nvSpPr>
          <p:cNvPr id="4" name="Text Placeholder 3">
            <a:extLst>
              <a:ext uri="{FF2B5EF4-FFF2-40B4-BE49-F238E27FC236}">
                <a16:creationId xmlns:a16="http://schemas.microsoft.com/office/drawing/2014/main" id="{2743D237-8765-FDF1-F229-E8581EEBAE9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56028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1810" name="Rectangle 2"/>
          <p:cNvSpPr>
            <a:spLocks noGrp="1" noChangeArrowheads="1"/>
          </p:cNvSpPr>
          <p:nvPr>
            <p:ph type="title"/>
          </p:nvPr>
        </p:nvSpPr>
        <p:spPr>
          <a:xfrm>
            <a:off x="0" y="0"/>
            <a:ext cx="9144000" cy="1143000"/>
          </a:xfrm>
        </p:spPr>
        <p:txBody>
          <a:bodyPr>
            <a:normAutofit/>
          </a:bodyPr>
          <a:lstStyle/>
          <a:p>
            <a:r>
              <a:rPr lang="en-GB"/>
              <a:t>Top Down Design</a:t>
            </a:r>
            <a:endParaRPr lang="en-US"/>
          </a:p>
        </p:txBody>
      </p:sp>
      <p:sp>
        <p:nvSpPr>
          <p:cNvPr id="631811" name="Rectangle 3"/>
          <p:cNvSpPr>
            <a:spLocks noGrp="1" noChangeArrowheads="1"/>
          </p:cNvSpPr>
          <p:nvPr>
            <p:ph type="body" idx="1"/>
          </p:nvPr>
        </p:nvSpPr>
        <p:spPr>
          <a:xfrm>
            <a:off x="239820" y="1484785"/>
            <a:ext cx="8580974" cy="4641380"/>
          </a:xfrm>
        </p:spPr>
        <p:txBody>
          <a:bodyPr>
            <a:normAutofit/>
          </a:bodyPr>
          <a:lstStyle/>
          <a:p>
            <a:pPr>
              <a:buFontTx/>
              <a:buNone/>
            </a:pPr>
            <a:r>
              <a:rPr lang="en-GB"/>
              <a:t>Starting from a </a:t>
            </a:r>
            <a:r>
              <a:rPr lang="en-GB" b="1"/>
              <a:t>high level design </a:t>
            </a:r>
            <a:r>
              <a:rPr lang="en-GB"/>
              <a:t>is useful because:</a:t>
            </a:r>
          </a:p>
          <a:p>
            <a:pPr lvl="1"/>
            <a:r>
              <a:rPr lang="en-GB"/>
              <a:t>it helps to describe the system at a level which makes the </a:t>
            </a:r>
            <a:r>
              <a:rPr lang="en-GB" b="1"/>
              <a:t>goals, scope </a:t>
            </a:r>
            <a:r>
              <a:rPr lang="en-GB"/>
              <a:t>and</a:t>
            </a:r>
            <a:r>
              <a:rPr lang="en-GB" b="1"/>
              <a:t> responsibilities</a:t>
            </a:r>
            <a:r>
              <a:rPr lang="en-GB"/>
              <a:t> clear</a:t>
            </a:r>
          </a:p>
          <a:p>
            <a:pPr lvl="1"/>
            <a:r>
              <a:rPr lang="en-US"/>
              <a:t>the abstraction provides a tool for communicating the design</a:t>
            </a:r>
            <a:endParaRPr lang="en-GB"/>
          </a:p>
          <a:p>
            <a:pPr lvl="1"/>
            <a:r>
              <a:rPr lang="en-GB"/>
              <a:t>permits the specific technologies to be </a:t>
            </a:r>
            <a:r>
              <a:rPr lang="en-GB" b="1"/>
              <a:t>chosen late</a:t>
            </a:r>
            <a:r>
              <a:rPr lang="en-GB"/>
              <a:t> or to be </a:t>
            </a:r>
            <a:r>
              <a:rPr lang="en-GB" b="1"/>
              <a:t>changed</a:t>
            </a:r>
          </a:p>
          <a:p>
            <a:pPr lvl="1"/>
            <a:r>
              <a:rPr lang="en-GB" b="1"/>
              <a:t>maintenance</a:t>
            </a:r>
            <a:r>
              <a:rPr lang="en-GB"/>
              <a:t> and </a:t>
            </a:r>
            <a:r>
              <a:rPr lang="en-GB" b="1"/>
              <a:t>re-usability</a:t>
            </a:r>
            <a:r>
              <a:rPr lang="en-GB"/>
              <a:t> also profit</a:t>
            </a:r>
          </a:p>
          <a:p>
            <a:pPr lvl="1"/>
            <a:r>
              <a:rPr lang="en-GB" b="1"/>
              <a:t>accessibility</a:t>
            </a:r>
            <a:r>
              <a:rPr lang="en-GB"/>
              <a:t> variants can considered </a:t>
            </a:r>
            <a:r>
              <a:rPr lang="en-GB" i="1"/>
              <a:t>a priori</a:t>
            </a:r>
          </a:p>
        </p:txBody>
      </p:sp>
    </p:spTree>
    <p:extLst>
      <p:ext uri="{BB962C8B-B14F-4D97-AF65-F5344CB8AC3E}">
        <p14:creationId xmlns:p14="http://schemas.microsoft.com/office/powerpoint/2010/main" val="33237853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Bottom Up Design</a:t>
            </a:r>
          </a:p>
        </p:txBody>
      </p:sp>
      <p:sp>
        <p:nvSpPr>
          <p:cNvPr id="3" name="Content Placeholder 2"/>
          <p:cNvSpPr>
            <a:spLocks noGrp="1"/>
          </p:cNvSpPr>
          <p:nvPr>
            <p:ph idx="1"/>
          </p:nvPr>
        </p:nvSpPr>
        <p:spPr>
          <a:xfrm>
            <a:off x="339969" y="1600200"/>
            <a:ext cx="8346831" cy="5093677"/>
          </a:xfrm>
        </p:spPr>
        <p:txBody>
          <a:bodyPr>
            <a:normAutofit fontScale="92500" lnSpcReduction="20000"/>
          </a:bodyPr>
          <a:lstStyle/>
          <a:p>
            <a:r>
              <a:rPr lang="en-GB"/>
              <a:t>Piecing together components to give rise to more complex systems, thus making the original elements sub-systems of the </a:t>
            </a:r>
            <a:r>
              <a:rPr lang="en-GB" b="1"/>
              <a:t>emergent system</a:t>
            </a:r>
          </a:p>
          <a:p>
            <a:r>
              <a:rPr lang="en-GB"/>
              <a:t>Specific and basic individual components of the system are first developed</a:t>
            </a:r>
          </a:p>
          <a:p>
            <a:r>
              <a:rPr lang="en-GB"/>
              <a:t>These elements are then linked together to form larger subsystems, which then in turn are linked, sometimes in many levels, until a complete top-level system is formed</a:t>
            </a:r>
          </a:p>
          <a:p>
            <a:r>
              <a:rPr lang="en-GB"/>
              <a:t>This strategy often resembles a </a:t>
            </a:r>
            <a:r>
              <a:rPr lang="en-GB" b="1"/>
              <a:t>"seed" model</a:t>
            </a:r>
            <a:r>
              <a:rPr lang="en-GB"/>
              <a:t>, by which the beginnings are small but eventually grow in complexity and completeness.</a:t>
            </a:r>
          </a:p>
        </p:txBody>
      </p:sp>
    </p:spTree>
    <p:extLst>
      <p:ext uri="{BB962C8B-B14F-4D97-AF65-F5344CB8AC3E}">
        <p14:creationId xmlns:p14="http://schemas.microsoft.com/office/powerpoint/2010/main" val="42118086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Top-Down vs. Bottom Up</a:t>
            </a:r>
          </a:p>
        </p:txBody>
      </p:sp>
      <p:sp>
        <p:nvSpPr>
          <p:cNvPr id="3" name="Content Placeholder 2"/>
          <p:cNvSpPr>
            <a:spLocks noGrp="1"/>
          </p:cNvSpPr>
          <p:nvPr>
            <p:ph idx="1"/>
          </p:nvPr>
        </p:nvSpPr>
        <p:spPr/>
        <p:txBody>
          <a:bodyPr/>
          <a:lstStyle/>
          <a:p>
            <a:pPr>
              <a:buNone/>
            </a:pPr>
            <a:endParaRPr lang="en-US"/>
          </a:p>
          <a:p>
            <a:endParaRPr lang="en-US"/>
          </a:p>
        </p:txBody>
      </p:sp>
      <p:sp>
        <p:nvSpPr>
          <p:cNvPr id="4" name="TextBox 3"/>
          <p:cNvSpPr txBox="1"/>
          <p:nvPr/>
        </p:nvSpPr>
        <p:spPr>
          <a:xfrm>
            <a:off x="609600" y="1600200"/>
            <a:ext cx="2743200" cy="5078314"/>
          </a:xfrm>
          <a:prstGeom prst="rect">
            <a:avLst/>
          </a:prstGeom>
          <a:noFill/>
        </p:spPr>
        <p:txBody>
          <a:bodyPr wrap="square" rtlCol="0">
            <a:spAutoFit/>
          </a:bodyPr>
          <a:lstStyle/>
          <a:p>
            <a:r>
              <a:rPr lang="en-US"/>
              <a:t>Separates the low level work from the higher level abstractions</a:t>
            </a:r>
          </a:p>
          <a:p>
            <a:endParaRPr lang="en-US"/>
          </a:p>
          <a:p>
            <a:r>
              <a:rPr lang="en-US"/>
              <a:t>Leads to a modular design</a:t>
            </a:r>
          </a:p>
          <a:p>
            <a:endParaRPr lang="en-US"/>
          </a:p>
          <a:p>
            <a:r>
              <a:rPr lang="en-US"/>
              <a:t>Development can be self-contained (tiered)</a:t>
            </a:r>
          </a:p>
          <a:p>
            <a:endParaRPr lang="en-US"/>
          </a:p>
          <a:p>
            <a:r>
              <a:rPr lang="en-US"/>
              <a:t>Emphasizes planning and system understanding</a:t>
            </a:r>
          </a:p>
          <a:p>
            <a:endParaRPr lang="en-US"/>
          </a:p>
          <a:p>
            <a:r>
              <a:rPr lang="en-US"/>
              <a:t>Coding is late, and </a:t>
            </a:r>
          </a:p>
          <a:p>
            <a:r>
              <a:rPr lang="en-US"/>
              <a:t>Testing is even later</a:t>
            </a:r>
          </a:p>
          <a:p>
            <a:endParaRPr lang="en-US"/>
          </a:p>
          <a:p>
            <a:r>
              <a:rPr lang="en-US"/>
              <a:t>Skeleton code can show how everything integrates</a:t>
            </a:r>
          </a:p>
          <a:p>
            <a:endParaRPr lang="en-US"/>
          </a:p>
        </p:txBody>
      </p:sp>
      <p:sp>
        <p:nvSpPr>
          <p:cNvPr id="5" name="TextBox 4"/>
          <p:cNvSpPr txBox="1"/>
          <p:nvPr/>
        </p:nvSpPr>
        <p:spPr>
          <a:xfrm>
            <a:off x="5486400" y="1601847"/>
            <a:ext cx="3048000" cy="5355313"/>
          </a:xfrm>
          <a:prstGeom prst="rect">
            <a:avLst/>
          </a:prstGeom>
          <a:noFill/>
        </p:spPr>
        <p:txBody>
          <a:bodyPr wrap="square" rtlCol="0">
            <a:spAutoFit/>
          </a:bodyPr>
          <a:lstStyle/>
          <a:p>
            <a:pPr algn="r"/>
            <a:r>
              <a:rPr lang="en-US"/>
              <a:t>Coding begins early and so Testing can be performed early</a:t>
            </a:r>
          </a:p>
          <a:p>
            <a:pPr algn="r"/>
            <a:endParaRPr lang="en-US"/>
          </a:p>
          <a:p>
            <a:pPr algn="r"/>
            <a:r>
              <a:rPr lang="en-US"/>
              <a:t>Requires really good intuitions to determine functionality of modules</a:t>
            </a:r>
          </a:p>
          <a:p>
            <a:pPr algn="r"/>
            <a:endParaRPr lang="en-US"/>
          </a:p>
          <a:p>
            <a:pPr algn="r"/>
            <a:r>
              <a:rPr lang="en-US"/>
              <a:t>Low level design decisions can have major impact on solutions</a:t>
            </a:r>
          </a:p>
          <a:p>
            <a:pPr algn="r"/>
            <a:endParaRPr lang="en-US"/>
          </a:p>
          <a:p>
            <a:pPr algn="r"/>
            <a:r>
              <a:rPr lang="en-US"/>
              <a:t>Risks integration problems – how do components link together</a:t>
            </a:r>
          </a:p>
          <a:p>
            <a:pPr algn="r"/>
            <a:endParaRPr lang="en-US"/>
          </a:p>
          <a:p>
            <a:pPr algn="r"/>
            <a:r>
              <a:rPr lang="en-US"/>
              <a:t>Often used to add on to existing modules</a:t>
            </a:r>
          </a:p>
          <a:p>
            <a:pPr algn="r"/>
            <a:endParaRPr lang="en-US"/>
          </a:p>
        </p:txBody>
      </p:sp>
      <p:sp>
        <p:nvSpPr>
          <p:cNvPr id="6" name="Up-Down Arrow 5"/>
          <p:cNvSpPr/>
          <p:nvPr/>
        </p:nvSpPr>
        <p:spPr>
          <a:xfrm>
            <a:off x="4275216" y="1600203"/>
            <a:ext cx="457200" cy="4798953"/>
          </a:xfrm>
          <a:prstGeom prst="upDownArrow">
            <a:avLst/>
          </a:prstGeom>
          <a:solidFill>
            <a:schemeClr val="tx1">
              <a:lumMod val="75000"/>
              <a:lumOff val="25000"/>
            </a:schemeClr>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83657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Notation for Diagrams</a:t>
            </a:r>
          </a:p>
        </p:txBody>
      </p:sp>
      <p:sp>
        <p:nvSpPr>
          <p:cNvPr id="3" name="Content Placeholder 2"/>
          <p:cNvSpPr>
            <a:spLocks noGrp="1"/>
          </p:cNvSpPr>
          <p:nvPr>
            <p:ph idx="1"/>
          </p:nvPr>
        </p:nvSpPr>
        <p:spPr/>
        <p:txBody>
          <a:bodyPr>
            <a:normAutofit lnSpcReduction="10000"/>
          </a:bodyPr>
          <a:lstStyle/>
          <a:p>
            <a:r>
              <a:rPr lang="en-US" b="1"/>
              <a:t>Modified Dataflow Language </a:t>
            </a:r>
            <a:r>
              <a:rPr lang="en-US"/>
              <a:t>where we have the following entities:</a:t>
            </a:r>
          </a:p>
          <a:p>
            <a:pPr lvl="1"/>
            <a:r>
              <a:rPr lang="en-US"/>
              <a:t>User</a:t>
            </a:r>
          </a:p>
          <a:p>
            <a:pPr lvl="1"/>
            <a:r>
              <a:rPr lang="en-US"/>
              <a:t>Client</a:t>
            </a:r>
          </a:p>
          <a:p>
            <a:pPr lvl="1"/>
            <a:r>
              <a:rPr lang="en-US"/>
              <a:t>Middleware</a:t>
            </a:r>
          </a:p>
          <a:p>
            <a:pPr lvl="1"/>
            <a:r>
              <a:rPr lang="en-US"/>
              <a:t>Database/</a:t>
            </a:r>
            <a:r>
              <a:rPr lang="en-US" err="1"/>
              <a:t>Datastore</a:t>
            </a:r>
            <a:endParaRPr lang="en-US"/>
          </a:p>
          <a:p>
            <a:pPr lvl="1"/>
            <a:r>
              <a:rPr lang="en-US"/>
              <a:t>Logs/Files</a:t>
            </a:r>
          </a:p>
          <a:p>
            <a:pPr lvl="1"/>
            <a:r>
              <a:rPr lang="en-US"/>
              <a:t>External Service/Application</a:t>
            </a:r>
          </a:p>
          <a:p>
            <a:pPr lvl="1"/>
            <a:r>
              <a:rPr lang="en-US"/>
              <a:t>Communications/</a:t>
            </a:r>
            <a:r>
              <a:rPr lang="en-US" err="1"/>
              <a:t>DataFlows</a:t>
            </a:r>
            <a:endParaRPr lang="en-US"/>
          </a:p>
        </p:txBody>
      </p:sp>
    </p:spTree>
    <p:extLst>
      <p:ext uri="{BB962C8B-B14F-4D97-AF65-F5344CB8AC3E}">
        <p14:creationId xmlns:p14="http://schemas.microsoft.com/office/powerpoint/2010/main" val="12588186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User</a:t>
            </a:r>
          </a:p>
        </p:txBody>
      </p:sp>
      <p:sp>
        <p:nvSpPr>
          <p:cNvPr id="3" name="Content Placeholder 2"/>
          <p:cNvSpPr>
            <a:spLocks noGrp="1"/>
          </p:cNvSpPr>
          <p:nvPr>
            <p:ph idx="1"/>
          </p:nvPr>
        </p:nvSpPr>
        <p:spPr/>
        <p:txBody>
          <a:bodyPr>
            <a:normAutofit/>
          </a:bodyPr>
          <a:lstStyle/>
          <a:p>
            <a:pPr lvl="1"/>
            <a:r>
              <a:rPr lang="en-US"/>
              <a:t>The user or client instigates and interacts with the services or applications provided</a:t>
            </a:r>
          </a:p>
          <a:p>
            <a:pPr lvl="1"/>
            <a:r>
              <a:rPr lang="en-US"/>
              <a:t>There are various clients including:</a:t>
            </a:r>
          </a:p>
          <a:p>
            <a:pPr lvl="2"/>
            <a:r>
              <a:rPr lang="en-US"/>
              <a:t>End Users (of varying abilities) </a:t>
            </a:r>
          </a:p>
          <a:p>
            <a:pPr lvl="2"/>
            <a:r>
              <a:rPr lang="en-US"/>
              <a:t>Administrators, </a:t>
            </a:r>
          </a:p>
          <a:p>
            <a:pPr lvl="2"/>
            <a:r>
              <a:rPr lang="en-US"/>
              <a:t>Developers, </a:t>
            </a:r>
          </a:p>
          <a:p>
            <a:pPr lvl="2"/>
            <a:r>
              <a:rPr lang="en-US"/>
              <a:t>Agents, </a:t>
            </a:r>
          </a:p>
          <a:p>
            <a:pPr lvl="2"/>
            <a:r>
              <a:rPr lang="en-US"/>
              <a:t>Other systems, </a:t>
            </a:r>
          </a:p>
          <a:p>
            <a:pPr lvl="2"/>
            <a:r>
              <a:rPr lang="en-US" err="1"/>
              <a:t>etc</a:t>
            </a:r>
            <a:endParaRPr lang="en-US"/>
          </a:p>
          <a:p>
            <a:endParaRPr lang="en-US"/>
          </a:p>
        </p:txBody>
      </p:sp>
      <p:pic>
        <p:nvPicPr>
          <p:cNvPr id="5" name="Picture 4" descr="1-tier.png"/>
          <p:cNvPicPr>
            <a:picLocks noChangeAspect="1"/>
          </p:cNvPicPr>
          <p:nvPr/>
        </p:nvPicPr>
        <p:blipFill rotWithShape="1">
          <a:blip r:embed="rId2">
            <a:extLst>
              <a:ext uri="{28A0092B-C50C-407E-A947-70E740481C1C}">
                <a14:useLocalDpi xmlns:a14="http://schemas.microsoft.com/office/drawing/2010/main" val="0"/>
              </a:ext>
            </a:extLst>
          </a:blip>
          <a:srcRect r="65674"/>
          <a:stretch/>
        </p:blipFill>
        <p:spPr>
          <a:xfrm>
            <a:off x="6719214" y="3692437"/>
            <a:ext cx="1405906" cy="1412338"/>
          </a:xfrm>
          <a:prstGeom prst="rect">
            <a:avLst/>
          </a:prstGeom>
        </p:spPr>
      </p:pic>
    </p:spTree>
    <p:extLst>
      <p:ext uri="{BB962C8B-B14F-4D97-AF65-F5344CB8AC3E}">
        <p14:creationId xmlns:p14="http://schemas.microsoft.com/office/powerpoint/2010/main" val="16284314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Client</a:t>
            </a:r>
          </a:p>
        </p:txBody>
      </p:sp>
      <p:sp>
        <p:nvSpPr>
          <p:cNvPr id="3" name="Content Placeholder 2"/>
          <p:cNvSpPr>
            <a:spLocks noGrp="1"/>
          </p:cNvSpPr>
          <p:nvPr>
            <p:ph idx="1"/>
          </p:nvPr>
        </p:nvSpPr>
        <p:spPr/>
        <p:txBody>
          <a:bodyPr/>
          <a:lstStyle/>
          <a:p>
            <a:r>
              <a:rPr lang="en-US"/>
              <a:t>The client and the interface presented takes on many forms and can vary greatly:</a:t>
            </a:r>
          </a:p>
          <a:p>
            <a:pPr lvl="1"/>
            <a:r>
              <a:rPr lang="en-US"/>
              <a:t>Web Browser on a PC, Tablet, Mobile, </a:t>
            </a:r>
            <a:r>
              <a:rPr lang="en-US" err="1"/>
              <a:t>etc</a:t>
            </a:r>
            <a:endParaRPr lang="en-US"/>
          </a:p>
          <a:p>
            <a:pPr lvl="1"/>
            <a:r>
              <a:rPr lang="en-US"/>
              <a:t>An API for other systems, agents, developers, </a:t>
            </a:r>
            <a:r>
              <a:rPr lang="en-US" err="1"/>
              <a:t>etc</a:t>
            </a:r>
            <a:endParaRPr lang="en-US"/>
          </a:p>
          <a:p>
            <a:pPr lvl="1"/>
            <a:r>
              <a:rPr lang="en-US"/>
              <a:t>Devices and Robots</a:t>
            </a:r>
          </a:p>
          <a:p>
            <a:pPr lvl="1"/>
            <a:r>
              <a:rPr lang="en-US"/>
              <a:t>Sensors </a:t>
            </a:r>
          </a:p>
        </p:txBody>
      </p:sp>
      <p:pic>
        <p:nvPicPr>
          <p:cNvPr id="5" name="Picture 4" descr="3-tier.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80" y="4704946"/>
            <a:ext cx="8697848" cy="1421217"/>
          </a:xfrm>
          <a:prstGeom prst="rect">
            <a:avLst/>
          </a:prstGeom>
        </p:spPr>
      </p:pic>
    </p:spTree>
    <p:extLst>
      <p:ext uri="{BB962C8B-B14F-4D97-AF65-F5344CB8AC3E}">
        <p14:creationId xmlns:p14="http://schemas.microsoft.com/office/powerpoint/2010/main" val="5779975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Middleware (1)</a:t>
            </a:r>
          </a:p>
        </p:txBody>
      </p:sp>
      <p:sp>
        <p:nvSpPr>
          <p:cNvPr id="3" name="Content Placeholder 2"/>
          <p:cNvSpPr>
            <a:spLocks noGrp="1"/>
          </p:cNvSpPr>
          <p:nvPr>
            <p:ph idx="1"/>
          </p:nvPr>
        </p:nvSpPr>
        <p:spPr/>
        <p:txBody>
          <a:bodyPr>
            <a:normAutofit fontScale="92500" lnSpcReduction="20000"/>
          </a:bodyPr>
          <a:lstStyle/>
          <a:p>
            <a:r>
              <a:rPr lang="en-US"/>
              <a:t>The middleware houses an array of possible components from:</a:t>
            </a:r>
          </a:p>
          <a:p>
            <a:pPr lvl="1"/>
            <a:r>
              <a:rPr lang="en-US"/>
              <a:t>Domain Name Servers</a:t>
            </a:r>
          </a:p>
          <a:p>
            <a:pPr lvl="1"/>
            <a:r>
              <a:rPr lang="en-US"/>
              <a:t>Load Balancing Servers</a:t>
            </a:r>
          </a:p>
          <a:p>
            <a:pPr lvl="1"/>
            <a:r>
              <a:rPr lang="en-US"/>
              <a:t>Web Servers</a:t>
            </a:r>
          </a:p>
          <a:p>
            <a:pPr lvl="1"/>
            <a:r>
              <a:rPr lang="en-US"/>
              <a:t>Application Servers</a:t>
            </a:r>
          </a:p>
          <a:p>
            <a:pPr lvl="1"/>
            <a:r>
              <a:rPr lang="en-US"/>
              <a:t>Caching Servers</a:t>
            </a:r>
          </a:p>
          <a:p>
            <a:r>
              <a:rPr lang="en-US"/>
              <a:t>Typically the first three are predefined or configured using standard software</a:t>
            </a:r>
          </a:p>
          <a:p>
            <a:r>
              <a:rPr lang="en-US"/>
              <a:t>The Application Server is what is mainly of interest i.e. what needs to be developed.</a:t>
            </a:r>
          </a:p>
        </p:txBody>
      </p:sp>
    </p:spTree>
    <p:extLst>
      <p:ext uri="{BB962C8B-B14F-4D97-AF65-F5344CB8AC3E}">
        <p14:creationId xmlns:p14="http://schemas.microsoft.com/office/powerpoint/2010/main" val="863991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Middleware (2)</a:t>
            </a:r>
          </a:p>
        </p:txBody>
      </p:sp>
      <p:sp>
        <p:nvSpPr>
          <p:cNvPr id="3" name="Content Placeholder 2"/>
          <p:cNvSpPr>
            <a:spLocks noGrp="1"/>
          </p:cNvSpPr>
          <p:nvPr>
            <p:ph idx="1"/>
          </p:nvPr>
        </p:nvSpPr>
        <p:spPr/>
        <p:txBody>
          <a:bodyPr/>
          <a:lstStyle/>
          <a:p>
            <a:r>
              <a:rPr lang="en-US"/>
              <a:t>Often represented as a single component that processes requests between the client and database.</a:t>
            </a:r>
          </a:p>
          <a:p>
            <a:pPr lvl="1"/>
            <a:r>
              <a:rPr lang="en-US"/>
              <a:t>Though encapsulates a number of other components</a:t>
            </a:r>
          </a:p>
        </p:txBody>
      </p:sp>
      <p:pic>
        <p:nvPicPr>
          <p:cNvPr id="4" name="Picture 3" descr="3-tier.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80" y="4371341"/>
            <a:ext cx="8697848" cy="1421217"/>
          </a:xfrm>
          <a:prstGeom prst="rect">
            <a:avLst/>
          </a:prstGeom>
        </p:spPr>
      </p:pic>
    </p:spTree>
    <p:extLst>
      <p:ext uri="{BB962C8B-B14F-4D97-AF65-F5344CB8AC3E}">
        <p14:creationId xmlns:p14="http://schemas.microsoft.com/office/powerpoint/2010/main" val="286744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Databases</a:t>
            </a:r>
          </a:p>
        </p:txBody>
      </p:sp>
      <p:sp>
        <p:nvSpPr>
          <p:cNvPr id="3" name="Content Placeholder 2"/>
          <p:cNvSpPr>
            <a:spLocks noGrp="1"/>
          </p:cNvSpPr>
          <p:nvPr>
            <p:ph idx="1"/>
          </p:nvPr>
        </p:nvSpPr>
        <p:spPr>
          <a:xfrm>
            <a:off x="457200" y="1600200"/>
            <a:ext cx="8229600" cy="5034275"/>
          </a:xfrm>
        </p:spPr>
        <p:txBody>
          <a:bodyPr>
            <a:normAutofit lnSpcReduction="10000"/>
          </a:bodyPr>
          <a:lstStyle/>
          <a:p>
            <a:r>
              <a:rPr lang="en-US"/>
              <a:t>A database server is usually employed to handle the data management side of applications.</a:t>
            </a:r>
          </a:p>
          <a:p>
            <a:pPr lvl="1"/>
            <a:r>
              <a:rPr lang="en-US"/>
              <a:t>i.e. Postgres, </a:t>
            </a:r>
            <a:r>
              <a:rPr lang="en-US" err="1"/>
              <a:t>SQLServer</a:t>
            </a:r>
            <a:r>
              <a:rPr lang="en-US"/>
              <a:t>, MySQL</a:t>
            </a:r>
          </a:p>
          <a:p>
            <a:r>
              <a:rPr lang="en-US"/>
              <a:t>While the system is usually already in existence, it needs to be configured</a:t>
            </a:r>
          </a:p>
          <a:p>
            <a:pPr lvl="1"/>
            <a:r>
              <a:rPr lang="en-US"/>
              <a:t>i.e. the database tables have to be defined and populated.</a:t>
            </a:r>
          </a:p>
          <a:p>
            <a:pPr lvl="1"/>
            <a:r>
              <a:rPr lang="en-US"/>
              <a:t>To specify this part more precisely, ER Diagrams can be used.		</a:t>
            </a:r>
          </a:p>
          <a:p>
            <a:pPr marL="914400" lvl="2" indent="0">
              <a:buNone/>
            </a:pPr>
            <a:r>
              <a:rPr lang="en-US"/>
              <a:t>		</a:t>
            </a:r>
          </a:p>
        </p:txBody>
      </p:sp>
      <p:pic>
        <p:nvPicPr>
          <p:cNvPr id="4" name="Picture 3" descr="3-tier.png"/>
          <p:cNvPicPr>
            <a:picLocks noChangeAspect="1"/>
          </p:cNvPicPr>
          <p:nvPr/>
        </p:nvPicPr>
        <p:blipFill rotWithShape="1">
          <a:blip r:embed="rId2">
            <a:extLst>
              <a:ext uri="{28A0092B-C50C-407E-A947-70E740481C1C}">
                <a14:useLocalDpi xmlns:a14="http://schemas.microsoft.com/office/drawing/2010/main" val="0"/>
              </a:ext>
            </a:extLst>
          </a:blip>
          <a:srcRect l="82295"/>
          <a:stretch/>
        </p:blipFill>
        <p:spPr>
          <a:xfrm>
            <a:off x="7295762" y="2596100"/>
            <a:ext cx="1539966" cy="1421217"/>
          </a:xfrm>
          <a:prstGeom prst="rect">
            <a:avLst/>
          </a:prstGeom>
        </p:spPr>
      </p:pic>
    </p:spTree>
    <p:extLst>
      <p:ext uri="{BB962C8B-B14F-4D97-AF65-F5344CB8AC3E}">
        <p14:creationId xmlns:p14="http://schemas.microsoft.com/office/powerpoint/2010/main" val="17569336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external-service.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1400" y="1662993"/>
            <a:ext cx="1422400" cy="3429000"/>
          </a:xfrm>
          <a:prstGeom prst="rect">
            <a:avLst/>
          </a:prstGeom>
        </p:spPr>
      </p:pic>
      <p:sp>
        <p:nvSpPr>
          <p:cNvPr id="2" name="Title 1"/>
          <p:cNvSpPr>
            <a:spLocks noGrp="1"/>
          </p:cNvSpPr>
          <p:nvPr>
            <p:ph type="title"/>
          </p:nvPr>
        </p:nvSpPr>
        <p:spPr/>
        <p:txBody>
          <a:bodyPr/>
          <a:lstStyle/>
          <a:p>
            <a:r>
              <a:rPr lang="en-US"/>
              <a:t>Logs and External Services</a:t>
            </a:r>
          </a:p>
        </p:txBody>
      </p:sp>
      <p:sp>
        <p:nvSpPr>
          <p:cNvPr id="3" name="Content Placeholder 2"/>
          <p:cNvSpPr>
            <a:spLocks noGrp="1"/>
          </p:cNvSpPr>
          <p:nvPr>
            <p:ph idx="1"/>
          </p:nvPr>
        </p:nvSpPr>
        <p:spPr>
          <a:xfrm>
            <a:off x="457200" y="1600200"/>
            <a:ext cx="7487642" cy="4525963"/>
          </a:xfrm>
        </p:spPr>
        <p:txBody>
          <a:bodyPr>
            <a:normAutofit lnSpcReduction="10000"/>
          </a:bodyPr>
          <a:lstStyle/>
          <a:p>
            <a:r>
              <a:rPr lang="en-US"/>
              <a:t>Logs represent data sinks</a:t>
            </a:r>
          </a:p>
          <a:p>
            <a:pPr lvl="1"/>
            <a:r>
              <a:rPr lang="en-US"/>
              <a:t>The application outputs data but does not read it back, directly.</a:t>
            </a:r>
          </a:p>
          <a:p>
            <a:pPr lvl="1"/>
            <a:endParaRPr lang="en-US"/>
          </a:p>
          <a:p>
            <a:r>
              <a:rPr lang="en-US"/>
              <a:t>External Services represent applications and services that are used by the application</a:t>
            </a:r>
          </a:p>
          <a:p>
            <a:pPr lvl="1"/>
            <a:r>
              <a:rPr lang="en-US"/>
              <a:t>They provide an API or interface of some kind that which can be used to interact with the service.</a:t>
            </a:r>
          </a:p>
        </p:txBody>
      </p:sp>
    </p:spTree>
    <p:extLst>
      <p:ext uri="{BB962C8B-B14F-4D97-AF65-F5344CB8AC3E}">
        <p14:creationId xmlns:p14="http://schemas.microsoft.com/office/powerpoint/2010/main" val="21572868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 Messaging</a:t>
            </a:r>
            <a:endParaRPr lang="en-US"/>
          </a:p>
        </p:txBody>
      </p:sp>
      <p:sp>
        <p:nvSpPr>
          <p:cNvPr id="3" name="Content Placeholder 2"/>
          <p:cNvSpPr>
            <a:spLocks noGrp="1"/>
          </p:cNvSpPr>
          <p:nvPr>
            <p:ph idx="1"/>
          </p:nvPr>
        </p:nvSpPr>
        <p:spPr/>
        <p:txBody>
          <a:bodyPr>
            <a:normAutofit fontScale="92500" lnSpcReduction="10000"/>
          </a:bodyPr>
          <a:lstStyle/>
          <a:p>
            <a:pPr>
              <a:buNone/>
            </a:pPr>
            <a:r>
              <a:rPr lang="en-GB"/>
              <a:t>The </a:t>
            </a:r>
            <a:r>
              <a:rPr lang="en-GB" b="1"/>
              <a:t>request message</a:t>
            </a:r>
            <a:r>
              <a:rPr lang="en-GB"/>
              <a:t> is sent to the server from a user agent to:</a:t>
            </a:r>
          </a:p>
          <a:p>
            <a:pPr lvl="1"/>
            <a:r>
              <a:rPr lang="en-GB"/>
              <a:t>ask for some information</a:t>
            </a:r>
          </a:p>
          <a:p>
            <a:pPr lvl="1"/>
            <a:r>
              <a:rPr lang="en-GB"/>
              <a:t>send some information to be stored</a:t>
            </a:r>
          </a:p>
          <a:p>
            <a:pPr lvl="2"/>
            <a:r>
              <a:rPr lang="en-GB"/>
              <a:t>either from user input</a:t>
            </a:r>
          </a:p>
          <a:p>
            <a:pPr lvl="2"/>
            <a:r>
              <a:rPr lang="en-GB"/>
              <a:t>or from some device (sensor)</a:t>
            </a:r>
          </a:p>
          <a:p>
            <a:pPr>
              <a:buNone/>
            </a:pPr>
            <a:r>
              <a:rPr lang="en-GB"/>
              <a:t>The </a:t>
            </a:r>
            <a:r>
              <a:rPr lang="en-GB" b="1"/>
              <a:t>response message</a:t>
            </a:r>
            <a:r>
              <a:rPr lang="en-GB"/>
              <a:t> is sent from the server to a user agent to:</a:t>
            </a:r>
          </a:p>
          <a:p>
            <a:pPr lvl="1"/>
            <a:r>
              <a:rPr lang="en-GB"/>
              <a:t>return the requested information</a:t>
            </a:r>
          </a:p>
          <a:p>
            <a:pPr lvl="1"/>
            <a:r>
              <a:rPr lang="en-GB"/>
              <a:t>affect some change in the environment</a:t>
            </a:r>
          </a:p>
          <a:p>
            <a:endParaRPr lang="en-US"/>
          </a:p>
        </p:txBody>
      </p:sp>
    </p:spTree>
    <p:extLst>
      <p:ext uri="{BB962C8B-B14F-4D97-AF65-F5344CB8AC3E}">
        <p14:creationId xmlns:p14="http://schemas.microsoft.com/office/powerpoint/2010/main" val="10392813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Data flows</a:t>
            </a:r>
          </a:p>
        </p:txBody>
      </p:sp>
      <p:sp>
        <p:nvSpPr>
          <p:cNvPr id="3" name="Content Placeholder 2"/>
          <p:cNvSpPr>
            <a:spLocks noGrp="1"/>
          </p:cNvSpPr>
          <p:nvPr>
            <p:ph idx="1"/>
          </p:nvPr>
        </p:nvSpPr>
        <p:spPr>
          <a:xfrm>
            <a:off x="457200" y="1357020"/>
            <a:ext cx="8229600" cy="4525963"/>
          </a:xfrm>
        </p:spPr>
        <p:txBody>
          <a:bodyPr/>
          <a:lstStyle/>
          <a:p>
            <a:r>
              <a:rPr lang="en-US"/>
              <a:t>Arrows are used to denote the flow of information</a:t>
            </a:r>
          </a:p>
          <a:p>
            <a:pPr lvl="1"/>
            <a:r>
              <a:rPr lang="en-US"/>
              <a:t>The direction of the arrow denotes the direction of the communication.</a:t>
            </a:r>
          </a:p>
          <a:p>
            <a:pPr lvl="1"/>
            <a:r>
              <a:rPr lang="en-US"/>
              <a:t>Most communications are both ways, where a request is made, followed by a response.</a:t>
            </a:r>
          </a:p>
          <a:p>
            <a:pPr lvl="1"/>
            <a:r>
              <a:rPr lang="en-US"/>
              <a:t>The client makes the requests.</a:t>
            </a:r>
          </a:p>
          <a:p>
            <a:pPr lvl="1"/>
            <a:r>
              <a:rPr lang="en-US"/>
              <a:t>This show how the entities are related.</a:t>
            </a:r>
          </a:p>
          <a:p>
            <a:pPr lvl="1"/>
            <a:endParaRPr lang="en-US"/>
          </a:p>
          <a:p>
            <a:pPr lvl="1"/>
            <a:endParaRPr lang="en-US"/>
          </a:p>
        </p:txBody>
      </p:sp>
      <p:pic>
        <p:nvPicPr>
          <p:cNvPr id="5" name="Picture 4" descr="Drawing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7420" y="5247983"/>
            <a:ext cx="6502400" cy="1270000"/>
          </a:xfrm>
          <a:prstGeom prst="rect">
            <a:avLst/>
          </a:prstGeom>
        </p:spPr>
      </p:pic>
    </p:spTree>
    <p:extLst>
      <p:ext uri="{BB962C8B-B14F-4D97-AF65-F5344CB8AC3E}">
        <p14:creationId xmlns:p14="http://schemas.microsoft.com/office/powerpoint/2010/main" val="39907087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Technology and Devices</a:t>
            </a:r>
          </a:p>
        </p:txBody>
      </p:sp>
      <p:sp>
        <p:nvSpPr>
          <p:cNvPr id="3" name="Content Placeholder 2"/>
          <p:cNvSpPr>
            <a:spLocks noGrp="1"/>
          </p:cNvSpPr>
          <p:nvPr>
            <p:ph idx="1"/>
          </p:nvPr>
        </p:nvSpPr>
        <p:spPr/>
        <p:txBody>
          <a:bodyPr/>
          <a:lstStyle/>
          <a:p>
            <a:r>
              <a:rPr lang="en-US"/>
              <a:t>For each box, we can state/specify the technology/device used, e.g.</a:t>
            </a:r>
          </a:p>
          <a:p>
            <a:pPr lvl="1"/>
            <a:r>
              <a:rPr lang="en-US"/>
              <a:t>Client: Web browser on a mobile device, using HTML/CSS/JS</a:t>
            </a:r>
          </a:p>
          <a:p>
            <a:pPr lvl="1"/>
            <a:r>
              <a:rPr lang="en-US"/>
              <a:t>Middleware: Apache Web Server, with an Application Server built using </a:t>
            </a:r>
            <a:r>
              <a:rPr lang="en-US" err="1"/>
              <a:t>Django</a:t>
            </a:r>
            <a:endParaRPr lang="en-US"/>
          </a:p>
          <a:p>
            <a:pPr lvl="1"/>
            <a:r>
              <a:rPr lang="en-US"/>
              <a:t>Database: </a:t>
            </a:r>
            <a:r>
              <a:rPr lang="en-US" err="1"/>
              <a:t>MySql</a:t>
            </a:r>
            <a:r>
              <a:rPr lang="en-US"/>
              <a:t> Database Server</a:t>
            </a:r>
          </a:p>
        </p:txBody>
      </p:sp>
      <p:pic>
        <p:nvPicPr>
          <p:cNvPr id="4" name="Picture 3" descr="3-tier.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80" y="5210583"/>
            <a:ext cx="8697848" cy="1421217"/>
          </a:xfrm>
          <a:prstGeom prst="rect">
            <a:avLst/>
          </a:prstGeom>
        </p:spPr>
      </p:pic>
      <p:sp>
        <p:nvSpPr>
          <p:cNvPr id="5" name="TextBox 4">
            <a:extLst>
              <a:ext uri="{FF2B5EF4-FFF2-40B4-BE49-F238E27FC236}">
                <a16:creationId xmlns:a16="http://schemas.microsoft.com/office/drawing/2014/main" id="{F29628B6-6587-992D-2779-81223710ED5E}"/>
              </a:ext>
            </a:extLst>
          </p:cNvPr>
          <p:cNvSpPr txBox="1"/>
          <p:nvPr/>
        </p:nvSpPr>
        <p:spPr>
          <a:xfrm>
            <a:off x="1828801" y="5987663"/>
            <a:ext cx="1631852" cy="276999"/>
          </a:xfrm>
          <a:prstGeom prst="rect">
            <a:avLst/>
          </a:prstGeom>
          <a:noFill/>
        </p:spPr>
        <p:txBody>
          <a:bodyPr wrap="square" rtlCol="0">
            <a:spAutoFit/>
          </a:bodyPr>
          <a:lstStyle/>
          <a:p>
            <a:r>
              <a:rPr lang="en-US" sz="1200" i="1"/>
              <a:t>Chrome; Firefox; Edge</a:t>
            </a:r>
          </a:p>
        </p:txBody>
      </p:sp>
      <p:sp>
        <p:nvSpPr>
          <p:cNvPr id="6" name="TextBox 5">
            <a:extLst>
              <a:ext uri="{FF2B5EF4-FFF2-40B4-BE49-F238E27FC236}">
                <a16:creationId xmlns:a16="http://schemas.microsoft.com/office/drawing/2014/main" id="{FE52D5D9-7BD7-B424-4415-AAE60F797AA1}"/>
              </a:ext>
            </a:extLst>
          </p:cNvPr>
          <p:cNvSpPr txBox="1"/>
          <p:nvPr/>
        </p:nvSpPr>
        <p:spPr>
          <a:xfrm>
            <a:off x="4797085" y="5964580"/>
            <a:ext cx="1772528" cy="461665"/>
          </a:xfrm>
          <a:prstGeom prst="rect">
            <a:avLst/>
          </a:prstGeom>
          <a:noFill/>
        </p:spPr>
        <p:txBody>
          <a:bodyPr wrap="square" rtlCol="0">
            <a:spAutoFit/>
          </a:bodyPr>
          <a:lstStyle/>
          <a:p>
            <a:r>
              <a:rPr lang="en-US" sz="1200" i="1"/>
              <a:t>Apache Web Server; Django 4.1.5;Bootstrap </a:t>
            </a:r>
          </a:p>
        </p:txBody>
      </p:sp>
      <p:sp>
        <p:nvSpPr>
          <p:cNvPr id="7" name="TextBox 6">
            <a:extLst>
              <a:ext uri="{FF2B5EF4-FFF2-40B4-BE49-F238E27FC236}">
                <a16:creationId xmlns:a16="http://schemas.microsoft.com/office/drawing/2014/main" id="{784197C4-CF88-A665-F2F4-E0DA2FCBFCE1}"/>
              </a:ext>
            </a:extLst>
          </p:cNvPr>
          <p:cNvSpPr txBox="1"/>
          <p:nvPr/>
        </p:nvSpPr>
        <p:spPr>
          <a:xfrm>
            <a:off x="8053756" y="6010746"/>
            <a:ext cx="633044" cy="276999"/>
          </a:xfrm>
          <a:prstGeom prst="rect">
            <a:avLst/>
          </a:prstGeom>
          <a:noFill/>
        </p:spPr>
        <p:txBody>
          <a:bodyPr wrap="square" rtlCol="0">
            <a:spAutoFit/>
          </a:bodyPr>
          <a:lstStyle/>
          <a:p>
            <a:r>
              <a:rPr lang="en-US" sz="1200" i="1"/>
              <a:t>MySQL</a:t>
            </a:r>
          </a:p>
        </p:txBody>
      </p:sp>
    </p:spTree>
    <p:extLst>
      <p:ext uri="{BB962C8B-B14F-4D97-AF65-F5344CB8AC3E}">
        <p14:creationId xmlns:p14="http://schemas.microsoft.com/office/powerpoint/2010/main" val="10153801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Database </a:t>
            </a:r>
            <a:r>
              <a:rPr lang="en-US" err="1"/>
              <a:t>ModellinG</a:t>
            </a:r>
            <a:endParaRPr lang="en-US"/>
          </a:p>
        </p:txBody>
      </p:sp>
      <p:sp>
        <p:nvSpPr>
          <p:cNvPr id="5" name="Text Placeholder 4">
            <a:extLst>
              <a:ext uri="{FF2B5EF4-FFF2-40B4-BE49-F238E27FC236}">
                <a16:creationId xmlns:a16="http://schemas.microsoft.com/office/drawing/2014/main" id="{48B81DEA-8908-D3DF-14CE-671B68CF122A}"/>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27553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Entity Relationship Model</a:t>
            </a:r>
          </a:p>
        </p:txBody>
      </p:sp>
      <p:sp>
        <p:nvSpPr>
          <p:cNvPr id="3" name="Content Placeholder 2"/>
          <p:cNvSpPr>
            <a:spLocks noGrp="1"/>
          </p:cNvSpPr>
          <p:nvPr>
            <p:ph idx="1"/>
          </p:nvPr>
        </p:nvSpPr>
        <p:spPr/>
        <p:txBody>
          <a:bodyPr>
            <a:normAutofit lnSpcReduction="10000"/>
          </a:bodyPr>
          <a:lstStyle/>
          <a:p>
            <a:r>
              <a:rPr lang="en-US"/>
              <a:t>Provides an abstract representation of the data and how it relates to each other</a:t>
            </a:r>
          </a:p>
          <a:p>
            <a:pPr lvl="1"/>
            <a:r>
              <a:rPr lang="en-US"/>
              <a:t>Developed by Peter Chen in 1976</a:t>
            </a:r>
          </a:p>
          <a:p>
            <a:r>
              <a:rPr lang="en-US"/>
              <a:t>Lend themselves to being implemented in a database (esp. relational databases)</a:t>
            </a:r>
          </a:p>
          <a:p>
            <a:r>
              <a:rPr lang="en-US"/>
              <a:t>Three main components: </a:t>
            </a:r>
          </a:p>
          <a:p>
            <a:pPr lvl="1"/>
            <a:r>
              <a:rPr lang="en-US"/>
              <a:t>Entities, </a:t>
            </a:r>
          </a:p>
          <a:p>
            <a:pPr lvl="1"/>
            <a:r>
              <a:rPr lang="en-US"/>
              <a:t>Relationships and </a:t>
            </a:r>
          </a:p>
          <a:p>
            <a:pPr lvl="1"/>
            <a:r>
              <a:rPr lang="en-US"/>
              <a:t>Attributes</a:t>
            </a:r>
          </a:p>
        </p:txBody>
      </p:sp>
      <p:pic>
        <p:nvPicPr>
          <p:cNvPr id="1026" name="Picture 2">
            <a:extLst>
              <a:ext uri="{FF2B5EF4-FFF2-40B4-BE49-F238E27FC236}">
                <a16:creationId xmlns:a16="http://schemas.microsoft.com/office/drawing/2014/main" id="{1FCF8E81-9F47-C644-8CA4-2EE80DB853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75714" y="3772060"/>
            <a:ext cx="1727200" cy="229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429233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Notations</a:t>
            </a:r>
          </a:p>
        </p:txBody>
      </p:sp>
      <p:sp>
        <p:nvSpPr>
          <p:cNvPr id="3" name="Content Placeholder 2"/>
          <p:cNvSpPr>
            <a:spLocks noGrp="1"/>
          </p:cNvSpPr>
          <p:nvPr>
            <p:ph idx="1"/>
          </p:nvPr>
        </p:nvSpPr>
        <p:spPr/>
        <p:txBody>
          <a:bodyPr>
            <a:normAutofit lnSpcReduction="10000"/>
          </a:bodyPr>
          <a:lstStyle/>
          <a:p>
            <a:r>
              <a:rPr lang="en-US"/>
              <a:t>Lots of different notations </a:t>
            </a:r>
          </a:p>
          <a:p>
            <a:pPr lvl="1"/>
            <a:r>
              <a:rPr lang="en-US"/>
              <a:t>Chen’s</a:t>
            </a:r>
          </a:p>
          <a:p>
            <a:pPr lvl="1"/>
            <a:r>
              <a:rPr lang="en-US"/>
              <a:t>Bachman’s</a:t>
            </a:r>
          </a:p>
          <a:p>
            <a:pPr lvl="1"/>
            <a:r>
              <a:rPr lang="en-US"/>
              <a:t>Barker’s</a:t>
            </a:r>
          </a:p>
          <a:p>
            <a:pPr lvl="1"/>
            <a:r>
              <a:rPr lang="en-US"/>
              <a:t>Martin’s</a:t>
            </a:r>
          </a:p>
          <a:p>
            <a:pPr lvl="1"/>
            <a:r>
              <a:rPr lang="en-US" err="1"/>
              <a:t>Etc</a:t>
            </a:r>
            <a:endParaRPr lang="en-US"/>
          </a:p>
          <a:p>
            <a:r>
              <a:rPr lang="en-US"/>
              <a:t>Each support different ways to draw the ER model</a:t>
            </a:r>
          </a:p>
          <a:p>
            <a:pPr lvl="1"/>
            <a:r>
              <a:rPr lang="en-US"/>
              <a:t>We will be using a </a:t>
            </a:r>
            <a:r>
              <a:rPr lang="en-US" b="1" u="sng"/>
              <a:t>Compressed Chen Notation</a:t>
            </a:r>
          </a:p>
        </p:txBody>
      </p:sp>
    </p:spTree>
    <p:extLst>
      <p:ext uri="{BB962C8B-B14F-4D97-AF65-F5344CB8AC3E}">
        <p14:creationId xmlns:p14="http://schemas.microsoft.com/office/powerpoint/2010/main" val="2634639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Example</a:t>
            </a:r>
          </a:p>
        </p:txBody>
      </p:sp>
      <p:sp>
        <p:nvSpPr>
          <p:cNvPr id="3" name="Content Placeholder 2"/>
          <p:cNvSpPr>
            <a:spLocks noGrp="1"/>
          </p:cNvSpPr>
          <p:nvPr>
            <p:ph idx="1"/>
          </p:nvPr>
        </p:nvSpPr>
        <p:spPr/>
        <p:txBody>
          <a:bodyPr>
            <a:normAutofit fontScale="92500" lnSpcReduction="20000"/>
          </a:bodyPr>
          <a:lstStyle/>
          <a:p>
            <a:r>
              <a:rPr lang="en-US"/>
              <a:t>Many people live in one house</a:t>
            </a:r>
          </a:p>
          <a:p>
            <a:endParaRPr lang="en-US" b="1"/>
          </a:p>
          <a:p>
            <a:endParaRPr lang="en-US" b="1"/>
          </a:p>
          <a:p>
            <a:endParaRPr lang="en-US" b="1"/>
          </a:p>
          <a:p>
            <a:r>
              <a:rPr lang="en-US" b="1"/>
              <a:t>Rectangles</a:t>
            </a:r>
            <a:r>
              <a:rPr lang="en-US"/>
              <a:t> represent Entities</a:t>
            </a:r>
          </a:p>
          <a:p>
            <a:r>
              <a:rPr lang="en-US" b="1"/>
              <a:t>Diamonds</a:t>
            </a:r>
            <a:r>
              <a:rPr lang="en-US"/>
              <a:t> represent Relationships</a:t>
            </a:r>
          </a:p>
          <a:p>
            <a:r>
              <a:rPr lang="en-US" b="1"/>
              <a:t>1</a:t>
            </a:r>
            <a:r>
              <a:rPr lang="en-US"/>
              <a:t>, </a:t>
            </a:r>
            <a:r>
              <a:rPr lang="en-US" b="1"/>
              <a:t>N</a:t>
            </a:r>
            <a:r>
              <a:rPr lang="en-US"/>
              <a:t> or </a:t>
            </a:r>
            <a:r>
              <a:rPr lang="en-US" b="1"/>
              <a:t>M</a:t>
            </a:r>
            <a:r>
              <a:rPr lang="en-US"/>
              <a:t>, represents the cardinality of the relationship</a:t>
            </a:r>
          </a:p>
          <a:p>
            <a:pPr lvl="1"/>
            <a:r>
              <a:rPr lang="en-US"/>
              <a:t>N and M mean Many (usually you put M)</a:t>
            </a:r>
          </a:p>
          <a:p>
            <a:pPr lvl="1"/>
            <a:r>
              <a:rPr lang="en-US"/>
              <a:t>Different notations use crows feet, etc.</a:t>
            </a:r>
          </a:p>
          <a:p>
            <a:pPr marL="0" indent="0">
              <a:buNone/>
            </a:pPr>
            <a:endParaRPr lang="en-US"/>
          </a:p>
        </p:txBody>
      </p:sp>
      <p:pic>
        <p:nvPicPr>
          <p:cNvPr id="4" name="Picture 3" descr="person-erd.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05291" y="2193326"/>
            <a:ext cx="5245100" cy="965200"/>
          </a:xfrm>
          <a:prstGeom prst="rect">
            <a:avLst/>
          </a:prstGeom>
        </p:spPr>
      </p:pic>
    </p:spTree>
    <p:extLst>
      <p:ext uri="{BB962C8B-B14F-4D97-AF65-F5344CB8AC3E}">
        <p14:creationId xmlns:p14="http://schemas.microsoft.com/office/powerpoint/2010/main" val="36602476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Many to Many</a:t>
            </a:r>
          </a:p>
        </p:txBody>
      </p:sp>
      <p:sp>
        <p:nvSpPr>
          <p:cNvPr id="3" name="Content Placeholder 2"/>
          <p:cNvSpPr>
            <a:spLocks noGrp="1"/>
          </p:cNvSpPr>
          <p:nvPr>
            <p:ph idx="1"/>
          </p:nvPr>
        </p:nvSpPr>
        <p:spPr>
          <a:xfrm>
            <a:off x="457200" y="1187652"/>
            <a:ext cx="8229600" cy="4525963"/>
          </a:xfrm>
        </p:spPr>
        <p:txBody>
          <a:bodyPr/>
          <a:lstStyle/>
          <a:p>
            <a:r>
              <a:rPr lang="en-US"/>
              <a:t>Many courses are taken by many students</a:t>
            </a:r>
          </a:p>
          <a:p>
            <a:pPr lvl="1"/>
            <a:r>
              <a:rPr lang="en-US"/>
              <a:t>Can be represented like:</a:t>
            </a:r>
          </a:p>
          <a:p>
            <a:pPr lvl="1"/>
            <a:endParaRPr lang="en-US"/>
          </a:p>
          <a:p>
            <a:pPr marL="457200" lvl="1" indent="0">
              <a:buNone/>
            </a:pPr>
            <a:endParaRPr lang="en-US"/>
          </a:p>
          <a:p>
            <a:pPr lvl="1"/>
            <a:r>
              <a:rPr lang="en-US"/>
              <a:t>Or like this:</a:t>
            </a:r>
          </a:p>
        </p:txBody>
      </p:sp>
      <p:pic>
        <p:nvPicPr>
          <p:cNvPr id="4" name="Picture 3" descr="person-er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6254" y="2329388"/>
            <a:ext cx="5245100" cy="965200"/>
          </a:xfrm>
          <a:prstGeom prst="rect">
            <a:avLst/>
          </a:prstGeom>
        </p:spPr>
      </p:pic>
      <p:pic>
        <p:nvPicPr>
          <p:cNvPr id="5" name="Picture 4" descr="person-erd.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41371" y="3888026"/>
            <a:ext cx="5245100" cy="2743200"/>
          </a:xfrm>
          <a:prstGeom prst="rect">
            <a:avLst/>
          </a:prstGeom>
        </p:spPr>
      </p:pic>
    </p:spTree>
    <p:extLst>
      <p:ext uri="{BB962C8B-B14F-4D97-AF65-F5344CB8AC3E}">
        <p14:creationId xmlns:p14="http://schemas.microsoft.com/office/powerpoint/2010/main" val="30771748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Chen vs Compressed Chen (1)</a:t>
            </a:r>
          </a:p>
        </p:txBody>
      </p:sp>
      <p:sp>
        <p:nvSpPr>
          <p:cNvPr id="3" name="Content Placeholder 2"/>
          <p:cNvSpPr>
            <a:spLocks noGrp="1"/>
          </p:cNvSpPr>
          <p:nvPr>
            <p:ph idx="1"/>
          </p:nvPr>
        </p:nvSpPr>
        <p:spPr>
          <a:xfrm>
            <a:off x="457200" y="1187652"/>
            <a:ext cx="8229600" cy="4525963"/>
          </a:xfrm>
        </p:spPr>
        <p:txBody>
          <a:bodyPr>
            <a:normAutofit fontScale="85000" lnSpcReduction="20000"/>
          </a:bodyPr>
          <a:lstStyle/>
          <a:p>
            <a:r>
              <a:rPr lang="en-US"/>
              <a:t>Chen Notation shows attributes as circles/ellipses</a:t>
            </a:r>
          </a:p>
          <a:p>
            <a:endParaRPr lang="en-US"/>
          </a:p>
          <a:p>
            <a:endParaRPr lang="en-US"/>
          </a:p>
          <a:p>
            <a:endParaRPr lang="en-US"/>
          </a:p>
          <a:p>
            <a:endParaRPr lang="en-US"/>
          </a:p>
          <a:p>
            <a:endParaRPr lang="en-US"/>
          </a:p>
          <a:p>
            <a:endParaRPr lang="en-US"/>
          </a:p>
          <a:p>
            <a:endParaRPr lang="en-US"/>
          </a:p>
          <a:p>
            <a:endParaRPr lang="en-US"/>
          </a:p>
          <a:p>
            <a:r>
              <a:rPr lang="en-US"/>
              <a:t>This gets pretty cumbersome</a:t>
            </a:r>
          </a:p>
        </p:txBody>
      </p:sp>
      <p:pic>
        <p:nvPicPr>
          <p:cNvPr id="4" name="Picture 3" descr="person-er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17836" y="1790753"/>
            <a:ext cx="4356100" cy="4114800"/>
          </a:xfrm>
          <a:prstGeom prst="rect">
            <a:avLst/>
          </a:prstGeom>
        </p:spPr>
      </p:pic>
    </p:spTree>
    <p:extLst>
      <p:ext uri="{BB962C8B-B14F-4D97-AF65-F5344CB8AC3E}">
        <p14:creationId xmlns:p14="http://schemas.microsoft.com/office/powerpoint/2010/main" val="38256657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Chen </a:t>
            </a:r>
            <a:r>
              <a:rPr lang="en-US" err="1"/>
              <a:t>vs</a:t>
            </a:r>
            <a:r>
              <a:rPr lang="en-US"/>
              <a:t> Compressed Chen (2)</a:t>
            </a:r>
          </a:p>
        </p:txBody>
      </p:sp>
      <p:sp>
        <p:nvSpPr>
          <p:cNvPr id="3" name="Content Placeholder 2"/>
          <p:cNvSpPr>
            <a:spLocks noGrp="1"/>
          </p:cNvSpPr>
          <p:nvPr>
            <p:ph idx="1"/>
          </p:nvPr>
        </p:nvSpPr>
        <p:spPr>
          <a:xfrm>
            <a:off x="457200" y="1187652"/>
            <a:ext cx="8229600" cy="5419008"/>
          </a:xfrm>
        </p:spPr>
        <p:txBody>
          <a:bodyPr>
            <a:normAutofit fontScale="92500" lnSpcReduction="20000"/>
          </a:bodyPr>
          <a:lstStyle/>
          <a:p>
            <a:r>
              <a:rPr lang="en-US"/>
              <a:t>In compressed Chen notation, we only put entities and relationships in the diagram and then separately list the attributes</a:t>
            </a:r>
          </a:p>
          <a:p>
            <a:endParaRPr lang="en-US"/>
          </a:p>
          <a:p>
            <a:endParaRPr lang="en-US"/>
          </a:p>
          <a:p>
            <a:endParaRPr lang="en-US"/>
          </a:p>
          <a:p>
            <a:endParaRPr lang="en-US"/>
          </a:p>
          <a:p>
            <a:endParaRPr lang="en-US"/>
          </a:p>
          <a:p>
            <a:endParaRPr lang="en-US"/>
          </a:p>
          <a:p>
            <a:endParaRPr lang="en-US"/>
          </a:p>
          <a:p>
            <a:r>
              <a:rPr lang="en-US"/>
              <a:t>This way we can neatly represent the attributes and their types</a:t>
            </a:r>
          </a:p>
          <a:p>
            <a:endParaRPr lang="en-US"/>
          </a:p>
          <a:p>
            <a:endParaRPr lang="en-US"/>
          </a:p>
        </p:txBody>
      </p:sp>
      <p:graphicFrame>
        <p:nvGraphicFramePr>
          <p:cNvPr id="5" name="Table 4"/>
          <p:cNvGraphicFramePr>
            <a:graphicFrameLocks noGrp="1"/>
          </p:cNvGraphicFramePr>
          <p:nvPr>
            <p:extLst>
              <p:ext uri="{D42A27DB-BD31-4B8C-83A1-F6EECF244321}">
                <p14:modId xmlns:p14="http://schemas.microsoft.com/office/powerpoint/2010/main" val="1836318675"/>
              </p:ext>
            </p:extLst>
          </p:nvPr>
        </p:nvGraphicFramePr>
        <p:xfrm>
          <a:off x="872775" y="2599216"/>
          <a:ext cx="6096000" cy="2595880"/>
        </p:xfrm>
        <a:graphic>
          <a:graphicData uri="http://schemas.openxmlformats.org/drawingml/2006/table">
            <a:tbl>
              <a:tblPr firstRow="1" bandRow="1">
                <a:tableStyleId>{5940675A-B579-460E-94D1-54222C63F5DA}</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70840">
                <a:tc>
                  <a:txBody>
                    <a:bodyPr/>
                    <a:lstStyle/>
                    <a:p>
                      <a:r>
                        <a:rPr lang="en-US" b="1">
                          <a:solidFill>
                            <a:schemeClr val="bg1"/>
                          </a:solidFill>
                        </a:rPr>
                        <a:t>STUDENT</a:t>
                      </a:r>
                    </a:p>
                  </a:txBody>
                  <a:tcPr>
                    <a:solidFill>
                      <a:schemeClr val="tx1"/>
                    </a:solidFill>
                  </a:tcPr>
                </a:tc>
                <a:tc>
                  <a:txBody>
                    <a:bodyPr/>
                    <a:lstStyle/>
                    <a:p>
                      <a:endParaRPr lang="en-US" b="1">
                        <a:solidFill>
                          <a:schemeClr val="bg1"/>
                        </a:solidFill>
                      </a:endParaRPr>
                    </a:p>
                  </a:txBody>
                  <a:tcPr>
                    <a:solidFill>
                      <a:schemeClr val="tx1"/>
                    </a:solidFill>
                  </a:tcPr>
                </a:tc>
                <a:extLst>
                  <a:ext uri="{0D108BD9-81ED-4DB2-BD59-A6C34878D82A}">
                    <a16:rowId xmlns:a16="http://schemas.microsoft.com/office/drawing/2014/main" val="1788008583"/>
                  </a:ext>
                </a:extLst>
              </a:tr>
              <a:tr h="370840">
                <a:tc>
                  <a:txBody>
                    <a:bodyPr/>
                    <a:lstStyle/>
                    <a:p>
                      <a:r>
                        <a:rPr lang="en-US" b="1"/>
                        <a:t>Field</a:t>
                      </a:r>
                    </a:p>
                  </a:txBody>
                  <a:tcPr/>
                </a:tc>
                <a:tc>
                  <a:txBody>
                    <a:bodyPr/>
                    <a:lstStyle/>
                    <a:p>
                      <a:r>
                        <a:rPr lang="en-US" b="1"/>
                        <a:t>Type</a:t>
                      </a:r>
                    </a:p>
                  </a:txBody>
                  <a:tcPr/>
                </a:tc>
                <a:extLst>
                  <a:ext uri="{0D108BD9-81ED-4DB2-BD59-A6C34878D82A}">
                    <a16:rowId xmlns:a16="http://schemas.microsoft.com/office/drawing/2014/main" val="10000"/>
                  </a:ext>
                </a:extLst>
              </a:tr>
              <a:tr h="370840">
                <a:tc>
                  <a:txBody>
                    <a:bodyPr/>
                    <a:lstStyle/>
                    <a:p>
                      <a:r>
                        <a:rPr lang="en-US"/>
                        <a:t>Student No</a:t>
                      </a:r>
                    </a:p>
                  </a:txBody>
                  <a:tcPr/>
                </a:tc>
                <a:tc>
                  <a:txBody>
                    <a:bodyPr/>
                    <a:lstStyle/>
                    <a:p>
                      <a:r>
                        <a:rPr lang="en-US"/>
                        <a:t>Integer</a:t>
                      </a:r>
                    </a:p>
                  </a:txBody>
                  <a:tcPr/>
                </a:tc>
                <a:extLst>
                  <a:ext uri="{0D108BD9-81ED-4DB2-BD59-A6C34878D82A}">
                    <a16:rowId xmlns:a16="http://schemas.microsoft.com/office/drawing/2014/main" val="10001"/>
                  </a:ext>
                </a:extLst>
              </a:tr>
              <a:tr h="370840">
                <a:tc>
                  <a:txBody>
                    <a:bodyPr/>
                    <a:lstStyle/>
                    <a:p>
                      <a:r>
                        <a:rPr lang="en-US" err="1"/>
                        <a:t>Firstname</a:t>
                      </a:r>
                      <a:endParaRPr lang="en-US"/>
                    </a:p>
                  </a:txBody>
                  <a:tcPr/>
                </a:tc>
                <a:tc>
                  <a:txBody>
                    <a:bodyPr/>
                    <a:lstStyle/>
                    <a:p>
                      <a:r>
                        <a:rPr lang="en-US"/>
                        <a:t>Char (128)</a:t>
                      </a:r>
                    </a:p>
                  </a:txBody>
                  <a:tcPr/>
                </a:tc>
                <a:extLst>
                  <a:ext uri="{0D108BD9-81ED-4DB2-BD59-A6C34878D82A}">
                    <a16:rowId xmlns:a16="http://schemas.microsoft.com/office/drawing/2014/main" val="10002"/>
                  </a:ext>
                </a:extLst>
              </a:tr>
              <a:tr h="370840">
                <a:tc>
                  <a:txBody>
                    <a:bodyPr/>
                    <a:lstStyle/>
                    <a:p>
                      <a:r>
                        <a:rPr lang="en-US" err="1"/>
                        <a:t>SecondName</a:t>
                      </a:r>
                      <a:endParaRPr lang="en-US"/>
                    </a:p>
                  </a:txBody>
                  <a:tcPr/>
                </a:tc>
                <a:tc>
                  <a:txBody>
                    <a:bodyPr/>
                    <a:lstStyle/>
                    <a:p>
                      <a:r>
                        <a:rPr lang="en-US"/>
                        <a:t>Char</a:t>
                      </a:r>
                      <a:r>
                        <a:rPr lang="en-US" baseline="0"/>
                        <a:t> (128)</a:t>
                      </a:r>
                      <a:endParaRPr lang="en-US"/>
                    </a:p>
                  </a:txBody>
                  <a:tcPr/>
                </a:tc>
                <a:extLst>
                  <a:ext uri="{0D108BD9-81ED-4DB2-BD59-A6C34878D82A}">
                    <a16:rowId xmlns:a16="http://schemas.microsoft.com/office/drawing/2014/main" val="10003"/>
                  </a:ext>
                </a:extLst>
              </a:tr>
              <a:tr h="370840">
                <a:tc>
                  <a:txBody>
                    <a:bodyPr/>
                    <a:lstStyle/>
                    <a:p>
                      <a:r>
                        <a:rPr lang="en-US"/>
                        <a:t>Phone-no</a:t>
                      </a:r>
                    </a:p>
                  </a:txBody>
                  <a:tcPr/>
                </a:tc>
                <a:tc>
                  <a:txBody>
                    <a:bodyPr/>
                    <a:lstStyle/>
                    <a:p>
                      <a:r>
                        <a:rPr lang="en-US"/>
                        <a:t>Char (15), formatted</a:t>
                      </a:r>
                    </a:p>
                  </a:txBody>
                  <a:tcPr/>
                </a:tc>
                <a:extLst>
                  <a:ext uri="{0D108BD9-81ED-4DB2-BD59-A6C34878D82A}">
                    <a16:rowId xmlns:a16="http://schemas.microsoft.com/office/drawing/2014/main" val="10004"/>
                  </a:ext>
                </a:extLst>
              </a:tr>
              <a:tr h="370840">
                <a:tc>
                  <a:txBody>
                    <a:bodyPr/>
                    <a:lstStyle/>
                    <a:p>
                      <a:r>
                        <a:rPr lang="en-US"/>
                        <a:t>…</a:t>
                      </a:r>
                    </a:p>
                  </a:txBody>
                  <a:tcPr/>
                </a:tc>
                <a:tc>
                  <a:txBody>
                    <a:bodyPr/>
                    <a:lstStyle/>
                    <a:p>
                      <a:r>
                        <a:rPr lang="en-US"/>
                        <a:t>…</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618042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Converting to </a:t>
            </a:r>
            <a:r>
              <a:rPr lang="en-US" err="1"/>
              <a:t>Django</a:t>
            </a:r>
            <a:r>
              <a:rPr lang="en-US"/>
              <a:t> Models</a:t>
            </a:r>
          </a:p>
        </p:txBody>
      </p:sp>
      <p:sp>
        <p:nvSpPr>
          <p:cNvPr id="3" name="Content Placeholder 2"/>
          <p:cNvSpPr>
            <a:spLocks noGrp="1"/>
          </p:cNvSpPr>
          <p:nvPr>
            <p:ph idx="1"/>
          </p:nvPr>
        </p:nvSpPr>
        <p:spPr/>
        <p:txBody>
          <a:bodyPr>
            <a:normAutofit lnSpcReduction="10000"/>
          </a:bodyPr>
          <a:lstStyle/>
          <a:p>
            <a:r>
              <a:rPr lang="en-US"/>
              <a:t>As a rule, each entity becomes a model.</a:t>
            </a:r>
          </a:p>
          <a:p>
            <a:r>
              <a:rPr lang="en-US"/>
              <a:t>Then the relationship between the entities is specified using:</a:t>
            </a:r>
          </a:p>
          <a:p>
            <a:pPr lvl="1"/>
            <a:r>
              <a:rPr lang="en-US" err="1">
                <a:solidFill>
                  <a:srgbClr val="008000"/>
                </a:solidFill>
              </a:rPr>
              <a:t>models.ForeignKey</a:t>
            </a:r>
            <a:r>
              <a:rPr lang="en-US"/>
              <a:t>  - denotes one-to-many</a:t>
            </a:r>
          </a:p>
          <a:p>
            <a:pPr lvl="1"/>
            <a:r>
              <a:rPr lang="en-US" err="1">
                <a:solidFill>
                  <a:srgbClr val="008000"/>
                </a:solidFill>
              </a:rPr>
              <a:t>models.OneToOneField</a:t>
            </a:r>
            <a:r>
              <a:rPr lang="en-US"/>
              <a:t> - denotes one-to-one</a:t>
            </a:r>
          </a:p>
          <a:p>
            <a:pPr lvl="1"/>
            <a:r>
              <a:rPr lang="en-US" err="1">
                <a:solidFill>
                  <a:srgbClr val="008000"/>
                </a:solidFill>
              </a:rPr>
              <a:t>models.ManyToManyField</a:t>
            </a:r>
            <a:r>
              <a:rPr lang="en-US"/>
              <a:t> – denotes m-to-n</a:t>
            </a:r>
          </a:p>
          <a:p>
            <a:r>
              <a:rPr lang="en-US"/>
              <a:t>See TWD Chapter 5 and  </a:t>
            </a:r>
            <a:r>
              <a:rPr lang="en-US">
                <a:hlinkClick r:id="rId2"/>
              </a:rPr>
              <a:t>https://docs.djangoproject.com/en/1.10/topics/db/examples/</a:t>
            </a:r>
            <a:r>
              <a:rPr lang="en-US"/>
              <a:t> for more details</a:t>
            </a:r>
          </a:p>
        </p:txBody>
      </p:sp>
    </p:spTree>
    <p:extLst>
      <p:ext uri="{BB962C8B-B14F-4D97-AF65-F5344CB8AC3E}">
        <p14:creationId xmlns:p14="http://schemas.microsoft.com/office/powerpoint/2010/main" val="365932057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Information Architecture</a:t>
            </a:r>
          </a:p>
        </p:txBody>
      </p:sp>
      <p:sp>
        <p:nvSpPr>
          <p:cNvPr id="3" name="Text Placeholder 2">
            <a:extLst>
              <a:ext uri="{FF2B5EF4-FFF2-40B4-BE49-F238E27FC236}">
                <a16:creationId xmlns:a16="http://schemas.microsoft.com/office/drawing/2014/main" id="{2F2E5D8E-D4F3-360E-EABF-056A2004B80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189425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Information Architecture</a:t>
            </a:r>
          </a:p>
        </p:txBody>
      </p:sp>
      <p:sp>
        <p:nvSpPr>
          <p:cNvPr id="3" name="Content Placeholder 2"/>
          <p:cNvSpPr>
            <a:spLocks noGrp="1"/>
          </p:cNvSpPr>
          <p:nvPr>
            <p:ph idx="1"/>
          </p:nvPr>
        </p:nvSpPr>
        <p:spPr>
          <a:xfrm>
            <a:off x="228600" y="1600206"/>
            <a:ext cx="8763000" cy="5073863"/>
          </a:xfrm>
        </p:spPr>
        <p:txBody>
          <a:bodyPr>
            <a:normAutofit fontScale="92500" lnSpcReduction="20000"/>
          </a:bodyPr>
          <a:lstStyle/>
          <a:p>
            <a:pPr marL="514350" indent="-514350">
              <a:buAutoNum type="arabicPeriod"/>
            </a:pPr>
            <a:r>
              <a:rPr lang="en-US"/>
              <a:t>The </a:t>
            </a:r>
            <a:r>
              <a:rPr lang="en-US" b="1"/>
              <a:t>structural design of shared information</a:t>
            </a:r>
            <a:endParaRPr lang="en-US"/>
          </a:p>
          <a:p>
            <a:pPr marL="514350" indent="-514350">
              <a:buAutoNum type="arabicPeriod"/>
            </a:pPr>
            <a:r>
              <a:rPr lang="en-US"/>
              <a:t>The combination of </a:t>
            </a:r>
            <a:r>
              <a:rPr lang="en-US" b="1"/>
              <a:t>organization</a:t>
            </a:r>
            <a:r>
              <a:rPr lang="en-US"/>
              <a:t>, </a:t>
            </a:r>
            <a:r>
              <a:rPr lang="en-US" b="1"/>
              <a:t>labeling</a:t>
            </a:r>
            <a:r>
              <a:rPr lang="en-US"/>
              <a:t>, </a:t>
            </a:r>
            <a:r>
              <a:rPr lang="en-US" b="1"/>
              <a:t>search</a:t>
            </a:r>
            <a:r>
              <a:rPr lang="en-US"/>
              <a:t> and </a:t>
            </a:r>
            <a:r>
              <a:rPr lang="en-US" b="1"/>
              <a:t>navigation systems </a:t>
            </a:r>
            <a:r>
              <a:rPr lang="en-US"/>
              <a:t>within web sites and intranets</a:t>
            </a:r>
          </a:p>
          <a:p>
            <a:pPr marL="514350" indent="-514350">
              <a:buAutoNum type="arabicPeriod"/>
            </a:pPr>
            <a:r>
              <a:rPr lang="en-US"/>
              <a:t>The </a:t>
            </a:r>
            <a:r>
              <a:rPr lang="en-US" b="1"/>
              <a:t>art</a:t>
            </a:r>
            <a:r>
              <a:rPr lang="en-US"/>
              <a:t> and </a:t>
            </a:r>
            <a:r>
              <a:rPr lang="en-US" b="1"/>
              <a:t>science</a:t>
            </a:r>
            <a:r>
              <a:rPr lang="en-US"/>
              <a:t> of shaping information products and experiences to support </a:t>
            </a:r>
            <a:r>
              <a:rPr lang="en-US" b="1"/>
              <a:t>usability</a:t>
            </a:r>
            <a:r>
              <a:rPr lang="en-US"/>
              <a:t> and </a:t>
            </a:r>
            <a:r>
              <a:rPr lang="en-US" b="1"/>
              <a:t>findability.</a:t>
            </a:r>
          </a:p>
          <a:p>
            <a:pPr marL="514350" indent="-514350">
              <a:buAutoNum type="arabicPeriod"/>
            </a:pPr>
            <a:r>
              <a:rPr lang="en-US"/>
              <a:t>An emerging discipline and community of practice focused on bringing </a:t>
            </a:r>
            <a:r>
              <a:rPr lang="en-US" b="1"/>
              <a:t>principles of design and architecture</a:t>
            </a:r>
            <a:r>
              <a:rPr lang="en-US"/>
              <a:t> to the </a:t>
            </a:r>
            <a:r>
              <a:rPr lang="en-US" b="1"/>
              <a:t>digital landscape</a:t>
            </a:r>
            <a:r>
              <a:rPr lang="en-US"/>
              <a:t>. </a:t>
            </a:r>
          </a:p>
          <a:p>
            <a:pPr marL="0" indent="0">
              <a:buNone/>
            </a:pPr>
            <a:r>
              <a:rPr lang="en-US"/>
              <a:t>More: </a:t>
            </a:r>
            <a:r>
              <a:rPr lang="en-GB">
                <a:hlinkClick r:id="rId3"/>
              </a:rPr>
              <a:t>http://www.uxbooth.com/articles/complete-beginners-guide-to-information-architecture/</a:t>
            </a:r>
            <a:r>
              <a:rPr lang="en-GB"/>
              <a:t> </a:t>
            </a:r>
            <a:endParaRPr lang="en-US"/>
          </a:p>
        </p:txBody>
      </p:sp>
    </p:spTree>
    <p:extLst>
      <p:ext uri="{BB962C8B-B14F-4D97-AF65-F5344CB8AC3E}">
        <p14:creationId xmlns:p14="http://schemas.microsoft.com/office/powerpoint/2010/main" val="35966801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26532-866D-6D0D-F605-E995E3BF2138}"/>
              </a:ext>
            </a:extLst>
          </p:cNvPr>
          <p:cNvSpPr>
            <a:spLocks noGrp="1"/>
          </p:cNvSpPr>
          <p:nvPr>
            <p:ph type="title"/>
          </p:nvPr>
        </p:nvSpPr>
        <p:spPr/>
        <p:txBody>
          <a:bodyPr/>
          <a:lstStyle/>
          <a:p>
            <a:r>
              <a:rPr lang="en-US"/>
              <a:t>Thinking like a user</a:t>
            </a:r>
          </a:p>
        </p:txBody>
      </p:sp>
      <p:sp>
        <p:nvSpPr>
          <p:cNvPr id="3" name="Content Placeholder 2">
            <a:extLst>
              <a:ext uri="{FF2B5EF4-FFF2-40B4-BE49-F238E27FC236}">
                <a16:creationId xmlns:a16="http://schemas.microsoft.com/office/drawing/2014/main" id="{26CCED67-FAC7-0701-71B8-683AB7568A45}"/>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3CDCD0DF-4772-04E5-37AE-0A954915E8A3}"/>
              </a:ext>
            </a:extLst>
          </p:cNvPr>
          <p:cNvPicPr>
            <a:picLocks noChangeAspect="1"/>
          </p:cNvPicPr>
          <p:nvPr/>
        </p:nvPicPr>
        <p:blipFill>
          <a:blip r:embed="rId2">
            <a:alphaModFix amt="49000"/>
          </a:blip>
          <a:srcRect l="14535" r="14535"/>
          <a:stretch>
            <a:fillRect/>
          </a:stretch>
        </p:blipFill>
        <p:spPr>
          <a:xfrm>
            <a:off x="889686" y="1155950"/>
            <a:ext cx="7627340" cy="5702050"/>
          </a:xfrm>
          <a:prstGeom prst="rect">
            <a:avLst/>
          </a:prstGeom>
          <a:noFill/>
        </p:spPr>
      </p:pic>
    </p:spTree>
    <p:extLst>
      <p:ext uri="{BB962C8B-B14F-4D97-AF65-F5344CB8AC3E}">
        <p14:creationId xmlns:p14="http://schemas.microsoft.com/office/powerpoint/2010/main" val="243706514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a:xfrm>
            <a:off x="66675" y="0"/>
            <a:ext cx="9077325" cy="1143000"/>
          </a:xfrm>
        </p:spPr>
        <p:txBody>
          <a:bodyPr/>
          <a:lstStyle/>
          <a:p>
            <a:pPr eaLnBrk="1" hangingPunct="1"/>
            <a:r>
              <a:rPr lang="en-US"/>
              <a:t>An Information Architect</a:t>
            </a:r>
          </a:p>
        </p:txBody>
      </p:sp>
      <p:sp>
        <p:nvSpPr>
          <p:cNvPr id="29700" name="Rectangle 10"/>
          <p:cNvSpPr>
            <a:spLocks noChangeArrowheads="1"/>
          </p:cNvSpPr>
          <p:nvPr/>
        </p:nvSpPr>
        <p:spPr bwMode="auto">
          <a:xfrm>
            <a:off x="66675" y="835025"/>
            <a:ext cx="7848600" cy="914400"/>
          </a:xfrm>
          <a:prstGeom prst="rect">
            <a:avLst/>
          </a:prstGeom>
          <a:noFill/>
          <a:ln w="9525">
            <a:noFill/>
            <a:miter lim="800000"/>
            <a:headEnd/>
            <a:tailEnd/>
          </a:ln>
        </p:spPr>
        <p:txBody>
          <a:bodyPr anchor="ctr">
            <a:prstTxWarp prst="textNoShape">
              <a:avLst/>
            </a:prstTxWarp>
          </a:bodyPr>
          <a:lstStyle/>
          <a:p>
            <a:endParaRPr lang="en-US" sz="1800">
              <a:solidFill>
                <a:schemeClr val="tx1"/>
              </a:solidFill>
            </a:endParaRPr>
          </a:p>
        </p:txBody>
      </p:sp>
      <p:sp>
        <p:nvSpPr>
          <p:cNvPr id="29702" name="Rectangle 12"/>
          <p:cNvSpPr>
            <a:spLocks noChangeArrowheads="1"/>
          </p:cNvSpPr>
          <p:nvPr/>
        </p:nvSpPr>
        <p:spPr bwMode="auto">
          <a:xfrm>
            <a:off x="66675" y="4419608"/>
            <a:ext cx="8794750" cy="2867025"/>
          </a:xfrm>
          <a:prstGeom prst="rect">
            <a:avLst/>
          </a:prstGeom>
          <a:noFill/>
          <a:ln w="9525">
            <a:noFill/>
            <a:miter lim="800000"/>
            <a:headEnd/>
            <a:tailEnd/>
          </a:ln>
        </p:spPr>
        <p:txBody>
          <a:bodyPr>
            <a:prstTxWarp prst="textNoShape">
              <a:avLst/>
            </a:prstTxWarp>
          </a:bodyPr>
          <a:lstStyle/>
          <a:p>
            <a:pPr marL="174625" indent="-174625">
              <a:lnSpc>
                <a:spcPct val="110000"/>
              </a:lnSpc>
              <a:spcBef>
                <a:spcPct val="50000"/>
              </a:spcBef>
              <a:buSzPct val="85000"/>
              <a:buFont typeface="Wingdings" pitchFamily="-106" charset="2"/>
              <a:buNone/>
            </a:pPr>
            <a:endParaRPr lang="en-US" sz="1600" b="0"/>
          </a:p>
        </p:txBody>
      </p:sp>
      <p:sp>
        <p:nvSpPr>
          <p:cNvPr id="6" name="Content Placeholder 5"/>
          <p:cNvSpPr>
            <a:spLocks noGrp="1"/>
          </p:cNvSpPr>
          <p:nvPr>
            <p:ph idx="1"/>
          </p:nvPr>
        </p:nvSpPr>
        <p:spPr>
          <a:xfrm>
            <a:off x="349250" y="1143000"/>
            <a:ext cx="8794750" cy="5151434"/>
          </a:xfrm>
        </p:spPr>
        <p:txBody>
          <a:bodyPr>
            <a:normAutofit fontScale="85000" lnSpcReduction="10000"/>
          </a:bodyPr>
          <a:lstStyle/>
          <a:p>
            <a:pPr marL="174625" indent="-174625">
              <a:lnSpc>
                <a:spcPct val="110000"/>
              </a:lnSpc>
              <a:spcBef>
                <a:spcPct val="50000"/>
              </a:spcBef>
              <a:buSzPct val="85000"/>
              <a:buFont typeface="Wingdings" pitchFamily="-106" charset="2"/>
              <a:buNone/>
            </a:pPr>
            <a:r>
              <a:rPr lang="en-US"/>
              <a:t>- Assists to </a:t>
            </a:r>
            <a:r>
              <a:rPr lang="en-US" b="1"/>
              <a:t>identify user-based requirements</a:t>
            </a:r>
            <a:r>
              <a:rPr lang="en-US"/>
              <a:t>.</a:t>
            </a:r>
          </a:p>
          <a:p>
            <a:pPr marL="174625" indent="-174625">
              <a:lnSpc>
                <a:spcPct val="110000"/>
              </a:lnSpc>
              <a:spcBef>
                <a:spcPct val="50000"/>
              </a:spcBef>
              <a:buSzPct val="85000"/>
              <a:buFontTx/>
              <a:buChar char="-"/>
            </a:pPr>
            <a:r>
              <a:rPr lang="en-US"/>
              <a:t>Is responsible for </a:t>
            </a:r>
            <a:r>
              <a:rPr lang="en-US" b="1"/>
              <a:t>how users interpret and interact with information. </a:t>
            </a:r>
          </a:p>
          <a:p>
            <a:pPr marL="574675" lvl="1" indent="-174625">
              <a:lnSpc>
                <a:spcPct val="110000"/>
              </a:lnSpc>
              <a:spcBef>
                <a:spcPct val="50000"/>
              </a:spcBef>
              <a:buSzPct val="85000"/>
              <a:buFontTx/>
              <a:buChar char="-"/>
            </a:pPr>
            <a:r>
              <a:rPr lang="en-US"/>
              <a:t>freeing up visual designers to concentrate on visual design elements and programmers to concentrate on code.</a:t>
            </a:r>
          </a:p>
          <a:p>
            <a:pPr marL="174625" indent="-174625">
              <a:lnSpc>
                <a:spcPct val="110000"/>
              </a:lnSpc>
              <a:spcBef>
                <a:spcPct val="50000"/>
              </a:spcBef>
              <a:buSzPct val="85000"/>
              <a:buFontTx/>
              <a:buChar char="-"/>
            </a:pPr>
            <a:r>
              <a:rPr lang="en-US"/>
              <a:t>Investigate </a:t>
            </a:r>
            <a:r>
              <a:rPr lang="en-US" b="1"/>
              <a:t>customers and their needs,</a:t>
            </a:r>
            <a:r>
              <a:rPr lang="en-US"/>
              <a:t> factor </a:t>
            </a:r>
            <a:r>
              <a:rPr lang="en-US" b="1"/>
              <a:t>business strategy and technology resources</a:t>
            </a:r>
            <a:r>
              <a:rPr lang="en-US"/>
              <a:t> into </a:t>
            </a:r>
            <a:r>
              <a:rPr lang="en-US" b="1"/>
              <a:t>solutions</a:t>
            </a:r>
            <a:r>
              <a:rPr lang="en-US"/>
              <a:t>. </a:t>
            </a:r>
          </a:p>
          <a:p>
            <a:pPr marL="574675" lvl="1" indent="-174625">
              <a:lnSpc>
                <a:spcPct val="110000"/>
              </a:lnSpc>
              <a:spcBef>
                <a:spcPct val="50000"/>
              </a:spcBef>
              <a:buSzPct val="85000"/>
              <a:buFontTx/>
              <a:buChar char="-"/>
            </a:pPr>
            <a:r>
              <a:rPr lang="en-US"/>
              <a:t>This is done long before programming begins</a:t>
            </a:r>
          </a:p>
          <a:p>
            <a:pPr marL="574675" lvl="1" indent="-174625">
              <a:lnSpc>
                <a:spcPct val="110000"/>
              </a:lnSpc>
              <a:spcBef>
                <a:spcPct val="50000"/>
              </a:spcBef>
              <a:buSzPct val="85000"/>
              <a:buFontTx/>
              <a:buChar char="-"/>
            </a:pPr>
            <a:r>
              <a:rPr lang="en-US"/>
              <a:t>Can minimize loss of business and wasting of resources</a:t>
            </a:r>
          </a:p>
          <a:p>
            <a:pPr marL="574675" lvl="1" indent="-174625">
              <a:lnSpc>
                <a:spcPct val="110000"/>
              </a:lnSpc>
              <a:spcBef>
                <a:spcPct val="50000"/>
              </a:spcBef>
              <a:buSzPct val="85000"/>
              <a:buFontTx/>
              <a:buChar char="-"/>
            </a:pPr>
            <a:r>
              <a:rPr lang="en-US"/>
              <a:t>Can increase and maintain revenue from customers</a:t>
            </a:r>
          </a:p>
          <a:p>
            <a:endParaRPr lang="en-US"/>
          </a:p>
        </p:txBody>
      </p:sp>
    </p:spTree>
    <p:extLst>
      <p:ext uri="{BB962C8B-B14F-4D97-AF65-F5344CB8AC3E}">
        <p14:creationId xmlns:p14="http://schemas.microsoft.com/office/powerpoint/2010/main" val="30949154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10"/>
          <p:cNvPicPr>
            <a:picLocks noChangeAspect="1" noChangeArrowheads="1"/>
          </p:cNvPicPr>
          <p:nvPr/>
        </p:nvPicPr>
        <p:blipFill>
          <a:blip r:embed="rId3"/>
          <a:srcRect/>
          <a:stretch>
            <a:fillRect/>
          </a:stretch>
        </p:blipFill>
        <p:spPr bwMode="auto">
          <a:xfrm>
            <a:off x="1219200" y="762000"/>
            <a:ext cx="5715000" cy="571500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a:t>Context, Content &amp; Users</a:t>
            </a:r>
          </a:p>
        </p:txBody>
      </p:sp>
      <p:sp>
        <p:nvSpPr>
          <p:cNvPr id="4" name="TextBox 3"/>
          <p:cNvSpPr txBox="1"/>
          <p:nvPr/>
        </p:nvSpPr>
        <p:spPr>
          <a:xfrm>
            <a:off x="5715000" y="1600200"/>
            <a:ext cx="2971800" cy="923330"/>
          </a:xfrm>
          <a:prstGeom prst="rect">
            <a:avLst/>
          </a:prstGeom>
          <a:noFill/>
        </p:spPr>
        <p:txBody>
          <a:bodyPr wrap="square" rtlCol="0">
            <a:spAutoFit/>
          </a:bodyPr>
          <a:lstStyle/>
          <a:p>
            <a:pPr algn="r"/>
            <a:r>
              <a:rPr lang="en-US" b="1"/>
              <a:t>Business Goals, Funding, Politics, Culture, Technology, Resources and Constraints</a:t>
            </a:r>
          </a:p>
        </p:txBody>
      </p:sp>
      <p:sp>
        <p:nvSpPr>
          <p:cNvPr id="5" name="TextBox 4"/>
          <p:cNvSpPr txBox="1"/>
          <p:nvPr/>
        </p:nvSpPr>
        <p:spPr>
          <a:xfrm>
            <a:off x="4826876" y="5248870"/>
            <a:ext cx="3962400" cy="923330"/>
          </a:xfrm>
          <a:prstGeom prst="rect">
            <a:avLst/>
          </a:prstGeom>
          <a:noFill/>
        </p:spPr>
        <p:txBody>
          <a:bodyPr wrap="square" rtlCol="0">
            <a:spAutoFit/>
          </a:bodyPr>
          <a:lstStyle/>
          <a:p>
            <a:pPr algn="r"/>
            <a:r>
              <a:rPr lang="en-US" b="1"/>
              <a:t>Audience,</a:t>
            </a:r>
          </a:p>
          <a:p>
            <a:pPr algn="r"/>
            <a:r>
              <a:rPr lang="en-US" b="1"/>
              <a:t>Experience, Task, Needs, </a:t>
            </a:r>
          </a:p>
          <a:p>
            <a:pPr algn="r"/>
            <a:r>
              <a:rPr lang="en-US" b="1"/>
              <a:t>information seeking behavior, </a:t>
            </a:r>
          </a:p>
        </p:txBody>
      </p:sp>
      <p:sp>
        <p:nvSpPr>
          <p:cNvPr id="6" name="TextBox 5"/>
          <p:cNvSpPr txBox="1"/>
          <p:nvPr/>
        </p:nvSpPr>
        <p:spPr>
          <a:xfrm>
            <a:off x="0" y="2743200"/>
            <a:ext cx="2971800" cy="1477328"/>
          </a:xfrm>
          <a:prstGeom prst="rect">
            <a:avLst/>
          </a:prstGeom>
          <a:noFill/>
        </p:spPr>
        <p:txBody>
          <a:bodyPr wrap="square" rtlCol="0">
            <a:spAutoFit/>
          </a:bodyPr>
          <a:lstStyle/>
          <a:p>
            <a:r>
              <a:rPr lang="en-US" b="1"/>
              <a:t>Document/Data Types</a:t>
            </a:r>
          </a:p>
          <a:p>
            <a:r>
              <a:rPr lang="en-US" b="1"/>
              <a:t>Content Objects, </a:t>
            </a:r>
          </a:p>
          <a:p>
            <a:r>
              <a:rPr lang="en-US" b="1"/>
              <a:t>Volume,</a:t>
            </a:r>
          </a:p>
          <a:p>
            <a:r>
              <a:rPr lang="en-US" b="1"/>
              <a:t>Existing </a:t>
            </a:r>
          </a:p>
          <a:p>
            <a:r>
              <a:rPr lang="en-US" b="1"/>
              <a:t>Structure</a:t>
            </a:r>
          </a:p>
        </p:txBody>
      </p:sp>
      <p:sp>
        <p:nvSpPr>
          <p:cNvPr id="3" name="TextBox 2"/>
          <p:cNvSpPr txBox="1"/>
          <p:nvPr/>
        </p:nvSpPr>
        <p:spPr>
          <a:xfrm>
            <a:off x="135320" y="6304002"/>
            <a:ext cx="8913677" cy="646331"/>
          </a:xfrm>
          <a:prstGeom prst="rect">
            <a:avLst/>
          </a:prstGeom>
          <a:noFill/>
        </p:spPr>
        <p:txBody>
          <a:bodyPr wrap="square" rtlCol="0">
            <a:spAutoFit/>
          </a:bodyPr>
          <a:lstStyle/>
          <a:p>
            <a:r>
              <a:rPr lang="en-GB"/>
              <a:t>Rosenfield and </a:t>
            </a:r>
            <a:r>
              <a:rPr lang="en-GB" err="1"/>
              <a:t>Morville</a:t>
            </a:r>
            <a:r>
              <a:rPr lang="en-GB"/>
              <a:t> (the polar bear book): https://</a:t>
            </a:r>
            <a:r>
              <a:rPr lang="en-GB" err="1"/>
              <a:t>www.oreilly.com</a:t>
            </a:r>
            <a:r>
              <a:rPr lang="en-GB"/>
              <a:t>/library/view/information-architecture-for/0596527349/</a:t>
            </a:r>
          </a:p>
        </p:txBody>
      </p:sp>
    </p:spTree>
    <p:extLst>
      <p:ext uri="{BB962C8B-B14F-4D97-AF65-F5344CB8AC3E}">
        <p14:creationId xmlns:p14="http://schemas.microsoft.com/office/powerpoint/2010/main" val="4118569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normAutofit/>
          </a:bodyPr>
          <a:lstStyle/>
          <a:p>
            <a:pPr eaLnBrk="1" hangingPunct="1"/>
            <a:r>
              <a:rPr lang="en-US"/>
              <a:t>Developing Solutions</a:t>
            </a:r>
          </a:p>
        </p:txBody>
      </p:sp>
      <p:sp>
        <p:nvSpPr>
          <p:cNvPr id="25604" name="Oval 22"/>
          <p:cNvSpPr>
            <a:spLocks noChangeArrowheads="1"/>
          </p:cNvSpPr>
          <p:nvPr/>
        </p:nvSpPr>
        <p:spPr bwMode="auto">
          <a:xfrm>
            <a:off x="3906840" y="3376616"/>
            <a:ext cx="2951160" cy="2690127"/>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endParaRPr lang="en-US" sz="1800"/>
          </a:p>
        </p:txBody>
      </p:sp>
      <p:sp>
        <p:nvSpPr>
          <p:cNvPr id="25605" name="Oval 23"/>
          <p:cNvSpPr>
            <a:spLocks noChangeArrowheads="1"/>
          </p:cNvSpPr>
          <p:nvPr/>
        </p:nvSpPr>
        <p:spPr bwMode="auto">
          <a:xfrm>
            <a:off x="1625604" y="3376616"/>
            <a:ext cx="2865438" cy="2690127"/>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r>
              <a:rPr lang="en-US" sz="2400" b="0"/>
              <a:t>Content:</a:t>
            </a:r>
          </a:p>
          <a:p>
            <a:pPr algn="ctr"/>
            <a:r>
              <a:rPr lang="en-US" sz="2400" b="0"/>
              <a:t>Information </a:t>
            </a:r>
          </a:p>
          <a:p>
            <a:pPr algn="ctr"/>
            <a:r>
              <a:rPr lang="en-US" sz="2400" b="0"/>
              <a:t>Design</a:t>
            </a:r>
          </a:p>
        </p:txBody>
      </p:sp>
      <p:sp>
        <p:nvSpPr>
          <p:cNvPr id="25606" name="Oval 24"/>
          <p:cNvSpPr>
            <a:spLocks noChangeArrowheads="1"/>
          </p:cNvSpPr>
          <p:nvPr/>
        </p:nvSpPr>
        <p:spPr bwMode="auto">
          <a:xfrm>
            <a:off x="2362202" y="1465947"/>
            <a:ext cx="3041651" cy="2690128"/>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r>
              <a:rPr lang="en-US" sz="2400"/>
              <a:t>Context:</a:t>
            </a:r>
          </a:p>
          <a:p>
            <a:pPr algn="ctr"/>
            <a:r>
              <a:rPr lang="en-US" sz="2400" b="0"/>
              <a:t>Information </a:t>
            </a:r>
          </a:p>
          <a:p>
            <a:pPr algn="ctr"/>
            <a:r>
              <a:rPr lang="en-US" sz="2400" b="0"/>
              <a:t>Organization </a:t>
            </a:r>
          </a:p>
          <a:p>
            <a:pPr algn="ctr"/>
            <a:endParaRPr lang="en-US" sz="2400" b="0"/>
          </a:p>
        </p:txBody>
      </p:sp>
      <p:sp>
        <p:nvSpPr>
          <p:cNvPr id="25607" name="Text Box 25"/>
          <p:cNvSpPr txBox="1">
            <a:spLocks noChangeArrowheads="1"/>
          </p:cNvSpPr>
          <p:nvPr/>
        </p:nvSpPr>
        <p:spPr bwMode="auto">
          <a:xfrm>
            <a:off x="4049713" y="3736048"/>
            <a:ext cx="2808287" cy="1938992"/>
          </a:xfrm>
          <a:prstGeom prst="rect">
            <a:avLst/>
          </a:prstGeom>
          <a:noFill/>
          <a:ln w="9525">
            <a:noFill/>
            <a:miter lim="800000"/>
            <a:headEnd/>
            <a:tailEnd/>
          </a:ln>
        </p:spPr>
        <p:txBody>
          <a:bodyPr lIns="73152" anchor="b">
            <a:prstTxWarp prst="textNoShape">
              <a:avLst/>
            </a:prstTxWarp>
            <a:spAutoFit/>
          </a:bodyPr>
          <a:lstStyle/>
          <a:p>
            <a:pPr algn="ctr"/>
            <a:r>
              <a:rPr lang="en-US" sz="2400" b="0"/>
              <a:t>Users:</a:t>
            </a:r>
          </a:p>
          <a:p>
            <a:pPr algn="ctr"/>
            <a:r>
              <a:rPr lang="en-US" sz="2400" b="0"/>
              <a:t>Interaction </a:t>
            </a:r>
          </a:p>
          <a:p>
            <a:pPr algn="ctr"/>
            <a:r>
              <a:rPr lang="en-US" sz="2400" b="0"/>
              <a:t>Design / User Experience (UX) Design</a:t>
            </a:r>
          </a:p>
        </p:txBody>
      </p:sp>
      <p:sp>
        <p:nvSpPr>
          <p:cNvPr id="25608" name="Oval 26"/>
          <p:cNvSpPr>
            <a:spLocks noChangeArrowheads="1"/>
          </p:cNvSpPr>
          <p:nvPr/>
        </p:nvSpPr>
        <p:spPr bwMode="auto">
          <a:xfrm>
            <a:off x="3657603" y="3581404"/>
            <a:ext cx="884238" cy="900113"/>
          </a:xfrm>
          <a:prstGeom prst="ellipse">
            <a:avLst/>
          </a:prstGeom>
          <a:gradFill rotWithShape="1">
            <a:gsLst>
              <a:gs pos="0">
                <a:schemeClr val="hlink"/>
              </a:gs>
              <a:gs pos="100000">
                <a:schemeClr val="bg1"/>
              </a:gs>
            </a:gsLst>
            <a:path path="shape">
              <a:fillToRect l="50000" t="50000" r="50000" b="50000"/>
            </a:path>
          </a:gradFill>
          <a:ln w="9525">
            <a:solidFill>
              <a:schemeClr val="hlink"/>
            </a:solidFill>
            <a:round/>
            <a:headEnd/>
            <a:tailEnd/>
          </a:ln>
        </p:spPr>
        <p:txBody>
          <a:bodyPr wrap="none" lIns="73152" anchor="ctr">
            <a:prstTxWarp prst="textNoShape">
              <a:avLst/>
            </a:prstTxWarp>
          </a:bodyPr>
          <a:lstStyle/>
          <a:p>
            <a:endParaRPr lang="en-US"/>
          </a:p>
        </p:txBody>
      </p:sp>
      <p:sp>
        <p:nvSpPr>
          <p:cNvPr id="25609" name="Text Box 27"/>
          <p:cNvSpPr txBox="1">
            <a:spLocks noChangeArrowheads="1"/>
          </p:cNvSpPr>
          <p:nvPr/>
        </p:nvSpPr>
        <p:spPr bwMode="auto">
          <a:xfrm>
            <a:off x="4491040" y="1465948"/>
            <a:ext cx="2976560" cy="646331"/>
          </a:xfrm>
          <a:prstGeom prst="rect">
            <a:avLst/>
          </a:prstGeom>
          <a:solidFill>
            <a:schemeClr val="tx2">
              <a:lumMod val="20000"/>
              <a:lumOff val="80000"/>
              <a:alpha val="57000"/>
            </a:schemeClr>
          </a:solidFill>
          <a:ln w="9525">
            <a:noFill/>
            <a:miter lim="800000"/>
            <a:headEnd/>
            <a:tailEnd/>
          </a:ln>
        </p:spPr>
        <p:txBody>
          <a:bodyPr wrap="square" lIns="73152" anchor="b">
            <a:prstTxWarp prst="textNoShape">
              <a:avLst/>
            </a:prstTxWarp>
            <a:spAutoFit/>
          </a:bodyPr>
          <a:lstStyle/>
          <a:p>
            <a:pPr algn="r"/>
            <a:r>
              <a:rPr lang="en-US" sz="3600" err="1">
                <a:solidFill>
                  <a:srgbClr val="014E88"/>
                </a:solidFill>
              </a:rPr>
              <a:t>Findability</a:t>
            </a:r>
            <a:endParaRPr lang="en-US" sz="3600">
              <a:solidFill>
                <a:srgbClr val="014E88"/>
              </a:solidFill>
            </a:endParaRPr>
          </a:p>
        </p:txBody>
      </p:sp>
      <p:sp>
        <p:nvSpPr>
          <p:cNvPr id="25610" name="Text Box 28"/>
          <p:cNvSpPr txBox="1">
            <a:spLocks noChangeArrowheads="1"/>
          </p:cNvSpPr>
          <p:nvPr/>
        </p:nvSpPr>
        <p:spPr bwMode="auto">
          <a:xfrm>
            <a:off x="212616" y="5709309"/>
            <a:ext cx="3772013" cy="646331"/>
          </a:xfrm>
          <a:prstGeom prst="rect">
            <a:avLst/>
          </a:prstGeom>
          <a:solidFill>
            <a:schemeClr val="accent1">
              <a:lumMod val="40000"/>
              <a:lumOff val="60000"/>
              <a:alpha val="51000"/>
            </a:schemeClr>
          </a:solidFill>
          <a:ln w="9525">
            <a:noFill/>
            <a:miter lim="800000"/>
            <a:headEnd/>
            <a:tailEnd/>
          </a:ln>
        </p:spPr>
        <p:txBody>
          <a:bodyPr wrap="square" lIns="73152" anchor="b">
            <a:prstTxWarp prst="textNoShape">
              <a:avLst/>
            </a:prstTxWarp>
            <a:spAutoFit/>
          </a:bodyPr>
          <a:lstStyle/>
          <a:p>
            <a:r>
              <a:rPr lang="en-US" sz="3600">
                <a:solidFill>
                  <a:srgbClr val="014E88"/>
                </a:solidFill>
              </a:rPr>
              <a:t>Understandability</a:t>
            </a:r>
          </a:p>
        </p:txBody>
      </p:sp>
      <p:sp>
        <p:nvSpPr>
          <p:cNvPr id="25611" name="Text Box 29"/>
          <p:cNvSpPr txBox="1">
            <a:spLocks noChangeArrowheads="1"/>
          </p:cNvSpPr>
          <p:nvPr/>
        </p:nvSpPr>
        <p:spPr bwMode="auto">
          <a:xfrm>
            <a:off x="6477000" y="5062978"/>
            <a:ext cx="2412998" cy="646331"/>
          </a:xfrm>
          <a:prstGeom prst="rect">
            <a:avLst/>
          </a:prstGeom>
          <a:solidFill>
            <a:schemeClr val="accent1">
              <a:lumMod val="40000"/>
              <a:lumOff val="60000"/>
              <a:alpha val="44000"/>
            </a:schemeClr>
          </a:solidFill>
          <a:ln w="9525">
            <a:noFill/>
            <a:miter lim="800000"/>
            <a:headEnd/>
            <a:tailEnd/>
          </a:ln>
        </p:spPr>
        <p:txBody>
          <a:bodyPr wrap="square" lIns="73152" anchor="b">
            <a:prstTxWarp prst="textNoShape">
              <a:avLst/>
            </a:prstTxWarp>
            <a:spAutoFit/>
          </a:bodyPr>
          <a:lstStyle/>
          <a:p>
            <a:pPr algn="r"/>
            <a:r>
              <a:rPr lang="en-US" sz="3600">
                <a:solidFill>
                  <a:srgbClr val="014E88"/>
                </a:solidFill>
              </a:rPr>
              <a:t>Usability</a:t>
            </a:r>
          </a:p>
        </p:txBody>
      </p:sp>
    </p:spTree>
    <p:extLst>
      <p:ext uri="{BB962C8B-B14F-4D97-AF65-F5344CB8AC3E}">
        <p14:creationId xmlns:p14="http://schemas.microsoft.com/office/powerpoint/2010/main" val="272246675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normAutofit/>
          </a:bodyPr>
          <a:lstStyle/>
          <a:p>
            <a:pPr eaLnBrk="1" hangingPunct="1"/>
            <a:r>
              <a:rPr lang="en-US"/>
              <a:t>IA Components</a:t>
            </a:r>
          </a:p>
        </p:txBody>
      </p:sp>
      <p:sp>
        <p:nvSpPr>
          <p:cNvPr id="25604" name="Oval 22"/>
          <p:cNvSpPr>
            <a:spLocks noChangeArrowheads="1"/>
          </p:cNvSpPr>
          <p:nvPr/>
        </p:nvSpPr>
        <p:spPr bwMode="auto">
          <a:xfrm>
            <a:off x="3906840" y="3376616"/>
            <a:ext cx="2951160" cy="2690127"/>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endParaRPr lang="en-US" sz="1800"/>
          </a:p>
        </p:txBody>
      </p:sp>
      <p:sp>
        <p:nvSpPr>
          <p:cNvPr id="25605" name="Oval 23"/>
          <p:cNvSpPr>
            <a:spLocks noChangeArrowheads="1"/>
          </p:cNvSpPr>
          <p:nvPr/>
        </p:nvSpPr>
        <p:spPr bwMode="auto">
          <a:xfrm>
            <a:off x="1625604" y="3376616"/>
            <a:ext cx="2865438" cy="2690127"/>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r>
              <a:rPr lang="en-US" sz="2400" b="0"/>
              <a:t>Metadata, </a:t>
            </a:r>
          </a:p>
          <a:p>
            <a:pPr algn="ctr"/>
            <a:r>
              <a:rPr lang="en-US" sz="2400" b="0"/>
              <a:t>Controlled </a:t>
            </a:r>
          </a:p>
          <a:p>
            <a:pPr algn="ctr"/>
            <a:r>
              <a:rPr lang="en-US" sz="2400" b="0"/>
              <a:t>Vocabulary,</a:t>
            </a:r>
          </a:p>
          <a:p>
            <a:pPr algn="ctr"/>
            <a:r>
              <a:rPr lang="en-US" sz="2400"/>
              <a:t>Labeling</a:t>
            </a:r>
            <a:endParaRPr lang="en-US" sz="2400" b="0"/>
          </a:p>
        </p:txBody>
      </p:sp>
      <p:sp>
        <p:nvSpPr>
          <p:cNvPr id="25606" name="Oval 24"/>
          <p:cNvSpPr>
            <a:spLocks noChangeArrowheads="1"/>
          </p:cNvSpPr>
          <p:nvPr/>
        </p:nvSpPr>
        <p:spPr bwMode="auto">
          <a:xfrm>
            <a:off x="2362202" y="1465947"/>
            <a:ext cx="3041651" cy="2690128"/>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r>
              <a:rPr lang="en-US" sz="2400" b="0"/>
              <a:t>Navigation structures,</a:t>
            </a:r>
          </a:p>
          <a:p>
            <a:pPr algn="ctr"/>
            <a:r>
              <a:rPr lang="en-US" sz="2400" b="0"/>
              <a:t> Taxonomy, Content</a:t>
            </a:r>
          </a:p>
          <a:p>
            <a:pPr algn="ctr"/>
            <a:r>
              <a:rPr lang="en-US" sz="2400"/>
              <a:t>Search</a:t>
            </a:r>
            <a:r>
              <a:rPr lang="en-US" sz="2400" b="0"/>
              <a:t> </a:t>
            </a:r>
          </a:p>
          <a:p>
            <a:pPr algn="ctr"/>
            <a:endParaRPr lang="en-US" sz="2400" b="0"/>
          </a:p>
        </p:txBody>
      </p:sp>
      <p:sp>
        <p:nvSpPr>
          <p:cNvPr id="25607" name="Text Box 25"/>
          <p:cNvSpPr txBox="1">
            <a:spLocks noChangeArrowheads="1"/>
          </p:cNvSpPr>
          <p:nvPr/>
        </p:nvSpPr>
        <p:spPr bwMode="auto">
          <a:xfrm>
            <a:off x="3999709" y="3962400"/>
            <a:ext cx="2808287" cy="1569660"/>
          </a:xfrm>
          <a:prstGeom prst="rect">
            <a:avLst/>
          </a:prstGeom>
          <a:noFill/>
          <a:ln w="9525">
            <a:noFill/>
            <a:miter lim="800000"/>
            <a:headEnd/>
            <a:tailEnd/>
          </a:ln>
        </p:spPr>
        <p:txBody>
          <a:bodyPr lIns="73152" anchor="b">
            <a:prstTxWarp prst="textNoShape">
              <a:avLst/>
            </a:prstTxWarp>
            <a:spAutoFit/>
          </a:bodyPr>
          <a:lstStyle/>
          <a:p>
            <a:pPr algn="ctr"/>
            <a:r>
              <a:rPr lang="en-US" sz="2400" b="0"/>
              <a:t>Industry </a:t>
            </a:r>
          </a:p>
          <a:p>
            <a:pPr algn="ctr"/>
            <a:r>
              <a:rPr lang="en-US" sz="2400" b="0"/>
              <a:t>Best Practices, </a:t>
            </a:r>
          </a:p>
          <a:p>
            <a:pPr algn="ctr"/>
            <a:r>
              <a:rPr lang="en-US" sz="2400" b="0"/>
              <a:t>W3C standards, </a:t>
            </a:r>
          </a:p>
          <a:p>
            <a:pPr algn="ctr"/>
            <a:r>
              <a:rPr lang="en-US" sz="2400" b="0"/>
              <a:t>Accessibility</a:t>
            </a:r>
          </a:p>
        </p:txBody>
      </p:sp>
      <p:sp>
        <p:nvSpPr>
          <p:cNvPr id="25608" name="Oval 26"/>
          <p:cNvSpPr>
            <a:spLocks noChangeArrowheads="1"/>
          </p:cNvSpPr>
          <p:nvPr/>
        </p:nvSpPr>
        <p:spPr bwMode="auto">
          <a:xfrm>
            <a:off x="3657603" y="3581404"/>
            <a:ext cx="884238" cy="900113"/>
          </a:xfrm>
          <a:prstGeom prst="ellipse">
            <a:avLst/>
          </a:prstGeom>
          <a:gradFill rotWithShape="1">
            <a:gsLst>
              <a:gs pos="0">
                <a:schemeClr val="hlink"/>
              </a:gs>
              <a:gs pos="100000">
                <a:schemeClr val="bg1"/>
              </a:gs>
            </a:gsLst>
            <a:path path="shape">
              <a:fillToRect l="50000" t="50000" r="50000" b="50000"/>
            </a:path>
          </a:gradFill>
          <a:ln w="9525">
            <a:solidFill>
              <a:schemeClr val="hlink"/>
            </a:solidFill>
            <a:round/>
            <a:headEnd/>
            <a:tailEnd/>
          </a:ln>
        </p:spPr>
        <p:txBody>
          <a:bodyPr wrap="none" lIns="73152" anchor="ctr">
            <a:prstTxWarp prst="textNoShape">
              <a:avLst/>
            </a:prstTxWarp>
          </a:bodyPr>
          <a:lstStyle/>
          <a:p>
            <a:endParaRPr lang="en-US"/>
          </a:p>
        </p:txBody>
      </p:sp>
      <p:sp>
        <p:nvSpPr>
          <p:cNvPr id="25609" name="Text Box 27"/>
          <p:cNvSpPr txBox="1">
            <a:spLocks noChangeArrowheads="1"/>
          </p:cNvSpPr>
          <p:nvPr/>
        </p:nvSpPr>
        <p:spPr bwMode="auto">
          <a:xfrm>
            <a:off x="4491040" y="1465948"/>
            <a:ext cx="2976560" cy="646331"/>
          </a:xfrm>
          <a:prstGeom prst="rect">
            <a:avLst/>
          </a:prstGeom>
          <a:solidFill>
            <a:schemeClr val="tx2">
              <a:lumMod val="20000"/>
              <a:lumOff val="80000"/>
              <a:alpha val="57000"/>
            </a:schemeClr>
          </a:solidFill>
          <a:ln w="9525">
            <a:noFill/>
            <a:miter lim="800000"/>
            <a:headEnd/>
            <a:tailEnd/>
          </a:ln>
        </p:spPr>
        <p:txBody>
          <a:bodyPr wrap="square" lIns="73152" anchor="b">
            <a:prstTxWarp prst="textNoShape">
              <a:avLst/>
            </a:prstTxWarp>
            <a:spAutoFit/>
          </a:bodyPr>
          <a:lstStyle/>
          <a:p>
            <a:pPr algn="r"/>
            <a:r>
              <a:rPr lang="en-US" sz="3600" err="1">
                <a:solidFill>
                  <a:srgbClr val="014E88"/>
                </a:solidFill>
              </a:rPr>
              <a:t>Findability</a:t>
            </a:r>
            <a:endParaRPr lang="en-US" sz="3600">
              <a:solidFill>
                <a:srgbClr val="014E88"/>
              </a:solidFill>
            </a:endParaRPr>
          </a:p>
        </p:txBody>
      </p:sp>
      <p:sp>
        <p:nvSpPr>
          <p:cNvPr id="25610" name="Text Box 28"/>
          <p:cNvSpPr txBox="1">
            <a:spLocks noChangeArrowheads="1"/>
          </p:cNvSpPr>
          <p:nvPr/>
        </p:nvSpPr>
        <p:spPr bwMode="auto">
          <a:xfrm>
            <a:off x="212616" y="5709309"/>
            <a:ext cx="3772013" cy="646331"/>
          </a:xfrm>
          <a:prstGeom prst="rect">
            <a:avLst/>
          </a:prstGeom>
          <a:solidFill>
            <a:schemeClr val="accent1">
              <a:lumMod val="40000"/>
              <a:lumOff val="60000"/>
              <a:alpha val="51000"/>
            </a:schemeClr>
          </a:solidFill>
          <a:ln w="9525">
            <a:noFill/>
            <a:miter lim="800000"/>
            <a:headEnd/>
            <a:tailEnd/>
          </a:ln>
        </p:spPr>
        <p:txBody>
          <a:bodyPr wrap="square" lIns="73152" anchor="b">
            <a:prstTxWarp prst="textNoShape">
              <a:avLst/>
            </a:prstTxWarp>
            <a:spAutoFit/>
          </a:bodyPr>
          <a:lstStyle/>
          <a:p>
            <a:r>
              <a:rPr lang="en-US" sz="3600">
                <a:solidFill>
                  <a:srgbClr val="014E88"/>
                </a:solidFill>
              </a:rPr>
              <a:t>Understandability</a:t>
            </a:r>
          </a:p>
        </p:txBody>
      </p:sp>
      <p:sp>
        <p:nvSpPr>
          <p:cNvPr id="25611" name="Text Box 29"/>
          <p:cNvSpPr txBox="1">
            <a:spLocks noChangeArrowheads="1"/>
          </p:cNvSpPr>
          <p:nvPr/>
        </p:nvSpPr>
        <p:spPr bwMode="auto">
          <a:xfrm>
            <a:off x="6477000" y="5062978"/>
            <a:ext cx="2412998" cy="646331"/>
          </a:xfrm>
          <a:prstGeom prst="rect">
            <a:avLst/>
          </a:prstGeom>
          <a:solidFill>
            <a:schemeClr val="accent1">
              <a:lumMod val="40000"/>
              <a:lumOff val="60000"/>
              <a:alpha val="44000"/>
            </a:schemeClr>
          </a:solidFill>
          <a:ln w="9525">
            <a:noFill/>
            <a:miter lim="800000"/>
            <a:headEnd/>
            <a:tailEnd/>
          </a:ln>
        </p:spPr>
        <p:txBody>
          <a:bodyPr wrap="square" lIns="73152" anchor="b">
            <a:prstTxWarp prst="textNoShape">
              <a:avLst/>
            </a:prstTxWarp>
            <a:spAutoFit/>
          </a:bodyPr>
          <a:lstStyle/>
          <a:p>
            <a:pPr algn="r"/>
            <a:r>
              <a:rPr lang="en-US" sz="3600">
                <a:solidFill>
                  <a:srgbClr val="014E88"/>
                </a:solidFill>
              </a:rPr>
              <a:t>Usability</a:t>
            </a:r>
          </a:p>
        </p:txBody>
      </p:sp>
    </p:spTree>
    <p:extLst>
      <p:ext uri="{BB962C8B-B14F-4D97-AF65-F5344CB8AC3E}">
        <p14:creationId xmlns:p14="http://schemas.microsoft.com/office/powerpoint/2010/main" val="356220808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User Driven Approach</a:t>
            </a:r>
          </a:p>
        </p:txBody>
      </p:sp>
      <p:sp>
        <p:nvSpPr>
          <p:cNvPr id="3" name="Content Placeholder 2"/>
          <p:cNvSpPr>
            <a:spLocks noGrp="1"/>
          </p:cNvSpPr>
          <p:nvPr>
            <p:ph idx="1"/>
          </p:nvPr>
        </p:nvSpPr>
        <p:spPr/>
        <p:txBody>
          <a:bodyPr/>
          <a:lstStyle/>
          <a:p>
            <a:r>
              <a:rPr lang="en-US"/>
              <a:t>The fundamental questions an IA seeks to answer is:</a:t>
            </a:r>
          </a:p>
          <a:p>
            <a:pPr lvl="1"/>
            <a:r>
              <a:rPr lang="en-US"/>
              <a:t>Who is the user?</a:t>
            </a:r>
          </a:p>
          <a:p>
            <a:pPr lvl="1"/>
            <a:r>
              <a:rPr lang="en-US"/>
              <a:t>What do they need?</a:t>
            </a:r>
          </a:p>
          <a:p>
            <a:pPr lvl="1"/>
            <a:r>
              <a:rPr lang="en-US"/>
              <a:t>What will they see?</a:t>
            </a:r>
          </a:p>
          <a:p>
            <a:pPr lvl="1"/>
            <a:r>
              <a:rPr lang="en-US"/>
              <a:t>How will they interact with the system?</a:t>
            </a:r>
          </a:p>
          <a:p>
            <a:pPr lvl="1"/>
            <a:r>
              <a:rPr lang="en-US"/>
              <a:t>How will they get value from, accomplish their goals/tasks, </a:t>
            </a:r>
            <a:r>
              <a:rPr lang="en-US" err="1"/>
              <a:t>etc</a:t>
            </a:r>
            <a:r>
              <a:rPr lang="en-US"/>
              <a:t>?</a:t>
            </a:r>
          </a:p>
          <a:p>
            <a:pPr lvl="1"/>
            <a:endParaRPr lang="en-US"/>
          </a:p>
        </p:txBody>
      </p:sp>
    </p:spTree>
    <p:extLst>
      <p:ext uri="{BB962C8B-B14F-4D97-AF65-F5344CB8AC3E}">
        <p14:creationId xmlns:p14="http://schemas.microsoft.com/office/powerpoint/2010/main" val="182936308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IA Deliverables	</a:t>
            </a:r>
          </a:p>
        </p:txBody>
      </p:sp>
      <p:sp>
        <p:nvSpPr>
          <p:cNvPr id="3" name="Content Placeholder 2"/>
          <p:cNvSpPr>
            <a:spLocks noGrp="1"/>
          </p:cNvSpPr>
          <p:nvPr>
            <p:ph idx="1"/>
          </p:nvPr>
        </p:nvSpPr>
        <p:spPr/>
        <p:txBody>
          <a:bodyPr>
            <a:normAutofit lnSpcReduction="10000"/>
          </a:bodyPr>
          <a:lstStyle/>
          <a:p>
            <a:r>
              <a:rPr lang="en-US"/>
              <a:t>To answer such questions, IA have a number of tools and techniques that they employ, these include:</a:t>
            </a:r>
          </a:p>
          <a:p>
            <a:pPr lvl="1"/>
            <a:r>
              <a:rPr lang="en-US"/>
              <a:t>Specifying user requirements</a:t>
            </a:r>
          </a:p>
          <a:p>
            <a:pPr lvl="1"/>
            <a:r>
              <a:rPr lang="en-US"/>
              <a:t>Showing the structure of the site through site maps</a:t>
            </a:r>
          </a:p>
          <a:p>
            <a:pPr lvl="1"/>
            <a:r>
              <a:rPr lang="en-US"/>
              <a:t>Showing the sequence of interaction through user flows </a:t>
            </a:r>
          </a:p>
          <a:p>
            <a:pPr lvl="1"/>
            <a:r>
              <a:rPr lang="en-US"/>
              <a:t>Mocking up Wireframes to show structure of screens/pages</a:t>
            </a:r>
          </a:p>
          <a:p>
            <a:pPr lvl="1"/>
            <a:endParaRPr lang="en-US"/>
          </a:p>
          <a:p>
            <a:pPr lvl="1"/>
            <a:endParaRPr lang="en-US"/>
          </a:p>
          <a:p>
            <a:pPr lvl="1"/>
            <a:endParaRPr lang="en-US"/>
          </a:p>
        </p:txBody>
      </p:sp>
    </p:spTree>
    <p:extLst>
      <p:ext uri="{BB962C8B-B14F-4D97-AF65-F5344CB8AC3E}">
        <p14:creationId xmlns:p14="http://schemas.microsoft.com/office/powerpoint/2010/main" val="34049998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785B1-6210-3E4A-AE2F-72A983A0E332}"/>
              </a:ext>
            </a:extLst>
          </p:cNvPr>
          <p:cNvSpPr>
            <a:spLocks noGrp="1"/>
          </p:cNvSpPr>
          <p:nvPr>
            <p:ph type="title"/>
          </p:nvPr>
        </p:nvSpPr>
        <p:spPr/>
        <p:txBody>
          <a:bodyPr/>
          <a:lstStyle/>
          <a:p>
            <a:r>
              <a:rPr lang="en-US"/>
              <a:t>Specifying User Requirements</a:t>
            </a:r>
          </a:p>
        </p:txBody>
      </p:sp>
      <p:sp>
        <p:nvSpPr>
          <p:cNvPr id="3" name="Content Placeholder 2">
            <a:extLst>
              <a:ext uri="{FF2B5EF4-FFF2-40B4-BE49-F238E27FC236}">
                <a16:creationId xmlns:a16="http://schemas.microsoft.com/office/drawing/2014/main" id="{9EBB177A-363B-7E40-B588-2DBA1A228299}"/>
              </a:ext>
            </a:extLst>
          </p:cNvPr>
          <p:cNvSpPr>
            <a:spLocks noGrp="1"/>
          </p:cNvSpPr>
          <p:nvPr>
            <p:ph idx="1"/>
          </p:nvPr>
        </p:nvSpPr>
        <p:spPr/>
        <p:txBody>
          <a:bodyPr vert="horz" lIns="91440" tIns="45720" rIns="91440" bIns="45720" rtlCol="0" anchor="t">
            <a:normAutofit/>
          </a:bodyPr>
          <a:lstStyle/>
          <a:p>
            <a:r>
              <a:rPr lang="en-US" dirty="0"/>
              <a:t>Many ways to specify user requirements</a:t>
            </a:r>
          </a:p>
          <a:p>
            <a:pPr marL="0" indent="0">
              <a:buNone/>
            </a:pPr>
            <a:r>
              <a:rPr lang="en-US" dirty="0"/>
              <a:t>1. Simple list of requirements from the point of the user / User stories</a:t>
            </a:r>
            <a:endParaRPr lang="en-US">
              <a:ea typeface="Calibri"/>
              <a:cs typeface="Calibri"/>
            </a:endParaRPr>
          </a:p>
          <a:p>
            <a:pPr algn="ctr">
              <a:buNone/>
            </a:pPr>
            <a:r>
              <a:rPr lang="en-GB" sz="2800" i="1" dirty="0">
                <a:solidFill>
                  <a:srgbClr val="C00000"/>
                </a:solidFill>
                <a:ea typeface="Calibri"/>
                <a:cs typeface="Calibri"/>
              </a:rPr>
              <a:t>As a &lt; type of user &gt;, I want &lt; some goal &gt; so that &lt;some reason &gt;.</a:t>
            </a:r>
            <a:endParaRPr lang="en-US" sz="2800" dirty="0">
              <a:solidFill>
                <a:srgbClr val="000000"/>
              </a:solidFill>
              <a:ea typeface="Calibri"/>
              <a:cs typeface="Calibri"/>
            </a:endParaRPr>
          </a:p>
          <a:p>
            <a:pPr marL="0" indent="0">
              <a:buNone/>
            </a:pPr>
            <a:r>
              <a:rPr lang="en-US" dirty="0">
                <a:solidFill>
                  <a:srgbClr val="000000"/>
                </a:solidFill>
                <a:ea typeface="Calibri"/>
                <a:cs typeface="Calibri"/>
              </a:rPr>
              <a:t>2. Prioritized "User Needs" matrix</a:t>
            </a:r>
            <a:endParaRPr lang="en-US" dirty="0">
              <a:solidFill>
                <a:srgbClr val="000000"/>
              </a:solidFill>
            </a:endParaRPr>
          </a:p>
          <a:p>
            <a:pPr marL="0" indent="0">
              <a:buNone/>
            </a:pPr>
            <a:r>
              <a:rPr lang="en-US" dirty="0">
                <a:solidFill>
                  <a:srgbClr val="000000"/>
                </a:solidFill>
                <a:ea typeface="Calibri"/>
                <a:cs typeface="Calibri"/>
              </a:rPr>
              <a:t>3. Personas</a:t>
            </a:r>
            <a:endParaRPr lang="en-US" dirty="0">
              <a:solidFill>
                <a:srgbClr val="000000"/>
              </a:solidFill>
            </a:endParaRPr>
          </a:p>
          <a:p>
            <a:pPr marL="457200" lvl="1" indent="0" algn="ctr">
              <a:buNone/>
            </a:pPr>
            <a:endParaRPr lang="en-US" dirty="0"/>
          </a:p>
        </p:txBody>
      </p:sp>
    </p:spTree>
    <p:extLst>
      <p:ext uri="{BB962C8B-B14F-4D97-AF65-F5344CB8AC3E}">
        <p14:creationId xmlns:p14="http://schemas.microsoft.com/office/powerpoint/2010/main" val="15036182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p:txBody>
          <a:bodyPr/>
          <a:lstStyle/>
          <a:p>
            <a:r>
              <a:rPr lang="en-US"/>
              <a:t>User Needs Matrix</a:t>
            </a:r>
          </a:p>
        </p:txBody>
      </p:sp>
      <p:sp>
        <p:nvSpPr>
          <p:cNvPr id="56324" name="Rectangle 3"/>
          <p:cNvSpPr>
            <a:spLocks noGrp="1" noChangeArrowheads="1"/>
          </p:cNvSpPr>
          <p:nvPr>
            <p:ph type="body" idx="1"/>
          </p:nvPr>
        </p:nvSpPr>
        <p:spPr>
          <a:xfrm>
            <a:off x="5307015" y="1417639"/>
            <a:ext cx="3643312" cy="2087562"/>
          </a:xfrm>
          <a:noFill/>
        </p:spPr>
        <p:txBody>
          <a:bodyPr>
            <a:normAutofit fontScale="92500" lnSpcReduction="20000"/>
          </a:bodyPr>
          <a:lstStyle/>
          <a:p>
            <a:pPr marL="0" indent="0" eaLnBrk="1" hangingPunct="1">
              <a:buNone/>
            </a:pPr>
            <a:r>
              <a:rPr lang="en-US"/>
              <a:t>A document to </a:t>
            </a:r>
            <a:r>
              <a:rPr lang="en-US" b="1"/>
              <a:t>capture user needs</a:t>
            </a:r>
            <a:r>
              <a:rPr lang="en-US"/>
              <a:t> of </a:t>
            </a:r>
            <a:r>
              <a:rPr lang="en-US" b="1"/>
              <a:t>various site users</a:t>
            </a:r>
            <a:r>
              <a:rPr lang="en-US"/>
              <a:t> and </a:t>
            </a:r>
            <a:r>
              <a:rPr lang="en-US" b="1"/>
              <a:t>prioritize</a:t>
            </a:r>
            <a:r>
              <a:rPr lang="en-US"/>
              <a:t> them accordingly.</a:t>
            </a:r>
            <a:endParaRPr lang="en-US" b="1"/>
          </a:p>
        </p:txBody>
      </p:sp>
      <p:pic>
        <p:nvPicPr>
          <p:cNvPr id="56325" name="Picture 4"/>
          <p:cNvPicPr>
            <a:picLocks noChangeAspect="1" noChangeArrowheads="1"/>
          </p:cNvPicPr>
          <p:nvPr/>
        </p:nvPicPr>
        <p:blipFill>
          <a:blip r:embed="rId3"/>
          <a:srcRect/>
          <a:stretch>
            <a:fillRect/>
          </a:stretch>
        </p:blipFill>
        <p:spPr bwMode="auto">
          <a:xfrm>
            <a:off x="147641" y="1600200"/>
            <a:ext cx="4957760" cy="4829860"/>
          </a:xfrm>
          <a:prstGeom prst="rect">
            <a:avLst/>
          </a:prstGeom>
          <a:noFill/>
          <a:ln w="9525">
            <a:noFill/>
            <a:miter lim="800000"/>
            <a:headEnd/>
            <a:tailEnd/>
          </a:ln>
        </p:spPr>
      </p:pic>
      <p:sp>
        <p:nvSpPr>
          <p:cNvPr id="56326" name="Text Box 5"/>
          <p:cNvSpPr txBox="1">
            <a:spLocks noChangeArrowheads="1"/>
          </p:cNvSpPr>
          <p:nvPr/>
        </p:nvSpPr>
        <p:spPr bwMode="auto">
          <a:xfrm>
            <a:off x="5307015" y="3875519"/>
            <a:ext cx="3643312" cy="2554545"/>
          </a:xfrm>
          <a:prstGeom prst="rect">
            <a:avLst/>
          </a:prstGeom>
          <a:noFill/>
          <a:ln w="9525">
            <a:noFill/>
            <a:miter lim="800000"/>
            <a:headEnd/>
            <a:tailEnd/>
          </a:ln>
        </p:spPr>
        <p:txBody>
          <a:bodyPr wrap="square" lIns="73152" anchor="b">
            <a:prstTxWarp prst="textNoShape">
              <a:avLst/>
            </a:prstTxWarp>
            <a:spAutoFit/>
          </a:bodyPr>
          <a:lstStyle/>
          <a:p>
            <a:pPr marL="342900" indent="-342900">
              <a:spcBef>
                <a:spcPct val="50000"/>
              </a:spcBef>
              <a:buFont typeface="Arial" panose="020B0604020202020204" pitchFamily="34" charset="0"/>
              <a:buChar char="•"/>
            </a:pPr>
            <a:r>
              <a:rPr lang="en-US" sz="2000" b="1">
                <a:solidFill>
                  <a:srgbClr val="C00000"/>
                </a:solidFill>
              </a:rPr>
              <a:t>Ensures that all user requirements are captured</a:t>
            </a:r>
          </a:p>
          <a:p>
            <a:pPr marL="342900" indent="-342900">
              <a:spcBef>
                <a:spcPct val="50000"/>
              </a:spcBef>
              <a:buFont typeface="Arial" panose="020B0604020202020204" pitchFamily="34" charset="0"/>
              <a:buChar char="•"/>
            </a:pPr>
            <a:r>
              <a:rPr lang="en-US" sz="2000" b="1">
                <a:solidFill>
                  <a:srgbClr val="C00000"/>
                </a:solidFill>
              </a:rPr>
              <a:t>Helps in prioritizing user needs and therefore helps in prioritizing page elements</a:t>
            </a:r>
          </a:p>
          <a:p>
            <a:pPr marL="342900" indent="-342900">
              <a:spcBef>
                <a:spcPct val="50000"/>
              </a:spcBef>
              <a:buFont typeface="Arial" panose="020B0604020202020204" pitchFamily="34" charset="0"/>
              <a:buChar char="•"/>
            </a:pPr>
            <a:r>
              <a:rPr lang="en-US" sz="2000" b="1">
                <a:solidFill>
                  <a:srgbClr val="C00000"/>
                </a:solidFill>
              </a:rPr>
              <a:t>Creates a snapshot view of the user eco-system</a:t>
            </a:r>
          </a:p>
        </p:txBody>
      </p:sp>
    </p:spTree>
    <p:extLst>
      <p:ext uri="{BB962C8B-B14F-4D97-AF65-F5344CB8AC3E}">
        <p14:creationId xmlns:p14="http://schemas.microsoft.com/office/powerpoint/2010/main" val="25169025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2"/>
          <p:cNvSpPr>
            <a:spLocks noGrp="1" noChangeArrowheads="1"/>
          </p:cNvSpPr>
          <p:nvPr>
            <p:ph type="title"/>
          </p:nvPr>
        </p:nvSpPr>
        <p:spPr/>
        <p:txBody>
          <a:bodyPr/>
          <a:lstStyle/>
          <a:p>
            <a:r>
              <a:rPr lang="en-US"/>
              <a:t> Personas</a:t>
            </a:r>
          </a:p>
        </p:txBody>
      </p:sp>
      <p:sp>
        <p:nvSpPr>
          <p:cNvPr id="60420" name="Rectangle 3"/>
          <p:cNvSpPr>
            <a:spLocks noGrp="1" noChangeArrowheads="1"/>
          </p:cNvSpPr>
          <p:nvPr>
            <p:ph type="body" idx="1"/>
          </p:nvPr>
        </p:nvSpPr>
        <p:spPr>
          <a:xfrm>
            <a:off x="200522" y="1220957"/>
            <a:ext cx="8709025" cy="1208083"/>
          </a:xfrm>
          <a:noFill/>
        </p:spPr>
        <p:txBody>
          <a:bodyPr>
            <a:normAutofit fontScale="92500" lnSpcReduction="20000"/>
          </a:bodyPr>
          <a:lstStyle/>
          <a:p>
            <a:pPr marL="0" indent="0" eaLnBrk="1" hangingPunct="1">
              <a:buNone/>
            </a:pPr>
            <a:r>
              <a:rPr lang="en-US"/>
              <a:t>User archetypes to help to guide decisions about product features, navigation, interactions, and even visual design </a:t>
            </a:r>
          </a:p>
        </p:txBody>
      </p:sp>
      <p:pic>
        <p:nvPicPr>
          <p:cNvPr id="60421" name="Picture 4"/>
          <p:cNvPicPr>
            <a:picLocks noChangeAspect="1" noChangeArrowheads="1"/>
          </p:cNvPicPr>
          <p:nvPr/>
        </p:nvPicPr>
        <p:blipFill>
          <a:blip r:embed="rId3"/>
          <a:srcRect/>
          <a:stretch>
            <a:fillRect/>
          </a:stretch>
        </p:blipFill>
        <p:spPr bwMode="auto">
          <a:xfrm>
            <a:off x="192088" y="2590804"/>
            <a:ext cx="5422900" cy="3765550"/>
          </a:xfrm>
          <a:prstGeom prst="rect">
            <a:avLst/>
          </a:prstGeom>
          <a:noFill/>
          <a:ln w="9525">
            <a:noFill/>
            <a:miter lim="800000"/>
            <a:headEnd/>
            <a:tailEnd/>
          </a:ln>
        </p:spPr>
      </p:pic>
      <p:sp>
        <p:nvSpPr>
          <p:cNvPr id="60422" name="Text Box 5"/>
          <p:cNvSpPr txBox="1">
            <a:spLocks noChangeArrowheads="1"/>
          </p:cNvSpPr>
          <p:nvPr/>
        </p:nvSpPr>
        <p:spPr bwMode="auto">
          <a:xfrm>
            <a:off x="5873753" y="2753142"/>
            <a:ext cx="3078159" cy="2308324"/>
          </a:xfrm>
          <a:prstGeom prst="rect">
            <a:avLst/>
          </a:prstGeom>
          <a:noFill/>
          <a:ln w="9525">
            <a:noFill/>
            <a:miter lim="800000"/>
            <a:headEnd/>
            <a:tailEnd/>
          </a:ln>
        </p:spPr>
        <p:txBody>
          <a:bodyPr wrap="square" lIns="73152">
            <a:prstTxWarp prst="textNoShape">
              <a:avLst/>
            </a:prstTxWarp>
            <a:spAutoFit/>
          </a:bodyPr>
          <a:lstStyle/>
          <a:p>
            <a:pPr marL="342900" indent="-342900">
              <a:spcBef>
                <a:spcPct val="50000"/>
              </a:spcBef>
              <a:buFont typeface="Arial" panose="020B0604020202020204" pitchFamily="34" charset="0"/>
              <a:buChar char="•"/>
            </a:pPr>
            <a:r>
              <a:rPr lang="en-US" sz="2400" b="1">
                <a:solidFill>
                  <a:srgbClr val="C00000"/>
                </a:solidFill>
              </a:rPr>
              <a:t> Demographics (User group)</a:t>
            </a:r>
          </a:p>
          <a:p>
            <a:pPr marL="342900" indent="-342900">
              <a:spcBef>
                <a:spcPct val="50000"/>
              </a:spcBef>
              <a:buFont typeface="Arial" panose="020B0604020202020204" pitchFamily="34" charset="0"/>
              <a:buChar char="•"/>
            </a:pPr>
            <a:r>
              <a:rPr lang="en-US" sz="2400" b="1">
                <a:solidFill>
                  <a:srgbClr val="C00000"/>
                </a:solidFill>
              </a:rPr>
              <a:t> Needs (Goals)</a:t>
            </a:r>
          </a:p>
          <a:p>
            <a:pPr marL="342900" indent="-342900">
              <a:spcBef>
                <a:spcPct val="50000"/>
              </a:spcBef>
              <a:buFont typeface="Arial" panose="020B0604020202020204" pitchFamily="34" charset="0"/>
              <a:buChar char="•"/>
            </a:pPr>
            <a:r>
              <a:rPr lang="en-US" sz="2400" b="1">
                <a:solidFill>
                  <a:srgbClr val="C00000"/>
                </a:solidFill>
              </a:rPr>
              <a:t> Environmental (Context)</a:t>
            </a:r>
          </a:p>
        </p:txBody>
      </p:sp>
      <p:sp>
        <p:nvSpPr>
          <p:cNvPr id="2" name="Rectangle 1">
            <a:extLst>
              <a:ext uri="{FF2B5EF4-FFF2-40B4-BE49-F238E27FC236}">
                <a16:creationId xmlns:a16="http://schemas.microsoft.com/office/drawing/2014/main" id="{AD824375-6EA4-B44A-9726-1370E4A1C099}"/>
              </a:ext>
            </a:extLst>
          </p:cNvPr>
          <p:cNvSpPr/>
          <p:nvPr/>
        </p:nvSpPr>
        <p:spPr>
          <a:xfrm>
            <a:off x="510364" y="6356354"/>
            <a:ext cx="8399183" cy="369332"/>
          </a:xfrm>
          <a:prstGeom prst="rect">
            <a:avLst/>
          </a:prstGeom>
        </p:spPr>
        <p:txBody>
          <a:bodyPr wrap="square">
            <a:spAutoFit/>
          </a:bodyPr>
          <a:lstStyle/>
          <a:p>
            <a:r>
              <a:rPr lang="en-US" b="1">
                <a:latin typeface="Arial" pitchFamily="-106" charset="0"/>
              </a:rPr>
              <a:t>https://</a:t>
            </a:r>
            <a:r>
              <a:rPr lang="en-US" b="1" err="1">
                <a:latin typeface="Arial" pitchFamily="-106" charset="0"/>
              </a:rPr>
              <a:t>www.usability.gov</a:t>
            </a:r>
            <a:r>
              <a:rPr lang="en-US" b="1">
                <a:latin typeface="Arial" pitchFamily="-106" charset="0"/>
              </a:rPr>
              <a:t>/how-to-and-tools/methods/</a:t>
            </a:r>
            <a:r>
              <a:rPr lang="en-US" b="1" err="1">
                <a:latin typeface="Arial" pitchFamily="-106" charset="0"/>
              </a:rPr>
              <a:t>personas.html</a:t>
            </a:r>
            <a:endParaRPr lang="en-US" b="1">
              <a:latin typeface="Arial" pitchFamily="-106" charset="0"/>
            </a:endParaRPr>
          </a:p>
        </p:txBody>
      </p:sp>
    </p:spTree>
    <p:extLst>
      <p:ext uri="{BB962C8B-B14F-4D97-AF65-F5344CB8AC3E}">
        <p14:creationId xmlns:p14="http://schemas.microsoft.com/office/powerpoint/2010/main" val="228170030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287C5-DFB9-3E0E-AA91-EF795573A6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3C76BA-9AE5-B878-C191-30282AEE420F}"/>
              </a:ext>
            </a:extLst>
          </p:cNvPr>
          <p:cNvSpPr>
            <a:spLocks noGrp="1"/>
          </p:cNvSpPr>
          <p:nvPr>
            <p:ph type="title"/>
          </p:nvPr>
        </p:nvSpPr>
        <p:spPr/>
        <p:txBody>
          <a:bodyPr>
            <a:normAutofit fontScale="90000"/>
          </a:bodyPr>
          <a:lstStyle/>
          <a:p>
            <a:r>
              <a:rPr lang="en-US" dirty="0"/>
              <a:t>Prioritizing User Requirements</a:t>
            </a:r>
          </a:p>
        </p:txBody>
      </p:sp>
      <p:sp>
        <p:nvSpPr>
          <p:cNvPr id="3" name="Content Placeholder 2">
            <a:extLst>
              <a:ext uri="{FF2B5EF4-FFF2-40B4-BE49-F238E27FC236}">
                <a16:creationId xmlns:a16="http://schemas.microsoft.com/office/drawing/2014/main" id="{ABBDCBE1-2B45-3335-7B7B-4827EB6374A5}"/>
              </a:ext>
            </a:extLst>
          </p:cNvPr>
          <p:cNvSpPr>
            <a:spLocks noGrp="1"/>
          </p:cNvSpPr>
          <p:nvPr>
            <p:ph idx="1"/>
          </p:nvPr>
        </p:nvSpPr>
        <p:spPr/>
        <p:txBody>
          <a:bodyPr vert="horz" lIns="91440" tIns="45720" rIns="91440" bIns="45720" rtlCol="0" anchor="t">
            <a:normAutofit fontScale="85000" lnSpcReduction="10000"/>
          </a:bodyPr>
          <a:lstStyle/>
          <a:p>
            <a:r>
              <a:rPr lang="en-US" b="1" dirty="0" err="1">
                <a:ea typeface="+mn-lt"/>
                <a:cs typeface="+mn-lt"/>
              </a:rPr>
              <a:t>MoSCoW</a:t>
            </a:r>
            <a:r>
              <a:rPr lang="en-US" b="1" dirty="0">
                <a:ea typeface="+mn-lt"/>
                <a:cs typeface="+mn-lt"/>
              </a:rPr>
              <a:t> method</a:t>
            </a:r>
            <a:endParaRPr lang="en-US" dirty="0"/>
          </a:p>
          <a:p>
            <a:pPr marL="914400" lvl="1" indent="-457200"/>
            <a:r>
              <a:rPr lang="en-US" b="1" dirty="0">
                <a:ea typeface="+mn-lt"/>
                <a:cs typeface="+mn-lt"/>
              </a:rPr>
              <a:t>Must have</a:t>
            </a:r>
            <a:r>
              <a:rPr lang="en-US" dirty="0">
                <a:ea typeface="+mn-lt"/>
                <a:cs typeface="+mn-lt"/>
              </a:rPr>
              <a:t>: essential for the primary user scenario (no workaround)</a:t>
            </a:r>
            <a:endParaRPr lang="en-US" sz="3200">
              <a:ea typeface="Calibri"/>
              <a:cs typeface="Calibri"/>
            </a:endParaRPr>
          </a:p>
          <a:p>
            <a:pPr marL="1314450" lvl="2" indent="-457200">
              <a:buFont typeface="Wingdings"/>
              <a:buChar char="§"/>
            </a:pPr>
            <a:r>
              <a:rPr lang="en-US" dirty="0">
                <a:ea typeface="+mn-lt"/>
                <a:cs typeface="+mn-lt"/>
              </a:rPr>
              <a:t>Example: sign up/log in; create/edit core item; view list/detail; input validated &amp; saved</a:t>
            </a:r>
          </a:p>
          <a:p>
            <a:pPr lvl="1" indent="-342900"/>
            <a:r>
              <a:rPr lang="en-US" b="1" dirty="0">
                <a:ea typeface="+mn-lt"/>
                <a:cs typeface="+mn-lt"/>
              </a:rPr>
              <a:t>Should have</a:t>
            </a:r>
            <a:r>
              <a:rPr lang="en-US" dirty="0">
                <a:ea typeface="+mn-lt"/>
                <a:cs typeface="+mn-lt"/>
              </a:rPr>
              <a:t>: very important, but a temporary workaround exists</a:t>
            </a:r>
            <a:endParaRPr lang="en-US" sz="3200" dirty="0">
              <a:ea typeface="Calibri"/>
              <a:cs typeface="Calibri"/>
            </a:endParaRPr>
          </a:p>
          <a:p>
            <a:pPr lvl="2" indent="-457200">
              <a:buFont typeface="Wingdings,Sans-Serif"/>
              <a:buChar char="§"/>
            </a:pPr>
            <a:r>
              <a:rPr lang="en-US" dirty="0">
                <a:ea typeface="+mn-lt"/>
                <a:cs typeface="+mn-lt"/>
              </a:rPr>
              <a:t>Example: search/filter; password reset; </a:t>
            </a:r>
            <a:r>
              <a:rPr lang="en-US" dirty="0" err="1">
                <a:ea typeface="+mn-lt"/>
                <a:cs typeface="+mn-lt"/>
              </a:rPr>
              <a:t>userprofile</a:t>
            </a:r>
            <a:r>
              <a:rPr lang="en-US" dirty="0">
                <a:ea typeface="+mn-lt"/>
                <a:cs typeface="+mn-lt"/>
              </a:rPr>
              <a:t> settings</a:t>
            </a:r>
          </a:p>
          <a:p>
            <a:pPr lvl="1" indent="-342900"/>
            <a:r>
              <a:rPr lang="en-US" b="1" dirty="0">
                <a:ea typeface="+mn-lt"/>
                <a:cs typeface="+mn-lt"/>
              </a:rPr>
              <a:t>Could have</a:t>
            </a:r>
            <a:r>
              <a:rPr lang="en-US" dirty="0">
                <a:ea typeface="+mn-lt"/>
                <a:cs typeface="+mn-lt"/>
              </a:rPr>
              <a:t>: nice-to-have if time allows</a:t>
            </a:r>
            <a:endParaRPr lang="en-GB">
              <a:ea typeface="Calibri"/>
              <a:cs typeface="Calibri"/>
            </a:endParaRPr>
          </a:p>
          <a:p>
            <a:pPr lvl="2" indent="-457200">
              <a:buFont typeface="Wingdings,Sans-Serif"/>
              <a:buChar char="§"/>
            </a:pPr>
            <a:r>
              <a:rPr lang="en-GB" dirty="0">
                <a:ea typeface="+mn-lt"/>
                <a:cs typeface="+mn-lt"/>
              </a:rPr>
              <a:t>Example: dark mode, social sharing</a:t>
            </a:r>
          </a:p>
          <a:p>
            <a:pPr lvl="1" indent="-342900"/>
            <a:r>
              <a:rPr lang="en-US" b="1" dirty="0">
                <a:ea typeface="+mn-lt"/>
                <a:cs typeface="+mn-lt"/>
              </a:rPr>
              <a:t>Won’t have (this iteration)</a:t>
            </a:r>
            <a:r>
              <a:rPr lang="en-US" dirty="0">
                <a:ea typeface="+mn-lt"/>
                <a:cs typeface="+mn-lt"/>
              </a:rPr>
              <a:t>: explicitly out of scope for now</a:t>
            </a:r>
            <a:endParaRPr lang="en-US">
              <a:ea typeface="Calibri"/>
              <a:cs typeface="Calibri"/>
            </a:endParaRPr>
          </a:p>
          <a:p>
            <a:pPr lvl="2" indent="-457200">
              <a:buFont typeface="Wingdings,Sans-Serif"/>
              <a:buChar char="§"/>
            </a:pPr>
            <a:r>
              <a:rPr lang="en-US" dirty="0">
                <a:solidFill>
                  <a:srgbClr val="000000"/>
                </a:solidFill>
                <a:ea typeface="Calibri"/>
                <a:cs typeface="Calibri"/>
              </a:rPr>
              <a:t>Example: real-time chat</a:t>
            </a:r>
          </a:p>
          <a:p>
            <a:endParaRPr lang="en-US" dirty="0">
              <a:ea typeface="Calibri"/>
              <a:cs typeface="Calibri"/>
            </a:endParaRPr>
          </a:p>
          <a:p>
            <a:pPr marL="457200" lvl="1" indent="0" algn="ctr">
              <a:buNone/>
            </a:pPr>
            <a:endParaRPr lang="en-US" dirty="0">
              <a:ea typeface="Calibri"/>
              <a:cs typeface="Calibri"/>
            </a:endParaRPr>
          </a:p>
        </p:txBody>
      </p:sp>
    </p:spTree>
    <p:extLst>
      <p:ext uri="{BB962C8B-B14F-4D97-AF65-F5344CB8AC3E}">
        <p14:creationId xmlns:p14="http://schemas.microsoft.com/office/powerpoint/2010/main" val="19734639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Grp="1" noChangeArrowheads="1"/>
          </p:cNvSpPr>
          <p:nvPr>
            <p:ph type="title"/>
          </p:nvPr>
        </p:nvSpPr>
        <p:spPr>
          <a:xfrm>
            <a:off x="0" y="25368"/>
            <a:ext cx="9144000" cy="1143000"/>
          </a:xfrm>
        </p:spPr>
        <p:txBody>
          <a:bodyPr/>
          <a:lstStyle/>
          <a:p>
            <a:r>
              <a:rPr lang="en-US"/>
              <a:t>Site Maps</a:t>
            </a:r>
          </a:p>
        </p:txBody>
      </p:sp>
      <p:sp>
        <p:nvSpPr>
          <p:cNvPr id="58372" name="Rectangle 3"/>
          <p:cNvSpPr>
            <a:spLocks noGrp="1" noChangeArrowheads="1"/>
          </p:cNvSpPr>
          <p:nvPr>
            <p:ph type="body" idx="1"/>
          </p:nvPr>
        </p:nvSpPr>
        <p:spPr>
          <a:xfrm>
            <a:off x="4329110" y="1417638"/>
            <a:ext cx="4814890" cy="2322516"/>
          </a:xfrm>
          <a:noFill/>
        </p:spPr>
        <p:txBody>
          <a:bodyPr/>
          <a:lstStyle/>
          <a:p>
            <a:pPr marL="0" indent="0" eaLnBrk="1" hangingPunct="1">
              <a:buNone/>
            </a:pPr>
            <a:r>
              <a:rPr lang="en-US"/>
              <a:t>Blueprints that shows how the site is going to be organized (sections/URLs). </a:t>
            </a:r>
            <a:endParaRPr lang="en-US" b="1"/>
          </a:p>
        </p:txBody>
      </p:sp>
      <p:sp>
        <p:nvSpPr>
          <p:cNvPr id="58373" name="Text Box 4"/>
          <p:cNvSpPr txBox="1">
            <a:spLocks noChangeArrowheads="1"/>
          </p:cNvSpPr>
          <p:nvPr/>
        </p:nvSpPr>
        <p:spPr bwMode="auto">
          <a:xfrm>
            <a:off x="5369586" y="2956088"/>
            <a:ext cx="3311527" cy="3785652"/>
          </a:xfrm>
          <a:prstGeom prst="rect">
            <a:avLst/>
          </a:prstGeom>
          <a:noFill/>
          <a:ln w="9525">
            <a:noFill/>
            <a:miter lim="800000"/>
            <a:headEnd/>
            <a:tailEnd/>
          </a:ln>
        </p:spPr>
        <p:txBody>
          <a:bodyPr wrap="square" lIns="73152" anchor="b">
            <a:prstTxWarp prst="textNoShape">
              <a:avLst/>
            </a:prstTxWarp>
            <a:spAutoFit/>
          </a:bodyPr>
          <a:lstStyle/>
          <a:p>
            <a:pPr marL="342900" indent="-342900">
              <a:spcBef>
                <a:spcPct val="50000"/>
              </a:spcBef>
              <a:buFont typeface="Arial" panose="020B0604020202020204" pitchFamily="34" charset="0"/>
              <a:buChar char="•"/>
            </a:pPr>
            <a:r>
              <a:rPr lang="en-US" sz="2400" b="1">
                <a:solidFill>
                  <a:srgbClr val="C00000"/>
                </a:solidFill>
              </a:rPr>
              <a:t>Provides the high level snapshot view and relationship between pages of the site.</a:t>
            </a:r>
          </a:p>
          <a:p>
            <a:pPr marL="342900" indent="-342900">
              <a:spcBef>
                <a:spcPct val="50000"/>
              </a:spcBef>
              <a:buFont typeface="Arial" panose="020B0604020202020204" pitchFamily="34" charset="0"/>
              <a:buChar char="•"/>
            </a:pPr>
            <a:r>
              <a:rPr lang="en-US" sz="2400" b="1">
                <a:solidFill>
                  <a:srgbClr val="C00000"/>
                </a:solidFill>
              </a:rPr>
              <a:t>Helps in restructuring the deep hierarchies.</a:t>
            </a:r>
          </a:p>
          <a:p>
            <a:pPr marL="342900" indent="-342900">
              <a:spcBef>
                <a:spcPct val="50000"/>
              </a:spcBef>
              <a:buFont typeface="Arial" panose="020B0604020202020204" pitchFamily="34" charset="0"/>
              <a:buChar char="•"/>
            </a:pPr>
            <a:r>
              <a:rPr lang="en-US" sz="2400" b="1">
                <a:solidFill>
                  <a:srgbClr val="C00000"/>
                </a:solidFill>
              </a:rPr>
              <a:t>Helps to figure out navigation.</a:t>
            </a:r>
          </a:p>
        </p:txBody>
      </p:sp>
      <p:pic>
        <p:nvPicPr>
          <p:cNvPr id="58374" name="Picture 5"/>
          <p:cNvPicPr>
            <a:picLocks noChangeAspect="1" noChangeArrowheads="1"/>
          </p:cNvPicPr>
          <p:nvPr/>
        </p:nvPicPr>
        <p:blipFill>
          <a:blip r:embed="rId3"/>
          <a:srcRect/>
          <a:stretch>
            <a:fillRect/>
          </a:stretch>
        </p:blipFill>
        <p:spPr bwMode="auto">
          <a:xfrm>
            <a:off x="396066" y="1016150"/>
            <a:ext cx="3036576" cy="3149450"/>
          </a:xfrm>
          <a:prstGeom prst="rect">
            <a:avLst/>
          </a:prstGeom>
          <a:noFill/>
          <a:ln w="9525">
            <a:solidFill>
              <a:schemeClr val="tx1"/>
            </a:solidFill>
            <a:miter lim="800000"/>
            <a:headEnd/>
            <a:tailEnd/>
          </a:ln>
        </p:spPr>
      </p:pic>
      <p:pic>
        <p:nvPicPr>
          <p:cNvPr id="58375" name="Picture 6"/>
          <p:cNvPicPr>
            <a:picLocks noChangeAspect="1" noChangeArrowheads="1"/>
          </p:cNvPicPr>
          <p:nvPr/>
        </p:nvPicPr>
        <p:blipFill>
          <a:blip r:embed="rId4"/>
          <a:srcRect/>
          <a:stretch>
            <a:fillRect/>
          </a:stretch>
        </p:blipFill>
        <p:spPr bwMode="auto">
          <a:xfrm>
            <a:off x="615735" y="3121859"/>
            <a:ext cx="4290964" cy="3454111"/>
          </a:xfrm>
          <a:prstGeom prst="rect">
            <a:avLst/>
          </a:prstGeom>
          <a:noFill/>
          <a:ln w="9525">
            <a:noFill/>
            <a:miter lim="800000"/>
            <a:headEnd/>
            <a:tailEnd/>
          </a:ln>
        </p:spPr>
      </p:pic>
    </p:spTree>
    <p:extLst>
      <p:ext uri="{BB962C8B-B14F-4D97-AF65-F5344CB8AC3E}">
        <p14:creationId xmlns:p14="http://schemas.microsoft.com/office/powerpoint/2010/main" val="258865354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URL Design Tips</a:t>
            </a:r>
          </a:p>
        </p:txBody>
      </p:sp>
      <p:sp>
        <p:nvSpPr>
          <p:cNvPr id="4" name="TextBox 3"/>
          <p:cNvSpPr txBox="1"/>
          <p:nvPr/>
        </p:nvSpPr>
        <p:spPr>
          <a:xfrm>
            <a:off x="474632" y="1411202"/>
            <a:ext cx="8212168" cy="4401205"/>
          </a:xfrm>
          <a:prstGeom prst="rect">
            <a:avLst/>
          </a:prstGeom>
          <a:noFill/>
        </p:spPr>
        <p:txBody>
          <a:bodyPr wrap="square" rtlCol="0">
            <a:spAutoFit/>
          </a:bodyPr>
          <a:lstStyle/>
          <a:p>
            <a:pPr marL="457200" indent="-457200">
              <a:buFont typeface="Arial"/>
              <a:buChar char="•"/>
            </a:pPr>
            <a:r>
              <a:rPr lang="en-US" sz="2800" b="1"/>
              <a:t>URLs should be obvious, and inferable</a:t>
            </a:r>
            <a:endParaRPr lang="en-US" sz="2800"/>
          </a:p>
          <a:p>
            <a:pPr marL="914400" lvl="1" indent="-457200">
              <a:buFont typeface="Arial"/>
              <a:buChar char="•"/>
            </a:pPr>
            <a:r>
              <a:rPr lang="en-US" sz="2800"/>
              <a:t>URLs should use keywords, where possible</a:t>
            </a:r>
          </a:p>
          <a:p>
            <a:pPr marL="914400" lvl="1" indent="-457200">
              <a:buFont typeface="Arial"/>
              <a:buChar char="•"/>
            </a:pPr>
            <a:r>
              <a:rPr lang="en-US" sz="2800"/>
              <a:t>Shorter URLs are better</a:t>
            </a:r>
          </a:p>
          <a:p>
            <a:pPr marL="914400" lvl="1" indent="-457200">
              <a:buFont typeface="Arial"/>
              <a:buChar char="•"/>
            </a:pPr>
            <a:r>
              <a:rPr lang="en-US" sz="2800"/>
              <a:t>Try to avoid too many folders/depth</a:t>
            </a:r>
          </a:p>
          <a:p>
            <a:pPr marL="914400" lvl="1" indent="-457200">
              <a:buFont typeface="Arial"/>
              <a:buChar char="•"/>
            </a:pPr>
            <a:r>
              <a:rPr lang="en-US" sz="2800"/>
              <a:t>Use lowercase characters and avoid special characters in URLS</a:t>
            </a:r>
          </a:p>
          <a:p>
            <a:pPr marL="457200" indent="-457200">
              <a:buFont typeface="Arial"/>
              <a:buChar char="•"/>
            </a:pPr>
            <a:endParaRPr lang="en-US" sz="2800" b="1"/>
          </a:p>
          <a:p>
            <a:pPr marL="457200" indent="-457200">
              <a:buFont typeface="Arial"/>
              <a:buChar char="•"/>
            </a:pPr>
            <a:r>
              <a:rPr lang="en-US" sz="2800" b="1"/>
              <a:t>Use static URLS when you can</a:t>
            </a:r>
          </a:p>
          <a:p>
            <a:pPr marL="914400" lvl="1" indent="-457200">
              <a:buFont typeface="Arial"/>
              <a:buChar char="•"/>
            </a:pPr>
            <a:r>
              <a:rPr lang="en-US" sz="2800"/>
              <a:t>This lets users revisit the information/page</a:t>
            </a:r>
          </a:p>
          <a:p>
            <a:pPr marL="914400" lvl="1" indent="-457200">
              <a:buFont typeface="Arial"/>
              <a:buChar char="•"/>
            </a:pPr>
            <a:r>
              <a:rPr lang="en-US" sz="2800"/>
              <a:t>Means that crawlers can index the content</a:t>
            </a:r>
          </a:p>
        </p:txBody>
      </p:sp>
    </p:spTree>
    <p:extLst>
      <p:ext uri="{BB962C8B-B14F-4D97-AF65-F5344CB8AC3E}">
        <p14:creationId xmlns:p14="http://schemas.microsoft.com/office/powerpoint/2010/main" val="332294717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EF93C-9A01-2247-8464-5E1D11C10E47}"/>
              </a:ext>
            </a:extLst>
          </p:cNvPr>
          <p:cNvSpPr>
            <a:spLocks noGrp="1"/>
          </p:cNvSpPr>
          <p:nvPr>
            <p:ph type="title"/>
          </p:nvPr>
        </p:nvSpPr>
        <p:spPr/>
        <p:txBody>
          <a:bodyPr/>
          <a:lstStyle/>
          <a:p>
            <a:r>
              <a:rPr lang="en-US"/>
              <a:t>User flows</a:t>
            </a:r>
          </a:p>
        </p:txBody>
      </p:sp>
      <p:sp>
        <p:nvSpPr>
          <p:cNvPr id="3" name="Content Placeholder 2">
            <a:extLst>
              <a:ext uri="{FF2B5EF4-FFF2-40B4-BE49-F238E27FC236}">
                <a16:creationId xmlns:a16="http://schemas.microsoft.com/office/drawing/2014/main" id="{6107070B-273A-1943-8750-E319F2FF8C84}"/>
              </a:ext>
            </a:extLst>
          </p:cNvPr>
          <p:cNvSpPr>
            <a:spLocks noGrp="1"/>
          </p:cNvSpPr>
          <p:nvPr>
            <p:ph idx="1"/>
          </p:nvPr>
        </p:nvSpPr>
        <p:spPr/>
        <p:txBody>
          <a:bodyPr/>
          <a:lstStyle/>
          <a:p>
            <a:r>
              <a:rPr lang="en-US"/>
              <a:t>Diagram that shows how a user moves through the site accomplishing a task</a:t>
            </a:r>
          </a:p>
          <a:p>
            <a:endParaRPr lang="en-US"/>
          </a:p>
        </p:txBody>
      </p:sp>
      <p:pic>
        <p:nvPicPr>
          <p:cNvPr id="1026" name="Picture 2" descr="An example of a user flow in UX design">
            <a:extLst>
              <a:ext uri="{FF2B5EF4-FFF2-40B4-BE49-F238E27FC236}">
                <a16:creationId xmlns:a16="http://schemas.microsoft.com/office/drawing/2014/main" id="{5E19DFDB-EF2A-C649-94E0-F702CC5697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83900" y="3238635"/>
            <a:ext cx="4860099" cy="321137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7337B257-72F6-C64E-8808-351130541F5F}"/>
              </a:ext>
            </a:extLst>
          </p:cNvPr>
          <p:cNvSpPr/>
          <p:nvPr/>
        </p:nvSpPr>
        <p:spPr>
          <a:xfrm>
            <a:off x="457200" y="6397069"/>
            <a:ext cx="6858000" cy="369332"/>
          </a:xfrm>
          <a:prstGeom prst="rect">
            <a:avLst/>
          </a:prstGeom>
        </p:spPr>
        <p:txBody>
          <a:bodyPr wrap="square">
            <a:spAutoFit/>
          </a:bodyPr>
          <a:lstStyle/>
          <a:p>
            <a:r>
              <a:rPr lang="en-US"/>
              <a:t>https://</a:t>
            </a:r>
            <a:r>
              <a:rPr lang="en-US" err="1"/>
              <a:t>careerfoundry.com</a:t>
            </a:r>
            <a:r>
              <a:rPr lang="en-US"/>
              <a:t>/</a:t>
            </a:r>
            <a:r>
              <a:rPr lang="en-US" err="1"/>
              <a:t>en</a:t>
            </a:r>
            <a:r>
              <a:rPr lang="en-US"/>
              <a:t>/blog/</a:t>
            </a:r>
            <a:r>
              <a:rPr lang="en-US" err="1"/>
              <a:t>ux</a:t>
            </a:r>
            <a:r>
              <a:rPr lang="en-US"/>
              <a:t>-design/what-are-user-flows/</a:t>
            </a:r>
          </a:p>
        </p:txBody>
      </p:sp>
      <p:sp>
        <p:nvSpPr>
          <p:cNvPr id="6" name="Text Box 4">
            <a:extLst>
              <a:ext uri="{FF2B5EF4-FFF2-40B4-BE49-F238E27FC236}">
                <a16:creationId xmlns:a16="http://schemas.microsoft.com/office/drawing/2014/main" id="{82CD192A-FF30-014F-9895-064AB6D169D2}"/>
              </a:ext>
            </a:extLst>
          </p:cNvPr>
          <p:cNvSpPr txBox="1">
            <a:spLocks noChangeArrowheads="1"/>
          </p:cNvSpPr>
          <p:nvPr/>
        </p:nvSpPr>
        <p:spPr bwMode="auto">
          <a:xfrm>
            <a:off x="457200" y="3389477"/>
            <a:ext cx="3311527" cy="2492990"/>
          </a:xfrm>
          <a:prstGeom prst="rect">
            <a:avLst/>
          </a:prstGeom>
          <a:noFill/>
          <a:ln w="9525">
            <a:noFill/>
            <a:miter lim="800000"/>
            <a:headEnd/>
            <a:tailEnd/>
          </a:ln>
        </p:spPr>
        <p:txBody>
          <a:bodyPr wrap="square" lIns="73152" anchor="b">
            <a:prstTxWarp prst="textNoShape">
              <a:avLst/>
            </a:prstTxWarp>
            <a:spAutoFit/>
          </a:bodyPr>
          <a:lstStyle/>
          <a:p>
            <a:pPr marL="342900" indent="-342900">
              <a:spcBef>
                <a:spcPct val="50000"/>
              </a:spcBef>
              <a:buFont typeface="Arial" panose="020B0604020202020204" pitchFamily="34" charset="0"/>
              <a:buChar char="•"/>
            </a:pPr>
            <a:r>
              <a:rPr lang="en-US" sz="2400" b="1">
                <a:solidFill>
                  <a:srgbClr val="C00000"/>
                </a:solidFill>
              </a:rPr>
              <a:t>Shows what a user has to accomplish to achieve a goal</a:t>
            </a:r>
          </a:p>
          <a:p>
            <a:pPr marL="342900" indent="-342900">
              <a:spcBef>
                <a:spcPct val="50000"/>
              </a:spcBef>
              <a:buFont typeface="Arial" panose="020B0604020202020204" pitchFamily="34" charset="0"/>
              <a:buChar char="•"/>
            </a:pPr>
            <a:r>
              <a:rPr lang="en-US" sz="2400" b="1">
                <a:solidFill>
                  <a:srgbClr val="C00000"/>
                </a:solidFill>
              </a:rPr>
              <a:t>Let’s you reduce complexity of interaction</a:t>
            </a:r>
          </a:p>
        </p:txBody>
      </p:sp>
    </p:spTree>
    <p:extLst>
      <p:ext uri="{BB962C8B-B14F-4D97-AF65-F5344CB8AC3E}">
        <p14:creationId xmlns:p14="http://schemas.microsoft.com/office/powerpoint/2010/main" val="6934389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5" name="Rectangle 2"/>
          <p:cNvSpPr>
            <a:spLocks noGrp="1" noChangeArrowheads="1"/>
          </p:cNvSpPr>
          <p:nvPr>
            <p:ph type="title"/>
          </p:nvPr>
        </p:nvSpPr>
        <p:spPr/>
        <p:txBody>
          <a:bodyPr/>
          <a:lstStyle/>
          <a:p>
            <a:r>
              <a:rPr lang="en-US"/>
              <a:t>Wireframes</a:t>
            </a:r>
          </a:p>
        </p:txBody>
      </p:sp>
      <p:pic>
        <p:nvPicPr>
          <p:cNvPr id="64516" name="Picture 3"/>
          <p:cNvPicPr>
            <a:picLocks noChangeAspect="1" noChangeArrowheads="1"/>
          </p:cNvPicPr>
          <p:nvPr/>
        </p:nvPicPr>
        <p:blipFill>
          <a:blip r:embed="rId2"/>
          <a:srcRect l="1064" t="989"/>
          <a:stretch>
            <a:fillRect/>
          </a:stretch>
        </p:blipFill>
        <p:spPr bwMode="auto">
          <a:xfrm>
            <a:off x="174629" y="2895604"/>
            <a:ext cx="5434013" cy="3660775"/>
          </a:xfrm>
          <a:prstGeom prst="rect">
            <a:avLst/>
          </a:prstGeom>
          <a:noFill/>
          <a:ln w="9525">
            <a:solidFill>
              <a:srgbClr val="B3B3B3"/>
            </a:solidFill>
            <a:miter lim="800000"/>
            <a:headEnd/>
            <a:tailEnd/>
          </a:ln>
        </p:spPr>
      </p:pic>
      <p:sp>
        <p:nvSpPr>
          <p:cNvPr id="64517" name="Rectangle 4"/>
          <p:cNvSpPr>
            <a:spLocks noGrp="1" noChangeArrowheads="1"/>
          </p:cNvSpPr>
          <p:nvPr>
            <p:ph type="body" idx="1"/>
          </p:nvPr>
        </p:nvSpPr>
        <p:spPr>
          <a:xfrm>
            <a:off x="77792" y="1219204"/>
            <a:ext cx="8709025" cy="2873375"/>
          </a:xfrm>
          <a:noFill/>
        </p:spPr>
        <p:txBody>
          <a:bodyPr>
            <a:normAutofit/>
          </a:bodyPr>
          <a:lstStyle/>
          <a:p>
            <a:pPr marL="0" indent="0" eaLnBrk="1" hangingPunct="1">
              <a:buNone/>
            </a:pPr>
            <a:r>
              <a:rPr lang="en-US" sz="2800"/>
              <a:t>Depict how an individual page or template will look from an architectural perspective. They are the intersection of the site’s IA and its visual and information design.</a:t>
            </a:r>
            <a:endParaRPr lang="en-US" sz="2800" b="1"/>
          </a:p>
        </p:txBody>
      </p:sp>
      <p:sp>
        <p:nvSpPr>
          <p:cNvPr id="64518" name="Text Box 5"/>
          <p:cNvSpPr txBox="1">
            <a:spLocks noChangeArrowheads="1"/>
          </p:cNvSpPr>
          <p:nvPr/>
        </p:nvSpPr>
        <p:spPr bwMode="auto">
          <a:xfrm>
            <a:off x="5943600" y="2895600"/>
            <a:ext cx="3006727" cy="3416320"/>
          </a:xfrm>
          <a:prstGeom prst="rect">
            <a:avLst/>
          </a:prstGeom>
          <a:noFill/>
          <a:ln w="9525">
            <a:noFill/>
            <a:miter lim="800000"/>
            <a:headEnd/>
            <a:tailEnd/>
          </a:ln>
        </p:spPr>
        <p:txBody>
          <a:bodyPr wrap="square" lIns="73152">
            <a:prstTxWarp prst="textNoShape">
              <a:avLst/>
            </a:prstTxWarp>
            <a:spAutoFit/>
          </a:bodyPr>
          <a:lstStyle/>
          <a:p>
            <a:pPr marL="342900" indent="-342900">
              <a:spcBef>
                <a:spcPct val="50000"/>
              </a:spcBef>
              <a:buFont typeface="Arial" panose="020B0604020202020204" pitchFamily="34" charset="0"/>
              <a:buChar char="•"/>
            </a:pPr>
            <a:r>
              <a:rPr lang="en-US" sz="2400" b="1">
                <a:solidFill>
                  <a:srgbClr val="C00000"/>
                </a:solidFill>
              </a:rPr>
              <a:t>Saves lot of time</a:t>
            </a:r>
          </a:p>
          <a:p>
            <a:pPr marL="342900" indent="-342900">
              <a:spcBef>
                <a:spcPct val="50000"/>
              </a:spcBef>
              <a:buFont typeface="Arial" panose="020B0604020202020204" pitchFamily="34" charset="0"/>
              <a:buChar char="•"/>
            </a:pPr>
            <a:r>
              <a:rPr lang="en-US" sz="2400" b="1">
                <a:solidFill>
                  <a:srgbClr val="C00000"/>
                </a:solidFill>
              </a:rPr>
              <a:t>Ideas can be presented without coding</a:t>
            </a:r>
          </a:p>
          <a:p>
            <a:pPr marL="342900" indent="-342900">
              <a:spcBef>
                <a:spcPct val="50000"/>
              </a:spcBef>
              <a:buFont typeface="Arial" panose="020B0604020202020204" pitchFamily="34" charset="0"/>
              <a:buChar char="•"/>
            </a:pPr>
            <a:r>
              <a:rPr lang="en-US" sz="2400" b="1">
                <a:solidFill>
                  <a:srgbClr val="C00000"/>
                </a:solidFill>
              </a:rPr>
              <a:t>Helps in validating page elements and structure with the user.</a:t>
            </a:r>
          </a:p>
        </p:txBody>
      </p:sp>
    </p:spTree>
    <p:extLst>
      <p:ext uri="{BB962C8B-B14F-4D97-AF65-F5344CB8AC3E}">
        <p14:creationId xmlns:p14="http://schemas.microsoft.com/office/powerpoint/2010/main" val="8091929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Drawing Wireframes (1)</a:t>
            </a:r>
          </a:p>
        </p:txBody>
      </p:sp>
      <p:sp>
        <p:nvSpPr>
          <p:cNvPr id="3" name="Content Placeholder 2"/>
          <p:cNvSpPr>
            <a:spLocks noGrp="1"/>
          </p:cNvSpPr>
          <p:nvPr>
            <p:ph idx="1"/>
          </p:nvPr>
        </p:nvSpPr>
        <p:spPr>
          <a:xfrm>
            <a:off x="457200" y="1303368"/>
            <a:ext cx="8229600" cy="5157773"/>
          </a:xfrm>
        </p:spPr>
        <p:txBody>
          <a:bodyPr>
            <a:normAutofit/>
          </a:bodyPr>
          <a:lstStyle/>
          <a:p>
            <a:r>
              <a:rPr lang="en-US" b="1"/>
              <a:t>Start by Sketching</a:t>
            </a:r>
          </a:p>
          <a:p>
            <a:r>
              <a:rPr lang="en-US" b="1"/>
              <a:t>Iterate!</a:t>
            </a:r>
          </a:p>
          <a:p>
            <a:r>
              <a:rPr lang="en-US" b="1"/>
              <a:t>Focus on Communication</a:t>
            </a:r>
          </a:p>
          <a:p>
            <a:pPr lvl="1"/>
            <a:r>
              <a:rPr lang="en-US"/>
              <a:t>Keep the wireframe simple, abstract, but representative.</a:t>
            </a:r>
          </a:p>
          <a:p>
            <a:pPr lvl="1"/>
            <a:r>
              <a:rPr lang="en-US"/>
              <a:t>Number/label components</a:t>
            </a:r>
          </a:p>
          <a:p>
            <a:pPr lvl="1"/>
            <a:r>
              <a:rPr lang="en-US"/>
              <a:t>Explain the functionality of each component</a:t>
            </a:r>
          </a:p>
          <a:p>
            <a:pPr lvl="1"/>
            <a:r>
              <a:rPr lang="en-US"/>
              <a:t>Map features to system specifications/requirements</a:t>
            </a:r>
          </a:p>
        </p:txBody>
      </p:sp>
    </p:spTree>
    <p:extLst>
      <p:ext uri="{BB962C8B-B14F-4D97-AF65-F5344CB8AC3E}">
        <p14:creationId xmlns:p14="http://schemas.microsoft.com/office/powerpoint/2010/main" val="24953451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Drawing Wireframes (2)</a:t>
            </a:r>
          </a:p>
        </p:txBody>
      </p:sp>
      <p:sp>
        <p:nvSpPr>
          <p:cNvPr id="3" name="Content Placeholder 2"/>
          <p:cNvSpPr>
            <a:spLocks noGrp="1"/>
          </p:cNvSpPr>
          <p:nvPr>
            <p:ph idx="1"/>
          </p:nvPr>
        </p:nvSpPr>
        <p:spPr/>
        <p:txBody>
          <a:bodyPr>
            <a:normAutofit/>
          </a:bodyPr>
          <a:lstStyle/>
          <a:p>
            <a:r>
              <a:rPr lang="en-US" b="1"/>
              <a:t>Consider using a grid layout</a:t>
            </a:r>
          </a:p>
          <a:p>
            <a:pPr lvl="1"/>
            <a:r>
              <a:rPr lang="en-US"/>
              <a:t>Determine layout of the main components with boxes</a:t>
            </a:r>
          </a:p>
          <a:p>
            <a:r>
              <a:rPr lang="en-US" b="1"/>
              <a:t>Wireframe with the team in mind </a:t>
            </a:r>
            <a:r>
              <a:rPr lang="en-US"/>
              <a:t>– what can be successfully developed?</a:t>
            </a:r>
          </a:p>
          <a:p>
            <a:r>
              <a:rPr lang="en-US" b="1"/>
              <a:t>Use real content </a:t>
            </a:r>
            <a:r>
              <a:rPr lang="en-US"/>
              <a:t>– to show </a:t>
            </a:r>
            <a:r>
              <a:rPr lang="en-US" b="1"/>
              <a:t>clients</a:t>
            </a:r>
            <a:r>
              <a:rPr lang="en-US"/>
              <a:t> what to expect and what they will see</a:t>
            </a:r>
          </a:p>
          <a:p>
            <a:endParaRPr lang="en-US"/>
          </a:p>
        </p:txBody>
      </p:sp>
    </p:spTree>
    <p:extLst>
      <p:ext uri="{BB962C8B-B14F-4D97-AF65-F5344CB8AC3E}">
        <p14:creationId xmlns:p14="http://schemas.microsoft.com/office/powerpoint/2010/main" val="337227552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620688"/>
            <a:ext cx="8423206" cy="864096"/>
          </a:xfrm>
        </p:spPr>
        <p:txBody>
          <a:bodyPr>
            <a:normAutofit fontScale="90000"/>
          </a:bodyPr>
          <a:lstStyle/>
          <a:p>
            <a:r>
              <a:rPr lang="en-US"/>
              <a:t>Example specification wireframe</a:t>
            </a:r>
          </a:p>
        </p:txBody>
      </p:sp>
      <p:pic>
        <p:nvPicPr>
          <p:cNvPr id="3" name="Picture 2"/>
          <p:cNvPicPr>
            <a:picLocks noChangeAspect="1"/>
          </p:cNvPicPr>
          <p:nvPr/>
        </p:nvPicPr>
        <p:blipFill>
          <a:blip r:embed="rId2"/>
          <a:stretch>
            <a:fillRect/>
          </a:stretch>
        </p:blipFill>
        <p:spPr>
          <a:xfrm>
            <a:off x="765669" y="1585059"/>
            <a:ext cx="7538924" cy="5040560"/>
          </a:xfrm>
          <a:prstGeom prst="rect">
            <a:avLst/>
          </a:prstGeom>
        </p:spPr>
      </p:pic>
    </p:spTree>
    <p:extLst>
      <p:ext uri="{BB962C8B-B14F-4D97-AF65-F5344CB8AC3E}">
        <p14:creationId xmlns:p14="http://schemas.microsoft.com/office/powerpoint/2010/main" val="3102089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Tools for drawing wireframes</a:t>
            </a:r>
          </a:p>
        </p:txBody>
      </p:sp>
      <p:sp>
        <p:nvSpPr>
          <p:cNvPr id="3" name="Content Placeholder 2"/>
          <p:cNvSpPr>
            <a:spLocks noGrp="1"/>
          </p:cNvSpPr>
          <p:nvPr>
            <p:ph idx="1"/>
          </p:nvPr>
        </p:nvSpPr>
        <p:spPr/>
        <p:txBody>
          <a:bodyPr/>
          <a:lstStyle/>
          <a:p>
            <a:r>
              <a:rPr lang="en-US"/>
              <a:t>Simplest: Neat drawings by hand</a:t>
            </a:r>
          </a:p>
          <a:p>
            <a:endParaRPr lang="en-US"/>
          </a:p>
          <a:p>
            <a:r>
              <a:rPr lang="en-US"/>
              <a:t>More presentable: </a:t>
            </a:r>
            <a:r>
              <a:rPr lang="en-US" err="1"/>
              <a:t>Powerpoint</a:t>
            </a:r>
            <a:r>
              <a:rPr lang="en-US"/>
              <a:t>, Balsamiq, </a:t>
            </a:r>
            <a:r>
              <a:rPr lang="en-US" err="1"/>
              <a:t>Draw.io</a:t>
            </a:r>
            <a:endParaRPr lang="en-US"/>
          </a:p>
          <a:p>
            <a:endParaRPr lang="en-US"/>
          </a:p>
          <a:p>
            <a:r>
              <a:rPr lang="en-US" err="1"/>
              <a:t>Specialised</a:t>
            </a:r>
            <a:r>
              <a:rPr lang="en-US"/>
              <a:t> tools: e.g. </a:t>
            </a:r>
            <a:r>
              <a:rPr lang="en-US" err="1"/>
              <a:t>Axure</a:t>
            </a:r>
            <a:r>
              <a:rPr lang="en-US"/>
              <a:t> RP</a:t>
            </a:r>
          </a:p>
          <a:p>
            <a:pPr lvl="1"/>
            <a:r>
              <a:rPr lang="en-US"/>
              <a:t>Also able to be interactive</a:t>
            </a:r>
          </a:p>
          <a:p>
            <a:pPr lvl="1"/>
            <a:endParaRPr lang="en-US"/>
          </a:p>
          <a:p>
            <a:endParaRPr lang="en-US"/>
          </a:p>
        </p:txBody>
      </p:sp>
    </p:spTree>
    <p:extLst>
      <p:ext uri="{BB962C8B-B14F-4D97-AF65-F5344CB8AC3E}">
        <p14:creationId xmlns:p14="http://schemas.microsoft.com/office/powerpoint/2010/main" val="271818574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6E52A-7670-7840-8DFD-D9FA3C776AB1}"/>
              </a:ext>
            </a:extLst>
          </p:cNvPr>
          <p:cNvSpPr>
            <a:spLocks noGrp="1"/>
          </p:cNvSpPr>
          <p:nvPr>
            <p:ph type="title"/>
          </p:nvPr>
        </p:nvSpPr>
        <p:spPr/>
        <p:txBody>
          <a:bodyPr/>
          <a:lstStyle/>
          <a:p>
            <a:r>
              <a:rPr lang="en-US"/>
              <a:t>Accessibility</a:t>
            </a:r>
          </a:p>
        </p:txBody>
      </p:sp>
      <p:sp>
        <p:nvSpPr>
          <p:cNvPr id="3" name="Content Placeholder 2">
            <a:extLst>
              <a:ext uri="{FF2B5EF4-FFF2-40B4-BE49-F238E27FC236}">
                <a16:creationId xmlns:a16="http://schemas.microsoft.com/office/drawing/2014/main" id="{6F7B3701-0E90-A340-A489-26E6A47A4B18}"/>
              </a:ext>
            </a:extLst>
          </p:cNvPr>
          <p:cNvSpPr>
            <a:spLocks noGrp="1"/>
          </p:cNvSpPr>
          <p:nvPr>
            <p:ph idx="1"/>
          </p:nvPr>
        </p:nvSpPr>
        <p:spPr>
          <a:xfrm>
            <a:off x="457200" y="1600200"/>
            <a:ext cx="3914384" cy="4525963"/>
          </a:xfrm>
        </p:spPr>
        <p:txBody>
          <a:bodyPr>
            <a:normAutofit fontScale="92500" lnSpcReduction="20000"/>
          </a:bodyPr>
          <a:lstStyle/>
          <a:p>
            <a:r>
              <a:rPr lang="en-US"/>
              <a:t>How can people with a disability access/use the web?</a:t>
            </a:r>
          </a:p>
          <a:p>
            <a:r>
              <a:rPr lang="en-US"/>
              <a:t>A very overlooked topic in web design!</a:t>
            </a:r>
          </a:p>
          <a:p>
            <a:r>
              <a:rPr lang="en-US"/>
              <a:t>A mixture of good design and coding</a:t>
            </a:r>
          </a:p>
          <a:p>
            <a:pPr lvl="1"/>
            <a:r>
              <a:rPr lang="en-US"/>
              <a:t>For example, always provide ALT text for images (even if it is empty)</a:t>
            </a:r>
          </a:p>
        </p:txBody>
      </p:sp>
      <p:pic>
        <p:nvPicPr>
          <p:cNvPr id="2050" name="Picture 2" descr="How Do Blind Users Use Smartphones? - Assistive Technology Blog">
            <a:extLst>
              <a:ext uri="{FF2B5EF4-FFF2-40B4-BE49-F238E27FC236}">
                <a16:creationId xmlns:a16="http://schemas.microsoft.com/office/drawing/2014/main" id="{CA22D543-C457-C544-A4C2-99E6046081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88770" y="1428141"/>
            <a:ext cx="3406309" cy="226703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869D752E-CBF7-0D49-ACF8-10938FE5E030}"/>
              </a:ext>
            </a:extLst>
          </p:cNvPr>
          <p:cNvSpPr/>
          <p:nvPr/>
        </p:nvSpPr>
        <p:spPr>
          <a:xfrm>
            <a:off x="313210" y="6343877"/>
            <a:ext cx="5882123" cy="400110"/>
          </a:xfrm>
          <a:prstGeom prst="rect">
            <a:avLst/>
          </a:prstGeom>
        </p:spPr>
        <p:txBody>
          <a:bodyPr wrap="none" lIns="91440" tIns="45720" rIns="91440" bIns="45720" anchor="t">
            <a:spAutoFit/>
          </a:bodyPr>
          <a:lstStyle/>
          <a:p>
            <a:r>
              <a:rPr lang="en-US" sz="2000" dirty="0">
                <a:ea typeface="+mn-lt"/>
                <a:cs typeface="+mn-lt"/>
                <a:hlinkClick r:id="rId3"/>
              </a:rPr>
              <a:t>https://www.w3.org/WAI/standards-guidelines/wcag/</a:t>
            </a:r>
            <a:r>
              <a:rPr lang="en-US" sz="2000" dirty="0">
                <a:ea typeface="+mn-lt"/>
                <a:cs typeface="+mn-lt"/>
              </a:rPr>
              <a:t> </a:t>
            </a:r>
            <a:endParaRPr lang="en-US" dirty="0">
              <a:ea typeface="+mn-lt"/>
              <a:cs typeface="+mn-lt"/>
            </a:endParaRPr>
          </a:p>
        </p:txBody>
      </p:sp>
      <p:sp>
        <p:nvSpPr>
          <p:cNvPr id="6" name="Text Box 5">
            <a:extLst>
              <a:ext uri="{FF2B5EF4-FFF2-40B4-BE49-F238E27FC236}">
                <a16:creationId xmlns:a16="http://schemas.microsoft.com/office/drawing/2014/main" id="{8E5DF390-524B-E945-8C67-30736AF66B56}"/>
              </a:ext>
            </a:extLst>
          </p:cNvPr>
          <p:cNvSpPr txBox="1">
            <a:spLocks noChangeArrowheads="1"/>
          </p:cNvSpPr>
          <p:nvPr/>
        </p:nvSpPr>
        <p:spPr bwMode="auto">
          <a:xfrm>
            <a:off x="5016194" y="3831478"/>
            <a:ext cx="4127806" cy="2554545"/>
          </a:xfrm>
          <a:prstGeom prst="rect">
            <a:avLst/>
          </a:prstGeom>
          <a:noFill/>
          <a:ln w="9525">
            <a:noFill/>
            <a:miter lim="800000"/>
            <a:headEnd/>
            <a:tailEnd/>
          </a:ln>
        </p:spPr>
        <p:txBody>
          <a:bodyPr wrap="square" lIns="73152" tIns="45720" rIns="91440" bIns="45720" anchor="t">
            <a:prstTxWarp prst="textNoShape">
              <a:avLst/>
            </a:prstTxWarp>
            <a:spAutoFit/>
          </a:bodyPr>
          <a:lstStyle/>
          <a:p>
            <a:pPr marL="342900" indent="-342900">
              <a:spcBef>
                <a:spcPct val="50000"/>
              </a:spcBef>
              <a:buFont typeface="Arial" panose="020B0604020202020204" pitchFamily="34" charset="0"/>
              <a:buChar char="•"/>
            </a:pPr>
            <a:r>
              <a:rPr lang="en-US" sz="2000" b="1" dirty="0">
                <a:solidFill>
                  <a:srgbClr val="C00000"/>
                </a:solidFill>
              </a:rPr>
              <a:t>Up to 20% of users have some form of disability</a:t>
            </a:r>
            <a:endParaRPr lang="en-US" sz="2000" b="1" dirty="0">
              <a:solidFill>
                <a:srgbClr val="C00000"/>
              </a:solidFill>
              <a:ea typeface="Calibri"/>
              <a:cs typeface="Calibri"/>
            </a:endParaRPr>
          </a:p>
          <a:p>
            <a:pPr marL="342900" indent="-342900">
              <a:spcBef>
                <a:spcPct val="50000"/>
              </a:spcBef>
              <a:buFont typeface="Arial" panose="020B0604020202020204" pitchFamily="34" charset="0"/>
              <a:buChar char="•"/>
            </a:pPr>
            <a:r>
              <a:rPr lang="en-US" sz="2000" b="1" dirty="0">
                <a:solidFill>
                  <a:srgbClr val="C00000"/>
                </a:solidFill>
              </a:rPr>
              <a:t>Standards and guidelines to make web accessible</a:t>
            </a:r>
            <a:endParaRPr lang="en-US" sz="2000" b="1" dirty="0">
              <a:solidFill>
                <a:srgbClr val="C00000"/>
              </a:solidFill>
              <a:ea typeface="Calibri"/>
              <a:cs typeface="Calibri"/>
            </a:endParaRPr>
          </a:p>
          <a:p>
            <a:pPr marL="342900" indent="-342900">
              <a:spcBef>
                <a:spcPct val="50000"/>
              </a:spcBef>
              <a:buFont typeface="Arial" panose="020B0604020202020204" pitchFamily="34" charset="0"/>
              <a:buChar char="•"/>
            </a:pPr>
            <a:r>
              <a:rPr lang="en-US" sz="2000" b="1" dirty="0">
                <a:solidFill>
                  <a:srgbClr val="C00000"/>
                </a:solidFill>
              </a:rPr>
              <a:t>Increasing focus on web applications rather than static web sites</a:t>
            </a:r>
            <a:endParaRPr lang="en-US" sz="2000" b="1" dirty="0">
              <a:solidFill>
                <a:srgbClr val="C00000"/>
              </a:solidFill>
              <a:ea typeface="Calibri"/>
              <a:cs typeface="Calibri"/>
            </a:endParaRPr>
          </a:p>
        </p:txBody>
      </p:sp>
    </p:spTree>
    <p:extLst>
      <p:ext uri="{BB962C8B-B14F-4D97-AF65-F5344CB8AC3E}">
        <p14:creationId xmlns:p14="http://schemas.microsoft.com/office/powerpoint/2010/main" val="231775620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Summary</a:t>
            </a:r>
          </a:p>
        </p:txBody>
      </p:sp>
      <p:sp>
        <p:nvSpPr>
          <p:cNvPr id="3" name="Content Placeholder 2"/>
          <p:cNvSpPr>
            <a:spLocks noGrp="1"/>
          </p:cNvSpPr>
          <p:nvPr>
            <p:ph idx="1"/>
          </p:nvPr>
        </p:nvSpPr>
        <p:spPr/>
        <p:txBody>
          <a:bodyPr>
            <a:normAutofit fontScale="70000" lnSpcReduction="20000"/>
          </a:bodyPr>
          <a:lstStyle/>
          <a:p>
            <a:r>
              <a:rPr lang="en-US"/>
              <a:t>Modern business and entertainment relies on web applications</a:t>
            </a:r>
          </a:p>
          <a:p>
            <a:r>
              <a:rPr lang="en-US"/>
              <a:t>System Architecture</a:t>
            </a:r>
          </a:p>
          <a:p>
            <a:pPr lvl="1"/>
            <a:r>
              <a:rPr lang="en-US"/>
              <a:t>Tiered system architecture aligns well with SE principles</a:t>
            </a:r>
          </a:p>
          <a:p>
            <a:pPr lvl="1"/>
            <a:r>
              <a:rPr lang="en-US"/>
              <a:t>System architecture is designed and expressed through diagrams</a:t>
            </a:r>
          </a:p>
          <a:p>
            <a:r>
              <a:rPr lang="en-US"/>
              <a:t>DB Modelling</a:t>
            </a:r>
          </a:p>
          <a:p>
            <a:pPr lvl="1"/>
            <a:r>
              <a:rPr lang="en-US"/>
              <a:t>Modeling through ERDs allows you to think about the data and its relationship</a:t>
            </a:r>
          </a:p>
          <a:p>
            <a:pPr lvl="1"/>
            <a:r>
              <a:rPr lang="en-US"/>
              <a:t>Allows you to implement them in a database</a:t>
            </a:r>
          </a:p>
          <a:p>
            <a:pPr lvl="1"/>
            <a:r>
              <a:rPr lang="en-US"/>
              <a:t>Can be directly translated to Django models</a:t>
            </a:r>
          </a:p>
          <a:p>
            <a:r>
              <a:rPr lang="en-US"/>
              <a:t>Information Architecture </a:t>
            </a:r>
          </a:p>
          <a:p>
            <a:pPr lvl="1"/>
            <a:r>
              <a:rPr lang="en-US"/>
              <a:t>Specifies the web application through the eyes of the user</a:t>
            </a:r>
          </a:p>
          <a:p>
            <a:pPr lvl="1"/>
            <a:r>
              <a:rPr lang="en-US"/>
              <a:t>Addresses findability, usability and understandability</a:t>
            </a:r>
          </a:p>
          <a:p>
            <a:pPr lvl="1"/>
            <a:r>
              <a:rPr lang="en-US"/>
              <a:t>Uses a variety of tools and techniques to communicate the design</a:t>
            </a:r>
          </a:p>
          <a:p>
            <a:endParaRPr lang="en-US" b="1"/>
          </a:p>
        </p:txBody>
      </p:sp>
    </p:spTree>
    <p:extLst>
      <p:ext uri="{BB962C8B-B14F-4D97-AF65-F5344CB8AC3E}">
        <p14:creationId xmlns:p14="http://schemas.microsoft.com/office/powerpoint/2010/main" val="16677388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(4:3)</PresentationFormat>
  <Slides>82</Slides>
  <Notes>46</Notes>
  <HiddenSlides>0</HiddenSlides>
  <ScaleCrop>false</ScaleCrop>
  <HeadingPairs>
    <vt:vector size="4" baseType="variant">
      <vt:variant>
        <vt:lpstr>Theme</vt:lpstr>
      </vt:variant>
      <vt:variant>
        <vt:i4>1</vt:i4>
      </vt:variant>
      <vt:variant>
        <vt:lpstr>Slide Titles</vt:lpstr>
      </vt:variant>
      <vt:variant>
        <vt:i4>82</vt:i4>
      </vt:variant>
    </vt:vector>
  </HeadingPairs>
  <TitlesOfParts>
    <vt:vector size="83" baseType="lpstr">
      <vt:lpstr>Office Theme</vt:lpstr>
      <vt:lpstr>Intro to ITECH</vt:lpstr>
      <vt:lpstr>By the end of Week 1...</vt:lpstr>
      <vt:lpstr>What is A Web APPLICATION?</vt:lpstr>
      <vt:lpstr>Web Applications Examples</vt:lpstr>
      <vt:lpstr>What is a Web Application?</vt:lpstr>
      <vt:lpstr>Internet vs Web</vt:lpstr>
      <vt:lpstr>Frontend vs Backend</vt:lpstr>
      <vt:lpstr>Frontend Building Blocks</vt:lpstr>
      <vt:lpstr>What is a Web Application? (some jargon)</vt:lpstr>
      <vt:lpstr>Types of Web Apps (1)</vt:lpstr>
      <vt:lpstr>Types of Web Apps (2)</vt:lpstr>
      <vt:lpstr>Web App Evolution</vt:lpstr>
      <vt:lpstr>Web Complexities</vt:lpstr>
      <vt:lpstr>Need for principled and disciplined approach…</vt:lpstr>
      <vt:lpstr>Architecture Design</vt:lpstr>
      <vt:lpstr>Design and Diagrams</vt:lpstr>
      <vt:lpstr>System Architecture</vt:lpstr>
      <vt:lpstr>System Architecture </vt:lpstr>
      <vt:lpstr>Tasks of an application</vt:lpstr>
      <vt:lpstr>Monolithic Programs</vt:lpstr>
      <vt:lpstr>Tiered Architectures</vt:lpstr>
      <vt:lpstr>Two-Tier Architectures</vt:lpstr>
      <vt:lpstr>Data Management (1)</vt:lpstr>
      <vt:lpstr>Data Management (2)</vt:lpstr>
      <vt:lpstr>Static Web Application</vt:lpstr>
      <vt:lpstr>Two Tier Architecture</vt:lpstr>
      <vt:lpstr>Style and Substance</vt:lpstr>
      <vt:lpstr>Two Tier with Layers</vt:lpstr>
      <vt:lpstr>Two Tier with Layers &amp; Servers</vt:lpstr>
      <vt:lpstr>Two Tier Issues</vt:lpstr>
      <vt:lpstr>Further Tiered Architectures</vt:lpstr>
      <vt:lpstr>3- To N-Tier Architectures</vt:lpstr>
      <vt:lpstr>Three Tier Architecture</vt:lpstr>
      <vt:lpstr> Middleware (Zoomed in)</vt:lpstr>
      <vt:lpstr>N-Tier Architecture</vt:lpstr>
      <vt:lpstr>Load Balancing</vt:lpstr>
      <vt:lpstr>Tiered Architecture Benefits</vt:lpstr>
      <vt:lpstr>System Architecture Design</vt:lpstr>
      <vt:lpstr>Top Down Design</vt:lpstr>
      <vt:lpstr>Bottom Up Design</vt:lpstr>
      <vt:lpstr>Top-Down vs. Bottom Up</vt:lpstr>
      <vt:lpstr>Notation for Diagrams</vt:lpstr>
      <vt:lpstr>User</vt:lpstr>
      <vt:lpstr>Client</vt:lpstr>
      <vt:lpstr>Middleware (1)</vt:lpstr>
      <vt:lpstr>Middleware (2)</vt:lpstr>
      <vt:lpstr>Databases</vt:lpstr>
      <vt:lpstr>Logs and External Services</vt:lpstr>
      <vt:lpstr> Messaging</vt:lpstr>
      <vt:lpstr>Data flows</vt:lpstr>
      <vt:lpstr>Technology and Devices</vt:lpstr>
      <vt:lpstr>Database ModellinG</vt:lpstr>
      <vt:lpstr>Entity Relationship Model</vt:lpstr>
      <vt:lpstr>Notations</vt:lpstr>
      <vt:lpstr>Example</vt:lpstr>
      <vt:lpstr>Many to Many</vt:lpstr>
      <vt:lpstr>Chen vs Compressed Chen (1)</vt:lpstr>
      <vt:lpstr>Chen vs Compressed Chen (2)</vt:lpstr>
      <vt:lpstr>Converting to Django Models</vt:lpstr>
      <vt:lpstr>Information Architecture</vt:lpstr>
      <vt:lpstr>Information Architecture</vt:lpstr>
      <vt:lpstr>Thinking like a user</vt:lpstr>
      <vt:lpstr>An Information Architect</vt:lpstr>
      <vt:lpstr>Context, Content &amp; Users</vt:lpstr>
      <vt:lpstr>Developing Solutions</vt:lpstr>
      <vt:lpstr>IA Components</vt:lpstr>
      <vt:lpstr>User Driven Approach</vt:lpstr>
      <vt:lpstr>IA Deliverables </vt:lpstr>
      <vt:lpstr>Specifying User Requirements</vt:lpstr>
      <vt:lpstr>User Needs Matrix</vt:lpstr>
      <vt:lpstr> Personas</vt:lpstr>
      <vt:lpstr>Prioritizing User Requirements</vt:lpstr>
      <vt:lpstr>Site Maps</vt:lpstr>
      <vt:lpstr>URL Design Tips</vt:lpstr>
      <vt:lpstr>User flows</vt:lpstr>
      <vt:lpstr>Wireframes</vt:lpstr>
      <vt:lpstr>Drawing Wireframes (1)</vt:lpstr>
      <vt:lpstr>Drawing Wireframes (2)</vt:lpstr>
      <vt:lpstr>Example specification wireframe</vt:lpstr>
      <vt:lpstr>Tools for drawing wireframes</vt:lpstr>
      <vt:lpstr>Accessibility</vt:lpstr>
      <vt:lpstr>Summary</vt:lpstr>
    </vt:vector>
  </TitlesOfParts>
  <Company>University of Glasgow</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Leif Azzopardi</dc:creator>
  <cp:revision>199</cp:revision>
  <cp:lastPrinted>2017-01-09T15:15:20Z</cp:lastPrinted>
  <dcterms:created xsi:type="dcterms:W3CDTF">2013-11-27T09:06:09Z</dcterms:created>
  <dcterms:modified xsi:type="dcterms:W3CDTF">2026-01-06T19:21:18Z</dcterms:modified>
</cp:coreProperties>
</file>